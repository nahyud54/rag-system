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6"/>
  </p:notesMasterIdLst>
  <p:sldIdLst>
    <p:sldId id="256" r:id="rId2"/>
    <p:sldId id="321" r:id="rId3"/>
    <p:sldId id="257" r:id="rId4"/>
    <p:sldId id="298" r:id="rId5"/>
    <p:sldId id="258" r:id="rId6"/>
    <p:sldId id="259" r:id="rId7"/>
    <p:sldId id="260" r:id="rId8"/>
    <p:sldId id="299" r:id="rId9"/>
    <p:sldId id="300" r:id="rId10"/>
    <p:sldId id="261" r:id="rId11"/>
    <p:sldId id="262" r:id="rId12"/>
    <p:sldId id="263" r:id="rId13"/>
    <p:sldId id="264" r:id="rId14"/>
    <p:sldId id="301" r:id="rId15"/>
    <p:sldId id="302" r:id="rId16"/>
    <p:sldId id="265" r:id="rId17"/>
    <p:sldId id="266" r:id="rId18"/>
    <p:sldId id="267" r:id="rId19"/>
    <p:sldId id="268" r:id="rId20"/>
    <p:sldId id="303" r:id="rId21"/>
    <p:sldId id="269" r:id="rId22"/>
    <p:sldId id="270" r:id="rId23"/>
    <p:sldId id="271" r:id="rId24"/>
    <p:sldId id="306" r:id="rId25"/>
    <p:sldId id="272" r:id="rId26"/>
    <p:sldId id="273" r:id="rId27"/>
    <p:sldId id="274" r:id="rId28"/>
    <p:sldId id="275" r:id="rId29"/>
    <p:sldId id="308" r:id="rId30"/>
    <p:sldId id="320" r:id="rId31"/>
    <p:sldId id="276" r:id="rId32"/>
    <p:sldId id="277" r:id="rId33"/>
    <p:sldId id="278" r:id="rId34"/>
    <p:sldId id="279" r:id="rId35"/>
    <p:sldId id="280" r:id="rId36"/>
    <p:sldId id="310" r:id="rId37"/>
    <p:sldId id="281" r:id="rId38"/>
    <p:sldId id="282" r:id="rId39"/>
    <p:sldId id="283" r:id="rId40"/>
    <p:sldId id="312" r:id="rId41"/>
    <p:sldId id="284" r:id="rId42"/>
    <p:sldId id="285" r:id="rId43"/>
    <p:sldId id="286" r:id="rId44"/>
    <p:sldId id="287" r:id="rId45"/>
    <p:sldId id="314" r:id="rId46"/>
    <p:sldId id="288" r:id="rId47"/>
    <p:sldId id="289" r:id="rId48"/>
    <p:sldId id="290" r:id="rId49"/>
    <p:sldId id="291" r:id="rId50"/>
    <p:sldId id="316" r:id="rId51"/>
    <p:sldId id="292" r:id="rId52"/>
    <p:sldId id="293" r:id="rId53"/>
    <p:sldId id="317" r:id="rId54"/>
    <p:sldId id="318" r:id="rId55"/>
  </p:sldIdLst>
  <p:sldSz cx="12192000" cy="6858000"/>
  <p:notesSz cx="12192000" cy="6858000"/>
  <p:embeddedFontLst>
    <p:embeddedFont>
      <p:font typeface="Trebuchet MS" panose="020B0603020202020204" pitchFamily="34" charset="0"/>
      <p:regular r:id="rId57"/>
      <p:bold r:id="rId58"/>
      <p:italic r:id="rId59"/>
      <p:boldItalic r:id="rId60"/>
    </p:embeddedFont>
    <p:embeddedFont>
      <p:font typeface="Century Schoolbook" panose="02040604050505020304" pitchFamily="18" charset="0"/>
      <p:regular r:id="rId61"/>
      <p:bold r:id="rId62"/>
      <p:italic r:id="rId63"/>
      <p:boldItalic r:id="rId64"/>
    </p:embeddedFont>
    <p:embeddedFont>
      <p:font typeface="Roboto" panose="020B0604020202020204" charset="0"/>
      <p:regular r:id="rId65"/>
      <p:bold r:id="rId66"/>
      <p:italic r:id="rId67"/>
      <p:boldItalic r:id="rId68"/>
    </p:embeddedFont>
    <p:embeddedFont>
      <p:font typeface="Calibri" panose="020F0502020204030204" pitchFamily="34" charset="0"/>
      <p:regular r:id="rId69"/>
      <p:bold r:id="rId70"/>
      <p:italic r:id="rId71"/>
      <p:boldItalic r:id="rId72"/>
    </p:embeddedFont>
    <p:embeddedFont>
      <p:font typeface="Cambria" panose="02040503050406030204" pitchFamily="18" charset="0"/>
      <p:regular r:id="rId73"/>
      <p:bold r:id="rId74"/>
      <p:italic r:id="rId75"/>
      <p:boldItalic r:id="rId76"/>
    </p:embeddedFont>
    <p:embeddedFont>
      <p:font typeface="Cambria Math" panose="02040503050406030204" pitchFamily="18" charset="0"/>
      <p:regular r:id="rId7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8" roundtripDataSignature="AMtx7mjKhPB7H1CLFxxhoLLt5cScsJvMF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963" autoAdjust="0"/>
  </p:normalViewPr>
  <p:slideViewPr>
    <p:cSldViewPr snapToGrid="0">
      <p:cViewPr varScale="1">
        <p:scale>
          <a:sx n="99" d="100"/>
          <a:sy n="99" d="100"/>
        </p:scale>
        <p:origin x="996" y="102"/>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7.fntdata"/><Relationship Id="rId68" Type="http://schemas.openxmlformats.org/officeDocument/2006/relationships/font" Target="fonts/font12.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font" Target="fonts/font2.fntdata"/><Relationship Id="rId74" Type="http://schemas.openxmlformats.org/officeDocument/2006/relationships/font" Target="fonts/font18.fntdata"/><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5.fntdata"/><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font" Target="fonts/font8.fntdata"/><Relationship Id="rId69" Type="http://schemas.openxmlformats.org/officeDocument/2006/relationships/font" Target="fonts/font13.fntdata"/><Relationship Id="rId77" Type="http://schemas.openxmlformats.org/officeDocument/2006/relationships/font" Target="fonts/font2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6.fntdata"/><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3.fntdata"/><Relationship Id="rId67"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6.fntdata"/><Relationship Id="rId70" Type="http://schemas.openxmlformats.org/officeDocument/2006/relationships/font" Target="fonts/font14.fntdata"/><Relationship Id="rId75" Type="http://schemas.openxmlformats.org/officeDocument/2006/relationships/font" Target="fonts/font1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4.fntdata"/><Relationship Id="rId65" Type="http://schemas.openxmlformats.org/officeDocument/2006/relationships/font" Target="fonts/font9.fntdata"/><Relationship Id="rId73" Type="http://schemas.openxmlformats.org/officeDocument/2006/relationships/font" Target="fonts/font17.fntdata"/><Relationship Id="rId78" Type="http://customschemas.google.com/relationships/presentationmetadata" Target="metadata"/><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20.fntdata"/><Relationship Id="rId7" Type="http://schemas.openxmlformats.org/officeDocument/2006/relationships/slide" Target="slides/slide6.xml"/><Relationship Id="rId71" Type="http://schemas.openxmlformats.org/officeDocument/2006/relationships/font" Target="fonts/font15.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g21ca71a1e5c_0_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 name="Google Shape;41;g21ca71a1e5c_0_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g21ca71a1e5c_0_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 name="Google Shape;41;g21ca71a1e5c_0_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117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 name="Google Shape;48;p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1100" dirty="0" smtClean="0"/>
              <a:t>Sequence to sequence models are useful for a range of applications such as machine translation and speech recognition. The basic idea behind this type of model is to input a sequence of words in one language and output a sequence of words in another language. This can be achieved using an encoder-decoder architecture, where an RNN is used to encode the input sequence and a separate RNN is used to decode the output sequence.</a:t>
            </a:r>
          </a:p>
          <a:p>
            <a:pPr marL="342900" indent="-342900">
              <a:buFont typeface="Arial" panose="020B0604020202020204" pitchFamily="34" charset="0"/>
              <a:buChar char="•"/>
            </a:pPr>
            <a:r>
              <a:rPr lang="en-GB" sz="1100" dirty="0" smtClean="0"/>
              <a:t>How a similar architecture can be used for image captioning, where a pre-trained convolutional neural network is used to encode the input image and an RNN is used to generate a corresponding caption.</a:t>
            </a:r>
          </a:p>
          <a:p>
            <a:pPr marL="342900" indent="-342900">
              <a:buFont typeface="Arial" panose="020B0604020202020204" pitchFamily="34" charset="0"/>
              <a:buChar char="•"/>
            </a:pPr>
            <a:r>
              <a:rPr lang="en-GB" sz="1100" dirty="0" smtClean="0"/>
              <a:t>One of the key differences between training a sequence to sequence model and synthesizing text using a language model is that in the former, the most likely translation or caption is desired, rather than a random choice. </a:t>
            </a:r>
          </a:p>
          <a:p>
            <a:pPr marL="342900" indent="-342900">
              <a:buFont typeface="Arial" panose="020B0604020202020204" pitchFamily="34" charset="0"/>
              <a:buChar char="•"/>
            </a:pPr>
            <a:r>
              <a:rPr lang="en-GB" sz="1100" dirty="0" smtClean="0"/>
              <a:t>The next section will explain how to generate the most likely translation or caption using techniques such as beam search and attention models.</a:t>
            </a:r>
            <a:endParaRPr lang="en-US" sz="1100" dirty="0" smtClean="0"/>
          </a:p>
          <a:p>
            <a:pPr marL="0" lvl="0" indent="0" algn="l" rtl="0">
              <a:spcBef>
                <a:spcPts val="0"/>
              </a:spcBef>
              <a:spcAft>
                <a:spcPts val="0"/>
              </a:spcAft>
              <a:buNone/>
            </a:pPr>
            <a:endParaRPr dirty="0"/>
          </a:p>
        </p:txBody>
      </p:sp>
      <p:sp>
        <p:nvSpPr>
          <p:cNvPr id="86" name="Google Shape;86;p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6491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 name="Google Shape;56;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p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 name="Google Shape;70;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1100" dirty="0" smtClean="0"/>
              <a:t>The similarities and differences between sequence-to-sequence (seq2seq) models for machine translation and language models:</a:t>
            </a:r>
          </a:p>
          <a:p>
            <a:r>
              <a:rPr lang="en-GB" sz="1100" dirty="0" smtClean="0"/>
              <a:t>	- In language </a:t>
            </a:r>
            <a:r>
              <a:rPr lang="en-GB" sz="1100" dirty="0" err="1" smtClean="0"/>
              <a:t>modeling</a:t>
            </a:r>
            <a:r>
              <a:rPr lang="en-GB" sz="1100" dirty="0" smtClean="0"/>
              <a:t>, the goal is to estimate the probability of a sentence 	and generate novel sentences. </a:t>
            </a:r>
          </a:p>
          <a:p>
            <a:r>
              <a:rPr lang="en-GB" sz="1100" dirty="0" smtClean="0"/>
              <a:t>	- In seq2seq </a:t>
            </a:r>
            <a:r>
              <a:rPr lang="en-GB" sz="1100" dirty="0" err="1" smtClean="0"/>
              <a:t>modeling</a:t>
            </a:r>
            <a:r>
              <a:rPr lang="en-GB" sz="1100" dirty="0" smtClean="0"/>
              <a:t>, the goal is to estimate the probability of an output 	sentence (e.g., English translation) given an input sentence (e.g., French). 	This is known as a conditional language model. The model consists of an 	encoder network that learns a representation of the input sentence and a 	decoder network that generates the output sentence one word at a time, 	conditioned on the input sentence representation.</a:t>
            </a:r>
          </a:p>
          <a:p>
            <a:pPr marL="0" lvl="0" indent="0" algn="l" rtl="0">
              <a:spcBef>
                <a:spcPts val="0"/>
              </a:spcBef>
              <a:spcAft>
                <a:spcPts val="0"/>
              </a:spcAft>
              <a:buNone/>
            </a:pPr>
            <a:endParaRPr dirty="0"/>
          </a:p>
        </p:txBody>
      </p:sp>
      <p:sp>
        <p:nvSpPr>
          <p:cNvPr id="86" name="Google Shape;86;p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06549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1100" dirty="0" smtClean="0"/>
              <a:t>When using this model for machine translation, we don't want to sample outputs at random. Instead, we want to find the English sentence that maximizes the conditional probability given the input French sentence. </a:t>
            </a:r>
          </a:p>
          <a:p>
            <a:pPr marL="342900" indent="-342900">
              <a:buFont typeface="Arial" panose="020B0604020202020204" pitchFamily="34" charset="0"/>
              <a:buChar char="•"/>
            </a:pPr>
            <a:r>
              <a:rPr lang="en-GB" sz="1100" dirty="0" smtClean="0"/>
              <a:t>Greedy search picks the most likely word at each step, resulting in suboptimal translations. </a:t>
            </a:r>
          </a:p>
          <a:p>
            <a:pPr marL="342900" indent="-342900">
              <a:buFont typeface="Arial" panose="020B0604020202020204" pitchFamily="34" charset="0"/>
              <a:buChar char="•"/>
            </a:pPr>
            <a:r>
              <a:rPr lang="en-GB" sz="1100" dirty="0" smtClean="0"/>
              <a:t>Beam search is an approximate search algorithm that tries to find the sentence that maximizes the conditional probability. While not guaranteed to find the optimal sentence, beam search usually does a good enough job.</a:t>
            </a:r>
          </a:p>
          <a:p>
            <a:pPr marL="342900" indent="-342900">
              <a:buFont typeface="Arial" panose="020B0604020202020204" pitchFamily="34" charset="0"/>
              <a:buChar char="•"/>
            </a:pPr>
            <a:r>
              <a:rPr lang="en-GB" sz="1100" dirty="0" smtClean="0"/>
              <a:t>The space of all possible sentences in a language is exponentially large, making it impossible to exhaustively enumerate all possible translations. Therefore, approximate search algorithms like beam search are necessary to find the most likely translation.</a:t>
            </a:r>
          </a:p>
          <a:p>
            <a:pPr marL="0" lvl="0" indent="0" algn="l" rtl="0">
              <a:spcBef>
                <a:spcPts val="0"/>
              </a:spcBef>
              <a:spcAft>
                <a:spcPts val="0"/>
              </a:spcAft>
              <a:buNone/>
            </a:pPr>
            <a:endParaRPr dirty="0"/>
          </a:p>
        </p:txBody>
      </p:sp>
      <p:sp>
        <p:nvSpPr>
          <p:cNvPr id="86" name="Google Shape;86;p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32432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 name="Google Shape;78;p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1100" dirty="0" smtClean="0"/>
              <a:t>Beam search is a widely used algorithm that considers multiple alternatives rather than just the most likely word, which is what greedy search does. The beam search algorithm has a parameter called B, which is called the beam width. For example, if the beam width is set to 3, beam search will consider three possibilities at a time.</a:t>
            </a:r>
          </a:p>
          <a:p>
            <a:pPr marL="342900" indent="-342900">
              <a:buFont typeface="Arial" panose="020B0604020202020204" pitchFamily="34" charset="0"/>
              <a:buChar char="•"/>
            </a:pPr>
            <a:r>
              <a:rPr lang="en-GB" sz="1100" dirty="0" smtClean="0"/>
              <a:t>Consider the running example of the French sentence "Jane, </a:t>
            </a:r>
            <a:r>
              <a:rPr lang="en-GB" sz="1100" dirty="0" err="1" smtClean="0"/>
              <a:t>visite</a:t>
            </a:r>
            <a:r>
              <a:rPr lang="en-GB" sz="1100" dirty="0" smtClean="0"/>
              <a:t> </a:t>
            </a:r>
            <a:r>
              <a:rPr lang="en-GB" sz="1100" dirty="0" err="1" smtClean="0"/>
              <a:t>l'Afrique</a:t>
            </a:r>
            <a:r>
              <a:rPr lang="en-GB" sz="1100" dirty="0" smtClean="0"/>
              <a:t> </a:t>
            </a:r>
            <a:r>
              <a:rPr lang="en-GB" sz="1100" dirty="0" err="1" smtClean="0"/>
              <a:t>en</a:t>
            </a:r>
            <a:r>
              <a:rPr lang="en-GB" sz="1100" dirty="0" smtClean="0"/>
              <a:t> </a:t>
            </a:r>
            <a:r>
              <a:rPr lang="en-GB" sz="1100" dirty="0" err="1" smtClean="0"/>
              <a:t>Septembre</a:t>
            </a:r>
            <a:r>
              <a:rPr lang="en-GB" sz="1100" dirty="0" smtClean="0"/>
              <a:t>" and how beam search works step by step. The first step of beam search is to pick the first words of the English translation. 10,000 words into vocabulary and uses a network fragment with the encoder in green and decoder in purple to evaluate the probability of the first output y, given the input sentence x, which is the French input. How to use network fragments to evaluate the probability of the second word, given the input French sentence and the first words of the translation?</a:t>
            </a:r>
          </a:p>
          <a:p>
            <a:pPr marL="0" lvl="0" indent="0" algn="l" rtl="0">
              <a:spcBef>
                <a:spcPts val="0"/>
              </a:spcBef>
              <a:spcAft>
                <a:spcPts val="0"/>
              </a:spcAft>
              <a:buNone/>
            </a:pPr>
            <a:endParaRPr dirty="0"/>
          </a:p>
        </p:txBody>
      </p:sp>
      <p:sp>
        <p:nvSpPr>
          <p:cNvPr id="86" name="Google Shape;86;p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49748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19394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1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1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1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1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1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1100" dirty="0" smtClean="0"/>
              <a:t>In the previous section, the basic search algorithm, beam search, was introduced as a way to select the most likely translation of a sentence given a source sentence in machine translation. In this section, the instructor introduces two small changes to the algorithm that can lead to better results.</a:t>
            </a:r>
          </a:p>
          <a:p>
            <a:pPr marL="342900" indent="-342900">
              <a:buFont typeface="Arial" panose="020B0604020202020204" pitchFamily="34" charset="0"/>
              <a:buChar char="•"/>
            </a:pPr>
            <a:r>
              <a:rPr lang="en-GB" sz="1100" dirty="0" smtClean="0"/>
              <a:t>The first change is called length normalization. When implementing beam search, the product of probabilities of all words in the translation is often used as the objective to be maximized. However, because probabilities are usually numbers less than one, multiplying them can lead to a tiny number that is too small for the computer's floating point representation to store accurately. To solve this problem, instead of maximizing the product of probabilities, the sum of logarithms of probabilities can be maximized, which is a more numerically stable algorithm. Moreover, this change can reduce the penalty for longer translations, which are often unfairly penalized because they involve multiplying more probabilities together.</a:t>
            </a:r>
            <a:endParaRPr lang="en-GB" sz="1100" dirty="0"/>
          </a:p>
          <a:p>
            <a:pPr marL="342900" indent="-342900">
              <a:buFont typeface="Arial" panose="020B0604020202020204" pitchFamily="34" charset="0"/>
              <a:buChar char="•"/>
            </a:pPr>
            <a:r>
              <a:rPr lang="en-GB" sz="1100" dirty="0" smtClean="0"/>
              <a:t>The second change is to normalize the objective by the number of words in the translation. Instead of dividing by the number of words, a heuristic formula can be used that reduces the penalty for longer translations while still providing some normalization. This parameter, called Alpha, can be tuned to find the best value for the given task.</a:t>
            </a:r>
          </a:p>
          <a:p>
            <a:pPr marL="342900" indent="-342900">
              <a:buFont typeface="Arial" panose="020B0604020202020204" pitchFamily="34" charset="0"/>
              <a:buChar char="•"/>
            </a:pPr>
            <a:r>
              <a:rPr lang="en-GB" sz="1100" dirty="0" smtClean="0"/>
              <a:t>How to implement beam search by keeping track of the top three possibilities for each possible sentence length up to the maximum length considered? The algorithm then selects the translation with the highest value on the normalized log-likelihood objective.</a:t>
            </a:r>
          </a:p>
          <a:p>
            <a:pPr marL="342900" indent="-342900">
              <a:buFont typeface="Arial" panose="020B0604020202020204" pitchFamily="34" charset="0"/>
              <a:buChar char="•"/>
            </a:pPr>
            <a:r>
              <a:rPr lang="en-GB" sz="1100" dirty="0" smtClean="0"/>
              <a:t>A larger beam width results in better results but requires more memory and is slower, while a smaller beam width results in worse results but is faster and requires less memory. Trying a variety of beam widths to find the best value for the given task.</a:t>
            </a:r>
          </a:p>
          <a:p>
            <a:pPr marL="342900" indent="-342900">
              <a:buFont typeface="Arial" panose="020B0604020202020204" pitchFamily="34" charset="0"/>
              <a:buChar char="•"/>
            </a:pPr>
            <a:r>
              <a:rPr lang="en-GB" sz="1100" dirty="0" smtClean="0"/>
              <a:t>Beam search is a faster but not guaranteed to find the exact maximum for the objective compared to exact search algorithms such as PAFs Breakfast or DFS DEFA search.</a:t>
            </a:r>
          </a:p>
          <a:p>
            <a:pPr marL="342900" indent="-342900">
              <a:buFont typeface="Arial" panose="020B0604020202020204" pitchFamily="34" charset="0"/>
              <a:buChar char="•"/>
            </a:pPr>
            <a:r>
              <a:rPr lang="en-GB" sz="1100" dirty="0" smtClean="0"/>
              <a:t>The next section will discuss error analysis on beam search and how it can help improve the search algorithm.</a:t>
            </a:r>
          </a:p>
          <a:p>
            <a:pPr marL="342900" indent="-342900">
              <a:buFont typeface="Arial" panose="020B0604020202020204" pitchFamily="34" charset="0"/>
              <a:buChar char="•"/>
            </a:pPr>
            <a:endParaRPr lang="en-GB" sz="1100" dirty="0" smtClean="0"/>
          </a:p>
        </p:txBody>
      </p:sp>
      <p:sp>
        <p:nvSpPr>
          <p:cNvPr id="86" name="Google Shape;86;p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03423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1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1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p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1100" dirty="0" smtClean="0"/>
              <a:t>The section discusses how to use error analysis with beam search to determine whether errors in machine translation are due to the beam search algorithm or the RNN model that generates the translation. </a:t>
            </a:r>
          </a:p>
          <a:p>
            <a:pPr marL="342900" indent="-342900">
              <a:buFont typeface="Arial" panose="020B0604020202020204" pitchFamily="34" charset="0"/>
              <a:buChar char="•"/>
            </a:pPr>
            <a:r>
              <a:rPr lang="en-GB" sz="1100" dirty="0" smtClean="0"/>
              <a:t>Beam search is an approximate search algorithm that does not always output the most likely sentence, but instead keeps track of the top B possibilities. If beam search makes a mistake, it is important to figure out whether it is the algorithm or the model that is causing problems.</a:t>
            </a:r>
          </a:p>
          <a:p>
            <a:pPr marL="342900" indent="-342900">
              <a:buFont typeface="Arial" panose="020B0604020202020204" pitchFamily="34" charset="0"/>
              <a:buChar char="•"/>
            </a:pPr>
            <a:r>
              <a:rPr lang="en-GB" sz="1100" dirty="0" smtClean="0"/>
              <a:t>To do error analysis with beam search, you need to compute P(y* given x) and P(y-hat given x) using your RNN model and see which of the two is bigger. There are two cases: case 1 is when P(y* given x) is greater than P(y-hat given x), indicating that beam search is failing to give the value of y that maximizes P(y given x) and is therefore at fault. Case 2 is when P(y* given x) is less than or equal to P(y-hat given x), indicating that the RNN model is at fault.</a:t>
            </a:r>
            <a:endParaRPr lang="en-GB" sz="1100" dirty="0"/>
          </a:p>
          <a:p>
            <a:pPr marL="342900" indent="-342900">
              <a:buFont typeface="Arial" panose="020B0604020202020204" pitchFamily="34" charset="0"/>
              <a:buChar char="•"/>
            </a:pPr>
            <a:r>
              <a:rPr lang="en-GB" sz="1100" dirty="0" smtClean="0"/>
              <a:t>To carry out error analysis, you go through the development set and find the mistakes made by the algorithm, looking at the probabilities for each. For each example where the algorithm gives a much worse output than the human translation, you try to ascribe the error to either the search algorithm or the RNN model that generates the objective function that beam search is supposed to be maximizing. Through this process, you can figure out which component is responsible for more errors and decide whether to increase the beam width or work on the RNN model.</a:t>
            </a:r>
          </a:p>
          <a:p>
            <a:pPr marL="342900" indent="-342900">
              <a:buFont typeface="Arial" panose="020B0604020202020204" pitchFamily="34" charset="0"/>
              <a:buChar char="•"/>
            </a:pPr>
            <a:r>
              <a:rPr lang="en-GB" sz="1100" dirty="0" smtClean="0"/>
              <a:t>Overall, error analysis using beam search is a useful process when working with approximate optimization algorithms such as beam search that are optimizing some sort of objective function output by a learning algorithm such as a sequence-to-sequence model or sequence-to-sequence RNN.</a:t>
            </a:r>
          </a:p>
          <a:p>
            <a:pPr marL="342900" indent="-342900">
              <a:buFont typeface="Arial" panose="020B0604020202020204" pitchFamily="34" charset="0"/>
              <a:buChar char="•"/>
            </a:pPr>
            <a:endParaRPr lang="en-GB" sz="1100" dirty="0" smtClean="0"/>
          </a:p>
        </p:txBody>
      </p:sp>
      <p:sp>
        <p:nvSpPr>
          <p:cNvPr id="86" name="Google Shape;86;p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33512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1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p1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1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2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1100" dirty="0" smtClean="0"/>
              <a:t>The BLEU score is a metric used to evaluate the quality of machine-generated translations. One of the challenges in evaluating machine translation systems is that there could be multiple equally good translations for a single sentence. The BLEU score measures how similar the machine-generated translation is to human-generated translations.</a:t>
            </a:r>
          </a:p>
          <a:p>
            <a:pPr marL="342900" indent="-342900">
              <a:buFont typeface="Arial" panose="020B0604020202020204" pitchFamily="34" charset="0"/>
              <a:buChar char="•"/>
            </a:pPr>
            <a:r>
              <a:rPr lang="en-GB" sz="1100" dirty="0" smtClean="0"/>
              <a:t>The BLEU score is based on precision, which measures the number of words in the machine-generated output that appear in the human-generated references. However, a simple precision measure is not enough because it can give a high score to poor translations that happen to contain the same words as the reference. Therefore, a modified precision measure is used, which clips the count of each word to the maximum number of times it appears in the reference sentences.</a:t>
            </a:r>
          </a:p>
          <a:p>
            <a:pPr marL="0" lvl="0" indent="0" algn="l" rtl="0">
              <a:spcBef>
                <a:spcPts val="0"/>
              </a:spcBef>
              <a:spcAft>
                <a:spcPts val="0"/>
              </a:spcAft>
              <a:buNone/>
            </a:pPr>
            <a:endParaRPr dirty="0"/>
          </a:p>
        </p:txBody>
      </p:sp>
      <p:sp>
        <p:nvSpPr>
          <p:cNvPr id="86" name="Google Shape;86;p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33781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10129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2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7" name="Google Shape;277;p2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2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4" name="Google Shape;284;p2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2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7" name="Google Shape;297;p2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6" name="Google Shape;306;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2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3" name="Google Shape;313;p2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1100" dirty="0" smtClean="0"/>
              <a:t>In machine translation, the Encoder-Decoder architecture is a commonly used model where one RNN reads in a sentence in one language (the source language), and another RNN outputs a sentence in another language (the target language). However, for long sentences, the Encoder-Decoder architecture struggles to translate effectively. This is because it tries to memorize the whole sentence before generating the translation, which is not how humans translate.</a:t>
            </a:r>
          </a:p>
          <a:p>
            <a:pPr marL="342900" indent="-342900">
              <a:buFont typeface="Arial" panose="020B0604020202020204" pitchFamily="34" charset="0"/>
              <a:buChar char="•"/>
            </a:pPr>
            <a:r>
              <a:rPr lang="en-GB" sz="1100" dirty="0" smtClean="0"/>
              <a:t>The Attention Model was developed as a modification to the Encoder-Decoder architecture to address this issue. The basic idea of the Attention Model is to allow the model to focus on different parts of the input sentence at different times while generating the translation. This is done by introducing attention weights, which determine how much attention the model should pay to each part of the input sentence when generating each word in the output sentence.</a:t>
            </a:r>
          </a:p>
          <a:p>
            <a:pPr marL="342900" indent="-342900">
              <a:buFont typeface="Arial" panose="020B0604020202020204" pitchFamily="34" charset="0"/>
              <a:buChar char="•"/>
            </a:pPr>
            <a:r>
              <a:rPr lang="en-GB" sz="1100" dirty="0" smtClean="0"/>
              <a:t>The attention weights are computed based on the hidden states of the bidirectional RNN that reads in the input sentence and the hidden state of the RNN that generates the output sentence. The bidirectional RNN computes a rich set of features for each word in the input sentence, and the attention weights tell the model how much weight to assign to each of these features when generating each word in the output sentence.</a:t>
            </a:r>
          </a:p>
          <a:p>
            <a:pPr marL="342900" indent="-342900">
              <a:buFont typeface="Arial" panose="020B0604020202020204" pitchFamily="34" charset="0"/>
              <a:buChar char="•"/>
            </a:pPr>
            <a:r>
              <a:rPr lang="en-GB" sz="1100" dirty="0" smtClean="0"/>
              <a:t>By using attention, the model can effectively translate long sentences by focusing on only the relevant parts of the input sentence at each step. This leads to a more accurate translation and higher BLEU scores.</a:t>
            </a:r>
          </a:p>
          <a:p>
            <a:pPr marL="342900" indent="-342900">
              <a:buFont typeface="Arial" panose="020B0604020202020204" pitchFamily="34" charset="0"/>
              <a:buChar char="•"/>
            </a:pPr>
            <a:r>
              <a:rPr lang="en-GB" sz="1100" dirty="0" smtClean="0"/>
              <a:t>The Attention Model was first introduced in a seminal paper by </a:t>
            </a:r>
            <a:r>
              <a:rPr lang="en-GB" sz="1100" dirty="0" err="1" smtClean="0"/>
              <a:t>Bahdanau</a:t>
            </a:r>
            <a:r>
              <a:rPr lang="en-GB" sz="1100" dirty="0" smtClean="0"/>
              <a:t> et al. and has since become one of the most influential ideas in deep learning, not just in machine translation but also in other areas such as image captioning and speech recognition.</a:t>
            </a:r>
          </a:p>
          <a:p>
            <a:pPr marL="171450" lvl="0" indent="-171450" algn="l" rtl="0">
              <a:spcBef>
                <a:spcPts val="0"/>
              </a:spcBef>
              <a:spcAft>
                <a:spcPts val="0"/>
              </a:spcAft>
            </a:pPr>
            <a:endParaRPr dirty="0"/>
          </a:p>
        </p:txBody>
      </p:sp>
      <p:sp>
        <p:nvSpPr>
          <p:cNvPr id="86" name="Google Shape;86;p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63579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2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1" name="Google Shape;321;p2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2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8" name="Google Shape;348;p2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5" name="Google Shape;355;p2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GB" sz="1100" dirty="0" smtClean="0"/>
              <a:t>The attention model is a technique in deep learning that allows a neural network to focus on certain parts of an input sequence while generating an output. In the context of machine translation, an attention model is used to generate a translation by paying attention to relevant parts of the input sentence. To implement an attention model, you start by using a bidirectional RNN, GRU, or LSTM to compute features on every word in the input sentence. The features computed from the forward occurrence and from the backward occurrence in the bidirectional RNN are concatenated together to form a feature vector for each time step. Then, a forward-only RNN is used to generate the translation, with a context vector as input for each time step. The context vector is defined as a sum of the features from the different time steps, weighted by attention weights that determine how much attention to pay to each feature. These attention weights are computed using a small neural network that takes as input the previous hidden state of the RNN generating the translation and the features of the input sentence. The neural network is trained with gradient descent to learn the appropriate attention weights for each time step.</a:t>
            </a:r>
            <a:endParaRPr lang="en-US" sz="1100" dirty="0" smtClean="0"/>
          </a:p>
          <a:p>
            <a:pPr marL="171450" marR="0" lvl="0" indent="-171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sz="1100" dirty="0" smtClean="0"/>
              <a:t>While the attention model was originally developed for machine translation, it has also been applied to other problems, such as image captioning. In the programming exercise, you can implement and play with the attention model while solving the date normalization problem. The attention weights can also be visualized, showing which parts of the input sequence the model is paying attention to when generating each output word. The main downside of the attention model is its quadratic time complexity, but there are research efforts to reduce this cost.</a:t>
            </a:r>
          </a:p>
          <a:p>
            <a:pPr marL="171450" lvl="0" indent="-171450" algn="l" rtl="0">
              <a:spcBef>
                <a:spcPts val="0"/>
              </a:spcBef>
              <a:spcAft>
                <a:spcPts val="0"/>
              </a:spcAft>
            </a:pPr>
            <a:endParaRPr dirty="0"/>
          </a:p>
        </p:txBody>
      </p:sp>
      <p:sp>
        <p:nvSpPr>
          <p:cNvPr id="86" name="Google Shape;86;p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16503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2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3" name="Google Shape;363;p2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3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0" name="Google Shape;370;p3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3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6" name="Google Shape;376;p3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3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2" name="Google Shape;382;p3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1100" dirty="0" smtClean="0"/>
              <a:t>Speech recognition is the task of converting an audio clip into a text transcript. This is typically done by processing the audio clip to create a spectrogram, which is a visual representation of the sound waves in the clip. The spectrogram shows the intensity of different frequencies at different points in time. Speech recognition models use this spectrogram as input to predict the corresponding text transcript.</a:t>
            </a:r>
          </a:p>
          <a:p>
            <a:pPr marL="342900" indent="-342900">
              <a:buFont typeface="Arial" panose="020B0604020202020204" pitchFamily="34" charset="0"/>
              <a:buChar char="•"/>
            </a:pPr>
            <a:r>
              <a:rPr lang="en-GB" sz="1100" dirty="0" smtClean="0"/>
              <a:t>In the past, speech recognition systems used to be built using phonemes, which are the basic units of sound in a language. These phonemes were hand-engineered and used to transcribe audio data. However, with end-to-end deep learning, phoneme representations are no longer necessary. Instead, deep learning models can input the raw audio clip and directly output the transcript without the need for hand-engineered representations.</a:t>
            </a:r>
          </a:p>
          <a:p>
            <a:pPr marL="342900" indent="-342900">
              <a:buFont typeface="Arial" panose="020B0604020202020204" pitchFamily="34" charset="0"/>
              <a:buChar char="•"/>
            </a:pPr>
            <a:r>
              <a:rPr lang="en-GB" sz="1100" dirty="0" smtClean="0"/>
              <a:t>One approach to building a speech recognition system is to use an attention model. This model takes in different time frames of the audio input and uses an attention mechanism to output the corresponding transcript.</a:t>
            </a:r>
          </a:p>
          <a:p>
            <a:pPr marL="342900" indent="-342900">
              <a:buFont typeface="Arial" panose="020B0604020202020204" pitchFamily="34" charset="0"/>
              <a:buChar char="•"/>
            </a:pPr>
            <a:r>
              <a:rPr lang="en-GB" sz="1100" dirty="0" smtClean="0"/>
              <a:t>Another approach is to use the CTC (Connectionist Temporal Classification) cost for speech recognition. This approach involves using a neural network with an equal number of input and output units. The network generates an output sequence that includes a special "blank" character, which allows the network to repeat characters and insert blanks to represent a longer output sequence. The CTC cost function collapses repeated characters not separated by the "blank" character to create the final output sequence.</a:t>
            </a:r>
          </a:p>
          <a:p>
            <a:pPr marL="342900" indent="-342900">
              <a:buFont typeface="Arial" panose="020B0604020202020204" pitchFamily="34" charset="0"/>
              <a:buChar char="•"/>
            </a:pPr>
            <a:r>
              <a:rPr lang="en-GB" sz="1100" dirty="0" smtClean="0"/>
              <a:t>Building effective speech recognition systems requires a large dataset of transcribed audio. However, a simpler task, such as building a trigger word detection system, can be done with a smaller dataset. In the next video, the speaker will discuss how to build a trigger word detection system.</a:t>
            </a:r>
          </a:p>
        </p:txBody>
      </p:sp>
      <p:sp>
        <p:nvSpPr>
          <p:cNvPr id="86" name="Google Shape;86;p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60358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3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0" name="Google Shape;390;p3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3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6" name="Google Shape;396;p3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3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2" name="Google Shape;402;p3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3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8" name="Google Shape;408;p3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342900" indent="-342900">
              <a:buFont typeface="Arial" panose="020B0604020202020204" pitchFamily="34" charset="0"/>
              <a:buChar char="•"/>
            </a:pPr>
            <a:r>
              <a:rPr lang="en-GB" sz="1100" dirty="0" smtClean="0"/>
              <a:t>This section explains how to build a trigger word detection system using deep learning and sequence models. Trigger word systems are devices that can be woken up with a specific word or phrase, such as "Alexa" for the Amazon Echo or "Hey Siri" for Apple's Siri. There is no consensus on the best algorithm for trigger word detection, but presents one example that involves using an RNN.</a:t>
            </a:r>
          </a:p>
          <a:p>
            <a:pPr marL="342900" indent="-342900">
              <a:buFont typeface="Arial" panose="020B0604020202020204" pitchFamily="34" charset="0"/>
              <a:buChar char="•"/>
            </a:pPr>
            <a:r>
              <a:rPr lang="en-GB" sz="1100" dirty="0" smtClean="0"/>
              <a:t>To train the RNN for trigger word detection, the audio clip is passed through the RNN after being processed into spectrogram features. Target labels are then defined to indicate when the trigger word is spoken in the audio clip. Setting the target label to 1 right after the trigger word is spoken, and possibly outputting multiple 1s for a fixed period of time to balance out the ratio of 1s to 0s in the training set.</a:t>
            </a:r>
          </a:p>
          <a:p>
            <a:pPr marL="0" lvl="0" indent="0" algn="l" rtl="0">
              <a:spcBef>
                <a:spcPts val="0"/>
              </a:spcBef>
              <a:spcAft>
                <a:spcPts val="0"/>
              </a:spcAft>
              <a:buNone/>
            </a:pPr>
            <a:endParaRPr dirty="0"/>
          </a:p>
        </p:txBody>
      </p:sp>
      <p:sp>
        <p:nvSpPr>
          <p:cNvPr id="86" name="Google Shape;86;p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57512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3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6" name="Google Shape;416;p3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3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0" name="Google Shape;430;p3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4" name="Google Shape;444;p4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5" name="Google Shape;445;p43:notes"/>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53</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8981902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4" name="Google Shape;444;p4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4106" marR="4483" lvl="1"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Bleu Score (Optional):</a:t>
            </a:r>
          </a:p>
          <a:p>
            <a:pPr marL="11206" marR="4483" lvl="1">
              <a:lnSpc>
                <a:spcPct val="101800"/>
              </a:lnSpc>
              <a:buSzPts val="2400"/>
            </a:pPr>
            <a:r>
              <a:rPr lang="en-US" sz="2000" dirty="0" smtClean="0">
                <a:ea typeface="Century Schoolbook"/>
                <a:cs typeface="Century Schoolbook"/>
                <a:sym typeface="Century Schoolbook"/>
              </a:rPr>
              <a:t>	The Bleu score is a metric used to evaluate the quality of machine translations by 	comparing them to reference translations. It measures the similarity of n-grams between 	the candidate and reference translations.</a:t>
            </a:r>
          </a:p>
          <a:p>
            <a:pPr marL="354106" marR="4483" lvl="1"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Attention Model Intuition:</a:t>
            </a:r>
          </a:p>
          <a:p>
            <a:pPr marL="11206" marR="4483" lvl="1">
              <a:lnSpc>
                <a:spcPct val="101800"/>
              </a:lnSpc>
              <a:buSzPts val="2400"/>
            </a:pPr>
            <a:r>
              <a:rPr lang="en-US" sz="2400" dirty="0" smtClean="0">
                <a:ea typeface="Century Schoolbook"/>
                <a:cs typeface="Century Schoolbook"/>
                <a:sym typeface="Century Schoolbook"/>
              </a:rPr>
              <a:t>	</a:t>
            </a:r>
            <a:r>
              <a:rPr lang="en-US" sz="2000" dirty="0" smtClean="0">
                <a:ea typeface="Century Schoolbook"/>
                <a:cs typeface="Century Schoolbook"/>
                <a:sym typeface="Century Schoolbook"/>
              </a:rPr>
              <a:t>Introduces the concept of attention in neural networks, which allows models to focus on 	different parts of the input sequence when generating output.</a:t>
            </a:r>
          </a:p>
          <a:p>
            <a:pPr marL="354106" marR="4483" lvl="1"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Attention Model:</a:t>
            </a:r>
          </a:p>
          <a:p>
            <a:pPr marL="11206" marR="4483" lvl="1">
              <a:lnSpc>
                <a:spcPct val="101800"/>
              </a:lnSpc>
              <a:buSzPts val="2400"/>
            </a:pPr>
            <a:r>
              <a:rPr lang="en-US" sz="2000" dirty="0" smtClean="0">
                <a:ea typeface="Century Schoolbook"/>
                <a:cs typeface="Century Schoolbook"/>
                <a:sym typeface="Century Schoolbook"/>
              </a:rPr>
              <a:t>	Explains the architecture of attention models, which enhance sequence-to-sequence 	models by attending to relevant parts of the input during decoding, improving translation 	quality.</a:t>
            </a:r>
          </a:p>
          <a:p>
            <a:pPr marL="354106" marR="4483" lvl="1"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Speech Recognition:</a:t>
            </a:r>
          </a:p>
          <a:p>
            <a:pPr marL="11206" marR="4483" lvl="1">
              <a:lnSpc>
                <a:spcPct val="101800"/>
              </a:lnSpc>
              <a:buSzPts val="2400"/>
            </a:pPr>
            <a:r>
              <a:rPr lang="en-US" sz="2400" dirty="0" smtClean="0">
                <a:ea typeface="Century Schoolbook"/>
                <a:cs typeface="Century Schoolbook"/>
                <a:sym typeface="Century Schoolbook"/>
              </a:rPr>
              <a:t>	</a:t>
            </a:r>
            <a:r>
              <a:rPr lang="en-US" sz="2000" dirty="0" smtClean="0">
                <a:ea typeface="Century Schoolbook"/>
                <a:cs typeface="Century Schoolbook"/>
                <a:sym typeface="Century Schoolbook"/>
              </a:rPr>
              <a:t>Speech recognition is the task of converting spoken language into text. It 	involves models 	like recurrent neural networks (RNNs) and attention-based models.</a:t>
            </a:r>
          </a:p>
          <a:p>
            <a:pPr marL="354106" marR="4483" lvl="1"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Trigger Word Detection:</a:t>
            </a:r>
          </a:p>
          <a:p>
            <a:pPr marL="11206" marR="4483" lvl="1">
              <a:lnSpc>
                <a:spcPct val="101800"/>
              </a:lnSpc>
              <a:buSzPts val="2400"/>
            </a:pPr>
            <a:r>
              <a:rPr lang="en-US" sz="2000" dirty="0" smtClean="0">
                <a:ea typeface="Century Schoolbook"/>
                <a:cs typeface="Century Schoolbook"/>
                <a:sym typeface="Century Schoolbook"/>
              </a:rPr>
              <a:t>	Trigger word detection involves identifying specific words or phrases in audio data, often 	used in applications like voice assistants to activate them.</a:t>
            </a:r>
          </a:p>
          <a:p>
            <a:pPr marL="0" lvl="0" indent="0" algn="l" rtl="0">
              <a:lnSpc>
                <a:spcPct val="100000"/>
              </a:lnSpc>
              <a:spcBef>
                <a:spcPts val="0"/>
              </a:spcBef>
              <a:spcAft>
                <a:spcPts val="0"/>
              </a:spcAft>
              <a:buSzPts val="1400"/>
              <a:buNone/>
            </a:pPr>
            <a:endParaRPr dirty="0"/>
          </a:p>
        </p:txBody>
      </p:sp>
      <p:sp>
        <p:nvSpPr>
          <p:cNvPr id="445" name="Google Shape;445;p43:notes"/>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54</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178919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44"/>
          <p:cNvSpPr txBox="1">
            <a:spLocks noGrp="1"/>
          </p:cNvSpPr>
          <p:nvPr>
            <p:ph type="title"/>
          </p:nvPr>
        </p:nvSpPr>
        <p:spPr>
          <a:xfrm>
            <a:off x="261620" y="139700"/>
            <a:ext cx="6059170" cy="6959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400" b="0" i="0">
                <a:solidFill>
                  <a:schemeClr val="dk1"/>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44"/>
          <p:cNvSpPr txBox="1">
            <a:spLocks noGrp="1"/>
          </p:cNvSpPr>
          <p:nvPr>
            <p:ph type="body" idx="1"/>
          </p:nvPr>
        </p:nvSpPr>
        <p:spPr>
          <a:xfrm>
            <a:off x="927825" y="1245908"/>
            <a:ext cx="10336349" cy="437070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b="0" i="0">
                <a:solidFill>
                  <a:schemeClr val="dk1"/>
                </a:solidFil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4" name="Google Shape;14;p44"/>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4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44"/>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7"/>
        <p:cNvGrpSpPr/>
        <p:nvPr/>
      </p:nvGrpSpPr>
      <p:grpSpPr>
        <a:xfrm>
          <a:off x="0" y="0"/>
          <a:ext cx="0" cy="0"/>
          <a:chOff x="0" y="0"/>
          <a:chExt cx="0" cy="0"/>
        </a:xfrm>
      </p:grpSpPr>
      <p:sp>
        <p:nvSpPr>
          <p:cNvPr id="18" name="Google Shape;18;p45"/>
          <p:cNvSpPr txBox="1">
            <a:spLocks noGrp="1"/>
          </p:cNvSpPr>
          <p:nvPr>
            <p:ph type="ctrTitle"/>
          </p:nvPr>
        </p:nvSpPr>
        <p:spPr>
          <a:xfrm>
            <a:off x="914400" y="2125980"/>
            <a:ext cx="10363200" cy="14401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5"/>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5"/>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45"/>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45"/>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47"/>
          <p:cNvSpPr txBox="1">
            <a:spLocks noGrp="1"/>
          </p:cNvSpPr>
          <p:nvPr>
            <p:ph type="title"/>
          </p:nvPr>
        </p:nvSpPr>
        <p:spPr>
          <a:xfrm>
            <a:off x="261620" y="139700"/>
            <a:ext cx="6059170" cy="6959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400" b="0" i="0">
                <a:solidFill>
                  <a:schemeClr val="dk1"/>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47"/>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 name="Google Shape;31;p47"/>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47"/>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47"/>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47"/>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5"/>
        <p:cNvGrpSpPr/>
        <p:nvPr/>
      </p:nvGrpSpPr>
      <p:grpSpPr>
        <a:xfrm>
          <a:off x="0" y="0"/>
          <a:ext cx="0" cy="0"/>
          <a:chOff x="0" y="0"/>
          <a:chExt cx="0" cy="0"/>
        </a:xfrm>
      </p:grpSpPr>
      <p:sp>
        <p:nvSpPr>
          <p:cNvPr id="36" name="Google Shape;36;p48"/>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48"/>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48"/>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0"/>
        <p:cNvGrpSpPr/>
        <p:nvPr/>
      </p:nvGrpSpPr>
      <p:grpSpPr>
        <a:xfrm>
          <a:off x="0" y="0"/>
          <a:ext cx="0" cy="0"/>
          <a:chOff x="0" y="0"/>
          <a:chExt cx="0" cy="0"/>
        </a:xfrm>
      </p:grpSpPr>
      <p:sp>
        <p:nvSpPr>
          <p:cNvPr id="31" name="Google Shape;31;p71"/>
          <p:cNvSpPr txBox="1">
            <a:spLocks noGrp="1"/>
          </p:cNvSpPr>
          <p:nvPr>
            <p:ph type="title"/>
          </p:nvPr>
        </p:nvSpPr>
        <p:spPr>
          <a:xfrm>
            <a:off x="261620" y="139700"/>
            <a:ext cx="11668759" cy="130619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400" b="0" i="0">
                <a:solidFill>
                  <a:schemeClr val="dk1"/>
                </a:solidFill>
                <a:latin typeface="Cambria"/>
                <a:ea typeface="Cambria"/>
                <a:cs typeface="Cambria"/>
                <a:sym typeface="Cambr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1"/>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7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71"/>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42528307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3"/>
          <p:cNvSpPr txBox="1">
            <a:spLocks noGrp="1"/>
          </p:cNvSpPr>
          <p:nvPr>
            <p:ph type="title"/>
          </p:nvPr>
        </p:nvSpPr>
        <p:spPr>
          <a:xfrm>
            <a:off x="261620" y="139700"/>
            <a:ext cx="6059170" cy="69596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4400" b="0" i="0" u="none" strike="noStrike" cap="none">
                <a:solidFill>
                  <a:schemeClr val="dk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43"/>
          <p:cNvSpPr txBox="1">
            <a:spLocks noGrp="1"/>
          </p:cNvSpPr>
          <p:nvPr>
            <p:ph type="body" idx="1"/>
          </p:nvPr>
        </p:nvSpPr>
        <p:spPr>
          <a:xfrm>
            <a:off x="927825" y="1245908"/>
            <a:ext cx="10336349" cy="4370705"/>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8" name="Google Shape;8;p43"/>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4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 name="Google Shape;10;p43"/>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fr-F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1.png"/><Relationship Id="rId4" Type="http://schemas.openxmlformats.org/officeDocument/2006/relationships/image" Target="../media/image15.png"/><Relationship Id="rId9" Type="http://schemas.openxmlformats.org/officeDocument/2006/relationships/image" Target="../media/image20.png"/></Relationships>
</file>

<file path=ppt/slides/_rels/slide1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21.png"/><Relationship Id="rId7"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17.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51.jpg"/><Relationship Id="rId5" Type="http://schemas.openxmlformats.org/officeDocument/2006/relationships/image" Target="../media/image50.png"/><Relationship Id="rId4" Type="http://schemas.openxmlformats.org/officeDocument/2006/relationships/image" Target="../media/image49.jpg"/></Relationships>
</file>

<file path=ppt/slides/_rels/slide5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53.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g21ca71a1e5c_0_0"/>
          <p:cNvSpPr txBox="1">
            <a:spLocks noGrp="1"/>
          </p:cNvSpPr>
          <p:nvPr>
            <p:ph type="title"/>
          </p:nvPr>
        </p:nvSpPr>
        <p:spPr>
          <a:xfrm>
            <a:off x="261625" y="139700"/>
            <a:ext cx="10807800" cy="2123658"/>
          </a:xfrm>
          <a:prstGeom prst="rect">
            <a:avLst/>
          </a:prstGeom>
        </p:spPr>
        <p:txBody>
          <a:bodyPr spcFirstLastPara="1" wrap="square" lIns="0" tIns="0" rIns="0" bIns="0" anchor="t" anchorCtr="0">
            <a:spAutoFit/>
          </a:bodyPr>
          <a:lstStyle/>
          <a:p>
            <a:pPr lvl="0">
              <a:lnSpc>
                <a:spcPct val="115000"/>
              </a:lnSpc>
              <a:buClr>
                <a:schemeClr val="dk1"/>
              </a:buClr>
              <a:buSzPts val="1100"/>
            </a:pPr>
            <a:r>
              <a:rPr lang="fr-FR" sz="6000" dirty="0" err="1">
                <a:solidFill>
                  <a:srgbClr val="0F0F0F"/>
                </a:solidFill>
                <a:highlight>
                  <a:srgbClr val="FFFFFF"/>
                </a:highlight>
                <a:latin typeface="+mj-lt"/>
                <a:ea typeface="Roboto"/>
                <a:cs typeface="Roboto"/>
                <a:sym typeface="Roboto"/>
              </a:rPr>
              <a:t>Sequence</a:t>
            </a:r>
            <a:r>
              <a:rPr lang="fr-FR" sz="6000" dirty="0">
                <a:solidFill>
                  <a:srgbClr val="0F0F0F"/>
                </a:solidFill>
                <a:highlight>
                  <a:srgbClr val="FFFFFF"/>
                </a:highlight>
                <a:latin typeface="+mj-lt"/>
                <a:ea typeface="Roboto"/>
                <a:cs typeface="Roboto"/>
                <a:sym typeface="Roboto"/>
              </a:rPr>
              <a:t> </a:t>
            </a:r>
            <a:r>
              <a:rPr lang="fr-FR" sz="6000" dirty="0" err="1">
                <a:solidFill>
                  <a:srgbClr val="0F0F0F"/>
                </a:solidFill>
                <a:highlight>
                  <a:srgbClr val="FFFFFF"/>
                </a:highlight>
                <a:latin typeface="+mj-lt"/>
                <a:ea typeface="Roboto"/>
                <a:cs typeface="Roboto"/>
                <a:sym typeface="Roboto"/>
              </a:rPr>
              <a:t>Models</a:t>
            </a:r>
            <a:r>
              <a:rPr lang="fr-FR" sz="6000" dirty="0">
                <a:solidFill>
                  <a:srgbClr val="0F0F0F"/>
                </a:solidFill>
                <a:highlight>
                  <a:srgbClr val="FFFFFF"/>
                </a:highlight>
                <a:latin typeface="+mj-lt"/>
                <a:ea typeface="Roboto"/>
                <a:cs typeface="Roboto"/>
                <a:sym typeface="Roboto"/>
              </a:rPr>
              <a:t> &amp; Attention </a:t>
            </a:r>
            <a:r>
              <a:rPr lang="fr-FR" sz="6000" dirty="0" err="1">
                <a:solidFill>
                  <a:srgbClr val="0F0F0F"/>
                </a:solidFill>
                <a:highlight>
                  <a:srgbClr val="FFFFFF"/>
                </a:highlight>
                <a:latin typeface="+mj-lt"/>
                <a:ea typeface="Roboto"/>
                <a:cs typeface="Roboto"/>
                <a:sym typeface="Roboto"/>
              </a:rPr>
              <a:t>Mechanism</a:t>
            </a:r>
            <a:endParaRPr dirty="0">
              <a:latin typeface="+mj-lt"/>
            </a:endParaRPr>
          </a:p>
        </p:txBody>
      </p:sp>
      <p:sp>
        <p:nvSpPr>
          <p:cNvPr id="44" name="Google Shape;44;g21ca71a1e5c_0_0"/>
          <p:cNvSpPr txBox="1">
            <a:spLocks noGrp="1"/>
          </p:cNvSpPr>
          <p:nvPr>
            <p:ph type="body" idx="1"/>
          </p:nvPr>
        </p:nvSpPr>
        <p:spPr>
          <a:xfrm>
            <a:off x="5149516" y="1463737"/>
            <a:ext cx="6930189" cy="5338114"/>
          </a:xfrm>
          <a:prstGeom prst="rect">
            <a:avLst/>
          </a:prstGeom>
        </p:spPr>
        <p:txBody>
          <a:bodyPr spcFirstLastPara="1" wrap="square" lIns="0" tIns="0" rIns="0" bIns="0" anchor="t" anchorCtr="0">
            <a:noAutofit/>
          </a:bodyPr>
          <a:lstStyle/>
          <a:p>
            <a:r>
              <a:rPr lang="en-US" sz="2400" b="1" dirty="0" smtClean="0">
                <a:latin typeface="+mn-lt"/>
              </a:rPr>
              <a:t>Learning Objectives:</a:t>
            </a:r>
          </a:p>
          <a:p>
            <a:pPr marL="571500" indent="-342900">
              <a:buSzPct val="100000"/>
              <a:buFont typeface="Arial" panose="020B0604020202020204" pitchFamily="34" charset="0"/>
              <a:buChar char="•"/>
            </a:pPr>
            <a:r>
              <a:rPr lang="en-US" sz="2400" dirty="0" smtClean="0">
                <a:latin typeface="+mn-lt"/>
              </a:rPr>
              <a:t>Describe </a:t>
            </a:r>
            <a:r>
              <a:rPr lang="en-US" sz="2400" dirty="0">
                <a:latin typeface="+mn-lt"/>
              </a:rPr>
              <a:t>a basic sequence-to-sequence model</a:t>
            </a:r>
          </a:p>
          <a:p>
            <a:pPr marL="571500" indent="-342900">
              <a:buSzPct val="100000"/>
              <a:buFont typeface="Arial" panose="020B0604020202020204" pitchFamily="34" charset="0"/>
              <a:buChar char="•"/>
            </a:pPr>
            <a:r>
              <a:rPr lang="en-US" sz="2400" dirty="0">
                <a:latin typeface="+mn-lt"/>
              </a:rPr>
              <a:t>Compare and contrast several different algorithms for language translation</a:t>
            </a:r>
          </a:p>
          <a:p>
            <a:pPr marL="571500" indent="-342900">
              <a:buSzPct val="100000"/>
              <a:buFont typeface="Arial" panose="020B0604020202020204" pitchFamily="34" charset="0"/>
              <a:buChar char="•"/>
            </a:pPr>
            <a:r>
              <a:rPr lang="en-US" sz="2400" dirty="0">
                <a:latin typeface="+mn-lt"/>
              </a:rPr>
              <a:t>Optimize beam search and analyze it for errors</a:t>
            </a:r>
          </a:p>
          <a:p>
            <a:pPr marL="571500" indent="-342900">
              <a:buSzPct val="100000"/>
              <a:buFont typeface="Arial" panose="020B0604020202020204" pitchFamily="34" charset="0"/>
              <a:buChar char="•"/>
            </a:pPr>
            <a:r>
              <a:rPr lang="en-US" sz="2400" dirty="0">
                <a:latin typeface="+mn-lt"/>
              </a:rPr>
              <a:t>Use beam search to identify likely translations</a:t>
            </a:r>
          </a:p>
          <a:p>
            <a:pPr marL="571500" indent="-342900">
              <a:buSzPct val="100000"/>
              <a:buFont typeface="Arial" panose="020B0604020202020204" pitchFamily="34" charset="0"/>
              <a:buChar char="•"/>
            </a:pPr>
            <a:r>
              <a:rPr lang="en-US" sz="2400" dirty="0">
                <a:latin typeface="+mn-lt"/>
              </a:rPr>
              <a:t>Apply BLEU score to machine-translated text</a:t>
            </a:r>
          </a:p>
          <a:p>
            <a:pPr marL="571500" indent="-342900">
              <a:buSzPct val="100000"/>
              <a:buFont typeface="Arial" panose="020B0604020202020204" pitchFamily="34" charset="0"/>
              <a:buChar char="•"/>
            </a:pPr>
            <a:r>
              <a:rPr lang="en-US" sz="2400" dirty="0">
                <a:latin typeface="+mn-lt"/>
              </a:rPr>
              <a:t>Implement an attention model</a:t>
            </a:r>
          </a:p>
          <a:p>
            <a:pPr marL="571500" indent="-342900">
              <a:buSzPct val="100000"/>
              <a:buFont typeface="Arial" panose="020B0604020202020204" pitchFamily="34" charset="0"/>
              <a:buChar char="•"/>
            </a:pPr>
            <a:r>
              <a:rPr lang="en-US" sz="2400" dirty="0">
                <a:latin typeface="+mn-lt"/>
              </a:rPr>
              <a:t>Train a trigger word detection model and make predictions</a:t>
            </a:r>
          </a:p>
          <a:p>
            <a:pPr marL="571500" indent="-342900">
              <a:buSzPct val="100000"/>
              <a:buFont typeface="Arial" panose="020B0604020202020204" pitchFamily="34" charset="0"/>
              <a:buChar char="•"/>
            </a:pPr>
            <a:r>
              <a:rPr lang="en-US" sz="2400" dirty="0">
                <a:latin typeface="+mn-lt"/>
              </a:rPr>
              <a:t>Synthesize and process audio recordings to create train/dev </a:t>
            </a:r>
            <a:r>
              <a:rPr lang="en-US" sz="2400" dirty="0" smtClean="0">
                <a:latin typeface="+mn-lt"/>
              </a:rPr>
              <a:t>datasets</a:t>
            </a:r>
            <a:endParaRPr lang="en-US" sz="2400" dirty="0">
              <a:latin typeface="+mn-lt"/>
            </a:endParaRPr>
          </a:p>
        </p:txBody>
      </p:sp>
      <p:pic>
        <p:nvPicPr>
          <p:cNvPr id="45" name="Google Shape;45;g21ca71a1e5c_0_0"/>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a:t>
            </a:fld>
            <a:endParaRPr lang="fr-F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g21ca71a1e5c_0_0"/>
          <p:cNvSpPr txBox="1">
            <a:spLocks noGrp="1"/>
          </p:cNvSpPr>
          <p:nvPr>
            <p:ph type="title"/>
          </p:nvPr>
        </p:nvSpPr>
        <p:spPr>
          <a:xfrm>
            <a:off x="261625" y="139700"/>
            <a:ext cx="10807800" cy="2123658"/>
          </a:xfrm>
          <a:prstGeom prst="rect">
            <a:avLst/>
          </a:prstGeom>
        </p:spPr>
        <p:txBody>
          <a:bodyPr spcFirstLastPara="1" wrap="square" lIns="0" tIns="0" rIns="0" bIns="0" anchor="t" anchorCtr="0">
            <a:spAutoFit/>
          </a:bodyPr>
          <a:lstStyle/>
          <a:p>
            <a:pPr lvl="0">
              <a:lnSpc>
                <a:spcPct val="115000"/>
              </a:lnSpc>
              <a:buClr>
                <a:schemeClr val="dk1"/>
              </a:buClr>
              <a:buSzPts val="1100"/>
            </a:pPr>
            <a:r>
              <a:rPr lang="fr-FR" sz="6000" b="1" dirty="0" err="1">
                <a:solidFill>
                  <a:srgbClr val="0F0F0F"/>
                </a:solidFill>
                <a:highlight>
                  <a:srgbClr val="FFFFFF"/>
                </a:highlight>
                <a:latin typeface="+mj-lt"/>
                <a:ea typeface="Roboto"/>
                <a:cs typeface="Roboto"/>
                <a:sym typeface="Roboto"/>
              </a:rPr>
              <a:t>Sequence</a:t>
            </a:r>
            <a:r>
              <a:rPr lang="fr-FR" sz="6000" b="1" dirty="0">
                <a:solidFill>
                  <a:srgbClr val="0F0F0F"/>
                </a:solidFill>
                <a:highlight>
                  <a:srgbClr val="FFFFFF"/>
                </a:highlight>
                <a:latin typeface="+mj-lt"/>
                <a:ea typeface="Roboto"/>
                <a:cs typeface="Roboto"/>
                <a:sym typeface="Roboto"/>
              </a:rPr>
              <a:t> </a:t>
            </a:r>
            <a:r>
              <a:rPr lang="fr-FR" sz="6000" b="1" dirty="0" err="1">
                <a:solidFill>
                  <a:srgbClr val="0F0F0F"/>
                </a:solidFill>
                <a:highlight>
                  <a:srgbClr val="FFFFFF"/>
                </a:highlight>
                <a:latin typeface="+mj-lt"/>
                <a:ea typeface="Roboto"/>
                <a:cs typeface="Roboto"/>
                <a:sym typeface="Roboto"/>
              </a:rPr>
              <a:t>Models</a:t>
            </a:r>
            <a:r>
              <a:rPr lang="fr-FR" sz="6000" b="1" dirty="0">
                <a:solidFill>
                  <a:srgbClr val="0F0F0F"/>
                </a:solidFill>
                <a:highlight>
                  <a:srgbClr val="FFFFFF"/>
                </a:highlight>
                <a:latin typeface="+mj-lt"/>
                <a:ea typeface="Roboto"/>
                <a:cs typeface="Roboto"/>
                <a:sym typeface="Roboto"/>
              </a:rPr>
              <a:t> &amp; Attention </a:t>
            </a:r>
            <a:r>
              <a:rPr lang="fr-FR" sz="6000" b="1" dirty="0" err="1">
                <a:solidFill>
                  <a:srgbClr val="0F0F0F"/>
                </a:solidFill>
                <a:highlight>
                  <a:srgbClr val="FFFFFF"/>
                </a:highlight>
                <a:latin typeface="+mj-lt"/>
                <a:ea typeface="Roboto"/>
                <a:cs typeface="Roboto"/>
                <a:sym typeface="Roboto"/>
              </a:rPr>
              <a:t>Mechanism</a:t>
            </a:r>
            <a:endParaRPr dirty="0">
              <a:latin typeface="+mj-lt"/>
            </a:endParaRPr>
          </a:p>
        </p:txBody>
      </p:sp>
      <p:sp>
        <p:nvSpPr>
          <p:cNvPr id="44" name="Google Shape;44;g21ca71a1e5c_0_0"/>
          <p:cNvSpPr txBox="1">
            <a:spLocks noGrp="1"/>
          </p:cNvSpPr>
          <p:nvPr>
            <p:ph type="body" idx="1"/>
          </p:nvPr>
        </p:nvSpPr>
        <p:spPr>
          <a:xfrm>
            <a:off x="6350750" y="1287275"/>
            <a:ext cx="5270700" cy="4471500"/>
          </a:xfrm>
          <a:prstGeom prst="rect">
            <a:avLst/>
          </a:prstGeom>
        </p:spPr>
        <p:txBody>
          <a:bodyPr spcFirstLastPara="1" wrap="square" lIns="0" tIns="0" rIns="0" bIns="0" anchor="t" anchorCtr="0">
            <a:noAutofit/>
          </a:bodyPr>
          <a:lstStyle/>
          <a:p>
            <a:pPr marL="12700" lvl="0" indent="0" algn="l" rtl="0">
              <a:spcBef>
                <a:spcPts val="0"/>
              </a:spcBef>
              <a:spcAft>
                <a:spcPts val="0"/>
              </a:spcAft>
              <a:buNone/>
            </a:pPr>
            <a:r>
              <a:rPr lang="fr-FR" sz="2400" dirty="0">
                <a:latin typeface="+mj-lt"/>
              </a:rPr>
              <a:t>1 Basic </a:t>
            </a:r>
            <a:r>
              <a:rPr lang="fr-FR" sz="2400" dirty="0" err="1">
                <a:latin typeface="+mj-lt"/>
              </a:rPr>
              <a:t>models</a:t>
            </a:r>
            <a:endParaRPr sz="2400" dirty="0">
              <a:latin typeface="+mj-lt"/>
            </a:endParaRPr>
          </a:p>
          <a:p>
            <a:pPr marL="12700" lvl="0" indent="0" algn="l" rtl="0">
              <a:spcBef>
                <a:spcPts val="0"/>
              </a:spcBef>
              <a:spcAft>
                <a:spcPts val="0"/>
              </a:spcAft>
              <a:buNone/>
            </a:pPr>
            <a:r>
              <a:rPr lang="fr-FR" sz="2400" dirty="0">
                <a:latin typeface="+mj-lt"/>
              </a:rPr>
              <a:t>2 Picking the </a:t>
            </a:r>
            <a:r>
              <a:rPr lang="fr-FR" sz="2400" dirty="0" err="1">
                <a:latin typeface="+mj-lt"/>
              </a:rPr>
              <a:t>most</a:t>
            </a:r>
            <a:r>
              <a:rPr lang="fr-FR" sz="2400" dirty="0">
                <a:latin typeface="+mj-lt"/>
              </a:rPr>
              <a:t> </a:t>
            </a:r>
            <a:r>
              <a:rPr lang="fr-FR" sz="2400" dirty="0" err="1">
                <a:latin typeface="+mj-lt"/>
              </a:rPr>
              <a:t>likely</a:t>
            </a:r>
            <a:r>
              <a:rPr lang="fr-FR" sz="2400" dirty="0">
                <a:latin typeface="+mj-lt"/>
              </a:rPr>
              <a:t> sentence</a:t>
            </a:r>
            <a:endParaRPr sz="2400" dirty="0">
              <a:latin typeface="+mj-lt"/>
            </a:endParaRPr>
          </a:p>
          <a:p>
            <a:pPr marL="12700" lvl="0" indent="0" algn="l" rtl="0">
              <a:spcBef>
                <a:spcPts val="0"/>
              </a:spcBef>
              <a:spcAft>
                <a:spcPts val="0"/>
              </a:spcAft>
              <a:buNone/>
            </a:pPr>
            <a:r>
              <a:rPr lang="fr-FR" sz="2400" dirty="0">
                <a:latin typeface="+mj-lt"/>
              </a:rPr>
              <a:t>3 Beam </a:t>
            </a:r>
            <a:r>
              <a:rPr lang="fr-FR" sz="2400" dirty="0" err="1">
                <a:latin typeface="+mj-lt"/>
              </a:rPr>
              <a:t>search</a:t>
            </a:r>
            <a:endParaRPr sz="2400" dirty="0">
              <a:latin typeface="+mj-lt"/>
            </a:endParaRPr>
          </a:p>
          <a:p>
            <a:pPr marL="12700" lvl="0" indent="0" algn="l" rtl="0">
              <a:spcBef>
                <a:spcPts val="0"/>
              </a:spcBef>
              <a:spcAft>
                <a:spcPts val="0"/>
              </a:spcAft>
              <a:buNone/>
            </a:pPr>
            <a:r>
              <a:rPr lang="fr-FR" sz="2400" dirty="0">
                <a:latin typeface="+mj-lt"/>
              </a:rPr>
              <a:t>4 </a:t>
            </a:r>
            <a:r>
              <a:rPr lang="fr-FR" sz="2400" dirty="0" err="1">
                <a:latin typeface="+mj-lt"/>
              </a:rPr>
              <a:t>Refinements</a:t>
            </a:r>
            <a:r>
              <a:rPr lang="fr-FR" sz="2400" dirty="0">
                <a:latin typeface="+mj-lt"/>
              </a:rPr>
              <a:t> to </a:t>
            </a:r>
            <a:r>
              <a:rPr lang="fr-FR" sz="2400" dirty="0" err="1">
                <a:latin typeface="+mj-lt"/>
              </a:rPr>
              <a:t>beam</a:t>
            </a:r>
            <a:r>
              <a:rPr lang="fr-FR" sz="2400" dirty="0">
                <a:latin typeface="+mj-lt"/>
              </a:rPr>
              <a:t> </a:t>
            </a:r>
            <a:r>
              <a:rPr lang="fr-FR" sz="2400" dirty="0" err="1">
                <a:latin typeface="+mj-lt"/>
              </a:rPr>
              <a:t>search</a:t>
            </a:r>
            <a:endParaRPr sz="2400" dirty="0">
              <a:latin typeface="+mj-lt"/>
            </a:endParaRPr>
          </a:p>
          <a:p>
            <a:pPr marL="12700" lvl="0" indent="0" algn="l" rtl="0">
              <a:spcBef>
                <a:spcPts val="0"/>
              </a:spcBef>
              <a:spcAft>
                <a:spcPts val="0"/>
              </a:spcAft>
              <a:buNone/>
            </a:pPr>
            <a:r>
              <a:rPr lang="fr-FR" sz="2400" dirty="0">
                <a:latin typeface="+mj-lt"/>
              </a:rPr>
              <a:t>5 </a:t>
            </a:r>
            <a:r>
              <a:rPr lang="fr-FR" sz="2400" dirty="0" err="1">
                <a:latin typeface="+mj-lt"/>
              </a:rPr>
              <a:t>Error</a:t>
            </a:r>
            <a:r>
              <a:rPr lang="fr-FR" sz="2400" dirty="0">
                <a:latin typeface="+mj-lt"/>
              </a:rPr>
              <a:t> </a:t>
            </a:r>
            <a:r>
              <a:rPr lang="fr-FR" sz="2400" dirty="0" err="1">
                <a:latin typeface="+mj-lt"/>
              </a:rPr>
              <a:t>analysis</a:t>
            </a:r>
            <a:r>
              <a:rPr lang="fr-FR" sz="2400" dirty="0">
                <a:latin typeface="+mj-lt"/>
              </a:rPr>
              <a:t> on </a:t>
            </a:r>
            <a:r>
              <a:rPr lang="fr-FR" sz="2400" dirty="0" err="1">
                <a:latin typeface="+mj-lt"/>
              </a:rPr>
              <a:t>beam</a:t>
            </a:r>
            <a:r>
              <a:rPr lang="fr-FR" sz="2400" dirty="0">
                <a:latin typeface="+mj-lt"/>
              </a:rPr>
              <a:t> </a:t>
            </a:r>
            <a:r>
              <a:rPr lang="fr-FR" sz="2400" dirty="0" err="1">
                <a:latin typeface="+mj-lt"/>
              </a:rPr>
              <a:t>search</a:t>
            </a:r>
            <a:endParaRPr sz="2400" dirty="0">
              <a:latin typeface="+mj-lt"/>
            </a:endParaRPr>
          </a:p>
          <a:p>
            <a:pPr marL="12700" lvl="0" indent="0" algn="l" rtl="0">
              <a:spcBef>
                <a:spcPts val="0"/>
              </a:spcBef>
              <a:spcAft>
                <a:spcPts val="0"/>
              </a:spcAft>
              <a:buNone/>
            </a:pPr>
            <a:r>
              <a:rPr lang="fr-FR" sz="2400" dirty="0">
                <a:latin typeface="+mj-lt"/>
              </a:rPr>
              <a:t>6 Bleu score (</a:t>
            </a:r>
            <a:r>
              <a:rPr lang="fr-FR" sz="2400" dirty="0" err="1">
                <a:latin typeface="+mj-lt"/>
              </a:rPr>
              <a:t>optional</a:t>
            </a:r>
            <a:r>
              <a:rPr lang="fr-FR" sz="2400" dirty="0">
                <a:latin typeface="+mj-lt"/>
              </a:rPr>
              <a:t>)</a:t>
            </a:r>
            <a:endParaRPr sz="2400" dirty="0">
              <a:latin typeface="+mj-lt"/>
            </a:endParaRPr>
          </a:p>
          <a:p>
            <a:pPr marL="12700" lvl="0" indent="0" algn="l" rtl="0">
              <a:spcBef>
                <a:spcPts val="0"/>
              </a:spcBef>
              <a:spcAft>
                <a:spcPts val="0"/>
              </a:spcAft>
              <a:buNone/>
            </a:pPr>
            <a:r>
              <a:rPr lang="fr-FR" sz="2400" dirty="0">
                <a:latin typeface="+mj-lt"/>
              </a:rPr>
              <a:t>7 Attention model intuition</a:t>
            </a:r>
            <a:endParaRPr sz="2400" dirty="0">
              <a:latin typeface="+mj-lt"/>
            </a:endParaRPr>
          </a:p>
          <a:p>
            <a:pPr marL="12700" lvl="0" indent="0" algn="l" rtl="0">
              <a:spcBef>
                <a:spcPts val="0"/>
              </a:spcBef>
              <a:spcAft>
                <a:spcPts val="0"/>
              </a:spcAft>
              <a:buNone/>
            </a:pPr>
            <a:r>
              <a:rPr lang="fr-FR" sz="2400" dirty="0">
                <a:latin typeface="+mj-lt"/>
              </a:rPr>
              <a:t>8 Attention model</a:t>
            </a:r>
            <a:endParaRPr sz="2400" dirty="0">
              <a:latin typeface="+mj-lt"/>
            </a:endParaRPr>
          </a:p>
          <a:p>
            <a:pPr marL="12700" lvl="0" indent="0" algn="l" rtl="0">
              <a:spcBef>
                <a:spcPts val="0"/>
              </a:spcBef>
              <a:spcAft>
                <a:spcPts val="0"/>
              </a:spcAft>
              <a:buNone/>
            </a:pPr>
            <a:r>
              <a:rPr lang="fr-FR" sz="2400" dirty="0">
                <a:latin typeface="+mj-lt"/>
              </a:rPr>
              <a:t>9 Speech recognition</a:t>
            </a:r>
            <a:endParaRPr sz="2400" dirty="0">
              <a:latin typeface="+mj-lt"/>
            </a:endParaRPr>
          </a:p>
          <a:p>
            <a:pPr marL="12700" lvl="0" indent="0" algn="l" rtl="0">
              <a:spcBef>
                <a:spcPts val="0"/>
              </a:spcBef>
              <a:spcAft>
                <a:spcPts val="0"/>
              </a:spcAft>
              <a:buNone/>
            </a:pPr>
            <a:r>
              <a:rPr lang="fr-FR" sz="2400" dirty="0">
                <a:latin typeface="+mj-lt"/>
              </a:rPr>
              <a:t>10 Trigger </a:t>
            </a:r>
            <a:r>
              <a:rPr lang="fr-FR" sz="2400" dirty="0" err="1">
                <a:latin typeface="+mj-lt"/>
              </a:rPr>
              <a:t>word</a:t>
            </a:r>
            <a:r>
              <a:rPr lang="fr-FR" sz="2400" dirty="0">
                <a:latin typeface="+mj-lt"/>
              </a:rPr>
              <a:t> </a:t>
            </a:r>
            <a:r>
              <a:rPr lang="fr-FR" sz="2400" dirty="0" err="1" smtClean="0">
                <a:latin typeface="+mj-lt"/>
              </a:rPr>
              <a:t>detection</a:t>
            </a:r>
            <a:endParaRPr sz="2400" dirty="0">
              <a:latin typeface="+mj-lt"/>
            </a:endParaRPr>
          </a:p>
        </p:txBody>
      </p:sp>
      <p:pic>
        <p:nvPicPr>
          <p:cNvPr id="45" name="Google Shape;45;g21ca71a1e5c_0_0"/>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a:t>
            </a:fld>
            <a:endParaRPr lang="fr-FR"/>
          </a:p>
        </p:txBody>
      </p:sp>
    </p:spTree>
    <p:extLst>
      <p:ext uri="{BB962C8B-B14F-4D97-AF65-F5344CB8AC3E}">
        <p14:creationId xmlns:p14="http://schemas.microsoft.com/office/powerpoint/2010/main" val="850568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49"/>
        <p:cNvGrpSpPr/>
        <p:nvPr/>
      </p:nvGrpSpPr>
      <p:grpSpPr>
        <a:xfrm>
          <a:off x="0" y="0"/>
          <a:ext cx="0" cy="0"/>
          <a:chOff x="0" y="0"/>
          <a:chExt cx="0" cy="0"/>
        </a:xfrm>
      </p:grpSpPr>
      <p:sp>
        <p:nvSpPr>
          <p:cNvPr id="50" name="Google Shape;50;p2"/>
          <p:cNvSpPr txBox="1">
            <a:spLocks noGrp="1"/>
          </p:cNvSpPr>
          <p:nvPr>
            <p:ph type="title"/>
          </p:nvPr>
        </p:nvSpPr>
        <p:spPr>
          <a:xfrm>
            <a:off x="4367478" y="1153785"/>
            <a:ext cx="7846543" cy="2125182"/>
          </a:xfrm>
          <a:prstGeom prst="rect">
            <a:avLst/>
          </a:prstGeom>
          <a:noFill/>
          <a:ln>
            <a:noFill/>
          </a:ln>
        </p:spPr>
        <p:txBody>
          <a:bodyPr spcFirstLastPara="1" wrap="square" lIns="0" tIns="129525" rIns="0" bIns="0" anchor="t" anchorCtr="0">
            <a:spAutoFit/>
          </a:bodyPr>
          <a:lstStyle/>
          <a:p>
            <a:pPr marL="12700" marR="5080" lvl="0" indent="848994">
              <a:lnSpc>
                <a:spcPct val="107575"/>
              </a:lnSpc>
            </a:pPr>
            <a:r>
              <a:rPr lang="fr-FR" sz="6000" dirty="0" err="1">
                <a:latin typeface="+mj-lt"/>
                <a:ea typeface="Calibri"/>
                <a:cs typeface="Calibri"/>
                <a:sym typeface="Calibri"/>
              </a:rPr>
              <a:t>Sequence</a:t>
            </a:r>
            <a:r>
              <a:rPr lang="fr-FR" sz="6000" dirty="0">
                <a:latin typeface="+mj-lt"/>
                <a:ea typeface="Calibri"/>
                <a:cs typeface="Calibri"/>
                <a:sym typeface="Calibri"/>
              </a:rPr>
              <a:t> </a:t>
            </a:r>
            <a:r>
              <a:rPr lang="fr-FR" sz="6000" dirty="0" err="1">
                <a:latin typeface="+mj-lt"/>
                <a:ea typeface="Calibri"/>
                <a:cs typeface="Calibri"/>
                <a:sym typeface="Calibri"/>
              </a:rPr>
              <a:t>Models</a:t>
            </a:r>
            <a:r>
              <a:rPr lang="fr-FR" sz="6000" dirty="0">
                <a:latin typeface="+mj-lt"/>
                <a:ea typeface="Calibri"/>
                <a:cs typeface="Calibri"/>
                <a:sym typeface="Calibri"/>
              </a:rPr>
              <a:t> &amp; Attention </a:t>
            </a:r>
            <a:r>
              <a:rPr lang="fr-FR" sz="6000" dirty="0" err="1">
                <a:latin typeface="+mj-lt"/>
                <a:ea typeface="Calibri"/>
                <a:cs typeface="Calibri"/>
                <a:sym typeface="Calibri"/>
              </a:rPr>
              <a:t>Mechanism</a:t>
            </a:r>
            <a:endParaRPr sz="6000" dirty="0">
              <a:latin typeface="+mj-lt"/>
              <a:ea typeface="Calibri"/>
              <a:cs typeface="Calibri"/>
              <a:sym typeface="Calibri"/>
            </a:endParaRPr>
          </a:p>
        </p:txBody>
      </p:sp>
      <p:sp>
        <p:nvSpPr>
          <p:cNvPr id="51" name="Google Shape;51;p2"/>
          <p:cNvSpPr txBox="1"/>
          <p:nvPr/>
        </p:nvSpPr>
        <p:spPr>
          <a:xfrm>
            <a:off x="6337346" y="3559651"/>
            <a:ext cx="4131933" cy="84382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5400" dirty="0">
                <a:latin typeface="+mj-lt"/>
                <a:ea typeface="Calibri"/>
                <a:cs typeface="Calibri"/>
                <a:sym typeface="Calibri"/>
              </a:rPr>
              <a:t>Basic </a:t>
            </a:r>
            <a:r>
              <a:rPr lang="fr-FR" sz="5400" dirty="0" err="1">
                <a:latin typeface="+mj-lt"/>
                <a:ea typeface="Calibri"/>
                <a:cs typeface="Calibri"/>
                <a:sym typeface="Calibri"/>
              </a:rPr>
              <a:t>models</a:t>
            </a:r>
            <a:endParaRPr sz="5400" dirty="0">
              <a:latin typeface="+mj-lt"/>
              <a:ea typeface="Calibri"/>
              <a:cs typeface="Calibri"/>
              <a:sym typeface="Calibri"/>
            </a:endParaRPr>
          </a:p>
        </p:txBody>
      </p:sp>
      <p:sp>
        <p:nvSpPr>
          <p:cNvPr id="52" name="Google Shape;52;p2"/>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53" name="Google Shape;53;p2"/>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a:t>
            </a:fld>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87"/>
        <p:cNvGrpSpPr/>
        <p:nvPr/>
      </p:nvGrpSpPr>
      <p:grpSpPr>
        <a:xfrm>
          <a:off x="0" y="0"/>
          <a:ext cx="0" cy="0"/>
          <a:chOff x="0" y="0"/>
          <a:chExt cx="0" cy="0"/>
        </a:xfrm>
      </p:grpSpPr>
      <p:sp>
        <p:nvSpPr>
          <p:cNvPr id="88" name="Google Shape;88;p7"/>
          <p:cNvSpPr txBox="1">
            <a:spLocks noGrp="1"/>
          </p:cNvSpPr>
          <p:nvPr>
            <p:ph type="title"/>
          </p:nvPr>
        </p:nvSpPr>
        <p:spPr>
          <a:xfrm>
            <a:off x="261620" y="139700"/>
            <a:ext cx="908240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4400" dirty="0">
                <a:latin typeface="+mj-lt"/>
                <a:ea typeface="Calibri"/>
                <a:cs typeface="Calibri"/>
                <a:sym typeface="Calibri"/>
              </a:rPr>
              <a:t>Basic </a:t>
            </a:r>
            <a:r>
              <a:rPr lang="fr-FR" sz="4400" dirty="0" err="1">
                <a:latin typeface="+mj-lt"/>
                <a:ea typeface="Calibri"/>
                <a:cs typeface="Calibri"/>
                <a:sym typeface="Calibri"/>
              </a:rPr>
              <a:t>models</a:t>
            </a:r>
            <a:endParaRPr lang="fr-FR" sz="4400" dirty="0">
              <a:latin typeface="+mj-lt"/>
              <a:ea typeface="Calibri"/>
              <a:cs typeface="Calibri"/>
              <a:sym typeface="Calibri"/>
            </a:endParaRPr>
          </a:p>
        </p:txBody>
      </p:sp>
      <p:pic>
        <p:nvPicPr>
          <p:cNvPr id="97" name="Google Shape;97;p7"/>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1E565E91-141B-F8D7-BBA2-ED443A7979E8}"/>
              </a:ext>
            </a:extLst>
          </p:cNvPr>
          <p:cNvSpPr txBox="1"/>
          <p:nvPr/>
        </p:nvSpPr>
        <p:spPr>
          <a:xfrm>
            <a:off x="261620" y="1091692"/>
            <a:ext cx="11668760" cy="3416320"/>
          </a:xfrm>
          <a:prstGeom prst="rect">
            <a:avLst/>
          </a:prstGeom>
          <a:noFill/>
        </p:spPr>
        <p:txBody>
          <a:bodyPr wrap="square" rtlCol="0">
            <a:spAutoFit/>
          </a:bodyPr>
          <a:lstStyle/>
          <a:p>
            <a:pPr marL="342900" indent="-342900">
              <a:buFont typeface="Arial" panose="020B0604020202020204" pitchFamily="34" charset="0"/>
              <a:buChar char="•"/>
            </a:pPr>
            <a:r>
              <a:rPr lang="en-US" sz="2400" dirty="0"/>
              <a:t>Sequence-to-sequence models, applied in tasks like machine translation and image captioning, use an encoder-decoder architecture. For translation, an RNN encodes input, and another decodes output</a:t>
            </a:r>
            <a:r>
              <a:rPr lang="en-US" sz="2400"/>
              <a:t>. </a:t>
            </a:r>
            <a:endParaRPr lang="en-US" sz="2400" smtClean="0"/>
          </a:p>
          <a:p>
            <a:pPr marL="342900" indent="-342900">
              <a:buFont typeface="Arial" panose="020B0604020202020204" pitchFamily="34" charset="0"/>
              <a:buChar char="•"/>
            </a:pPr>
            <a:r>
              <a:rPr lang="en-US" sz="2400" smtClean="0"/>
              <a:t>In </a:t>
            </a:r>
            <a:r>
              <a:rPr lang="en-US" sz="2400" dirty="0"/>
              <a:t>image captioning, a pre-trained CNN encodes the image, and an RNN generates the caption. </a:t>
            </a:r>
            <a:endParaRPr lang="en-US" sz="2400" dirty="0" smtClean="0"/>
          </a:p>
          <a:p>
            <a:pPr marL="342900" indent="-342900">
              <a:buFont typeface="Arial" panose="020B0604020202020204" pitchFamily="34" charset="0"/>
              <a:buChar char="•"/>
            </a:pPr>
            <a:r>
              <a:rPr lang="en-US" sz="2400" dirty="0" smtClean="0"/>
              <a:t>Unlike </a:t>
            </a:r>
            <a:r>
              <a:rPr lang="en-US" sz="2400" dirty="0"/>
              <a:t>language models aiming for random choices, sequence-to-sequence models seek the most likely translation or caption. </a:t>
            </a:r>
            <a:endParaRPr lang="en-US" sz="2400" dirty="0" smtClean="0"/>
          </a:p>
          <a:p>
            <a:pPr marL="342900" indent="-342900">
              <a:buFont typeface="Arial" panose="020B0604020202020204" pitchFamily="34" charset="0"/>
              <a:buChar char="•"/>
            </a:pPr>
            <a:r>
              <a:rPr lang="en-US" sz="2400" dirty="0" smtClean="0"/>
              <a:t>Techniques </a:t>
            </a:r>
            <a:r>
              <a:rPr lang="en-US" sz="2400" dirty="0"/>
              <a:t>like beam search and attention models are employed, as detailed in the next section.</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a:t>
            </a:fld>
            <a:endParaRPr lang="fr-FR"/>
          </a:p>
        </p:txBody>
      </p:sp>
    </p:spTree>
    <p:extLst>
      <p:ext uri="{BB962C8B-B14F-4D97-AF65-F5344CB8AC3E}">
        <p14:creationId xmlns:p14="http://schemas.microsoft.com/office/powerpoint/2010/main" val="30111473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pic>
        <p:nvPicPr>
          <p:cNvPr id="58" name="Google Shape;58;p3"/>
          <p:cNvPicPr preferRelativeResize="0"/>
          <p:nvPr/>
        </p:nvPicPr>
        <p:blipFill rotWithShape="1">
          <a:blip r:embed="rId3">
            <a:alphaModFix/>
          </a:blip>
          <a:srcRect/>
          <a:stretch/>
        </p:blipFill>
        <p:spPr>
          <a:xfrm>
            <a:off x="19665" y="0"/>
            <a:ext cx="10863072" cy="6172200"/>
          </a:xfrm>
          <a:prstGeom prst="rect">
            <a:avLst/>
          </a:prstGeom>
          <a:noFill/>
          <a:ln>
            <a:noFill/>
          </a:ln>
        </p:spPr>
      </p:pic>
      <p:pic>
        <p:nvPicPr>
          <p:cNvPr id="59" name="Google Shape;59;p3"/>
          <p:cNvPicPr preferRelativeResize="0"/>
          <p:nvPr/>
        </p:nvPicPr>
        <p:blipFill rotWithShape="1">
          <a:blip r:embed="rId4">
            <a:alphaModFix/>
          </a:blip>
          <a:srcRect/>
          <a:stretch/>
        </p:blipFill>
        <p:spPr>
          <a:xfrm>
            <a:off x="5105400" y="3733800"/>
            <a:ext cx="3796631" cy="1828800"/>
          </a:xfrm>
          <a:prstGeom prst="rect">
            <a:avLst/>
          </a:prstGeom>
          <a:noFill/>
          <a:ln>
            <a:noFill/>
          </a:ln>
        </p:spPr>
      </p:pic>
      <p:pic>
        <p:nvPicPr>
          <p:cNvPr id="60" name="Google Shape;60;p3"/>
          <p:cNvPicPr preferRelativeResize="0"/>
          <p:nvPr/>
        </p:nvPicPr>
        <p:blipFill>
          <a:blip r:embed="rId5">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a:t>
            </a:fld>
            <a:endParaRPr lang="fr-F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64"/>
        <p:cNvGrpSpPr/>
        <p:nvPr/>
      </p:nvGrpSpPr>
      <p:grpSpPr>
        <a:xfrm>
          <a:off x="0" y="0"/>
          <a:ext cx="0" cy="0"/>
          <a:chOff x="0" y="0"/>
          <a:chExt cx="0" cy="0"/>
        </a:xfrm>
      </p:grpSpPr>
      <p:pic>
        <p:nvPicPr>
          <p:cNvPr id="65" name="Google Shape;65;p4"/>
          <p:cNvPicPr preferRelativeResize="0"/>
          <p:nvPr/>
        </p:nvPicPr>
        <p:blipFill rotWithShape="1">
          <a:blip r:embed="rId3">
            <a:alphaModFix/>
          </a:blip>
          <a:srcRect/>
          <a:stretch/>
        </p:blipFill>
        <p:spPr>
          <a:xfrm>
            <a:off x="5562600" y="4724400"/>
            <a:ext cx="769687" cy="281964"/>
          </a:xfrm>
          <a:prstGeom prst="rect">
            <a:avLst/>
          </a:prstGeom>
          <a:noFill/>
          <a:ln>
            <a:noFill/>
          </a:ln>
        </p:spPr>
      </p:pic>
      <p:pic>
        <p:nvPicPr>
          <p:cNvPr id="66" name="Google Shape;66;p4"/>
          <p:cNvPicPr preferRelativeResize="0"/>
          <p:nvPr/>
        </p:nvPicPr>
        <p:blipFill rotWithShape="1">
          <a:blip r:embed="rId4">
            <a:alphaModFix/>
          </a:blip>
          <a:srcRect/>
          <a:stretch/>
        </p:blipFill>
        <p:spPr>
          <a:xfrm>
            <a:off x="312" y="228599"/>
            <a:ext cx="11886887" cy="6625801"/>
          </a:xfrm>
          <a:prstGeom prst="rect">
            <a:avLst/>
          </a:prstGeom>
          <a:noFill/>
          <a:ln>
            <a:noFill/>
          </a:ln>
        </p:spPr>
      </p:pic>
      <p:pic>
        <p:nvPicPr>
          <p:cNvPr id="67" name="Google Shape;67;p4"/>
          <p:cNvPicPr preferRelativeResize="0"/>
          <p:nvPr/>
        </p:nvPicPr>
        <p:blipFill>
          <a:blip r:embed="rId5">
            <a:alphaModFix/>
          </a:blip>
          <a:stretch>
            <a:fillRect/>
          </a:stretch>
        </p:blipFill>
        <p:spPr>
          <a:xfrm>
            <a:off x="11110799" y="0"/>
            <a:ext cx="1071699" cy="589425"/>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a:t>
            </a:fld>
            <a:endParaRPr lang="fr-F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71"/>
        <p:cNvGrpSpPr/>
        <p:nvPr/>
      </p:nvGrpSpPr>
      <p:grpSpPr>
        <a:xfrm>
          <a:off x="0" y="0"/>
          <a:ext cx="0" cy="0"/>
          <a:chOff x="0" y="0"/>
          <a:chExt cx="0" cy="0"/>
        </a:xfrm>
      </p:grpSpPr>
      <p:sp>
        <p:nvSpPr>
          <p:cNvPr id="72" name="Google Shape;72;p5"/>
          <p:cNvSpPr txBox="1">
            <a:spLocks noGrp="1"/>
          </p:cNvSpPr>
          <p:nvPr>
            <p:ph type="title"/>
          </p:nvPr>
        </p:nvSpPr>
        <p:spPr>
          <a:xfrm>
            <a:off x="5339346" y="791044"/>
            <a:ext cx="6008358" cy="2125182"/>
          </a:xfrm>
          <a:prstGeom prst="rect">
            <a:avLst/>
          </a:prstGeom>
          <a:noFill/>
          <a:ln>
            <a:noFill/>
          </a:ln>
        </p:spPr>
        <p:txBody>
          <a:bodyPr spcFirstLastPara="1" wrap="square" lIns="0" tIns="129525" rIns="0" bIns="0" anchor="t" anchorCtr="0">
            <a:spAutoFit/>
          </a:bodyPr>
          <a:lstStyle/>
          <a:p>
            <a:pPr marL="12700" marR="5080" lvl="0" indent="848994" algn="l" rtl="0">
              <a:lnSpc>
                <a:spcPct val="107575"/>
              </a:lnSpc>
              <a:spcBef>
                <a:spcPts val="0"/>
              </a:spcBef>
              <a:spcAft>
                <a:spcPts val="0"/>
              </a:spcAft>
              <a:buNone/>
            </a:pPr>
            <a:r>
              <a:rPr lang="fr-FR" sz="6000" b="0" dirty="0" err="1">
                <a:latin typeface="+mj-lt"/>
                <a:ea typeface="Calibri"/>
                <a:cs typeface="Calibri"/>
                <a:sym typeface="Calibri"/>
              </a:rPr>
              <a:t>Sequence</a:t>
            </a:r>
            <a:r>
              <a:rPr lang="fr-FR" sz="6000" b="0" dirty="0">
                <a:latin typeface="+mj-lt"/>
                <a:ea typeface="Calibri"/>
                <a:cs typeface="Calibri"/>
                <a:sym typeface="Calibri"/>
              </a:rPr>
              <a:t> to </a:t>
            </a:r>
            <a:r>
              <a:rPr lang="fr-FR" sz="6000" b="0" dirty="0" err="1">
                <a:latin typeface="+mj-lt"/>
                <a:ea typeface="Calibri"/>
                <a:cs typeface="Calibri"/>
                <a:sym typeface="Calibri"/>
              </a:rPr>
              <a:t>sequence</a:t>
            </a:r>
            <a:r>
              <a:rPr lang="fr-FR" sz="6000" b="0" dirty="0">
                <a:latin typeface="+mj-lt"/>
                <a:ea typeface="Calibri"/>
                <a:cs typeface="Calibri"/>
                <a:sym typeface="Calibri"/>
              </a:rPr>
              <a:t> </a:t>
            </a:r>
            <a:r>
              <a:rPr lang="fr-FR" sz="6000" b="0" dirty="0" err="1">
                <a:latin typeface="+mj-lt"/>
                <a:ea typeface="Calibri"/>
                <a:cs typeface="Calibri"/>
                <a:sym typeface="Calibri"/>
              </a:rPr>
              <a:t>models</a:t>
            </a:r>
            <a:endParaRPr sz="6000" dirty="0">
              <a:latin typeface="+mj-lt"/>
              <a:ea typeface="Calibri"/>
              <a:cs typeface="Calibri"/>
              <a:sym typeface="Calibri"/>
            </a:endParaRPr>
          </a:p>
        </p:txBody>
      </p:sp>
      <p:sp>
        <p:nvSpPr>
          <p:cNvPr id="73" name="Google Shape;73;p5"/>
          <p:cNvSpPr txBox="1"/>
          <p:nvPr/>
        </p:nvSpPr>
        <p:spPr>
          <a:xfrm>
            <a:off x="5715647" y="3816387"/>
            <a:ext cx="5255756" cy="2022590"/>
          </a:xfrm>
          <a:prstGeom prst="rect">
            <a:avLst/>
          </a:prstGeom>
          <a:noFill/>
          <a:ln>
            <a:noFill/>
          </a:ln>
        </p:spPr>
        <p:txBody>
          <a:bodyPr spcFirstLastPara="1" wrap="square" lIns="0" tIns="27925" rIns="0" bIns="0" anchor="t" anchorCtr="0">
            <a:spAutoFit/>
          </a:bodyPr>
          <a:lstStyle/>
          <a:p>
            <a:pPr marL="321945" marR="5080" lvl="0" indent="-309880" algn="l" rtl="0">
              <a:lnSpc>
                <a:spcPct val="119696"/>
              </a:lnSpc>
              <a:spcBef>
                <a:spcPts val="0"/>
              </a:spcBef>
              <a:spcAft>
                <a:spcPts val="0"/>
              </a:spcAft>
              <a:buNone/>
            </a:pPr>
            <a:r>
              <a:rPr lang="fr-FR" sz="5400" dirty="0">
                <a:latin typeface="+mj-lt"/>
                <a:ea typeface="Calibri"/>
                <a:cs typeface="Calibri"/>
                <a:sym typeface="Calibri"/>
              </a:rPr>
              <a:t>Picking the </a:t>
            </a:r>
            <a:r>
              <a:rPr lang="fr-FR" sz="5400" dirty="0" err="1">
                <a:latin typeface="+mj-lt"/>
                <a:ea typeface="Calibri"/>
                <a:cs typeface="Calibri"/>
                <a:sym typeface="Calibri"/>
              </a:rPr>
              <a:t>most</a:t>
            </a:r>
            <a:r>
              <a:rPr lang="fr-FR" sz="5400" dirty="0">
                <a:latin typeface="+mj-lt"/>
                <a:ea typeface="Calibri"/>
                <a:cs typeface="Calibri"/>
                <a:sym typeface="Calibri"/>
              </a:rPr>
              <a:t> </a:t>
            </a:r>
            <a:r>
              <a:rPr lang="fr-FR" sz="5400" dirty="0" err="1">
                <a:latin typeface="+mj-lt"/>
                <a:ea typeface="Calibri"/>
                <a:cs typeface="Calibri"/>
                <a:sym typeface="Calibri"/>
              </a:rPr>
              <a:t>likely</a:t>
            </a:r>
            <a:r>
              <a:rPr lang="fr-FR" sz="5400" dirty="0">
                <a:latin typeface="+mj-lt"/>
                <a:ea typeface="Calibri"/>
                <a:cs typeface="Calibri"/>
                <a:sym typeface="Calibri"/>
              </a:rPr>
              <a:t> sentence</a:t>
            </a:r>
            <a:endParaRPr sz="5400" dirty="0">
              <a:latin typeface="+mj-lt"/>
              <a:ea typeface="Calibri"/>
              <a:cs typeface="Calibri"/>
              <a:sym typeface="Calibri"/>
            </a:endParaRPr>
          </a:p>
        </p:txBody>
      </p:sp>
      <p:sp>
        <p:nvSpPr>
          <p:cNvPr id="74" name="Google Shape;74;p5"/>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75" name="Google Shape;75;p5"/>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7</a:t>
            </a:fld>
            <a:endParaRPr lang="fr-F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87"/>
        <p:cNvGrpSpPr/>
        <p:nvPr/>
      </p:nvGrpSpPr>
      <p:grpSpPr>
        <a:xfrm>
          <a:off x="0" y="0"/>
          <a:ext cx="0" cy="0"/>
          <a:chOff x="0" y="0"/>
          <a:chExt cx="0" cy="0"/>
        </a:xfrm>
      </p:grpSpPr>
      <p:sp>
        <p:nvSpPr>
          <p:cNvPr id="88" name="Google Shape;88;p7"/>
          <p:cNvSpPr txBox="1">
            <a:spLocks noGrp="1"/>
          </p:cNvSpPr>
          <p:nvPr>
            <p:ph type="title"/>
          </p:nvPr>
        </p:nvSpPr>
        <p:spPr>
          <a:xfrm>
            <a:off x="261620" y="139700"/>
            <a:ext cx="9082405" cy="825354"/>
          </a:xfrm>
          <a:prstGeom prst="rect">
            <a:avLst/>
          </a:prstGeom>
          <a:noFill/>
          <a:ln>
            <a:noFill/>
          </a:ln>
        </p:spPr>
        <p:txBody>
          <a:bodyPr spcFirstLastPara="1" wrap="square" lIns="0" tIns="12700" rIns="0" bIns="0" anchor="t" anchorCtr="0">
            <a:spAutoFit/>
          </a:bodyPr>
          <a:lstStyle/>
          <a:p>
            <a:pPr marL="321945" marR="5080" lvl="0" indent="-309880" algn="l" rtl="0">
              <a:lnSpc>
                <a:spcPct val="119696"/>
              </a:lnSpc>
              <a:spcBef>
                <a:spcPts val="0"/>
              </a:spcBef>
              <a:spcAft>
                <a:spcPts val="0"/>
              </a:spcAft>
              <a:buNone/>
            </a:pPr>
            <a:r>
              <a:rPr lang="en-GB" sz="4400" dirty="0">
                <a:latin typeface="+mj-lt"/>
                <a:ea typeface="Calibri"/>
                <a:cs typeface="Calibri"/>
                <a:sym typeface="Calibri"/>
              </a:rPr>
              <a:t>Picking the most likely sentence</a:t>
            </a:r>
          </a:p>
        </p:txBody>
      </p:sp>
      <p:pic>
        <p:nvPicPr>
          <p:cNvPr id="97" name="Google Shape;97;p7"/>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1E565E91-141B-F8D7-BBA2-ED443A7979E8}"/>
              </a:ext>
            </a:extLst>
          </p:cNvPr>
          <p:cNvSpPr txBox="1"/>
          <p:nvPr/>
        </p:nvSpPr>
        <p:spPr>
          <a:xfrm>
            <a:off x="261620" y="1237616"/>
            <a:ext cx="11668760" cy="3046988"/>
          </a:xfrm>
          <a:prstGeom prst="rect">
            <a:avLst/>
          </a:prstGeom>
          <a:noFill/>
        </p:spPr>
        <p:txBody>
          <a:bodyPr wrap="square" rtlCol="0">
            <a:spAutoFit/>
          </a:bodyPr>
          <a:lstStyle/>
          <a:p>
            <a:pPr marL="342900" indent="-342900">
              <a:buFont typeface="Arial" panose="020B0604020202020204" pitchFamily="34" charset="0"/>
              <a:buChar char="•"/>
            </a:pPr>
            <a:r>
              <a:rPr lang="en-US" sz="2400" dirty="0"/>
              <a:t>In summary, language modeling involves estimating the probability of a sentence and generating new sentences, while seq2seq modeling involves estimating the probability of an output sentence given an input sentence, which is a conditional language model. </a:t>
            </a:r>
            <a:endParaRPr lang="en-US" sz="2400" dirty="0" smtClean="0"/>
          </a:p>
          <a:p>
            <a:pPr marL="342900" indent="-342900">
              <a:buFont typeface="Arial" panose="020B0604020202020204" pitchFamily="34" charset="0"/>
              <a:buChar char="•"/>
            </a:pPr>
            <a:r>
              <a:rPr lang="en-US" sz="2400" dirty="0" smtClean="0"/>
              <a:t>Seq2seq </a:t>
            </a:r>
            <a:r>
              <a:rPr lang="en-US" sz="2400" dirty="0"/>
              <a:t>models consist of an encoder network that learns the representation of the input and a decoder network that generates the output sentence conditioned on the input representation, while language models do not require an explicit encoder-decoder structure.</a:t>
            </a:r>
            <a:endParaRPr lang="en-GB" sz="24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8</a:t>
            </a:fld>
            <a:endParaRPr lang="fr-FR"/>
          </a:p>
        </p:txBody>
      </p:sp>
    </p:spTree>
    <p:extLst>
      <p:ext uri="{BB962C8B-B14F-4D97-AF65-F5344CB8AC3E}">
        <p14:creationId xmlns:p14="http://schemas.microsoft.com/office/powerpoint/2010/main" val="1335535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87"/>
        <p:cNvGrpSpPr/>
        <p:nvPr/>
      </p:nvGrpSpPr>
      <p:grpSpPr>
        <a:xfrm>
          <a:off x="0" y="0"/>
          <a:ext cx="0" cy="0"/>
          <a:chOff x="0" y="0"/>
          <a:chExt cx="0" cy="0"/>
        </a:xfrm>
      </p:grpSpPr>
      <p:sp>
        <p:nvSpPr>
          <p:cNvPr id="88" name="Google Shape;88;p7"/>
          <p:cNvSpPr txBox="1">
            <a:spLocks noGrp="1"/>
          </p:cNvSpPr>
          <p:nvPr>
            <p:ph type="title"/>
          </p:nvPr>
        </p:nvSpPr>
        <p:spPr>
          <a:xfrm>
            <a:off x="261620" y="139700"/>
            <a:ext cx="9082405" cy="825354"/>
          </a:xfrm>
          <a:prstGeom prst="rect">
            <a:avLst/>
          </a:prstGeom>
          <a:noFill/>
          <a:ln>
            <a:noFill/>
          </a:ln>
        </p:spPr>
        <p:txBody>
          <a:bodyPr spcFirstLastPara="1" wrap="square" lIns="0" tIns="12700" rIns="0" bIns="0" anchor="t" anchorCtr="0">
            <a:spAutoFit/>
          </a:bodyPr>
          <a:lstStyle/>
          <a:p>
            <a:pPr marL="321945" marR="5080" lvl="0" indent="-309880" algn="l" rtl="0">
              <a:lnSpc>
                <a:spcPct val="119696"/>
              </a:lnSpc>
              <a:spcBef>
                <a:spcPts val="0"/>
              </a:spcBef>
              <a:spcAft>
                <a:spcPts val="0"/>
              </a:spcAft>
              <a:buNone/>
            </a:pPr>
            <a:r>
              <a:rPr lang="en-GB" sz="4400" dirty="0">
                <a:latin typeface="+mj-lt"/>
                <a:ea typeface="Calibri"/>
                <a:cs typeface="Calibri"/>
                <a:sym typeface="Calibri"/>
              </a:rPr>
              <a:t>Picking the most likely sentence</a:t>
            </a:r>
          </a:p>
        </p:txBody>
      </p:sp>
      <p:pic>
        <p:nvPicPr>
          <p:cNvPr id="97" name="Google Shape;97;p7"/>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1E565E91-141B-F8D7-BBA2-ED443A7979E8}"/>
              </a:ext>
            </a:extLst>
          </p:cNvPr>
          <p:cNvSpPr txBox="1"/>
          <p:nvPr/>
        </p:nvSpPr>
        <p:spPr>
          <a:xfrm>
            <a:off x="261620" y="1202446"/>
            <a:ext cx="11668760" cy="2677656"/>
          </a:xfrm>
          <a:prstGeom prst="rect">
            <a:avLst/>
          </a:prstGeom>
          <a:noFill/>
        </p:spPr>
        <p:txBody>
          <a:bodyPr wrap="square" rtlCol="0">
            <a:spAutoFit/>
          </a:bodyPr>
          <a:lstStyle/>
          <a:p>
            <a:pPr marL="342900" indent="-342900">
              <a:buFont typeface="Arial" panose="020B0604020202020204" pitchFamily="34" charset="0"/>
              <a:buChar char="•"/>
            </a:pPr>
            <a:r>
              <a:rPr lang="en-US" sz="2400" dirty="0"/>
              <a:t>To find the English sentence that maximizes the conditional probability given the input French sentence in machine translation, approximate search algorithms like beam search are used instead of exhaustive enumeration due to the exponentially large space of all possible sentences in a language. Greedy search picks the most likely word at each step, but it results in suboptimal translations. Beam search, on the other hand, is an approximate search algorithm that tries to find the sentence that maximizes the conditional probability and usually does a good enough job.</a:t>
            </a:r>
            <a:endParaRPr lang="en-GB" sz="24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9</a:t>
            </a:fld>
            <a:endParaRPr lang="fr-FR"/>
          </a:p>
        </p:txBody>
      </p:sp>
    </p:spTree>
    <p:extLst>
      <p:ext uri="{BB962C8B-B14F-4D97-AF65-F5344CB8AC3E}">
        <p14:creationId xmlns:p14="http://schemas.microsoft.com/office/powerpoint/2010/main" val="2048639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79"/>
        <p:cNvGrpSpPr/>
        <p:nvPr/>
      </p:nvGrpSpPr>
      <p:grpSpPr>
        <a:xfrm>
          <a:off x="0" y="0"/>
          <a:ext cx="0" cy="0"/>
          <a:chOff x="0" y="0"/>
          <a:chExt cx="0" cy="0"/>
        </a:xfrm>
      </p:grpSpPr>
      <p:sp>
        <p:nvSpPr>
          <p:cNvPr id="80" name="Google Shape;80;p6"/>
          <p:cNvSpPr txBox="1">
            <a:spLocks noGrp="1"/>
          </p:cNvSpPr>
          <p:nvPr>
            <p:ph type="ctrTitle"/>
          </p:nvPr>
        </p:nvSpPr>
        <p:spPr>
          <a:xfrm>
            <a:off x="294343" y="5638800"/>
            <a:ext cx="10363200" cy="307777"/>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endParaRPr sz="2000"/>
          </a:p>
        </p:txBody>
      </p:sp>
      <p:pic>
        <p:nvPicPr>
          <p:cNvPr id="81" name="Google Shape;81;p6"/>
          <p:cNvPicPr preferRelativeResize="0"/>
          <p:nvPr/>
        </p:nvPicPr>
        <p:blipFill rotWithShape="1">
          <a:blip r:embed="rId3">
            <a:alphaModFix/>
          </a:blip>
          <a:srcRect/>
          <a:stretch/>
        </p:blipFill>
        <p:spPr>
          <a:xfrm>
            <a:off x="0" y="120583"/>
            <a:ext cx="11811000" cy="6616834"/>
          </a:xfrm>
          <a:prstGeom prst="rect">
            <a:avLst/>
          </a:prstGeom>
          <a:noFill/>
          <a:ln>
            <a:noFill/>
          </a:ln>
        </p:spPr>
      </p:pic>
      <p:pic>
        <p:nvPicPr>
          <p:cNvPr id="82" name="Google Shape;82;p6"/>
          <p:cNvPicPr preferRelativeResize="0"/>
          <p:nvPr/>
        </p:nvPicPr>
        <p:blipFill rotWithShape="1">
          <a:blip r:embed="rId4">
            <a:alphaModFix/>
          </a:blip>
          <a:srcRect/>
          <a:stretch/>
        </p:blipFill>
        <p:spPr>
          <a:xfrm>
            <a:off x="11125200" y="5391576"/>
            <a:ext cx="183175" cy="508818"/>
          </a:xfrm>
          <a:prstGeom prst="rect">
            <a:avLst/>
          </a:prstGeom>
          <a:noFill/>
          <a:ln>
            <a:noFill/>
          </a:ln>
        </p:spPr>
      </p:pic>
      <p:pic>
        <p:nvPicPr>
          <p:cNvPr id="83" name="Google Shape;83;p6"/>
          <p:cNvPicPr preferRelativeResize="0"/>
          <p:nvPr/>
        </p:nvPicPr>
        <p:blipFill>
          <a:blip r:embed="rId5">
            <a:alphaModFix/>
          </a:blip>
          <a:stretch>
            <a:fillRect/>
          </a:stretch>
        </p:blipFill>
        <p:spPr>
          <a:xfrm>
            <a:off x="10734473" y="0"/>
            <a:ext cx="1448025" cy="796414"/>
          </a:xfrm>
          <a:prstGeom prst="rect">
            <a:avLst/>
          </a:prstGeom>
          <a:noFill/>
          <a:ln>
            <a:noFill/>
          </a:ln>
        </p:spPr>
      </p:pic>
      <p:pic>
        <p:nvPicPr>
          <p:cNvPr id="3" name="Picture 2">
            <a:extLst>
              <a:ext uri="{FF2B5EF4-FFF2-40B4-BE49-F238E27FC236}">
                <a16:creationId xmlns:a16="http://schemas.microsoft.com/office/drawing/2014/main" id="{6C3A446C-33F8-7C1D-28A6-9ABEC95330D2}"/>
              </a:ext>
            </a:extLst>
          </p:cNvPr>
          <p:cNvPicPr>
            <a:picLocks noChangeAspect="1"/>
          </p:cNvPicPr>
          <p:nvPr/>
        </p:nvPicPr>
        <p:blipFill>
          <a:blip r:embed="rId6"/>
          <a:stretch>
            <a:fillRect/>
          </a:stretch>
        </p:blipFill>
        <p:spPr>
          <a:xfrm>
            <a:off x="483319" y="3208563"/>
            <a:ext cx="9985248" cy="2296457"/>
          </a:xfrm>
          <a:prstGeom prst="rect">
            <a:avLst/>
          </a:prstGeom>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10</a:t>
            </a:fld>
            <a:endParaRPr lang="fr-F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87"/>
        <p:cNvGrpSpPr/>
        <p:nvPr/>
      </p:nvGrpSpPr>
      <p:grpSpPr>
        <a:xfrm>
          <a:off x="0" y="0"/>
          <a:ext cx="0" cy="0"/>
          <a:chOff x="0" y="0"/>
          <a:chExt cx="0" cy="0"/>
        </a:xfrm>
      </p:grpSpPr>
      <p:sp>
        <p:nvSpPr>
          <p:cNvPr id="88" name="Google Shape;88;p7"/>
          <p:cNvSpPr txBox="1">
            <a:spLocks noGrp="1"/>
          </p:cNvSpPr>
          <p:nvPr>
            <p:ph type="title"/>
          </p:nvPr>
        </p:nvSpPr>
        <p:spPr>
          <a:xfrm>
            <a:off x="261620" y="139700"/>
            <a:ext cx="908240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dirty="0" err="1">
                <a:latin typeface="+mj-lt"/>
              </a:rPr>
              <a:t>Finding</a:t>
            </a:r>
            <a:r>
              <a:rPr lang="fr-FR" dirty="0">
                <a:latin typeface="+mj-lt"/>
              </a:rPr>
              <a:t> the </a:t>
            </a:r>
            <a:r>
              <a:rPr lang="fr-FR" dirty="0" err="1">
                <a:latin typeface="+mj-lt"/>
              </a:rPr>
              <a:t>most</a:t>
            </a:r>
            <a:r>
              <a:rPr lang="fr-FR" dirty="0">
                <a:latin typeface="+mj-lt"/>
              </a:rPr>
              <a:t> </a:t>
            </a:r>
            <a:r>
              <a:rPr lang="fr-FR" dirty="0" err="1">
                <a:latin typeface="+mj-lt"/>
              </a:rPr>
              <a:t>likely</a:t>
            </a:r>
            <a:r>
              <a:rPr lang="fr-FR" dirty="0">
                <a:latin typeface="+mj-lt"/>
              </a:rPr>
              <a:t> translation</a:t>
            </a:r>
            <a:endParaRPr dirty="0">
              <a:latin typeface="+mj-lt"/>
            </a:endParaRPr>
          </a:p>
        </p:txBody>
      </p:sp>
      <p:sp>
        <p:nvSpPr>
          <p:cNvPr id="89" name="Google Shape;89;p7"/>
          <p:cNvSpPr txBox="1"/>
          <p:nvPr/>
        </p:nvSpPr>
        <p:spPr>
          <a:xfrm>
            <a:off x="646343" y="1236370"/>
            <a:ext cx="6553834" cy="5130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3200" dirty="0">
                <a:latin typeface="+mj-lt"/>
                <a:ea typeface="Cambria"/>
                <a:cs typeface="Cambria"/>
                <a:sym typeface="Cambria"/>
              </a:rPr>
              <a:t>Jane visite l’Afrique en septembre.</a:t>
            </a:r>
            <a:endParaRPr sz="3200" dirty="0">
              <a:latin typeface="+mj-lt"/>
              <a:ea typeface="Cambria"/>
              <a:cs typeface="Cambria"/>
              <a:sym typeface="Cambria"/>
            </a:endParaRPr>
          </a:p>
        </p:txBody>
      </p:sp>
      <p:sp>
        <p:nvSpPr>
          <p:cNvPr id="90" name="Google Shape;90;p7"/>
          <p:cNvSpPr/>
          <p:nvPr/>
        </p:nvSpPr>
        <p:spPr>
          <a:xfrm>
            <a:off x="769839" y="2585364"/>
            <a:ext cx="534670" cy="127000"/>
          </a:xfrm>
          <a:custGeom>
            <a:avLst/>
            <a:gdLst/>
            <a:ahLst/>
            <a:cxnLst/>
            <a:rect l="l" t="t" r="r" b="b"/>
            <a:pathLst>
              <a:path w="534669" h="127000" extrusionOk="0">
                <a:moveTo>
                  <a:pt x="409524" y="0"/>
                </a:moveTo>
                <a:lnTo>
                  <a:pt x="407974" y="50774"/>
                </a:lnTo>
                <a:lnTo>
                  <a:pt x="774" y="38328"/>
                </a:lnTo>
                <a:lnTo>
                  <a:pt x="0" y="63728"/>
                </a:lnTo>
                <a:lnTo>
                  <a:pt x="407200" y="76174"/>
                </a:lnTo>
                <a:lnTo>
                  <a:pt x="405650" y="126949"/>
                </a:lnTo>
                <a:lnTo>
                  <a:pt x="534530" y="67348"/>
                </a:lnTo>
                <a:lnTo>
                  <a:pt x="40952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1" name="Google Shape;91;p7"/>
          <p:cNvSpPr txBox="1"/>
          <p:nvPr/>
        </p:nvSpPr>
        <p:spPr>
          <a:xfrm>
            <a:off x="1616189" y="2415971"/>
            <a:ext cx="8074659" cy="3200748"/>
          </a:xfrm>
          <a:prstGeom prst="rect">
            <a:avLst/>
          </a:prstGeom>
          <a:noFill/>
          <a:ln>
            <a:noFill/>
          </a:ln>
        </p:spPr>
        <p:txBody>
          <a:bodyPr spcFirstLastPara="1" wrap="square" lIns="0" tIns="12700" rIns="0" bIns="0" anchor="t" anchorCtr="0">
            <a:spAutoFit/>
          </a:bodyPr>
          <a:lstStyle/>
          <a:p>
            <a:pPr marL="25400" lvl="0" indent="0" algn="l" rtl="0">
              <a:lnSpc>
                <a:spcPct val="100000"/>
              </a:lnSpc>
              <a:spcBef>
                <a:spcPts val="0"/>
              </a:spcBef>
              <a:spcAft>
                <a:spcPts val="0"/>
              </a:spcAft>
              <a:buNone/>
            </a:pPr>
            <a:r>
              <a:rPr lang="fr-FR" sz="2800" dirty="0">
                <a:latin typeface="+mj-lt"/>
                <a:ea typeface="Cambria"/>
                <a:cs typeface="Cambria"/>
                <a:sym typeface="Cambria"/>
              </a:rPr>
              <a:t>Jane </a:t>
            </a:r>
            <a:r>
              <a:rPr lang="fr-FR" sz="2800" dirty="0" err="1">
                <a:latin typeface="+mj-lt"/>
                <a:ea typeface="Cambria"/>
                <a:cs typeface="Cambria"/>
                <a:sym typeface="Cambria"/>
              </a:rPr>
              <a:t>is</a:t>
            </a:r>
            <a:r>
              <a:rPr lang="fr-FR" sz="2800" dirty="0">
                <a:latin typeface="+mj-lt"/>
                <a:ea typeface="Cambria"/>
                <a:cs typeface="Cambria"/>
                <a:sym typeface="Cambria"/>
              </a:rPr>
              <a:t> </a:t>
            </a:r>
            <a:r>
              <a:rPr lang="fr-FR" sz="2800" dirty="0" err="1">
                <a:latin typeface="+mj-lt"/>
                <a:ea typeface="Cambria"/>
                <a:cs typeface="Cambria"/>
                <a:sym typeface="Cambria"/>
              </a:rPr>
              <a:t>visiting</a:t>
            </a:r>
            <a:r>
              <a:rPr lang="fr-FR" sz="2800" dirty="0">
                <a:latin typeface="+mj-lt"/>
                <a:ea typeface="Cambria"/>
                <a:cs typeface="Cambria"/>
                <a:sym typeface="Cambria"/>
              </a:rPr>
              <a:t> </a:t>
            </a:r>
            <a:r>
              <a:rPr lang="fr-FR" sz="2800" dirty="0" err="1">
                <a:latin typeface="+mj-lt"/>
                <a:ea typeface="Cambria"/>
                <a:cs typeface="Cambria"/>
                <a:sym typeface="Cambria"/>
              </a:rPr>
              <a:t>Africa</a:t>
            </a:r>
            <a:r>
              <a:rPr lang="fr-FR" sz="2800" dirty="0">
                <a:latin typeface="+mj-lt"/>
                <a:ea typeface="Cambria"/>
                <a:cs typeface="Cambria"/>
                <a:sym typeface="Cambria"/>
              </a:rPr>
              <a:t> in </a:t>
            </a:r>
            <a:r>
              <a:rPr lang="fr-FR" sz="2800" dirty="0" err="1">
                <a:latin typeface="+mj-lt"/>
                <a:ea typeface="Cambria"/>
                <a:cs typeface="Cambria"/>
                <a:sym typeface="Cambria"/>
              </a:rPr>
              <a:t>September</a:t>
            </a:r>
            <a:r>
              <a:rPr lang="fr-FR" sz="2800" dirty="0">
                <a:latin typeface="+mj-lt"/>
                <a:ea typeface="Cambria"/>
                <a:cs typeface="Cambria"/>
                <a:sym typeface="Cambria"/>
              </a:rPr>
              <a:t>.</a:t>
            </a:r>
            <a:endParaRPr sz="2800" dirty="0">
              <a:latin typeface="+mj-lt"/>
              <a:ea typeface="Cambria"/>
              <a:cs typeface="Cambria"/>
              <a:sym typeface="Cambria"/>
            </a:endParaRPr>
          </a:p>
          <a:p>
            <a:pPr marL="25400" marR="160655" lvl="0" indent="0" algn="l" rtl="0">
              <a:lnSpc>
                <a:spcPct val="160700"/>
              </a:lnSpc>
              <a:spcBef>
                <a:spcPts val="0"/>
              </a:spcBef>
              <a:spcAft>
                <a:spcPts val="0"/>
              </a:spcAft>
              <a:buNone/>
            </a:pPr>
            <a:r>
              <a:rPr lang="fr-FR" sz="2800" dirty="0">
                <a:latin typeface="+mj-lt"/>
                <a:ea typeface="Cambria"/>
                <a:cs typeface="Cambria"/>
                <a:sym typeface="Cambria"/>
              </a:rPr>
              <a:t>Jane </a:t>
            </a:r>
            <a:r>
              <a:rPr lang="fr-FR" sz="2800" dirty="0" err="1">
                <a:latin typeface="+mj-lt"/>
                <a:ea typeface="Cambria"/>
                <a:cs typeface="Cambria"/>
                <a:sym typeface="Cambria"/>
              </a:rPr>
              <a:t>is</a:t>
            </a:r>
            <a:r>
              <a:rPr lang="fr-FR" sz="2800" dirty="0">
                <a:latin typeface="+mj-lt"/>
                <a:ea typeface="Cambria"/>
                <a:cs typeface="Cambria"/>
                <a:sym typeface="Cambria"/>
              </a:rPr>
              <a:t> </a:t>
            </a:r>
            <a:r>
              <a:rPr lang="fr-FR" sz="2800" dirty="0" err="1">
                <a:latin typeface="+mj-lt"/>
                <a:ea typeface="Cambria"/>
                <a:cs typeface="Cambria"/>
                <a:sym typeface="Cambria"/>
              </a:rPr>
              <a:t>going</a:t>
            </a:r>
            <a:r>
              <a:rPr lang="fr-FR" sz="2800" dirty="0">
                <a:latin typeface="+mj-lt"/>
                <a:ea typeface="Cambria"/>
                <a:cs typeface="Cambria"/>
                <a:sym typeface="Cambria"/>
              </a:rPr>
              <a:t> to </a:t>
            </a:r>
            <a:r>
              <a:rPr lang="fr-FR" sz="2800" dirty="0" err="1">
                <a:latin typeface="+mj-lt"/>
                <a:ea typeface="Cambria"/>
                <a:cs typeface="Cambria"/>
                <a:sym typeface="Cambria"/>
              </a:rPr>
              <a:t>be</a:t>
            </a:r>
            <a:r>
              <a:rPr lang="fr-FR" sz="2800" dirty="0">
                <a:latin typeface="+mj-lt"/>
                <a:ea typeface="Cambria"/>
                <a:cs typeface="Cambria"/>
                <a:sym typeface="Cambria"/>
              </a:rPr>
              <a:t> </a:t>
            </a:r>
            <a:r>
              <a:rPr lang="fr-FR" sz="2800" dirty="0" err="1">
                <a:latin typeface="+mj-lt"/>
                <a:ea typeface="Cambria"/>
                <a:cs typeface="Cambria"/>
                <a:sym typeface="Cambria"/>
              </a:rPr>
              <a:t>visiting</a:t>
            </a:r>
            <a:r>
              <a:rPr lang="fr-FR" sz="2800" dirty="0">
                <a:latin typeface="+mj-lt"/>
                <a:ea typeface="Cambria"/>
                <a:cs typeface="Cambria"/>
                <a:sym typeface="Cambria"/>
              </a:rPr>
              <a:t> </a:t>
            </a:r>
            <a:r>
              <a:rPr lang="fr-FR" sz="2800" dirty="0" err="1">
                <a:latin typeface="+mj-lt"/>
                <a:ea typeface="Cambria"/>
                <a:cs typeface="Cambria"/>
                <a:sym typeface="Cambria"/>
              </a:rPr>
              <a:t>Africa</a:t>
            </a:r>
            <a:r>
              <a:rPr lang="fr-FR" sz="2800" dirty="0">
                <a:latin typeface="+mj-lt"/>
                <a:ea typeface="Cambria"/>
                <a:cs typeface="Cambria"/>
                <a:sym typeface="Cambria"/>
              </a:rPr>
              <a:t> in </a:t>
            </a:r>
            <a:r>
              <a:rPr lang="fr-FR" sz="2800" dirty="0" err="1">
                <a:latin typeface="+mj-lt"/>
                <a:ea typeface="Cambria"/>
                <a:cs typeface="Cambria"/>
                <a:sym typeface="Cambria"/>
              </a:rPr>
              <a:t>September</a:t>
            </a:r>
            <a:r>
              <a:rPr lang="fr-FR" sz="2800" dirty="0">
                <a:latin typeface="+mj-lt"/>
                <a:ea typeface="Cambria"/>
                <a:cs typeface="Cambria"/>
                <a:sym typeface="Cambria"/>
              </a:rPr>
              <a:t>. In </a:t>
            </a:r>
            <a:r>
              <a:rPr lang="fr-FR" sz="2800" dirty="0" err="1">
                <a:latin typeface="+mj-lt"/>
                <a:ea typeface="Cambria"/>
                <a:cs typeface="Cambria"/>
                <a:sym typeface="Cambria"/>
              </a:rPr>
              <a:t>September</a:t>
            </a:r>
            <a:r>
              <a:rPr lang="fr-FR" sz="2800" dirty="0">
                <a:latin typeface="+mj-lt"/>
                <a:ea typeface="Cambria"/>
                <a:cs typeface="Cambria"/>
                <a:sym typeface="Cambria"/>
              </a:rPr>
              <a:t>, Jane </a:t>
            </a:r>
            <a:r>
              <a:rPr lang="fr-FR" sz="2800" dirty="0" err="1">
                <a:latin typeface="+mj-lt"/>
                <a:ea typeface="Cambria"/>
                <a:cs typeface="Cambria"/>
                <a:sym typeface="Cambria"/>
              </a:rPr>
              <a:t>will</a:t>
            </a:r>
            <a:r>
              <a:rPr lang="fr-FR" sz="2800" dirty="0">
                <a:latin typeface="+mj-lt"/>
                <a:ea typeface="Cambria"/>
                <a:cs typeface="Cambria"/>
                <a:sym typeface="Cambria"/>
              </a:rPr>
              <a:t> </a:t>
            </a:r>
            <a:r>
              <a:rPr lang="fr-FR" sz="2800" dirty="0" err="1">
                <a:latin typeface="+mj-lt"/>
                <a:ea typeface="Cambria"/>
                <a:cs typeface="Cambria"/>
                <a:sym typeface="Cambria"/>
              </a:rPr>
              <a:t>visit</a:t>
            </a:r>
            <a:r>
              <a:rPr lang="fr-FR" sz="2800" dirty="0">
                <a:latin typeface="+mj-lt"/>
                <a:ea typeface="Cambria"/>
                <a:cs typeface="Cambria"/>
                <a:sym typeface="Cambria"/>
              </a:rPr>
              <a:t> </a:t>
            </a:r>
            <a:r>
              <a:rPr lang="fr-FR" sz="2800" dirty="0" err="1">
                <a:latin typeface="+mj-lt"/>
                <a:ea typeface="Cambria"/>
                <a:cs typeface="Cambria"/>
                <a:sym typeface="Cambria"/>
              </a:rPr>
              <a:t>Africa</a:t>
            </a:r>
            <a:r>
              <a:rPr lang="fr-FR" sz="2800" dirty="0">
                <a:latin typeface="+mj-lt"/>
                <a:ea typeface="Cambria"/>
                <a:cs typeface="Cambria"/>
                <a:sym typeface="Cambria"/>
              </a:rPr>
              <a:t>.</a:t>
            </a:r>
            <a:endParaRPr sz="2800" dirty="0">
              <a:latin typeface="+mj-lt"/>
              <a:ea typeface="Cambria"/>
              <a:cs typeface="Cambria"/>
              <a:sym typeface="Cambria"/>
            </a:endParaRPr>
          </a:p>
          <a:p>
            <a:pPr marL="25400" lvl="0" indent="0" algn="l" rtl="0">
              <a:lnSpc>
                <a:spcPct val="100000"/>
              </a:lnSpc>
              <a:spcBef>
                <a:spcPts val="2035"/>
              </a:spcBef>
              <a:spcAft>
                <a:spcPts val="0"/>
              </a:spcAft>
              <a:buNone/>
            </a:pPr>
            <a:r>
              <a:rPr lang="fr-FR" sz="2800" dirty="0">
                <a:latin typeface="+mj-lt"/>
                <a:ea typeface="Cambria"/>
                <a:cs typeface="Cambria"/>
                <a:sym typeface="Cambria"/>
              </a:rPr>
              <a:t>Her </a:t>
            </a:r>
            <a:r>
              <a:rPr lang="fr-FR" sz="2800" dirty="0" err="1">
                <a:latin typeface="+mj-lt"/>
                <a:ea typeface="Cambria"/>
                <a:cs typeface="Cambria"/>
                <a:sym typeface="Cambria"/>
              </a:rPr>
              <a:t>African</a:t>
            </a:r>
            <a:r>
              <a:rPr lang="fr-FR" sz="2800" dirty="0">
                <a:latin typeface="+mj-lt"/>
                <a:ea typeface="Cambria"/>
                <a:cs typeface="Cambria"/>
                <a:sym typeface="Cambria"/>
              </a:rPr>
              <a:t> </a:t>
            </a:r>
            <a:r>
              <a:rPr lang="fr-FR" sz="2800" dirty="0" err="1">
                <a:latin typeface="+mj-lt"/>
                <a:ea typeface="Cambria"/>
                <a:cs typeface="Cambria"/>
                <a:sym typeface="Cambria"/>
              </a:rPr>
              <a:t>friend</a:t>
            </a:r>
            <a:r>
              <a:rPr lang="fr-FR" sz="2800" dirty="0">
                <a:latin typeface="+mj-lt"/>
                <a:ea typeface="Cambria"/>
                <a:cs typeface="Cambria"/>
                <a:sym typeface="Cambria"/>
              </a:rPr>
              <a:t> </a:t>
            </a:r>
            <a:r>
              <a:rPr lang="fr-FR" sz="2800" dirty="0" err="1">
                <a:latin typeface="+mj-lt"/>
                <a:ea typeface="Cambria"/>
                <a:cs typeface="Cambria"/>
                <a:sym typeface="Cambria"/>
              </a:rPr>
              <a:t>welcomed</a:t>
            </a:r>
            <a:r>
              <a:rPr lang="fr-FR" sz="2800" dirty="0">
                <a:latin typeface="+mj-lt"/>
                <a:ea typeface="Cambria"/>
                <a:cs typeface="Cambria"/>
                <a:sym typeface="Cambria"/>
              </a:rPr>
              <a:t> Jane in </a:t>
            </a:r>
            <a:r>
              <a:rPr lang="fr-FR" sz="2800" dirty="0" err="1">
                <a:latin typeface="+mj-lt"/>
                <a:ea typeface="Cambria"/>
                <a:cs typeface="Cambria"/>
                <a:sym typeface="Cambria"/>
              </a:rPr>
              <a:t>September</a:t>
            </a:r>
            <a:r>
              <a:rPr lang="fr-FR" sz="2800" dirty="0">
                <a:latin typeface="+mj-lt"/>
                <a:ea typeface="Cambria"/>
                <a:cs typeface="Cambria"/>
                <a:sym typeface="Cambria"/>
              </a:rPr>
              <a:t>.</a:t>
            </a:r>
            <a:endParaRPr sz="2800" dirty="0">
              <a:latin typeface="+mj-lt"/>
              <a:ea typeface="Cambria"/>
              <a:cs typeface="Cambria"/>
              <a:sym typeface="Cambria"/>
            </a:endParaRPr>
          </a:p>
          <a:p>
            <a:pPr marL="0" lvl="0" indent="0" algn="l" rtl="0">
              <a:lnSpc>
                <a:spcPct val="100000"/>
              </a:lnSpc>
              <a:spcBef>
                <a:spcPts val="55"/>
              </a:spcBef>
              <a:spcAft>
                <a:spcPts val="0"/>
              </a:spcAft>
              <a:buNone/>
            </a:pPr>
            <a:endParaRPr sz="4350" dirty="0">
              <a:latin typeface="+mj-lt"/>
              <a:ea typeface="Cambria"/>
              <a:cs typeface="Cambria"/>
              <a:sym typeface="Cambria"/>
            </a:endParaRPr>
          </a:p>
        </p:txBody>
      </p:sp>
      <p:sp>
        <p:nvSpPr>
          <p:cNvPr id="92" name="Google Shape;92;p7"/>
          <p:cNvSpPr/>
          <p:nvPr/>
        </p:nvSpPr>
        <p:spPr>
          <a:xfrm>
            <a:off x="769839" y="3271011"/>
            <a:ext cx="534670" cy="127000"/>
          </a:xfrm>
          <a:custGeom>
            <a:avLst/>
            <a:gdLst/>
            <a:ahLst/>
            <a:cxnLst/>
            <a:rect l="l" t="t" r="r" b="b"/>
            <a:pathLst>
              <a:path w="534669" h="127000" extrusionOk="0">
                <a:moveTo>
                  <a:pt x="409524" y="0"/>
                </a:moveTo>
                <a:lnTo>
                  <a:pt x="407974" y="50774"/>
                </a:lnTo>
                <a:lnTo>
                  <a:pt x="774" y="38328"/>
                </a:lnTo>
                <a:lnTo>
                  <a:pt x="0" y="63715"/>
                </a:lnTo>
                <a:lnTo>
                  <a:pt x="407200" y="76161"/>
                </a:lnTo>
                <a:lnTo>
                  <a:pt x="405650" y="126936"/>
                </a:lnTo>
                <a:lnTo>
                  <a:pt x="534530" y="67348"/>
                </a:lnTo>
                <a:lnTo>
                  <a:pt x="40952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3" name="Google Shape;93;p7"/>
          <p:cNvSpPr/>
          <p:nvPr/>
        </p:nvSpPr>
        <p:spPr>
          <a:xfrm>
            <a:off x="769839" y="3956659"/>
            <a:ext cx="534670" cy="127000"/>
          </a:xfrm>
          <a:custGeom>
            <a:avLst/>
            <a:gdLst/>
            <a:ahLst/>
            <a:cxnLst/>
            <a:rect l="l" t="t" r="r" b="b"/>
            <a:pathLst>
              <a:path w="534669" h="127000" extrusionOk="0">
                <a:moveTo>
                  <a:pt x="409524" y="0"/>
                </a:moveTo>
                <a:lnTo>
                  <a:pt x="407974" y="50774"/>
                </a:lnTo>
                <a:lnTo>
                  <a:pt x="774" y="38328"/>
                </a:lnTo>
                <a:lnTo>
                  <a:pt x="0" y="63715"/>
                </a:lnTo>
                <a:lnTo>
                  <a:pt x="407200" y="76161"/>
                </a:lnTo>
                <a:lnTo>
                  <a:pt x="405650" y="126936"/>
                </a:lnTo>
                <a:lnTo>
                  <a:pt x="534530" y="67348"/>
                </a:lnTo>
                <a:lnTo>
                  <a:pt x="40952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4" name="Google Shape;94;p7"/>
          <p:cNvSpPr/>
          <p:nvPr/>
        </p:nvSpPr>
        <p:spPr>
          <a:xfrm>
            <a:off x="769839" y="4642307"/>
            <a:ext cx="534670" cy="127000"/>
          </a:xfrm>
          <a:custGeom>
            <a:avLst/>
            <a:gdLst/>
            <a:ahLst/>
            <a:cxnLst/>
            <a:rect l="l" t="t" r="r" b="b"/>
            <a:pathLst>
              <a:path w="534669" h="127000" extrusionOk="0">
                <a:moveTo>
                  <a:pt x="409524" y="0"/>
                </a:moveTo>
                <a:lnTo>
                  <a:pt x="407974" y="50774"/>
                </a:lnTo>
                <a:lnTo>
                  <a:pt x="774" y="38328"/>
                </a:lnTo>
                <a:lnTo>
                  <a:pt x="0" y="63715"/>
                </a:lnTo>
                <a:lnTo>
                  <a:pt x="407200" y="76161"/>
                </a:lnTo>
                <a:lnTo>
                  <a:pt x="405650" y="126936"/>
                </a:lnTo>
                <a:lnTo>
                  <a:pt x="534530" y="67348"/>
                </a:lnTo>
                <a:lnTo>
                  <a:pt x="40952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95" name="Google Shape;95;p7"/>
          <p:cNvPicPr preferRelativeResize="0"/>
          <p:nvPr/>
        </p:nvPicPr>
        <p:blipFill rotWithShape="1">
          <a:blip r:embed="rId3">
            <a:alphaModFix/>
          </a:blip>
          <a:srcRect/>
          <a:stretch/>
        </p:blipFill>
        <p:spPr>
          <a:xfrm>
            <a:off x="8305800" y="1152989"/>
            <a:ext cx="3330229" cy="929721"/>
          </a:xfrm>
          <a:prstGeom prst="rect">
            <a:avLst/>
          </a:prstGeom>
          <a:noFill/>
          <a:ln>
            <a:noFill/>
          </a:ln>
        </p:spPr>
      </p:pic>
      <p:pic>
        <p:nvPicPr>
          <p:cNvPr id="96" name="Google Shape;96;p7"/>
          <p:cNvPicPr preferRelativeResize="0"/>
          <p:nvPr/>
        </p:nvPicPr>
        <p:blipFill rotWithShape="1">
          <a:blip r:embed="rId4">
            <a:alphaModFix/>
          </a:blip>
          <a:srcRect/>
          <a:stretch/>
        </p:blipFill>
        <p:spPr>
          <a:xfrm>
            <a:off x="2362200" y="5105400"/>
            <a:ext cx="5723394" cy="1448451"/>
          </a:xfrm>
          <a:prstGeom prst="rect">
            <a:avLst/>
          </a:prstGeom>
          <a:noFill/>
          <a:ln>
            <a:noFill/>
          </a:ln>
        </p:spPr>
      </p:pic>
      <p:pic>
        <p:nvPicPr>
          <p:cNvPr id="97" name="Google Shape;97;p7"/>
          <p:cNvPicPr preferRelativeResize="0"/>
          <p:nvPr/>
        </p:nvPicPr>
        <p:blipFill>
          <a:blip r:embed="rId5">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11</a:t>
            </a:fld>
            <a:endParaRPr lang="fr-F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01"/>
        <p:cNvGrpSpPr/>
        <p:nvPr/>
      </p:nvGrpSpPr>
      <p:grpSpPr>
        <a:xfrm>
          <a:off x="0" y="0"/>
          <a:ext cx="0" cy="0"/>
          <a:chOff x="0" y="0"/>
          <a:chExt cx="0" cy="0"/>
        </a:xfrm>
      </p:grpSpPr>
      <p:pic>
        <p:nvPicPr>
          <p:cNvPr id="107" name="Google Shape;107;p8"/>
          <p:cNvPicPr preferRelativeResize="0"/>
          <p:nvPr/>
        </p:nvPicPr>
        <p:blipFill rotWithShape="1">
          <a:blip r:embed="rId3">
            <a:alphaModFix/>
          </a:blip>
          <a:srcRect/>
          <a:stretch/>
        </p:blipFill>
        <p:spPr>
          <a:xfrm>
            <a:off x="996717" y="3756768"/>
            <a:ext cx="3993226" cy="883997"/>
          </a:xfrm>
          <a:prstGeom prst="rect">
            <a:avLst/>
          </a:prstGeom>
          <a:noFill/>
          <a:ln>
            <a:noFill/>
          </a:ln>
        </p:spPr>
      </p:pic>
      <p:sp>
        <p:nvSpPr>
          <p:cNvPr id="3" name="Rectangle 2">
            <a:extLst>
              <a:ext uri="{FF2B5EF4-FFF2-40B4-BE49-F238E27FC236}">
                <a16:creationId xmlns:a16="http://schemas.microsoft.com/office/drawing/2014/main" id="{08AFEC29-0E02-7C75-40DE-FA98039EE816}"/>
              </a:ext>
            </a:extLst>
          </p:cNvPr>
          <p:cNvSpPr/>
          <p:nvPr/>
        </p:nvSpPr>
        <p:spPr>
          <a:xfrm>
            <a:off x="2871329" y="3960495"/>
            <a:ext cx="146191" cy="2381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102" name="Google Shape;102;p8"/>
          <p:cNvSpPr txBox="1">
            <a:spLocks noGrp="1"/>
          </p:cNvSpPr>
          <p:nvPr>
            <p:ph type="title"/>
          </p:nvPr>
        </p:nvSpPr>
        <p:spPr>
          <a:xfrm>
            <a:off x="261620" y="139700"/>
            <a:ext cx="7903972"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dirty="0" err="1">
                <a:latin typeface="+mj-lt"/>
              </a:rPr>
              <a:t>Why</a:t>
            </a:r>
            <a:r>
              <a:rPr lang="fr-FR" dirty="0">
                <a:latin typeface="+mj-lt"/>
              </a:rPr>
              <a:t> not a </a:t>
            </a:r>
            <a:r>
              <a:rPr lang="fr-FR" dirty="0" err="1">
                <a:latin typeface="+mj-lt"/>
              </a:rPr>
              <a:t>greedy</a:t>
            </a:r>
            <a:r>
              <a:rPr lang="fr-FR" dirty="0">
                <a:latin typeface="+mj-lt"/>
              </a:rPr>
              <a:t> </a:t>
            </a:r>
            <a:r>
              <a:rPr lang="fr-FR" dirty="0" err="1">
                <a:latin typeface="+mj-lt"/>
              </a:rPr>
              <a:t>search</a:t>
            </a:r>
            <a:r>
              <a:rPr lang="fr-FR" dirty="0">
                <a:latin typeface="+mj-lt"/>
              </a:rPr>
              <a:t>?</a:t>
            </a:r>
            <a:endParaRPr dirty="0">
              <a:latin typeface="+mj-lt"/>
            </a:endParaRPr>
          </a:p>
        </p:txBody>
      </p:sp>
      <p:sp>
        <p:nvSpPr>
          <p:cNvPr id="103" name="Google Shape;103;p8"/>
          <p:cNvSpPr txBox="1">
            <a:spLocks noGrp="1"/>
          </p:cNvSpPr>
          <p:nvPr>
            <p:ph type="body" idx="1"/>
          </p:nvPr>
        </p:nvSpPr>
        <p:spPr>
          <a:xfrm>
            <a:off x="2871329" y="6262467"/>
            <a:ext cx="5205871" cy="307777"/>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fr-FR" sz="2000">
                <a:latin typeface="+mj-lt"/>
              </a:rPr>
              <a:t>P( </a:t>
            </a:r>
            <a:r>
              <a:rPr lang="fr-FR" sz="2000">
                <a:latin typeface="+mj-lt"/>
                <a:ea typeface="Cambria"/>
                <a:cs typeface="Cambria"/>
                <a:sym typeface="Cambria"/>
              </a:rPr>
              <a:t>Jane is going | x &gt; Jane is visiting | x )</a:t>
            </a:r>
            <a:endParaRPr sz="2000">
              <a:latin typeface="+mj-lt"/>
            </a:endParaRPr>
          </a:p>
        </p:txBody>
      </p:sp>
      <p:sp>
        <p:nvSpPr>
          <p:cNvPr id="104" name="Google Shape;104;p8"/>
          <p:cNvSpPr/>
          <p:nvPr/>
        </p:nvSpPr>
        <p:spPr>
          <a:xfrm>
            <a:off x="600513" y="5101678"/>
            <a:ext cx="534670" cy="127000"/>
          </a:xfrm>
          <a:custGeom>
            <a:avLst/>
            <a:gdLst/>
            <a:ahLst/>
            <a:cxnLst/>
            <a:rect l="l" t="t" r="r" b="b"/>
            <a:pathLst>
              <a:path w="534669" h="127000" extrusionOk="0">
                <a:moveTo>
                  <a:pt x="409536" y="0"/>
                </a:moveTo>
                <a:lnTo>
                  <a:pt x="407987" y="50774"/>
                </a:lnTo>
                <a:lnTo>
                  <a:pt x="787" y="38328"/>
                </a:lnTo>
                <a:lnTo>
                  <a:pt x="0" y="63728"/>
                </a:lnTo>
                <a:lnTo>
                  <a:pt x="407212" y="76174"/>
                </a:lnTo>
                <a:lnTo>
                  <a:pt x="405650" y="126949"/>
                </a:lnTo>
                <a:lnTo>
                  <a:pt x="534543" y="67360"/>
                </a:lnTo>
                <a:lnTo>
                  <a:pt x="409536"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5" name="Google Shape;105;p8"/>
          <p:cNvSpPr txBox="1"/>
          <p:nvPr/>
        </p:nvSpPr>
        <p:spPr>
          <a:xfrm>
            <a:off x="1676400" y="4932272"/>
            <a:ext cx="7943850" cy="116268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2800">
                <a:latin typeface="+mj-lt"/>
                <a:ea typeface="Cambria"/>
                <a:cs typeface="Cambria"/>
                <a:sym typeface="Cambria"/>
              </a:rPr>
              <a:t>Jane is visiting Africa in September.</a:t>
            </a:r>
            <a:endParaRPr sz="2800">
              <a:latin typeface="+mj-lt"/>
              <a:ea typeface="Cambria"/>
              <a:cs typeface="Cambria"/>
              <a:sym typeface="Cambria"/>
            </a:endParaRPr>
          </a:p>
          <a:p>
            <a:pPr marL="49530" lvl="0" indent="0" algn="l" rtl="0">
              <a:lnSpc>
                <a:spcPct val="100000"/>
              </a:lnSpc>
              <a:spcBef>
                <a:spcPts val="2230"/>
              </a:spcBef>
              <a:spcAft>
                <a:spcPts val="0"/>
              </a:spcAft>
              <a:buNone/>
            </a:pPr>
            <a:r>
              <a:rPr lang="fr-FR" sz="2800">
                <a:latin typeface="+mj-lt"/>
                <a:ea typeface="Cambria"/>
                <a:cs typeface="Cambria"/>
                <a:sym typeface="Cambria"/>
              </a:rPr>
              <a:t>Jane is going to be visiting Africa in September.</a:t>
            </a:r>
            <a:endParaRPr sz="2800">
              <a:latin typeface="+mj-lt"/>
              <a:ea typeface="Cambria"/>
              <a:cs typeface="Cambria"/>
              <a:sym typeface="Cambria"/>
            </a:endParaRPr>
          </a:p>
        </p:txBody>
      </p:sp>
      <p:sp>
        <p:nvSpPr>
          <p:cNvPr id="106" name="Google Shape;106;p8"/>
          <p:cNvSpPr/>
          <p:nvPr/>
        </p:nvSpPr>
        <p:spPr>
          <a:xfrm>
            <a:off x="637942" y="5811692"/>
            <a:ext cx="534670" cy="127000"/>
          </a:xfrm>
          <a:custGeom>
            <a:avLst/>
            <a:gdLst/>
            <a:ahLst/>
            <a:cxnLst/>
            <a:rect l="l" t="t" r="r" b="b"/>
            <a:pathLst>
              <a:path w="534669" h="127000" extrusionOk="0">
                <a:moveTo>
                  <a:pt x="409524" y="0"/>
                </a:moveTo>
                <a:lnTo>
                  <a:pt x="407974" y="50774"/>
                </a:lnTo>
                <a:lnTo>
                  <a:pt x="774" y="38328"/>
                </a:lnTo>
                <a:lnTo>
                  <a:pt x="0" y="63715"/>
                </a:lnTo>
                <a:lnTo>
                  <a:pt x="407200" y="76161"/>
                </a:lnTo>
                <a:lnTo>
                  <a:pt x="405638" y="126936"/>
                </a:lnTo>
                <a:lnTo>
                  <a:pt x="534517" y="67348"/>
                </a:lnTo>
                <a:lnTo>
                  <a:pt x="40952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08" name="Google Shape;108;p8"/>
          <p:cNvPicPr preferRelativeResize="0"/>
          <p:nvPr/>
        </p:nvPicPr>
        <p:blipFill rotWithShape="1">
          <a:blip r:embed="rId4">
            <a:alphaModFix/>
          </a:blip>
          <a:srcRect/>
          <a:stretch/>
        </p:blipFill>
        <p:spPr>
          <a:xfrm>
            <a:off x="457200" y="1546851"/>
            <a:ext cx="6599492" cy="2095682"/>
          </a:xfrm>
          <a:prstGeom prst="rect">
            <a:avLst/>
          </a:prstGeom>
          <a:noFill/>
          <a:ln>
            <a:noFill/>
          </a:ln>
        </p:spPr>
      </p:pic>
      <p:pic>
        <p:nvPicPr>
          <p:cNvPr id="109" name="Google Shape;109;p8"/>
          <p:cNvPicPr preferRelativeResize="0"/>
          <p:nvPr/>
        </p:nvPicPr>
        <p:blipFill>
          <a:blip r:embed="rId5">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AC37FD34-1026-27AF-A294-F0E0A80185E5}"/>
              </a:ext>
            </a:extLst>
          </p:cNvPr>
          <p:cNvSpPr txBox="1"/>
          <p:nvPr/>
        </p:nvSpPr>
        <p:spPr>
          <a:xfrm>
            <a:off x="2892417" y="3867468"/>
            <a:ext cx="104013" cy="307777"/>
          </a:xfrm>
          <a:prstGeom prst="rect">
            <a:avLst/>
          </a:prstGeom>
          <a:noFill/>
        </p:spPr>
        <p:txBody>
          <a:bodyPr wrap="square" lIns="0" tIns="0" rIns="0" bIns="0" rtlCol="0">
            <a:spAutoFit/>
          </a:bodyPr>
          <a:lstStyle/>
          <a:p>
            <a:r>
              <a:rPr lang="cy-GB" sz="2000" dirty="0">
                <a:latin typeface="+mj-lt"/>
              </a:rPr>
              <a:t>ŷ</a:t>
            </a:r>
            <a:endParaRPr lang="en-US" sz="2000" dirty="0">
              <a:latin typeface="+mj-lt"/>
            </a:endParaRPr>
          </a:p>
        </p:txBody>
      </p:sp>
      <p:sp>
        <p:nvSpPr>
          <p:cNvPr id="4" name="Rectangle 3">
            <a:extLst>
              <a:ext uri="{FF2B5EF4-FFF2-40B4-BE49-F238E27FC236}">
                <a16:creationId xmlns:a16="http://schemas.microsoft.com/office/drawing/2014/main" id="{A7B5218F-C96A-05E8-196F-67E56A79C9EF}"/>
              </a:ext>
            </a:extLst>
          </p:cNvPr>
          <p:cNvSpPr/>
          <p:nvPr/>
        </p:nvSpPr>
        <p:spPr>
          <a:xfrm>
            <a:off x="3896219" y="3968404"/>
            <a:ext cx="146191" cy="2381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5" name="TextBox 4">
            <a:extLst>
              <a:ext uri="{FF2B5EF4-FFF2-40B4-BE49-F238E27FC236}">
                <a16:creationId xmlns:a16="http://schemas.microsoft.com/office/drawing/2014/main" id="{69D7C46C-AFF8-FFD7-1081-13A5DD70E712}"/>
              </a:ext>
            </a:extLst>
          </p:cNvPr>
          <p:cNvSpPr txBox="1"/>
          <p:nvPr/>
        </p:nvSpPr>
        <p:spPr>
          <a:xfrm>
            <a:off x="3917307" y="3875377"/>
            <a:ext cx="104013" cy="307777"/>
          </a:xfrm>
          <a:prstGeom prst="rect">
            <a:avLst/>
          </a:prstGeom>
          <a:noFill/>
        </p:spPr>
        <p:txBody>
          <a:bodyPr wrap="square" lIns="0" tIns="0" rIns="0" bIns="0" rtlCol="0">
            <a:spAutoFit/>
          </a:bodyPr>
          <a:lstStyle/>
          <a:p>
            <a:r>
              <a:rPr lang="cy-GB" sz="2000" dirty="0">
                <a:latin typeface="+mj-lt"/>
              </a:rPr>
              <a:t>ŷ</a:t>
            </a:r>
            <a:endParaRPr lang="en-US" sz="2000" dirty="0">
              <a:latin typeface="+mj-lt"/>
            </a:endParaRPr>
          </a:p>
        </p:txBody>
      </p:sp>
      <p:sp>
        <p:nvSpPr>
          <p:cNvPr id="6" name="Slide Number Placeholder 5"/>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12</a:t>
            </a:fld>
            <a:endParaRPr lang="fr-F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113"/>
        <p:cNvGrpSpPr/>
        <p:nvPr/>
      </p:nvGrpSpPr>
      <p:grpSpPr>
        <a:xfrm>
          <a:off x="0" y="0"/>
          <a:ext cx="0" cy="0"/>
          <a:chOff x="0" y="0"/>
          <a:chExt cx="0" cy="0"/>
        </a:xfrm>
      </p:grpSpPr>
      <p:sp>
        <p:nvSpPr>
          <p:cNvPr id="114" name="Google Shape;114;p9"/>
          <p:cNvSpPr txBox="1">
            <a:spLocks noGrp="1"/>
          </p:cNvSpPr>
          <p:nvPr>
            <p:ph type="title"/>
          </p:nvPr>
        </p:nvSpPr>
        <p:spPr>
          <a:xfrm>
            <a:off x="5339346" y="791044"/>
            <a:ext cx="6054078" cy="2125182"/>
          </a:xfrm>
          <a:prstGeom prst="rect">
            <a:avLst/>
          </a:prstGeom>
          <a:noFill/>
          <a:ln>
            <a:noFill/>
          </a:ln>
        </p:spPr>
        <p:txBody>
          <a:bodyPr spcFirstLastPara="1" wrap="square" lIns="0" tIns="129525" rIns="0" bIns="0" anchor="t" anchorCtr="0">
            <a:spAutoFit/>
          </a:bodyPr>
          <a:lstStyle/>
          <a:p>
            <a:pPr marL="12700" marR="5080" lvl="0" indent="848994" algn="l" rtl="0">
              <a:lnSpc>
                <a:spcPct val="107575"/>
              </a:lnSpc>
              <a:spcBef>
                <a:spcPts val="0"/>
              </a:spcBef>
              <a:spcAft>
                <a:spcPts val="0"/>
              </a:spcAft>
              <a:buNone/>
            </a:pPr>
            <a:r>
              <a:rPr lang="fr-FR" sz="6000" b="0" dirty="0" err="1">
                <a:latin typeface="+mj-lt"/>
                <a:ea typeface="Calibri"/>
                <a:cs typeface="Calibri"/>
                <a:sym typeface="Calibri"/>
              </a:rPr>
              <a:t>Sequence</a:t>
            </a:r>
            <a:r>
              <a:rPr lang="fr-FR" sz="6000" b="0" dirty="0">
                <a:latin typeface="+mj-lt"/>
                <a:ea typeface="Calibri"/>
                <a:cs typeface="Calibri"/>
                <a:sym typeface="Calibri"/>
              </a:rPr>
              <a:t> to </a:t>
            </a:r>
            <a:r>
              <a:rPr lang="fr-FR" sz="6000" b="0" dirty="0" err="1">
                <a:latin typeface="+mj-lt"/>
                <a:ea typeface="Calibri"/>
                <a:cs typeface="Calibri"/>
                <a:sym typeface="Calibri"/>
              </a:rPr>
              <a:t>sequence</a:t>
            </a:r>
            <a:r>
              <a:rPr lang="fr-FR" sz="6000" b="0" dirty="0">
                <a:latin typeface="+mj-lt"/>
                <a:ea typeface="Calibri"/>
                <a:cs typeface="Calibri"/>
                <a:sym typeface="Calibri"/>
              </a:rPr>
              <a:t> </a:t>
            </a:r>
            <a:r>
              <a:rPr lang="fr-FR" sz="6000" b="0" dirty="0" err="1">
                <a:latin typeface="+mj-lt"/>
                <a:ea typeface="Calibri"/>
                <a:cs typeface="Calibri"/>
                <a:sym typeface="Calibri"/>
              </a:rPr>
              <a:t>models</a:t>
            </a:r>
            <a:endParaRPr sz="6000" dirty="0">
              <a:latin typeface="+mj-lt"/>
              <a:ea typeface="Calibri"/>
              <a:cs typeface="Calibri"/>
              <a:sym typeface="Calibri"/>
            </a:endParaRPr>
          </a:p>
        </p:txBody>
      </p:sp>
      <p:sp>
        <p:nvSpPr>
          <p:cNvPr id="115" name="Google Shape;115;p9"/>
          <p:cNvSpPr txBox="1"/>
          <p:nvPr/>
        </p:nvSpPr>
        <p:spPr>
          <a:xfrm>
            <a:off x="6238436" y="3922392"/>
            <a:ext cx="4104628" cy="84382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5400" dirty="0">
                <a:latin typeface="+mj-lt"/>
                <a:ea typeface="Calibri"/>
                <a:cs typeface="Calibri"/>
                <a:sym typeface="Calibri"/>
              </a:rPr>
              <a:t>Beam </a:t>
            </a:r>
            <a:r>
              <a:rPr lang="fr-FR" sz="5400" dirty="0" err="1">
                <a:latin typeface="+mj-lt"/>
                <a:ea typeface="Calibri"/>
                <a:cs typeface="Calibri"/>
                <a:sym typeface="Calibri"/>
              </a:rPr>
              <a:t>search</a:t>
            </a:r>
            <a:endParaRPr sz="5400" dirty="0">
              <a:latin typeface="+mj-lt"/>
              <a:ea typeface="Calibri"/>
              <a:cs typeface="Calibri"/>
              <a:sym typeface="Calibri"/>
            </a:endParaRPr>
          </a:p>
        </p:txBody>
      </p:sp>
      <p:sp>
        <p:nvSpPr>
          <p:cNvPr id="116" name="Google Shape;116;p9"/>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17" name="Google Shape;117;p9"/>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13</a:t>
            </a:fld>
            <a:endParaRPr lang="fr-F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87"/>
        <p:cNvGrpSpPr/>
        <p:nvPr/>
      </p:nvGrpSpPr>
      <p:grpSpPr>
        <a:xfrm>
          <a:off x="0" y="0"/>
          <a:ext cx="0" cy="0"/>
          <a:chOff x="0" y="0"/>
          <a:chExt cx="0" cy="0"/>
        </a:xfrm>
      </p:grpSpPr>
      <p:sp>
        <p:nvSpPr>
          <p:cNvPr id="88" name="Google Shape;88;p7"/>
          <p:cNvSpPr txBox="1">
            <a:spLocks noGrp="1"/>
          </p:cNvSpPr>
          <p:nvPr>
            <p:ph type="title"/>
          </p:nvPr>
        </p:nvSpPr>
        <p:spPr>
          <a:xfrm>
            <a:off x="261620" y="139700"/>
            <a:ext cx="9082405"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4400" dirty="0">
                <a:latin typeface="+mj-lt"/>
                <a:ea typeface="Calibri"/>
                <a:cs typeface="Calibri"/>
                <a:sym typeface="Calibri"/>
              </a:rPr>
              <a:t>Beam </a:t>
            </a:r>
            <a:r>
              <a:rPr lang="fr-FR" sz="4400" dirty="0" err="1">
                <a:latin typeface="+mj-lt"/>
                <a:ea typeface="Calibri"/>
                <a:cs typeface="Calibri"/>
                <a:sym typeface="Calibri"/>
              </a:rPr>
              <a:t>search</a:t>
            </a:r>
            <a:endParaRPr lang="fr-FR" sz="4400" dirty="0">
              <a:latin typeface="+mj-lt"/>
              <a:ea typeface="Calibri"/>
              <a:cs typeface="Calibri"/>
              <a:sym typeface="Calibri"/>
            </a:endParaRPr>
          </a:p>
        </p:txBody>
      </p:sp>
      <p:pic>
        <p:nvPicPr>
          <p:cNvPr id="97" name="Google Shape;97;p7"/>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1E565E91-141B-F8D7-BBA2-ED443A7979E8}"/>
              </a:ext>
            </a:extLst>
          </p:cNvPr>
          <p:cNvSpPr txBox="1"/>
          <p:nvPr/>
        </p:nvSpPr>
        <p:spPr>
          <a:xfrm>
            <a:off x="261620" y="965054"/>
            <a:ext cx="11668760" cy="3416320"/>
          </a:xfrm>
          <a:prstGeom prst="rect">
            <a:avLst/>
          </a:prstGeom>
          <a:noFill/>
        </p:spPr>
        <p:txBody>
          <a:bodyPr wrap="square" rtlCol="0">
            <a:spAutoFit/>
          </a:bodyPr>
          <a:lstStyle/>
          <a:p>
            <a:pPr marL="342900" indent="-342900">
              <a:buFont typeface="Arial" panose="020B0604020202020204" pitchFamily="34" charset="0"/>
              <a:buChar char="•"/>
            </a:pPr>
            <a:r>
              <a:rPr lang="en-US" sz="2400" dirty="0"/>
              <a:t>Beam search is a widely used search algorithm that is often used in natural language processing tasks such as machine translation, speech recognition, and text generation. </a:t>
            </a:r>
            <a:endParaRPr lang="en-US" sz="2400" dirty="0" smtClean="0"/>
          </a:p>
          <a:p>
            <a:pPr marL="342900" indent="-342900">
              <a:buFont typeface="Arial" panose="020B0604020202020204" pitchFamily="34" charset="0"/>
              <a:buChar char="•"/>
            </a:pPr>
            <a:r>
              <a:rPr lang="en-US" sz="2400" dirty="0" smtClean="0"/>
              <a:t>It </a:t>
            </a:r>
            <a:r>
              <a:rPr lang="en-US" sz="2400" dirty="0"/>
              <a:t>considers multiple alternatives at each step of the sequence generation process, rather than just the most likely one, which is what greedy search does. The algorithm has a parameter called B, which is the beam width, and it determines the number of candidates to consider at each step. The outcome of this process is the most likely output sequence, given a set of input sequences and a pre-trained language model.</a:t>
            </a:r>
            <a:endParaRPr lang="en-GB" sz="2400" dirty="0" smtClean="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14</a:t>
            </a:fld>
            <a:endParaRPr lang="fr-FR"/>
          </a:p>
        </p:txBody>
      </p:sp>
    </p:spTree>
    <p:extLst>
      <p:ext uri="{BB962C8B-B14F-4D97-AF65-F5344CB8AC3E}">
        <p14:creationId xmlns:p14="http://schemas.microsoft.com/office/powerpoint/2010/main" val="1488445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87"/>
        <p:cNvGrpSpPr/>
        <p:nvPr/>
      </p:nvGrpSpPr>
      <p:grpSpPr>
        <a:xfrm>
          <a:off x="0" y="0"/>
          <a:ext cx="0" cy="0"/>
          <a:chOff x="0" y="0"/>
          <a:chExt cx="0" cy="0"/>
        </a:xfrm>
      </p:grpSpPr>
      <p:sp>
        <p:nvSpPr>
          <p:cNvPr id="88" name="Google Shape;88;p7"/>
          <p:cNvSpPr txBox="1">
            <a:spLocks noGrp="1"/>
          </p:cNvSpPr>
          <p:nvPr>
            <p:ph type="title"/>
          </p:nvPr>
        </p:nvSpPr>
        <p:spPr>
          <a:xfrm>
            <a:off x="261620" y="139700"/>
            <a:ext cx="9082405"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4400" dirty="0">
                <a:latin typeface="+mj-lt"/>
                <a:ea typeface="Calibri"/>
                <a:cs typeface="Calibri"/>
                <a:sym typeface="Calibri"/>
              </a:rPr>
              <a:t>Beam </a:t>
            </a:r>
            <a:r>
              <a:rPr lang="fr-FR" sz="4400" dirty="0" err="1">
                <a:latin typeface="+mj-lt"/>
                <a:ea typeface="Calibri"/>
                <a:cs typeface="Calibri"/>
                <a:sym typeface="Calibri"/>
              </a:rPr>
              <a:t>search</a:t>
            </a:r>
            <a:endParaRPr lang="fr-FR" sz="4400" dirty="0">
              <a:latin typeface="+mj-lt"/>
              <a:ea typeface="Calibri"/>
              <a:cs typeface="Calibri"/>
              <a:sym typeface="Calibri"/>
            </a:endParaRPr>
          </a:p>
        </p:txBody>
      </p:sp>
      <p:pic>
        <p:nvPicPr>
          <p:cNvPr id="97" name="Google Shape;97;p7"/>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1E565E91-141B-F8D7-BBA2-ED443A7979E8}"/>
              </a:ext>
            </a:extLst>
          </p:cNvPr>
          <p:cNvSpPr txBox="1"/>
          <p:nvPr/>
        </p:nvSpPr>
        <p:spPr>
          <a:xfrm>
            <a:off x="261620" y="965054"/>
            <a:ext cx="11668760" cy="5262979"/>
          </a:xfrm>
          <a:prstGeom prst="rect">
            <a:avLst/>
          </a:prstGeom>
          <a:noFill/>
        </p:spPr>
        <p:txBody>
          <a:bodyPr wrap="square" rtlCol="0">
            <a:spAutoFit/>
          </a:bodyPr>
          <a:lstStyle/>
          <a:p>
            <a:r>
              <a:rPr lang="en-US" sz="2400" dirty="0" smtClean="0"/>
              <a:t>The </a:t>
            </a:r>
            <a:r>
              <a:rPr lang="en-US" sz="2400" dirty="0"/>
              <a:t>process of beam search for the example French sentence "Jane, </a:t>
            </a:r>
            <a:r>
              <a:rPr lang="en-US" sz="2400" dirty="0" err="1"/>
              <a:t>visite</a:t>
            </a:r>
            <a:r>
              <a:rPr lang="en-US" sz="2400" dirty="0"/>
              <a:t> </a:t>
            </a:r>
            <a:r>
              <a:rPr lang="en-US" sz="2400" dirty="0" err="1"/>
              <a:t>l'Afrique</a:t>
            </a:r>
            <a:r>
              <a:rPr lang="en-US" sz="2400" dirty="0"/>
              <a:t> </a:t>
            </a:r>
            <a:r>
              <a:rPr lang="en-US" sz="2400" dirty="0" err="1"/>
              <a:t>en</a:t>
            </a:r>
            <a:r>
              <a:rPr lang="en-US" sz="2400" dirty="0"/>
              <a:t> </a:t>
            </a:r>
            <a:r>
              <a:rPr lang="en-US" sz="2400" dirty="0" err="1"/>
              <a:t>Septembre</a:t>
            </a:r>
            <a:r>
              <a:rPr lang="en-US" sz="2400" dirty="0"/>
              <a:t>" is summarized as follows</a:t>
            </a:r>
            <a:r>
              <a:rPr lang="en-US" sz="2400" dirty="0" smtClean="0"/>
              <a:t>:</a:t>
            </a:r>
            <a:endParaRPr lang="en-US" sz="2400" dirty="0"/>
          </a:p>
          <a:p>
            <a:pPr marL="342900" indent="-342900">
              <a:buFont typeface="Arial" panose="020B0604020202020204" pitchFamily="34" charset="0"/>
              <a:buChar char="•"/>
            </a:pPr>
            <a:r>
              <a:rPr lang="en-US" sz="2400" b="1" dirty="0"/>
              <a:t>Step 1:</a:t>
            </a:r>
            <a:r>
              <a:rPr lang="en-US" sz="2400" dirty="0"/>
              <a:t> Pick the first word of the English translation and use a network fragment with an encoder in green and a decoder in purple to evaluate the probability of the first output word given the French input sentence.</a:t>
            </a:r>
          </a:p>
          <a:p>
            <a:pPr marL="342900" indent="-342900">
              <a:buFont typeface="Arial" panose="020B0604020202020204" pitchFamily="34" charset="0"/>
              <a:buChar char="•"/>
            </a:pPr>
            <a:r>
              <a:rPr lang="en-US" sz="2400" b="1" dirty="0"/>
              <a:t>Step 2:</a:t>
            </a:r>
            <a:r>
              <a:rPr lang="en-US" sz="2400" dirty="0"/>
              <a:t> Consider the second word after the first and evaluate the possible choices using network fragments with hardwired first and second words. The most likely pair of the first and second words is selected by multiplying their probabilities.</a:t>
            </a:r>
          </a:p>
          <a:p>
            <a:pPr marL="342900" indent="-342900">
              <a:buFont typeface="Arial" panose="020B0604020202020204" pitchFamily="34" charset="0"/>
              <a:buChar char="•"/>
            </a:pPr>
            <a:r>
              <a:rPr lang="en-US" sz="2400" b="1" dirty="0"/>
              <a:t>Step 3:</a:t>
            </a:r>
            <a:r>
              <a:rPr lang="en-US" sz="2400" dirty="0"/>
              <a:t> Pick the top three possibilities for the third word. The most likely output English sentence is the outcome of this process. If the beam width was set to 1, beam search becomes greedy search, which considers only one possibility at a time</a:t>
            </a:r>
            <a:r>
              <a:rPr lang="en-US" sz="2400" dirty="0" smtClean="0"/>
              <a:t>.</a:t>
            </a:r>
          </a:p>
          <a:p>
            <a:r>
              <a:rPr lang="en-GB" sz="2400" dirty="0" smtClean="0"/>
              <a:t>There </a:t>
            </a:r>
            <a:r>
              <a:rPr lang="en-GB" sz="2400" dirty="0"/>
              <a:t>are additional tips and tricks that can help make beam search work even better. </a:t>
            </a:r>
            <a:r>
              <a:rPr lang="en-GB" sz="2400" dirty="0" smtClean="0"/>
              <a:t>The next section will </a:t>
            </a:r>
            <a:r>
              <a:rPr lang="en-GB" sz="2400" dirty="0"/>
              <a:t>discuss these tips and tricks.</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15</a:t>
            </a:fld>
            <a:endParaRPr lang="fr-FR"/>
          </a:p>
        </p:txBody>
      </p:sp>
    </p:spTree>
    <p:extLst>
      <p:ext uri="{BB962C8B-B14F-4D97-AF65-F5344CB8AC3E}">
        <p14:creationId xmlns:p14="http://schemas.microsoft.com/office/powerpoint/2010/main" val="2870341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21"/>
        <p:cNvGrpSpPr/>
        <p:nvPr/>
      </p:nvGrpSpPr>
      <p:grpSpPr>
        <a:xfrm>
          <a:off x="0" y="0"/>
          <a:ext cx="0" cy="0"/>
          <a:chOff x="0" y="0"/>
          <a:chExt cx="0" cy="0"/>
        </a:xfrm>
      </p:grpSpPr>
      <p:pic>
        <p:nvPicPr>
          <p:cNvPr id="122" name="Google Shape;122;p10"/>
          <p:cNvPicPr preferRelativeResize="0"/>
          <p:nvPr/>
        </p:nvPicPr>
        <p:blipFill rotWithShape="1">
          <a:blip r:embed="rId3">
            <a:alphaModFix/>
          </a:blip>
          <a:srcRect/>
          <a:stretch/>
        </p:blipFill>
        <p:spPr>
          <a:xfrm>
            <a:off x="0" y="0"/>
            <a:ext cx="11285013" cy="6096000"/>
          </a:xfrm>
          <a:prstGeom prst="rect">
            <a:avLst/>
          </a:prstGeom>
          <a:noFill/>
          <a:ln>
            <a:noFill/>
          </a:ln>
        </p:spPr>
      </p:pic>
      <p:pic>
        <p:nvPicPr>
          <p:cNvPr id="123" name="Google Shape;123;p10"/>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16</a:t>
            </a:fld>
            <a:endParaRPr lang="fr-F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27"/>
        <p:cNvGrpSpPr/>
        <p:nvPr/>
      </p:nvGrpSpPr>
      <p:grpSpPr>
        <a:xfrm>
          <a:off x="0" y="0"/>
          <a:ext cx="0" cy="0"/>
          <a:chOff x="0" y="0"/>
          <a:chExt cx="0" cy="0"/>
        </a:xfrm>
      </p:grpSpPr>
      <p:pic>
        <p:nvPicPr>
          <p:cNvPr id="128" name="Google Shape;128;p11"/>
          <p:cNvPicPr preferRelativeResize="0"/>
          <p:nvPr/>
        </p:nvPicPr>
        <p:blipFill rotWithShape="1">
          <a:blip r:embed="rId3">
            <a:alphaModFix/>
          </a:blip>
          <a:srcRect l="-15514" t="2103" r="14929" b="-15840"/>
          <a:stretch/>
        </p:blipFill>
        <p:spPr>
          <a:xfrm>
            <a:off x="6543150" y="1347925"/>
            <a:ext cx="2835221" cy="4831294"/>
          </a:xfrm>
          <a:prstGeom prst="rect">
            <a:avLst/>
          </a:prstGeom>
          <a:noFill/>
          <a:ln>
            <a:noFill/>
          </a:ln>
        </p:spPr>
      </p:pic>
      <p:pic>
        <p:nvPicPr>
          <p:cNvPr id="129" name="Google Shape;129;p11"/>
          <p:cNvPicPr preferRelativeResize="0"/>
          <p:nvPr/>
        </p:nvPicPr>
        <p:blipFill rotWithShape="1">
          <a:blip r:embed="rId4">
            <a:alphaModFix/>
          </a:blip>
          <a:srcRect/>
          <a:stretch/>
        </p:blipFill>
        <p:spPr>
          <a:xfrm>
            <a:off x="9156745" y="2687730"/>
            <a:ext cx="2316017" cy="1309747"/>
          </a:xfrm>
          <a:prstGeom prst="rect">
            <a:avLst/>
          </a:prstGeom>
          <a:noFill/>
          <a:ln>
            <a:noFill/>
          </a:ln>
        </p:spPr>
      </p:pic>
      <p:sp>
        <p:nvSpPr>
          <p:cNvPr id="130" name="Google Shape;130;p11"/>
          <p:cNvSpPr txBox="1">
            <a:spLocks noGrp="1"/>
          </p:cNvSpPr>
          <p:nvPr>
            <p:ph type="title"/>
          </p:nvPr>
        </p:nvSpPr>
        <p:spPr>
          <a:xfrm>
            <a:off x="261620" y="139700"/>
            <a:ext cx="605917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dirty="0">
                <a:latin typeface="+mj-lt"/>
              </a:rPr>
              <a:t>Beam </a:t>
            </a:r>
            <a:r>
              <a:rPr lang="fr-FR" dirty="0" err="1">
                <a:latin typeface="+mj-lt"/>
              </a:rPr>
              <a:t>search</a:t>
            </a:r>
            <a:r>
              <a:rPr lang="fr-FR" dirty="0">
                <a:latin typeface="+mj-lt"/>
              </a:rPr>
              <a:t> </a:t>
            </a:r>
            <a:r>
              <a:rPr lang="fr-FR" dirty="0" err="1">
                <a:latin typeface="+mj-lt"/>
              </a:rPr>
              <a:t>algorithm</a:t>
            </a:r>
            <a:endParaRPr dirty="0">
              <a:latin typeface="+mj-lt"/>
            </a:endParaRPr>
          </a:p>
        </p:txBody>
      </p:sp>
      <p:sp>
        <p:nvSpPr>
          <p:cNvPr id="131" name="Google Shape;131;p11"/>
          <p:cNvSpPr txBox="1">
            <a:spLocks noGrp="1"/>
          </p:cNvSpPr>
          <p:nvPr>
            <p:ph type="body" idx="1"/>
          </p:nvPr>
        </p:nvSpPr>
        <p:spPr>
          <a:xfrm>
            <a:off x="5957195" y="2277550"/>
            <a:ext cx="5392965" cy="2769989"/>
          </a:xfrm>
          <a:prstGeom prst="rect">
            <a:avLst/>
          </a:prstGeom>
          <a:blipFill rotWithShape="1">
            <a:blip r:embed="rId5">
              <a:alphaModFix/>
            </a:blip>
            <a:stretch>
              <a:fillRect l="-2597" t="-2862"/>
            </a:stretch>
          </a:blipFill>
          <a:ln>
            <a:noFill/>
          </a:ln>
        </p:spPr>
        <p:txBody>
          <a:bodyPr spcFirstLastPara="1" wrap="square" lIns="0" tIns="0" rIns="0" bIns="0" anchor="t" anchorCtr="0">
            <a:spAutoFit/>
          </a:bodyPr>
          <a:lstStyle/>
          <a:p>
            <a:pPr marL="0" lvl="0" indent="0" algn="l" rtl="0">
              <a:spcBef>
                <a:spcPts val="0"/>
              </a:spcBef>
              <a:spcAft>
                <a:spcPts val="0"/>
              </a:spcAft>
              <a:buNone/>
            </a:pPr>
            <a:r>
              <a:rPr lang="fr-FR" dirty="0"/>
              <a:t> </a:t>
            </a:r>
            <a:endParaRPr dirty="0"/>
          </a:p>
        </p:txBody>
      </p:sp>
      <p:grpSp>
        <p:nvGrpSpPr>
          <p:cNvPr id="132" name="Google Shape;132;p11"/>
          <p:cNvGrpSpPr/>
          <p:nvPr/>
        </p:nvGrpSpPr>
        <p:grpSpPr>
          <a:xfrm>
            <a:off x="889728" y="1448028"/>
            <a:ext cx="1996550" cy="4370070"/>
            <a:chOff x="889728" y="1448028"/>
            <a:chExt cx="1996550" cy="4370070"/>
          </a:xfrm>
        </p:grpSpPr>
        <p:sp>
          <p:nvSpPr>
            <p:cNvPr id="133" name="Google Shape;133;p11"/>
            <p:cNvSpPr/>
            <p:nvPr/>
          </p:nvSpPr>
          <p:spPr>
            <a:xfrm>
              <a:off x="2702763" y="1448028"/>
              <a:ext cx="183515" cy="4370070"/>
            </a:xfrm>
            <a:custGeom>
              <a:avLst/>
              <a:gdLst/>
              <a:ahLst/>
              <a:cxnLst/>
              <a:rect l="l" t="t" r="r" b="b"/>
              <a:pathLst>
                <a:path w="183514" h="4370070" extrusionOk="0">
                  <a:moveTo>
                    <a:pt x="0" y="0"/>
                  </a:moveTo>
                  <a:lnTo>
                    <a:pt x="71322" y="1199"/>
                  </a:lnTo>
                  <a:lnTo>
                    <a:pt x="129564" y="4472"/>
                  </a:lnTo>
                  <a:lnTo>
                    <a:pt x="168833" y="9325"/>
                  </a:lnTo>
                  <a:lnTo>
                    <a:pt x="183232" y="15268"/>
                  </a:lnTo>
                  <a:lnTo>
                    <a:pt x="183232" y="4354638"/>
                  </a:lnTo>
                  <a:lnTo>
                    <a:pt x="168833" y="4360583"/>
                  </a:lnTo>
                  <a:lnTo>
                    <a:pt x="129564" y="4365437"/>
                  </a:lnTo>
                  <a:lnTo>
                    <a:pt x="71322" y="4368710"/>
                  </a:lnTo>
                  <a:lnTo>
                    <a:pt x="0" y="4369910"/>
                  </a:lnTo>
                </a:path>
              </a:pathLst>
            </a:custGeom>
            <a:noFill/>
            <a:ln w="158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34" name="Google Shape;134;p11"/>
            <p:cNvSpPr/>
            <p:nvPr/>
          </p:nvSpPr>
          <p:spPr>
            <a:xfrm>
              <a:off x="889728" y="1448028"/>
              <a:ext cx="179070" cy="4370070"/>
            </a:xfrm>
            <a:custGeom>
              <a:avLst/>
              <a:gdLst/>
              <a:ahLst/>
              <a:cxnLst/>
              <a:rect l="l" t="t" r="r" b="b"/>
              <a:pathLst>
                <a:path w="179069" h="4370070" extrusionOk="0">
                  <a:moveTo>
                    <a:pt x="178779" y="4369910"/>
                  </a:moveTo>
                  <a:lnTo>
                    <a:pt x="109190" y="4368740"/>
                  </a:lnTo>
                  <a:lnTo>
                    <a:pt x="52363" y="4365548"/>
                  </a:lnTo>
                  <a:lnTo>
                    <a:pt x="14049" y="4360815"/>
                  </a:lnTo>
                  <a:lnTo>
                    <a:pt x="0" y="4355017"/>
                  </a:lnTo>
                  <a:lnTo>
                    <a:pt x="0" y="14895"/>
                  </a:lnTo>
                  <a:lnTo>
                    <a:pt x="14049" y="9097"/>
                  </a:lnTo>
                  <a:lnTo>
                    <a:pt x="52363" y="4362"/>
                  </a:lnTo>
                  <a:lnTo>
                    <a:pt x="109190" y="1170"/>
                  </a:lnTo>
                  <a:lnTo>
                    <a:pt x="178779" y="0"/>
                  </a:lnTo>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35" name="Google Shape;135;p11"/>
          <p:cNvSpPr txBox="1"/>
          <p:nvPr/>
        </p:nvSpPr>
        <p:spPr>
          <a:xfrm>
            <a:off x="988441" y="644702"/>
            <a:ext cx="1739264" cy="5305748"/>
          </a:xfrm>
          <a:prstGeom prst="rect">
            <a:avLst/>
          </a:prstGeom>
          <a:noFill/>
          <a:ln>
            <a:noFill/>
          </a:ln>
        </p:spPr>
        <p:txBody>
          <a:bodyPr spcFirstLastPara="1" wrap="square" lIns="0" tIns="12700" rIns="0" bIns="0" anchor="t" anchorCtr="0">
            <a:spAutoFit/>
          </a:bodyPr>
          <a:lstStyle/>
          <a:p>
            <a:pPr marL="390525" marR="299720" lvl="0" indent="0" algn="ctr" rtl="0">
              <a:lnSpc>
                <a:spcPct val="148000"/>
              </a:lnSpc>
              <a:spcBef>
                <a:spcPts val="0"/>
              </a:spcBef>
              <a:spcAft>
                <a:spcPts val="0"/>
              </a:spcAft>
              <a:buNone/>
            </a:pPr>
            <a:r>
              <a:rPr lang="fr-FR" sz="2800" dirty="0" err="1">
                <a:latin typeface="+mj-lt"/>
                <a:ea typeface="Cambria"/>
                <a:cs typeface="Cambria"/>
                <a:sym typeface="Cambria"/>
              </a:rPr>
              <a:t>Step</a:t>
            </a:r>
            <a:r>
              <a:rPr lang="fr-FR" sz="2800" dirty="0">
                <a:latin typeface="+mj-lt"/>
                <a:ea typeface="Cambria"/>
                <a:cs typeface="Cambria"/>
                <a:sym typeface="Cambria"/>
              </a:rPr>
              <a:t> 1 a</a:t>
            </a:r>
            <a:endParaRPr sz="2800" dirty="0">
              <a:latin typeface="+mj-lt"/>
              <a:ea typeface="Cambria"/>
              <a:cs typeface="Cambria"/>
              <a:sym typeface="Cambria"/>
            </a:endParaRPr>
          </a:p>
          <a:p>
            <a:pPr marL="93980" lvl="0" indent="0" algn="ctr" rtl="0">
              <a:lnSpc>
                <a:spcPct val="100000"/>
              </a:lnSpc>
              <a:spcBef>
                <a:spcPts val="575"/>
              </a:spcBef>
              <a:spcAft>
                <a:spcPts val="0"/>
              </a:spcAft>
              <a:buNone/>
            </a:pPr>
            <a:r>
              <a:rPr lang="fr-FR" sz="2800" dirty="0">
                <a:latin typeface="+mj-lt"/>
                <a:ea typeface="Cambria Math"/>
                <a:cs typeface="Cambria Math"/>
                <a:sym typeface="Cambria Math"/>
              </a:rPr>
              <a:t>⋮</a:t>
            </a:r>
            <a:endParaRPr dirty="0">
              <a:latin typeface="+mj-lt"/>
            </a:endParaRPr>
          </a:p>
          <a:p>
            <a:pPr marL="125095" lvl="0" indent="0" algn="ctr" rtl="0">
              <a:lnSpc>
                <a:spcPct val="100000"/>
              </a:lnSpc>
              <a:spcBef>
                <a:spcPts val="935"/>
              </a:spcBef>
              <a:spcAft>
                <a:spcPts val="0"/>
              </a:spcAft>
              <a:buNone/>
            </a:pPr>
            <a:r>
              <a:rPr lang="fr-FR" sz="2800" dirty="0">
                <a:latin typeface="+mj-lt"/>
                <a:ea typeface="Cambria"/>
                <a:cs typeface="Cambria"/>
                <a:sym typeface="Cambria"/>
              </a:rPr>
              <a:t>in</a:t>
            </a:r>
            <a:endParaRPr sz="2800" dirty="0">
              <a:latin typeface="+mj-lt"/>
              <a:ea typeface="Cambria"/>
              <a:cs typeface="Cambria"/>
              <a:sym typeface="Cambria"/>
            </a:endParaRPr>
          </a:p>
          <a:p>
            <a:pPr marL="83820" lvl="0" indent="0" algn="ctr" rtl="0">
              <a:lnSpc>
                <a:spcPct val="100000"/>
              </a:lnSpc>
              <a:spcBef>
                <a:spcPts val="575"/>
              </a:spcBef>
              <a:spcAft>
                <a:spcPts val="0"/>
              </a:spcAft>
              <a:buNone/>
            </a:pPr>
            <a:r>
              <a:rPr lang="fr-FR" sz="2800" dirty="0">
                <a:latin typeface="+mj-lt"/>
                <a:ea typeface="Cambria Math"/>
                <a:cs typeface="Cambria Math"/>
                <a:sym typeface="Cambria Math"/>
              </a:rPr>
              <a:t>⋮</a:t>
            </a:r>
            <a:endParaRPr dirty="0">
              <a:latin typeface="+mj-lt"/>
            </a:endParaRPr>
          </a:p>
          <a:p>
            <a:pPr marL="0" marR="17780" lvl="0" indent="0" algn="ctr" rtl="0">
              <a:lnSpc>
                <a:spcPct val="100000"/>
              </a:lnSpc>
              <a:spcBef>
                <a:spcPts val="280"/>
              </a:spcBef>
              <a:spcAft>
                <a:spcPts val="0"/>
              </a:spcAft>
              <a:buNone/>
            </a:pPr>
            <a:r>
              <a:rPr lang="fr-FR" sz="2800" dirty="0" err="1">
                <a:latin typeface="+mj-lt"/>
                <a:ea typeface="Cambria"/>
                <a:cs typeface="Cambria"/>
                <a:sym typeface="Cambria"/>
              </a:rPr>
              <a:t>jane</a:t>
            </a:r>
            <a:endParaRPr sz="2800" dirty="0">
              <a:latin typeface="+mj-lt"/>
              <a:ea typeface="Cambria"/>
              <a:cs typeface="Cambria"/>
              <a:sym typeface="Cambria"/>
            </a:endParaRPr>
          </a:p>
          <a:p>
            <a:pPr marL="72390" lvl="0" indent="0" algn="ctr" rtl="0">
              <a:lnSpc>
                <a:spcPct val="100000"/>
              </a:lnSpc>
              <a:spcBef>
                <a:spcPts val="90"/>
              </a:spcBef>
              <a:spcAft>
                <a:spcPts val="0"/>
              </a:spcAft>
              <a:buNone/>
            </a:pPr>
            <a:r>
              <a:rPr lang="fr-FR" sz="2800" dirty="0">
                <a:latin typeface="+mj-lt"/>
                <a:ea typeface="Cambria Math"/>
                <a:cs typeface="Cambria Math"/>
                <a:sym typeface="Cambria Math"/>
              </a:rPr>
              <a:t>⋮</a:t>
            </a:r>
            <a:endParaRPr dirty="0">
              <a:latin typeface="+mj-lt"/>
            </a:endParaRPr>
          </a:p>
          <a:p>
            <a:pPr marL="0" lvl="0" indent="0" algn="ctr" rtl="0">
              <a:lnSpc>
                <a:spcPct val="118214"/>
              </a:lnSpc>
              <a:spcBef>
                <a:spcPts val="155"/>
              </a:spcBef>
              <a:spcAft>
                <a:spcPts val="0"/>
              </a:spcAft>
              <a:buNone/>
            </a:pPr>
            <a:r>
              <a:rPr lang="fr-FR" sz="2800" dirty="0" err="1">
                <a:latin typeface="+mj-lt"/>
                <a:ea typeface="Cambria"/>
                <a:cs typeface="Cambria"/>
                <a:sym typeface="Cambria"/>
              </a:rPr>
              <a:t>september</a:t>
            </a:r>
            <a:endParaRPr sz="2800" dirty="0">
              <a:latin typeface="+mj-lt"/>
              <a:ea typeface="Cambria"/>
              <a:cs typeface="Cambria"/>
              <a:sym typeface="Cambria"/>
            </a:endParaRPr>
          </a:p>
          <a:p>
            <a:pPr marL="93980" lvl="0" indent="0" algn="ctr" rtl="0">
              <a:lnSpc>
                <a:spcPct val="115892"/>
              </a:lnSpc>
              <a:spcBef>
                <a:spcPts val="0"/>
              </a:spcBef>
              <a:spcAft>
                <a:spcPts val="0"/>
              </a:spcAft>
              <a:buNone/>
            </a:pPr>
            <a:r>
              <a:rPr lang="fr-FR" sz="2800" dirty="0">
                <a:latin typeface="+mj-lt"/>
                <a:ea typeface="Cambria Math"/>
                <a:cs typeface="Cambria Math"/>
                <a:sym typeface="Cambria Math"/>
              </a:rPr>
              <a:t>⋮</a:t>
            </a:r>
            <a:endParaRPr dirty="0">
              <a:latin typeface="+mj-lt"/>
            </a:endParaRPr>
          </a:p>
          <a:p>
            <a:pPr marL="67310" lvl="0" indent="0" algn="ctr" rtl="0">
              <a:lnSpc>
                <a:spcPct val="117678"/>
              </a:lnSpc>
              <a:spcBef>
                <a:spcPts val="0"/>
              </a:spcBef>
              <a:spcAft>
                <a:spcPts val="0"/>
              </a:spcAft>
              <a:buNone/>
            </a:pPr>
            <a:r>
              <a:rPr lang="fr-FR" sz="2800" dirty="0">
                <a:latin typeface="+mj-lt"/>
                <a:ea typeface="Cambria"/>
                <a:cs typeface="Cambria"/>
                <a:sym typeface="Cambria"/>
              </a:rPr>
              <a:t>zulu</a:t>
            </a:r>
            <a:endParaRPr sz="2800" dirty="0">
              <a:latin typeface="+mj-lt"/>
              <a:ea typeface="Cambria"/>
              <a:cs typeface="Cambria"/>
              <a:sym typeface="Cambria"/>
            </a:endParaRPr>
          </a:p>
        </p:txBody>
      </p:sp>
      <p:sp>
        <p:nvSpPr>
          <p:cNvPr id="136" name="Google Shape;136;p11"/>
          <p:cNvSpPr/>
          <p:nvPr/>
        </p:nvSpPr>
        <p:spPr>
          <a:xfrm>
            <a:off x="345287" y="1513916"/>
            <a:ext cx="127000" cy="1765935"/>
          </a:xfrm>
          <a:custGeom>
            <a:avLst/>
            <a:gdLst/>
            <a:ahLst/>
            <a:cxnLst/>
            <a:rect l="l" t="t" r="r" b="b"/>
            <a:pathLst>
              <a:path w="127000" h="1765935" extrusionOk="0">
                <a:moveTo>
                  <a:pt x="63334" y="0"/>
                </a:moveTo>
                <a:lnTo>
                  <a:pt x="0" y="127076"/>
                </a:lnTo>
                <a:lnTo>
                  <a:pt x="50800" y="127012"/>
                </a:lnTo>
                <a:lnTo>
                  <a:pt x="52806" y="1765617"/>
                </a:lnTo>
                <a:lnTo>
                  <a:pt x="78206" y="1765579"/>
                </a:lnTo>
                <a:lnTo>
                  <a:pt x="76200" y="126974"/>
                </a:lnTo>
                <a:lnTo>
                  <a:pt x="127000" y="126911"/>
                </a:lnTo>
                <a:lnTo>
                  <a:pt x="63334"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37" name="Google Shape;137;p11"/>
          <p:cNvSpPr/>
          <p:nvPr/>
        </p:nvSpPr>
        <p:spPr>
          <a:xfrm>
            <a:off x="345838" y="3997477"/>
            <a:ext cx="127000" cy="1691005"/>
          </a:xfrm>
          <a:custGeom>
            <a:avLst/>
            <a:gdLst/>
            <a:ahLst/>
            <a:cxnLst/>
            <a:rect l="l" t="t" r="r" b="b"/>
            <a:pathLst>
              <a:path w="127000" h="1691004" extrusionOk="0">
                <a:moveTo>
                  <a:pt x="75488" y="0"/>
                </a:moveTo>
                <a:lnTo>
                  <a:pt x="50088" y="12"/>
                </a:lnTo>
                <a:lnTo>
                  <a:pt x="50799" y="1563395"/>
                </a:lnTo>
                <a:lnTo>
                  <a:pt x="0" y="1563420"/>
                </a:lnTo>
                <a:lnTo>
                  <a:pt x="63550" y="1690395"/>
                </a:lnTo>
                <a:lnTo>
                  <a:pt x="127000" y="1563357"/>
                </a:lnTo>
                <a:lnTo>
                  <a:pt x="76199" y="1563382"/>
                </a:lnTo>
                <a:lnTo>
                  <a:pt x="75488"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38" name="Google Shape;138;p11"/>
          <p:cNvSpPr txBox="1"/>
          <p:nvPr/>
        </p:nvSpPr>
        <p:spPr>
          <a:xfrm>
            <a:off x="-3134" y="3422446"/>
            <a:ext cx="867410" cy="3911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2400" dirty="0">
                <a:latin typeface="+mj-lt"/>
                <a:ea typeface="Cambria Math"/>
                <a:cs typeface="Cambria Math"/>
                <a:sym typeface="Cambria Math"/>
              </a:rPr>
              <a:t>10000</a:t>
            </a:r>
            <a:endParaRPr sz="2400" dirty="0">
              <a:latin typeface="+mj-lt"/>
              <a:ea typeface="Cambria Math"/>
              <a:cs typeface="Cambria Math"/>
              <a:sym typeface="Cambria Math"/>
            </a:endParaRPr>
          </a:p>
        </p:txBody>
      </p:sp>
      <p:sp>
        <p:nvSpPr>
          <p:cNvPr id="139" name="Google Shape;139;p11"/>
          <p:cNvSpPr txBox="1"/>
          <p:nvPr/>
        </p:nvSpPr>
        <p:spPr>
          <a:xfrm>
            <a:off x="3562083" y="848893"/>
            <a:ext cx="1066800"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2800" dirty="0" err="1">
                <a:latin typeface="+mj-lt"/>
                <a:ea typeface="Cambria"/>
                <a:cs typeface="Cambria"/>
                <a:sym typeface="Cambria"/>
              </a:rPr>
              <a:t>Step</a:t>
            </a:r>
            <a:r>
              <a:rPr lang="fr-FR" sz="2800" dirty="0">
                <a:latin typeface="+mj-lt"/>
                <a:ea typeface="Cambria"/>
                <a:cs typeface="Cambria"/>
                <a:sym typeface="Cambria"/>
              </a:rPr>
              <a:t> 2</a:t>
            </a:r>
            <a:endParaRPr sz="2800" dirty="0">
              <a:latin typeface="+mj-lt"/>
              <a:ea typeface="Cambria"/>
              <a:cs typeface="Cambria"/>
              <a:sym typeface="Cambria"/>
            </a:endParaRPr>
          </a:p>
        </p:txBody>
      </p:sp>
      <p:sp>
        <p:nvSpPr>
          <p:cNvPr id="140" name="Google Shape;140;p11"/>
          <p:cNvSpPr/>
          <p:nvPr/>
        </p:nvSpPr>
        <p:spPr>
          <a:xfrm>
            <a:off x="1473502" y="2547365"/>
            <a:ext cx="751840" cy="454659"/>
          </a:xfrm>
          <a:custGeom>
            <a:avLst/>
            <a:gdLst/>
            <a:ahLst/>
            <a:cxnLst/>
            <a:rect l="l" t="t" r="r" b="b"/>
            <a:pathLst>
              <a:path w="751839" h="454660" extrusionOk="0">
                <a:moveTo>
                  <a:pt x="0" y="227274"/>
                </a:moveTo>
                <a:lnTo>
                  <a:pt x="19155" y="155437"/>
                </a:lnTo>
                <a:lnTo>
                  <a:pt x="41940" y="122828"/>
                </a:lnTo>
                <a:lnTo>
                  <a:pt x="72497" y="93048"/>
                </a:lnTo>
                <a:lnTo>
                  <a:pt x="110053" y="66567"/>
                </a:lnTo>
                <a:lnTo>
                  <a:pt x="153834" y="43850"/>
                </a:lnTo>
                <a:lnTo>
                  <a:pt x="203068" y="25367"/>
                </a:lnTo>
                <a:lnTo>
                  <a:pt x="256980" y="11586"/>
                </a:lnTo>
                <a:lnTo>
                  <a:pt x="314796" y="2974"/>
                </a:lnTo>
                <a:lnTo>
                  <a:pt x="375744" y="0"/>
                </a:lnTo>
                <a:lnTo>
                  <a:pt x="436692" y="2974"/>
                </a:lnTo>
                <a:lnTo>
                  <a:pt x="494508" y="11586"/>
                </a:lnTo>
                <a:lnTo>
                  <a:pt x="548420" y="25367"/>
                </a:lnTo>
                <a:lnTo>
                  <a:pt x="597654" y="43850"/>
                </a:lnTo>
                <a:lnTo>
                  <a:pt x="641436" y="66567"/>
                </a:lnTo>
                <a:lnTo>
                  <a:pt x="678992" y="93048"/>
                </a:lnTo>
                <a:lnTo>
                  <a:pt x="709549" y="122828"/>
                </a:lnTo>
                <a:lnTo>
                  <a:pt x="732333" y="155437"/>
                </a:lnTo>
                <a:lnTo>
                  <a:pt x="751489" y="227274"/>
                </a:lnTo>
                <a:lnTo>
                  <a:pt x="746571" y="264139"/>
                </a:lnTo>
                <a:lnTo>
                  <a:pt x="709549" y="331720"/>
                </a:lnTo>
                <a:lnTo>
                  <a:pt x="678992" y="361499"/>
                </a:lnTo>
                <a:lnTo>
                  <a:pt x="641436" y="387981"/>
                </a:lnTo>
                <a:lnTo>
                  <a:pt x="597654" y="410698"/>
                </a:lnTo>
                <a:lnTo>
                  <a:pt x="548420" y="429181"/>
                </a:lnTo>
                <a:lnTo>
                  <a:pt x="494508" y="442962"/>
                </a:lnTo>
                <a:lnTo>
                  <a:pt x="436692" y="451574"/>
                </a:lnTo>
                <a:lnTo>
                  <a:pt x="375744" y="454549"/>
                </a:lnTo>
                <a:lnTo>
                  <a:pt x="314796" y="451574"/>
                </a:lnTo>
                <a:lnTo>
                  <a:pt x="256980" y="442962"/>
                </a:lnTo>
                <a:lnTo>
                  <a:pt x="203068" y="429181"/>
                </a:lnTo>
                <a:lnTo>
                  <a:pt x="153834" y="410698"/>
                </a:lnTo>
                <a:lnTo>
                  <a:pt x="110053" y="387981"/>
                </a:lnTo>
                <a:lnTo>
                  <a:pt x="72497" y="361499"/>
                </a:lnTo>
                <a:lnTo>
                  <a:pt x="41940" y="331720"/>
                </a:lnTo>
                <a:lnTo>
                  <a:pt x="19155" y="299110"/>
                </a:lnTo>
                <a:lnTo>
                  <a:pt x="0" y="227274"/>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41" name="Google Shape;141;p11"/>
          <p:cNvSpPr/>
          <p:nvPr/>
        </p:nvSpPr>
        <p:spPr>
          <a:xfrm>
            <a:off x="1310970" y="3501148"/>
            <a:ext cx="1038860" cy="454659"/>
          </a:xfrm>
          <a:custGeom>
            <a:avLst/>
            <a:gdLst/>
            <a:ahLst/>
            <a:cxnLst/>
            <a:rect l="l" t="t" r="r" b="b"/>
            <a:pathLst>
              <a:path w="1038860" h="454660" extrusionOk="0">
                <a:moveTo>
                  <a:pt x="0" y="227274"/>
                </a:moveTo>
                <a:lnTo>
                  <a:pt x="15856" y="171313"/>
                </a:lnTo>
                <a:lnTo>
                  <a:pt x="60830" y="120431"/>
                </a:lnTo>
                <a:lnTo>
                  <a:pt x="93020" y="97427"/>
                </a:lnTo>
                <a:lnTo>
                  <a:pt x="131030" y="76332"/>
                </a:lnTo>
                <a:lnTo>
                  <a:pt x="174373" y="57358"/>
                </a:lnTo>
                <a:lnTo>
                  <a:pt x="222562" y="40719"/>
                </a:lnTo>
                <a:lnTo>
                  <a:pt x="275112" y="26628"/>
                </a:lnTo>
                <a:lnTo>
                  <a:pt x="331536" y="15298"/>
                </a:lnTo>
                <a:lnTo>
                  <a:pt x="391347" y="6941"/>
                </a:lnTo>
                <a:lnTo>
                  <a:pt x="454058" y="1770"/>
                </a:lnTo>
                <a:lnTo>
                  <a:pt x="519184" y="0"/>
                </a:lnTo>
                <a:lnTo>
                  <a:pt x="584309" y="1770"/>
                </a:lnTo>
                <a:lnTo>
                  <a:pt x="647020" y="6941"/>
                </a:lnTo>
                <a:lnTo>
                  <a:pt x="706831" y="15298"/>
                </a:lnTo>
                <a:lnTo>
                  <a:pt x="763255" y="26628"/>
                </a:lnTo>
                <a:lnTo>
                  <a:pt x="815805" y="40719"/>
                </a:lnTo>
                <a:lnTo>
                  <a:pt x="863995" y="57358"/>
                </a:lnTo>
                <a:lnTo>
                  <a:pt x="907338" y="76332"/>
                </a:lnTo>
                <a:lnTo>
                  <a:pt x="945348" y="97427"/>
                </a:lnTo>
                <a:lnTo>
                  <a:pt x="977539" y="120431"/>
                </a:lnTo>
                <a:lnTo>
                  <a:pt x="1022513" y="171313"/>
                </a:lnTo>
                <a:lnTo>
                  <a:pt x="1038370" y="227274"/>
                </a:lnTo>
                <a:lnTo>
                  <a:pt x="1034324" y="255783"/>
                </a:lnTo>
                <a:lnTo>
                  <a:pt x="1003422" y="309417"/>
                </a:lnTo>
                <a:lnTo>
                  <a:pt x="945348" y="357121"/>
                </a:lnTo>
                <a:lnTo>
                  <a:pt x="907338" y="378216"/>
                </a:lnTo>
                <a:lnTo>
                  <a:pt x="863995" y="397190"/>
                </a:lnTo>
                <a:lnTo>
                  <a:pt x="815805" y="413829"/>
                </a:lnTo>
                <a:lnTo>
                  <a:pt x="763255" y="427920"/>
                </a:lnTo>
                <a:lnTo>
                  <a:pt x="706831" y="439250"/>
                </a:lnTo>
                <a:lnTo>
                  <a:pt x="647020" y="447607"/>
                </a:lnTo>
                <a:lnTo>
                  <a:pt x="584309" y="452778"/>
                </a:lnTo>
                <a:lnTo>
                  <a:pt x="519184" y="454549"/>
                </a:lnTo>
                <a:lnTo>
                  <a:pt x="454058" y="452778"/>
                </a:lnTo>
                <a:lnTo>
                  <a:pt x="391347" y="447607"/>
                </a:lnTo>
                <a:lnTo>
                  <a:pt x="331536" y="439250"/>
                </a:lnTo>
                <a:lnTo>
                  <a:pt x="275112" y="427920"/>
                </a:lnTo>
                <a:lnTo>
                  <a:pt x="222562" y="413829"/>
                </a:lnTo>
                <a:lnTo>
                  <a:pt x="174373" y="397190"/>
                </a:lnTo>
                <a:lnTo>
                  <a:pt x="131030" y="378216"/>
                </a:lnTo>
                <a:lnTo>
                  <a:pt x="93020" y="357121"/>
                </a:lnTo>
                <a:lnTo>
                  <a:pt x="60830" y="334117"/>
                </a:lnTo>
                <a:lnTo>
                  <a:pt x="15856" y="283235"/>
                </a:lnTo>
                <a:lnTo>
                  <a:pt x="0" y="227274"/>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42" name="Google Shape;142;p11"/>
          <p:cNvSpPr/>
          <p:nvPr/>
        </p:nvSpPr>
        <p:spPr>
          <a:xfrm>
            <a:off x="918448" y="4418812"/>
            <a:ext cx="1964055" cy="454659"/>
          </a:xfrm>
          <a:custGeom>
            <a:avLst/>
            <a:gdLst/>
            <a:ahLst/>
            <a:cxnLst/>
            <a:rect l="l" t="t" r="r" b="b"/>
            <a:pathLst>
              <a:path w="1964055" h="454660" extrusionOk="0">
                <a:moveTo>
                  <a:pt x="0" y="227274"/>
                </a:moveTo>
                <a:lnTo>
                  <a:pt x="23671" y="177448"/>
                </a:lnTo>
                <a:lnTo>
                  <a:pt x="64172" y="146290"/>
                </a:lnTo>
                <a:lnTo>
                  <a:pt x="122676" y="117189"/>
                </a:lnTo>
                <a:lnTo>
                  <a:pt x="197665" y="90498"/>
                </a:lnTo>
                <a:lnTo>
                  <a:pt x="240866" y="78165"/>
                </a:lnTo>
                <a:lnTo>
                  <a:pt x="287619" y="66567"/>
                </a:lnTo>
                <a:lnTo>
                  <a:pt x="337733" y="55746"/>
                </a:lnTo>
                <a:lnTo>
                  <a:pt x="391019" y="45747"/>
                </a:lnTo>
                <a:lnTo>
                  <a:pt x="447287" y="36615"/>
                </a:lnTo>
                <a:lnTo>
                  <a:pt x="506347" y="28392"/>
                </a:lnTo>
                <a:lnTo>
                  <a:pt x="568009" y="21123"/>
                </a:lnTo>
                <a:lnTo>
                  <a:pt x="632083" y="14852"/>
                </a:lnTo>
                <a:lnTo>
                  <a:pt x="698380" y="9622"/>
                </a:lnTo>
                <a:lnTo>
                  <a:pt x="766709" y="5478"/>
                </a:lnTo>
                <a:lnTo>
                  <a:pt x="836881" y="2464"/>
                </a:lnTo>
                <a:lnTo>
                  <a:pt x="908705" y="623"/>
                </a:lnTo>
                <a:lnTo>
                  <a:pt x="981992" y="0"/>
                </a:lnTo>
                <a:lnTo>
                  <a:pt x="1055280" y="623"/>
                </a:lnTo>
                <a:lnTo>
                  <a:pt x="1127104" y="2464"/>
                </a:lnTo>
                <a:lnTo>
                  <a:pt x="1197276" y="5478"/>
                </a:lnTo>
                <a:lnTo>
                  <a:pt x="1265605" y="9622"/>
                </a:lnTo>
                <a:lnTo>
                  <a:pt x="1331902" y="14852"/>
                </a:lnTo>
                <a:lnTo>
                  <a:pt x="1395976" y="21123"/>
                </a:lnTo>
                <a:lnTo>
                  <a:pt x="1457638" y="28392"/>
                </a:lnTo>
                <a:lnTo>
                  <a:pt x="1516698" y="36615"/>
                </a:lnTo>
                <a:lnTo>
                  <a:pt x="1572966" y="45747"/>
                </a:lnTo>
                <a:lnTo>
                  <a:pt x="1626253" y="55746"/>
                </a:lnTo>
                <a:lnTo>
                  <a:pt x="1676367" y="66567"/>
                </a:lnTo>
                <a:lnTo>
                  <a:pt x="1723120" y="78165"/>
                </a:lnTo>
                <a:lnTo>
                  <a:pt x="1766322" y="90498"/>
                </a:lnTo>
                <a:lnTo>
                  <a:pt x="1805782" y="103520"/>
                </a:lnTo>
                <a:lnTo>
                  <a:pt x="1872718" y="131461"/>
                </a:lnTo>
                <a:lnTo>
                  <a:pt x="1922411" y="161634"/>
                </a:lnTo>
                <a:lnTo>
                  <a:pt x="1953340" y="193689"/>
                </a:lnTo>
                <a:lnTo>
                  <a:pt x="1963987" y="227274"/>
                </a:lnTo>
                <a:lnTo>
                  <a:pt x="1961294" y="244235"/>
                </a:lnTo>
                <a:lnTo>
                  <a:pt x="1940316" y="277099"/>
                </a:lnTo>
                <a:lnTo>
                  <a:pt x="1899815" y="308258"/>
                </a:lnTo>
                <a:lnTo>
                  <a:pt x="1841310" y="337358"/>
                </a:lnTo>
                <a:lnTo>
                  <a:pt x="1766322" y="364050"/>
                </a:lnTo>
                <a:lnTo>
                  <a:pt x="1723120" y="376383"/>
                </a:lnTo>
                <a:lnTo>
                  <a:pt x="1676367" y="387981"/>
                </a:lnTo>
                <a:lnTo>
                  <a:pt x="1626253" y="398802"/>
                </a:lnTo>
                <a:lnTo>
                  <a:pt x="1572966" y="408801"/>
                </a:lnTo>
                <a:lnTo>
                  <a:pt x="1516698" y="417933"/>
                </a:lnTo>
                <a:lnTo>
                  <a:pt x="1457638" y="426156"/>
                </a:lnTo>
                <a:lnTo>
                  <a:pt x="1395976" y="433425"/>
                </a:lnTo>
                <a:lnTo>
                  <a:pt x="1331902" y="439696"/>
                </a:lnTo>
                <a:lnTo>
                  <a:pt x="1265605" y="444926"/>
                </a:lnTo>
                <a:lnTo>
                  <a:pt x="1197276" y="449070"/>
                </a:lnTo>
                <a:lnTo>
                  <a:pt x="1127104" y="452084"/>
                </a:lnTo>
                <a:lnTo>
                  <a:pt x="1055280" y="453925"/>
                </a:lnTo>
                <a:lnTo>
                  <a:pt x="981992" y="454549"/>
                </a:lnTo>
                <a:lnTo>
                  <a:pt x="908705" y="453925"/>
                </a:lnTo>
                <a:lnTo>
                  <a:pt x="836881" y="452084"/>
                </a:lnTo>
                <a:lnTo>
                  <a:pt x="766709" y="449070"/>
                </a:lnTo>
                <a:lnTo>
                  <a:pt x="698380" y="444926"/>
                </a:lnTo>
                <a:lnTo>
                  <a:pt x="632083" y="439696"/>
                </a:lnTo>
                <a:lnTo>
                  <a:pt x="568009" y="433425"/>
                </a:lnTo>
                <a:lnTo>
                  <a:pt x="506347" y="426156"/>
                </a:lnTo>
                <a:lnTo>
                  <a:pt x="447287" y="417933"/>
                </a:lnTo>
                <a:lnTo>
                  <a:pt x="391019" y="408801"/>
                </a:lnTo>
                <a:lnTo>
                  <a:pt x="337733" y="398802"/>
                </a:lnTo>
                <a:lnTo>
                  <a:pt x="287619" y="387981"/>
                </a:lnTo>
                <a:lnTo>
                  <a:pt x="240866" y="376383"/>
                </a:lnTo>
                <a:lnTo>
                  <a:pt x="197665" y="364050"/>
                </a:lnTo>
                <a:lnTo>
                  <a:pt x="158205" y="351027"/>
                </a:lnTo>
                <a:lnTo>
                  <a:pt x="91268" y="323087"/>
                </a:lnTo>
                <a:lnTo>
                  <a:pt x="41576" y="292914"/>
                </a:lnTo>
                <a:lnTo>
                  <a:pt x="10647" y="260859"/>
                </a:lnTo>
                <a:lnTo>
                  <a:pt x="0" y="227274"/>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43" name="Google Shape;143;p11"/>
          <p:cNvPicPr preferRelativeResize="0"/>
          <p:nvPr/>
        </p:nvPicPr>
        <p:blipFill rotWithShape="1">
          <a:blip r:embed="rId6">
            <a:alphaModFix/>
          </a:blip>
          <a:srcRect/>
          <a:stretch/>
        </p:blipFill>
        <p:spPr>
          <a:xfrm>
            <a:off x="3586370" y="2973756"/>
            <a:ext cx="1754930" cy="1267450"/>
          </a:xfrm>
          <a:prstGeom prst="rect">
            <a:avLst/>
          </a:prstGeom>
          <a:noFill/>
          <a:ln>
            <a:noFill/>
          </a:ln>
        </p:spPr>
      </p:pic>
      <p:pic>
        <p:nvPicPr>
          <p:cNvPr id="144" name="Google Shape;144;p11"/>
          <p:cNvPicPr preferRelativeResize="0"/>
          <p:nvPr/>
        </p:nvPicPr>
        <p:blipFill rotWithShape="1">
          <a:blip r:embed="rId6">
            <a:alphaModFix/>
          </a:blip>
          <a:srcRect/>
          <a:stretch/>
        </p:blipFill>
        <p:spPr>
          <a:xfrm>
            <a:off x="3636165" y="1455602"/>
            <a:ext cx="1603285" cy="1157928"/>
          </a:xfrm>
          <a:prstGeom prst="rect">
            <a:avLst/>
          </a:prstGeom>
          <a:noFill/>
          <a:ln>
            <a:noFill/>
          </a:ln>
        </p:spPr>
      </p:pic>
      <p:pic>
        <p:nvPicPr>
          <p:cNvPr id="145" name="Google Shape;145;p11"/>
          <p:cNvPicPr preferRelativeResize="0"/>
          <p:nvPr/>
        </p:nvPicPr>
        <p:blipFill rotWithShape="1">
          <a:blip r:embed="rId6">
            <a:alphaModFix/>
          </a:blip>
          <a:srcRect/>
          <a:stretch/>
        </p:blipFill>
        <p:spPr>
          <a:xfrm>
            <a:off x="3609324" y="4542801"/>
            <a:ext cx="1765796" cy="1275297"/>
          </a:xfrm>
          <a:prstGeom prst="rect">
            <a:avLst/>
          </a:prstGeom>
          <a:noFill/>
          <a:ln>
            <a:noFill/>
          </a:ln>
        </p:spPr>
      </p:pic>
      <p:cxnSp>
        <p:nvCxnSpPr>
          <p:cNvPr id="146" name="Google Shape;146;p11"/>
          <p:cNvCxnSpPr/>
          <p:nvPr/>
        </p:nvCxnSpPr>
        <p:spPr>
          <a:xfrm rot="10800000" flipH="1">
            <a:off x="2446858" y="1721482"/>
            <a:ext cx="1338496" cy="1084583"/>
          </a:xfrm>
          <a:prstGeom prst="straightConnector1">
            <a:avLst/>
          </a:prstGeom>
          <a:noFill/>
          <a:ln w="9525" cap="flat" cmpd="sng">
            <a:solidFill>
              <a:srgbClr val="4A7DBA"/>
            </a:solidFill>
            <a:prstDash val="solid"/>
            <a:round/>
            <a:headEnd type="none" w="sm" len="sm"/>
            <a:tailEnd type="none" w="sm" len="sm"/>
          </a:ln>
        </p:spPr>
      </p:cxnSp>
      <p:cxnSp>
        <p:nvCxnSpPr>
          <p:cNvPr id="147" name="Google Shape;147;p11"/>
          <p:cNvCxnSpPr/>
          <p:nvPr/>
        </p:nvCxnSpPr>
        <p:spPr>
          <a:xfrm rot="10800000" flipH="1">
            <a:off x="2463441" y="1935596"/>
            <a:ext cx="1515695" cy="850008"/>
          </a:xfrm>
          <a:prstGeom prst="straightConnector1">
            <a:avLst/>
          </a:prstGeom>
          <a:noFill/>
          <a:ln w="9525" cap="flat" cmpd="sng">
            <a:solidFill>
              <a:srgbClr val="4A7DBA"/>
            </a:solidFill>
            <a:prstDash val="solid"/>
            <a:round/>
            <a:headEnd type="none" w="sm" len="sm"/>
            <a:tailEnd type="none" w="sm" len="sm"/>
          </a:ln>
        </p:spPr>
      </p:cxnSp>
      <p:cxnSp>
        <p:nvCxnSpPr>
          <p:cNvPr id="148" name="Google Shape;148;p11"/>
          <p:cNvCxnSpPr/>
          <p:nvPr/>
        </p:nvCxnSpPr>
        <p:spPr>
          <a:xfrm rot="10800000" flipH="1">
            <a:off x="2443455" y="2180124"/>
            <a:ext cx="1522194" cy="608809"/>
          </a:xfrm>
          <a:prstGeom prst="straightConnector1">
            <a:avLst/>
          </a:prstGeom>
          <a:noFill/>
          <a:ln w="9525" cap="flat" cmpd="sng">
            <a:solidFill>
              <a:srgbClr val="4A7DBA"/>
            </a:solidFill>
            <a:prstDash val="solid"/>
            <a:round/>
            <a:headEnd type="none" w="sm" len="sm"/>
            <a:tailEnd type="none" w="sm" len="sm"/>
          </a:ln>
        </p:spPr>
      </p:cxnSp>
      <p:cxnSp>
        <p:nvCxnSpPr>
          <p:cNvPr id="149" name="Google Shape;149;p11"/>
          <p:cNvCxnSpPr/>
          <p:nvPr/>
        </p:nvCxnSpPr>
        <p:spPr>
          <a:xfrm rot="10800000" flipH="1">
            <a:off x="2463441" y="2402640"/>
            <a:ext cx="1555628" cy="395713"/>
          </a:xfrm>
          <a:prstGeom prst="straightConnector1">
            <a:avLst/>
          </a:prstGeom>
          <a:noFill/>
          <a:ln w="9525" cap="flat" cmpd="sng">
            <a:solidFill>
              <a:srgbClr val="4A7DBA"/>
            </a:solidFill>
            <a:prstDash val="solid"/>
            <a:round/>
            <a:headEnd type="none" w="sm" len="sm"/>
            <a:tailEnd type="none" w="sm" len="sm"/>
          </a:ln>
        </p:spPr>
      </p:cxnSp>
      <p:cxnSp>
        <p:nvCxnSpPr>
          <p:cNvPr id="150" name="Google Shape;150;p11"/>
          <p:cNvCxnSpPr/>
          <p:nvPr/>
        </p:nvCxnSpPr>
        <p:spPr>
          <a:xfrm rot="10800000" flipH="1">
            <a:off x="2296807" y="3279851"/>
            <a:ext cx="1641724" cy="353212"/>
          </a:xfrm>
          <a:prstGeom prst="straightConnector1">
            <a:avLst/>
          </a:prstGeom>
          <a:noFill/>
          <a:ln w="9525" cap="flat" cmpd="sng">
            <a:solidFill>
              <a:srgbClr val="4A7DBA"/>
            </a:solidFill>
            <a:prstDash val="solid"/>
            <a:round/>
            <a:headEnd type="none" w="sm" len="sm"/>
            <a:tailEnd type="none" w="sm" len="sm"/>
          </a:ln>
        </p:spPr>
      </p:cxnSp>
      <p:cxnSp>
        <p:nvCxnSpPr>
          <p:cNvPr id="151" name="Google Shape;151;p11"/>
          <p:cNvCxnSpPr/>
          <p:nvPr/>
        </p:nvCxnSpPr>
        <p:spPr>
          <a:xfrm rot="10800000" flipH="1">
            <a:off x="2296807" y="3432251"/>
            <a:ext cx="1794124" cy="200812"/>
          </a:xfrm>
          <a:prstGeom prst="straightConnector1">
            <a:avLst/>
          </a:prstGeom>
          <a:noFill/>
          <a:ln w="9525" cap="flat" cmpd="sng">
            <a:solidFill>
              <a:srgbClr val="4A7DBA"/>
            </a:solidFill>
            <a:prstDash val="solid"/>
            <a:round/>
            <a:headEnd type="none" w="sm" len="sm"/>
            <a:tailEnd type="none" w="sm" len="sm"/>
          </a:ln>
        </p:spPr>
      </p:cxnSp>
      <p:cxnSp>
        <p:nvCxnSpPr>
          <p:cNvPr id="152" name="Google Shape;152;p11"/>
          <p:cNvCxnSpPr/>
          <p:nvPr/>
        </p:nvCxnSpPr>
        <p:spPr>
          <a:xfrm>
            <a:off x="2296807" y="3649475"/>
            <a:ext cx="1852605" cy="0"/>
          </a:xfrm>
          <a:prstGeom prst="straightConnector1">
            <a:avLst/>
          </a:prstGeom>
          <a:noFill/>
          <a:ln w="9525" cap="flat" cmpd="sng">
            <a:solidFill>
              <a:srgbClr val="4A7DBA"/>
            </a:solidFill>
            <a:prstDash val="solid"/>
            <a:round/>
            <a:headEnd type="none" w="sm" len="sm"/>
            <a:tailEnd type="none" w="sm" len="sm"/>
          </a:ln>
        </p:spPr>
      </p:cxnSp>
      <p:cxnSp>
        <p:nvCxnSpPr>
          <p:cNvPr id="153" name="Google Shape;153;p11"/>
          <p:cNvCxnSpPr/>
          <p:nvPr/>
        </p:nvCxnSpPr>
        <p:spPr>
          <a:xfrm>
            <a:off x="2259043" y="3641876"/>
            <a:ext cx="1954562" cy="243392"/>
          </a:xfrm>
          <a:prstGeom prst="straightConnector1">
            <a:avLst/>
          </a:prstGeom>
          <a:noFill/>
          <a:ln w="9525" cap="flat" cmpd="sng">
            <a:solidFill>
              <a:srgbClr val="4A7DBA"/>
            </a:solidFill>
            <a:prstDash val="solid"/>
            <a:round/>
            <a:headEnd type="none" w="sm" len="sm"/>
            <a:tailEnd type="none" w="sm" len="sm"/>
          </a:ln>
        </p:spPr>
      </p:cxnSp>
      <p:cxnSp>
        <p:nvCxnSpPr>
          <p:cNvPr id="154" name="Google Shape;154;p11"/>
          <p:cNvCxnSpPr/>
          <p:nvPr/>
        </p:nvCxnSpPr>
        <p:spPr>
          <a:xfrm>
            <a:off x="2855686" y="4711376"/>
            <a:ext cx="1608149" cy="63374"/>
          </a:xfrm>
          <a:prstGeom prst="straightConnector1">
            <a:avLst/>
          </a:prstGeom>
          <a:noFill/>
          <a:ln w="9525" cap="flat" cmpd="sng">
            <a:solidFill>
              <a:srgbClr val="4A7DBA"/>
            </a:solidFill>
            <a:prstDash val="solid"/>
            <a:round/>
            <a:headEnd type="none" w="sm" len="sm"/>
            <a:tailEnd type="none" w="sm" len="sm"/>
          </a:ln>
        </p:spPr>
      </p:cxnSp>
      <p:cxnSp>
        <p:nvCxnSpPr>
          <p:cNvPr id="155" name="Google Shape;155;p11"/>
          <p:cNvCxnSpPr/>
          <p:nvPr/>
        </p:nvCxnSpPr>
        <p:spPr>
          <a:xfrm>
            <a:off x="2855686" y="4711376"/>
            <a:ext cx="1573405" cy="296778"/>
          </a:xfrm>
          <a:prstGeom prst="straightConnector1">
            <a:avLst/>
          </a:prstGeom>
          <a:noFill/>
          <a:ln w="9525" cap="flat" cmpd="sng">
            <a:solidFill>
              <a:srgbClr val="4A7DBA"/>
            </a:solidFill>
            <a:prstDash val="solid"/>
            <a:round/>
            <a:headEnd type="none" w="sm" len="sm"/>
            <a:tailEnd type="none" w="sm" len="sm"/>
          </a:ln>
        </p:spPr>
      </p:cxnSp>
      <p:cxnSp>
        <p:nvCxnSpPr>
          <p:cNvPr id="156" name="Google Shape;156;p11"/>
          <p:cNvCxnSpPr/>
          <p:nvPr/>
        </p:nvCxnSpPr>
        <p:spPr>
          <a:xfrm>
            <a:off x="2882503" y="4743063"/>
            <a:ext cx="1538279" cy="533108"/>
          </a:xfrm>
          <a:prstGeom prst="straightConnector1">
            <a:avLst/>
          </a:prstGeom>
          <a:noFill/>
          <a:ln w="9525" cap="flat" cmpd="sng">
            <a:solidFill>
              <a:srgbClr val="4A7DBA"/>
            </a:solidFill>
            <a:prstDash val="solid"/>
            <a:round/>
            <a:headEnd type="none" w="sm" len="sm"/>
            <a:tailEnd type="none" w="sm" len="sm"/>
          </a:ln>
        </p:spPr>
      </p:cxnSp>
      <p:cxnSp>
        <p:nvCxnSpPr>
          <p:cNvPr id="157" name="Google Shape;157;p11"/>
          <p:cNvCxnSpPr/>
          <p:nvPr/>
        </p:nvCxnSpPr>
        <p:spPr>
          <a:xfrm>
            <a:off x="2826418" y="4699701"/>
            <a:ext cx="1398525" cy="813455"/>
          </a:xfrm>
          <a:prstGeom prst="straightConnector1">
            <a:avLst/>
          </a:prstGeom>
          <a:noFill/>
          <a:ln w="9525" cap="flat" cmpd="sng">
            <a:solidFill>
              <a:srgbClr val="4A7DBA"/>
            </a:solidFill>
            <a:prstDash val="solid"/>
            <a:round/>
            <a:headEnd type="none" w="sm" len="sm"/>
            <a:tailEnd type="none" w="sm" len="sm"/>
          </a:ln>
        </p:spPr>
      </p:cxnSp>
      <p:pic>
        <p:nvPicPr>
          <p:cNvPr id="158" name="Google Shape;158;p11"/>
          <p:cNvPicPr preferRelativeResize="0"/>
          <p:nvPr/>
        </p:nvPicPr>
        <p:blipFill rotWithShape="1">
          <a:blip r:embed="rId7">
            <a:alphaModFix/>
          </a:blip>
          <a:srcRect/>
          <a:stretch/>
        </p:blipFill>
        <p:spPr>
          <a:xfrm>
            <a:off x="9534486" y="921950"/>
            <a:ext cx="2423370" cy="1112616"/>
          </a:xfrm>
          <a:prstGeom prst="rect">
            <a:avLst/>
          </a:prstGeom>
          <a:noFill/>
          <a:ln>
            <a:noFill/>
          </a:ln>
        </p:spPr>
      </p:pic>
      <p:pic>
        <p:nvPicPr>
          <p:cNvPr id="159" name="Google Shape;159;p11"/>
          <p:cNvPicPr preferRelativeResize="0"/>
          <p:nvPr/>
        </p:nvPicPr>
        <p:blipFill rotWithShape="1">
          <a:blip r:embed="rId8">
            <a:alphaModFix/>
          </a:blip>
          <a:srcRect/>
          <a:stretch/>
        </p:blipFill>
        <p:spPr>
          <a:xfrm>
            <a:off x="9156745" y="4014488"/>
            <a:ext cx="2232853" cy="1165961"/>
          </a:xfrm>
          <a:prstGeom prst="rect">
            <a:avLst/>
          </a:prstGeom>
          <a:noFill/>
          <a:ln>
            <a:noFill/>
          </a:ln>
        </p:spPr>
      </p:pic>
      <p:pic>
        <p:nvPicPr>
          <p:cNvPr id="160" name="Google Shape;160;p11"/>
          <p:cNvPicPr preferRelativeResize="0"/>
          <p:nvPr/>
        </p:nvPicPr>
        <p:blipFill rotWithShape="1">
          <a:blip r:embed="rId9">
            <a:alphaModFix/>
          </a:blip>
          <a:srcRect/>
          <a:stretch/>
        </p:blipFill>
        <p:spPr>
          <a:xfrm>
            <a:off x="11397947" y="967169"/>
            <a:ext cx="152413" cy="137172"/>
          </a:xfrm>
          <a:prstGeom prst="rect">
            <a:avLst/>
          </a:prstGeom>
          <a:noFill/>
          <a:ln>
            <a:noFill/>
          </a:ln>
        </p:spPr>
      </p:pic>
      <p:pic>
        <p:nvPicPr>
          <p:cNvPr id="161" name="Google Shape;161;p11"/>
          <p:cNvPicPr preferRelativeResize="0"/>
          <p:nvPr/>
        </p:nvPicPr>
        <p:blipFill rotWithShape="1">
          <a:blip r:embed="rId9">
            <a:alphaModFix/>
          </a:blip>
          <a:srcRect/>
          <a:stretch/>
        </p:blipFill>
        <p:spPr>
          <a:xfrm>
            <a:off x="11147326" y="2825586"/>
            <a:ext cx="186323" cy="167691"/>
          </a:xfrm>
          <a:prstGeom prst="rect">
            <a:avLst/>
          </a:prstGeom>
          <a:noFill/>
          <a:ln>
            <a:noFill/>
          </a:ln>
        </p:spPr>
      </p:pic>
      <p:pic>
        <p:nvPicPr>
          <p:cNvPr id="162" name="Google Shape;162;p11"/>
          <p:cNvPicPr preferRelativeResize="0"/>
          <p:nvPr/>
        </p:nvPicPr>
        <p:blipFill rotWithShape="1">
          <a:blip r:embed="rId9">
            <a:alphaModFix/>
          </a:blip>
          <a:srcRect/>
          <a:stretch/>
        </p:blipFill>
        <p:spPr>
          <a:xfrm>
            <a:off x="11088075" y="4137336"/>
            <a:ext cx="152413" cy="137172"/>
          </a:xfrm>
          <a:prstGeom prst="rect">
            <a:avLst/>
          </a:prstGeom>
          <a:noFill/>
          <a:ln>
            <a:noFill/>
          </a:ln>
        </p:spPr>
      </p:pic>
      <p:pic>
        <p:nvPicPr>
          <p:cNvPr id="163" name="Google Shape;163;p11"/>
          <p:cNvPicPr preferRelativeResize="0"/>
          <p:nvPr/>
        </p:nvPicPr>
        <p:blipFill>
          <a:blip r:embed="rId10">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17</a:t>
            </a:fld>
            <a:endParaRPr lang="fr-F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167"/>
        <p:cNvGrpSpPr/>
        <p:nvPr/>
      </p:nvGrpSpPr>
      <p:grpSpPr>
        <a:xfrm>
          <a:off x="0" y="0"/>
          <a:ext cx="0" cy="0"/>
          <a:chOff x="0" y="0"/>
          <a:chExt cx="0" cy="0"/>
        </a:xfrm>
      </p:grpSpPr>
      <p:pic>
        <p:nvPicPr>
          <p:cNvPr id="168" name="Google Shape;168;p12"/>
          <p:cNvPicPr preferRelativeResize="0"/>
          <p:nvPr/>
        </p:nvPicPr>
        <p:blipFill rotWithShape="1">
          <a:blip r:embed="rId3">
            <a:alphaModFix/>
          </a:blip>
          <a:srcRect/>
          <a:stretch/>
        </p:blipFill>
        <p:spPr>
          <a:xfrm>
            <a:off x="5907316" y="987534"/>
            <a:ext cx="5403048" cy="4503810"/>
          </a:xfrm>
          <a:prstGeom prst="rect">
            <a:avLst/>
          </a:prstGeom>
          <a:noFill/>
          <a:ln>
            <a:noFill/>
          </a:ln>
        </p:spPr>
      </p:pic>
      <p:sp>
        <p:nvSpPr>
          <p:cNvPr id="169" name="Google Shape;169;p12"/>
          <p:cNvSpPr txBox="1">
            <a:spLocks noGrp="1"/>
          </p:cNvSpPr>
          <p:nvPr>
            <p:ph type="title"/>
          </p:nvPr>
        </p:nvSpPr>
        <p:spPr>
          <a:xfrm>
            <a:off x="261620" y="139700"/>
            <a:ext cx="605917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dirty="0">
                <a:latin typeface="+mj-lt"/>
              </a:rPr>
              <a:t>Beam </a:t>
            </a:r>
            <a:r>
              <a:rPr lang="fr-FR" dirty="0" err="1">
                <a:latin typeface="+mj-lt"/>
              </a:rPr>
              <a:t>search</a:t>
            </a:r>
            <a:r>
              <a:rPr lang="fr-FR" dirty="0">
                <a:latin typeface="+mj-lt"/>
              </a:rPr>
              <a:t> </a:t>
            </a:r>
            <a:r>
              <a:rPr lang="fr-FR" dirty="0">
                <a:latin typeface="+mj-lt"/>
                <a:ea typeface="Cambria Math"/>
                <a:cs typeface="Cambria Math"/>
                <a:sym typeface="Cambria Math"/>
              </a:rPr>
              <a:t>(B = 3)</a:t>
            </a:r>
            <a:endParaRPr dirty="0">
              <a:latin typeface="+mj-lt"/>
            </a:endParaRPr>
          </a:p>
        </p:txBody>
      </p:sp>
      <p:sp>
        <p:nvSpPr>
          <p:cNvPr id="170" name="Google Shape;170;p12"/>
          <p:cNvSpPr txBox="1">
            <a:spLocks noGrp="1"/>
          </p:cNvSpPr>
          <p:nvPr>
            <p:ph type="body" idx="1"/>
          </p:nvPr>
        </p:nvSpPr>
        <p:spPr>
          <a:xfrm>
            <a:off x="8581801" y="2016015"/>
            <a:ext cx="6544670" cy="553998"/>
          </a:xfrm>
          <a:prstGeom prst="rect">
            <a:avLst/>
          </a:prstGeom>
          <a:blipFill rotWithShape="1">
            <a:blip r:embed="rId4">
              <a:alphaModFix/>
            </a:blip>
            <a:stretch>
              <a:fillRect l="-2236" t="-14285"/>
            </a:stretch>
          </a:blipFill>
          <a:ln>
            <a:noFill/>
          </a:ln>
        </p:spPr>
        <p:txBody>
          <a:bodyPr spcFirstLastPara="1" wrap="square" lIns="0" tIns="0" rIns="0" bIns="0" anchor="t" anchorCtr="0">
            <a:spAutoFit/>
          </a:bodyPr>
          <a:lstStyle/>
          <a:p>
            <a:pPr marL="0" lvl="0" indent="0" algn="l" rtl="0">
              <a:spcBef>
                <a:spcPts val="0"/>
              </a:spcBef>
              <a:spcAft>
                <a:spcPts val="0"/>
              </a:spcAft>
              <a:buNone/>
            </a:pPr>
            <a:r>
              <a:rPr lang="fr-FR"/>
              <a:t> </a:t>
            </a:r>
            <a:endParaRPr/>
          </a:p>
        </p:txBody>
      </p:sp>
      <p:sp>
        <p:nvSpPr>
          <p:cNvPr id="171" name="Google Shape;171;p12"/>
          <p:cNvSpPr txBox="1"/>
          <p:nvPr/>
        </p:nvSpPr>
        <p:spPr>
          <a:xfrm>
            <a:off x="627555" y="1269872"/>
            <a:ext cx="2167890"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2800" dirty="0">
                <a:latin typeface="+mj-lt"/>
                <a:ea typeface="Cambria"/>
                <a:cs typeface="Cambria"/>
                <a:sym typeface="Cambria"/>
              </a:rPr>
              <a:t>in </a:t>
            </a:r>
            <a:r>
              <a:rPr lang="fr-FR" sz="2800" dirty="0" err="1">
                <a:latin typeface="+mj-lt"/>
                <a:ea typeface="Cambria"/>
                <a:cs typeface="Cambria"/>
                <a:sym typeface="Cambria"/>
              </a:rPr>
              <a:t>september</a:t>
            </a:r>
            <a:endParaRPr sz="2800" dirty="0">
              <a:latin typeface="+mj-lt"/>
              <a:ea typeface="Cambria"/>
              <a:cs typeface="Cambria"/>
              <a:sym typeface="Cambria"/>
            </a:endParaRPr>
          </a:p>
        </p:txBody>
      </p:sp>
      <p:sp>
        <p:nvSpPr>
          <p:cNvPr id="172" name="Google Shape;172;p12"/>
          <p:cNvSpPr txBox="1"/>
          <p:nvPr/>
        </p:nvSpPr>
        <p:spPr>
          <a:xfrm>
            <a:off x="627555" y="3013379"/>
            <a:ext cx="1099820"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2800" dirty="0" err="1">
                <a:latin typeface="+mj-lt"/>
                <a:ea typeface="Cambria"/>
                <a:cs typeface="Cambria"/>
                <a:sym typeface="Cambria"/>
              </a:rPr>
              <a:t>jane</a:t>
            </a:r>
            <a:r>
              <a:rPr lang="fr-FR" sz="2800" dirty="0">
                <a:latin typeface="+mj-lt"/>
                <a:ea typeface="Cambria"/>
                <a:cs typeface="Cambria"/>
                <a:sym typeface="Cambria"/>
              </a:rPr>
              <a:t> </a:t>
            </a:r>
            <a:r>
              <a:rPr lang="fr-FR" sz="2800" dirty="0" err="1">
                <a:latin typeface="+mj-lt"/>
                <a:ea typeface="Cambria"/>
                <a:cs typeface="Cambria"/>
                <a:sym typeface="Cambria"/>
              </a:rPr>
              <a:t>is</a:t>
            </a:r>
            <a:endParaRPr sz="2800" dirty="0">
              <a:latin typeface="+mj-lt"/>
              <a:ea typeface="Cambria"/>
              <a:cs typeface="Cambria"/>
              <a:sym typeface="Cambria"/>
            </a:endParaRPr>
          </a:p>
        </p:txBody>
      </p:sp>
      <p:sp>
        <p:nvSpPr>
          <p:cNvPr id="173" name="Google Shape;173;p12"/>
          <p:cNvSpPr txBox="1"/>
          <p:nvPr/>
        </p:nvSpPr>
        <p:spPr>
          <a:xfrm>
            <a:off x="627555" y="4744796"/>
            <a:ext cx="1706245"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2800" dirty="0" err="1">
                <a:latin typeface="+mj-lt"/>
                <a:ea typeface="Cambria"/>
                <a:cs typeface="Cambria"/>
                <a:sym typeface="Cambria"/>
              </a:rPr>
              <a:t>jane</a:t>
            </a:r>
            <a:r>
              <a:rPr lang="fr-FR" sz="2800" dirty="0">
                <a:latin typeface="+mj-lt"/>
                <a:ea typeface="Cambria"/>
                <a:cs typeface="Cambria"/>
                <a:sym typeface="Cambria"/>
              </a:rPr>
              <a:t> </a:t>
            </a:r>
            <a:r>
              <a:rPr lang="fr-FR" sz="2800" dirty="0" err="1">
                <a:latin typeface="+mj-lt"/>
                <a:ea typeface="Cambria"/>
                <a:cs typeface="Cambria"/>
                <a:sym typeface="Cambria"/>
              </a:rPr>
              <a:t>visits</a:t>
            </a:r>
            <a:endParaRPr sz="2800" dirty="0">
              <a:latin typeface="+mj-lt"/>
              <a:ea typeface="Cambria"/>
              <a:cs typeface="Cambria"/>
              <a:sym typeface="Cambria"/>
            </a:endParaRPr>
          </a:p>
        </p:txBody>
      </p:sp>
      <p:pic>
        <p:nvPicPr>
          <p:cNvPr id="174" name="Google Shape;174;p12"/>
          <p:cNvPicPr preferRelativeResize="0"/>
          <p:nvPr/>
        </p:nvPicPr>
        <p:blipFill rotWithShape="1">
          <a:blip r:embed="rId5">
            <a:alphaModFix/>
          </a:blip>
          <a:srcRect/>
          <a:stretch/>
        </p:blipFill>
        <p:spPr>
          <a:xfrm>
            <a:off x="3116222" y="966376"/>
            <a:ext cx="1603285" cy="1157928"/>
          </a:xfrm>
          <a:prstGeom prst="rect">
            <a:avLst/>
          </a:prstGeom>
          <a:noFill/>
          <a:ln>
            <a:noFill/>
          </a:ln>
        </p:spPr>
      </p:pic>
      <p:pic>
        <p:nvPicPr>
          <p:cNvPr id="175" name="Google Shape;175;p12"/>
          <p:cNvPicPr preferRelativeResize="0"/>
          <p:nvPr/>
        </p:nvPicPr>
        <p:blipFill rotWithShape="1">
          <a:blip r:embed="rId5">
            <a:alphaModFix/>
          </a:blip>
          <a:srcRect/>
          <a:stretch/>
        </p:blipFill>
        <p:spPr>
          <a:xfrm>
            <a:off x="3015703" y="2546916"/>
            <a:ext cx="1603285" cy="1157928"/>
          </a:xfrm>
          <a:prstGeom prst="rect">
            <a:avLst/>
          </a:prstGeom>
          <a:noFill/>
          <a:ln>
            <a:noFill/>
          </a:ln>
        </p:spPr>
      </p:pic>
      <p:pic>
        <p:nvPicPr>
          <p:cNvPr id="176" name="Google Shape;176;p12"/>
          <p:cNvPicPr preferRelativeResize="0"/>
          <p:nvPr/>
        </p:nvPicPr>
        <p:blipFill rotWithShape="1">
          <a:blip r:embed="rId5">
            <a:alphaModFix/>
          </a:blip>
          <a:srcRect/>
          <a:stretch/>
        </p:blipFill>
        <p:spPr>
          <a:xfrm>
            <a:off x="2769059" y="4275307"/>
            <a:ext cx="1603285" cy="1157928"/>
          </a:xfrm>
          <a:prstGeom prst="rect">
            <a:avLst/>
          </a:prstGeom>
          <a:noFill/>
          <a:ln>
            <a:noFill/>
          </a:ln>
        </p:spPr>
      </p:pic>
      <p:pic>
        <p:nvPicPr>
          <p:cNvPr id="177" name="Google Shape;177;p12"/>
          <p:cNvPicPr preferRelativeResize="0"/>
          <p:nvPr/>
        </p:nvPicPr>
        <p:blipFill rotWithShape="1">
          <a:blip r:embed="rId6">
            <a:alphaModFix/>
          </a:blip>
          <a:srcRect/>
          <a:stretch/>
        </p:blipFill>
        <p:spPr>
          <a:xfrm>
            <a:off x="5623437" y="835660"/>
            <a:ext cx="1013548" cy="388654"/>
          </a:xfrm>
          <a:prstGeom prst="rect">
            <a:avLst/>
          </a:prstGeom>
          <a:noFill/>
          <a:ln>
            <a:noFill/>
          </a:ln>
        </p:spPr>
      </p:pic>
      <p:pic>
        <p:nvPicPr>
          <p:cNvPr id="178" name="Google Shape;178;p12"/>
          <p:cNvPicPr preferRelativeResize="0"/>
          <p:nvPr/>
        </p:nvPicPr>
        <p:blipFill rotWithShape="1">
          <a:blip r:embed="rId7">
            <a:alphaModFix/>
          </a:blip>
          <a:srcRect/>
          <a:stretch/>
        </p:blipFill>
        <p:spPr>
          <a:xfrm>
            <a:off x="457200" y="5925556"/>
            <a:ext cx="9190516" cy="815411"/>
          </a:xfrm>
          <a:prstGeom prst="rect">
            <a:avLst/>
          </a:prstGeom>
          <a:noFill/>
          <a:ln>
            <a:noFill/>
          </a:ln>
        </p:spPr>
      </p:pic>
      <p:cxnSp>
        <p:nvCxnSpPr>
          <p:cNvPr id="179" name="Google Shape;179;p12"/>
          <p:cNvCxnSpPr>
            <a:cxnSpLocks/>
          </p:cNvCxnSpPr>
          <p:nvPr/>
        </p:nvCxnSpPr>
        <p:spPr>
          <a:xfrm rot="10800000" flipH="1">
            <a:off x="2795445" y="1224314"/>
            <a:ext cx="1021900" cy="147286"/>
          </a:xfrm>
          <a:prstGeom prst="straightConnector1">
            <a:avLst/>
          </a:prstGeom>
          <a:noFill/>
          <a:ln w="9525" cap="flat" cmpd="sng">
            <a:solidFill>
              <a:srgbClr val="4A7DBA"/>
            </a:solidFill>
            <a:prstDash val="solid"/>
            <a:round/>
            <a:headEnd type="none" w="sm" len="sm"/>
            <a:tailEnd type="triangle" w="med" len="med"/>
          </a:ln>
        </p:spPr>
      </p:cxnSp>
      <p:cxnSp>
        <p:nvCxnSpPr>
          <p:cNvPr id="180" name="Google Shape;180;p12"/>
          <p:cNvCxnSpPr>
            <a:cxnSpLocks/>
          </p:cNvCxnSpPr>
          <p:nvPr/>
        </p:nvCxnSpPr>
        <p:spPr>
          <a:xfrm>
            <a:off x="2795445" y="1371600"/>
            <a:ext cx="1058449" cy="64020"/>
          </a:xfrm>
          <a:prstGeom prst="straightConnector1">
            <a:avLst/>
          </a:prstGeom>
          <a:noFill/>
          <a:ln w="9525" cap="flat" cmpd="sng">
            <a:solidFill>
              <a:srgbClr val="4A7DBA"/>
            </a:solidFill>
            <a:prstDash val="solid"/>
            <a:round/>
            <a:headEnd type="none" w="sm" len="sm"/>
            <a:tailEnd type="triangle" w="med" len="med"/>
          </a:ln>
        </p:spPr>
      </p:cxnSp>
      <p:cxnSp>
        <p:nvCxnSpPr>
          <p:cNvPr id="181" name="Google Shape;181;p12"/>
          <p:cNvCxnSpPr>
            <a:cxnSpLocks/>
          </p:cNvCxnSpPr>
          <p:nvPr/>
        </p:nvCxnSpPr>
        <p:spPr>
          <a:xfrm>
            <a:off x="2795445" y="1362917"/>
            <a:ext cx="775256" cy="269759"/>
          </a:xfrm>
          <a:prstGeom prst="straightConnector1">
            <a:avLst/>
          </a:prstGeom>
          <a:noFill/>
          <a:ln w="9525" cap="flat" cmpd="sng">
            <a:solidFill>
              <a:srgbClr val="4A7DBA"/>
            </a:solidFill>
            <a:prstDash val="solid"/>
            <a:round/>
            <a:headEnd type="none" w="sm" len="sm"/>
            <a:tailEnd type="triangle" w="med" len="med"/>
          </a:ln>
        </p:spPr>
      </p:cxnSp>
      <p:cxnSp>
        <p:nvCxnSpPr>
          <p:cNvPr id="182" name="Google Shape;182;p12"/>
          <p:cNvCxnSpPr>
            <a:cxnSpLocks/>
          </p:cNvCxnSpPr>
          <p:nvPr/>
        </p:nvCxnSpPr>
        <p:spPr>
          <a:xfrm>
            <a:off x="2795445" y="1356372"/>
            <a:ext cx="831727" cy="562198"/>
          </a:xfrm>
          <a:prstGeom prst="straightConnector1">
            <a:avLst/>
          </a:prstGeom>
          <a:noFill/>
          <a:ln w="9525" cap="flat" cmpd="sng">
            <a:solidFill>
              <a:srgbClr val="4A7DBA"/>
            </a:solidFill>
            <a:prstDash val="solid"/>
            <a:round/>
            <a:headEnd type="none" w="sm" len="sm"/>
            <a:tailEnd type="triangle" w="med" len="med"/>
          </a:ln>
        </p:spPr>
      </p:cxnSp>
      <p:cxnSp>
        <p:nvCxnSpPr>
          <p:cNvPr id="183" name="Google Shape;183;p12"/>
          <p:cNvCxnSpPr>
            <a:cxnSpLocks/>
          </p:cNvCxnSpPr>
          <p:nvPr/>
        </p:nvCxnSpPr>
        <p:spPr>
          <a:xfrm rot="10800000" flipH="1">
            <a:off x="2010760" y="2826717"/>
            <a:ext cx="1295635" cy="303298"/>
          </a:xfrm>
          <a:prstGeom prst="straightConnector1">
            <a:avLst/>
          </a:prstGeom>
          <a:noFill/>
          <a:ln w="9525" cap="flat" cmpd="sng">
            <a:solidFill>
              <a:srgbClr val="4A7DBA"/>
            </a:solidFill>
            <a:prstDash val="solid"/>
            <a:round/>
            <a:headEnd type="none" w="sm" len="sm"/>
            <a:tailEnd type="triangle" w="med" len="med"/>
          </a:ln>
        </p:spPr>
      </p:cxnSp>
      <p:cxnSp>
        <p:nvCxnSpPr>
          <p:cNvPr id="184" name="Google Shape;184;p12"/>
          <p:cNvCxnSpPr>
            <a:cxnSpLocks/>
          </p:cNvCxnSpPr>
          <p:nvPr/>
        </p:nvCxnSpPr>
        <p:spPr>
          <a:xfrm rot="10800000" flipH="1">
            <a:off x="2057400" y="3023295"/>
            <a:ext cx="1248995" cy="106720"/>
          </a:xfrm>
          <a:prstGeom prst="straightConnector1">
            <a:avLst/>
          </a:prstGeom>
          <a:noFill/>
          <a:ln w="9525" cap="flat" cmpd="sng">
            <a:solidFill>
              <a:srgbClr val="4A7DBA"/>
            </a:solidFill>
            <a:prstDash val="solid"/>
            <a:round/>
            <a:headEnd type="none" w="sm" len="sm"/>
            <a:tailEnd type="triangle" w="med" len="med"/>
          </a:ln>
        </p:spPr>
      </p:cxnSp>
      <p:cxnSp>
        <p:nvCxnSpPr>
          <p:cNvPr id="185" name="Google Shape;185;p12"/>
          <p:cNvCxnSpPr>
            <a:cxnSpLocks/>
          </p:cNvCxnSpPr>
          <p:nvPr/>
        </p:nvCxnSpPr>
        <p:spPr>
          <a:xfrm>
            <a:off x="2057400" y="3116669"/>
            <a:ext cx="1216606" cy="139646"/>
          </a:xfrm>
          <a:prstGeom prst="straightConnector1">
            <a:avLst/>
          </a:prstGeom>
          <a:noFill/>
          <a:ln w="9525" cap="flat" cmpd="sng">
            <a:solidFill>
              <a:srgbClr val="4A7DBA"/>
            </a:solidFill>
            <a:prstDash val="solid"/>
            <a:round/>
            <a:headEnd type="none" w="sm" len="sm"/>
            <a:tailEnd type="triangle" w="med" len="med"/>
          </a:ln>
        </p:spPr>
      </p:cxnSp>
      <p:cxnSp>
        <p:nvCxnSpPr>
          <p:cNvPr id="186" name="Google Shape;186;p12"/>
          <p:cNvCxnSpPr>
            <a:cxnSpLocks/>
          </p:cNvCxnSpPr>
          <p:nvPr/>
        </p:nvCxnSpPr>
        <p:spPr>
          <a:xfrm>
            <a:off x="2057400" y="3116669"/>
            <a:ext cx="1267269" cy="392377"/>
          </a:xfrm>
          <a:prstGeom prst="straightConnector1">
            <a:avLst/>
          </a:prstGeom>
          <a:noFill/>
          <a:ln w="9525" cap="flat" cmpd="sng">
            <a:solidFill>
              <a:srgbClr val="4A7DBA"/>
            </a:solidFill>
            <a:prstDash val="solid"/>
            <a:round/>
            <a:headEnd type="none" w="sm" len="sm"/>
            <a:tailEnd type="triangle" w="med" len="med"/>
          </a:ln>
        </p:spPr>
      </p:cxnSp>
      <p:cxnSp>
        <p:nvCxnSpPr>
          <p:cNvPr id="187" name="Google Shape;187;p12"/>
          <p:cNvCxnSpPr>
            <a:cxnSpLocks/>
          </p:cNvCxnSpPr>
          <p:nvPr/>
        </p:nvCxnSpPr>
        <p:spPr>
          <a:xfrm rot="10800000" flipH="1">
            <a:off x="2438400" y="4563269"/>
            <a:ext cx="1032285" cy="246300"/>
          </a:xfrm>
          <a:prstGeom prst="straightConnector1">
            <a:avLst/>
          </a:prstGeom>
          <a:noFill/>
          <a:ln w="9525" cap="flat" cmpd="sng">
            <a:solidFill>
              <a:srgbClr val="4A7DBA"/>
            </a:solidFill>
            <a:prstDash val="solid"/>
            <a:round/>
            <a:headEnd type="none" w="sm" len="sm"/>
            <a:tailEnd type="triangle" w="med" len="med"/>
          </a:ln>
        </p:spPr>
      </p:cxnSp>
      <p:cxnSp>
        <p:nvCxnSpPr>
          <p:cNvPr id="188" name="Google Shape;188;p12"/>
          <p:cNvCxnSpPr>
            <a:cxnSpLocks/>
          </p:cNvCxnSpPr>
          <p:nvPr/>
        </p:nvCxnSpPr>
        <p:spPr>
          <a:xfrm rot="10800000" flipH="1">
            <a:off x="2438400" y="4744796"/>
            <a:ext cx="886269" cy="64773"/>
          </a:xfrm>
          <a:prstGeom prst="straightConnector1">
            <a:avLst/>
          </a:prstGeom>
          <a:noFill/>
          <a:ln w="9525" cap="flat" cmpd="sng">
            <a:solidFill>
              <a:srgbClr val="4A7DBA"/>
            </a:solidFill>
            <a:prstDash val="solid"/>
            <a:round/>
            <a:headEnd type="none" w="sm" len="sm"/>
            <a:tailEnd type="triangle" w="med" len="med"/>
          </a:ln>
        </p:spPr>
      </p:cxnSp>
      <p:cxnSp>
        <p:nvCxnSpPr>
          <p:cNvPr id="189" name="Google Shape;189;p12"/>
          <p:cNvCxnSpPr>
            <a:cxnSpLocks/>
          </p:cNvCxnSpPr>
          <p:nvPr/>
        </p:nvCxnSpPr>
        <p:spPr>
          <a:xfrm>
            <a:off x="2438400" y="4820831"/>
            <a:ext cx="744673" cy="150025"/>
          </a:xfrm>
          <a:prstGeom prst="straightConnector1">
            <a:avLst/>
          </a:prstGeom>
          <a:noFill/>
          <a:ln w="9525" cap="flat" cmpd="sng">
            <a:solidFill>
              <a:srgbClr val="4A7DBA"/>
            </a:solidFill>
            <a:prstDash val="solid"/>
            <a:round/>
            <a:headEnd type="none" w="sm" len="sm"/>
            <a:tailEnd type="triangle" w="med" len="med"/>
          </a:ln>
        </p:spPr>
      </p:cxnSp>
      <p:cxnSp>
        <p:nvCxnSpPr>
          <p:cNvPr id="190" name="Google Shape;190;p12"/>
          <p:cNvCxnSpPr>
            <a:cxnSpLocks/>
          </p:cNvCxnSpPr>
          <p:nvPr/>
        </p:nvCxnSpPr>
        <p:spPr>
          <a:xfrm>
            <a:off x="2438400" y="4820831"/>
            <a:ext cx="867995" cy="351508"/>
          </a:xfrm>
          <a:prstGeom prst="straightConnector1">
            <a:avLst/>
          </a:prstGeom>
          <a:noFill/>
          <a:ln w="9525" cap="flat" cmpd="sng">
            <a:solidFill>
              <a:srgbClr val="4A7DBA"/>
            </a:solidFill>
            <a:prstDash val="solid"/>
            <a:round/>
            <a:headEnd type="none" w="sm" len="sm"/>
            <a:tailEnd type="triangle" w="med" len="med"/>
          </a:ln>
        </p:spPr>
      </p:cxnSp>
      <p:pic>
        <p:nvPicPr>
          <p:cNvPr id="191" name="Google Shape;191;p12"/>
          <p:cNvPicPr preferRelativeResize="0"/>
          <p:nvPr/>
        </p:nvPicPr>
        <p:blipFill>
          <a:blip r:embed="rId8">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18</a:t>
            </a:fld>
            <a:endParaRPr lang="fr-F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195"/>
        <p:cNvGrpSpPr/>
        <p:nvPr/>
      </p:nvGrpSpPr>
      <p:grpSpPr>
        <a:xfrm>
          <a:off x="0" y="0"/>
          <a:ext cx="0" cy="0"/>
          <a:chOff x="0" y="0"/>
          <a:chExt cx="0" cy="0"/>
        </a:xfrm>
      </p:grpSpPr>
      <p:sp>
        <p:nvSpPr>
          <p:cNvPr id="196" name="Google Shape;196;p13"/>
          <p:cNvSpPr txBox="1">
            <a:spLocks noGrp="1"/>
          </p:cNvSpPr>
          <p:nvPr>
            <p:ph type="title"/>
          </p:nvPr>
        </p:nvSpPr>
        <p:spPr>
          <a:xfrm>
            <a:off x="5339346" y="791044"/>
            <a:ext cx="6026646" cy="2125182"/>
          </a:xfrm>
          <a:prstGeom prst="rect">
            <a:avLst/>
          </a:prstGeom>
          <a:noFill/>
          <a:ln>
            <a:noFill/>
          </a:ln>
        </p:spPr>
        <p:txBody>
          <a:bodyPr spcFirstLastPara="1" wrap="square" lIns="0" tIns="129525" rIns="0" bIns="0" anchor="t" anchorCtr="0">
            <a:spAutoFit/>
          </a:bodyPr>
          <a:lstStyle/>
          <a:p>
            <a:pPr marL="12700" marR="5080" lvl="0" indent="848994" algn="l" rtl="0">
              <a:lnSpc>
                <a:spcPct val="107575"/>
              </a:lnSpc>
              <a:spcBef>
                <a:spcPts val="0"/>
              </a:spcBef>
              <a:spcAft>
                <a:spcPts val="0"/>
              </a:spcAft>
              <a:buNone/>
            </a:pPr>
            <a:r>
              <a:rPr lang="fr-FR" sz="6000" b="0" dirty="0" err="1">
                <a:latin typeface="+mj-lt"/>
                <a:ea typeface="Calibri"/>
                <a:cs typeface="Calibri"/>
                <a:sym typeface="Calibri"/>
              </a:rPr>
              <a:t>Sequence</a:t>
            </a:r>
            <a:r>
              <a:rPr lang="fr-FR" sz="6000" b="0" dirty="0">
                <a:latin typeface="+mj-lt"/>
                <a:ea typeface="Calibri"/>
                <a:cs typeface="Calibri"/>
                <a:sym typeface="Calibri"/>
              </a:rPr>
              <a:t> to </a:t>
            </a:r>
            <a:r>
              <a:rPr lang="fr-FR" sz="6000" b="0" dirty="0" err="1">
                <a:latin typeface="+mj-lt"/>
                <a:ea typeface="Calibri"/>
                <a:cs typeface="Calibri"/>
                <a:sym typeface="Calibri"/>
              </a:rPr>
              <a:t>sequence</a:t>
            </a:r>
            <a:r>
              <a:rPr lang="fr-FR" sz="6000" b="0" dirty="0">
                <a:latin typeface="+mj-lt"/>
                <a:ea typeface="Calibri"/>
                <a:cs typeface="Calibri"/>
                <a:sym typeface="Calibri"/>
              </a:rPr>
              <a:t> </a:t>
            </a:r>
            <a:r>
              <a:rPr lang="fr-FR" sz="6000" b="0" dirty="0" err="1">
                <a:latin typeface="+mj-lt"/>
                <a:ea typeface="Calibri"/>
                <a:cs typeface="Calibri"/>
                <a:sym typeface="Calibri"/>
              </a:rPr>
              <a:t>models</a:t>
            </a:r>
            <a:endParaRPr sz="6000" dirty="0">
              <a:latin typeface="+mj-lt"/>
              <a:ea typeface="Calibri"/>
              <a:cs typeface="Calibri"/>
              <a:sym typeface="Calibri"/>
            </a:endParaRPr>
          </a:p>
        </p:txBody>
      </p:sp>
      <p:sp>
        <p:nvSpPr>
          <p:cNvPr id="197" name="Google Shape;197;p13"/>
          <p:cNvSpPr txBox="1"/>
          <p:nvPr/>
        </p:nvSpPr>
        <p:spPr>
          <a:xfrm>
            <a:off x="6004858" y="3922392"/>
            <a:ext cx="4695622" cy="2022590"/>
          </a:xfrm>
          <a:prstGeom prst="rect">
            <a:avLst/>
          </a:prstGeom>
          <a:noFill/>
          <a:ln>
            <a:noFill/>
          </a:ln>
        </p:spPr>
        <p:txBody>
          <a:bodyPr spcFirstLastPara="1" wrap="square" lIns="0" tIns="27925" rIns="0" bIns="0" anchor="t" anchorCtr="0">
            <a:spAutoFit/>
          </a:bodyPr>
          <a:lstStyle/>
          <a:p>
            <a:pPr marL="437515" marR="5080" lvl="0" indent="-425450" algn="l" rtl="0">
              <a:lnSpc>
                <a:spcPct val="119696"/>
              </a:lnSpc>
              <a:spcBef>
                <a:spcPts val="0"/>
              </a:spcBef>
              <a:spcAft>
                <a:spcPts val="0"/>
              </a:spcAft>
              <a:buNone/>
            </a:pPr>
            <a:r>
              <a:rPr lang="fr-FR" sz="5400" dirty="0" err="1">
                <a:latin typeface="+mj-lt"/>
                <a:ea typeface="Calibri"/>
                <a:cs typeface="Calibri"/>
                <a:sym typeface="Calibri"/>
              </a:rPr>
              <a:t>Refinements</a:t>
            </a:r>
            <a:r>
              <a:rPr lang="fr-FR" sz="5400" dirty="0">
                <a:latin typeface="+mj-lt"/>
                <a:ea typeface="Calibri"/>
                <a:cs typeface="Calibri"/>
                <a:sym typeface="Calibri"/>
              </a:rPr>
              <a:t> to </a:t>
            </a:r>
            <a:r>
              <a:rPr lang="fr-FR" sz="5400" dirty="0" err="1">
                <a:latin typeface="+mj-lt"/>
                <a:ea typeface="Calibri"/>
                <a:cs typeface="Calibri"/>
                <a:sym typeface="Calibri"/>
              </a:rPr>
              <a:t>beam</a:t>
            </a:r>
            <a:r>
              <a:rPr lang="fr-FR" sz="5400" dirty="0">
                <a:latin typeface="+mj-lt"/>
                <a:ea typeface="Calibri"/>
                <a:cs typeface="Calibri"/>
                <a:sym typeface="Calibri"/>
              </a:rPr>
              <a:t> </a:t>
            </a:r>
            <a:r>
              <a:rPr lang="fr-FR" sz="5400" dirty="0" err="1">
                <a:latin typeface="+mj-lt"/>
                <a:ea typeface="Calibri"/>
                <a:cs typeface="Calibri"/>
                <a:sym typeface="Calibri"/>
              </a:rPr>
              <a:t>search</a:t>
            </a:r>
            <a:endParaRPr sz="5400" dirty="0">
              <a:latin typeface="+mj-lt"/>
              <a:ea typeface="Calibri"/>
              <a:cs typeface="Calibri"/>
              <a:sym typeface="Calibri"/>
            </a:endParaRPr>
          </a:p>
        </p:txBody>
      </p:sp>
      <p:sp>
        <p:nvSpPr>
          <p:cNvPr id="198" name="Google Shape;198;p13"/>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99" name="Google Shape;199;p13"/>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19</a:t>
            </a:fld>
            <a:endParaRPr lang="fr-F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87"/>
        <p:cNvGrpSpPr/>
        <p:nvPr/>
      </p:nvGrpSpPr>
      <p:grpSpPr>
        <a:xfrm>
          <a:off x="0" y="0"/>
          <a:ext cx="0" cy="0"/>
          <a:chOff x="0" y="0"/>
          <a:chExt cx="0" cy="0"/>
        </a:xfrm>
      </p:grpSpPr>
      <p:sp>
        <p:nvSpPr>
          <p:cNvPr id="88" name="Google Shape;88;p7"/>
          <p:cNvSpPr txBox="1">
            <a:spLocks noGrp="1"/>
          </p:cNvSpPr>
          <p:nvPr>
            <p:ph type="title"/>
          </p:nvPr>
        </p:nvSpPr>
        <p:spPr>
          <a:xfrm>
            <a:off x="261620" y="139700"/>
            <a:ext cx="9082405" cy="825354"/>
          </a:xfrm>
          <a:prstGeom prst="rect">
            <a:avLst/>
          </a:prstGeom>
          <a:noFill/>
          <a:ln>
            <a:noFill/>
          </a:ln>
        </p:spPr>
        <p:txBody>
          <a:bodyPr spcFirstLastPara="1" wrap="square" lIns="0" tIns="12700" rIns="0" bIns="0" anchor="t" anchorCtr="0">
            <a:spAutoFit/>
          </a:bodyPr>
          <a:lstStyle/>
          <a:p>
            <a:pPr marL="437515" marR="5080" lvl="0" indent="-425450" algn="l" rtl="0">
              <a:lnSpc>
                <a:spcPct val="119696"/>
              </a:lnSpc>
              <a:spcBef>
                <a:spcPts val="0"/>
              </a:spcBef>
              <a:spcAft>
                <a:spcPts val="0"/>
              </a:spcAft>
              <a:buNone/>
            </a:pPr>
            <a:r>
              <a:rPr lang="fr-FR" sz="4400" dirty="0" err="1">
                <a:latin typeface="+mj-lt"/>
                <a:ea typeface="Calibri"/>
                <a:cs typeface="Calibri"/>
                <a:sym typeface="Calibri"/>
              </a:rPr>
              <a:t>Refinements</a:t>
            </a:r>
            <a:r>
              <a:rPr lang="fr-FR" dirty="0">
                <a:latin typeface="+mj-lt"/>
                <a:ea typeface="Calibri"/>
                <a:cs typeface="Calibri"/>
                <a:sym typeface="Calibri"/>
              </a:rPr>
              <a:t> </a:t>
            </a:r>
            <a:r>
              <a:rPr lang="fr-FR" sz="4400" dirty="0">
                <a:latin typeface="+mj-lt"/>
                <a:ea typeface="Calibri"/>
                <a:cs typeface="Calibri"/>
                <a:sym typeface="Calibri"/>
              </a:rPr>
              <a:t>to </a:t>
            </a:r>
            <a:r>
              <a:rPr lang="fr-FR" sz="4400" dirty="0" err="1">
                <a:latin typeface="+mj-lt"/>
                <a:ea typeface="Calibri"/>
                <a:cs typeface="Calibri"/>
                <a:sym typeface="Calibri"/>
              </a:rPr>
              <a:t>beam</a:t>
            </a:r>
            <a:r>
              <a:rPr lang="fr-FR" sz="4400" dirty="0">
                <a:latin typeface="+mj-lt"/>
                <a:ea typeface="Calibri"/>
                <a:cs typeface="Calibri"/>
                <a:sym typeface="Calibri"/>
              </a:rPr>
              <a:t> </a:t>
            </a:r>
            <a:r>
              <a:rPr lang="fr-FR" sz="4400" dirty="0" err="1">
                <a:latin typeface="+mj-lt"/>
                <a:ea typeface="Calibri"/>
                <a:cs typeface="Calibri"/>
                <a:sym typeface="Calibri"/>
              </a:rPr>
              <a:t>search</a:t>
            </a:r>
            <a:endParaRPr lang="fr-FR" sz="4400" dirty="0">
              <a:latin typeface="+mj-lt"/>
              <a:ea typeface="Calibri"/>
              <a:cs typeface="Calibri"/>
              <a:sym typeface="Calibri"/>
            </a:endParaRPr>
          </a:p>
        </p:txBody>
      </p:sp>
      <p:pic>
        <p:nvPicPr>
          <p:cNvPr id="97" name="Google Shape;97;p7"/>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1E565E91-141B-F8D7-BBA2-ED443A7979E8}"/>
              </a:ext>
            </a:extLst>
          </p:cNvPr>
          <p:cNvSpPr txBox="1"/>
          <p:nvPr/>
        </p:nvSpPr>
        <p:spPr>
          <a:xfrm>
            <a:off x="261620" y="965054"/>
            <a:ext cx="11668760" cy="5262979"/>
          </a:xfrm>
          <a:prstGeom prst="rect">
            <a:avLst/>
          </a:prstGeom>
          <a:noFill/>
        </p:spPr>
        <p:txBody>
          <a:bodyPr wrap="square" rtlCol="0">
            <a:spAutoFit/>
          </a:bodyPr>
          <a:lstStyle/>
          <a:p>
            <a:r>
              <a:rPr lang="en-US" sz="2400" dirty="0" smtClean="0"/>
              <a:t>Two modifications </a:t>
            </a:r>
            <a:r>
              <a:rPr lang="en-US" sz="2400" dirty="0"/>
              <a:t>to the beam search algorithm used for machine translation: length normalization and normalizing the objective by the number of words in the translation. </a:t>
            </a:r>
            <a:endParaRPr lang="en-US" sz="2400" dirty="0" smtClean="0"/>
          </a:p>
          <a:p>
            <a:pPr marL="342900" indent="-342900">
              <a:buFont typeface="Arial" panose="020B0604020202020204" pitchFamily="34" charset="0"/>
              <a:buChar char="•"/>
            </a:pPr>
            <a:r>
              <a:rPr lang="en-US" sz="2400" dirty="0" smtClean="0"/>
              <a:t>Length </a:t>
            </a:r>
            <a:r>
              <a:rPr lang="en-US" sz="2400" dirty="0"/>
              <a:t>normalization involves maximizing the sum of logarithms of probabilities instead of maximizing the product of probabilities. </a:t>
            </a:r>
            <a:endParaRPr lang="en-US" sz="2400" dirty="0" smtClean="0"/>
          </a:p>
          <a:p>
            <a:pPr marL="342900" indent="-342900">
              <a:buFont typeface="Arial" panose="020B0604020202020204" pitchFamily="34" charset="0"/>
              <a:buChar char="•"/>
            </a:pPr>
            <a:r>
              <a:rPr lang="en-US" sz="2400" dirty="0" smtClean="0"/>
              <a:t>The </a:t>
            </a:r>
            <a:r>
              <a:rPr lang="en-US" sz="2400" dirty="0"/>
              <a:t>second modification uses a heuristic formula that reduces the penalty for longer translations while still providing some normalization. The algorithm keeps track of the top three possibilities for each possible sentence length up to the maximum length considered, and the translation with the highest value on the normalized log-likelihood objective is selected. </a:t>
            </a:r>
            <a:endParaRPr lang="en-US" sz="2400" dirty="0" smtClean="0"/>
          </a:p>
          <a:p>
            <a:pPr marL="342900" indent="-342900">
              <a:buFont typeface="Arial" panose="020B0604020202020204" pitchFamily="34" charset="0"/>
              <a:buChar char="•"/>
            </a:pPr>
            <a:r>
              <a:rPr lang="en-US" sz="2400" dirty="0" smtClean="0"/>
              <a:t>Trying </a:t>
            </a:r>
            <a:r>
              <a:rPr lang="en-US" sz="2400" dirty="0"/>
              <a:t>different beam widths can help find the best value for a given task. </a:t>
            </a:r>
            <a:endParaRPr lang="en-US" sz="2400" dirty="0" smtClean="0"/>
          </a:p>
          <a:p>
            <a:pPr marL="342900" indent="-342900">
              <a:buFont typeface="Arial" panose="020B0604020202020204" pitchFamily="34" charset="0"/>
              <a:buChar char="•"/>
            </a:pPr>
            <a:r>
              <a:rPr lang="en-US" sz="2400" dirty="0" smtClean="0"/>
              <a:t>While </a:t>
            </a:r>
            <a:r>
              <a:rPr lang="en-US" sz="2400" dirty="0"/>
              <a:t>beam search is faster, it is not guaranteed to find the exact maximum compared to exact search algorithms like PAFs Breakfast or DFS DEFA search, and the next section will cover error analysis on beam search.</a:t>
            </a:r>
            <a:endParaRPr lang="en-GB" sz="24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20</a:t>
            </a:fld>
            <a:endParaRPr lang="fr-FR"/>
          </a:p>
        </p:txBody>
      </p:sp>
    </p:spTree>
    <p:extLst>
      <p:ext uri="{BB962C8B-B14F-4D97-AF65-F5344CB8AC3E}">
        <p14:creationId xmlns:p14="http://schemas.microsoft.com/office/powerpoint/2010/main" val="6216339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3"/>
        <p:cNvGrpSpPr/>
        <p:nvPr/>
      </p:nvGrpSpPr>
      <p:grpSpPr>
        <a:xfrm>
          <a:off x="0" y="0"/>
          <a:ext cx="0" cy="0"/>
          <a:chOff x="0" y="0"/>
          <a:chExt cx="0" cy="0"/>
        </a:xfrm>
      </p:grpSpPr>
      <p:pic>
        <p:nvPicPr>
          <p:cNvPr id="204" name="Google Shape;204;p14" descr="Diagram, text, letter&#10;&#10;Description automatically generated"/>
          <p:cNvPicPr preferRelativeResize="0"/>
          <p:nvPr/>
        </p:nvPicPr>
        <p:blipFill rotWithShape="1">
          <a:blip r:embed="rId3">
            <a:alphaModFix/>
          </a:blip>
          <a:srcRect/>
          <a:stretch/>
        </p:blipFill>
        <p:spPr>
          <a:xfrm>
            <a:off x="-19665" y="0"/>
            <a:ext cx="9666615" cy="6718300"/>
          </a:xfrm>
          <a:prstGeom prst="rect">
            <a:avLst/>
          </a:prstGeom>
          <a:noFill/>
          <a:ln>
            <a:noFill/>
          </a:ln>
        </p:spPr>
      </p:pic>
      <p:sp>
        <p:nvSpPr>
          <p:cNvPr id="205" name="Google Shape;205;p14"/>
          <p:cNvSpPr txBox="1"/>
          <p:nvPr/>
        </p:nvSpPr>
        <p:spPr>
          <a:xfrm>
            <a:off x="6248400" y="2438400"/>
            <a:ext cx="6096000" cy="646331"/>
          </a:xfrm>
          <a:prstGeom prst="rect">
            <a:avLst/>
          </a:prstGeom>
          <a:blipFill rotWithShape="1">
            <a:blip r:embed="rId4">
              <a:alphaModFix/>
            </a:blip>
            <a:stretch>
              <a:fillRect l="-799" t="-4716" b="-14149"/>
            </a:stretch>
          </a:blip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sz="1800"/>
              <a:t> </a:t>
            </a:r>
            <a:endParaRPr/>
          </a:p>
        </p:txBody>
      </p:sp>
      <p:pic>
        <p:nvPicPr>
          <p:cNvPr id="206" name="Google Shape;206;p14"/>
          <p:cNvPicPr preferRelativeResize="0"/>
          <p:nvPr/>
        </p:nvPicPr>
        <p:blipFill>
          <a:blip r:embed="rId5">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21</a:t>
            </a:fld>
            <a:endParaRPr lang="fr-F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210"/>
        <p:cNvGrpSpPr/>
        <p:nvPr/>
      </p:nvGrpSpPr>
      <p:grpSpPr>
        <a:xfrm>
          <a:off x="0" y="0"/>
          <a:ext cx="0" cy="0"/>
          <a:chOff x="0" y="0"/>
          <a:chExt cx="0" cy="0"/>
        </a:xfrm>
      </p:grpSpPr>
      <p:sp>
        <p:nvSpPr>
          <p:cNvPr id="211" name="Google Shape;211;p15"/>
          <p:cNvSpPr txBox="1">
            <a:spLocks noGrp="1"/>
          </p:cNvSpPr>
          <p:nvPr>
            <p:ph type="title"/>
          </p:nvPr>
        </p:nvSpPr>
        <p:spPr>
          <a:xfrm>
            <a:off x="261620" y="139700"/>
            <a:ext cx="7099300"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dirty="0">
                <a:latin typeface="+mj-lt"/>
              </a:rPr>
              <a:t>Beam </a:t>
            </a:r>
            <a:r>
              <a:rPr lang="fr-FR" dirty="0" err="1">
                <a:latin typeface="+mj-lt"/>
              </a:rPr>
              <a:t>search</a:t>
            </a:r>
            <a:r>
              <a:rPr lang="fr-FR" dirty="0">
                <a:latin typeface="+mj-lt"/>
              </a:rPr>
              <a:t> discussion</a:t>
            </a:r>
            <a:endParaRPr dirty="0">
              <a:latin typeface="+mj-lt"/>
            </a:endParaRPr>
          </a:p>
        </p:txBody>
      </p:sp>
      <p:sp>
        <p:nvSpPr>
          <p:cNvPr id="212" name="Google Shape;212;p15"/>
          <p:cNvSpPr txBox="1">
            <a:spLocks noGrp="1"/>
          </p:cNvSpPr>
          <p:nvPr>
            <p:ph type="body" idx="1"/>
          </p:nvPr>
        </p:nvSpPr>
        <p:spPr>
          <a:xfrm>
            <a:off x="1318602" y="2104097"/>
            <a:ext cx="5930175" cy="830997"/>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fr-FR" dirty="0">
                <a:latin typeface="+mj-lt"/>
              </a:rPr>
              <a:t>1 &gt; 3 &gt; 10 ,                  100 ,            1000 ,           &gt; 3000</a:t>
            </a:r>
            <a:endParaRPr dirty="0">
              <a:latin typeface="+mj-lt"/>
            </a:endParaRPr>
          </a:p>
          <a:p>
            <a:pPr marL="0" lvl="0" indent="0" algn="l" rtl="0">
              <a:spcBef>
                <a:spcPts val="0"/>
              </a:spcBef>
              <a:spcAft>
                <a:spcPts val="0"/>
              </a:spcAft>
              <a:buNone/>
            </a:pPr>
            <a:r>
              <a:rPr lang="fr-FR" dirty="0">
                <a:latin typeface="+mj-lt"/>
              </a:rPr>
              <a:t>Large B : </a:t>
            </a:r>
            <a:r>
              <a:rPr lang="fr-FR" dirty="0" err="1">
                <a:latin typeface="+mj-lt"/>
              </a:rPr>
              <a:t>better</a:t>
            </a:r>
            <a:r>
              <a:rPr lang="fr-FR" dirty="0">
                <a:latin typeface="+mj-lt"/>
              </a:rPr>
              <a:t> </a:t>
            </a:r>
            <a:r>
              <a:rPr lang="fr-FR" dirty="0" err="1">
                <a:latin typeface="+mj-lt"/>
              </a:rPr>
              <a:t>result</a:t>
            </a:r>
            <a:r>
              <a:rPr lang="fr-FR" dirty="0">
                <a:latin typeface="+mj-lt"/>
              </a:rPr>
              <a:t> , </a:t>
            </a:r>
            <a:r>
              <a:rPr lang="fr-FR" dirty="0" err="1">
                <a:latin typeface="+mj-lt"/>
              </a:rPr>
              <a:t>slower</a:t>
            </a:r>
            <a:r>
              <a:rPr lang="fr-FR" dirty="0">
                <a:latin typeface="+mj-lt"/>
              </a:rPr>
              <a:t> </a:t>
            </a:r>
            <a:endParaRPr dirty="0">
              <a:latin typeface="+mj-lt"/>
            </a:endParaRPr>
          </a:p>
          <a:p>
            <a:pPr marL="0" lvl="0" indent="0" algn="l" rtl="0">
              <a:spcBef>
                <a:spcPts val="0"/>
              </a:spcBef>
              <a:spcAft>
                <a:spcPts val="0"/>
              </a:spcAft>
              <a:buNone/>
            </a:pPr>
            <a:r>
              <a:rPr lang="fr-FR" dirty="0">
                <a:latin typeface="+mj-lt"/>
              </a:rPr>
              <a:t>Small B : </a:t>
            </a:r>
            <a:r>
              <a:rPr lang="fr-FR" dirty="0" err="1">
                <a:latin typeface="+mj-lt"/>
              </a:rPr>
              <a:t>worse</a:t>
            </a:r>
            <a:r>
              <a:rPr lang="fr-FR" dirty="0">
                <a:latin typeface="+mj-lt"/>
              </a:rPr>
              <a:t> </a:t>
            </a:r>
            <a:r>
              <a:rPr lang="fr-FR" dirty="0" err="1">
                <a:latin typeface="+mj-lt"/>
              </a:rPr>
              <a:t>result</a:t>
            </a:r>
            <a:r>
              <a:rPr lang="fr-FR" dirty="0">
                <a:latin typeface="+mj-lt"/>
              </a:rPr>
              <a:t> , </a:t>
            </a:r>
            <a:r>
              <a:rPr lang="fr-FR" dirty="0" err="1">
                <a:latin typeface="+mj-lt"/>
              </a:rPr>
              <a:t>faster</a:t>
            </a:r>
            <a:r>
              <a:rPr lang="fr-FR" dirty="0">
                <a:latin typeface="+mj-lt"/>
              </a:rPr>
              <a:t>             </a:t>
            </a:r>
            <a:endParaRPr dirty="0">
              <a:latin typeface="+mj-lt"/>
            </a:endParaRPr>
          </a:p>
        </p:txBody>
      </p:sp>
      <p:sp>
        <p:nvSpPr>
          <p:cNvPr id="213" name="Google Shape;213;p15"/>
          <p:cNvSpPr txBox="1"/>
          <p:nvPr/>
        </p:nvSpPr>
        <p:spPr>
          <a:xfrm>
            <a:off x="1318602" y="1541462"/>
            <a:ext cx="2536190"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2800">
                <a:latin typeface="+mj-lt"/>
                <a:ea typeface="Cambria"/>
                <a:cs typeface="Cambria"/>
                <a:sym typeface="Cambria"/>
              </a:rPr>
              <a:t>Beam width B?</a:t>
            </a:r>
            <a:endParaRPr sz="2800">
              <a:latin typeface="+mj-lt"/>
              <a:ea typeface="Cambria"/>
              <a:cs typeface="Cambria"/>
              <a:sym typeface="Cambria"/>
            </a:endParaRPr>
          </a:p>
        </p:txBody>
      </p:sp>
      <p:sp>
        <p:nvSpPr>
          <p:cNvPr id="214" name="Google Shape;214;p15"/>
          <p:cNvSpPr txBox="1"/>
          <p:nvPr/>
        </p:nvSpPr>
        <p:spPr>
          <a:xfrm>
            <a:off x="598512" y="3971988"/>
            <a:ext cx="10953750" cy="1872672"/>
          </a:xfrm>
          <a:prstGeom prst="rect">
            <a:avLst/>
          </a:prstGeom>
          <a:noFill/>
          <a:ln>
            <a:noFill/>
          </a:ln>
        </p:spPr>
        <p:txBody>
          <a:bodyPr spcFirstLastPara="1" wrap="square" lIns="0" tIns="33000" rIns="0" bIns="0" anchor="t" anchorCtr="0">
            <a:spAutoFit/>
          </a:bodyPr>
          <a:lstStyle/>
          <a:p>
            <a:pPr marL="12700" marR="5080" lvl="0" indent="0" algn="l" rtl="0">
              <a:lnSpc>
                <a:spcPct val="117857"/>
              </a:lnSpc>
              <a:spcBef>
                <a:spcPts val="0"/>
              </a:spcBef>
              <a:spcAft>
                <a:spcPts val="0"/>
              </a:spcAft>
              <a:buNone/>
            </a:pPr>
            <a:r>
              <a:rPr lang="fr-FR" sz="2800">
                <a:latin typeface="+mj-lt"/>
                <a:ea typeface="Cambria"/>
                <a:cs typeface="Cambria"/>
                <a:sym typeface="Cambria"/>
              </a:rPr>
              <a:t>Unlike exact search algorithms like BFS (Breadth First Search) or DFS (Depth First Search), Beam Search runs faster but is not guaranteed to find exact maximum for </a:t>
            </a:r>
            <a:r>
              <a:rPr lang="fr-FR" sz="2800">
                <a:latin typeface="+mj-lt"/>
                <a:ea typeface="Cambria Math"/>
                <a:cs typeface="Cambria Math"/>
                <a:sym typeface="Cambria Math"/>
              </a:rPr>
              <a:t>arg max )P(y|x)</a:t>
            </a:r>
            <a:r>
              <a:rPr lang="fr-FR" sz="2800">
                <a:latin typeface="+mj-lt"/>
                <a:ea typeface="Cambria"/>
                <a:cs typeface="Cambria"/>
                <a:sym typeface="Cambria"/>
              </a:rPr>
              <a:t>.</a:t>
            </a:r>
            <a:endParaRPr sz="2800">
              <a:latin typeface="+mj-lt"/>
              <a:ea typeface="Cambria"/>
              <a:cs typeface="Cambria"/>
              <a:sym typeface="Cambria"/>
            </a:endParaRPr>
          </a:p>
          <a:p>
            <a:pPr marL="7296150" lvl="0" indent="0" algn="l" rtl="0">
              <a:lnSpc>
                <a:spcPct val="102250"/>
              </a:lnSpc>
              <a:spcBef>
                <a:spcPts val="0"/>
              </a:spcBef>
              <a:spcAft>
                <a:spcPts val="0"/>
              </a:spcAft>
              <a:buNone/>
            </a:pPr>
            <a:r>
              <a:rPr lang="fr-FR" sz="2000">
                <a:latin typeface="+mj-lt"/>
                <a:ea typeface="Cambria Math"/>
                <a:cs typeface="Cambria Math"/>
                <a:sym typeface="Cambria Math"/>
              </a:rPr>
              <a:t>'</a:t>
            </a:r>
            <a:endParaRPr sz="2000">
              <a:latin typeface="+mj-lt"/>
              <a:ea typeface="Cambria Math"/>
              <a:cs typeface="Cambria Math"/>
              <a:sym typeface="Cambria Math"/>
            </a:endParaRPr>
          </a:p>
        </p:txBody>
      </p:sp>
      <p:pic>
        <p:nvPicPr>
          <p:cNvPr id="215" name="Google Shape;215;p1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22</a:t>
            </a:fld>
            <a:endParaRPr lang="fr-F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219"/>
        <p:cNvGrpSpPr/>
        <p:nvPr/>
      </p:nvGrpSpPr>
      <p:grpSpPr>
        <a:xfrm>
          <a:off x="0" y="0"/>
          <a:ext cx="0" cy="0"/>
          <a:chOff x="0" y="0"/>
          <a:chExt cx="0" cy="0"/>
        </a:xfrm>
      </p:grpSpPr>
      <p:sp>
        <p:nvSpPr>
          <p:cNvPr id="220" name="Google Shape;220;p16"/>
          <p:cNvSpPr txBox="1">
            <a:spLocks noGrp="1"/>
          </p:cNvSpPr>
          <p:nvPr>
            <p:ph type="title"/>
          </p:nvPr>
        </p:nvSpPr>
        <p:spPr>
          <a:xfrm>
            <a:off x="5339346" y="791044"/>
            <a:ext cx="6008358" cy="2125182"/>
          </a:xfrm>
          <a:prstGeom prst="rect">
            <a:avLst/>
          </a:prstGeom>
          <a:noFill/>
          <a:ln>
            <a:noFill/>
          </a:ln>
        </p:spPr>
        <p:txBody>
          <a:bodyPr spcFirstLastPara="1" wrap="square" lIns="0" tIns="129525" rIns="0" bIns="0" anchor="t" anchorCtr="0">
            <a:spAutoFit/>
          </a:bodyPr>
          <a:lstStyle/>
          <a:p>
            <a:pPr marL="12700" marR="5080" lvl="0" indent="848994" algn="l" rtl="0">
              <a:lnSpc>
                <a:spcPct val="107575"/>
              </a:lnSpc>
              <a:spcBef>
                <a:spcPts val="0"/>
              </a:spcBef>
              <a:spcAft>
                <a:spcPts val="0"/>
              </a:spcAft>
              <a:buNone/>
            </a:pPr>
            <a:r>
              <a:rPr lang="fr-FR" sz="6000" b="0" dirty="0" err="1">
                <a:latin typeface="+mj-lt"/>
                <a:ea typeface="Calibri"/>
                <a:cs typeface="Calibri"/>
                <a:sym typeface="Calibri"/>
              </a:rPr>
              <a:t>Sequence</a:t>
            </a:r>
            <a:r>
              <a:rPr lang="fr-FR" sz="6000" b="0" dirty="0">
                <a:latin typeface="+mj-lt"/>
                <a:ea typeface="Calibri"/>
                <a:cs typeface="Calibri"/>
                <a:sym typeface="Calibri"/>
              </a:rPr>
              <a:t> to </a:t>
            </a:r>
            <a:r>
              <a:rPr lang="fr-FR" sz="6000" b="0" dirty="0" err="1">
                <a:latin typeface="+mj-lt"/>
                <a:ea typeface="Calibri"/>
                <a:cs typeface="Calibri"/>
                <a:sym typeface="Calibri"/>
              </a:rPr>
              <a:t>sequence</a:t>
            </a:r>
            <a:r>
              <a:rPr lang="fr-FR" sz="6000" b="0" dirty="0">
                <a:latin typeface="+mj-lt"/>
                <a:ea typeface="Calibri"/>
                <a:cs typeface="Calibri"/>
                <a:sym typeface="Calibri"/>
              </a:rPr>
              <a:t> </a:t>
            </a:r>
            <a:r>
              <a:rPr lang="fr-FR" sz="6000" b="0" dirty="0" err="1">
                <a:latin typeface="+mj-lt"/>
                <a:ea typeface="Calibri"/>
                <a:cs typeface="Calibri"/>
                <a:sym typeface="Calibri"/>
              </a:rPr>
              <a:t>models</a:t>
            </a:r>
            <a:endParaRPr sz="6000" dirty="0">
              <a:latin typeface="+mj-lt"/>
              <a:ea typeface="Calibri"/>
              <a:cs typeface="Calibri"/>
              <a:sym typeface="Calibri"/>
            </a:endParaRPr>
          </a:p>
        </p:txBody>
      </p:sp>
      <p:sp>
        <p:nvSpPr>
          <p:cNvPr id="221" name="Google Shape;221;p16"/>
          <p:cNvSpPr txBox="1"/>
          <p:nvPr/>
        </p:nvSpPr>
        <p:spPr>
          <a:xfrm>
            <a:off x="5725953" y="3922392"/>
            <a:ext cx="5235144" cy="2022590"/>
          </a:xfrm>
          <a:prstGeom prst="rect">
            <a:avLst/>
          </a:prstGeom>
          <a:noFill/>
          <a:ln>
            <a:noFill/>
          </a:ln>
        </p:spPr>
        <p:txBody>
          <a:bodyPr spcFirstLastPara="1" wrap="square" lIns="0" tIns="27925" rIns="0" bIns="0" anchor="t" anchorCtr="0">
            <a:spAutoFit/>
          </a:bodyPr>
          <a:lstStyle/>
          <a:p>
            <a:pPr marL="657225" marR="5080" lvl="0" indent="-645160" algn="l" rtl="0">
              <a:lnSpc>
                <a:spcPct val="119696"/>
              </a:lnSpc>
              <a:spcBef>
                <a:spcPts val="0"/>
              </a:spcBef>
              <a:spcAft>
                <a:spcPts val="0"/>
              </a:spcAft>
              <a:buNone/>
            </a:pPr>
            <a:r>
              <a:rPr lang="fr-FR" sz="5400" dirty="0" err="1">
                <a:latin typeface="+mj-lt"/>
                <a:ea typeface="Calibri"/>
                <a:cs typeface="Calibri"/>
                <a:sym typeface="Calibri"/>
              </a:rPr>
              <a:t>Error</a:t>
            </a:r>
            <a:r>
              <a:rPr lang="fr-FR" sz="5400" dirty="0">
                <a:latin typeface="+mj-lt"/>
                <a:ea typeface="Calibri"/>
                <a:cs typeface="Calibri"/>
                <a:sym typeface="Calibri"/>
              </a:rPr>
              <a:t> </a:t>
            </a:r>
            <a:r>
              <a:rPr lang="fr-FR" sz="5400" dirty="0" err="1">
                <a:latin typeface="+mj-lt"/>
                <a:ea typeface="Calibri"/>
                <a:cs typeface="Calibri"/>
                <a:sym typeface="Calibri"/>
              </a:rPr>
              <a:t>analysis</a:t>
            </a:r>
            <a:r>
              <a:rPr lang="fr-FR" sz="5400" dirty="0">
                <a:latin typeface="+mj-lt"/>
                <a:ea typeface="Calibri"/>
                <a:cs typeface="Calibri"/>
                <a:sym typeface="Calibri"/>
              </a:rPr>
              <a:t> on </a:t>
            </a:r>
            <a:r>
              <a:rPr lang="fr-FR" sz="5400" dirty="0" err="1">
                <a:latin typeface="+mj-lt"/>
                <a:ea typeface="Calibri"/>
                <a:cs typeface="Calibri"/>
                <a:sym typeface="Calibri"/>
              </a:rPr>
              <a:t>beam</a:t>
            </a:r>
            <a:r>
              <a:rPr lang="fr-FR" sz="5400" dirty="0">
                <a:latin typeface="+mj-lt"/>
                <a:ea typeface="Calibri"/>
                <a:cs typeface="Calibri"/>
                <a:sym typeface="Calibri"/>
              </a:rPr>
              <a:t> </a:t>
            </a:r>
            <a:r>
              <a:rPr lang="fr-FR" sz="5400" dirty="0" err="1">
                <a:latin typeface="+mj-lt"/>
                <a:ea typeface="Calibri"/>
                <a:cs typeface="Calibri"/>
                <a:sym typeface="Calibri"/>
              </a:rPr>
              <a:t>search</a:t>
            </a:r>
            <a:endParaRPr sz="5400" dirty="0">
              <a:latin typeface="+mj-lt"/>
              <a:ea typeface="Calibri"/>
              <a:cs typeface="Calibri"/>
              <a:sym typeface="Calibri"/>
            </a:endParaRPr>
          </a:p>
        </p:txBody>
      </p:sp>
      <p:sp>
        <p:nvSpPr>
          <p:cNvPr id="222" name="Google Shape;222;p16"/>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23" name="Google Shape;223;p16"/>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23</a:t>
            </a:fld>
            <a:endParaRPr lang="fr-F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87"/>
        <p:cNvGrpSpPr/>
        <p:nvPr/>
      </p:nvGrpSpPr>
      <p:grpSpPr>
        <a:xfrm>
          <a:off x="0" y="0"/>
          <a:ext cx="0" cy="0"/>
          <a:chOff x="0" y="0"/>
          <a:chExt cx="0" cy="0"/>
        </a:xfrm>
      </p:grpSpPr>
      <p:sp>
        <p:nvSpPr>
          <p:cNvPr id="88" name="Google Shape;88;p7"/>
          <p:cNvSpPr txBox="1">
            <a:spLocks noGrp="1"/>
          </p:cNvSpPr>
          <p:nvPr>
            <p:ph type="title"/>
          </p:nvPr>
        </p:nvSpPr>
        <p:spPr>
          <a:xfrm>
            <a:off x="261620" y="139700"/>
            <a:ext cx="9082405" cy="825354"/>
          </a:xfrm>
          <a:prstGeom prst="rect">
            <a:avLst/>
          </a:prstGeom>
          <a:noFill/>
          <a:ln>
            <a:noFill/>
          </a:ln>
        </p:spPr>
        <p:txBody>
          <a:bodyPr spcFirstLastPara="1" wrap="square" lIns="0" tIns="12700" rIns="0" bIns="0" anchor="t" anchorCtr="0">
            <a:spAutoFit/>
          </a:bodyPr>
          <a:lstStyle/>
          <a:p>
            <a:pPr marL="657225" marR="5080" lvl="0" indent="-645160" algn="l" rtl="0">
              <a:lnSpc>
                <a:spcPct val="119696"/>
              </a:lnSpc>
              <a:spcBef>
                <a:spcPts val="0"/>
              </a:spcBef>
              <a:spcAft>
                <a:spcPts val="0"/>
              </a:spcAft>
              <a:buNone/>
            </a:pPr>
            <a:r>
              <a:rPr lang="en-GB" sz="4400" dirty="0">
                <a:latin typeface="+mj-lt"/>
                <a:ea typeface="Calibri"/>
                <a:cs typeface="Calibri"/>
                <a:sym typeface="Calibri"/>
              </a:rPr>
              <a:t>Error analysis on beam search</a:t>
            </a:r>
          </a:p>
        </p:txBody>
      </p:sp>
      <p:pic>
        <p:nvPicPr>
          <p:cNvPr id="97" name="Google Shape;97;p7"/>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1E565E91-141B-F8D7-BBA2-ED443A7979E8}"/>
              </a:ext>
            </a:extLst>
          </p:cNvPr>
          <p:cNvSpPr txBox="1"/>
          <p:nvPr/>
        </p:nvSpPr>
        <p:spPr>
          <a:xfrm>
            <a:off x="261620" y="1318622"/>
            <a:ext cx="11668760" cy="4154984"/>
          </a:xfrm>
          <a:prstGeom prst="rect">
            <a:avLst/>
          </a:prstGeom>
          <a:noFill/>
        </p:spPr>
        <p:txBody>
          <a:bodyPr wrap="square" rtlCol="0">
            <a:spAutoFit/>
          </a:bodyPr>
          <a:lstStyle/>
          <a:p>
            <a:r>
              <a:rPr lang="en-US" sz="2400" dirty="0"/>
              <a:t>H</a:t>
            </a:r>
            <a:r>
              <a:rPr lang="en-US" sz="2400" dirty="0" smtClean="0"/>
              <a:t>ow can error </a:t>
            </a:r>
            <a:r>
              <a:rPr lang="en-US" sz="2400" dirty="0"/>
              <a:t>analysis </a:t>
            </a:r>
            <a:r>
              <a:rPr lang="en-US" sz="2400" dirty="0" smtClean="0"/>
              <a:t>be </a:t>
            </a:r>
            <a:r>
              <a:rPr lang="en-US" sz="2400" dirty="0"/>
              <a:t>used with beam search to identify whether errors in machine translation arise from the beam search algorithm or the RNN model that generates the </a:t>
            </a:r>
            <a:r>
              <a:rPr lang="en-US" sz="2400" dirty="0" smtClean="0"/>
              <a:t>translation?</a:t>
            </a:r>
          </a:p>
          <a:p>
            <a:pPr marL="342900" indent="-342900">
              <a:buFont typeface="Arial" panose="020B0604020202020204" pitchFamily="34" charset="0"/>
              <a:buChar char="•"/>
            </a:pPr>
            <a:r>
              <a:rPr lang="en-US" sz="2400" dirty="0" smtClean="0"/>
              <a:t>Beam </a:t>
            </a:r>
            <a:r>
              <a:rPr lang="en-US" sz="2400" dirty="0"/>
              <a:t>search keeps track of the top B possibilities but is an approximate search algorithm that may not always output the most likely sentence. To determine if errors are due to beam search or the RNN model, the probabilities </a:t>
            </a:r>
            <a:r>
              <a:rPr lang="en-US" sz="2400" dirty="0" smtClean="0"/>
              <a:t>P(y</a:t>
            </a:r>
            <a:r>
              <a:rPr lang="en-US" sz="2400" baseline="30000" dirty="0" smtClean="0"/>
              <a:t>&lt;</a:t>
            </a:r>
            <a:r>
              <a:rPr lang="en-US" sz="2400" dirty="0" smtClean="0"/>
              <a:t>*</a:t>
            </a:r>
            <a:r>
              <a:rPr lang="en-US" sz="2400" baseline="30000" dirty="0" smtClean="0"/>
              <a:t>&gt;</a:t>
            </a:r>
            <a:r>
              <a:rPr lang="en-US" sz="2400" dirty="0" smtClean="0"/>
              <a:t> </a:t>
            </a:r>
            <a:r>
              <a:rPr lang="en-US" sz="2400" dirty="0"/>
              <a:t>|</a:t>
            </a:r>
            <a:r>
              <a:rPr lang="en-US" sz="2400" dirty="0" smtClean="0"/>
              <a:t>x</a:t>
            </a:r>
            <a:r>
              <a:rPr lang="en-US" sz="2400" dirty="0"/>
              <a:t>) and </a:t>
            </a:r>
            <a:r>
              <a:rPr lang="en-US" sz="2400" dirty="0" smtClean="0"/>
              <a:t>P(</a:t>
            </a:r>
            <a:r>
              <a:rPr lang="cy-GB" sz="2400" dirty="0" smtClean="0"/>
              <a:t>ŷ</a:t>
            </a:r>
            <a:r>
              <a:rPr lang="en-US" sz="2400" dirty="0" smtClean="0"/>
              <a:t> | x</a:t>
            </a:r>
            <a:r>
              <a:rPr lang="en-US" sz="2400" dirty="0"/>
              <a:t>) are computed using the RNN model to see which is greater. </a:t>
            </a:r>
          </a:p>
          <a:p>
            <a:pPr lvl="1"/>
            <a:r>
              <a:rPr lang="en-US" sz="2400" dirty="0" smtClean="0"/>
              <a:t>	If </a:t>
            </a:r>
            <a:r>
              <a:rPr lang="en-US" sz="2400" dirty="0"/>
              <a:t>P(y</a:t>
            </a:r>
            <a:r>
              <a:rPr lang="en-US" sz="2400" baseline="30000" dirty="0"/>
              <a:t>&lt;</a:t>
            </a:r>
            <a:r>
              <a:rPr lang="en-US" sz="2400" dirty="0"/>
              <a:t>*</a:t>
            </a:r>
            <a:r>
              <a:rPr lang="en-US" sz="2400" baseline="30000" dirty="0"/>
              <a:t>&gt;</a:t>
            </a:r>
            <a:r>
              <a:rPr lang="en-US" sz="2400" dirty="0"/>
              <a:t> |x)</a:t>
            </a:r>
            <a:r>
              <a:rPr lang="en-US" sz="2400" dirty="0" smtClean="0"/>
              <a:t> ≤ </a:t>
            </a:r>
            <a:r>
              <a:rPr lang="en-US" sz="2400" dirty="0"/>
              <a:t>P(</a:t>
            </a:r>
            <a:r>
              <a:rPr lang="cy-GB" sz="2400" dirty="0"/>
              <a:t>ŷ</a:t>
            </a:r>
            <a:r>
              <a:rPr lang="en-US" sz="2400" dirty="0"/>
              <a:t> | x)</a:t>
            </a:r>
            <a:r>
              <a:rPr lang="en-US" sz="2400" dirty="0" smtClean="0"/>
              <a:t>, </a:t>
            </a:r>
            <a:r>
              <a:rPr lang="en-US" sz="2400" dirty="0"/>
              <a:t>the RNN model is at </a:t>
            </a:r>
            <a:r>
              <a:rPr lang="en-US" sz="2400" dirty="0" smtClean="0"/>
              <a:t>fault</a:t>
            </a:r>
          </a:p>
          <a:p>
            <a:pPr lvl="1"/>
            <a:r>
              <a:rPr lang="en-US" sz="2400" dirty="0"/>
              <a:t>	</a:t>
            </a:r>
            <a:r>
              <a:rPr lang="en-US" sz="2400" dirty="0" smtClean="0"/>
              <a:t>if </a:t>
            </a:r>
            <a:r>
              <a:rPr lang="en-US" sz="2400" dirty="0"/>
              <a:t>P(y</a:t>
            </a:r>
            <a:r>
              <a:rPr lang="en-US" sz="2400" baseline="30000" dirty="0"/>
              <a:t>&lt;</a:t>
            </a:r>
            <a:r>
              <a:rPr lang="en-US" sz="2400" dirty="0"/>
              <a:t>*</a:t>
            </a:r>
            <a:r>
              <a:rPr lang="en-US" sz="2400" baseline="30000" dirty="0"/>
              <a:t>&gt;</a:t>
            </a:r>
            <a:r>
              <a:rPr lang="en-US" sz="2400" dirty="0"/>
              <a:t> |x)</a:t>
            </a:r>
            <a:r>
              <a:rPr lang="en-US" sz="2400" dirty="0" smtClean="0"/>
              <a:t> &gt; </a:t>
            </a:r>
            <a:r>
              <a:rPr lang="en-US" sz="2400" dirty="0"/>
              <a:t>P(</a:t>
            </a:r>
            <a:r>
              <a:rPr lang="cy-GB" sz="2400" dirty="0"/>
              <a:t>ŷ</a:t>
            </a:r>
            <a:r>
              <a:rPr lang="en-US" sz="2400" dirty="0"/>
              <a:t> | x)</a:t>
            </a:r>
            <a:r>
              <a:rPr lang="en-US" sz="2400" dirty="0" smtClean="0"/>
              <a:t>, </a:t>
            </a:r>
            <a:r>
              <a:rPr lang="en-US" sz="2400" dirty="0"/>
              <a:t>the fault lies with beam search. </a:t>
            </a:r>
            <a:endParaRPr lang="en-US" sz="2400" dirty="0" smtClean="0"/>
          </a:p>
          <a:p>
            <a:pPr lvl="1"/>
            <a:r>
              <a:rPr lang="en-US" sz="2400" dirty="0" smtClean="0"/>
              <a:t>Through </a:t>
            </a:r>
            <a:r>
              <a:rPr lang="en-US" sz="2400" dirty="0"/>
              <a:t>error analysis, the responsible component can be identified and improved upon, be it the beam width or the RNN model.</a:t>
            </a:r>
            <a:endParaRPr lang="en-GB" sz="24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24</a:t>
            </a:fld>
            <a:endParaRPr lang="fr-FR"/>
          </a:p>
        </p:txBody>
      </p:sp>
    </p:spTree>
    <p:extLst>
      <p:ext uri="{BB962C8B-B14F-4D97-AF65-F5344CB8AC3E}">
        <p14:creationId xmlns:p14="http://schemas.microsoft.com/office/powerpoint/2010/main" val="33645660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227"/>
        <p:cNvGrpSpPr/>
        <p:nvPr/>
      </p:nvGrpSpPr>
      <p:grpSpPr>
        <a:xfrm>
          <a:off x="0" y="0"/>
          <a:ext cx="0" cy="0"/>
          <a:chOff x="0" y="0"/>
          <a:chExt cx="0" cy="0"/>
        </a:xfrm>
      </p:grpSpPr>
      <p:pic>
        <p:nvPicPr>
          <p:cNvPr id="228" name="Google Shape;228;p17"/>
          <p:cNvPicPr preferRelativeResize="0"/>
          <p:nvPr/>
        </p:nvPicPr>
        <p:blipFill rotWithShape="1">
          <a:blip r:embed="rId3">
            <a:alphaModFix/>
          </a:blip>
          <a:srcRect/>
          <a:stretch/>
        </p:blipFill>
        <p:spPr>
          <a:xfrm>
            <a:off x="1219200" y="5010406"/>
            <a:ext cx="5189670" cy="1135478"/>
          </a:xfrm>
          <a:prstGeom prst="rect">
            <a:avLst/>
          </a:prstGeom>
          <a:noFill/>
          <a:ln>
            <a:noFill/>
          </a:ln>
        </p:spPr>
      </p:pic>
      <p:pic>
        <p:nvPicPr>
          <p:cNvPr id="229" name="Google Shape;229;p17"/>
          <p:cNvPicPr preferRelativeResize="0"/>
          <p:nvPr/>
        </p:nvPicPr>
        <p:blipFill rotWithShape="1">
          <a:blip r:embed="rId4">
            <a:alphaModFix/>
          </a:blip>
          <a:srcRect/>
          <a:stretch/>
        </p:blipFill>
        <p:spPr>
          <a:xfrm>
            <a:off x="4343400" y="4797448"/>
            <a:ext cx="2256329" cy="1066800"/>
          </a:xfrm>
          <a:prstGeom prst="rect">
            <a:avLst/>
          </a:prstGeom>
          <a:noFill/>
          <a:ln>
            <a:noFill/>
          </a:ln>
        </p:spPr>
      </p:pic>
      <p:sp>
        <p:nvSpPr>
          <p:cNvPr id="230" name="Google Shape;230;p17"/>
          <p:cNvSpPr txBox="1">
            <a:spLocks noGrp="1"/>
          </p:cNvSpPr>
          <p:nvPr>
            <p:ph type="title"/>
          </p:nvPr>
        </p:nvSpPr>
        <p:spPr>
          <a:xfrm>
            <a:off x="261620" y="139700"/>
            <a:ext cx="231330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dirty="0">
                <a:latin typeface="+mj-lt"/>
              </a:rPr>
              <a:t>Example</a:t>
            </a:r>
            <a:endParaRPr dirty="0">
              <a:latin typeface="+mj-lt"/>
            </a:endParaRPr>
          </a:p>
        </p:txBody>
      </p:sp>
      <p:sp>
        <p:nvSpPr>
          <p:cNvPr id="231" name="Google Shape;231;p17"/>
          <p:cNvSpPr txBox="1"/>
          <p:nvPr/>
        </p:nvSpPr>
        <p:spPr>
          <a:xfrm>
            <a:off x="667512" y="1279855"/>
            <a:ext cx="7676515" cy="239712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2800" dirty="0">
                <a:latin typeface="+mj-lt"/>
                <a:ea typeface="Cambria"/>
                <a:cs typeface="Cambria"/>
                <a:sym typeface="Cambria"/>
              </a:rPr>
              <a:t>Jane visite l’Afrique en septembre.</a:t>
            </a:r>
            <a:endParaRPr sz="2800" dirty="0">
              <a:latin typeface="+mj-lt"/>
              <a:ea typeface="Cambria"/>
              <a:cs typeface="Cambria"/>
              <a:sym typeface="Cambria"/>
            </a:endParaRPr>
          </a:p>
          <a:p>
            <a:pPr marL="12700" marR="5080" lvl="0" indent="0" algn="l" rtl="0">
              <a:lnSpc>
                <a:spcPct val="200199"/>
              </a:lnSpc>
              <a:spcBef>
                <a:spcPts val="1855"/>
              </a:spcBef>
              <a:spcAft>
                <a:spcPts val="0"/>
              </a:spcAft>
              <a:buNone/>
            </a:pPr>
            <a:r>
              <a:rPr lang="fr-FR" sz="2800" dirty="0">
                <a:latin typeface="+mj-lt"/>
                <a:ea typeface="Cambria"/>
                <a:cs typeface="Cambria"/>
                <a:sym typeface="Cambria"/>
              </a:rPr>
              <a:t>Human: Jane </a:t>
            </a:r>
            <a:r>
              <a:rPr lang="fr-FR" sz="2800" dirty="0" err="1">
                <a:latin typeface="+mj-lt"/>
                <a:ea typeface="Cambria"/>
                <a:cs typeface="Cambria"/>
                <a:sym typeface="Cambria"/>
              </a:rPr>
              <a:t>visits</a:t>
            </a:r>
            <a:r>
              <a:rPr lang="fr-FR" sz="2800" dirty="0">
                <a:latin typeface="+mj-lt"/>
                <a:ea typeface="Cambria"/>
                <a:cs typeface="Cambria"/>
                <a:sym typeface="Cambria"/>
              </a:rPr>
              <a:t> </a:t>
            </a:r>
            <a:r>
              <a:rPr lang="fr-FR" sz="2800" dirty="0" err="1">
                <a:latin typeface="+mj-lt"/>
                <a:ea typeface="Cambria"/>
                <a:cs typeface="Cambria"/>
                <a:sym typeface="Cambria"/>
              </a:rPr>
              <a:t>Africa</a:t>
            </a:r>
            <a:r>
              <a:rPr lang="fr-FR" sz="2800" dirty="0">
                <a:latin typeface="+mj-lt"/>
                <a:ea typeface="Cambria"/>
                <a:cs typeface="Cambria"/>
                <a:sym typeface="Cambria"/>
              </a:rPr>
              <a:t> in </a:t>
            </a:r>
            <a:r>
              <a:rPr lang="fr-FR" sz="2800" dirty="0" err="1">
                <a:latin typeface="+mj-lt"/>
                <a:ea typeface="Cambria"/>
                <a:cs typeface="Cambria"/>
                <a:sym typeface="Cambria"/>
              </a:rPr>
              <a:t>September</a:t>
            </a:r>
            <a:r>
              <a:rPr lang="fr-FR" sz="2800" dirty="0">
                <a:latin typeface="+mj-lt"/>
                <a:ea typeface="Cambria"/>
                <a:cs typeface="Cambria"/>
                <a:sym typeface="Cambria"/>
              </a:rPr>
              <a:t>. </a:t>
            </a:r>
            <a:r>
              <a:rPr lang="fr-FR" sz="2800" dirty="0" err="1">
                <a:latin typeface="+mj-lt"/>
                <a:ea typeface="Cambria"/>
                <a:cs typeface="Cambria"/>
                <a:sym typeface="Cambria"/>
              </a:rPr>
              <a:t>Algorithm</a:t>
            </a:r>
            <a:r>
              <a:rPr lang="fr-FR" sz="2800" dirty="0">
                <a:latin typeface="+mj-lt"/>
                <a:ea typeface="Cambria"/>
                <a:cs typeface="Cambria"/>
                <a:sym typeface="Cambria"/>
              </a:rPr>
              <a:t>: Jane </a:t>
            </a:r>
            <a:r>
              <a:rPr lang="fr-FR" sz="2800" dirty="0" err="1">
                <a:latin typeface="+mj-lt"/>
                <a:ea typeface="Cambria"/>
                <a:cs typeface="Cambria"/>
                <a:sym typeface="Cambria"/>
              </a:rPr>
              <a:t>visited</a:t>
            </a:r>
            <a:r>
              <a:rPr lang="fr-FR" sz="2800" dirty="0">
                <a:latin typeface="+mj-lt"/>
                <a:ea typeface="Cambria"/>
                <a:cs typeface="Cambria"/>
                <a:sym typeface="Cambria"/>
              </a:rPr>
              <a:t> </a:t>
            </a:r>
            <a:r>
              <a:rPr lang="fr-FR" sz="2800" dirty="0" err="1">
                <a:latin typeface="+mj-lt"/>
                <a:ea typeface="Cambria"/>
                <a:cs typeface="Cambria"/>
                <a:sym typeface="Cambria"/>
              </a:rPr>
              <a:t>Africa</a:t>
            </a:r>
            <a:r>
              <a:rPr lang="fr-FR" sz="2800" dirty="0">
                <a:latin typeface="+mj-lt"/>
                <a:ea typeface="Cambria"/>
                <a:cs typeface="Cambria"/>
                <a:sym typeface="Cambria"/>
              </a:rPr>
              <a:t> last </a:t>
            </a:r>
            <a:r>
              <a:rPr lang="fr-FR" sz="2800" dirty="0" err="1">
                <a:latin typeface="+mj-lt"/>
                <a:ea typeface="Cambria"/>
                <a:cs typeface="Cambria"/>
                <a:sym typeface="Cambria"/>
              </a:rPr>
              <a:t>September</a:t>
            </a:r>
            <a:r>
              <a:rPr lang="fr-FR" sz="2800" dirty="0">
                <a:latin typeface="+mj-lt"/>
                <a:ea typeface="Cambria"/>
                <a:cs typeface="Cambria"/>
                <a:sym typeface="Cambria"/>
              </a:rPr>
              <a:t>.</a:t>
            </a:r>
            <a:endParaRPr sz="2800" dirty="0">
              <a:latin typeface="+mj-lt"/>
              <a:ea typeface="Cambria"/>
              <a:cs typeface="Cambria"/>
              <a:sym typeface="Cambria"/>
            </a:endParaRPr>
          </a:p>
        </p:txBody>
      </p:sp>
      <p:pic>
        <p:nvPicPr>
          <p:cNvPr id="232" name="Google Shape;232;p17"/>
          <p:cNvPicPr preferRelativeResize="0"/>
          <p:nvPr/>
        </p:nvPicPr>
        <p:blipFill rotWithShape="1">
          <a:blip r:embed="rId5">
            <a:alphaModFix/>
          </a:blip>
          <a:srcRect/>
          <a:stretch/>
        </p:blipFill>
        <p:spPr>
          <a:xfrm>
            <a:off x="5697736" y="4787907"/>
            <a:ext cx="796527" cy="320442"/>
          </a:xfrm>
          <a:prstGeom prst="rect">
            <a:avLst/>
          </a:prstGeom>
          <a:noFill/>
          <a:ln>
            <a:noFill/>
          </a:ln>
        </p:spPr>
      </p:pic>
      <p:pic>
        <p:nvPicPr>
          <p:cNvPr id="233" name="Google Shape;233;p17"/>
          <p:cNvPicPr preferRelativeResize="0"/>
          <p:nvPr/>
        </p:nvPicPr>
        <p:blipFill rotWithShape="1">
          <a:blip r:embed="rId6">
            <a:alphaModFix/>
          </a:blip>
          <a:srcRect/>
          <a:stretch/>
        </p:blipFill>
        <p:spPr>
          <a:xfrm>
            <a:off x="8534400" y="3048000"/>
            <a:ext cx="312428" cy="497043"/>
          </a:xfrm>
          <a:prstGeom prst="rect">
            <a:avLst/>
          </a:prstGeom>
          <a:noFill/>
          <a:ln>
            <a:noFill/>
          </a:ln>
        </p:spPr>
      </p:pic>
      <p:sp>
        <p:nvSpPr>
          <p:cNvPr id="234" name="Google Shape;234;p17"/>
          <p:cNvSpPr txBox="1"/>
          <p:nvPr/>
        </p:nvSpPr>
        <p:spPr>
          <a:xfrm>
            <a:off x="5278821" y="2191570"/>
            <a:ext cx="6130412" cy="523220"/>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sz="1800">
                <a:latin typeface="+mj-lt"/>
              </a:rPr>
              <a:t> </a:t>
            </a:r>
            <a:endParaRPr>
              <a:latin typeface="+mj-lt"/>
            </a:endParaRPr>
          </a:p>
        </p:txBody>
      </p:sp>
      <p:sp>
        <p:nvSpPr>
          <p:cNvPr id="235" name="Google Shape;235;p17"/>
          <p:cNvSpPr txBox="1"/>
          <p:nvPr/>
        </p:nvSpPr>
        <p:spPr>
          <a:xfrm>
            <a:off x="916685" y="3793886"/>
            <a:ext cx="6130412" cy="661207"/>
          </a:xfrm>
          <a:prstGeom prst="rect">
            <a:avLst/>
          </a:prstGeom>
          <a:blipFill rotWithShape="1">
            <a:blip r:embed="rId8">
              <a:alphaModFix/>
            </a:blip>
            <a:stretch>
              <a:fillRect t="-2750" b="-11008"/>
            </a:stretch>
          </a:blip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sz="1800">
                <a:latin typeface="+mj-lt"/>
              </a:rPr>
              <a:t> </a:t>
            </a:r>
            <a:endParaRPr>
              <a:latin typeface="+mj-lt"/>
            </a:endParaRPr>
          </a:p>
        </p:txBody>
      </p:sp>
      <p:pic>
        <p:nvPicPr>
          <p:cNvPr id="236" name="Google Shape;236;p17"/>
          <p:cNvPicPr preferRelativeResize="0"/>
          <p:nvPr/>
        </p:nvPicPr>
        <p:blipFill>
          <a:blip r:embed="rId9">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25</a:t>
            </a:fld>
            <a:endParaRPr lang="fr-F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240"/>
        <p:cNvGrpSpPr/>
        <p:nvPr/>
      </p:nvGrpSpPr>
      <p:grpSpPr>
        <a:xfrm>
          <a:off x="0" y="0"/>
          <a:ext cx="0" cy="0"/>
          <a:chOff x="0" y="0"/>
          <a:chExt cx="0" cy="0"/>
        </a:xfrm>
      </p:grpSpPr>
      <p:sp>
        <p:nvSpPr>
          <p:cNvPr id="241" name="Google Shape;241;p18"/>
          <p:cNvSpPr txBox="1"/>
          <p:nvPr/>
        </p:nvSpPr>
        <p:spPr>
          <a:xfrm>
            <a:off x="304800" y="990600"/>
            <a:ext cx="11277600" cy="5825056"/>
          </a:xfrm>
          <a:prstGeom prst="rect">
            <a:avLst/>
          </a:prstGeom>
          <a:blipFill rotWithShape="1">
            <a:blip r:embed="rId3">
              <a:alphaModFix/>
            </a:blip>
            <a:stretch>
              <a:fillRect l="-1675" t="-1674" b="-2722"/>
            </a:stretch>
          </a:blip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sz="1800"/>
              <a:t> </a:t>
            </a:r>
            <a:endParaRPr/>
          </a:p>
        </p:txBody>
      </p:sp>
      <p:sp>
        <p:nvSpPr>
          <p:cNvPr id="242" name="Google Shape;242;p18"/>
          <p:cNvSpPr txBox="1">
            <a:spLocks noGrp="1"/>
          </p:cNvSpPr>
          <p:nvPr>
            <p:ph type="ctrTitle"/>
          </p:nvPr>
        </p:nvSpPr>
        <p:spPr>
          <a:xfrm>
            <a:off x="152400" y="152400"/>
            <a:ext cx="10363200" cy="677108"/>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fr-FR" dirty="0" err="1">
                <a:latin typeface="+mj-lt"/>
              </a:rPr>
              <a:t>Error</a:t>
            </a:r>
            <a:r>
              <a:rPr lang="fr-FR" dirty="0">
                <a:latin typeface="+mj-lt"/>
              </a:rPr>
              <a:t> </a:t>
            </a:r>
            <a:r>
              <a:rPr lang="fr-FR" dirty="0" err="1">
                <a:latin typeface="+mj-lt"/>
              </a:rPr>
              <a:t>analysis</a:t>
            </a:r>
            <a:r>
              <a:rPr lang="fr-FR" dirty="0">
                <a:latin typeface="+mj-lt"/>
              </a:rPr>
              <a:t> on </a:t>
            </a:r>
            <a:r>
              <a:rPr lang="fr-FR" dirty="0" err="1">
                <a:latin typeface="+mj-lt"/>
              </a:rPr>
              <a:t>beam</a:t>
            </a:r>
            <a:r>
              <a:rPr lang="fr-FR" dirty="0">
                <a:latin typeface="+mj-lt"/>
              </a:rPr>
              <a:t> </a:t>
            </a:r>
            <a:r>
              <a:rPr lang="fr-FR" dirty="0" err="1">
                <a:latin typeface="+mj-lt"/>
              </a:rPr>
              <a:t>search</a:t>
            </a:r>
            <a:endParaRPr dirty="0">
              <a:latin typeface="+mj-lt"/>
            </a:endParaRPr>
          </a:p>
        </p:txBody>
      </p:sp>
      <p:pic>
        <p:nvPicPr>
          <p:cNvPr id="243" name="Google Shape;243;p18"/>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26</a:t>
            </a:fld>
            <a:endParaRPr lang="fr-F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247"/>
        <p:cNvGrpSpPr/>
        <p:nvPr/>
      </p:nvGrpSpPr>
      <p:grpSpPr>
        <a:xfrm>
          <a:off x="0" y="0"/>
          <a:ext cx="0" cy="0"/>
          <a:chOff x="0" y="0"/>
          <a:chExt cx="0" cy="0"/>
        </a:xfrm>
      </p:grpSpPr>
      <p:sp>
        <p:nvSpPr>
          <p:cNvPr id="248" name="Google Shape;248;p19"/>
          <p:cNvSpPr txBox="1">
            <a:spLocks noGrp="1"/>
          </p:cNvSpPr>
          <p:nvPr>
            <p:ph type="title"/>
          </p:nvPr>
        </p:nvSpPr>
        <p:spPr>
          <a:xfrm>
            <a:off x="261620" y="139700"/>
            <a:ext cx="578739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a:t>Error analysis process</a:t>
            </a:r>
            <a:endParaRPr/>
          </a:p>
        </p:txBody>
      </p:sp>
      <p:sp>
        <p:nvSpPr>
          <p:cNvPr id="249" name="Google Shape;249;p19"/>
          <p:cNvSpPr txBox="1"/>
          <p:nvPr/>
        </p:nvSpPr>
        <p:spPr>
          <a:xfrm>
            <a:off x="894294" y="1847202"/>
            <a:ext cx="2378075" cy="622300"/>
          </a:xfrm>
          <a:prstGeom prst="rect">
            <a:avLst/>
          </a:prstGeom>
          <a:noFill/>
          <a:ln>
            <a:noFill/>
          </a:ln>
        </p:spPr>
        <p:txBody>
          <a:bodyPr spcFirstLastPara="1" wrap="square" lIns="0" tIns="33000" rIns="0" bIns="0" anchor="t" anchorCtr="0">
            <a:spAutoFit/>
          </a:bodyPr>
          <a:lstStyle/>
          <a:p>
            <a:pPr marL="12700" marR="5080" lvl="0" indent="0" algn="l" rtl="0">
              <a:lnSpc>
                <a:spcPct val="115000"/>
              </a:lnSpc>
              <a:spcBef>
                <a:spcPts val="0"/>
              </a:spcBef>
              <a:spcAft>
                <a:spcPts val="0"/>
              </a:spcAft>
              <a:buNone/>
            </a:pPr>
            <a:r>
              <a:rPr lang="fr-FR" sz="2000">
                <a:latin typeface="Cambria"/>
                <a:ea typeface="Cambria"/>
                <a:cs typeface="Cambria"/>
                <a:sym typeface="Cambria"/>
              </a:rPr>
              <a:t>Jane visits Africa in September.</a:t>
            </a:r>
            <a:endParaRPr sz="2000">
              <a:latin typeface="Cambria"/>
              <a:ea typeface="Cambria"/>
              <a:cs typeface="Cambria"/>
              <a:sym typeface="Cambria"/>
            </a:endParaRPr>
          </a:p>
        </p:txBody>
      </p:sp>
      <p:sp>
        <p:nvSpPr>
          <p:cNvPr id="250" name="Google Shape;250;p19"/>
          <p:cNvSpPr txBox="1"/>
          <p:nvPr/>
        </p:nvSpPr>
        <p:spPr>
          <a:xfrm>
            <a:off x="4003000" y="1847202"/>
            <a:ext cx="2228850" cy="63500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fr-FR" sz="2000">
                <a:latin typeface="Cambria"/>
                <a:ea typeface="Cambria"/>
                <a:cs typeface="Cambria"/>
                <a:sym typeface="Cambria"/>
              </a:rPr>
              <a:t>Jane visited Africa last September.</a:t>
            </a:r>
            <a:endParaRPr sz="2000">
              <a:latin typeface="Cambria"/>
              <a:ea typeface="Cambria"/>
              <a:cs typeface="Cambria"/>
              <a:sym typeface="Cambria"/>
            </a:endParaRPr>
          </a:p>
        </p:txBody>
      </p:sp>
      <p:grpSp>
        <p:nvGrpSpPr>
          <p:cNvPr id="251" name="Google Shape;251;p19"/>
          <p:cNvGrpSpPr/>
          <p:nvPr/>
        </p:nvGrpSpPr>
        <p:grpSpPr>
          <a:xfrm>
            <a:off x="469169" y="873515"/>
            <a:ext cx="11458575" cy="4644441"/>
            <a:chOff x="469169" y="873515"/>
            <a:chExt cx="11458575" cy="4644441"/>
          </a:xfrm>
        </p:grpSpPr>
        <p:sp>
          <p:nvSpPr>
            <p:cNvPr id="252" name="Google Shape;252;p19"/>
            <p:cNvSpPr/>
            <p:nvPr/>
          </p:nvSpPr>
          <p:spPr>
            <a:xfrm>
              <a:off x="469169" y="1383042"/>
              <a:ext cx="11458575" cy="0"/>
            </a:xfrm>
            <a:custGeom>
              <a:avLst/>
              <a:gdLst/>
              <a:ahLst/>
              <a:cxnLst/>
              <a:rect l="l" t="t" r="r" b="b"/>
              <a:pathLst>
                <a:path w="11458575" h="120000" extrusionOk="0">
                  <a:moveTo>
                    <a:pt x="0" y="0"/>
                  </a:moveTo>
                  <a:lnTo>
                    <a:pt x="11458453" y="0"/>
                  </a:lnTo>
                </a:path>
              </a:pathLst>
            </a:custGeom>
            <a:noFill/>
            <a:ln w="158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53" name="Google Shape;253;p19"/>
            <p:cNvSpPr/>
            <p:nvPr/>
          </p:nvSpPr>
          <p:spPr>
            <a:xfrm>
              <a:off x="3626662" y="873515"/>
              <a:ext cx="0" cy="4640580"/>
            </a:xfrm>
            <a:custGeom>
              <a:avLst/>
              <a:gdLst/>
              <a:ahLst/>
              <a:cxnLst/>
              <a:rect l="l" t="t" r="r" b="b"/>
              <a:pathLst>
                <a:path w="120000" h="4640580" extrusionOk="0">
                  <a:moveTo>
                    <a:pt x="0" y="4640202"/>
                  </a:moveTo>
                  <a:lnTo>
                    <a:pt x="0" y="0"/>
                  </a:lnTo>
                </a:path>
              </a:pathLst>
            </a:custGeom>
            <a:noFill/>
            <a:ln w="158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54" name="Google Shape;254;p19"/>
            <p:cNvSpPr/>
            <p:nvPr/>
          </p:nvSpPr>
          <p:spPr>
            <a:xfrm>
              <a:off x="6876084" y="873515"/>
              <a:ext cx="0" cy="4640580"/>
            </a:xfrm>
            <a:custGeom>
              <a:avLst/>
              <a:gdLst/>
              <a:ahLst/>
              <a:cxnLst/>
              <a:rect l="l" t="t" r="r" b="b"/>
              <a:pathLst>
                <a:path w="120000" h="4640580" extrusionOk="0">
                  <a:moveTo>
                    <a:pt x="0" y="4640202"/>
                  </a:moveTo>
                  <a:lnTo>
                    <a:pt x="0" y="0"/>
                  </a:lnTo>
                </a:path>
              </a:pathLst>
            </a:custGeom>
            <a:noFill/>
            <a:ln w="158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55" name="Google Shape;255;p19"/>
            <p:cNvSpPr/>
            <p:nvPr/>
          </p:nvSpPr>
          <p:spPr>
            <a:xfrm>
              <a:off x="10298062" y="877376"/>
              <a:ext cx="0" cy="4640580"/>
            </a:xfrm>
            <a:custGeom>
              <a:avLst/>
              <a:gdLst/>
              <a:ahLst/>
              <a:cxnLst/>
              <a:rect l="l" t="t" r="r" b="b"/>
              <a:pathLst>
                <a:path w="120000" h="4640580" extrusionOk="0">
                  <a:moveTo>
                    <a:pt x="0" y="4640202"/>
                  </a:moveTo>
                  <a:lnTo>
                    <a:pt x="0" y="0"/>
                  </a:lnTo>
                </a:path>
              </a:pathLst>
            </a:custGeom>
            <a:noFill/>
            <a:ln w="158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56" name="Google Shape;256;p19"/>
            <p:cNvSpPr/>
            <p:nvPr/>
          </p:nvSpPr>
          <p:spPr>
            <a:xfrm>
              <a:off x="8526780" y="873515"/>
              <a:ext cx="0" cy="4640580"/>
            </a:xfrm>
            <a:custGeom>
              <a:avLst/>
              <a:gdLst/>
              <a:ahLst/>
              <a:cxnLst/>
              <a:rect l="l" t="t" r="r" b="b"/>
              <a:pathLst>
                <a:path w="120000" h="4640580" extrusionOk="0">
                  <a:moveTo>
                    <a:pt x="0" y="4640202"/>
                  </a:moveTo>
                  <a:lnTo>
                    <a:pt x="0" y="0"/>
                  </a:lnTo>
                </a:path>
              </a:pathLst>
            </a:custGeom>
            <a:noFill/>
            <a:ln w="158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257" name="Google Shape;257;p19"/>
          <p:cNvSpPr txBox="1"/>
          <p:nvPr/>
        </p:nvSpPr>
        <p:spPr>
          <a:xfrm>
            <a:off x="1264119" y="882205"/>
            <a:ext cx="1446530" cy="5130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3200">
                <a:latin typeface="Cambria"/>
                <a:ea typeface="Cambria"/>
                <a:cs typeface="Cambria"/>
                <a:sym typeface="Cambria"/>
              </a:rPr>
              <a:t>Human</a:t>
            </a:r>
            <a:endParaRPr sz="3200">
              <a:latin typeface="Cambria"/>
              <a:ea typeface="Cambria"/>
              <a:cs typeface="Cambria"/>
              <a:sym typeface="Cambria"/>
            </a:endParaRPr>
          </a:p>
        </p:txBody>
      </p:sp>
      <p:sp>
        <p:nvSpPr>
          <p:cNvPr id="258" name="Google Shape;258;p19"/>
          <p:cNvSpPr txBox="1"/>
          <p:nvPr/>
        </p:nvSpPr>
        <p:spPr>
          <a:xfrm>
            <a:off x="4415751" y="865949"/>
            <a:ext cx="1947545" cy="5130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3200">
                <a:latin typeface="Cambria"/>
                <a:ea typeface="Cambria"/>
                <a:cs typeface="Cambria"/>
                <a:sym typeface="Cambria"/>
              </a:rPr>
              <a:t>Algorithm</a:t>
            </a:r>
            <a:endParaRPr sz="3200">
              <a:latin typeface="Cambria"/>
              <a:ea typeface="Cambria"/>
              <a:cs typeface="Cambria"/>
              <a:sym typeface="Cambria"/>
            </a:endParaRPr>
          </a:p>
        </p:txBody>
      </p:sp>
      <p:sp>
        <p:nvSpPr>
          <p:cNvPr id="259" name="Google Shape;259;p19"/>
          <p:cNvSpPr txBox="1"/>
          <p:nvPr/>
        </p:nvSpPr>
        <p:spPr>
          <a:xfrm>
            <a:off x="10376801" y="889838"/>
            <a:ext cx="1463040"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2800">
                <a:latin typeface="Cambria"/>
                <a:ea typeface="Cambria"/>
                <a:cs typeface="Cambria"/>
                <a:sym typeface="Cambria"/>
              </a:rPr>
              <a:t>At fault?</a:t>
            </a:r>
            <a:endParaRPr sz="2800">
              <a:latin typeface="Cambria"/>
              <a:ea typeface="Cambria"/>
              <a:cs typeface="Cambria"/>
              <a:sym typeface="Cambria"/>
            </a:endParaRPr>
          </a:p>
        </p:txBody>
      </p:sp>
      <p:sp>
        <p:nvSpPr>
          <p:cNvPr id="260" name="Google Shape;260;p19"/>
          <p:cNvSpPr txBox="1"/>
          <p:nvPr/>
        </p:nvSpPr>
        <p:spPr>
          <a:xfrm>
            <a:off x="547909" y="5656986"/>
            <a:ext cx="9781540" cy="1009015"/>
          </a:xfrm>
          <a:prstGeom prst="rect">
            <a:avLst/>
          </a:prstGeom>
          <a:noFill/>
          <a:ln>
            <a:noFill/>
          </a:ln>
        </p:spPr>
        <p:txBody>
          <a:bodyPr spcFirstLastPara="1" wrap="square" lIns="0" tIns="4425" rIns="0" bIns="0" anchor="t" anchorCtr="0">
            <a:spAutoFit/>
          </a:bodyPr>
          <a:lstStyle/>
          <a:p>
            <a:pPr marL="12700" marR="5080" lvl="0" indent="0" algn="l" rtl="0">
              <a:lnSpc>
                <a:spcPct val="101600"/>
              </a:lnSpc>
              <a:spcBef>
                <a:spcPts val="0"/>
              </a:spcBef>
              <a:spcAft>
                <a:spcPts val="0"/>
              </a:spcAft>
              <a:buNone/>
            </a:pPr>
            <a:r>
              <a:rPr lang="fr-FR" sz="3200">
                <a:latin typeface="Cambria"/>
                <a:ea typeface="Cambria"/>
                <a:cs typeface="Cambria"/>
                <a:sym typeface="Cambria"/>
              </a:rPr>
              <a:t>Figures out what faction of errors are “due to” beam search vs. RNN model</a:t>
            </a:r>
            <a:endParaRPr sz="3200">
              <a:latin typeface="Cambria"/>
              <a:ea typeface="Cambria"/>
              <a:cs typeface="Cambria"/>
              <a:sym typeface="Cambria"/>
            </a:endParaRPr>
          </a:p>
        </p:txBody>
      </p:sp>
      <p:sp>
        <p:nvSpPr>
          <p:cNvPr id="261" name="Google Shape;261;p19"/>
          <p:cNvSpPr txBox="1"/>
          <p:nvPr/>
        </p:nvSpPr>
        <p:spPr>
          <a:xfrm>
            <a:off x="4648200" y="882299"/>
            <a:ext cx="6130412" cy="461665"/>
          </a:xfrm>
          <a:prstGeom prst="rect">
            <a:avLst/>
          </a:prstGeom>
          <a:blipFill rotWithShape="1">
            <a:blip r:embed="rId3">
              <a:alphaModFix/>
            </a:blip>
            <a:stretch>
              <a:fillRect b="-13332"/>
            </a:stretch>
          </a:blip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sz="1800"/>
              <a:t> </a:t>
            </a:r>
            <a:endParaRPr/>
          </a:p>
        </p:txBody>
      </p:sp>
      <p:sp>
        <p:nvSpPr>
          <p:cNvPr id="262" name="Google Shape;262;p19"/>
          <p:cNvSpPr txBox="1"/>
          <p:nvPr/>
        </p:nvSpPr>
        <p:spPr>
          <a:xfrm>
            <a:off x="8774635" y="857475"/>
            <a:ext cx="6130412" cy="461665"/>
          </a:xfrm>
          <a:prstGeom prst="rect">
            <a:avLst/>
          </a:prstGeom>
          <a:blipFill rotWithShape="1">
            <a:blip r:embed="rId4">
              <a:alphaModFix/>
            </a:blip>
            <a:stretch>
              <a:fillRect l="-198" t="-9332" b="-31998"/>
            </a:stretch>
          </a:blip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sz="1800"/>
              <a:t> </a:t>
            </a:r>
            <a:endParaRPr/>
          </a:p>
        </p:txBody>
      </p:sp>
      <p:sp>
        <p:nvSpPr>
          <p:cNvPr id="263" name="Google Shape;263;p19"/>
          <p:cNvSpPr txBox="1"/>
          <p:nvPr/>
        </p:nvSpPr>
        <p:spPr>
          <a:xfrm>
            <a:off x="7034980" y="1866522"/>
            <a:ext cx="7487264" cy="369332"/>
          </a:xfrm>
          <a:prstGeom prst="rect">
            <a:avLst/>
          </a:prstGeom>
          <a:blipFill rotWithShape="1">
            <a:blip r:embed="rId5">
              <a:alphaModFix/>
            </a:blip>
            <a:stretch>
              <a:fillRect l="-650" t="-8196" b="-24589"/>
            </a:stretch>
          </a:blip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sz="1800"/>
              <a:t> </a:t>
            </a:r>
            <a:endParaRPr/>
          </a:p>
        </p:txBody>
      </p:sp>
      <p:sp>
        <p:nvSpPr>
          <p:cNvPr id="264" name="Google Shape;264;p19"/>
          <p:cNvSpPr txBox="1"/>
          <p:nvPr/>
        </p:nvSpPr>
        <p:spPr>
          <a:xfrm>
            <a:off x="8742986" y="1885262"/>
            <a:ext cx="7487264" cy="369332"/>
          </a:xfrm>
          <a:prstGeom prst="rect">
            <a:avLst/>
          </a:prstGeom>
          <a:blipFill rotWithShape="1">
            <a:blip r:embed="rId6">
              <a:alphaModFix/>
            </a:blip>
            <a:stretch>
              <a:fillRect l="-650" t="-8196" b="-24589"/>
            </a:stretch>
          </a:blip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sz="1800"/>
              <a:t> </a:t>
            </a:r>
            <a:endParaRPr/>
          </a:p>
        </p:txBody>
      </p:sp>
      <p:sp>
        <p:nvSpPr>
          <p:cNvPr id="265" name="Google Shape;265;p19"/>
          <p:cNvSpPr txBox="1"/>
          <p:nvPr/>
        </p:nvSpPr>
        <p:spPr>
          <a:xfrm>
            <a:off x="10598997" y="1891346"/>
            <a:ext cx="8164284" cy="341632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fr-FR" sz="1800"/>
              <a:t>B</a:t>
            </a:r>
            <a:endParaRPr/>
          </a:p>
          <a:p>
            <a:pPr marL="0" lvl="0" indent="0" algn="l" rtl="0">
              <a:spcBef>
                <a:spcPts val="0"/>
              </a:spcBef>
              <a:spcAft>
                <a:spcPts val="0"/>
              </a:spcAft>
              <a:buNone/>
            </a:pPr>
            <a:endParaRPr sz="1800"/>
          </a:p>
          <a:p>
            <a:pPr marL="0" lvl="0" indent="0" algn="l" rtl="0">
              <a:spcBef>
                <a:spcPts val="0"/>
              </a:spcBef>
              <a:spcAft>
                <a:spcPts val="0"/>
              </a:spcAft>
              <a:buNone/>
            </a:pPr>
            <a:r>
              <a:rPr lang="fr-FR" sz="1800"/>
              <a:t>R</a:t>
            </a:r>
            <a:endParaRPr/>
          </a:p>
          <a:p>
            <a:pPr marL="0" lvl="0" indent="0" algn="l" rtl="0">
              <a:spcBef>
                <a:spcPts val="0"/>
              </a:spcBef>
              <a:spcAft>
                <a:spcPts val="0"/>
              </a:spcAft>
              <a:buNone/>
            </a:pPr>
            <a:endParaRPr sz="1800"/>
          </a:p>
          <a:p>
            <a:pPr marL="0" lvl="0" indent="0" algn="l" rtl="0">
              <a:spcBef>
                <a:spcPts val="0"/>
              </a:spcBef>
              <a:spcAft>
                <a:spcPts val="0"/>
              </a:spcAft>
              <a:buNone/>
            </a:pPr>
            <a:r>
              <a:rPr lang="fr-FR" sz="1800"/>
              <a:t>B </a:t>
            </a:r>
            <a:endParaRPr/>
          </a:p>
          <a:p>
            <a:pPr marL="0" lvl="0" indent="0" algn="l" rtl="0">
              <a:spcBef>
                <a:spcPts val="0"/>
              </a:spcBef>
              <a:spcAft>
                <a:spcPts val="0"/>
              </a:spcAft>
              <a:buNone/>
            </a:pPr>
            <a:endParaRPr sz="1800"/>
          </a:p>
          <a:p>
            <a:pPr marL="0" lvl="0" indent="0" algn="l" rtl="0">
              <a:spcBef>
                <a:spcPts val="0"/>
              </a:spcBef>
              <a:spcAft>
                <a:spcPts val="0"/>
              </a:spcAft>
              <a:buNone/>
            </a:pPr>
            <a:r>
              <a:rPr lang="fr-FR" sz="1800"/>
              <a:t>R</a:t>
            </a:r>
            <a:endParaRPr/>
          </a:p>
          <a:p>
            <a:pPr marL="0" lvl="0" indent="0" algn="l" rtl="0">
              <a:spcBef>
                <a:spcPts val="0"/>
              </a:spcBef>
              <a:spcAft>
                <a:spcPts val="0"/>
              </a:spcAft>
              <a:buNone/>
            </a:pPr>
            <a:endParaRPr sz="1800"/>
          </a:p>
          <a:p>
            <a:pPr marL="0" lvl="0" indent="0" algn="l" rtl="0">
              <a:spcBef>
                <a:spcPts val="0"/>
              </a:spcBef>
              <a:spcAft>
                <a:spcPts val="0"/>
              </a:spcAft>
              <a:buNone/>
            </a:pPr>
            <a:r>
              <a:rPr lang="fr-FR" sz="1800"/>
              <a:t>R</a:t>
            </a:r>
            <a:endParaRPr/>
          </a:p>
          <a:p>
            <a:pPr marL="0" lvl="0" indent="0" algn="l" rtl="0">
              <a:spcBef>
                <a:spcPts val="0"/>
              </a:spcBef>
              <a:spcAft>
                <a:spcPts val="0"/>
              </a:spcAft>
              <a:buNone/>
            </a:pPr>
            <a:r>
              <a:rPr lang="fr-FR" sz="1800"/>
              <a:t>.</a:t>
            </a:r>
            <a:endParaRPr/>
          </a:p>
          <a:p>
            <a:pPr marL="0" lvl="0" indent="0" algn="l" rtl="0">
              <a:spcBef>
                <a:spcPts val="0"/>
              </a:spcBef>
              <a:spcAft>
                <a:spcPts val="0"/>
              </a:spcAft>
              <a:buNone/>
            </a:pPr>
            <a:r>
              <a:rPr lang="fr-FR" sz="1800"/>
              <a:t>.</a:t>
            </a:r>
            <a:endParaRPr/>
          </a:p>
          <a:p>
            <a:pPr marL="0" lvl="0" indent="0" algn="l" rtl="0">
              <a:spcBef>
                <a:spcPts val="0"/>
              </a:spcBef>
              <a:spcAft>
                <a:spcPts val="0"/>
              </a:spcAft>
              <a:buNone/>
            </a:pPr>
            <a:r>
              <a:rPr lang="fr-FR" sz="1800"/>
              <a:t>.</a:t>
            </a:r>
            <a:endParaRPr/>
          </a:p>
        </p:txBody>
      </p:sp>
      <p:pic>
        <p:nvPicPr>
          <p:cNvPr id="266" name="Google Shape;266;p19"/>
          <p:cNvPicPr preferRelativeResize="0"/>
          <p:nvPr/>
        </p:nvPicPr>
        <p:blipFill>
          <a:blip r:embed="rId7">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27</a:t>
            </a:fld>
            <a:endParaRPr lang="fr-F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270"/>
        <p:cNvGrpSpPr/>
        <p:nvPr/>
      </p:nvGrpSpPr>
      <p:grpSpPr>
        <a:xfrm>
          <a:off x="0" y="0"/>
          <a:ext cx="0" cy="0"/>
          <a:chOff x="0" y="0"/>
          <a:chExt cx="0" cy="0"/>
        </a:xfrm>
      </p:grpSpPr>
      <p:sp>
        <p:nvSpPr>
          <p:cNvPr id="271" name="Google Shape;271;p20"/>
          <p:cNvSpPr txBox="1">
            <a:spLocks noGrp="1"/>
          </p:cNvSpPr>
          <p:nvPr>
            <p:ph type="title"/>
          </p:nvPr>
        </p:nvSpPr>
        <p:spPr>
          <a:xfrm>
            <a:off x="5339346" y="791044"/>
            <a:ext cx="6108942" cy="2125182"/>
          </a:xfrm>
          <a:prstGeom prst="rect">
            <a:avLst/>
          </a:prstGeom>
          <a:noFill/>
          <a:ln>
            <a:noFill/>
          </a:ln>
        </p:spPr>
        <p:txBody>
          <a:bodyPr spcFirstLastPara="1" wrap="square" lIns="0" tIns="129525" rIns="0" bIns="0" anchor="t" anchorCtr="0">
            <a:spAutoFit/>
          </a:bodyPr>
          <a:lstStyle/>
          <a:p>
            <a:pPr marL="12700" marR="5080" lvl="0" indent="848994" algn="l" rtl="0">
              <a:lnSpc>
                <a:spcPct val="107575"/>
              </a:lnSpc>
              <a:spcBef>
                <a:spcPts val="0"/>
              </a:spcBef>
              <a:spcAft>
                <a:spcPts val="0"/>
              </a:spcAft>
              <a:buNone/>
            </a:pPr>
            <a:r>
              <a:rPr lang="fr-FR" sz="6000" b="0" dirty="0" err="1">
                <a:latin typeface="+mj-lt"/>
                <a:ea typeface="Calibri"/>
                <a:cs typeface="Calibri"/>
                <a:sym typeface="Calibri"/>
              </a:rPr>
              <a:t>Sequence</a:t>
            </a:r>
            <a:r>
              <a:rPr lang="fr-FR" sz="6000" b="0" dirty="0">
                <a:latin typeface="+mj-lt"/>
                <a:ea typeface="Calibri"/>
                <a:cs typeface="Calibri"/>
                <a:sym typeface="Calibri"/>
              </a:rPr>
              <a:t> to </a:t>
            </a:r>
            <a:r>
              <a:rPr lang="fr-FR" sz="6000" b="0" dirty="0" err="1">
                <a:latin typeface="+mj-lt"/>
                <a:ea typeface="Calibri"/>
                <a:cs typeface="Calibri"/>
                <a:sym typeface="Calibri"/>
              </a:rPr>
              <a:t>sequence</a:t>
            </a:r>
            <a:r>
              <a:rPr lang="fr-FR" sz="6000" b="0" dirty="0">
                <a:latin typeface="+mj-lt"/>
                <a:ea typeface="Calibri"/>
                <a:cs typeface="Calibri"/>
                <a:sym typeface="Calibri"/>
              </a:rPr>
              <a:t> </a:t>
            </a:r>
            <a:r>
              <a:rPr lang="fr-FR" sz="6000" b="0" dirty="0" err="1">
                <a:latin typeface="+mj-lt"/>
                <a:ea typeface="Calibri"/>
                <a:cs typeface="Calibri"/>
                <a:sym typeface="Calibri"/>
              </a:rPr>
              <a:t>models</a:t>
            </a:r>
            <a:endParaRPr sz="6000" dirty="0">
              <a:latin typeface="+mj-lt"/>
              <a:ea typeface="Calibri"/>
              <a:cs typeface="Calibri"/>
              <a:sym typeface="Calibri"/>
            </a:endParaRPr>
          </a:p>
        </p:txBody>
      </p:sp>
      <p:sp>
        <p:nvSpPr>
          <p:cNvPr id="272" name="Google Shape;272;p20"/>
          <p:cNvSpPr txBox="1"/>
          <p:nvPr/>
        </p:nvSpPr>
        <p:spPr>
          <a:xfrm>
            <a:off x="5193417" y="4011877"/>
            <a:ext cx="6400799" cy="1025394"/>
          </a:xfrm>
          <a:prstGeom prst="rect">
            <a:avLst/>
          </a:prstGeom>
          <a:noFill/>
          <a:ln>
            <a:noFill/>
          </a:ln>
        </p:spPr>
        <p:txBody>
          <a:bodyPr spcFirstLastPara="1" wrap="square" lIns="0" tIns="27925" rIns="0" bIns="0" anchor="t" anchorCtr="0">
            <a:spAutoFit/>
          </a:bodyPr>
          <a:lstStyle/>
          <a:p>
            <a:pPr marL="100330" marR="5080" lvl="0" indent="-88265" algn="l" rtl="0">
              <a:lnSpc>
                <a:spcPct val="119696"/>
              </a:lnSpc>
              <a:spcBef>
                <a:spcPts val="0"/>
              </a:spcBef>
              <a:spcAft>
                <a:spcPts val="0"/>
              </a:spcAft>
              <a:buNone/>
            </a:pPr>
            <a:r>
              <a:rPr lang="fr-FR" sz="5400" dirty="0">
                <a:latin typeface="+mj-lt"/>
                <a:ea typeface="Calibri"/>
                <a:cs typeface="Calibri"/>
                <a:sym typeface="Calibri"/>
              </a:rPr>
              <a:t>Bleu score (</a:t>
            </a:r>
            <a:r>
              <a:rPr lang="fr-FR" sz="5400" dirty="0" err="1">
                <a:latin typeface="+mj-lt"/>
                <a:ea typeface="Calibri"/>
                <a:cs typeface="Calibri"/>
                <a:sym typeface="Calibri"/>
              </a:rPr>
              <a:t>optional</a:t>
            </a:r>
            <a:r>
              <a:rPr lang="fr-FR" sz="5400" dirty="0">
                <a:latin typeface="+mj-lt"/>
                <a:ea typeface="Calibri"/>
                <a:cs typeface="Calibri"/>
                <a:sym typeface="Calibri"/>
              </a:rPr>
              <a:t>)</a:t>
            </a:r>
            <a:endParaRPr sz="5400" dirty="0">
              <a:latin typeface="+mj-lt"/>
              <a:ea typeface="Calibri"/>
              <a:cs typeface="Calibri"/>
              <a:sym typeface="Calibri"/>
            </a:endParaRPr>
          </a:p>
        </p:txBody>
      </p:sp>
      <p:sp>
        <p:nvSpPr>
          <p:cNvPr id="273" name="Google Shape;273;p20"/>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74" name="Google Shape;274;p20"/>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28</a:t>
            </a:fld>
            <a:endParaRPr lang="fr-F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87"/>
        <p:cNvGrpSpPr/>
        <p:nvPr/>
      </p:nvGrpSpPr>
      <p:grpSpPr>
        <a:xfrm>
          <a:off x="0" y="0"/>
          <a:ext cx="0" cy="0"/>
          <a:chOff x="0" y="0"/>
          <a:chExt cx="0" cy="0"/>
        </a:xfrm>
      </p:grpSpPr>
      <p:sp>
        <p:nvSpPr>
          <p:cNvPr id="88" name="Google Shape;88;p7"/>
          <p:cNvSpPr txBox="1">
            <a:spLocks noGrp="1"/>
          </p:cNvSpPr>
          <p:nvPr>
            <p:ph type="title"/>
          </p:nvPr>
        </p:nvSpPr>
        <p:spPr>
          <a:xfrm>
            <a:off x="261620" y="139700"/>
            <a:ext cx="9082405" cy="825354"/>
          </a:xfrm>
          <a:prstGeom prst="rect">
            <a:avLst/>
          </a:prstGeom>
          <a:noFill/>
          <a:ln>
            <a:noFill/>
          </a:ln>
        </p:spPr>
        <p:txBody>
          <a:bodyPr spcFirstLastPara="1" wrap="square" lIns="0" tIns="12700" rIns="0" bIns="0" anchor="t" anchorCtr="0">
            <a:spAutoFit/>
          </a:bodyPr>
          <a:lstStyle/>
          <a:p>
            <a:pPr marL="100330" marR="5080" lvl="0" indent="-88265" algn="l" rtl="0">
              <a:lnSpc>
                <a:spcPct val="119696"/>
              </a:lnSpc>
              <a:spcBef>
                <a:spcPts val="0"/>
              </a:spcBef>
              <a:spcAft>
                <a:spcPts val="0"/>
              </a:spcAft>
              <a:buNone/>
            </a:pPr>
            <a:r>
              <a:rPr lang="fr-FR" sz="4400" dirty="0">
                <a:latin typeface="+mj-lt"/>
                <a:ea typeface="Calibri"/>
                <a:cs typeface="Calibri"/>
                <a:sym typeface="Calibri"/>
              </a:rPr>
              <a:t>Bleu score (</a:t>
            </a:r>
            <a:r>
              <a:rPr lang="fr-FR" sz="4400" dirty="0" err="1">
                <a:latin typeface="+mj-lt"/>
                <a:ea typeface="Calibri"/>
                <a:cs typeface="Calibri"/>
                <a:sym typeface="Calibri"/>
              </a:rPr>
              <a:t>optional</a:t>
            </a:r>
            <a:r>
              <a:rPr lang="fr-FR" sz="4400" dirty="0">
                <a:latin typeface="+mj-lt"/>
                <a:ea typeface="Calibri"/>
                <a:cs typeface="Calibri"/>
                <a:sym typeface="Calibri"/>
              </a:rPr>
              <a:t>)</a:t>
            </a:r>
          </a:p>
        </p:txBody>
      </p:sp>
      <p:pic>
        <p:nvPicPr>
          <p:cNvPr id="97" name="Google Shape;97;p7"/>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1E565E91-141B-F8D7-BBA2-ED443A7979E8}"/>
              </a:ext>
            </a:extLst>
          </p:cNvPr>
          <p:cNvSpPr txBox="1"/>
          <p:nvPr/>
        </p:nvSpPr>
        <p:spPr>
          <a:xfrm>
            <a:off x="261620" y="965054"/>
            <a:ext cx="11668760" cy="2308324"/>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BLEU score evaluates machine-generated translations' quality by measuring similarity to human-generated translations. </a:t>
            </a:r>
            <a:endParaRPr lang="en-US" sz="2400" dirty="0" smtClean="0"/>
          </a:p>
          <a:p>
            <a:pPr marL="342900" indent="-342900">
              <a:buFont typeface="Arial" panose="020B0604020202020204" pitchFamily="34" charset="0"/>
              <a:buChar char="•"/>
            </a:pPr>
            <a:r>
              <a:rPr lang="en-US" sz="2400" dirty="0" smtClean="0"/>
              <a:t>It's </a:t>
            </a:r>
            <a:r>
              <a:rPr lang="en-US" sz="2400" dirty="0"/>
              <a:t>based on precision, counting words in the machine output that appear in human references. To avoid favoring poor translations with the same words, a modified precision measure is used, limiting word counts to their maximum in the reference sentences</a:t>
            </a:r>
            <a:r>
              <a:rPr lang="en-US" sz="2400" dirty="0" smtClean="0"/>
              <a:t>.</a:t>
            </a:r>
            <a:endParaRPr lang="en-US" sz="24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29</a:t>
            </a:fld>
            <a:endParaRPr lang="fr-FR"/>
          </a:p>
        </p:txBody>
      </p:sp>
    </p:spTree>
    <p:extLst>
      <p:ext uri="{BB962C8B-B14F-4D97-AF65-F5344CB8AC3E}">
        <p14:creationId xmlns:p14="http://schemas.microsoft.com/office/powerpoint/2010/main" val="21332714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87"/>
        <p:cNvGrpSpPr/>
        <p:nvPr/>
      </p:nvGrpSpPr>
      <p:grpSpPr>
        <a:xfrm>
          <a:off x="0" y="0"/>
          <a:ext cx="0" cy="0"/>
          <a:chOff x="0" y="0"/>
          <a:chExt cx="0" cy="0"/>
        </a:xfrm>
      </p:grpSpPr>
      <p:sp>
        <p:nvSpPr>
          <p:cNvPr id="88" name="Google Shape;88;p7"/>
          <p:cNvSpPr txBox="1">
            <a:spLocks noGrp="1"/>
          </p:cNvSpPr>
          <p:nvPr>
            <p:ph type="title"/>
          </p:nvPr>
        </p:nvSpPr>
        <p:spPr>
          <a:xfrm>
            <a:off x="261620" y="139700"/>
            <a:ext cx="9082405" cy="825354"/>
          </a:xfrm>
          <a:prstGeom prst="rect">
            <a:avLst/>
          </a:prstGeom>
          <a:noFill/>
          <a:ln>
            <a:noFill/>
          </a:ln>
        </p:spPr>
        <p:txBody>
          <a:bodyPr spcFirstLastPara="1" wrap="square" lIns="0" tIns="12700" rIns="0" bIns="0" anchor="t" anchorCtr="0">
            <a:spAutoFit/>
          </a:bodyPr>
          <a:lstStyle/>
          <a:p>
            <a:pPr marL="100330" marR="5080" lvl="0" indent="-88265" algn="l" rtl="0">
              <a:lnSpc>
                <a:spcPct val="119696"/>
              </a:lnSpc>
              <a:spcBef>
                <a:spcPts val="0"/>
              </a:spcBef>
              <a:spcAft>
                <a:spcPts val="0"/>
              </a:spcAft>
              <a:buNone/>
            </a:pPr>
            <a:r>
              <a:rPr lang="fr-FR" sz="4400" dirty="0">
                <a:latin typeface="+mj-lt"/>
                <a:ea typeface="Calibri"/>
                <a:cs typeface="Calibri"/>
                <a:sym typeface="Calibri"/>
              </a:rPr>
              <a:t>Bleu score (</a:t>
            </a:r>
            <a:r>
              <a:rPr lang="fr-FR" sz="4400" dirty="0" err="1">
                <a:latin typeface="+mj-lt"/>
                <a:ea typeface="Calibri"/>
                <a:cs typeface="Calibri"/>
                <a:sym typeface="Calibri"/>
              </a:rPr>
              <a:t>optional</a:t>
            </a:r>
            <a:r>
              <a:rPr lang="fr-FR" sz="4400" dirty="0">
                <a:latin typeface="+mj-lt"/>
                <a:ea typeface="Calibri"/>
                <a:cs typeface="Calibri"/>
                <a:sym typeface="Calibri"/>
              </a:rPr>
              <a:t>)</a:t>
            </a:r>
          </a:p>
        </p:txBody>
      </p:sp>
      <p:pic>
        <p:nvPicPr>
          <p:cNvPr id="97" name="Google Shape;97;p7"/>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1E565E91-141B-F8D7-BBA2-ED443A7979E8}"/>
              </a:ext>
            </a:extLst>
          </p:cNvPr>
          <p:cNvSpPr txBox="1"/>
          <p:nvPr/>
        </p:nvSpPr>
        <p:spPr>
          <a:xfrm>
            <a:off x="261620" y="965054"/>
            <a:ext cx="11668760" cy="4154984"/>
          </a:xfrm>
          <a:prstGeom prst="rect">
            <a:avLst/>
          </a:prstGeom>
          <a:noFill/>
        </p:spPr>
        <p:txBody>
          <a:bodyPr wrap="square" rtlCol="0">
            <a:spAutoFit/>
          </a:bodyPr>
          <a:lstStyle/>
          <a:p>
            <a:pPr marL="342900" indent="-342900">
              <a:buFont typeface="Arial" panose="020B0604020202020204" pitchFamily="34" charset="0"/>
              <a:buChar char="•"/>
            </a:pPr>
            <a:r>
              <a:rPr lang="en-US" sz="2400" b="1" dirty="0"/>
              <a:t>BLEU Score Components</a:t>
            </a:r>
            <a:r>
              <a:rPr lang="en-US" sz="2400" dirty="0" smtClean="0"/>
              <a:t>:</a:t>
            </a:r>
            <a:endParaRPr lang="en-US" sz="2400" dirty="0"/>
          </a:p>
          <a:p>
            <a:r>
              <a:rPr lang="en-US" sz="2400" dirty="0" smtClean="0"/>
              <a:t>	Involves </a:t>
            </a:r>
            <a:r>
              <a:rPr lang="en-US" sz="2400" dirty="0"/>
              <a:t>unigrams, bigrams, trigrams, and higher-order n-grams</a:t>
            </a:r>
            <a:r>
              <a:rPr lang="en-US" sz="2400" dirty="0" smtClean="0"/>
              <a:t>.</a:t>
            </a:r>
            <a:endParaRPr lang="en-US" sz="2400" dirty="0"/>
          </a:p>
          <a:p>
            <a:r>
              <a:rPr lang="en-US" sz="2400" dirty="0" smtClean="0"/>
              <a:t>	Computes </a:t>
            </a:r>
            <a:r>
              <a:rPr lang="en-US" sz="2400" dirty="0"/>
              <a:t>modified precision for each, considering occurrences in both machine-generated and reference texts</a:t>
            </a:r>
            <a:r>
              <a:rPr lang="en-US" sz="2400" dirty="0" smtClean="0"/>
              <a:t>.</a:t>
            </a:r>
            <a:endParaRPr lang="en-US" sz="2400" dirty="0"/>
          </a:p>
          <a:p>
            <a:pPr marL="342900" indent="-342900">
              <a:buFont typeface="Arial" panose="020B0604020202020204" pitchFamily="34" charset="0"/>
              <a:buChar char="•"/>
            </a:pPr>
            <a:r>
              <a:rPr lang="en-US" sz="2400" b="1" dirty="0"/>
              <a:t>Calculation Method</a:t>
            </a:r>
            <a:r>
              <a:rPr lang="en-US" sz="2400" dirty="0" smtClean="0"/>
              <a:t>:</a:t>
            </a:r>
            <a:endParaRPr lang="en-US" sz="2400" dirty="0"/>
          </a:p>
          <a:p>
            <a:r>
              <a:rPr lang="en-US" sz="2400" dirty="0" smtClean="0"/>
              <a:t>	Modified </a:t>
            </a:r>
            <a:r>
              <a:rPr lang="en-US" sz="2400" dirty="0"/>
              <a:t>precision for bigrams is calculated similarly to unigrams</a:t>
            </a:r>
            <a:r>
              <a:rPr lang="en-US" sz="2400" dirty="0" smtClean="0"/>
              <a:t>.</a:t>
            </a:r>
            <a:endParaRPr lang="en-US" sz="2400" dirty="0"/>
          </a:p>
          <a:p>
            <a:r>
              <a:rPr lang="en-US" sz="2400" dirty="0" smtClean="0"/>
              <a:t>	Counts </a:t>
            </a:r>
            <a:r>
              <a:rPr lang="en-US" sz="2400" dirty="0"/>
              <a:t>are based on the frequency of each bigram in machine-generated output and references</a:t>
            </a:r>
            <a:r>
              <a:rPr lang="en-US" sz="2400" dirty="0" smtClean="0"/>
              <a:t>.</a:t>
            </a:r>
            <a:endParaRPr lang="en-US" sz="2400" dirty="0"/>
          </a:p>
          <a:p>
            <a:pPr marL="342900" indent="-342900">
              <a:buFont typeface="Arial" panose="020B0604020202020204" pitchFamily="34" charset="0"/>
              <a:buChar char="•"/>
            </a:pPr>
            <a:r>
              <a:rPr lang="en-US" sz="2400" b="1" dirty="0"/>
              <a:t>Final BLEU Score</a:t>
            </a:r>
            <a:r>
              <a:rPr lang="en-US" sz="2400" dirty="0" smtClean="0"/>
              <a:t>:</a:t>
            </a:r>
            <a:endParaRPr lang="en-US" sz="2400" dirty="0"/>
          </a:p>
          <a:p>
            <a:r>
              <a:rPr lang="en-US" sz="2400" dirty="0" smtClean="0"/>
              <a:t>	Computed </a:t>
            </a:r>
            <a:r>
              <a:rPr lang="en-US" sz="2400" dirty="0"/>
              <a:t>by averaging modified precision scores for all n-grams</a:t>
            </a:r>
            <a:r>
              <a:rPr lang="en-US" sz="2400" dirty="0" smtClean="0"/>
              <a:t>.</a:t>
            </a:r>
            <a:endParaRPr lang="en-US" sz="2400" dirty="0"/>
          </a:p>
          <a:p>
            <a:r>
              <a:rPr lang="en-US" sz="2400" dirty="0" smtClean="0"/>
              <a:t>	Includes </a:t>
            </a:r>
            <a:r>
              <a:rPr lang="en-US" sz="2400" dirty="0"/>
              <a:t>brevity penalty adjustment for ...</a:t>
            </a:r>
            <a:endParaRPr lang="en-GB" sz="24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30</a:t>
            </a:fld>
            <a:endParaRPr lang="fr-FR"/>
          </a:p>
        </p:txBody>
      </p:sp>
    </p:spTree>
    <p:extLst>
      <p:ext uri="{BB962C8B-B14F-4D97-AF65-F5344CB8AC3E}">
        <p14:creationId xmlns:p14="http://schemas.microsoft.com/office/powerpoint/2010/main" val="6041610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278"/>
        <p:cNvGrpSpPr/>
        <p:nvPr/>
      </p:nvGrpSpPr>
      <p:grpSpPr>
        <a:xfrm>
          <a:off x="0" y="0"/>
          <a:ext cx="0" cy="0"/>
          <a:chOff x="0" y="0"/>
          <a:chExt cx="0" cy="0"/>
        </a:xfrm>
      </p:grpSpPr>
      <p:sp>
        <p:nvSpPr>
          <p:cNvPr id="279" name="Google Shape;279;p21"/>
          <p:cNvSpPr txBox="1">
            <a:spLocks noGrp="1"/>
          </p:cNvSpPr>
          <p:nvPr>
            <p:ph type="title"/>
          </p:nvPr>
        </p:nvSpPr>
        <p:spPr>
          <a:xfrm>
            <a:off x="261620" y="139700"/>
            <a:ext cx="828548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dirty="0" err="1">
                <a:latin typeface="+mj-lt"/>
              </a:rPr>
              <a:t>Evaluating</a:t>
            </a:r>
            <a:r>
              <a:rPr lang="fr-FR" dirty="0">
                <a:latin typeface="+mj-lt"/>
              </a:rPr>
              <a:t> machine translation</a:t>
            </a:r>
            <a:endParaRPr dirty="0">
              <a:latin typeface="+mj-lt"/>
            </a:endParaRPr>
          </a:p>
        </p:txBody>
      </p:sp>
      <p:sp>
        <p:nvSpPr>
          <p:cNvPr id="280" name="Google Shape;280;p21"/>
          <p:cNvSpPr txBox="1"/>
          <p:nvPr/>
        </p:nvSpPr>
        <p:spPr>
          <a:xfrm>
            <a:off x="667510" y="1279855"/>
            <a:ext cx="7285990" cy="409278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2800" dirty="0">
                <a:latin typeface="+mj-lt"/>
                <a:ea typeface="Cambria"/>
                <a:cs typeface="Cambria"/>
                <a:sym typeface="Cambria"/>
              </a:rPr>
              <a:t>French: Le chat est sur le tapis.</a:t>
            </a:r>
            <a:endParaRPr sz="2800" dirty="0">
              <a:latin typeface="+mj-lt"/>
              <a:ea typeface="Cambria"/>
              <a:cs typeface="Cambria"/>
              <a:sym typeface="Cambria"/>
            </a:endParaRPr>
          </a:p>
          <a:p>
            <a:pPr marL="12700" marR="881380" lvl="0" indent="0" algn="l" rtl="0">
              <a:lnSpc>
                <a:spcPct val="192800"/>
              </a:lnSpc>
              <a:spcBef>
                <a:spcPts val="1175"/>
              </a:spcBef>
              <a:spcAft>
                <a:spcPts val="0"/>
              </a:spcAft>
              <a:buNone/>
            </a:pPr>
            <a:r>
              <a:rPr lang="fr-FR" sz="2800" dirty="0">
                <a:latin typeface="+mj-lt"/>
                <a:ea typeface="Cambria"/>
                <a:cs typeface="Cambria"/>
                <a:sym typeface="Cambria"/>
              </a:rPr>
              <a:t>Reference 1: The cat </a:t>
            </a:r>
            <a:r>
              <a:rPr lang="fr-FR" sz="2800" dirty="0" err="1">
                <a:latin typeface="+mj-lt"/>
                <a:ea typeface="Cambria"/>
                <a:cs typeface="Cambria"/>
                <a:sym typeface="Cambria"/>
              </a:rPr>
              <a:t>is</a:t>
            </a:r>
            <a:r>
              <a:rPr lang="fr-FR" sz="2800" dirty="0">
                <a:latin typeface="+mj-lt"/>
                <a:ea typeface="Cambria"/>
                <a:cs typeface="Cambria"/>
                <a:sym typeface="Cambria"/>
              </a:rPr>
              <a:t> on the mat. Reference 2: There </a:t>
            </a:r>
            <a:r>
              <a:rPr lang="fr-FR" sz="2800" dirty="0" err="1">
                <a:latin typeface="+mj-lt"/>
                <a:ea typeface="Cambria"/>
                <a:cs typeface="Cambria"/>
                <a:sym typeface="Cambria"/>
              </a:rPr>
              <a:t>is</a:t>
            </a:r>
            <a:r>
              <a:rPr lang="fr-FR" sz="2800" dirty="0">
                <a:latin typeface="+mj-lt"/>
                <a:ea typeface="Cambria"/>
                <a:cs typeface="Cambria"/>
                <a:sym typeface="Cambria"/>
              </a:rPr>
              <a:t> a cat on the mat. MT output: the </a:t>
            </a:r>
            <a:r>
              <a:rPr lang="fr-FR" sz="2800" dirty="0" err="1">
                <a:latin typeface="+mj-lt"/>
                <a:ea typeface="Cambria"/>
                <a:cs typeface="Cambria"/>
                <a:sym typeface="Cambria"/>
              </a:rPr>
              <a:t>the</a:t>
            </a:r>
            <a:r>
              <a:rPr lang="fr-FR" sz="2800" dirty="0">
                <a:latin typeface="+mj-lt"/>
                <a:ea typeface="Cambria"/>
                <a:cs typeface="Cambria"/>
                <a:sym typeface="Cambria"/>
              </a:rPr>
              <a:t> </a:t>
            </a:r>
            <a:r>
              <a:rPr lang="fr-FR" sz="2800" dirty="0" err="1">
                <a:latin typeface="+mj-lt"/>
                <a:ea typeface="Cambria"/>
                <a:cs typeface="Cambria"/>
                <a:sym typeface="Cambria"/>
              </a:rPr>
              <a:t>the</a:t>
            </a:r>
            <a:r>
              <a:rPr lang="fr-FR" sz="2800" dirty="0">
                <a:latin typeface="+mj-lt"/>
                <a:ea typeface="Cambria"/>
                <a:cs typeface="Cambria"/>
                <a:sym typeface="Cambria"/>
              </a:rPr>
              <a:t> </a:t>
            </a:r>
            <a:r>
              <a:rPr lang="fr-FR" sz="2800" dirty="0" err="1">
                <a:latin typeface="+mj-lt"/>
                <a:ea typeface="Cambria"/>
                <a:cs typeface="Cambria"/>
                <a:sym typeface="Cambria"/>
              </a:rPr>
              <a:t>the</a:t>
            </a:r>
            <a:r>
              <a:rPr lang="fr-FR" sz="2800" dirty="0">
                <a:latin typeface="+mj-lt"/>
                <a:ea typeface="Cambria"/>
                <a:cs typeface="Cambria"/>
                <a:sym typeface="Cambria"/>
              </a:rPr>
              <a:t> </a:t>
            </a:r>
            <a:r>
              <a:rPr lang="fr-FR" sz="2800" dirty="0" err="1">
                <a:latin typeface="+mj-lt"/>
                <a:ea typeface="Cambria"/>
                <a:cs typeface="Cambria"/>
                <a:sym typeface="Cambria"/>
              </a:rPr>
              <a:t>the</a:t>
            </a:r>
            <a:r>
              <a:rPr lang="fr-FR" sz="2800" dirty="0">
                <a:latin typeface="+mj-lt"/>
                <a:ea typeface="Cambria"/>
                <a:cs typeface="Cambria"/>
                <a:sym typeface="Cambria"/>
              </a:rPr>
              <a:t> </a:t>
            </a:r>
            <a:r>
              <a:rPr lang="fr-FR" sz="2800" dirty="0" err="1">
                <a:latin typeface="+mj-lt"/>
                <a:ea typeface="Cambria"/>
                <a:cs typeface="Cambria"/>
                <a:sym typeface="Cambria"/>
              </a:rPr>
              <a:t>the</a:t>
            </a:r>
            <a:r>
              <a:rPr lang="fr-FR" sz="2800" dirty="0">
                <a:latin typeface="+mj-lt"/>
                <a:ea typeface="Cambria"/>
                <a:cs typeface="Cambria"/>
                <a:sym typeface="Cambria"/>
              </a:rPr>
              <a:t> </a:t>
            </a:r>
            <a:r>
              <a:rPr lang="fr-FR" sz="2800" dirty="0" err="1">
                <a:latin typeface="+mj-lt"/>
                <a:ea typeface="Cambria"/>
                <a:cs typeface="Cambria"/>
                <a:sym typeface="Cambria"/>
              </a:rPr>
              <a:t>the</a:t>
            </a:r>
            <a:r>
              <a:rPr lang="fr-FR" sz="2800" dirty="0">
                <a:latin typeface="+mj-lt"/>
                <a:ea typeface="Cambria"/>
                <a:cs typeface="Cambria"/>
                <a:sym typeface="Cambria"/>
              </a:rPr>
              <a:t>.</a:t>
            </a:r>
            <a:endParaRPr sz="2800" dirty="0">
              <a:latin typeface="+mj-lt"/>
              <a:ea typeface="Cambria"/>
              <a:cs typeface="Cambria"/>
              <a:sym typeface="Cambria"/>
            </a:endParaRPr>
          </a:p>
          <a:p>
            <a:pPr marL="0" lvl="0" indent="0" algn="l" rtl="0">
              <a:lnSpc>
                <a:spcPct val="100000"/>
              </a:lnSpc>
              <a:spcBef>
                <a:spcPts val="10"/>
              </a:spcBef>
              <a:spcAft>
                <a:spcPts val="0"/>
              </a:spcAft>
              <a:buNone/>
            </a:pPr>
            <a:endParaRPr sz="3700" dirty="0">
              <a:latin typeface="+mj-lt"/>
              <a:ea typeface="Cambria"/>
              <a:cs typeface="Cambria"/>
              <a:sym typeface="Cambria"/>
            </a:endParaRPr>
          </a:p>
          <a:p>
            <a:pPr marL="12700" lvl="0" indent="0" algn="l" rtl="0">
              <a:lnSpc>
                <a:spcPct val="100000"/>
              </a:lnSpc>
              <a:spcBef>
                <a:spcPts val="0"/>
              </a:spcBef>
              <a:spcAft>
                <a:spcPts val="0"/>
              </a:spcAft>
              <a:buNone/>
            </a:pPr>
            <a:r>
              <a:rPr lang="fr-FR" sz="2800" dirty="0" err="1">
                <a:latin typeface="+mj-lt"/>
                <a:ea typeface="Cambria"/>
                <a:cs typeface="Cambria"/>
                <a:sym typeface="Cambria"/>
              </a:rPr>
              <a:t>Precision</a:t>
            </a:r>
            <a:r>
              <a:rPr lang="fr-FR" sz="2800" dirty="0">
                <a:latin typeface="+mj-lt"/>
                <a:ea typeface="Cambria"/>
                <a:cs typeface="Cambria"/>
                <a:sym typeface="Cambria"/>
              </a:rPr>
              <a:t>:	</a:t>
            </a:r>
            <a:r>
              <a:rPr lang="fr-FR" sz="2800" dirty="0" err="1">
                <a:latin typeface="+mj-lt"/>
                <a:ea typeface="Cambria"/>
                <a:cs typeface="Cambria"/>
                <a:sym typeface="Cambria"/>
              </a:rPr>
              <a:t>Modified</a:t>
            </a:r>
            <a:r>
              <a:rPr lang="fr-FR" sz="2800" dirty="0">
                <a:latin typeface="+mj-lt"/>
                <a:ea typeface="Cambria"/>
                <a:cs typeface="Cambria"/>
                <a:sym typeface="Cambria"/>
              </a:rPr>
              <a:t> </a:t>
            </a:r>
            <a:r>
              <a:rPr lang="fr-FR" sz="2800" dirty="0" err="1">
                <a:latin typeface="+mj-lt"/>
                <a:ea typeface="Cambria"/>
                <a:cs typeface="Cambria"/>
                <a:sym typeface="Cambria"/>
              </a:rPr>
              <a:t>precision</a:t>
            </a:r>
            <a:r>
              <a:rPr lang="fr-FR" sz="2800" dirty="0">
                <a:latin typeface="+mj-lt"/>
                <a:ea typeface="Cambria"/>
                <a:cs typeface="Cambria"/>
                <a:sym typeface="Cambria"/>
              </a:rPr>
              <a:t>:</a:t>
            </a:r>
            <a:endParaRPr sz="2800" dirty="0">
              <a:latin typeface="+mj-lt"/>
              <a:ea typeface="Cambria"/>
              <a:cs typeface="Cambria"/>
              <a:sym typeface="Cambria"/>
            </a:endParaRPr>
          </a:p>
        </p:txBody>
      </p:sp>
      <p:pic>
        <p:nvPicPr>
          <p:cNvPr id="281" name="Google Shape;281;p21"/>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31</a:t>
            </a:fld>
            <a:endParaRPr lang="fr-F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285"/>
        <p:cNvGrpSpPr/>
        <p:nvPr/>
      </p:nvGrpSpPr>
      <p:grpSpPr>
        <a:xfrm>
          <a:off x="0" y="0"/>
          <a:ext cx="0" cy="0"/>
          <a:chOff x="0" y="0"/>
          <a:chExt cx="0" cy="0"/>
        </a:xfrm>
      </p:grpSpPr>
      <p:sp>
        <p:nvSpPr>
          <p:cNvPr id="286" name="Google Shape;286;p22"/>
          <p:cNvSpPr txBox="1">
            <a:spLocks noGrp="1"/>
          </p:cNvSpPr>
          <p:nvPr>
            <p:ph type="title"/>
          </p:nvPr>
        </p:nvSpPr>
        <p:spPr>
          <a:xfrm>
            <a:off x="261620" y="139700"/>
            <a:ext cx="572643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dirty="0">
                <a:latin typeface="+mj-lt"/>
              </a:rPr>
              <a:t>Bleu score on </a:t>
            </a:r>
            <a:r>
              <a:rPr lang="fr-FR" dirty="0" err="1">
                <a:latin typeface="+mj-lt"/>
              </a:rPr>
              <a:t>bigrams</a:t>
            </a:r>
            <a:endParaRPr dirty="0">
              <a:latin typeface="+mj-lt"/>
            </a:endParaRPr>
          </a:p>
        </p:txBody>
      </p:sp>
      <p:sp>
        <p:nvSpPr>
          <p:cNvPr id="287" name="Google Shape;287;p22"/>
          <p:cNvSpPr txBox="1"/>
          <p:nvPr/>
        </p:nvSpPr>
        <p:spPr>
          <a:xfrm>
            <a:off x="443105" y="1157261"/>
            <a:ext cx="1581785"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2800">
                <a:latin typeface="+mj-lt"/>
                <a:ea typeface="Cambria"/>
                <a:cs typeface="Cambria"/>
                <a:sym typeface="Cambria"/>
              </a:rPr>
              <a:t>Example:</a:t>
            </a:r>
            <a:endParaRPr sz="2800">
              <a:latin typeface="+mj-lt"/>
              <a:ea typeface="Cambria"/>
              <a:cs typeface="Cambria"/>
              <a:sym typeface="Cambria"/>
            </a:endParaRPr>
          </a:p>
        </p:txBody>
      </p:sp>
      <p:sp>
        <p:nvSpPr>
          <p:cNvPr id="288" name="Google Shape;288;p22"/>
          <p:cNvSpPr txBox="1"/>
          <p:nvPr/>
        </p:nvSpPr>
        <p:spPr>
          <a:xfrm>
            <a:off x="2374013" y="953147"/>
            <a:ext cx="6409690" cy="2007235"/>
          </a:xfrm>
          <a:prstGeom prst="rect">
            <a:avLst/>
          </a:prstGeom>
          <a:noFill/>
          <a:ln>
            <a:noFill/>
          </a:ln>
        </p:spPr>
        <p:txBody>
          <a:bodyPr spcFirstLastPara="1" wrap="square" lIns="0" tIns="5700" rIns="0" bIns="0" anchor="t" anchorCtr="0">
            <a:spAutoFit/>
          </a:bodyPr>
          <a:lstStyle/>
          <a:p>
            <a:pPr marL="12700" marR="5080" lvl="0" indent="0" algn="l" rtl="0">
              <a:lnSpc>
                <a:spcPct val="155300"/>
              </a:lnSpc>
              <a:spcBef>
                <a:spcPts val="0"/>
              </a:spcBef>
              <a:spcAft>
                <a:spcPts val="0"/>
              </a:spcAft>
              <a:buNone/>
            </a:pPr>
            <a:r>
              <a:rPr lang="fr-FR" sz="2800" dirty="0">
                <a:latin typeface="+mj-lt"/>
                <a:ea typeface="Cambria"/>
                <a:cs typeface="Cambria"/>
                <a:sym typeface="Cambria"/>
              </a:rPr>
              <a:t>Reference 1: The cat </a:t>
            </a:r>
            <a:r>
              <a:rPr lang="fr-FR" sz="2800" dirty="0" err="1">
                <a:latin typeface="+mj-lt"/>
                <a:ea typeface="Cambria"/>
                <a:cs typeface="Cambria"/>
                <a:sym typeface="Cambria"/>
              </a:rPr>
              <a:t>is</a:t>
            </a:r>
            <a:r>
              <a:rPr lang="fr-FR" sz="2800" dirty="0">
                <a:latin typeface="+mj-lt"/>
                <a:ea typeface="Cambria"/>
                <a:cs typeface="Cambria"/>
                <a:sym typeface="Cambria"/>
              </a:rPr>
              <a:t> on the mat. Reference 2: There </a:t>
            </a:r>
            <a:r>
              <a:rPr lang="fr-FR" sz="2800" dirty="0" err="1">
                <a:latin typeface="+mj-lt"/>
                <a:ea typeface="Cambria"/>
                <a:cs typeface="Cambria"/>
                <a:sym typeface="Cambria"/>
              </a:rPr>
              <a:t>is</a:t>
            </a:r>
            <a:r>
              <a:rPr lang="fr-FR" sz="2800" dirty="0">
                <a:latin typeface="+mj-lt"/>
                <a:ea typeface="Cambria"/>
                <a:cs typeface="Cambria"/>
                <a:sym typeface="Cambria"/>
              </a:rPr>
              <a:t> a cat on the mat. MT output: The cat the cat on the mat.</a:t>
            </a:r>
            <a:endParaRPr sz="2800" dirty="0">
              <a:latin typeface="+mj-lt"/>
              <a:ea typeface="Cambria"/>
              <a:cs typeface="Cambria"/>
              <a:sym typeface="Cambria"/>
            </a:endParaRPr>
          </a:p>
        </p:txBody>
      </p:sp>
      <p:sp>
        <p:nvSpPr>
          <p:cNvPr id="289" name="Google Shape;289;p22"/>
          <p:cNvSpPr txBox="1"/>
          <p:nvPr/>
        </p:nvSpPr>
        <p:spPr>
          <a:xfrm>
            <a:off x="443105" y="3319665"/>
            <a:ext cx="1310005" cy="2967990"/>
          </a:xfrm>
          <a:prstGeom prst="rect">
            <a:avLst/>
          </a:prstGeom>
          <a:noFill/>
          <a:ln>
            <a:noFill/>
          </a:ln>
        </p:spPr>
        <p:txBody>
          <a:bodyPr spcFirstLastPara="1" wrap="square" lIns="0" tIns="12700" rIns="0" bIns="0" anchor="t" anchorCtr="0">
            <a:spAutoFit/>
          </a:bodyPr>
          <a:lstStyle/>
          <a:p>
            <a:pPr marL="12700" marR="5080" lvl="0" indent="0" algn="l" rtl="0">
              <a:lnSpc>
                <a:spcPct val="137900"/>
              </a:lnSpc>
              <a:spcBef>
                <a:spcPts val="0"/>
              </a:spcBef>
              <a:spcAft>
                <a:spcPts val="0"/>
              </a:spcAft>
              <a:buNone/>
            </a:pPr>
            <a:r>
              <a:rPr lang="fr-FR" sz="2800">
                <a:latin typeface="+mj-lt"/>
                <a:ea typeface="Cambria"/>
                <a:cs typeface="Cambria"/>
                <a:sym typeface="Cambria"/>
              </a:rPr>
              <a:t>the cat cat the cat on on the the mat</a:t>
            </a:r>
            <a:endParaRPr sz="2800">
              <a:latin typeface="+mj-lt"/>
              <a:ea typeface="Cambria"/>
              <a:cs typeface="Cambria"/>
              <a:sym typeface="Cambria"/>
            </a:endParaRPr>
          </a:p>
        </p:txBody>
      </p:sp>
      <p:sp>
        <p:nvSpPr>
          <p:cNvPr id="290" name="Google Shape;290;p22"/>
          <p:cNvSpPr txBox="1"/>
          <p:nvPr/>
        </p:nvSpPr>
        <p:spPr>
          <a:xfrm>
            <a:off x="2209800" y="3059668"/>
            <a:ext cx="6130412" cy="369332"/>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fr-FR" sz="1800">
                <a:latin typeface="+mj-lt"/>
              </a:rPr>
              <a:t>Count    countclip</a:t>
            </a:r>
            <a:endParaRPr sz="1800">
              <a:latin typeface="+mj-lt"/>
            </a:endParaRPr>
          </a:p>
        </p:txBody>
      </p:sp>
      <p:sp>
        <p:nvSpPr>
          <p:cNvPr id="291" name="Google Shape;291;p22"/>
          <p:cNvSpPr txBox="1"/>
          <p:nvPr/>
        </p:nvSpPr>
        <p:spPr>
          <a:xfrm>
            <a:off x="2209800" y="3429000"/>
            <a:ext cx="6130412" cy="3139321"/>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fr-FR" sz="2000">
                <a:latin typeface="+mj-lt"/>
              </a:rPr>
              <a:t>2</a:t>
            </a:r>
            <a:endParaRPr>
              <a:latin typeface="+mj-lt"/>
            </a:endParaRPr>
          </a:p>
          <a:p>
            <a:pPr marL="0" lvl="0" indent="0" algn="l" rtl="0">
              <a:spcBef>
                <a:spcPts val="0"/>
              </a:spcBef>
              <a:spcAft>
                <a:spcPts val="0"/>
              </a:spcAft>
              <a:buNone/>
            </a:pPr>
            <a:endParaRPr sz="2000">
              <a:latin typeface="+mj-lt"/>
            </a:endParaRPr>
          </a:p>
          <a:p>
            <a:pPr marL="0" lvl="0" indent="0" algn="l" rtl="0">
              <a:spcBef>
                <a:spcPts val="0"/>
              </a:spcBef>
              <a:spcAft>
                <a:spcPts val="0"/>
              </a:spcAft>
              <a:buNone/>
            </a:pPr>
            <a:r>
              <a:rPr lang="fr-FR" sz="2000">
                <a:latin typeface="+mj-lt"/>
              </a:rPr>
              <a:t>1</a:t>
            </a:r>
            <a:endParaRPr>
              <a:latin typeface="+mj-lt"/>
            </a:endParaRPr>
          </a:p>
          <a:p>
            <a:pPr marL="0" lvl="0" indent="0" algn="l" rtl="0">
              <a:spcBef>
                <a:spcPts val="0"/>
              </a:spcBef>
              <a:spcAft>
                <a:spcPts val="0"/>
              </a:spcAft>
              <a:buNone/>
            </a:pPr>
            <a:endParaRPr sz="2000">
              <a:latin typeface="+mj-lt"/>
            </a:endParaRPr>
          </a:p>
          <a:p>
            <a:pPr marL="0" lvl="0" indent="0" algn="l" rtl="0">
              <a:spcBef>
                <a:spcPts val="0"/>
              </a:spcBef>
              <a:spcAft>
                <a:spcPts val="0"/>
              </a:spcAft>
              <a:buNone/>
            </a:pPr>
            <a:r>
              <a:rPr lang="fr-FR" sz="2000">
                <a:latin typeface="+mj-lt"/>
              </a:rPr>
              <a:t>1</a:t>
            </a:r>
            <a:endParaRPr>
              <a:latin typeface="+mj-lt"/>
            </a:endParaRPr>
          </a:p>
          <a:p>
            <a:pPr marL="0" lvl="0" indent="0" algn="l" rtl="0">
              <a:spcBef>
                <a:spcPts val="0"/>
              </a:spcBef>
              <a:spcAft>
                <a:spcPts val="0"/>
              </a:spcAft>
              <a:buNone/>
            </a:pPr>
            <a:endParaRPr sz="2000">
              <a:latin typeface="+mj-lt"/>
            </a:endParaRPr>
          </a:p>
          <a:p>
            <a:pPr marL="0" lvl="0" indent="0" algn="l" rtl="0">
              <a:spcBef>
                <a:spcPts val="0"/>
              </a:spcBef>
              <a:spcAft>
                <a:spcPts val="0"/>
              </a:spcAft>
              <a:buNone/>
            </a:pPr>
            <a:r>
              <a:rPr lang="fr-FR" sz="2000">
                <a:latin typeface="+mj-lt"/>
              </a:rPr>
              <a:t>1</a:t>
            </a:r>
            <a:endParaRPr>
              <a:latin typeface="+mj-lt"/>
            </a:endParaRPr>
          </a:p>
          <a:p>
            <a:pPr marL="0" lvl="0" indent="0" algn="l" rtl="0">
              <a:spcBef>
                <a:spcPts val="0"/>
              </a:spcBef>
              <a:spcAft>
                <a:spcPts val="0"/>
              </a:spcAft>
              <a:buNone/>
            </a:pPr>
            <a:endParaRPr sz="2000">
              <a:latin typeface="+mj-lt"/>
            </a:endParaRPr>
          </a:p>
          <a:p>
            <a:pPr marL="0" lvl="0" indent="0" algn="l" rtl="0">
              <a:spcBef>
                <a:spcPts val="0"/>
              </a:spcBef>
              <a:spcAft>
                <a:spcPts val="0"/>
              </a:spcAft>
              <a:buNone/>
            </a:pPr>
            <a:r>
              <a:rPr lang="fr-FR" sz="2000">
                <a:latin typeface="+mj-lt"/>
              </a:rPr>
              <a:t>1</a:t>
            </a:r>
            <a:endParaRPr>
              <a:latin typeface="+mj-lt"/>
            </a:endParaRPr>
          </a:p>
          <a:p>
            <a:pPr marL="342900" lvl="0" indent="-228600" algn="l" rtl="0">
              <a:spcBef>
                <a:spcPts val="0"/>
              </a:spcBef>
              <a:spcAft>
                <a:spcPts val="0"/>
              </a:spcAft>
              <a:buSzPts val="1800"/>
              <a:buFont typeface="Arial"/>
              <a:buNone/>
            </a:pPr>
            <a:endParaRPr sz="1800">
              <a:latin typeface="+mj-lt"/>
            </a:endParaRPr>
          </a:p>
        </p:txBody>
      </p:sp>
      <p:sp>
        <p:nvSpPr>
          <p:cNvPr id="292" name="Google Shape;292;p22"/>
          <p:cNvSpPr txBox="1"/>
          <p:nvPr/>
        </p:nvSpPr>
        <p:spPr>
          <a:xfrm>
            <a:off x="3124835" y="3425333"/>
            <a:ext cx="6130412" cy="2862322"/>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fr-FR" sz="2000">
                <a:latin typeface="+mj-lt"/>
              </a:rPr>
              <a:t>1</a:t>
            </a:r>
            <a:endParaRPr>
              <a:latin typeface="+mj-lt"/>
            </a:endParaRPr>
          </a:p>
          <a:p>
            <a:pPr marL="0" lvl="0" indent="0" algn="l" rtl="0">
              <a:spcBef>
                <a:spcPts val="0"/>
              </a:spcBef>
              <a:spcAft>
                <a:spcPts val="0"/>
              </a:spcAft>
              <a:buNone/>
            </a:pPr>
            <a:endParaRPr sz="2000">
              <a:latin typeface="+mj-lt"/>
            </a:endParaRPr>
          </a:p>
          <a:p>
            <a:pPr marL="0" lvl="0" indent="0" algn="l" rtl="0">
              <a:spcBef>
                <a:spcPts val="0"/>
              </a:spcBef>
              <a:spcAft>
                <a:spcPts val="0"/>
              </a:spcAft>
              <a:buNone/>
            </a:pPr>
            <a:r>
              <a:rPr lang="fr-FR" sz="2000">
                <a:latin typeface="+mj-lt"/>
              </a:rPr>
              <a:t>0</a:t>
            </a:r>
            <a:endParaRPr>
              <a:latin typeface="+mj-lt"/>
            </a:endParaRPr>
          </a:p>
          <a:p>
            <a:pPr marL="0" lvl="0" indent="0" algn="l" rtl="0">
              <a:spcBef>
                <a:spcPts val="0"/>
              </a:spcBef>
              <a:spcAft>
                <a:spcPts val="0"/>
              </a:spcAft>
              <a:buNone/>
            </a:pPr>
            <a:endParaRPr sz="2000">
              <a:latin typeface="+mj-lt"/>
            </a:endParaRPr>
          </a:p>
          <a:p>
            <a:pPr marL="0" lvl="0" indent="0" algn="l" rtl="0">
              <a:spcBef>
                <a:spcPts val="0"/>
              </a:spcBef>
              <a:spcAft>
                <a:spcPts val="0"/>
              </a:spcAft>
              <a:buNone/>
            </a:pPr>
            <a:r>
              <a:rPr lang="fr-FR" sz="2000">
                <a:latin typeface="+mj-lt"/>
              </a:rPr>
              <a:t>1</a:t>
            </a:r>
            <a:endParaRPr>
              <a:latin typeface="+mj-lt"/>
            </a:endParaRPr>
          </a:p>
          <a:p>
            <a:pPr marL="0" lvl="0" indent="0" algn="l" rtl="0">
              <a:spcBef>
                <a:spcPts val="0"/>
              </a:spcBef>
              <a:spcAft>
                <a:spcPts val="0"/>
              </a:spcAft>
              <a:buNone/>
            </a:pPr>
            <a:endParaRPr sz="2000">
              <a:latin typeface="+mj-lt"/>
            </a:endParaRPr>
          </a:p>
          <a:p>
            <a:pPr marL="0" lvl="0" indent="0" algn="l" rtl="0">
              <a:spcBef>
                <a:spcPts val="0"/>
              </a:spcBef>
              <a:spcAft>
                <a:spcPts val="0"/>
              </a:spcAft>
              <a:buNone/>
            </a:pPr>
            <a:r>
              <a:rPr lang="fr-FR" sz="2000">
                <a:latin typeface="+mj-lt"/>
              </a:rPr>
              <a:t>1</a:t>
            </a:r>
            <a:endParaRPr>
              <a:latin typeface="+mj-lt"/>
            </a:endParaRPr>
          </a:p>
          <a:p>
            <a:pPr marL="0" lvl="0" indent="0" algn="l" rtl="0">
              <a:spcBef>
                <a:spcPts val="0"/>
              </a:spcBef>
              <a:spcAft>
                <a:spcPts val="0"/>
              </a:spcAft>
              <a:buNone/>
            </a:pPr>
            <a:endParaRPr sz="2000">
              <a:latin typeface="+mj-lt"/>
            </a:endParaRPr>
          </a:p>
          <a:p>
            <a:pPr marL="0" lvl="0" indent="0" algn="l" rtl="0">
              <a:spcBef>
                <a:spcPts val="0"/>
              </a:spcBef>
              <a:spcAft>
                <a:spcPts val="0"/>
              </a:spcAft>
              <a:buNone/>
            </a:pPr>
            <a:r>
              <a:rPr lang="fr-FR" sz="2000">
                <a:latin typeface="+mj-lt"/>
              </a:rPr>
              <a:t>1</a:t>
            </a:r>
            <a:endParaRPr>
              <a:latin typeface="+mj-lt"/>
            </a:endParaRPr>
          </a:p>
        </p:txBody>
      </p:sp>
      <p:sp>
        <p:nvSpPr>
          <p:cNvPr id="293" name="Google Shape;293;p22"/>
          <p:cNvSpPr txBox="1"/>
          <p:nvPr/>
        </p:nvSpPr>
        <p:spPr>
          <a:xfrm>
            <a:off x="5410200" y="3940768"/>
            <a:ext cx="5340740" cy="1246495"/>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sz="1800">
                <a:latin typeface="+mj-lt"/>
              </a:rPr>
              <a:t> </a:t>
            </a:r>
            <a:endParaRPr>
              <a:latin typeface="+mj-lt"/>
            </a:endParaRPr>
          </a:p>
        </p:txBody>
      </p:sp>
      <p:pic>
        <p:nvPicPr>
          <p:cNvPr id="294" name="Google Shape;294;p22"/>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32</a:t>
            </a:fld>
            <a:endParaRPr lang="fr-F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298"/>
        <p:cNvGrpSpPr/>
        <p:nvPr/>
      </p:nvGrpSpPr>
      <p:grpSpPr>
        <a:xfrm>
          <a:off x="0" y="0"/>
          <a:ext cx="0" cy="0"/>
          <a:chOff x="0" y="0"/>
          <a:chExt cx="0" cy="0"/>
        </a:xfrm>
      </p:grpSpPr>
      <p:sp>
        <p:nvSpPr>
          <p:cNvPr id="299" name="Google Shape;299;p23"/>
          <p:cNvSpPr txBox="1">
            <a:spLocks noGrp="1"/>
          </p:cNvSpPr>
          <p:nvPr>
            <p:ph type="title"/>
          </p:nvPr>
        </p:nvSpPr>
        <p:spPr>
          <a:xfrm>
            <a:off x="261620" y="139700"/>
            <a:ext cx="609790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a:latin typeface="+mj-lt"/>
              </a:rPr>
              <a:t>Bleu score on unigrams</a:t>
            </a:r>
            <a:endParaRPr>
              <a:latin typeface="+mj-lt"/>
            </a:endParaRPr>
          </a:p>
        </p:txBody>
      </p:sp>
      <p:sp>
        <p:nvSpPr>
          <p:cNvPr id="300" name="Google Shape;300;p23"/>
          <p:cNvSpPr txBox="1"/>
          <p:nvPr/>
        </p:nvSpPr>
        <p:spPr>
          <a:xfrm>
            <a:off x="443105" y="1157261"/>
            <a:ext cx="1581785"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2800">
                <a:latin typeface="+mj-lt"/>
                <a:ea typeface="Cambria"/>
                <a:cs typeface="Cambria"/>
                <a:sym typeface="Cambria"/>
              </a:rPr>
              <a:t>Example:</a:t>
            </a:r>
            <a:endParaRPr sz="2800">
              <a:latin typeface="+mj-lt"/>
              <a:ea typeface="Cambria"/>
              <a:cs typeface="Cambria"/>
              <a:sym typeface="Cambria"/>
            </a:endParaRPr>
          </a:p>
        </p:txBody>
      </p:sp>
      <p:sp>
        <p:nvSpPr>
          <p:cNvPr id="301" name="Google Shape;301;p23"/>
          <p:cNvSpPr txBox="1"/>
          <p:nvPr/>
        </p:nvSpPr>
        <p:spPr>
          <a:xfrm>
            <a:off x="2374013" y="953147"/>
            <a:ext cx="6409690" cy="2007235"/>
          </a:xfrm>
          <a:prstGeom prst="rect">
            <a:avLst/>
          </a:prstGeom>
          <a:noFill/>
          <a:ln>
            <a:noFill/>
          </a:ln>
        </p:spPr>
        <p:txBody>
          <a:bodyPr spcFirstLastPara="1" wrap="square" lIns="0" tIns="5700" rIns="0" bIns="0" anchor="t" anchorCtr="0">
            <a:spAutoFit/>
          </a:bodyPr>
          <a:lstStyle/>
          <a:p>
            <a:pPr marL="12700" marR="5080" lvl="0" indent="0" algn="l" rtl="0">
              <a:lnSpc>
                <a:spcPct val="155300"/>
              </a:lnSpc>
              <a:spcBef>
                <a:spcPts val="0"/>
              </a:spcBef>
              <a:spcAft>
                <a:spcPts val="0"/>
              </a:spcAft>
              <a:buNone/>
            </a:pPr>
            <a:r>
              <a:rPr lang="fr-FR" sz="2800">
                <a:latin typeface="+mj-lt"/>
                <a:ea typeface="Cambria"/>
                <a:cs typeface="Cambria"/>
                <a:sym typeface="Cambria"/>
              </a:rPr>
              <a:t>Reference 1: The cat is on the mat. Reference 2: There is a cat on the mat. MT output: The cat the cat on the mat.</a:t>
            </a:r>
            <a:endParaRPr sz="2800">
              <a:latin typeface="+mj-lt"/>
              <a:ea typeface="Cambria"/>
              <a:cs typeface="Cambria"/>
              <a:sym typeface="Cambria"/>
            </a:endParaRPr>
          </a:p>
        </p:txBody>
      </p:sp>
      <p:pic>
        <p:nvPicPr>
          <p:cNvPr id="302" name="Google Shape;302;p23"/>
          <p:cNvPicPr preferRelativeResize="0"/>
          <p:nvPr/>
        </p:nvPicPr>
        <p:blipFill rotWithShape="1">
          <a:blip r:embed="rId3">
            <a:alphaModFix/>
          </a:blip>
          <a:srcRect/>
          <a:stretch/>
        </p:blipFill>
        <p:spPr>
          <a:xfrm>
            <a:off x="412050" y="3505200"/>
            <a:ext cx="10333615" cy="2956816"/>
          </a:xfrm>
          <a:prstGeom prst="rect">
            <a:avLst/>
          </a:prstGeom>
          <a:noFill/>
          <a:ln>
            <a:noFill/>
          </a:ln>
        </p:spPr>
      </p:pic>
      <p:pic>
        <p:nvPicPr>
          <p:cNvPr id="303" name="Google Shape;303;p23"/>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33</a:t>
            </a:fld>
            <a:endParaRPr lang="fr-F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307"/>
        <p:cNvGrpSpPr/>
        <p:nvPr/>
      </p:nvGrpSpPr>
      <p:grpSpPr>
        <a:xfrm>
          <a:off x="0" y="0"/>
          <a:ext cx="0" cy="0"/>
          <a:chOff x="0" y="0"/>
          <a:chExt cx="0" cy="0"/>
        </a:xfrm>
      </p:grpSpPr>
      <p:sp>
        <p:nvSpPr>
          <p:cNvPr id="308" name="Google Shape;308;p24"/>
          <p:cNvSpPr txBox="1">
            <a:spLocks noGrp="1"/>
          </p:cNvSpPr>
          <p:nvPr>
            <p:ph type="title"/>
          </p:nvPr>
        </p:nvSpPr>
        <p:spPr>
          <a:xfrm>
            <a:off x="261620" y="139700"/>
            <a:ext cx="311975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a:latin typeface="+mj-lt"/>
              </a:rPr>
              <a:t>Bleu details</a:t>
            </a:r>
            <a:endParaRPr>
              <a:latin typeface="+mj-lt"/>
            </a:endParaRPr>
          </a:p>
        </p:txBody>
      </p:sp>
      <p:pic>
        <p:nvPicPr>
          <p:cNvPr id="309" name="Google Shape;309;p24"/>
          <p:cNvPicPr preferRelativeResize="0"/>
          <p:nvPr/>
        </p:nvPicPr>
        <p:blipFill rotWithShape="1">
          <a:blip r:embed="rId3">
            <a:alphaModFix/>
          </a:blip>
          <a:srcRect/>
          <a:stretch/>
        </p:blipFill>
        <p:spPr>
          <a:xfrm>
            <a:off x="457200" y="1295400"/>
            <a:ext cx="10562356" cy="4876800"/>
          </a:xfrm>
          <a:prstGeom prst="rect">
            <a:avLst/>
          </a:prstGeom>
          <a:noFill/>
          <a:ln>
            <a:noFill/>
          </a:ln>
        </p:spPr>
      </p:pic>
      <p:pic>
        <p:nvPicPr>
          <p:cNvPr id="310" name="Google Shape;310;p24"/>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TextBox 1"/>
          <p:cNvSpPr txBox="1"/>
          <p:nvPr/>
        </p:nvSpPr>
        <p:spPr>
          <a:xfrm>
            <a:off x="2788921" y="3666744"/>
            <a:ext cx="301752" cy="461665"/>
          </a:xfrm>
          <a:prstGeom prst="rect">
            <a:avLst/>
          </a:prstGeom>
          <a:noFill/>
        </p:spPr>
        <p:txBody>
          <a:bodyPr wrap="square" rtlCol="0">
            <a:spAutoFit/>
          </a:bodyPr>
          <a:lstStyle/>
          <a:p>
            <a:r>
              <a:rPr lang="en-US" sz="2400" dirty="0" smtClean="0"/>
              <a:t>1</a:t>
            </a:r>
            <a:endParaRPr lang="en-US" sz="24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34</a:t>
            </a:fld>
            <a:endParaRPr lang="fr-F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314"/>
        <p:cNvGrpSpPr/>
        <p:nvPr/>
      </p:nvGrpSpPr>
      <p:grpSpPr>
        <a:xfrm>
          <a:off x="0" y="0"/>
          <a:ext cx="0" cy="0"/>
          <a:chOff x="0" y="0"/>
          <a:chExt cx="0" cy="0"/>
        </a:xfrm>
      </p:grpSpPr>
      <p:sp>
        <p:nvSpPr>
          <p:cNvPr id="315" name="Google Shape;315;p25"/>
          <p:cNvSpPr txBox="1">
            <a:spLocks noGrp="1"/>
          </p:cNvSpPr>
          <p:nvPr>
            <p:ph type="title"/>
          </p:nvPr>
        </p:nvSpPr>
        <p:spPr>
          <a:xfrm>
            <a:off x="5339346" y="791044"/>
            <a:ext cx="6081510" cy="2125182"/>
          </a:xfrm>
          <a:prstGeom prst="rect">
            <a:avLst/>
          </a:prstGeom>
          <a:noFill/>
          <a:ln>
            <a:noFill/>
          </a:ln>
        </p:spPr>
        <p:txBody>
          <a:bodyPr spcFirstLastPara="1" wrap="square" lIns="0" tIns="129525" rIns="0" bIns="0" anchor="t" anchorCtr="0">
            <a:spAutoFit/>
          </a:bodyPr>
          <a:lstStyle/>
          <a:p>
            <a:pPr marL="12700" marR="5080" lvl="0" indent="848994" algn="l" rtl="0">
              <a:lnSpc>
                <a:spcPct val="107575"/>
              </a:lnSpc>
              <a:spcBef>
                <a:spcPts val="0"/>
              </a:spcBef>
              <a:spcAft>
                <a:spcPts val="0"/>
              </a:spcAft>
              <a:buNone/>
            </a:pPr>
            <a:r>
              <a:rPr lang="fr-FR" sz="6000" b="0" dirty="0" err="1">
                <a:latin typeface="+mj-lt"/>
                <a:ea typeface="Calibri"/>
                <a:cs typeface="Calibri"/>
                <a:sym typeface="Calibri"/>
              </a:rPr>
              <a:t>Sequence</a:t>
            </a:r>
            <a:r>
              <a:rPr lang="fr-FR" sz="6000" b="0" dirty="0">
                <a:latin typeface="+mj-lt"/>
                <a:ea typeface="Calibri"/>
                <a:cs typeface="Calibri"/>
                <a:sym typeface="Calibri"/>
              </a:rPr>
              <a:t> to </a:t>
            </a:r>
            <a:r>
              <a:rPr lang="fr-FR" sz="6000" b="0" dirty="0" err="1">
                <a:latin typeface="+mj-lt"/>
                <a:ea typeface="Calibri"/>
                <a:cs typeface="Calibri"/>
                <a:sym typeface="Calibri"/>
              </a:rPr>
              <a:t>sequence</a:t>
            </a:r>
            <a:r>
              <a:rPr lang="fr-FR" sz="6000" b="0" dirty="0">
                <a:latin typeface="+mj-lt"/>
                <a:ea typeface="Calibri"/>
                <a:cs typeface="Calibri"/>
                <a:sym typeface="Calibri"/>
              </a:rPr>
              <a:t> </a:t>
            </a:r>
            <a:r>
              <a:rPr lang="fr-FR" sz="6000" b="0" dirty="0" err="1">
                <a:latin typeface="+mj-lt"/>
                <a:ea typeface="Calibri"/>
                <a:cs typeface="Calibri"/>
                <a:sym typeface="Calibri"/>
              </a:rPr>
              <a:t>models</a:t>
            </a:r>
            <a:endParaRPr sz="6000" dirty="0">
              <a:latin typeface="+mj-lt"/>
              <a:ea typeface="Calibri"/>
              <a:cs typeface="Calibri"/>
              <a:sym typeface="Calibri"/>
            </a:endParaRPr>
          </a:p>
        </p:txBody>
      </p:sp>
      <p:sp>
        <p:nvSpPr>
          <p:cNvPr id="316" name="Google Shape;316;p25"/>
          <p:cNvSpPr txBox="1"/>
          <p:nvPr/>
        </p:nvSpPr>
        <p:spPr>
          <a:xfrm>
            <a:off x="5953505" y="3752379"/>
            <a:ext cx="4853192" cy="2022590"/>
          </a:xfrm>
          <a:prstGeom prst="rect">
            <a:avLst/>
          </a:prstGeom>
          <a:noFill/>
          <a:ln>
            <a:noFill/>
          </a:ln>
        </p:spPr>
        <p:txBody>
          <a:bodyPr spcFirstLastPara="1" wrap="square" lIns="0" tIns="27925" rIns="0" bIns="0" anchor="t" anchorCtr="0">
            <a:spAutoFit/>
          </a:bodyPr>
          <a:lstStyle/>
          <a:p>
            <a:pPr marL="1346835" marR="5080" lvl="0" indent="-1334770" algn="l" rtl="0">
              <a:lnSpc>
                <a:spcPct val="119696"/>
              </a:lnSpc>
              <a:spcBef>
                <a:spcPts val="0"/>
              </a:spcBef>
              <a:spcAft>
                <a:spcPts val="0"/>
              </a:spcAft>
              <a:buNone/>
            </a:pPr>
            <a:r>
              <a:rPr lang="fr-FR" sz="5400" dirty="0">
                <a:latin typeface="+mj-lt"/>
                <a:ea typeface="Calibri"/>
                <a:cs typeface="Calibri"/>
                <a:sym typeface="Calibri"/>
              </a:rPr>
              <a:t>Attention model intuition</a:t>
            </a:r>
            <a:endParaRPr sz="5400" dirty="0">
              <a:latin typeface="+mj-lt"/>
              <a:ea typeface="Calibri"/>
              <a:cs typeface="Calibri"/>
              <a:sym typeface="Calibri"/>
            </a:endParaRPr>
          </a:p>
        </p:txBody>
      </p:sp>
      <p:sp>
        <p:nvSpPr>
          <p:cNvPr id="317" name="Google Shape;317;p25"/>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18" name="Google Shape;318;p25"/>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35</a:t>
            </a:fld>
            <a:endParaRPr lang="fr-F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87"/>
        <p:cNvGrpSpPr/>
        <p:nvPr/>
      </p:nvGrpSpPr>
      <p:grpSpPr>
        <a:xfrm>
          <a:off x="0" y="0"/>
          <a:ext cx="0" cy="0"/>
          <a:chOff x="0" y="0"/>
          <a:chExt cx="0" cy="0"/>
        </a:xfrm>
      </p:grpSpPr>
      <p:sp>
        <p:nvSpPr>
          <p:cNvPr id="88" name="Google Shape;88;p7"/>
          <p:cNvSpPr txBox="1">
            <a:spLocks noGrp="1"/>
          </p:cNvSpPr>
          <p:nvPr>
            <p:ph type="title"/>
          </p:nvPr>
        </p:nvSpPr>
        <p:spPr>
          <a:xfrm>
            <a:off x="261620" y="139700"/>
            <a:ext cx="9082405" cy="825354"/>
          </a:xfrm>
          <a:prstGeom prst="rect">
            <a:avLst/>
          </a:prstGeom>
          <a:noFill/>
          <a:ln>
            <a:noFill/>
          </a:ln>
        </p:spPr>
        <p:txBody>
          <a:bodyPr spcFirstLastPara="1" wrap="square" lIns="0" tIns="12700" rIns="0" bIns="0" anchor="t" anchorCtr="0">
            <a:spAutoFit/>
          </a:bodyPr>
          <a:lstStyle/>
          <a:p>
            <a:pPr marL="1346835" marR="5080" lvl="0" indent="-1334770" algn="l" rtl="0">
              <a:lnSpc>
                <a:spcPct val="119696"/>
              </a:lnSpc>
              <a:spcBef>
                <a:spcPts val="0"/>
              </a:spcBef>
              <a:spcAft>
                <a:spcPts val="0"/>
              </a:spcAft>
              <a:buNone/>
            </a:pPr>
            <a:r>
              <a:rPr lang="fr-FR" sz="4400" dirty="0">
                <a:latin typeface="+mj-lt"/>
                <a:ea typeface="Calibri"/>
                <a:cs typeface="Calibri"/>
                <a:sym typeface="Calibri"/>
              </a:rPr>
              <a:t>Attention model intuition</a:t>
            </a:r>
          </a:p>
        </p:txBody>
      </p:sp>
      <p:pic>
        <p:nvPicPr>
          <p:cNvPr id="97" name="Google Shape;97;p7"/>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1E565E91-141B-F8D7-BBA2-ED443A7979E8}"/>
              </a:ext>
            </a:extLst>
          </p:cNvPr>
          <p:cNvSpPr txBox="1"/>
          <p:nvPr/>
        </p:nvSpPr>
        <p:spPr>
          <a:xfrm>
            <a:off x="261620" y="1367390"/>
            <a:ext cx="11668760" cy="3416320"/>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Encoder-Decoder architecture is a commonly used model for machine translation, but struggles to effectively translate long sentences as it tries to memorize the whole sentence before generating the translation. </a:t>
            </a:r>
            <a:endParaRPr lang="en-US" sz="2400" dirty="0" smtClean="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smtClean="0"/>
              <a:t>The </a:t>
            </a:r>
            <a:r>
              <a:rPr lang="en-US" sz="2400" dirty="0"/>
              <a:t>Attention Model addresses this issue by allowing the model to focus on different parts of the input sentence at different times while generating the translation. This is achieved through attention weights that determine how much attention the model should pay to each part of the input sentence when generating each word in the output sentence.</a:t>
            </a:r>
            <a:endParaRPr lang="en-GB" sz="24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36</a:t>
            </a:fld>
            <a:endParaRPr lang="fr-FR"/>
          </a:p>
        </p:txBody>
      </p:sp>
    </p:spTree>
    <p:extLst>
      <p:ext uri="{BB962C8B-B14F-4D97-AF65-F5344CB8AC3E}">
        <p14:creationId xmlns:p14="http://schemas.microsoft.com/office/powerpoint/2010/main" val="13815774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322"/>
        <p:cNvGrpSpPr/>
        <p:nvPr/>
      </p:nvGrpSpPr>
      <p:grpSpPr>
        <a:xfrm>
          <a:off x="0" y="0"/>
          <a:ext cx="0" cy="0"/>
          <a:chOff x="0" y="0"/>
          <a:chExt cx="0" cy="0"/>
        </a:xfrm>
      </p:grpSpPr>
      <p:pic>
        <p:nvPicPr>
          <p:cNvPr id="323" name="Google Shape;323;p26"/>
          <p:cNvPicPr preferRelativeResize="0"/>
          <p:nvPr/>
        </p:nvPicPr>
        <p:blipFill rotWithShape="1">
          <a:blip r:embed="rId3">
            <a:alphaModFix/>
          </a:blip>
          <a:srcRect/>
          <a:stretch/>
        </p:blipFill>
        <p:spPr>
          <a:xfrm>
            <a:off x="1336903" y="672604"/>
            <a:ext cx="6599492" cy="2095682"/>
          </a:xfrm>
          <a:prstGeom prst="rect">
            <a:avLst/>
          </a:prstGeom>
          <a:noFill/>
          <a:ln>
            <a:noFill/>
          </a:ln>
        </p:spPr>
      </p:pic>
      <p:sp>
        <p:nvSpPr>
          <p:cNvPr id="324" name="Google Shape;324;p26"/>
          <p:cNvSpPr txBox="1">
            <a:spLocks noGrp="1"/>
          </p:cNvSpPr>
          <p:nvPr>
            <p:ph type="title"/>
          </p:nvPr>
        </p:nvSpPr>
        <p:spPr>
          <a:xfrm>
            <a:off x="261620" y="139700"/>
            <a:ext cx="791210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a:latin typeface="+mj-lt"/>
              </a:rPr>
              <a:t>The problem of long sequences</a:t>
            </a:r>
            <a:endParaRPr>
              <a:latin typeface="+mj-lt"/>
            </a:endParaRPr>
          </a:p>
        </p:txBody>
      </p:sp>
      <p:grpSp>
        <p:nvGrpSpPr>
          <p:cNvPr id="325" name="Google Shape;325;p26"/>
          <p:cNvGrpSpPr/>
          <p:nvPr/>
        </p:nvGrpSpPr>
        <p:grpSpPr>
          <a:xfrm>
            <a:off x="1336903" y="4395469"/>
            <a:ext cx="5482590" cy="2078989"/>
            <a:chOff x="1336903" y="4395469"/>
            <a:chExt cx="5482590" cy="2078989"/>
          </a:xfrm>
        </p:grpSpPr>
        <p:sp>
          <p:nvSpPr>
            <p:cNvPr id="326" name="Google Shape;326;p26"/>
            <p:cNvSpPr/>
            <p:nvPr/>
          </p:nvSpPr>
          <p:spPr>
            <a:xfrm>
              <a:off x="1336903" y="4395469"/>
              <a:ext cx="5482590" cy="2078989"/>
            </a:xfrm>
            <a:custGeom>
              <a:avLst/>
              <a:gdLst/>
              <a:ahLst/>
              <a:cxnLst/>
              <a:rect l="l" t="t" r="r" b="b"/>
              <a:pathLst>
                <a:path w="5482590" h="2078989" extrusionOk="0">
                  <a:moveTo>
                    <a:pt x="5482399" y="1902104"/>
                  </a:moveTo>
                  <a:lnTo>
                    <a:pt x="5355399" y="1838604"/>
                  </a:lnTo>
                  <a:lnTo>
                    <a:pt x="5355399" y="1889404"/>
                  </a:lnTo>
                  <a:lnTo>
                    <a:pt x="119875" y="1889404"/>
                  </a:lnTo>
                  <a:lnTo>
                    <a:pt x="119875" y="127000"/>
                  </a:lnTo>
                  <a:lnTo>
                    <a:pt x="170675" y="127000"/>
                  </a:lnTo>
                  <a:lnTo>
                    <a:pt x="107175" y="0"/>
                  </a:lnTo>
                  <a:lnTo>
                    <a:pt x="43675" y="127000"/>
                  </a:lnTo>
                  <a:lnTo>
                    <a:pt x="94475" y="127000"/>
                  </a:lnTo>
                  <a:lnTo>
                    <a:pt x="94475" y="1889404"/>
                  </a:lnTo>
                  <a:lnTo>
                    <a:pt x="0" y="1889404"/>
                  </a:lnTo>
                  <a:lnTo>
                    <a:pt x="0" y="1914804"/>
                  </a:lnTo>
                  <a:lnTo>
                    <a:pt x="94475" y="1914804"/>
                  </a:lnTo>
                  <a:lnTo>
                    <a:pt x="94475" y="2078913"/>
                  </a:lnTo>
                  <a:lnTo>
                    <a:pt x="119875" y="2078913"/>
                  </a:lnTo>
                  <a:lnTo>
                    <a:pt x="119875" y="1914804"/>
                  </a:lnTo>
                  <a:lnTo>
                    <a:pt x="5355399" y="1914804"/>
                  </a:lnTo>
                  <a:lnTo>
                    <a:pt x="5355399" y="1965604"/>
                  </a:lnTo>
                  <a:lnTo>
                    <a:pt x="5482399" y="1902104"/>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27" name="Google Shape;327;p26"/>
            <p:cNvSpPr/>
            <p:nvPr/>
          </p:nvSpPr>
          <p:spPr>
            <a:xfrm>
              <a:off x="2087740" y="6165038"/>
              <a:ext cx="0" cy="267335"/>
            </a:xfrm>
            <a:custGeom>
              <a:avLst/>
              <a:gdLst/>
              <a:ahLst/>
              <a:cxnLst/>
              <a:rect l="l" t="t" r="r" b="b"/>
              <a:pathLst>
                <a:path w="120000" h="267335" extrusionOk="0">
                  <a:moveTo>
                    <a:pt x="0" y="0"/>
                  </a:moveTo>
                  <a:lnTo>
                    <a:pt x="0" y="266900"/>
                  </a:lnTo>
                </a:path>
              </a:pathLst>
            </a:custGeom>
            <a:noFill/>
            <a:ln w="158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328" name="Google Shape;328;p26"/>
          <p:cNvSpPr txBox="1"/>
          <p:nvPr/>
        </p:nvSpPr>
        <p:spPr>
          <a:xfrm>
            <a:off x="1957133" y="6452396"/>
            <a:ext cx="374587" cy="2898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1800">
                <a:latin typeface="+mj-lt"/>
                <a:ea typeface="Calibri"/>
                <a:cs typeface="Calibri"/>
                <a:sym typeface="Calibri"/>
              </a:rPr>
              <a:t>10</a:t>
            </a:r>
            <a:endParaRPr sz="1800">
              <a:latin typeface="+mj-lt"/>
              <a:ea typeface="Calibri"/>
              <a:cs typeface="Calibri"/>
              <a:sym typeface="Calibri"/>
            </a:endParaRPr>
          </a:p>
        </p:txBody>
      </p:sp>
      <p:sp>
        <p:nvSpPr>
          <p:cNvPr id="329" name="Google Shape;329;p26"/>
          <p:cNvSpPr/>
          <p:nvPr/>
        </p:nvSpPr>
        <p:spPr>
          <a:xfrm>
            <a:off x="3052114" y="6165038"/>
            <a:ext cx="0" cy="267335"/>
          </a:xfrm>
          <a:custGeom>
            <a:avLst/>
            <a:gdLst/>
            <a:ahLst/>
            <a:cxnLst/>
            <a:rect l="l" t="t" r="r" b="b"/>
            <a:pathLst>
              <a:path w="120000" h="267335" extrusionOk="0">
                <a:moveTo>
                  <a:pt x="0" y="0"/>
                </a:moveTo>
                <a:lnTo>
                  <a:pt x="0" y="266900"/>
                </a:lnTo>
              </a:path>
            </a:pathLst>
          </a:custGeom>
          <a:noFill/>
          <a:ln w="158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30" name="Google Shape;330;p26"/>
          <p:cNvSpPr txBox="1"/>
          <p:nvPr/>
        </p:nvSpPr>
        <p:spPr>
          <a:xfrm>
            <a:off x="2921495" y="6452396"/>
            <a:ext cx="471602" cy="2898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1800">
                <a:latin typeface="+mj-lt"/>
                <a:ea typeface="Calibri"/>
                <a:cs typeface="Calibri"/>
                <a:sym typeface="Calibri"/>
              </a:rPr>
              <a:t>20</a:t>
            </a:r>
            <a:endParaRPr sz="1800">
              <a:latin typeface="+mj-lt"/>
              <a:ea typeface="Calibri"/>
              <a:cs typeface="Calibri"/>
              <a:sym typeface="Calibri"/>
            </a:endParaRPr>
          </a:p>
        </p:txBody>
      </p:sp>
      <p:sp>
        <p:nvSpPr>
          <p:cNvPr id="331" name="Google Shape;331;p26"/>
          <p:cNvSpPr/>
          <p:nvPr/>
        </p:nvSpPr>
        <p:spPr>
          <a:xfrm>
            <a:off x="4016476" y="6165038"/>
            <a:ext cx="0" cy="267335"/>
          </a:xfrm>
          <a:custGeom>
            <a:avLst/>
            <a:gdLst/>
            <a:ahLst/>
            <a:cxnLst/>
            <a:rect l="l" t="t" r="r" b="b"/>
            <a:pathLst>
              <a:path w="120000" h="267335" extrusionOk="0">
                <a:moveTo>
                  <a:pt x="0" y="0"/>
                </a:moveTo>
                <a:lnTo>
                  <a:pt x="0" y="266900"/>
                </a:lnTo>
              </a:path>
            </a:pathLst>
          </a:custGeom>
          <a:noFill/>
          <a:ln w="158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32" name="Google Shape;332;p26"/>
          <p:cNvSpPr txBox="1"/>
          <p:nvPr/>
        </p:nvSpPr>
        <p:spPr>
          <a:xfrm>
            <a:off x="3885856" y="6452396"/>
            <a:ext cx="371510" cy="2898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1800" dirty="0">
                <a:latin typeface="+mj-lt"/>
                <a:ea typeface="Calibri"/>
                <a:cs typeface="Calibri"/>
                <a:sym typeface="Calibri"/>
              </a:rPr>
              <a:t>30</a:t>
            </a:r>
            <a:endParaRPr sz="1800" dirty="0">
              <a:latin typeface="+mj-lt"/>
              <a:ea typeface="Calibri"/>
              <a:cs typeface="Calibri"/>
              <a:sym typeface="Calibri"/>
            </a:endParaRPr>
          </a:p>
        </p:txBody>
      </p:sp>
      <p:sp>
        <p:nvSpPr>
          <p:cNvPr id="333" name="Google Shape;333;p26"/>
          <p:cNvSpPr/>
          <p:nvPr/>
        </p:nvSpPr>
        <p:spPr>
          <a:xfrm>
            <a:off x="4980838" y="6165038"/>
            <a:ext cx="0" cy="267335"/>
          </a:xfrm>
          <a:custGeom>
            <a:avLst/>
            <a:gdLst/>
            <a:ahLst/>
            <a:cxnLst/>
            <a:rect l="l" t="t" r="r" b="b"/>
            <a:pathLst>
              <a:path w="120000" h="267335" extrusionOk="0">
                <a:moveTo>
                  <a:pt x="0" y="0"/>
                </a:moveTo>
                <a:lnTo>
                  <a:pt x="0" y="266900"/>
                </a:lnTo>
              </a:path>
            </a:pathLst>
          </a:custGeom>
          <a:noFill/>
          <a:ln w="158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34" name="Google Shape;334;p26"/>
          <p:cNvSpPr txBox="1"/>
          <p:nvPr/>
        </p:nvSpPr>
        <p:spPr>
          <a:xfrm>
            <a:off x="4850231" y="6452396"/>
            <a:ext cx="329904" cy="2898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1800">
                <a:latin typeface="+mj-lt"/>
                <a:ea typeface="Calibri"/>
                <a:cs typeface="Calibri"/>
                <a:sym typeface="Calibri"/>
              </a:rPr>
              <a:t>40</a:t>
            </a:r>
            <a:endParaRPr sz="1800">
              <a:latin typeface="+mj-lt"/>
              <a:ea typeface="Calibri"/>
              <a:cs typeface="Calibri"/>
              <a:sym typeface="Calibri"/>
            </a:endParaRPr>
          </a:p>
        </p:txBody>
      </p:sp>
      <p:sp>
        <p:nvSpPr>
          <p:cNvPr id="335" name="Google Shape;335;p26"/>
          <p:cNvSpPr/>
          <p:nvPr/>
        </p:nvSpPr>
        <p:spPr>
          <a:xfrm>
            <a:off x="5945200" y="6165038"/>
            <a:ext cx="0" cy="267335"/>
          </a:xfrm>
          <a:custGeom>
            <a:avLst/>
            <a:gdLst/>
            <a:ahLst/>
            <a:cxnLst/>
            <a:rect l="l" t="t" r="r" b="b"/>
            <a:pathLst>
              <a:path w="120000" h="267335" extrusionOk="0">
                <a:moveTo>
                  <a:pt x="0" y="0"/>
                </a:moveTo>
                <a:lnTo>
                  <a:pt x="0" y="266900"/>
                </a:lnTo>
              </a:path>
            </a:pathLst>
          </a:custGeom>
          <a:noFill/>
          <a:ln w="158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36" name="Google Shape;336;p26"/>
          <p:cNvSpPr txBox="1"/>
          <p:nvPr/>
        </p:nvSpPr>
        <p:spPr>
          <a:xfrm>
            <a:off x="5814593" y="6452396"/>
            <a:ext cx="371510" cy="2898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1800" dirty="0">
                <a:latin typeface="+mj-lt"/>
                <a:ea typeface="Calibri"/>
                <a:cs typeface="Calibri"/>
                <a:sym typeface="Calibri"/>
              </a:rPr>
              <a:t>50</a:t>
            </a:r>
            <a:endParaRPr sz="1800" dirty="0">
              <a:latin typeface="+mj-lt"/>
              <a:ea typeface="Calibri"/>
              <a:cs typeface="Calibri"/>
              <a:sym typeface="Calibri"/>
            </a:endParaRPr>
          </a:p>
        </p:txBody>
      </p:sp>
      <p:sp>
        <p:nvSpPr>
          <p:cNvPr id="337" name="Google Shape;337;p26"/>
          <p:cNvSpPr txBox="1"/>
          <p:nvPr/>
        </p:nvSpPr>
        <p:spPr>
          <a:xfrm>
            <a:off x="7133145" y="6330593"/>
            <a:ext cx="2286635" cy="3911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2400">
                <a:latin typeface="+mj-lt"/>
                <a:ea typeface="Cambria"/>
                <a:cs typeface="Cambria"/>
                <a:sym typeface="Cambria"/>
              </a:rPr>
              <a:t>Sentence length</a:t>
            </a:r>
            <a:endParaRPr sz="2400">
              <a:latin typeface="+mj-lt"/>
              <a:ea typeface="Cambria"/>
              <a:cs typeface="Cambria"/>
              <a:sym typeface="Cambria"/>
            </a:endParaRPr>
          </a:p>
        </p:txBody>
      </p:sp>
      <p:sp>
        <p:nvSpPr>
          <p:cNvPr id="338" name="Google Shape;338;p26"/>
          <p:cNvSpPr txBox="1"/>
          <p:nvPr/>
        </p:nvSpPr>
        <p:spPr>
          <a:xfrm>
            <a:off x="414133" y="5052566"/>
            <a:ext cx="859681" cy="897533"/>
          </a:xfrm>
          <a:prstGeom prst="rect">
            <a:avLst/>
          </a:prstGeom>
          <a:noFill/>
          <a:ln>
            <a:noFill/>
          </a:ln>
        </p:spPr>
        <p:txBody>
          <a:bodyPr spcFirstLastPara="1" wrap="square" lIns="0" tIns="33000" rIns="0" bIns="0" anchor="t" anchorCtr="0">
            <a:spAutoFit/>
          </a:bodyPr>
          <a:lstStyle/>
          <a:p>
            <a:pPr marL="12700" marR="5080" lvl="0" indent="0" algn="l" rtl="0">
              <a:lnSpc>
                <a:spcPct val="116666"/>
              </a:lnSpc>
              <a:spcBef>
                <a:spcPts val="0"/>
              </a:spcBef>
              <a:spcAft>
                <a:spcPts val="0"/>
              </a:spcAft>
              <a:buNone/>
            </a:pPr>
            <a:r>
              <a:rPr lang="fr-FR" sz="2400" dirty="0">
                <a:latin typeface="+mj-lt"/>
                <a:ea typeface="Cambria"/>
                <a:cs typeface="Cambria"/>
                <a:sym typeface="Cambria"/>
              </a:rPr>
              <a:t>Bleu score</a:t>
            </a:r>
            <a:endParaRPr sz="2400" dirty="0">
              <a:latin typeface="+mj-lt"/>
              <a:ea typeface="Cambria"/>
              <a:cs typeface="Cambria"/>
              <a:sym typeface="Cambria"/>
            </a:endParaRPr>
          </a:p>
        </p:txBody>
      </p:sp>
      <p:sp>
        <p:nvSpPr>
          <p:cNvPr id="339" name="Google Shape;339;p26"/>
          <p:cNvSpPr txBox="1"/>
          <p:nvPr/>
        </p:nvSpPr>
        <p:spPr>
          <a:xfrm>
            <a:off x="414134" y="2605229"/>
            <a:ext cx="11273155" cy="1841658"/>
          </a:xfrm>
          <a:prstGeom prst="rect">
            <a:avLst/>
          </a:prstGeom>
          <a:noFill/>
          <a:ln>
            <a:noFill/>
          </a:ln>
        </p:spPr>
        <p:txBody>
          <a:bodyPr spcFirstLastPara="1" wrap="square" lIns="0" tIns="139700" rIns="0" bIns="0" anchor="t" anchorCtr="0">
            <a:spAutoFit/>
          </a:bodyPr>
          <a:lstStyle/>
          <a:p>
            <a:pPr marL="38100" marR="30480" lvl="0" indent="0" algn="l" rtl="0">
              <a:lnSpc>
                <a:spcPct val="98700"/>
              </a:lnSpc>
              <a:spcBef>
                <a:spcPts val="0"/>
              </a:spcBef>
              <a:spcAft>
                <a:spcPts val="0"/>
              </a:spcAft>
              <a:buNone/>
            </a:pPr>
            <a:r>
              <a:rPr lang="fr-FR" sz="1900">
                <a:latin typeface="+mj-lt"/>
                <a:ea typeface="Cambria"/>
                <a:cs typeface="Cambria"/>
                <a:sym typeface="Cambria"/>
              </a:rPr>
              <a:t>Jane s'est rendue en Afrique en septembre dernier, a  apprécié la culture et a rencontré beaucoup de gens merveilleux; elle est revenue en parlant comment son voyage était merveilleux, et elle me tente d'y aller aussi.</a:t>
            </a:r>
            <a:endParaRPr sz="1900">
              <a:latin typeface="+mj-lt"/>
              <a:ea typeface="Cambria"/>
              <a:cs typeface="Cambria"/>
              <a:sym typeface="Cambria"/>
            </a:endParaRPr>
          </a:p>
          <a:p>
            <a:pPr marL="93980" marR="757555" lvl="0" indent="0" algn="l" rtl="0">
              <a:lnSpc>
                <a:spcPct val="115789"/>
              </a:lnSpc>
              <a:spcBef>
                <a:spcPts val="1155"/>
              </a:spcBef>
              <a:spcAft>
                <a:spcPts val="0"/>
              </a:spcAft>
              <a:buNone/>
            </a:pPr>
            <a:r>
              <a:rPr lang="fr-FR" sz="1900">
                <a:latin typeface="+mj-lt"/>
                <a:ea typeface="Cambria"/>
                <a:cs typeface="Cambria"/>
                <a:sym typeface="Cambria"/>
              </a:rPr>
              <a:t>Jane went to Africa last September, and enjoyed the culture and met many wonderful people; she came back raving about how wonderful her trip was , and is tempting me to go too.</a:t>
            </a:r>
            <a:endParaRPr sz="1900">
              <a:latin typeface="+mj-lt"/>
              <a:ea typeface="Cambria"/>
              <a:cs typeface="Cambria"/>
              <a:sym typeface="Cambria"/>
            </a:endParaRPr>
          </a:p>
        </p:txBody>
      </p:sp>
      <p:sp>
        <p:nvSpPr>
          <p:cNvPr id="340" name="Google Shape;340;p26"/>
          <p:cNvSpPr/>
          <p:nvPr/>
        </p:nvSpPr>
        <p:spPr>
          <a:xfrm>
            <a:off x="1632155" y="4701070"/>
            <a:ext cx="5250426" cy="451033"/>
          </a:xfrm>
          <a:custGeom>
            <a:avLst/>
            <a:gdLst/>
            <a:ahLst/>
            <a:cxnLst/>
            <a:rect l="l" t="t" r="r" b="b"/>
            <a:pathLst>
              <a:path w="5250426" h="451033" extrusionOk="0">
                <a:moveTo>
                  <a:pt x="0" y="451033"/>
                </a:moveTo>
                <a:cubicBezTo>
                  <a:pt x="189271" y="280607"/>
                  <a:pt x="378542" y="110181"/>
                  <a:pt x="1140542" y="38078"/>
                </a:cubicBezTo>
                <a:cubicBezTo>
                  <a:pt x="1902542" y="-34025"/>
                  <a:pt x="4572000" y="18414"/>
                  <a:pt x="4572000" y="18414"/>
                </a:cubicBezTo>
                <a:lnTo>
                  <a:pt x="5250426" y="8582"/>
                </a:lnTo>
              </a:path>
            </a:pathLst>
          </a:custGeom>
          <a:noFill/>
          <a:ln w="38100" cap="flat" cmpd="sng">
            <a:solidFill>
              <a:schemeClr val="accent2"/>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lvl="0" indent="0" algn="ctr" rtl="0">
              <a:spcBef>
                <a:spcPts val="0"/>
              </a:spcBef>
              <a:spcAft>
                <a:spcPts val="0"/>
              </a:spcAft>
              <a:buNone/>
            </a:pPr>
            <a:endParaRPr sz="1800">
              <a:solidFill>
                <a:schemeClr val="dk1"/>
              </a:solidFill>
              <a:latin typeface="+mj-lt"/>
            </a:endParaRPr>
          </a:p>
        </p:txBody>
      </p:sp>
      <p:sp>
        <p:nvSpPr>
          <p:cNvPr id="341" name="Google Shape;341;p26"/>
          <p:cNvSpPr/>
          <p:nvPr/>
        </p:nvSpPr>
        <p:spPr>
          <a:xfrm>
            <a:off x="3175819" y="4729316"/>
            <a:ext cx="3033020" cy="705959"/>
          </a:xfrm>
          <a:custGeom>
            <a:avLst/>
            <a:gdLst/>
            <a:ahLst/>
            <a:cxnLst/>
            <a:rect l="l" t="t" r="r" b="b"/>
            <a:pathLst>
              <a:path w="3033020" h="705959" extrusionOk="0">
                <a:moveTo>
                  <a:pt x="0" y="0"/>
                </a:moveTo>
                <a:cubicBezTo>
                  <a:pt x="27858" y="149122"/>
                  <a:pt x="55716" y="298245"/>
                  <a:pt x="530942" y="412955"/>
                </a:cubicBezTo>
                <a:cubicBezTo>
                  <a:pt x="1006168" y="527665"/>
                  <a:pt x="2459703" y="644013"/>
                  <a:pt x="2851355" y="688258"/>
                </a:cubicBezTo>
                <a:cubicBezTo>
                  <a:pt x="3243007" y="732503"/>
                  <a:pt x="2879213" y="680065"/>
                  <a:pt x="2880852" y="678426"/>
                </a:cubicBezTo>
                <a:cubicBezTo>
                  <a:pt x="2882491" y="676787"/>
                  <a:pt x="2871839" y="677606"/>
                  <a:pt x="2861187" y="678426"/>
                </a:cubicBezTo>
              </a:path>
            </a:pathLst>
          </a:cu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endParaRPr sz="1800">
              <a:solidFill>
                <a:schemeClr val="lt1"/>
              </a:solidFill>
              <a:latin typeface="+mj-lt"/>
            </a:endParaRPr>
          </a:p>
        </p:txBody>
      </p:sp>
      <p:cxnSp>
        <p:nvCxnSpPr>
          <p:cNvPr id="342" name="Google Shape;342;p26"/>
          <p:cNvCxnSpPr/>
          <p:nvPr/>
        </p:nvCxnSpPr>
        <p:spPr>
          <a:xfrm rot="10800000">
            <a:off x="2085720" y="5152103"/>
            <a:ext cx="0" cy="562897"/>
          </a:xfrm>
          <a:prstGeom prst="straightConnector1">
            <a:avLst/>
          </a:prstGeom>
          <a:noFill/>
          <a:ln w="9525" cap="flat" cmpd="sng">
            <a:solidFill>
              <a:srgbClr val="4A7DBA"/>
            </a:solidFill>
            <a:prstDash val="solid"/>
            <a:round/>
            <a:headEnd type="none" w="sm" len="sm"/>
            <a:tailEnd type="triangle" w="med" len="med"/>
          </a:ln>
        </p:spPr>
      </p:cxnSp>
      <p:cxnSp>
        <p:nvCxnSpPr>
          <p:cNvPr id="343" name="Google Shape;343;p26"/>
          <p:cNvCxnSpPr/>
          <p:nvPr/>
        </p:nvCxnSpPr>
        <p:spPr>
          <a:xfrm rot="10800000">
            <a:off x="4257368" y="5433551"/>
            <a:ext cx="0" cy="366410"/>
          </a:xfrm>
          <a:prstGeom prst="straightConnector1">
            <a:avLst/>
          </a:prstGeom>
          <a:noFill/>
          <a:ln w="9525" cap="flat" cmpd="sng">
            <a:solidFill>
              <a:srgbClr val="4A7DBA"/>
            </a:solidFill>
            <a:prstDash val="solid"/>
            <a:round/>
            <a:headEnd type="none" w="sm" len="sm"/>
            <a:tailEnd type="triangle" w="med" len="med"/>
          </a:ln>
        </p:spPr>
      </p:cxnSp>
      <p:cxnSp>
        <p:nvCxnSpPr>
          <p:cNvPr id="344" name="Google Shape;344;p26"/>
          <p:cNvCxnSpPr/>
          <p:nvPr/>
        </p:nvCxnSpPr>
        <p:spPr>
          <a:xfrm>
            <a:off x="5943180" y="4800600"/>
            <a:ext cx="0" cy="351503"/>
          </a:xfrm>
          <a:prstGeom prst="straightConnector1">
            <a:avLst/>
          </a:prstGeom>
          <a:noFill/>
          <a:ln w="38100" cap="flat" cmpd="sng">
            <a:solidFill>
              <a:schemeClr val="accent2"/>
            </a:solidFill>
            <a:prstDash val="solid"/>
            <a:round/>
            <a:headEnd type="none" w="sm" len="sm"/>
            <a:tailEnd type="triangle" w="med" len="med"/>
          </a:ln>
          <a:effectLst>
            <a:outerShdw blurRad="40000" dist="23000" dir="5400000" rotWithShape="0">
              <a:srgbClr val="000000">
                <a:alpha val="34901"/>
              </a:srgbClr>
            </a:outerShdw>
          </a:effectLst>
        </p:spPr>
      </p:cxnSp>
      <p:pic>
        <p:nvPicPr>
          <p:cNvPr id="345" name="Google Shape;345;p26"/>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37</a:t>
            </a:fld>
            <a:endParaRPr lang="fr-F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349"/>
        <p:cNvGrpSpPr/>
        <p:nvPr/>
      </p:nvGrpSpPr>
      <p:grpSpPr>
        <a:xfrm>
          <a:off x="0" y="0"/>
          <a:ext cx="0" cy="0"/>
          <a:chOff x="0" y="0"/>
          <a:chExt cx="0" cy="0"/>
        </a:xfrm>
      </p:grpSpPr>
      <p:sp>
        <p:nvSpPr>
          <p:cNvPr id="350" name="Google Shape;350;p27"/>
          <p:cNvSpPr txBox="1">
            <a:spLocks noGrp="1"/>
          </p:cNvSpPr>
          <p:nvPr>
            <p:ph type="title"/>
          </p:nvPr>
        </p:nvSpPr>
        <p:spPr>
          <a:xfrm>
            <a:off x="261620" y="139700"/>
            <a:ext cx="850138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dirty="0">
                <a:latin typeface="+mj-lt"/>
              </a:rPr>
              <a:t>Attention model intuition</a:t>
            </a:r>
            <a:endParaRPr dirty="0">
              <a:latin typeface="+mj-lt"/>
            </a:endParaRPr>
          </a:p>
        </p:txBody>
      </p:sp>
      <p:pic>
        <p:nvPicPr>
          <p:cNvPr id="351" name="Google Shape;351;p27"/>
          <p:cNvPicPr preferRelativeResize="0"/>
          <p:nvPr/>
        </p:nvPicPr>
        <p:blipFill rotWithShape="1">
          <a:blip r:embed="rId3">
            <a:alphaModFix/>
          </a:blip>
          <a:srcRect/>
          <a:stretch/>
        </p:blipFill>
        <p:spPr>
          <a:xfrm>
            <a:off x="457200" y="1219199"/>
            <a:ext cx="9982200" cy="5085441"/>
          </a:xfrm>
          <a:prstGeom prst="rect">
            <a:avLst/>
          </a:prstGeom>
          <a:noFill/>
          <a:ln>
            <a:noFill/>
          </a:ln>
        </p:spPr>
      </p:pic>
      <p:pic>
        <p:nvPicPr>
          <p:cNvPr id="352" name="Google Shape;352;p27"/>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38</a:t>
            </a:fld>
            <a:endParaRPr lang="fr-F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356"/>
        <p:cNvGrpSpPr/>
        <p:nvPr/>
      </p:nvGrpSpPr>
      <p:grpSpPr>
        <a:xfrm>
          <a:off x="0" y="0"/>
          <a:ext cx="0" cy="0"/>
          <a:chOff x="0" y="0"/>
          <a:chExt cx="0" cy="0"/>
        </a:xfrm>
      </p:grpSpPr>
      <p:sp>
        <p:nvSpPr>
          <p:cNvPr id="357" name="Google Shape;357;p28"/>
          <p:cNvSpPr txBox="1">
            <a:spLocks noGrp="1"/>
          </p:cNvSpPr>
          <p:nvPr>
            <p:ph type="title"/>
          </p:nvPr>
        </p:nvSpPr>
        <p:spPr>
          <a:xfrm>
            <a:off x="5339346" y="791044"/>
            <a:ext cx="6035790" cy="2125182"/>
          </a:xfrm>
          <a:prstGeom prst="rect">
            <a:avLst/>
          </a:prstGeom>
          <a:noFill/>
          <a:ln>
            <a:noFill/>
          </a:ln>
        </p:spPr>
        <p:txBody>
          <a:bodyPr spcFirstLastPara="1" wrap="square" lIns="0" tIns="129525" rIns="0" bIns="0" anchor="t" anchorCtr="0">
            <a:spAutoFit/>
          </a:bodyPr>
          <a:lstStyle/>
          <a:p>
            <a:pPr marL="12700" marR="5080" lvl="0" indent="848994" algn="l" rtl="0">
              <a:lnSpc>
                <a:spcPct val="107575"/>
              </a:lnSpc>
              <a:spcBef>
                <a:spcPts val="0"/>
              </a:spcBef>
              <a:spcAft>
                <a:spcPts val="0"/>
              </a:spcAft>
              <a:buNone/>
            </a:pPr>
            <a:r>
              <a:rPr lang="fr-FR" sz="6000" b="0" dirty="0" err="1">
                <a:latin typeface="+mj-lt"/>
                <a:ea typeface="Calibri"/>
                <a:cs typeface="Calibri"/>
                <a:sym typeface="Calibri"/>
              </a:rPr>
              <a:t>Sequence</a:t>
            </a:r>
            <a:r>
              <a:rPr lang="fr-FR" sz="6000" b="0" dirty="0">
                <a:latin typeface="+mj-lt"/>
                <a:ea typeface="Calibri"/>
                <a:cs typeface="Calibri"/>
                <a:sym typeface="Calibri"/>
              </a:rPr>
              <a:t> to </a:t>
            </a:r>
            <a:r>
              <a:rPr lang="fr-FR" sz="6000" b="0" dirty="0" err="1">
                <a:latin typeface="+mj-lt"/>
                <a:ea typeface="Calibri"/>
                <a:cs typeface="Calibri"/>
                <a:sym typeface="Calibri"/>
              </a:rPr>
              <a:t>sequence</a:t>
            </a:r>
            <a:r>
              <a:rPr lang="fr-FR" sz="6000" b="0" dirty="0">
                <a:latin typeface="+mj-lt"/>
                <a:ea typeface="Calibri"/>
                <a:cs typeface="Calibri"/>
                <a:sym typeface="Calibri"/>
              </a:rPr>
              <a:t> </a:t>
            </a:r>
            <a:r>
              <a:rPr lang="fr-FR" sz="6000" b="0" dirty="0" err="1">
                <a:latin typeface="+mj-lt"/>
                <a:ea typeface="Calibri"/>
                <a:cs typeface="Calibri"/>
                <a:sym typeface="Calibri"/>
              </a:rPr>
              <a:t>models</a:t>
            </a:r>
            <a:endParaRPr sz="6000" dirty="0">
              <a:latin typeface="+mj-lt"/>
              <a:ea typeface="Calibri"/>
              <a:cs typeface="Calibri"/>
              <a:sym typeface="Calibri"/>
            </a:endParaRPr>
          </a:p>
        </p:txBody>
      </p:sp>
      <p:sp>
        <p:nvSpPr>
          <p:cNvPr id="358" name="Google Shape;358;p28"/>
          <p:cNvSpPr txBox="1"/>
          <p:nvPr/>
        </p:nvSpPr>
        <p:spPr>
          <a:xfrm>
            <a:off x="5912357" y="3922392"/>
            <a:ext cx="4889768" cy="84382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5400" dirty="0">
                <a:latin typeface="+mj-lt"/>
                <a:ea typeface="Calibri"/>
                <a:cs typeface="Calibri"/>
                <a:sym typeface="Calibri"/>
              </a:rPr>
              <a:t>Attention model</a:t>
            </a:r>
            <a:endParaRPr sz="5400" dirty="0">
              <a:latin typeface="+mj-lt"/>
              <a:ea typeface="Calibri"/>
              <a:cs typeface="Calibri"/>
              <a:sym typeface="Calibri"/>
            </a:endParaRPr>
          </a:p>
        </p:txBody>
      </p:sp>
      <p:sp>
        <p:nvSpPr>
          <p:cNvPr id="359" name="Google Shape;359;p28"/>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60" name="Google Shape;360;p28"/>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39</a:t>
            </a:fld>
            <a:endParaRPr lang="fr-F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87"/>
        <p:cNvGrpSpPr/>
        <p:nvPr/>
      </p:nvGrpSpPr>
      <p:grpSpPr>
        <a:xfrm>
          <a:off x="0" y="0"/>
          <a:ext cx="0" cy="0"/>
          <a:chOff x="0" y="0"/>
          <a:chExt cx="0" cy="0"/>
        </a:xfrm>
      </p:grpSpPr>
      <p:sp>
        <p:nvSpPr>
          <p:cNvPr id="88" name="Google Shape;88;p7"/>
          <p:cNvSpPr txBox="1">
            <a:spLocks noGrp="1"/>
          </p:cNvSpPr>
          <p:nvPr>
            <p:ph type="title"/>
          </p:nvPr>
        </p:nvSpPr>
        <p:spPr>
          <a:xfrm>
            <a:off x="261620" y="139700"/>
            <a:ext cx="9082405"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4400" dirty="0">
                <a:latin typeface="+mj-lt"/>
                <a:ea typeface="Calibri"/>
                <a:cs typeface="Calibri"/>
                <a:sym typeface="Calibri"/>
              </a:rPr>
              <a:t>Attention model</a:t>
            </a:r>
          </a:p>
        </p:txBody>
      </p:sp>
      <p:pic>
        <p:nvPicPr>
          <p:cNvPr id="97" name="Google Shape;97;p7"/>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3" name="TextBox 2">
            <a:extLst>
              <a:ext uri="{FF2B5EF4-FFF2-40B4-BE49-F238E27FC236}">
                <a16:creationId xmlns:a16="http://schemas.microsoft.com/office/drawing/2014/main" id="{3BCB82D9-ED7C-71E0-63C9-26F798EC8D50}"/>
              </a:ext>
            </a:extLst>
          </p:cNvPr>
          <p:cNvSpPr txBox="1"/>
          <p:nvPr/>
        </p:nvSpPr>
        <p:spPr>
          <a:xfrm>
            <a:off x="261620" y="829632"/>
            <a:ext cx="11668760" cy="3416320"/>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Attention model, crucial in machine translation, enables a neural network to focus on specific input sequence parts while generating an output. </a:t>
            </a:r>
            <a:endParaRPr lang="en-US" sz="2400" dirty="0" smtClean="0"/>
          </a:p>
          <a:p>
            <a:pPr marL="342900" indent="-342900">
              <a:buFont typeface="Arial" panose="020B0604020202020204" pitchFamily="34" charset="0"/>
              <a:buChar char="•"/>
            </a:pPr>
            <a:r>
              <a:rPr lang="en-US" sz="2400" dirty="0" smtClean="0"/>
              <a:t>Implemented </a:t>
            </a:r>
            <a:r>
              <a:rPr lang="en-US" sz="2400" dirty="0"/>
              <a:t>with bidirectional RNNs, GRUs, or LSTMs, it computes features for each input sentence word. A forward-only RNN generates the translation, utilizing a context vector for each time step. This vector sums features from different steps, weighted by attention weights computed through a small neural network. </a:t>
            </a:r>
            <a:endParaRPr lang="en-US" sz="2400" dirty="0" smtClean="0"/>
          </a:p>
          <a:p>
            <a:pPr marL="342900" indent="-342900">
              <a:buFont typeface="Arial" panose="020B0604020202020204" pitchFamily="34" charset="0"/>
              <a:buChar char="•"/>
            </a:pPr>
            <a:r>
              <a:rPr lang="en-US" sz="2400" dirty="0" smtClean="0"/>
              <a:t>The </a:t>
            </a:r>
            <a:r>
              <a:rPr lang="en-US" sz="2400" dirty="0"/>
              <a:t>Attention model finds applications beyond translation, like image captioning, despite its quadratic time complexity, prompting ongoing research for cost reduction.</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40</a:t>
            </a:fld>
            <a:endParaRPr lang="fr-FR"/>
          </a:p>
        </p:txBody>
      </p:sp>
    </p:spTree>
    <p:extLst>
      <p:ext uri="{BB962C8B-B14F-4D97-AF65-F5344CB8AC3E}">
        <p14:creationId xmlns:p14="http://schemas.microsoft.com/office/powerpoint/2010/main" val="6924035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364"/>
        <p:cNvGrpSpPr/>
        <p:nvPr/>
      </p:nvGrpSpPr>
      <p:grpSpPr>
        <a:xfrm>
          <a:off x="0" y="0"/>
          <a:ext cx="0" cy="0"/>
          <a:chOff x="0" y="0"/>
          <a:chExt cx="0" cy="0"/>
        </a:xfrm>
      </p:grpSpPr>
      <p:sp>
        <p:nvSpPr>
          <p:cNvPr id="365" name="Google Shape;365;p29"/>
          <p:cNvSpPr txBox="1">
            <a:spLocks noGrp="1"/>
          </p:cNvSpPr>
          <p:nvPr>
            <p:ph type="title"/>
          </p:nvPr>
        </p:nvSpPr>
        <p:spPr>
          <a:xfrm>
            <a:off x="261620" y="139700"/>
            <a:ext cx="605917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dirty="0">
                <a:latin typeface="+mj-lt"/>
              </a:rPr>
              <a:t>Attention model</a:t>
            </a:r>
            <a:endParaRPr dirty="0">
              <a:latin typeface="+mj-lt"/>
            </a:endParaRPr>
          </a:p>
        </p:txBody>
      </p:sp>
      <p:pic>
        <p:nvPicPr>
          <p:cNvPr id="366" name="Google Shape;366;p29"/>
          <p:cNvPicPr preferRelativeResize="0"/>
          <p:nvPr/>
        </p:nvPicPr>
        <p:blipFill rotWithShape="1">
          <a:blip r:embed="rId3">
            <a:alphaModFix/>
          </a:blip>
          <a:srcRect/>
          <a:stretch/>
        </p:blipFill>
        <p:spPr>
          <a:xfrm>
            <a:off x="152400" y="971660"/>
            <a:ext cx="10558780" cy="5746640"/>
          </a:xfrm>
          <a:prstGeom prst="rect">
            <a:avLst/>
          </a:prstGeom>
          <a:noFill/>
          <a:ln>
            <a:noFill/>
          </a:ln>
        </p:spPr>
      </p:pic>
      <p:pic>
        <p:nvPicPr>
          <p:cNvPr id="367" name="Google Shape;367;p29"/>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41</a:t>
            </a:fld>
            <a:endParaRPr lang="fr-F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371"/>
        <p:cNvGrpSpPr/>
        <p:nvPr/>
      </p:nvGrpSpPr>
      <p:grpSpPr>
        <a:xfrm>
          <a:off x="0" y="0"/>
          <a:ext cx="0" cy="0"/>
          <a:chOff x="0" y="0"/>
          <a:chExt cx="0" cy="0"/>
        </a:xfrm>
      </p:grpSpPr>
      <p:pic>
        <p:nvPicPr>
          <p:cNvPr id="372" name="Google Shape;372;p30"/>
          <p:cNvPicPr preferRelativeResize="0"/>
          <p:nvPr/>
        </p:nvPicPr>
        <p:blipFill rotWithShape="1">
          <a:blip r:embed="rId3">
            <a:alphaModFix/>
          </a:blip>
          <a:srcRect/>
          <a:stretch/>
        </p:blipFill>
        <p:spPr>
          <a:xfrm>
            <a:off x="76201" y="228218"/>
            <a:ext cx="11887200" cy="6172582"/>
          </a:xfrm>
          <a:prstGeom prst="rect">
            <a:avLst/>
          </a:prstGeom>
          <a:noFill/>
          <a:ln>
            <a:noFill/>
          </a:ln>
        </p:spPr>
      </p:pic>
      <p:pic>
        <p:nvPicPr>
          <p:cNvPr id="373" name="Google Shape;373;p30"/>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42</a:t>
            </a:fld>
            <a:endParaRPr lang="fr-F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377"/>
        <p:cNvGrpSpPr/>
        <p:nvPr/>
      </p:nvGrpSpPr>
      <p:grpSpPr>
        <a:xfrm>
          <a:off x="0" y="0"/>
          <a:ext cx="0" cy="0"/>
          <a:chOff x="0" y="0"/>
          <a:chExt cx="0" cy="0"/>
        </a:xfrm>
      </p:grpSpPr>
      <p:pic>
        <p:nvPicPr>
          <p:cNvPr id="378" name="Google Shape;378;p31"/>
          <p:cNvPicPr preferRelativeResize="0"/>
          <p:nvPr/>
        </p:nvPicPr>
        <p:blipFill rotWithShape="1">
          <a:blip r:embed="rId3">
            <a:alphaModFix/>
          </a:blip>
          <a:srcRect/>
          <a:stretch/>
        </p:blipFill>
        <p:spPr>
          <a:xfrm>
            <a:off x="0" y="0"/>
            <a:ext cx="11301700" cy="6248400"/>
          </a:xfrm>
          <a:prstGeom prst="rect">
            <a:avLst/>
          </a:prstGeom>
          <a:noFill/>
          <a:ln>
            <a:noFill/>
          </a:ln>
        </p:spPr>
      </p:pic>
      <p:pic>
        <p:nvPicPr>
          <p:cNvPr id="379" name="Google Shape;379;p31"/>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43</a:t>
            </a:fld>
            <a:endParaRPr lang="fr-F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383"/>
        <p:cNvGrpSpPr/>
        <p:nvPr/>
      </p:nvGrpSpPr>
      <p:grpSpPr>
        <a:xfrm>
          <a:off x="0" y="0"/>
          <a:ext cx="0" cy="0"/>
          <a:chOff x="0" y="0"/>
          <a:chExt cx="0" cy="0"/>
        </a:xfrm>
      </p:grpSpPr>
      <p:sp>
        <p:nvSpPr>
          <p:cNvPr id="384" name="Google Shape;384;p32"/>
          <p:cNvSpPr txBox="1">
            <a:spLocks noGrp="1"/>
          </p:cNvSpPr>
          <p:nvPr>
            <p:ph type="title"/>
          </p:nvPr>
        </p:nvSpPr>
        <p:spPr>
          <a:xfrm>
            <a:off x="6354937" y="1761802"/>
            <a:ext cx="3871625" cy="936154"/>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6000" b="0" dirty="0">
                <a:latin typeface="+mj-lt"/>
                <a:ea typeface="Calibri"/>
                <a:cs typeface="Calibri"/>
                <a:sym typeface="Calibri"/>
              </a:rPr>
              <a:t>Audio data</a:t>
            </a:r>
            <a:endParaRPr sz="6000" dirty="0">
              <a:latin typeface="+mj-lt"/>
              <a:ea typeface="Calibri"/>
              <a:cs typeface="Calibri"/>
              <a:sym typeface="Calibri"/>
            </a:endParaRPr>
          </a:p>
        </p:txBody>
      </p:sp>
      <p:sp>
        <p:nvSpPr>
          <p:cNvPr id="385" name="Google Shape;385;p32"/>
          <p:cNvSpPr txBox="1"/>
          <p:nvPr/>
        </p:nvSpPr>
        <p:spPr>
          <a:xfrm>
            <a:off x="5297036" y="3916971"/>
            <a:ext cx="5987428" cy="84382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5400" dirty="0">
                <a:latin typeface="+mj-lt"/>
                <a:ea typeface="Calibri"/>
                <a:cs typeface="Calibri"/>
                <a:sym typeface="Calibri"/>
              </a:rPr>
              <a:t>Speech recognition</a:t>
            </a:r>
            <a:endParaRPr sz="5400" dirty="0">
              <a:latin typeface="+mj-lt"/>
              <a:ea typeface="Calibri"/>
              <a:cs typeface="Calibri"/>
              <a:sym typeface="Calibri"/>
            </a:endParaRPr>
          </a:p>
        </p:txBody>
      </p:sp>
      <p:sp>
        <p:nvSpPr>
          <p:cNvPr id="386" name="Google Shape;386;p32"/>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87" name="Google Shape;387;p32"/>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44</a:t>
            </a:fld>
            <a:endParaRPr lang="fr-F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87"/>
        <p:cNvGrpSpPr/>
        <p:nvPr/>
      </p:nvGrpSpPr>
      <p:grpSpPr>
        <a:xfrm>
          <a:off x="0" y="0"/>
          <a:ext cx="0" cy="0"/>
          <a:chOff x="0" y="0"/>
          <a:chExt cx="0" cy="0"/>
        </a:xfrm>
      </p:grpSpPr>
      <p:sp>
        <p:nvSpPr>
          <p:cNvPr id="88" name="Google Shape;88;p7"/>
          <p:cNvSpPr txBox="1">
            <a:spLocks noGrp="1"/>
          </p:cNvSpPr>
          <p:nvPr>
            <p:ph type="title"/>
          </p:nvPr>
        </p:nvSpPr>
        <p:spPr>
          <a:xfrm>
            <a:off x="261620" y="139700"/>
            <a:ext cx="9082405"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4400" dirty="0">
                <a:latin typeface="+mj-lt"/>
                <a:ea typeface="Calibri"/>
                <a:cs typeface="Calibri"/>
                <a:sym typeface="Calibri"/>
              </a:rPr>
              <a:t>Speech recognition</a:t>
            </a:r>
          </a:p>
        </p:txBody>
      </p:sp>
      <p:pic>
        <p:nvPicPr>
          <p:cNvPr id="97" name="Google Shape;97;p7"/>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3" name="TextBox 2">
            <a:extLst>
              <a:ext uri="{FF2B5EF4-FFF2-40B4-BE49-F238E27FC236}">
                <a16:creationId xmlns:a16="http://schemas.microsoft.com/office/drawing/2014/main" id="{3BCB82D9-ED7C-71E0-63C9-26F798EC8D50}"/>
              </a:ext>
            </a:extLst>
          </p:cNvPr>
          <p:cNvSpPr txBox="1"/>
          <p:nvPr/>
        </p:nvSpPr>
        <p:spPr>
          <a:xfrm>
            <a:off x="261620" y="1097856"/>
            <a:ext cx="11668760" cy="3046988"/>
          </a:xfrm>
          <a:prstGeom prst="rect">
            <a:avLst/>
          </a:prstGeom>
          <a:noFill/>
        </p:spPr>
        <p:txBody>
          <a:bodyPr wrap="square" rtlCol="0">
            <a:spAutoFit/>
          </a:bodyPr>
          <a:lstStyle/>
          <a:p>
            <a:pPr marL="342900" indent="-342900">
              <a:buFont typeface="Arial" panose="020B0604020202020204" pitchFamily="34" charset="0"/>
              <a:buChar char="•"/>
            </a:pPr>
            <a:r>
              <a:rPr lang="en-US" sz="2400" dirty="0"/>
              <a:t>Speech recognition involves converting an audio clip into a text transcript, typically using a spectrogram as input to a deep learning model. </a:t>
            </a:r>
            <a:endParaRPr lang="en-US" sz="2400" dirty="0" smtClean="0"/>
          </a:p>
          <a:p>
            <a:pPr marL="342900" indent="-342900">
              <a:buFont typeface="Arial" panose="020B0604020202020204" pitchFamily="34" charset="0"/>
              <a:buChar char="•"/>
            </a:pPr>
            <a:r>
              <a:rPr lang="en-US" sz="2400" dirty="0" smtClean="0"/>
              <a:t>End-to-end </a:t>
            </a:r>
            <a:r>
              <a:rPr lang="en-US" sz="2400" dirty="0"/>
              <a:t>deep learning models can input raw audio and directly output the transcript. </a:t>
            </a:r>
            <a:endParaRPr lang="en-US" sz="2400" dirty="0" smtClean="0"/>
          </a:p>
          <a:p>
            <a:pPr marL="342900" indent="-342900">
              <a:buFont typeface="Arial" panose="020B0604020202020204" pitchFamily="34" charset="0"/>
              <a:buChar char="•"/>
            </a:pPr>
            <a:r>
              <a:rPr lang="en-US" sz="2400" dirty="0" smtClean="0"/>
              <a:t>One </a:t>
            </a:r>
            <a:r>
              <a:rPr lang="en-US" sz="2400" dirty="0"/>
              <a:t>approach is to use an attention model, while another is to use the CTC cost for speech recognition. </a:t>
            </a:r>
            <a:endParaRPr lang="en-US" sz="2400" dirty="0" smtClean="0"/>
          </a:p>
          <a:p>
            <a:pPr marL="342900" indent="-342900">
              <a:buFont typeface="Arial" panose="020B0604020202020204" pitchFamily="34" charset="0"/>
              <a:buChar char="•"/>
            </a:pPr>
            <a:r>
              <a:rPr lang="en-US" sz="2400" dirty="0" smtClean="0"/>
              <a:t>A </a:t>
            </a:r>
            <a:r>
              <a:rPr lang="en-US" sz="2400" dirty="0"/>
              <a:t>trigger word detection system can be built with a smaller dataset than is required for full speech recognition.</a:t>
            </a:r>
            <a:endParaRPr lang="en-GB" sz="2400" dirty="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45</a:t>
            </a:fld>
            <a:endParaRPr lang="fr-FR"/>
          </a:p>
        </p:txBody>
      </p:sp>
    </p:spTree>
    <p:extLst>
      <p:ext uri="{BB962C8B-B14F-4D97-AF65-F5344CB8AC3E}">
        <p14:creationId xmlns:p14="http://schemas.microsoft.com/office/powerpoint/2010/main" val="32730457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391"/>
        <p:cNvGrpSpPr/>
        <p:nvPr/>
      </p:nvGrpSpPr>
      <p:grpSpPr>
        <a:xfrm>
          <a:off x="0" y="0"/>
          <a:ext cx="0" cy="0"/>
          <a:chOff x="0" y="0"/>
          <a:chExt cx="0" cy="0"/>
        </a:xfrm>
      </p:grpSpPr>
      <p:pic>
        <p:nvPicPr>
          <p:cNvPr id="392" name="Google Shape;392;p33"/>
          <p:cNvPicPr preferRelativeResize="0"/>
          <p:nvPr/>
        </p:nvPicPr>
        <p:blipFill rotWithShape="1">
          <a:blip r:embed="rId3">
            <a:alphaModFix/>
          </a:blip>
          <a:srcRect/>
          <a:stretch/>
        </p:blipFill>
        <p:spPr>
          <a:xfrm>
            <a:off x="0" y="7374"/>
            <a:ext cx="10896600" cy="6063052"/>
          </a:xfrm>
          <a:prstGeom prst="rect">
            <a:avLst/>
          </a:prstGeom>
          <a:noFill/>
          <a:ln>
            <a:noFill/>
          </a:ln>
        </p:spPr>
      </p:pic>
      <p:pic>
        <p:nvPicPr>
          <p:cNvPr id="393" name="Google Shape;393;p33"/>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46</a:t>
            </a:fld>
            <a:endParaRPr lang="fr-F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397"/>
        <p:cNvGrpSpPr/>
        <p:nvPr/>
      </p:nvGrpSpPr>
      <p:grpSpPr>
        <a:xfrm>
          <a:off x="0" y="0"/>
          <a:ext cx="0" cy="0"/>
          <a:chOff x="0" y="0"/>
          <a:chExt cx="0" cy="0"/>
        </a:xfrm>
      </p:grpSpPr>
      <p:pic>
        <p:nvPicPr>
          <p:cNvPr id="398" name="Google Shape;398;p34"/>
          <p:cNvPicPr preferRelativeResize="0"/>
          <p:nvPr/>
        </p:nvPicPr>
        <p:blipFill rotWithShape="1">
          <a:blip r:embed="rId3">
            <a:alphaModFix/>
          </a:blip>
          <a:srcRect/>
          <a:stretch/>
        </p:blipFill>
        <p:spPr>
          <a:xfrm>
            <a:off x="0" y="0"/>
            <a:ext cx="11310787" cy="6019800"/>
          </a:xfrm>
          <a:prstGeom prst="rect">
            <a:avLst/>
          </a:prstGeom>
          <a:noFill/>
          <a:ln>
            <a:noFill/>
          </a:ln>
        </p:spPr>
      </p:pic>
      <p:pic>
        <p:nvPicPr>
          <p:cNvPr id="399" name="Google Shape;399;p34"/>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47</a:t>
            </a:fld>
            <a:endParaRPr lang="fr-F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403"/>
        <p:cNvGrpSpPr/>
        <p:nvPr/>
      </p:nvGrpSpPr>
      <p:grpSpPr>
        <a:xfrm>
          <a:off x="0" y="0"/>
          <a:ext cx="0" cy="0"/>
          <a:chOff x="0" y="0"/>
          <a:chExt cx="0" cy="0"/>
        </a:xfrm>
      </p:grpSpPr>
      <p:pic>
        <p:nvPicPr>
          <p:cNvPr id="404" name="Google Shape;404;p35"/>
          <p:cNvPicPr preferRelativeResize="0"/>
          <p:nvPr/>
        </p:nvPicPr>
        <p:blipFill rotWithShape="1">
          <a:blip r:embed="rId3">
            <a:alphaModFix/>
          </a:blip>
          <a:srcRect/>
          <a:stretch/>
        </p:blipFill>
        <p:spPr>
          <a:xfrm>
            <a:off x="152400" y="152400"/>
            <a:ext cx="10598141" cy="5779980"/>
          </a:xfrm>
          <a:prstGeom prst="rect">
            <a:avLst/>
          </a:prstGeom>
          <a:noFill/>
          <a:ln>
            <a:noFill/>
          </a:ln>
        </p:spPr>
      </p:pic>
      <p:pic>
        <p:nvPicPr>
          <p:cNvPr id="405" name="Google Shape;405;p35"/>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48</a:t>
            </a:fld>
            <a:endParaRPr lang="fr-F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409"/>
        <p:cNvGrpSpPr/>
        <p:nvPr/>
      </p:nvGrpSpPr>
      <p:grpSpPr>
        <a:xfrm>
          <a:off x="0" y="0"/>
          <a:ext cx="0" cy="0"/>
          <a:chOff x="0" y="0"/>
          <a:chExt cx="0" cy="0"/>
        </a:xfrm>
      </p:grpSpPr>
      <p:sp>
        <p:nvSpPr>
          <p:cNvPr id="410" name="Google Shape;410;p36"/>
          <p:cNvSpPr txBox="1">
            <a:spLocks noGrp="1"/>
          </p:cNvSpPr>
          <p:nvPr>
            <p:ph type="title"/>
          </p:nvPr>
        </p:nvSpPr>
        <p:spPr>
          <a:xfrm>
            <a:off x="6459460" y="1696300"/>
            <a:ext cx="3754387" cy="936154"/>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sz="6000" b="0" dirty="0">
                <a:latin typeface="+mj-lt"/>
                <a:ea typeface="Calibri"/>
                <a:cs typeface="Calibri"/>
                <a:sym typeface="Calibri"/>
              </a:rPr>
              <a:t>Audio data</a:t>
            </a:r>
            <a:endParaRPr sz="6000" dirty="0">
              <a:latin typeface="+mj-lt"/>
              <a:ea typeface="Calibri"/>
              <a:cs typeface="Calibri"/>
              <a:sym typeface="Calibri"/>
            </a:endParaRPr>
          </a:p>
        </p:txBody>
      </p:sp>
      <p:sp>
        <p:nvSpPr>
          <p:cNvPr id="411" name="Google Shape;411;p36"/>
          <p:cNvSpPr txBox="1"/>
          <p:nvPr/>
        </p:nvSpPr>
        <p:spPr>
          <a:xfrm>
            <a:off x="6400840" y="3862107"/>
            <a:ext cx="3871626" cy="2022590"/>
          </a:xfrm>
          <a:prstGeom prst="rect">
            <a:avLst/>
          </a:prstGeom>
          <a:noFill/>
          <a:ln>
            <a:noFill/>
          </a:ln>
        </p:spPr>
        <p:txBody>
          <a:bodyPr spcFirstLastPara="1" wrap="square" lIns="0" tIns="27925" rIns="0" bIns="0" anchor="t" anchorCtr="0">
            <a:spAutoFit/>
          </a:bodyPr>
          <a:lstStyle/>
          <a:p>
            <a:pPr marL="528320" marR="5080" lvl="0" indent="-516254" algn="l" rtl="0">
              <a:lnSpc>
                <a:spcPct val="119696"/>
              </a:lnSpc>
              <a:spcBef>
                <a:spcPts val="0"/>
              </a:spcBef>
              <a:spcAft>
                <a:spcPts val="0"/>
              </a:spcAft>
              <a:buNone/>
            </a:pPr>
            <a:r>
              <a:rPr lang="fr-FR" sz="5400" dirty="0">
                <a:latin typeface="+mj-lt"/>
                <a:ea typeface="Calibri"/>
                <a:cs typeface="Calibri"/>
                <a:sym typeface="Calibri"/>
              </a:rPr>
              <a:t>Trigger </a:t>
            </a:r>
            <a:r>
              <a:rPr lang="fr-FR" sz="5400" dirty="0" err="1">
                <a:latin typeface="+mj-lt"/>
                <a:ea typeface="Calibri"/>
                <a:cs typeface="Calibri"/>
                <a:sym typeface="Calibri"/>
              </a:rPr>
              <a:t>word</a:t>
            </a:r>
            <a:r>
              <a:rPr lang="fr-FR" sz="5400" dirty="0">
                <a:latin typeface="+mj-lt"/>
                <a:ea typeface="Calibri"/>
                <a:cs typeface="Calibri"/>
                <a:sym typeface="Calibri"/>
              </a:rPr>
              <a:t> </a:t>
            </a:r>
            <a:r>
              <a:rPr lang="fr-FR" sz="5400" dirty="0" err="1">
                <a:latin typeface="+mj-lt"/>
                <a:ea typeface="Calibri"/>
                <a:cs typeface="Calibri"/>
                <a:sym typeface="Calibri"/>
              </a:rPr>
              <a:t>detection</a:t>
            </a:r>
            <a:endParaRPr sz="5400" dirty="0">
              <a:latin typeface="+mj-lt"/>
              <a:ea typeface="Calibri"/>
              <a:cs typeface="Calibri"/>
              <a:sym typeface="Calibri"/>
            </a:endParaRPr>
          </a:p>
        </p:txBody>
      </p:sp>
      <p:sp>
        <p:nvSpPr>
          <p:cNvPr id="412" name="Google Shape;412;p36"/>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413" name="Google Shape;413;p36"/>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49</a:t>
            </a:fld>
            <a:endParaRPr lang="fr-F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87"/>
        <p:cNvGrpSpPr/>
        <p:nvPr/>
      </p:nvGrpSpPr>
      <p:grpSpPr>
        <a:xfrm>
          <a:off x="0" y="0"/>
          <a:ext cx="0" cy="0"/>
          <a:chOff x="0" y="0"/>
          <a:chExt cx="0" cy="0"/>
        </a:xfrm>
      </p:grpSpPr>
      <p:sp>
        <p:nvSpPr>
          <p:cNvPr id="88" name="Google Shape;88;p7"/>
          <p:cNvSpPr txBox="1">
            <a:spLocks noGrp="1"/>
          </p:cNvSpPr>
          <p:nvPr>
            <p:ph type="title"/>
          </p:nvPr>
        </p:nvSpPr>
        <p:spPr>
          <a:xfrm>
            <a:off x="261620" y="139700"/>
            <a:ext cx="9082405" cy="825354"/>
          </a:xfrm>
          <a:prstGeom prst="rect">
            <a:avLst/>
          </a:prstGeom>
          <a:noFill/>
          <a:ln>
            <a:noFill/>
          </a:ln>
        </p:spPr>
        <p:txBody>
          <a:bodyPr spcFirstLastPara="1" wrap="square" lIns="0" tIns="12700" rIns="0" bIns="0" anchor="t" anchorCtr="0">
            <a:spAutoFit/>
          </a:bodyPr>
          <a:lstStyle/>
          <a:p>
            <a:pPr marL="528320" marR="5080" lvl="0" indent="-516254" algn="l" rtl="0">
              <a:lnSpc>
                <a:spcPct val="119696"/>
              </a:lnSpc>
              <a:spcBef>
                <a:spcPts val="0"/>
              </a:spcBef>
              <a:spcAft>
                <a:spcPts val="0"/>
              </a:spcAft>
              <a:buNone/>
            </a:pPr>
            <a:r>
              <a:rPr lang="fr-FR" sz="4400" dirty="0">
                <a:latin typeface="+mj-lt"/>
                <a:ea typeface="Calibri"/>
                <a:cs typeface="Calibri"/>
                <a:sym typeface="Calibri"/>
              </a:rPr>
              <a:t>Trigger </a:t>
            </a:r>
            <a:r>
              <a:rPr lang="fr-FR" sz="4400" dirty="0" err="1">
                <a:latin typeface="+mj-lt"/>
                <a:ea typeface="Calibri"/>
                <a:cs typeface="Calibri"/>
                <a:sym typeface="Calibri"/>
              </a:rPr>
              <a:t>word</a:t>
            </a:r>
            <a:r>
              <a:rPr lang="fr-FR" sz="4400" dirty="0">
                <a:latin typeface="+mj-lt"/>
                <a:ea typeface="Calibri"/>
                <a:cs typeface="Calibri"/>
                <a:sym typeface="Calibri"/>
              </a:rPr>
              <a:t> </a:t>
            </a:r>
            <a:r>
              <a:rPr lang="fr-FR" sz="4400" dirty="0" err="1">
                <a:latin typeface="+mj-lt"/>
                <a:ea typeface="Calibri"/>
                <a:cs typeface="Calibri"/>
                <a:sym typeface="Calibri"/>
              </a:rPr>
              <a:t>detection</a:t>
            </a:r>
            <a:endParaRPr lang="fr-FR" sz="4400" dirty="0">
              <a:latin typeface="+mj-lt"/>
              <a:ea typeface="Calibri"/>
              <a:cs typeface="Calibri"/>
              <a:sym typeface="Calibri"/>
            </a:endParaRPr>
          </a:p>
        </p:txBody>
      </p:sp>
      <p:pic>
        <p:nvPicPr>
          <p:cNvPr id="97" name="Google Shape;97;p7"/>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3" name="TextBox 2">
            <a:extLst>
              <a:ext uri="{FF2B5EF4-FFF2-40B4-BE49-F238E27FC236}">
                <a16:creationId xmlns:a16="http://schemas.microsoft.com/office/drawing/2014/main" id="{3BCB82D9-ED7C-71E0-63C9-26F798EC8D50}"/>
              </a:ext>
            </a:extLst>
          </p:cNvPr>
          <p:cNvSpPr txBox="1"/>
          <p:nvPr/>
        </p:nvSpPr>
        <p:spPr>
          <a:xfrm>
            <a:off x="261620" y="1330793"/>
            <a:ext cx="11668760" cy="3046988"/>
          </a:xfrm>
          <a:prstGeom prst="rect">
            <a:avLst/>
          </a:prstGeom>
          <a:noFill/>
        </p:spPr>
        <p:txBody>
          <a:bodyPr wrap="square" rtlCol="0">
            <a:spAutoFit/>
          </a:bodyPr>
          <a:lstStyle/>
          <a:p>
            <a:pPr marL="342900" indent="-342900">
              <a:buFont typeface="Arial" panose="020B0604020202020204" pitchFamily="34" charset="0"/>
              <a:buChar char="•"/>
            </a:pPr>
            <a:r>
              <a:rPr lang="en-US" sz="2400" dirty="0"/>
              <a:t>To build a trigger word detection system, an RNN model is trained using spectrogram features of audio clips and target labels indicating the presence or absence of the trigger word. The target label is set to 1 right after the trigger word is spoken, and possibly multiple 1s are outputted for a fixed period of time to balance the ratio of 1s to 0s in the training set. </a:t>
            </a:r>
            <a:endParaRPr lang="en-US" sz="2400" dirty="0" smtClean="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smtClean="0"/>
              <a:t>There </a:t>
            </a:r>
            <a:r>
              <a:rPr lang="en-US" sz="2400" dirty="0"/>
              <a:t>is no consensus on the best algorithm for trigger word detection, but an RNN is one example presented in </a:t>
            </a:r>
            <a:r>
              <a:rPr lang="en-US" sz="2400"/>
              <a:t>this </a:t>
            </a:r>
            <a:r>
              <a:rPr lang="en-US" sz="2400" smtClean="0"/>
              <a:t>module.</a:t>
            </a:r>
            <a:endParaRPr lang="en-GB" sz="2400" dirty="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50</a:t>
            </a:fld>
            <a:endParaRPr lang="fr-FR"/>
          </a:p>
        </p:txBody>
      </p:sp>
    </p:spTree>
    <p:extLst>
      <p:ext uri="{BB962C8B-B14F-4D97-AF65-F5344CB8AC3E}">
        <p14:creationId xmlns:p14="http://schemas.microsoft.com/office/powerpoint/2010/main" val="9347430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417"/>
        <p:cNvGrpSpPr/>
        <p:nvPr/>
      </p:nvGrpSpPr>
      <p:grpSpPr>
        <a:xfrm>
          <a:off x="0" y="0"/>
          <a:ext cx="0" cy="0"/>
          <a:chOff x="0" y="0"/>
          <a:chExt cx="0" cy="0"/>
        </a:xfrm>
      </p:grpSpPr>
      <p:pic>
        <p:nvPicPr>
          <p:cNvPr id="418" name="Google Shape;418;p37"/>
          <p:cNvPicPr preferRelativeResize="0"/>
          <p:nvPr/>
        </p:nvPicPr>
        <p:blipFill rotWithShape="1">
          <a:blip r:embed="rId3">
            <a:alphaModFix/>
          </a:blip>
          <a:srcRect/>
          <a:stretch/>
        </p:blipFill>
        <p:spPr>
          <a:xfrm>
            <a:off x="8439150" y="1554556"/>
            <a:ext cx="3572979" cy="3572979"/>
          </a:xfrm>
          <a:prstGeom prst="rect">
            <a:avLst/>
          </a:prstGeom>
          <a:noFill/>
          <a:ln>
            <a:noFill/>
          </a:ln>
        </p:spPr>
      </p:pic>
      <p:sp>
        <p:nvSpPr>
          <p:cNvPr id="419" name="Google Shape;419;p37"/>
          <p:cNvSpPr txBox="1">
            <a:spLocks noGrp="1"/>
          </p:cNvSpPr>
          <p:nvPr>
            <p:ph type="title"/>
          </p:nvPr>
        </p:nvSpPr>
        <p:spPr>
          <a:xfrm>
            <a:off x="261620" y="139700"/>
            <a:ext cx="815594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fr-FR" dirty="0" err="1">
                <a:latin typeface="+mj-lt"/>
              </a:rPr>
              <a:t>What</a:t>
            </a:r>
            <a:r>
              <a:rPr lang="fr-FR" dirty="0">
                <a:latin typeface="+mj-lt"/>
              </a:rPr>
              <a:t> </a:t>
            </a:r>
            <a:r>
              <a:rPr lang="fr-FR" dirty="0" err="1">
                <a:latin typeface="+mj-lt"/>
              </a:rPr>
              <a:t>is</a:t>
            </a:r>
            <a:r>
              <a:rPr lang="fr-FR" dirty="0">
                <a:latin typeface="+mj-lt"/>
              </a:rPr>
              <a:t> trigger </a:t>
            </a:r>
            <a:r>
              <a:rPr lang="fr-FR" dirty="0" err="1">
                <a:latin typeface="+mj-lt"/>
              </a:rPr>
              <a:t>word</a:t>
            </a:r>
            <a:r>
              <a:rPr lang="fr-FR" dirty="0">
                <a:latin typeface="+mj-lt"/>
              </a:rPr>
              <a:t> </a:t>
            </a:r>
            <a:r>
              <a:rPr lang="fr-FR" dirty="0" err="1">
                <a:latin typeface="+mj-lt"/>
              </a:rPr>
              <a:t>detection</a:t>
            </a:r>
            <a:r>
              <a:rPr lang="fr-FR" dirty="0">
                <a:latin typeface="+mj-lt"/>
              </a:rPr>
              <a:t>?</a:t>
            </a:r>
            <a:endParaRPr dirty="0">
              <a:latin typeface="+mj-lt"/>
            </a:endParaRPr>
          </a:p>
        </p:txBody>
      </p:sp>
      <p:sp>
        <p:nvSpPr>
          <p:cNvPr id="420" name="Google Shape;420;p37"/>
          <p:cNvSpPr txBox="1"/>
          <p:nvPr/>
        </p:nvSpPr>
        <p:spPr>
          <a:xfrm>
            <a:off x="374141" y="4542243"/>
            <a:ext cx="2272030" cy="1050267"/>
          </a:xfrm>
          <a:prstGeom prst="rect">
            <a:avLst/>
          </a:prstGeom>
          <a:noFill/>
          <a:ln>
            <a:noFill/>
          </a:ln>
        </p:spPr>
        <p:txBody>
          <a:bodyPr spcFirstLastPara="1" wrap="square" lIns="0" tIns="33000" rIns="0" bIns="0" anchor="t" anchorCtr="0">
            <a:spAutoFit/>
          </a:bodyPr>
          <a:lstStyle/>
          <a:p>
            <a:pPr marL="559435" marR="5080" lvl="0" indent="-547370" algn="l" rtl="0">
              <a:lnSpc>
                <a:spcPct val="117857"/>
              </a:lnSpc>
              <a:spcBef>
                <a:spcPts val="0"/>
              </a:spcBef>
              <a:spcAft>
                <a:spcPts val="0"/>
              </a:spcAft>
              <a:buNone/>
            </a:pPr>
            <a:r>
              <a:rPr lang="fr-FR" sz="2800">
                <a:latin typeface="+mj-lt"/>
                <a:ea typeface="Cambria"/>
                <a:cs typeface="Cambria"/>
                <a:sym typeface="Cambria"/>
              </a:rPr>
              <a:t>Amazon Echo (Alexa)</a:t>
            </a:r>
            <a:endParaRPr sz="2800">
              <a:latin typeface="+mj-lt"/>
              <a:ea typeface="Cambria"/>
              <a:cs typeface="Cambria"/>
              <a:sym typeface="Cambria"/>
            </a:endParaRPr>
          </a:p>
        </p:txBody>
      </p:sp>
      <p:sp>
        <p:nvSpPr>
          <p:cNvPr id="421" name="Google Shape;421;p37"/>
          <p:cNvSpPr txBox="1"/>
          <p:nvPr/>
        </p:nvSpPr>
        <p:spPr>
          <a:xfrm>
            <a:off x="3169157" y="4542243"/>
            <a:ext cx="2443480" cy="1050267"/>
          </a:xfrm>
          <a:prstGeom prst="rect">
            <a:avLst/>
          </a:prstGeom>
          <a:noFill/>
          <a:ln>
            <a:noFill/>
          </a:ln>
        </p:spPr>
        <p:txBody>
          <a:bodyPr spcFirstLastPara="1" wrap="square" lIns="0" tIns="33000" rIns="0" bIns="0" anchor="t" anchorCtr="0">
            <a:spAutoFit/>
          </a:bodyPr>
          <a:lstStyle/>
          <a:p>
            <a:pPr marL="89535" marR="5080" lvl="0" indent="-77470" algn="l" rtl="0">
              <a:lnSpc>
                <a:spcPct val="117857"/>
              </a:lnSpc>
              <a:spcBef>
                <a:spcPts val="0"/>
              </a:spcBef>
              <a:spcAft>
                <a:spcPts val="0"/>
              </a:spcAft>
              <a:buNone/>
            </a:pPr>
            <a:r>
              <a:rPr lang="fr-FR" sz="2800">
                <a:latin typeface="+mj-lt"/>
                <a:ea typeface="Cambria"/>
                <a:cs typeface="Cambria"/>
                <a:sym typeface="Cambria"/>
              </a:rPr>
              <a:t>Baidu DuerOS (xiaodunihao)</a:t>
            </a:r>
            <a:endParaRPr sz="2800">
              <a:latin typeface="+mj-lt"/>
              <a:ea typeface="Cambria"/>
              <a:cs typeface="Cambria"/>
              <a:sym typeface="Cambria"/>
            </a:endParaRPr>
          </a:p>
        </p:txBody>
      </p:sp>
      <p:pic>
        <p:nvPicPr>
          <p:cNvPr id="422" name="Google Shape;422;p37"/>
          <p:cNvPicPr preferRelativeResize="0"/>
          <p:nvPr/>
        </p:nvPicPr>
        <p:blipFill rotWithShape="1">
          <a:blip r:embed="rId4">
            <a:alphaModFix/>
          </a:blip>
          <a:srcRect/>
          <a:stretch/>
        </p:blipFill>
        <p:spPr>
          <a:xfrm>
            <a:off x="3091662" y="1851545"/>
            <a:ext cx="2586799" cy="2491854"/>
          </a:xfrm>
          <a:prstGeom prst="rect">
            <a:avLst/>
          </a:prstGeom>
          <a:noFill/>
          <a:ln>
            <a:noFill/>
          </a:ln>
        </p:spPr>
      </p:pic>
      <p:sp>
        <p:nvSpPr>
          <p:cNvPr id="423" name="Google Shape;423;p37"/>
          <p:cNvSpPr txBox="1"/>
          <p:nvPr/>
        </p:nvSpPr>
        <p:spPr>
          <a:xfrm>
            <a:off x="6432118" y="4542243"/>
            <a:ext cx="1687195" cy="1050267"/>
          </a:xfrm>
          <a:prstGeom prst="rect">
            <a:avLst/>
          </a:prstGeom>
          <a:noFill/>
          <a:ln>
            <a:noFill/>
          </a:ln>
        </p:spPr>
        <p:txBody>
          <a:bodyPr spcFirstLastPara="1" wrap="square" lIns="0" tIns="33000" rIns="0" bIns="0" anchor="t" anchorCtr="0">
            <a:spAutoFit/>
          </a:bodyPr>
          <a:lstStyle/>
          <a:p>
            <a:pPr marL="48260" marR="5080" lvl="0" indent="-35560" algn="l" rtl="0">
              <a:lnSpc>
                <a:spcPct val="117857"/>
              </a:lnSpc>
              <a:spcBef>
                <a:spcPts val="0"/>
              </a:spcBef>
              <a:spcAft>
                <a:spcPts val="0"/>
              </a:spcAft>
              <a:buNone/>
            </a:pPr>
            <a:r>
              <a:rPr lang="fr-FR" sz="2800">
                <a:latin typeface="+mj-lt"/>
                <a:ea typeface="Cambria"/>
                <a:cs typeface="Cambria"/>
                <a:sym typeface="Cambria"/>
              </a:rPr>
              <a:t>Apple Siri (Hey Siri)</a:t>
            </a:r>
            <a:endParaRPr sz="2800">
              <a:latin typeface="+mj-lt"/>
              <a:ea typeface="Cambria"/>
              <a:cs typeface="Cambria"/>
              <a:sym typeface="Cambria"/>
            </a:endParaRPr>
          </a:p>
        </p:txBody>
      </p:sp>
      <p:sp>
        <p:nvSpPr>
          <p:cNvPr id="424" name="Google Shape;424;p37"/>
          <p:cNvSpPr txBox="1"/>
          <p:nvPr/>
        </p:nvSpPr>
        <p:spPr>
          <a:xfrm>
            <a:off x="9123654" y="4568202"/>
            <a:ext cx="2350770" cy="1050267"/>
          </a:xfrm>
          <a:prstGeom prst="rect">
            <a:avLst/>
          </a:prstGeom>
          <a:noFill/>
          <a:ln>
            <a:noFill/>
          </a:ln>
        </p:spPr>
        <p:txBody>
          <a:bodyPr spcFirstLastPara="1" wrap="square" lIns="0" tIns="33000" rIns="0" bIns="0" anchor="t" anchorCtr="0">
            <a:spAutoFit/>
          </a:bodyPr>
          <a:lstStyle/>
          <a:p>
            <a:pPr marL="12700" marR="5080" lvl="0" indent="72390" algn="l" rtl="0">
              <a:lnSpc>
                <a:spcPct val="117857"/>
              </a:lnSpc>
              <a:spcBef>
                <a:spcPts val="0"/>
              </a:spcBef>
              <a:spcAft>
                <a:spcPts val="0"/>
              </a:spcAft>
              <a:buNone/>
            </a:pPr>
            <a:r>
              <a:rPr lang="fr-FR" sz="2800">
                <a:latin typeface="+mj-lt"/>
                <a:ea typeface="Cambria"/>
                <a:cs typeface="Cambria"/>
                <a:sym typeface="Cambria"/>
              </a:rPr>
              <a:t>Google Home (Okay Google)</a:t>
            </a:r>
            <a:endParaRPr sz="2800">
              <a:latin typeface="+mj-lt"/>
              <a:ea typeface="Cambria"/>
              <a:cs typeface="Cambria"/>
              <a:sym typeface="Cambria"/>
            </a:endParaRPr>
          </a:p>
        </p:txBody>
      </p:sp>
      <p:pic>
        <p:nvPicPr>
          <p:cNvPr id="425" name="Google Shape;425;p37"/>
          <p:cNvPicPr preferRelativeResize="0"/>
          <p:nvPr/>
        </p:nvPicPr>
        <p:blipFill rotWithShape="1">
          <a:blip r:embed="rId5">
            <a:alphaModFix/>
          </a:blip>
          <a:srcRect/>
          <a:stretch/>
        </p:blipFill>
        <p:spPr>
          <a:xfrm>
            <a:off x="6482059" y="1508442"/>
            <a:ext cx="1511561" cy="2946844"/>
          </a:xfrm>
          <a:prstGeom prst="rect">
            <a:avLst/>
          </a:prstGeom>
          <a:noFill/>
          <a:ln>
            <a:noFill/>
          </a:ln>
        </p:spPr>
      </p:pic>
      <p:pic>
        <p:nvPicPr>
          <p:cNvPr id="426" name="Google Shape;426;p37"/>
          <p:cNvPicPr preferRelativeResize="0"/>
          <p:nvPr/>
        </p:nvPicPr>
        <p:blipFill rotWithShape="1">
          <a:blip r:embed="rId6">
            <a:alphaModFix/>
          </a:blip>
          <a:srcRect/>
          <a:stretch/>
        </p:blipFill>
        <p:spPr>
          <a:xfrm>
            <a:off x="455358" y="1508442"/>
            <a:ext cx="2399411" cy="3123107"/>
          </a:xfrm>
          <a:prstGeom prst="rect">
            <a:avLst/>
          </a:prstGeom>
          <a:noFill/>
          <a:ln>
            <a:noFill/>
          </a:ln>
        </p:spPr>
      </p:pic>
      <p:pic>
        <p:nvPicPr>
          <p:cNvPr id="427" name="Google Shape;427;p37"/>
          <p:cNvPicPr preferRelativeResize="0"/>
          <p:nvPr/>
        </p:nvPicPr>
        <p:blipFill>
          <a:blip r:embed="rId7">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51</a:t>
            </a:fld>
            <a:endParaRPr lang="fr-F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Shape 431"/>
        <p:cNvGrpSpPr/>
        <p:nvPr/>
      </p:nvGrpSpPr>
      <p:grpSpPr>
        <a:xfrm>
          <a:off x="0" y="0"/>
          <a:ext cx="0" cy="0"/>
          <a:chOff x="0" y="0"/>
          <a:chExt cx="0" cy="0"/>
        </a:xfrm>
      </p:grpSpPr>
      <p:pic>
        <p:nvPicPr>
          <p:cNvPr id="432" name="Google Shape;432;p38"/>
          <p:cNvPicPr preferRelativeResize="0"/>
          <p:nvPr/>
        </p:nvPicPr>
        <p:blipFill rotWithShape="1">
          <a:blip r:embed="rId3">
            <a:alphaModFix/>
          </a:blip>
          <a:srcRect/>
          <a:stretch/>
        </p:blipFill>
        <p:spPr>
          <a:xfrm>
            <a:off x="228600" y="304799"/>
            <a:ext cx="10820400" cy="6031337"/>
          </a:xfrm>
          <a:prstGeom prst="rect">
            <a:avLst/>
          </a:prstGeom>
          <a:noFill/>
          <a:ln>
            <a:noFill/>
          </a:ln>
        </p:spPr>
      </p:pic>
      <p:sp>
        <p:nvSpPr>
          <p:cNvPr id="433" name="Google Shape;433;p38"/>
          <p:cNvSpPr txBox="1">
            <a:spLocks noGrp="1"/>
          </p:cNvSpPr>
          <p:nvPr>
            <p:ph type="ctrTitle"/>
          </p:nvPr>
        </p:nvSpPr>
        <p:spPr>
          <a:xfrm>
            <a:off x="1600200" y="1828800"/>
            <a:ext cx="10363200" cy="677108"/>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fr-FR"/>
              <a:t>0      0     0       1     1       0</a:t>
            </a:r>
            <a:endParaRPr/>
          </a:p>
        </p:txBody>
      </p:sp>
      <p:pic>
        <p:nvPicPr>
          <p:cNvPr id="434" name="Google Shape;434;p38"/>
          <p:cNvPicPr preferRelativeResize="0"/>
          <p:nvPr/>
        </p:nvPicPr>
        <p:blipFill rotWithShape="1">
          <a:blip r:embed="rId4">
            <a:alphaModFix/>
          </a:blip>
          <a:srcRect/>
          <a:stretch/>
        </p:blipFill>
        <p:spPr>
          <a:xfrm>
            <a:off x="4572000" y="2637592"/>
            <a:ext cx="3379732" cy="1143000"/>
          </a:xfrm>
          <a:prstGeom prst="rect">
            <a:avLst/>
          </a:prstGeom>
          <a:noFill/>
          <a:ln>
            <a:noFill/>
          </a:ln>
        </p:spPr>
      </p:pic>
      <p:pic>
        <p:nvPicPr>
          <p:cNvPr id="435" name="Google Shape;435;p38"/>
          <p:cNvPicPr preferRelativeResize="0"/>
          <p:nvPr/>
        </p:nvPicPr>
        <p:blipFill>
          <a:blip r:embed="rId5">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52</a:t>
            </a:fld>
            <a:endParaRPr lang="fr-F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pic>
        <p:nvPicPr>
          <p:cNvPr id="449" name="Google Shape;449;p49"/>
          <p:cNvPicPr preferRelativeResize="0"/>
          <p:nvPr/>
        </p:nvPicPr>
        <p:blipFill rotWithShape="1">
          <a:blip r:embed="rId3">
            <a:alphaModFix/>
          </a:blip>
          <a:srcRect/>
          <a:stretch/>
        </p:blipFill>
        <p:spPr>
          <a:xfrm>
            <a:off x="10188772" y="403412"/>
            <a:ext cx="1277669" cy="702718"/>
          </a:xfrm>
          <a:prstGeom prst="rect">
            <a:avLst/>
          </a:prstGeom>
          <a:noFill/>
          <a:ln>
            <a:noFill/>
          </a:ln>
        </p:spPr>
      </p:pic>
      <p:sp>
        <p:nvSpPr>
          <p:cNvPr id="5" name="Google Shape;49;g2019cdaf7c5_1_4"/>
          <p:cNvSpPr txBox="1">
            <a:spLocks/>
          </p:cNvSpPr>
          <p:nvPr/>
        </p:nvSpPr>
        <p:spPr>
          <a:xfrm>
            <a:off x="1450665" y="227645"/>
            <a:ext cx="9376941" cy="64536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96376" marR="24654" indent="-85730" algn="ctr">
              <a:lnSpc>
                <a:spcPct val="108333"/>
              </a:lnSpc>
              <a:defRPr/>
            </a:pPr>
            <a:r>
              <a:rPr lang="en-US" sz="3883" dirty="0">
                <a:solidFill>
                  <a:srgbClr val="000000"/>
                </a:solidFill>
                <a:latin typeface="Arial"/>
                <a:sym typeface="Trebuchet MS"/>
              </a:rPr>
              <a:t>Summarization</a:t>
            </a:r>
            <a:endParaRPr lang="en-US" sz="3883" dirty="0">
              <a:solidFill>
                <a:srgbClr val="000000"/>
              </a:solidFill>
              <a:latin typeface="Arial"/>
            </a:endParaRPr>
          </a:p>
        </p:txBody>
      </p:sp>
      <p:sp>
        <p:nvSpPr>
          <p:cNvPr id="8" name="Google Shape;316;p36"/>
          <p:cNvSpPr txBox="1"/>
          <p:nvPr/>
        </p:nvSpPr>
        <p:spPr>
          <a:xfrm>
            <a:off x="1015030" y="968744"/>
            <a:ext cx="10968885" cy="5341860"/>
          </a:xfrm>
          <a:prstGeom prst="rect">
            <a:avLst/>
          </a:prstGeom>
          <a:noFill/>
          <a:ln>
            <a:noFill/>
          </a:ln>
        </p:spPr>
        <p:txBody>
          <a:bodyPr spcFirstLastPara="1" wrap="square" lIns="0" tIns="5029" rIns="0" bIns="0" anchor="t" anchorCtr="0">
            <a:spAutoFit/>
          </a:bodyPr>
          <a:lstStyle/>
          <a:p>
            <a:pPr marL="354106" marR="4483" lvl="1" indent="-342900">
              <a:lnSpc>
                <a:spcPct val="101800"/>
              </a:lnSpc>
              <a:buSzPts val="2400"/>
              <a:buFont typeface="Arial" panose="020B0604020202020204" pitchFamily="34" charset="0"/>
              <a:buChar char="•"/>
            </a:pPr>
            <a:r>
              <a:rPr lang="en-US" sz="2400" dirty="0">
                <a:ea typeface="Century Schoolbook"/>
                <a:cs typeface="Century Schoolbook"/>
                <a:sym typeface="Century Schoolbook"/>
              </a:rPr>
              <a:t>Basic Models</a:t>
            </a:r>
            <a:r>
              <a:rPr lang="en-US" sz="2400" dirty="0" smtClean="0">
                <a:ea typeface="Century Schoolbook"/>
                <a:cs typeface="Century Schoolbook"/>
                <a:sym typeface="Century Schoolbook"/>
              </a:rPr>
              <a:t>:</a:t>
            </a:r>
            <a:endParaRPr lang="en-US" sz="2400" dirty="0">
              <a:ea typeface="Century Schoolbook"/>
              <a:cs typeface="Century Schoolbook"/>
              <a:sym typeface="Century Schoolbook"/>
            </a:endParaRPr>
          </a:p>
          <a:p>
            <a:pPr marL="11206" marR="4483" lvl="1">
              <a:lnSpc>
                <a:spcPct val="101800"/>
              </a:lnSpc>
              <a:buSzPts val="2400"/>
            </a:pPr>
            <a:r>
              <a:rPr lang="en-US" sz="2000" dirty="0" smtClean="0">
                <a:ea typeface="Century Schoolbook"/>
                <a:cs typeface="Century Schoolbook"/>
                <a:sym typeface="Century Schoolbook"/>
              </a:rPr>
              <a:t>	Introduction </a:t>
            </a:r>
            <a:r>
              <a:rPr lang="en-US" sz="2000" dirty="0">
                <a:ea typeface="Century Schoolbook"/>
                <a:cs typeface="Century Schoolbook"/>
                <a:sym typeface="Century Schoolbook"/>
              </a:rPr>
              <a:t>to basic models used in natural language processing and machine </a:t>
            </a:r>
            <a:r>
              <a:rPr lang="en-US" sz="2000" dirty="0" smtClean="0">
                <a:ea typeface="Century Schoolbook"/>
                <a:cs typeface="Century Schoolbook"/>
                <a:sym typeface="Century Schoolbook"/>
              </a:rPr>
              <a:t>	translation</a:t>
            </a:r>
            <a:r>
              <a:rPr lang="en-US" sz="2000" dirty="0">
                <a:ea typeface="Century Schoolbook"/>
                <a:cs typeface="Century Schoolbook"/>
                <a:sym typeface="Century Schoolbook"/>
              </a:rPr>
              <a:t>, often including encoder-decoder architectures.</a:t>
            </a:r>
          </a:p>
          <a:p>
            <a:pPr marL="354106" marR="4483" lvl="1" indent="-342900">
              <a:lnSpc>
                <a:spcPct val="101800"/>
              </a:lnSpc>
              <a:buSzPts val="2400"/>
              <a:buFont typeface="Arial" panose="020B0604020202020204" pitchFamily="34" charset="0"/>
              <a:buChar char="•"/>
            </a:pPr>
            <a:r>
              <a:rPr lang="en-US" sz="2400" dirty="0">
                <a:ea typeface="Century Schoolbook"/>
                <a:cs typeface="Century Schoolbook"/>
                <a:sym typeface="Century Schoolbook"/>
              </a:rPr>
              <a:t>Picking the Most Likely Sentence</a:t>
            </a:r>
            <a:r>
              <a:rPr lang="en-US" sz="2400" dirty="0" smtClean="0">
                <a:ea typeface="Century Schoolbook"/>
                <a:cs typeface="Century Schoolbook"/>
                <a:sym typeface="Century Schoolbook"/>
              </a:rPr>
              <a:t>:</a:t>
            </a:r>
            <a:endParaRPr lang="en-US" sz="2400" dirty="0">
              <a:ea typeface="Century Schoolbook"/>
              <a:cs typeface="Century Schoolbook"/>
              <a:sym typeface="Century Schoolbook"/>
            </a:endParaRPr>
          </a:p>
          <a:p>
            <a:pPr marL="11206" marR="4483" lvl="1">
              <a:lnSpc>
                <a:spcPct val="101800"/>
              </a:lnSpc>
              <a:buSzPts val="2400"/>
            </a:pPr>
            <a:r>
              <a:rPr lang="en-US" sz="2000" dirty="0" smtClean="0">
                <a:ea typeface="Century Schoolbook"/>
                <a:cs typeface="Century Schoolbook"/>
                <a:sym typeface="Century Schoolbook"/>
              </a:rPr>
              <a:t>	Discusses </a:t>
            </a:r>
            <a:r>
              <a:rPr lang="en-US" sz="2000" dirty="0">
                <a:ea typeface="Century Schoolbook"/>
                <a:cs typeface="Century Schoolbook"/>
                <a:sym typeface="Century Schoolbook"/>
              </a:rPr>
              <a:t>how to choose the most likely translation or sentence from a set of possible </a:t>
            </a:r>
            <a:r>
              <a:rPr lang="en-US" sz="2000" dirty="0" smtClean="0">
                <a:ea typeface="Century Schoolbook"/>
                <a:cs typeface="Century Schoolbook"/>
                <a:sym typeface="Century Schoolbook"/>
              </a:rPr>
              <a:t>	candidates </a:t>
            </a:r>
            <a:r>
              <a:rPr lang="en-US" sz="2000" dirty="0">
                <a:ea typeface="Century Schoolbook"/>
                <a:cs typeface="Century Schoolbook"/>
                <a:sym typeface="Century Schoolbook"/>
              </a:rPr>
              <a:t>generated by a machine translation system.</a:t>
            </a:r>
          </a:p>
          <a:p>
            <a:pPr marL="354106" marR="4483" lvl="1" indent="-342900">
              <a:lnSpc>
                <a:spcPct val="101800"/>
              </a:lnSpc>
              <a:buSzPts val="2400"/>
              <a:buFont typeface="Arial" panose="020B0604020202020204" pitchFamily="34" charset="0"/>
              <a:buChar char="•"/>
            </a:pPr>
            <a:r>
              <a:rPr lang="en-US" sz="2400" dirty="0">
                <a:ea typeface="Century Schoolbook"/>
                <a:cs typeface="Century Schoolbook"/>
                <a:sym typeface="Century Schoolbook"/>
              </a:rPr>
              <a:t>Beam Search</a:t>
            </a:r>
            <a:r>
              <a:rPr lang="en-US" sz="2400" dirty="0" smtClean="0">
                <a:ea typeface="Century Schoolbook"/>
                <a:cs typeface="Century Schoolbook"/>
                <a:sym typeface="Century Schoolbook"/>
              </a:rPr>
              <a:t>:</a:t>
            </a:r>
            <a:endParaRPr lang="en-US" sz="2400" dirty="0">
              <a:ea typeface="Century Schoolbook"/>
              <a:cs typeface="Century Schoolbook"/>
              <a:sym typeface="Century Schoolbook"/>
            </a:endParaRPr>
          </a:p>
          <a:p>
            <a:pPr marL="11206" marR="4483" lvl="1">
              <a:lnSpc>
                <a:spcPct val="101800"/>
              </a:lnSpc>
              <a:buSzPts val="2400"/>
            </a:pPr>
            <a:r>
              <a:rPr lang="en-US" sz="2000" dirty="0" smtClean="0">
                <a:ea typeface="Century Schoolbook"/>
                <a:cs typeface="Century Schoolbook"/>
                <a:sym typeface="Century Schoolbook"/>
              </a:rPr>
              <a:t>	Beam </a:t>
            </a:r>
            <a:r>
              <a:rPr lang="en-US" sz="2000" dirty="0">
                <a:ea typeface="Century Schoolbook"/>
                <a:cs typeface="Century Schoolbook"/>
                <a:sym typeface="Century Schoolbook"/>
              </a:rPr>
              <a:t>search is a decoding algorithm used in machine translation and other sequence </a:t>
            </a:r>
            <a:r>
              <a:rPr lang="en-US" sz="2000" dirty="0" smtClean="0">
                <a:ea typeface="Century Schoolbook"/>
                <a:cs typeface="Century Schoolbook"/>
                <a:sym typeface="Century Schoolbook"/>
              </a:rPr>
              <a:t>	generation </a:t>
            </a:r>
            <a:r>
              <a:rPr lang="en-US" sz="2000" dirty="0">
                <a:ea typeface="Century Schoolbook"/>
                <a:cs typeface="Century Schoolbook"/>
                <a:sym typeface="Century Schoolbook"/>
              </a:rPr>
              <a:t>tasks. It explores multiple possible sequences simultaneously, narrowing </a:t>
            </a:r>
            <a:r>
              <a:rPr lang="en-US" sz="2000" dirty="0" smtClean="0">
                <a:ea typeface="Century Schoolbook"/>
                <a:cs typeface="Century Schoolbook"/>
                <a:sym typeface="Century Schoolbook"/>
              </a:rPr>
              <a:t>	down </a:t>
            </a:r>
            <a:r>
              <a:rPr lang="en-US" sz="2000" dirty="0">
                <a:ea typeface="Century Schoolbook"/>
                <a:cs typeface="Century Schoolbook"/>
                <a:sym typeface="Century Schoolbook"/>
              </a:rPr>
              <a:t>the search space.</a:t>
            </a:r>
          </a:p>
          <a:p>
            <a:pPr marL="354106" marR="4483" lvl="1" indent="-342900">
              <a:lnSpc>
                <a:spcPct val="101800"/>
              </a:lnSpc>
              <a:buSzPts val="2400"/>
              <a:buFont typeface="Arial" panose="020B0604020202020204" pitchFamily="34" charset="0"/>
              <a:buChar char="•"/>
            </a:pPr>
            <a:r>
              <a:rPr lang="en-US" sz="2400" dirty="0">
                <a:ea typeface="Century Schoolbook"/>
                <a:cs typeface="Century Schoolbook"/>
                <a:sym typeface="Century Schoolbook"/>
              </a:rPr>
              <a:t>Refinements to Beam Search</a:t>
            </a:r>
            <a:r>
              <a:rPr lang="en-US" sz="2400" dirty="0" smtClean="0">
                <a:ea typeface="Century Schoolbook"/>
                <a:cs typeface="Century Schoolbook"/>
                <a:sym typeface="Century Schoolbook"/>
              </a:rPr>
              <a:t>:</a:t>
            </a:r>
            <a:endParaRPr lang="en-US" sz="2400" dirty="0">
              <a:ea typeface="Century Schoolbook"/>
              <a:cs typeface="Century Schoolbook"/>
              <a:sym typeface="Century Schoolbook"/>
            </a:endParaRPr>
          </a:p>
          <a:p>
            <a:pPr marL="11206" marR="4483" lvl="1">
              <a:lnSpc>
                <a:spcPct val="101800"/>
              </a:lnSpc>
              <a:buSzPts val="2400"/>
            </a:pPr>
            <a:r>
              <a:rPr lang="en-US" sz="2000" dirty="0" smtClean="0">
                <a:ea typeface="Century Schoolbook"/>
                <a:cs typeface="Century Schoolbook"/>
                <a:sym typeface="Century Schoolbook"/>
              </a:rPr>
              <a:t>	Describes </a:t>
            </a:r>
            <a:r>
              <a:rPr lang="en-US" sz="2000" dirty="0">
                <a:ea typeface="Century Schoolbook"/>
                <a:cs typeface="Century Schoolbook"/>
                <a:sym typeface="Century Schoolbook"/>
              </a:rPr>
              <a:t>improvements and refinements to the basic beam search algorithm, such as </a:t>
            </a:r>
            <a:r>
              <a:rPr lang="en-US" sz="2000" dirty="0" smtClean="0">
                <a:ea typeface="Century Schoolbook"/>
                <a:cs typeface="Century Schoolbook"/>
                <a:sym typeface="Century Schoolbook"/>
              </a:rPr>
              <a:t>	length </a:t>
            </a:r>
            <a:r>
              <a:rPr lang="en-US" sz="2000" dirty="0">
                <a:ea typeface="Century Schoolbook"/>
                <a:cs typeface="Century Schoolbook"/>
                <a:sym typeface="Century Schoolbook"/>
              </a:rPr>
              <a:t>normalization and diverse beam search.</a:t>
            </a:r>
          </a:p>
          <a:p>
            <a:pPr marL="354106" marR="4483" lvl="1" indent="-342900">
              <a:lnSpc>
                <a:spcPct val="101800"/>
              </a:lnSpc>
              <a:buSzPts val="2400"/>
              <a:buFont typeface="Arial" panose="020B0604020202020204" pitchFamily="34" charset="0"/>
              <a:buChar char="•"/>
            </a:pPr>
            <a:r>
              <a:rPr lang="en-US" sz="2400" dirty="0">
                <a:ea typeface="Century Schoolbook"/>
                <a:cs typeface="Century Schoolbook"/>
                <a:sym typeface="Century Schoolbook"/>
              </a:rPr>
              <a:t>Error Analysis on Beam Search</a:t>
            </a:r>
            <a:r>
              <a:rPr lang="en-US" sz="2400" dirty="0" smtClean="0">
                <a:ea typeface="Century Schoolbook"/>
                <a:cs typeface="Century Schoolbook"/>
                <a:sym typeface="Century Schoolbook"/>
              </a:rPr>
              <a:t>:</a:t>
            </a:r>
            <a:endParaRPr lang="en-US" sz="2400" dirty="0">
              <a:ea typeface="Century Schoolbook"/>
              <a:cs typeface="Century Schoolbook"/>
              <a:sym typeface="Century Schoolbook"/>
            </a:endParaRPr>
          </a:p>
          <a:p>
            <a:pPr marL="11206" marR="4483" lvl="1">
              <a:lnSpc>
                <a:spcPct val="101800"/>
              </a:lnSpc>
              <a:buSzPts val="2400"/>
            </a:pPr>
            <a:r>
              <a:rPr lang="en-US" sz="2000" dirty="0" smtClean="0">
                <a:ea typeface="Century Schoolbook"/>
                <a:cs typeface="Century Schoolbook"/>
                <a:sym typeface="Century Schoolbook"/>
              </a:rPr>
              <a:t>	Examines </a:t>
            </a:r>
            <a:r>
              <a:rPr lang="en-US" sz="2000" dirty="0">
                <a:ea typeface="Century Schoolbook"/>
                <a:cs typeface="Century Schoolbook"/>
                <a:sym typeface="Century Schoolbook"/>
              </a:rPr>
              <a:t>common errors made by beam search and discusses strategies for addressing </a:t>
            </a:r>
            <a:r>
              <a:rPr lang="en-US" sz="2000" dirty="0" smtClean="0">
                <a:ea typeface="Century Schoolbook"/>
                <a:cs typeface="Century Schoolbook"/>
                <a:sym typeface="Century Schoolbook"/>
              </a:rPr>
              <a:t>	these </a:t>
            </a:r>
            <a:r>
              <a:rPr lang="en-US" sz="2000" dirty="0">
                <a:ea typeface="Century Schoolbook"/>
                <a:cs typeface="Century Schoolbook"/>
                <a:sym typeface="Century Schoolbook"/>
              </a:rPr>
              <a:t>errors to improve translation quality.</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53</a:t>
            </a:fld>
            <a:endParaRPr lang="en-US"/>
          </a:p>
        </p:txBody>
      </p:sp>
    </p:spTree>
    <p:extLst>
      <p:ext uri="{BB962C8B-B14F-4D97-AF65-F5344CB8AC3E}">
        <p14:creationId xmlns:p14="http://schemas.microsoft.com/office/powerpoint/2010/main" val="292439830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pic>
        <p:nvPicPr>
          <p:cNvPr id="449" name="Google Shape;449;p49"/>
          <p:cNvPicPr preferRelativeResize="0"/>
          <p:nvPr/>
        </p:nvPicPr>
        <p:blipFill rotWithShape="1">
          <a:blip r:embed="rId3">
            <a:alphaModFix/>
          </a:blip>
          <a:srcRect/>
          <a:stretch/>
        </p:blipFill>
        <p:spPr>
          <a:xfrm>
            <a:off x="10188772" y="403412"/>
            <a:ext cx="1277669" cy="702718"/>
          </a:xfrm>
          <a:prstGeom prst="rect">
            <a:avLst/>
          </a:prstGeom>
          <a:noFill/>
          <a:ln>
            <a:noFill/>
          </a:ln>
        </p:spPr>
      </p:pic>
      <p:sp>
        <p:nvSpPr>
          <p:cNvPr id="5" name="Google Shape;49;g2019cdaf7c5_1_4"/>
          <p:cNvSpPr txBox="1">
            <a:spLocks/>
          </p:cNvSpPr>
          <p:nvPr/>
        </p:nvSpPr>
        <p:spPr>
          <a:xfrm>
            <a:off x="1450665" y="227645"/>
            <a:ext cx="9376941" cy="64536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96376" marR="24654" indent="-85730" algn="ctr">
              <a:lnSpc>
                <a:spcPct val="108333"/>
              </a:lnSpc>
              <a:defRPr/>
            </a:pPr>
            <a:r>
              <a:rPr lang="en-US" sz="3883" dirty="0">
                <a:solidFill>
                  <a:srgbClr val="000000"/>
                </a:solidFill>
                <a:latin typeface="Arial"/>
                <a:sym typeface="Trebuchet MS"/>
              </a:rPr>
              <a:t>Summarization</a:t>
            </a:r>
            <a:endParaRPr lang="en-US" sz="3883" dirty="0">
              <a:solidFill>
                <a:srgbClr val="000000"/>
              </a:solidFill>
              <a:latin typeface="Arial"/>
            </a:endParaRPr>
          </a:p>
        </p:txBody>
      </p:sp>
      <p:sp>
        <p:nvSpPr>
          <p:cNvPr id="8" name="Google Shape;316;p36"/>
          <p:cNvSpPr txBox="1"/>
          <p:nvPr/>
        </p:nvSpPr>
        <p:spPr>
          <a:xfrm>
            <a:off x="812900" y="1281897"/>
            <a:ext cx="10968885" cy="3018724"/>
          </a:xfrm>
          <a:prstGeom prst="rect">
            <a:avLst/>
          </a:prstGeom>
          <a:noFill/>
          <a:ln>
            <a:noFill/>
          </a:ln>
        </p:spPr>
        <p:txBody>
          <a:bodyPr spcFirstLastPara="1" wrap="square" lIns="0" tIns="5029" rIns="0" bIns="0" anchor="t" anchorCtr="0">
            <a:spAutoFit/>
          </a:bodyPr>
          <a:lstStyle/>
          <a:p>
            <a:pPr marL="354106" marR="4483" lvl="1" indent="-342900">
              <a:lnSpc>
                <a:spcPct val="101800"/>
              </a:lnSpc>
              <a:buSzPts val="2400"/>
              <a:buFont typeface="Arial" panose="020B0604020202020204" pitchFamily="34" charset="0"/>
              <a:buChar char="•"/>
            </a:pPr>
            <a:r>
              <a:rPr lang="en-US" sz="2400" dirty="0">
                <a:ea typeface="Century Schoolbook"/>
                <a:cs typeface="Century Schoolbook"/>
                <a:sym typeface="Century Schoolbook"/>
              </a:rPr>
              <a:t>Bleu Score evaluates machine translation quality by comparing </a:t>
            </a:r>
            <a:r>
              <a:rPr lang="en-US" sz="2400" dirty="0" smtClean="0">
                <a:ea typeface="Century Schoolbook"/>
                <a:cs typeface="Century Schoolbook"/>
                <a:sym typeface="Century Schoolbook"/>
              </a:rPr>
              <a:t>n-grams.</a:t>
            </a:r>
          </a:p>
          <a:p>
            <a:pPr marL="354106" marR="4483" lvl="1"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Attention </a:t>
            </a:r>
            <a:r>
              <a:rPr lang="en-US" sz="2400" dirty="0">
                <a:ea typeface="Century Schoolbook"/>
                <a:cs typeface="Century Schoolbook"/>
                <a:sym typeface="Century Schoolbook"/>
              </a:rPr>
              <a:t>in neural networks focuses on input parts during output </a:t>
            </a:r>
            <a:r>
              <a:rPr lang="en-US" sz="2400" dirty="0" smtClean="0">
                <a:ea typeface="Century Schoolbook"/>
                <a:cs typeface="Century Schoolbook"/>
                <a:sym typeface="Century Schoolbook"/>
              </a:rPr>
              <a:t>generation.</a:t>
            </a:r>
          </a:p>
          <a:p>
            <a:pPr marL="354106" marR="4483" lvl="1"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Attention </a:t>
            </a:r>
            <a:r>
              <a:rPr lang="en-US" sz="2400" dirty="0">
                <a:ea typeface="Century Schoolbook"/>
                <a:cs typeface="Century Schoolbook"/>
                <a:sym typeface="Century Schoolbook"/>
              </a:rPr>
              <a:t>models enhance sequence-to-sequence models, improving translation. </a:t>
            </a:r>
            <a:endParaRPr lang="en-US" sz="2400" dirty="0" smtClean="0">
              <a:ea typeface="Century Schoolbook"/>
              <a:cs typeface="Century Schoolbook"/>
              <a:sym typeface="Century Schoolbook"/>
            </a:endParaRPr>
          </a:p>
          <a:p>
            <a:pPr marL="354106" marR="4483" lvl="1"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Speech </a:t>
            </a:r>
            <a:r>
              <a:rPr lang="en-US" sz="2400" dirty="0">
                <a:ea typeface="Century Schoolbook"/>
                <a:cs typeface="Century Schoolbook"/>
                <a:sym typeface="Century Schoolbook"/>
              </a:rPr>
              <a:t>recognition converts spoken language to text using RNNs and attention. </a:t>
            </a:r>
            <a:endParaRPr lang="en-US" sz="2400" dirty="0" smtClean="0">
              <a:ea typeface="Century Schoolbook"/>
              <a:cs typeface="Century Schoolbook"/>
              <a:sym typeface="Century Schoolbook"/>
            </a:endParaRPr>
          </a:p>
          <a:p>
            <a:pPr marL="354106" marR="4483" lvl="1"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Trigger </a:t>
            </a:r>
            <a:r>
              <a:rPr lang="en-US" sz="2400" dirty="0">
                <a:ea typeface="Century Schoolbook"/>
                <a:cs typeface="Century Schoolbook"/>
                <a:sym typeface="Century Schoolbook"/>
              </a:rPr>
              <a:t>word detection identifies specific words in audio, e.g., for voice assistants.</a:t>
            </a:r>
            <a:endParaRPr lang="en-US" sz="2000" dirty="0">
              <a:ea typeface="Century Schoolbook"/>
              <a:cs typeface="Century Schoolbook"/>
              <a:sym typeface="Century Schoolbook"/>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54</a:t>
            </a:fld>
            <a:endParaRPr lang="en-US"/>
          </a:p>
        </p:txBody>
      </p:sp>
    </p:spTree>
    <p:extLst>
      <p:ext uri="{BB962C8B-B14F-4D97-AF65-F5344CB8AC3E}">
        <p14:creationId xmlns:p14="http://schemas.microsoft.com/office/powerpoint/2010/main" val="150122597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TotalTime>
  <Words>4585</Words>
  <Application>Microsoft Office PowerPoint</Application>
  <PresentationFormat>Widescreen</PresentationFormat>
  <Paragraphs>345</Paragraphs>
  <Slides>54</Slides>
  <Notes>54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54</vt:i4>
      </vt:variant>
    </vt:vector>
  </HeadingPairs>
  <TitlesOfParts>
    <vt:vector size="62" baseType="lpstr">
      <vt:lpstr>Trebuchet MS</vt:lpstr>
      <vt:lpstr>Century Schoolbook</vt:lpstr>
      <vt:lpstr>Roboto</vt:lpstr>
      <vt:lpstr>Calibri</vt:lpstr>
      <vt:lpstr>Cambria</vt:lpstr>
      <vt:lpstr>Cambria Math</vt:lpstr>
      <vt:lpstr>Arial</vt:lpstr>
      <vt:lpstr>Office Theme</vt:lpstr>
      <vt:lpstr>Sequence Models &amp; Attention Mechanism</vt:lpstr>
      <vt:lpstr>Sequence Models &amp; Attention Mechanism</vt:lpstr>
      <vt:lpstr>Sequence Models &amp; Attention Mechanism</vt:lpstr>
      <vt:lpstr>Basic models</vt:lpstr>
      <vt:lpstr>PowerPoint Presentation</vt:lpstr>
      <vt:lpstr>PowerPoint Presentation</vt:lpstr>
      <vt:lpstr>Sequence to sequence models</vt:lpstr>
      <vt:lpstr>Picking the most likely sentence</vt:lpstr>
      <vt:lpstr>Picking the most likely sentence</vt:lpstr>
      <vt:lpstr>PowerPoint Presentation</vt:lpstr>
      <vt:lpstr>Finding the most likely translation</vt:lpstr>
      <vt:lpstr>Why not a greedy search?</vt:lpstr>
      <vt:lpstr>Sequence to sequence models</vt:lpstr>
      <vt:lpstr>Beam search</vt:lpstr>
      <vt:lpstr>Beam search</vt:lpstr>
      <vt:lpstr>PowerPoint Presentation</vt:lpstr>
      <vt:lpstr>Beam search algorithm</vt:lpstr>
      <vt:lpstr>Beam search (B = 3)</vt:lpstr>
      <vt:lpstr>Sequence to sequence models</vt:lpstr>
      <vt:lpstr>Refinements to beam search</vt:lpstr>
      <vt:lpstr>PowerPoint Presentation</vt:lpstr>
      <vt:lpstr>Beam search discussion</vt:lpstr>
      <vt:lpstr>Sequence to sequence models</vt:lpstr>
      <vt:lpstr>Error analysis on beam search</vt:lpstr>
      <vt:lpstr>Example</vt:lpstr>
      <vt:lpstr>Error analysis on beam search</vt:lpstr>
      <vt:lpstr>Error analysis process</vt:lpstr>
      <vt:lpstr>Sequence to sequence models</vt:lpstr>
      <vt:lpstr>Bleu score (optional)</vt:lpstr>
      <vt:lpstr>Bleu score (optional)</vt:lpstr>
      <vt:lpstr>Evaluating machine translation</vt:lpstr>
      <vt:lpstr>Bleu score on bigrams</vt:lpstr>
      <vt:lpstr>Bleu score on unigrams</vt:lpstr>
      <vt:lpstr>Bleu details</vt:lpstr>
      <vt:lpstr>Sequence to sequence models</vt:lpstr>
      <vt:lpstr>Attention model intuition</vt:lpstr>
      <vt:lpstr>The problem of long sequences</vt:lpstr>
      <vt:lpstr>Attention model intuition</vt:lpstr>
      <vt:lpstr>Sequence to sequence models</vt:lpstr>
      <vt:lpstr>Attention model</vt:lpstr>
      <vt:lpstr>Attention model</vt:lpstr>
      <vt:lpstr>PowerPoint Presentation</vt:lpstr>
      <vt:lpstr>PowerPoint Presentation</vt:lpstr>
      <vt:lpstr>Audio data</vt:lpstr>
      <vt:lpstr>Speech recognition</vt:lpstr>
      <vt:lpstr>PowerPoint Presentation</vt:lpstr>
      <vt:lpstr>PowerPoint Presentation</vt:lpstr>
      <vt:lpstr>PowerPoint Presentation</vt:lpstr>
      <vt:lpstr>Audio data</vt:lpstr>
      <vt:lpstr>Trigger word detection</vt:lpstr>
      <vt:lpstr>What is trigger word detection?</vt:lpstr>
      <vt:lpstr>0      0     0       1     1       0</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Sequence to sequence models </dc:title>
  <cp:lastModifiedBy>Phạm Trọng Nghĩa</cp:lastModifiedBy>
  <cp:revision>31</cp:revision>
  <dcterms:created xsi:type="dcterms:W3CDTF">2023-02-01T08:24:08Z</dcterms:created>
  <dcterms:modified xsi:type="dcterms:W3CDTF">2023-12-14T07:50:25Z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2023-02-01T00:00:00Z</vt:filetime>
  </property>
  <property fmtid="{D5CDD505-2E9C-101B-9397-08002B2CF9AE}" pid="3" name="LastSaved">
    <vt:filetime>2023-02-01T00:00:00Z</vt:filetime>
  </property>
</Properties>
</file>