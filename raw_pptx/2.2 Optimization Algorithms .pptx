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1"/>
  </p:notesMasterIdLst>
  <p:sldIdLst>
    <p:sldId id="256" r:id="rId2"/>
    <p:sldId id="315" r:id="rId3"/>
    <p:sldId id="257" r:id="rId4"/>
    <p:sldId id="258" r:id="rId5"/>
    <p:sldId id="259" r:id="rId6"/>
    <p:sldId id="260" r:id="rId7"/>
    <p:sldId id="261" r:id="rId8"/>
    <p:sldId id="262" r:id="rId9"/>
    <p:sldId id="263" r:id="rId10"/>
    <p:sldId id="319" r:id="rId11"/>
    <p:sldId id="320" r:id="rId12"/>
    <p:sldId id="321" r:id="rId13"/>
    <p:sldId id="266" r:id="rId14"/>
    <p:sldId id="267" r:id="rId15"/>
    <p:sldId id="268" r:id="rId16"/>
    <p:sldId id="322" r:id="rId17"/>
    <p:sldId id="330" r:id="rId18"/>
    <p:sldId id="271" r:id="rId19"/>
    <p:sldId id="272" r:id="rId20"/>
    <p:sldId id="273" r:id="rId21"/>
    <p:sldId id="274" r:id="rId22"/>
    <p:sldId id="331" r:id="rId23"/>
    <p:sldId id="332" r:id="rId24"/>
    <p:sldId id="333" r:id="rId25"/>
    <p:sldId id="277" r:id="rId26"/>
    <p:sldId id="279" r:id="rId27"/>
    <p:sldId id="334" r:id="rId28"/>
    <p:sldId id="280" r:id="rId29"/>
    <p:sldId id="281" r:id="rId30"/>
    <p:sldId id="283" r:id="rId31"/>
    <p:sldId id="284" r:id="rId32"/>
    <p:sldId id="285" r:id="rId33"/>
    <p:sldId id="286" r:id="rId34"/>
    <p:sldId id="287" r:id="rId35"/>
    <p:sldId id="289" r:id="rId36"/>
    <p:sldId id="303" r:id="rId37"/>
    <p:sldId id="329" r:id="rId38"/>
    <p:sldId id="326" r:id="rId39"/>
    <p:sldId id="292" r:id="rId40"/>
    <p:sldId id="304" r:id="rId41"/>
    <p:sldId id="307" r:id="rId42"/>
    <p:sldId id="305" r:id="rId43"/>
    <p:sldId id="294" r:id="rId44"/>
    <p:sldId id="308" r:id="rId45"/>
    <p:sldId id="327" r:id="rId46"/>
    <p:sldId id="296" r:id="rId47"/>
    <p:sldId id="328" r:id="rId48"/>
    <p:sldId id="310" r:id="rId49"/>
    <p:sldId id="297" r:id="rId50"/>
    <p:sldId id="311" r:id="rId51"/>
    <p:sldId id="335" r:id="rId52"/>
    <p:sldId id="336" r:id="rId53"/>
    <p:sldId id="312" r:id="rId54"/>
    <p:sldId id="300" r:id="rId55"/>
    <p:sldId id="314" r:id="rId56"/>
    <p:sldId id="301" r:id="rId57"/>
    <p:sldId id="313" r:id="rId58"/>
    <p:sldId id="302" r:id="rId59"/>
    <p:sldId id="316" r:id="rId60"/>
  </p:sldIdLst>
  <p:sldSz cx="12192000" cy="6858000"/>
  <p:notesSz cx="12192000" cy="6858000"/>
  <p:embeddedFontLst>
    <p:embeddedFont>
      <p:font typeface="Roboto" panose="020B0604020202020204" charset="0"/>
      <p:regular r:id="rId62"/>
      <p:bold r:id="rId63"/>
      <p:italic r:id="rId64"/>
      <p:boldItalic r:id="rId65"/>
    </p:embeddedFont>
    <p:embeddedFont>
      <p:font typeface="Century Schoolbook" panose="02040604050505020304" pitchFamily="18" charset="0"/>
      <p:regular r:id="rId66"/>
      <p:bold r:id="rId67"/>
      <p:italic r:id="rId68"/>
      <p:boldItalic r:id="rId69"/>
    </p:embeddedFont>
    <p:embeddedFont>
      <p:font typeface="Trebuchet MS" panose="020B0603020202020204" pitchFamily="34" charset="0"/>
      <p:regular r:id="rId70"/>
      <p:bold r:id="rId71"/>
      <p:italic r:id="rId72"/>
      <p:boldItalic r:id="rId73"/>
    </p:embeddedFont>
    <p:embeddedFont>
      <p:font typeface="Calibri" panose="020F0502020204030204" pitchFamily="34" charset="0"/>
      <p:regular r:id="rId74"/>
      <p:bold r:id="rId75"/>
      <p:italic r:id="rId76"/>
      <p:boldItalic r:id="rId77"/>
    </p:embeddedFont>
    <p:embeddedFont>
      <p:font typeface="Cambria" panose="02040503050406030204" pitchFamily="18" charset="0"/>
      <p:regular r:id="rId78"/>
      <p:bold r:id="rId79"/>
      <p:italic r:id="rId80"/>
      <p:boldItalic r:id="rId81"/>
    </p:embeddedFont>
    <p:embeddedFont>
      <p:font typeface="Cambria Math" panose="02040503050406030204" pitchFamily="18" charset="0"/>
      <p:regular r:id="rId82"/>
    </p:embeddedFont>
    <p:embeddedFont>
      <p:font typeface="Cascadia Code Light" panose="020B0609020000020004" pitchFamily="49" charset="0"/>
      <p:regular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8" roundtripDataSignature="AMtx7mg8CH826pExx0trFIOYtsOzdAJu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43D7BD-2058-4800-AD35-331F7F2ADB36}">
  <a:tblStyle styleId="{A943D7BD-2058-4800-AD35-331F7F2ADB36}"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898" autoAdjust="0"/>
  </p:normalViewPr>
  <p:slideViewPr>
    <p:cSldViewPr snapToGrid="0">
      <p:cViewPr varScale="1">
        <p:scale>
          <a:sx n="85" d="100"/>
          <a:sy n="85" d="100"/>
        </p:scale>
        <p:origin x="1554" y="11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3.fntdata"/><Relationship Id="rId79" Type="http://schemas.openxmlformats.org/officeDocument/2006/relationships/font" Target="fonts/font18.fntdata"/><Relationship Id="rId5" Type="http://schemas.openxmlformats.org/officeDocument/2006/relationships/slide" Target="slides/slide4.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1.fntdata"/><Relationship Id="rId80" Type="http://schemas.openxmlformats.org/officeDocument/2006/relationships/font" Target="fonts/font1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83" Type="http://schemas.openxmlformats.org/officeDocument/2006/relationships/font" Target="fonts/font22.fntdata"/><Relationship Id="rId88" Type="http://customschemas.google.com/relationships/presentationmetadata" Target="meta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font" Target="fonts/font10.fntdata"/><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5.fntdata"/><Relationship Id="rId61" Type="http://schemas.openxmlformats.org/officeDocument/2006/relationships/notesMaster" Target="notesMasters/notesMaster1.xml"/><Relationship Id="rId82"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96ac5b9c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g21c96ac5b9c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96ac5b9c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g21c96ac5b9c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8210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 name="Google Shape;49;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 name="Google Shape;67;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3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Deep Learning works best with big data, but training on large data sets is slow, so having good optimization algorithms can help speed up the process.</a:t>
            </a:r>
            <a:endParaRPr lang="en-US" dirty="0" smtClean="0"/>
          </a:p>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Mini-batch gradient descent is a variant of gradient descent that allows the neural network to make progress even before processing the entire training set. It works by splitting up the training set into smaller, baby training sets called mini-batches, each consisting of a smaller number of training examples, such as 1,000 examples each.</a:t>
            </a:r>
            <a:endParaRPr lang="en-US" dirty="0" smtClean="0"/>
          </a:p>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To run mini-batch gradient descent on the training set, you use a for loop that goes through each mini-batch and implement one step of gradient descent using that mini-batch. Inside the for loop, you implement forward propagation on the inputs, compute the cost function, implement backpropagation to compute gradients, and then update the weights.</a:t>
            </a:r>
          </a:p>
          <a:p>
            <a:pPr marL="0" lvl="0" indent="0" algn="l" rtl="0">
              <a:lnSpc>
                <a:spcPct val="100000"/>
              </a:lnSpc>
              <a:spcBef>
                <a:spcPts val="0"/>
              </a:spcBef>
              <a:spcAft>
                <a:spcPts val="0"/>
              </a:spcAft>
              <a:buSzPts val="1100"/>
              <a:buNone/>
            </a:pPr>
            <a:endParaRPr dirty="0"/>
          </a:p>
        </p:txBody>
      </p:sp>
      <p:sp>
        <p:nvSpPr>
          <p:cNvPr id="110" name="Google Shape;110;p3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1817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1117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3040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8" name="Google Shape;138;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6" name="Google Shape;146;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409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5422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4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4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4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4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The parameter β controls the trade-off between giving more weight to recent data points and smoothing out the sequence. When β is close to 1, the exponentially weighted average will give a lot of weight to the previous value, resulting in a smoother sequence that adapts more slowly to changes in the data. When β is close to 0, the exponentially weighted average will give more weight to the current value, resulting in a more volatile sequence that adapts more quickly to changes in the data.</a:t>
            </a:r>
            <a:endParaRPr lang="en-US" dirty="0" smtClean="0"/>
          </a:p>
          <a:p>
            <a:pPr marL="12700" marR="0" lvl="0" indent="0" algn="l" rtl="0">
              <a:lnSpc>
                <a:spcPct val="100000"/>
              </a:lnSpc>
              <a:spcBef>
                <a:spcPts val="0"/>
              </a:spcBef>
              <a:spcAft>
                <a:spcPts val="0"/>
              </a:spcAft>
              <a:buNone/>
            </a:pPr>
            <a:endParaRPr lang="en-US" sz="1100" b="0" i="0" u="none" strike="noStrike" cap="none" dirty="0" smtClean="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Exponentially weighted averages are commonly used in time series analysis, finance, and machine learning, as they provide a simple way to compute a smoothed version of a sequence of data that responds quickly to changes in the data while avoiding overfitting to noisy or spurious data points.</a:t>
            </a:r>
          </a:p>
          <a:p>
            <a:pPr marL="0" lvl="0" indent="0" algn="l" rtl="0">
              <a:lnSpc>
                <a:spcPct val="100000"/>
              </a:lnSpc>
              <a:spcBef>
                <a:spcPts val="0"/>
              </a:spcBef>
              <a:spcAft>
                <a:spcPts val="0"/>
              </a:spcAft>
              <a:buSzPts val="1100"/>
              <a:buNone/>
            </a:pPr>
            <a:endParaRPr dirty="0"/>
          </a:p>
        </p:txBody>
      </p:sp>
      <p:sp>
        <p:nvSpPr>
          <p:cNvPr id="197" name="Google Shape;197;p4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p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p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3479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p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20612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p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7079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4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2" name="Google Shape;232;p4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4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9" name="Google Shape;249;p4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p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38683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5" name="Google Shape;265;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4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The intuition behind the EWA algorithm is that it is like computing a moving average of the time series data but with an exponentially decaying weight for each data point. As beta gets closer to 1, the EWA algorithm focuses more on recent data and adapts more slowly to changes in the time series. Conversely, as beta gets smaller, the EWA algorithm focuses more on older data and adapts more quickly to changes in the time series.</a:t>
            </a:r>
            <a:endParaRPr lang="en-US" dirty="0" smtClean="0"/>
          </a:p>
          <a:p>
            <a:pPr marL="355600" marR="0" lvl="0" indent="-139700" algn="l" rtl="0">
              <a:lnSpc>
                <a:spcPct val="100000"/>
              </a:lnSpc>
              <a:spcBef>
                <a:spcPts val="0"/>
              </a:spcBef>
              <a:spcAft>
                <a:spcPts val="0"/>
              </a:spcAft>
              <a:buClr>
                <a:srgbClr val="000000"/>
              </a:buClr>
              <a:buSzPts val="3200"/>
              <a:buFont typeface="Arial"/>
              <a:buNone/>
            </a:pPr>
            <a:endParaRPr lang="en-US" sz="1100" b="0" i="0" u="none" strike="noStrike" cap="none" dirty="0" smtClean="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One advantage of the EWA algorithm is that it takes up very little memory since only one row number needs to be stored in memory at any given time. This makes it an efficient and simple way to compute averages of time series data, especially when there are a large number of variables to compute averages for.</a:t>
            </a:r>
            <a:endParaRPr lang="en-US" dirty="0" smtClean="0"/>
          </a:p>
          <a:p>
            <a:pPr marL="0" lvl="0" indent="0" algn="l" rtl="0">
              <a:lnSpc>
                <a:spcPct val="100000"/>
              </a:lnSpc>
              <a:spcBef>
                <a:spcPts val="0"/>
              </a:spcBef>
              <a:spcAft>
                <a:spcPts val="0"/>
              </a:spcAft>
              <a:buSzPts val="1100"/>
              <a:buNone/>
            </a:pPr>
            <a:endParaRPr dirty="0"/>
          </a:p>
        </p:txBody>
      </p:sp>
      <p:sp>
        <p:nvSpPr>
          <p:cNvPr id="284" name="Google Shape;284;p4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3" name="Google Shape;293;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5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Exponentially weighted moving averages are a key component of several optimization algorithms used in training neural networks. </a:t>
            </a:r>
            <a:r>
              <a:rPr lang="en-US" sz="1100" dirty="0" smtClean="0"/>
              <a:t>T</a:t>
            </a:r>
            <a:r>
              <a:rPr lang="en-US" sz="1100" b="0" i="0" u="none" strike="noStrike" cap="none" dirty="0" smtClean="0">
                <a:solidFill>
                  <a:srgbClr val="000000"/>
                </a:solidFill>
                <a:latin typeface="Arial"/>
                <a:ea typeface="Arial"/>
                <a:cs typeface="Arial"/>
                <a:sym typeface="Arial"/>
              </a:rPr>
              <a:t>he basic idea is to calculate an exponentially weighted average of a parameter by giving more weight to recent values and less weight to older values. This can be useful in smoothing noisy data and tracking trends.</a:t>
            </a:r>
            <a:endParaRPr lang="en-US" dirty="0" smtClean="0"/>
          </a:p>
          <a:p>
            <a:pPr marL="355600" marR="0" lvl="0" indent="-139700" algn="l" rtl="0">
              <a:lnSpc>
                <a:spcPct val="100000"/>
              </a:lnSpc>
              <a:spcBef>
                <a:spcPts val="0"/>
              </a:spcBef>
              <a:spcAft>
                <a:spcPts val="0"/>
              </a:spcAft>
              <a:buClr>
                <a:srgbClr val="000000"/>
              </a:buClr>
              <a:buSzPts val="3200"/>
              <a:buFont typeface="Arial"/>
              <a:buNone/>
            </a:pPr>
            <a:endParaRPr lang="en-US" sz="1100" b="0" i="0" u="none" strike="noStrike" cap="none" dirty="0" smtClean="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However, when implementing this algorithm, there is a technical detail called bias correction that can make the computation of these averages more accurate, especially during the initial phase of learning. When implementing a moving average, we typically initialize it with V</a:t>
            </a:r>
            <a:r>
              <a:rPr lang="en-US" sz="1100" b="0" i="0" u="none" strike="noStrike" cap="none" baseline="-25000" dirty="0" smtClean="0">
                <a:solidFill>
                  <a:srgbClr val="000000"/>
                </a:solidFill>
                <a:latin typeface="Arial"/>
                <a:ea typeface="Arial"/>
                <a:cs typeface="Arial"/>
                <a:sym typeface="Arial"/>
              </a:rPr>
              <a:t>0</a:t>
            </a:r>
            <a:r>
              <a:rPr lang="en-US" sz="1100" b="0" i="0" u="none" strike="noStrike" cap="none" dirty="0" smtClean="0">
                <a:solidFill>
                  <a:srgbClr val="000000"/>
                </a:solidFill>
                <a:latin typeface="Arial"/>
                <a:ea typeface="Arial"/>
                <a:cs typeface="Arial"/>
                <a:sym typeface="Arial"/>
              </a:rPr>
              <a:t> equals 0, and then calculate </a:t>
            </a:r>
            <a:r>
              <a:rPr lang="en-US" sz="1100" b="0" i="0" u="none" strike="noStrike" cap="none" dirty="0" err="1" smtClean="0">
                <a:solidFill>
                  <a:srgbClr val="000000"/>
                </a:solidFill>
                <a:latin typeface="Arial"/>
                <a:ea typeface="Arial"/>
                <a:cs typeface="Arial"/>
                <a:sym typeface="Arial"/>
              </a:rPr>
              <a:t>V</a:t>
            </a:r>
            <a:r>
              <a:rPr lang="en-US" sz="1100" b="0" i="0" u="none" strike="noStrike" cap="none" baseline="-25000" dirty="0" err="1" smtClean="0">
                <a:solidFill>
                  <a:srgbClr val="000000"/>
                </a:solidFill>
                <a:latin typeface="Arial"/>
                <a:ea typeface="Arial"/>
                <a:cs typeface="Arial"/>
                <a:sym typeface="Arial"/>
              </a:rPr>
              <a:t>t</a:t>
            </a:r>
            <a:r>
              <a:rPr lang="en-US" sz="1100" b="0" i="0" u="none" strike="noStrike" cap="none" dirty="0" smtClean="0">
                <a:solidFill>
                  <a:srgbClr val="000000"/>
                </a:solidFill>
                <a:latin typeface="Arial"/>
                <a:ea typeface="Arial"/>
                <a:cs typeface="Arial"/>
                <a:sym typeface="Arial"/>
              </a:rPr>
              <a:t> using the formula: </a:t>
            </a:r>
            <a:endParaRPr lang="en-US" dirty="0" smtClean="0"/>
          </a:p>
          <a:p>
            <a:pPr marL="12700" marR="0" lvl="0" indent="0" algn="l" rtl="0">
              <a:lnSpc>
                <a:spcPct val="100000"/>
              </a:lnSpc>
              <a:spcBef>
                <a:spcPts val="0"/>
              </a:spcBef>
              <a:spcAft>
                <a:spcPts val="0"/>
              </a:spcAft>
              <a:buNone/>
            </a:pPr>
            <a:r>
              <a:rPr lang="en-US" sz="1100" b="1" i="0" u="none" strike="noStrike" cap="none" dirty="0" smtClean="0">
                <a:solidFill>
                  <a:srgbClr val="000000"/>
                </a:solidFill>
                <a:latin typeface="Arial"/>
                <a:ea typeface="Arial"/>
                <a:cs typeface="Arial"/>
                <a:sym typeface="Arial"/>
              </a:rPr>
              <a:t>	</a:t>
            </a:r>
            <a:r>
              <a:rPr lang="en-US" sz="1100" b="1" i="0" u="none" strike="noStrike" cap="none" dirty="0" err="1" smtClean="0">
                <a:solidFill>
                  <a:srgbClr val="000000"/>
                </a:solidFill>
                <a:latin typeface="Cascadia Code Light" panose="020B0609020000020004" pitchFamily="49" charset="0"/>
                <a:cs typeface="Cascadia Code Light" panose="020B0609020000020004" pitchFamily="49" charset="0"/>
                <a:sym typeface="Arial"/>
              </a:rPr>
              <a:t>V</a:t>
            </a:r>
            <a:r>
              <a:rPr lang="en-US" sz="1100" b="1" i="0" u="none" strike="noStrike" cap="none" baseline="-25000" dirty="0" err="1" smtClean="0">
                <a:solidFill>
                  <a:srgbClr val="000000"/>
                </a:solidFill>
                <a:latin typeface="Cascadia Code Light" panose="020B0609020000020004" pitchFamily="49" charset="0"/>
                <a:cs typeface="Cascadia Code Light" panose="020B0609020000020004" pitchFamily="49" charset="0"/>
                <a:sym typeface="Arial"/>
              </a:rPr>
              <a:t>t</a:t>
            </a:r>
            <a:r>
              <a:rPr lang="en-US" sz="1100" b="1" i="0" u="none" strike="noStrike" cap="none" dirty="0" smtClean="0">
                <a:solidFill>
                  <a:srgbClr val="000000"/>
                </a:solidFill>
                <a:latin typeface="Cascadia Code Light" panose="020B0609020000020004" pitchFamily="49" charset="0"/>
                <a:cs typeface="Cascadia Code Light" panose="020B0609020000020004" pitchFamily="49" charset="0"/>
                <a:sym typeface="Arial"/>
              </a:rPr>
              <a:t> = βV</a:t>
            </a:r>
            <a:r>
              <a:rPr lang="en-US" sz="1100" b="1" i="0" u="none" strike="noStrike" cap="none" baseline="-25000" dirty="0" smtClean="0">
                <a:solidFill>
                  <a:srgbClr val="000000"/>
                </a:solidFill>
                <a:latin typeface="Cascadia Code Light" panose="020B0609020000020004" pitchFamily="49" charset="0"/>
                <a:cs typeface="Cascadia Code Light" panose="020B0609020000020004" pitchFamily="49" charset="0"/>
                <a:sym typeface="Arial"/>
              </a:rPr>
              <a:t>t-1</a:t>
            </a:r>
            <a:r>
              <a:rPr lang="en-US" sz="1100" b="1" i="0" u="none" strike="noStrike" cap="none" dirty="0" smtClean="0">
                <a:solidFill>
                  <a:srgbClr val="000000"/>
                </a:solidFill>
                <a:latin typeface="Cascadia Code Light" panose="020B0609020000020004" pitchFamily="49" charset="0"/>
                <a:cs typeface="Cascadia Code Light" panose="020B0609020000020004" pitchFamily="49" charset="0"/>
                <a:sym typeface="Arial"/>
              </a:rPr>
              <a:t> + (1-β)</a:t>
            </a:r>
            <a:r>
              <a:rPr lang="en-US" sz="1100" b="1" i="0" u="none" strike="noStrike" cap="none" dirty="0" err="1" smtClean="0">
                <a:solidFill>
                  <a:srgbClr val="000000"/>
                </a:solidFill>
                <a:latin typeface="Cascadia Code Light" panose="020B0609020000020004" pitchFamily="49" charset="0"/>
                <a:cs typeface="Cascadia Code Light" panose="020B0609020000020004" pitchFamily="49" charset="0"/>
                <a:sym typeface="Arial"/>
              </a:rPr>
              <a:t>θ</a:t>
            </a:r>
            <a:r>
              <a:rPr lang="en-US" sz="1100" b="1" i="0" u="none" strike="noStrike" cap="none" baseline="-25000" dirty="0" err="1" smtClean="0">
                <a:solidFill>
                  <a:srgbClr val="000000"/>
                </a:solidFill>
                <a:latin typeface="Cascadia Code Light" panose="020B0609020000020004" pitchFamily="49" charset="0"/>
                <a:cs typeface="Cascadia Code Light" panose="020B0609020000020004" pitchFamily="49" charset="0"/>
                <a:sym typeface="Arial"/>
              </a:rPr>
              <a:t>t</a:t>
            </a:r>
            <a:endParaRPr lang="en-US" sz="1100" b="1" i="0" u="none" strike="noStrike" cap="none" dirty="0" smtClean="0">
              <a:solidFill>
                <a:srgbClr val="000000"/>
              </a:solidFill>
              <a:latin typeface="Cascadia Code Light" panose="020B0609020000020004" pitchFamily="49" charset="0"/>
              <a:cs typeface="Cascadia Code Light" panose="020B0609020000020004" pitchFamily="49" charset="0"/>
              <a:sym typeface="Arial"/>
            </a:endParaRPr>
          </a:p>
          <a:p>
            <a:pPr marL="355600" marR="0" lvl="0" indent="-342900" algn="l" rtl="0">
              <a:lnSpc>
                <a:spcPct val="100000"/>
              </a:lnSpc>
              <a:spcBef>
                <a:spcPts val="0"/>
              </a:spcBef>
              <a:spcAft>
                <a:spcPts val="0"/>
              </a:spcAft>
              <a:buClr>
                <a:srgbClr val="000000"/>
              </a:buClr>
              <a:buSzPts val="3200"/>
              <a:buFont typeface="Arial"/>
              <a:buChar char="•"/>
            </a:pPr>
            <a:endParaRPr dirty="0"/>
          </a:p>
        </p:txBody>
      </p:sp>
      <p:sp>
        <p:nvSpPr>
          <p:cNvPr id="302" name="Google Shape;302;p5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5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But when we calculate </a:t>
            </a:r>
            <a:r>
              <a:rPr lang="en-US" sz="1100" b="0" i="0" u="none" strike="noStrike" cap="none" dirty="0" err="1" smtClean="0">
                <a:solidFill>
                  <a:srgbClr val="000000"/>
                </a:solidFill>
                <a:latin typeface="Arial"/>
                <a:ea typeface="Arial"/>
                <a:cs typeface="Arial"/>
                <a:sym typeface="Arial"/>
              </a:rPr>
              <a:t>V</a:t>
            </a:r>
            <a:r>
              <a:rPr lang="en-US" sz="1100" b="0" i="0" u="none" strike="noStrike" cap="none" baseline="-25000" dirty="0" err="1" smtClean="0">
                <a:solidFill>
                  <a:srgbClr val="000000"/>
                </a:solidFill>
                <a:latin typeface="Arial"/>
                <a:ea typeface="Arial"/>
                <a:cs typeface="Arial"/>
                <a:sym typeface="Arial"/>
              </a:rPr>
              <a:t>t</a:t>
            </a:r>
            <a:r>
              <a:rPr lang="en-US" sz="1100" b="0" i="0" u="none" strike="noStrike" cap="none" dirty="0" smtClean="0">
                <a:solidFill>
                  <a:srgbClr val="000000"/>
                </a:solidFill>
                <a:latin typeface="Arial"/>
                <a:ea typeface="Arial"/>
                <a:cs typeface="Arial"/>
                <a:sym typeface="Arial"/>
              </a:rPr>
              <a:t> using this formula, it can result in a bias towards lower values, especially during the initial phase of learning. This is because the first few values of </a:t>
            </a:r>
            <a:r>
              <a:rPr lang="en-US" sz="1100" b="0" i="0" u="none" strike="noStrike" cap="none" dirty="0" err="1" smtClean="0">
                <a:solidFill>
                  <a:srgbClr val="000000"/>
                </a:solidFill>
                <a:latin typeface="Arial"/>
                <a:ea typeface="Arial"/>
                <a:cs typeface="Arial"/>
                <a:sym typeface="Arial"/>
              </a:rPr>
              <a:t>V</a:t>
            </a:r>
            <a:r>
              <a:rPr lang="en-US" sz="1100" b="0" i="0" u="none" strike="noStrike" cap="none" baseline="-25000" dirty="0" err="1" smtClean="0">
                <a:solidFill>
                  <a:srgbClr val="000000"/>
                </a:solidFill>
                <a:latin typeface="Arial"/>
                <a:ea typeface="Arial"/>
                <a:cs typeface="Arial"/>
                <a:sym typeface="Arial"/>
              </a:rPr>
              <a:t>t</a:t>
            </a:r>
            <a:r>
              <a:rPr lang="en-US" sz="1100" b="0" i="0" u="none" strike="noStrike" cap="none" dirty="0" smtClean="0">
                <a:solidFill>
                  <a:srgbClr val="000000"/>
                </a:solidFill>
                <a:latin typeface="Arial"/>
                <a:ea typeface="Arial"/>
                <a:cs typeface="Arial"/>
                <a:sym typeface="Arial"/>
              </a:rPr>
              <a:t> are calculated using a small number of </a:t>
            </a:r>
            <a:r>
              <a:rPr lang="en-US" sz="1100" b="1" i="0" u="none" strike="noStrike" cap="none" dirty="0" err="1" smtClean="0">
                <a:solidFill>
                  <a:srgbClr val="000000"/>
                </a:solidFill>
                <a:latin typeface="Arial"/>
                <a:ea typeface="Arial"/>
                <a:cs typeface="Arial"/>
                <a:sym typeface="Arial"/>
              </a:rPr>
              <a:t>θ</a:t>
            </a:r>
            <a:r>
              <a:rPr lang="en-US" sz="1100" b="1" i="0" u="none" strike="noStrike" cap="none" baseline="-25000" dirty="0" err="1" smtClean="0">
                <a:solidFill>
                  <a:srgbClr val="000000"/>
                </a:solidFill>
                <a:latin typeface="Arial"/>
                <a:ea typeface="Arial"/>
                <a:cs typeface="Arial"/>
                <a:sym typeface="Arial"/>
              </a:rPr>
              <a:t>t</a:t>
            </a:r>
            <a:r>
              <a:rPr lang="en-US" sz="1100" b="1" i="0" u="none" strike="noStrike" cap="none" dirty="0" smtClean="0">
                <a:solidFill>
                  <a:srgbClr val="000000"/>
                </a:solidFill>
                <a:latin typeface="Arial"/>
                <a:ea typeface="Arial"/>
                <a:cs typeface="Arial"/>
                <a:sym typeface="Arial"/>
              </a:rPr>
              <a:t> </a:t>
            </a:r>
            <a:r>
              <a:rPr lang="en-US" sz="1100" b="0" i="0" u="none" strike="noStrike" cap="none" dirty="0" smtClean="0">
                <a:solidFill>
                  <a:srgbClr val="000000"/>
                </a:solidFill>
                <a:latin typeface="Arial"/>
                <a:ea typeface="Arial"/>
                <a:cs typeface="Arial"/>
                <a:sym typeface="Arial"/>
              </a:rPr>
              <a:t>values, which can cause the moving average to underestimate the true value of the parameter.</a:t>
            </a:r>
          </a:p>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To correct for this bias, we can modify the estimate of </a:t>
            </a:r>
            <a:r>
              <a:rPr lang="en-US" sz="1100" b="0" i="0" u="none" strike="noStrike" cap="none" dirty="0" err="1" smtClean="0">
                <a:solidFill>
                  <a:srgbClr val="000000"/>
                </a:solidFill>
                <a:latin typeface="Arial"/>
                <a:ea typeface="Arial"/>
                <a:cs typeface="Arial"/>
                <a:sym typeface="Arial"/>
              </a:rPr>
              <a:t>V</a:t>
            </a:r>
            <a:r>
              <a:rPr lang="en-US" sz="1100" b="0" i="0" u="none" strike="noStrike" cap="none" baseline="-25000" dirty="0" err="1" smtClean="0">
                <a:solidFill>
                  <a:srgbClr val="000000"/>
                </a:solidFill>
                <a:latin typeface="Arial"/>
                <a:ea typeface="Arial"/>
                <a:cs typeface="Arial"/>
                <a:sym typeface="Arial"/>
              </a:rPr>
              <a:t>t</a:t>
            </a:r>
            <a:r>
              <a:rPr lang="en-US" sz="1100" b="0" i="0" u="none" strike="noStrike" cap="none" dirty="0" smtClean="0">
                <a:solidFill>
                  <a:srgbClr val="000000"/>
                </a:solidFill>
                <a:latin typeface="Arial"/>
                <a:ea typeface="Arial"/>
                <a:cs typeface="Arial"/>
                <a:sym typeface="Arial"/>
              </a:rPr>
              <a:t> by dividing it by a correction factor, which is </a:t>
            </a:r>
            <a:r>
              <a:rPr lang="en-US" sz="1100" b="1" i="0" u="none" strike="noStrike" cap="none" dirty="0" smtClean="0">
                <a:solidFill>
                  <a:srgbClr val="000000"/>
                </a:solidFill>
                <a:latin typeface="Cascadia Code Light" panose="020B0609020000020004" pitchFamily="49" charset="0"/>
                <a:cs typeface="Cascadia Code Light" panose="020B0609020000020004" pitchFamily="49" charset="0"/>
                <a:sym typeface="Arial"/>
              </a:rPr>
              <a:t>1-β</a:t>
            </a:r>
            <a:r>
              <a:rPr lang="en-US" sz="1100" b="0" i="0" u="none" strike="noStrike" cap="none" baseline="30000" dirty="0" smtClean="0">
                <a:solidFill>
                  <a:srgbClr val="000000"/>
                </a:solidFill>
                <a:latin typeface="Cascadia Code Light" panose="020B0609020000020004" pitchFamily="49" charset="0"/>
                <a:cs typeface="Cascadia Code Light" panose="020B0609020000020004" pitchFamily="49" charset="0"/>
                <a:sym typeface="Arial"/>
              </a:rPr>
              <a:t>t</a:t>
            </a:r>
            <a:r>
              <a:rPr lang="en-US" sz="1100" dirty="0" smtClean="0"/>
              <a:t> :</a:t>
            </a:r>
          </a:p>
          <a:p>
            <a:pPr marL="12700">
              <a:buSzPts val="3200"/>
            </a:pPr>
            <a:r>
              <a:rPr lang="en-US" sz="1100" dirty="0" smtClean="0"/>
              <a:t>	</a:t>
            </a:r>
            <a:r>
              <a:rPr lang="en-US" sz="1100" b="1" dirty="0" err="1" smtClean="0">
                <a:latin typeface="Cascadia Code Light" panose="020B0609020000020004" pitchFamily="49" charset="0"/>
                <a:cs typeface="Cascadia Code Light" panose="020B0609020000020004" pitchFamily="49" charset="0"/>
              </a:rPr>
              <a:t>V</a:t>
            </a:r>
            <a:r>
              <a:rPr lang="en-US" sz="1100" b="1" baseline="-25000" dirty="0" err="1" smtClean="0">
                <a:latin typeface="Cascadia Code Light" panose="020B0609020000020004" pitchFamily="49" charset="0"/>
                <a:cs typeface="Cascadia Code Light" panose="020B0609020000020004" pitchFamily="49" charset="0"/>
              </a:rPr>
              <a:t>t</a:t>
            </a:r>
            <a:r>
              <a:rPr lang="en-US" sz="1100" b="1" dirty="0" smtClean="0">
                <a:latin typeface="Cascadia Code Light" panose="020B0609020000020004" pitchFamily="49" charset="0"/>
                <a:cs typeface="Cascadia Code Light" panose="020B0609020000020004" pitchFamily="49" charset="0"/>
              </a:rPr>
              <a:t> = [βV</a:t>
            </a:r>
            <a:r>
              <a:rPr lang="en-US" sz="1100" b="1" baseline="-25000" dirty="0" smtClean="0">
                <a:latin typeface="Cascadia Code Light" panose="020B0609020000020004" pitchFamily="49" charset="0"/>
                <a:cs typeface="Cascadia Code Light" panose="020B0609020000020004" pitchFamily="49" charset="0"/>
              </a:rPr>
              <a:t>t-1</a:t>
            </a:r>
            <a:r>
              <a:rPr lang="en-US" sz="1100" b="1" dirty="0" smtClean="0">
                <a:latin typeface="Cascadia Code Light" panose="020B0609020000020004" pitchFamily="49" charset="0"/>
                <a:cs typeface="Cascadia Code Light" panose="020B0609020000020004" pitchFamily="49" charset="0"/>
              </a:rPr>
              <a:t> + (1-β)</a:t>
            </a:r>
            <a:r>
              <a:rPr lang="en-US" sz="1100" b="1" dirty="0" err="1" smtClean="0">
                <a:latin typeface="Cascadia Code Light" panose="020B0609020000020004" pitchFamily="49" charset="0"/>
                <a:cs typeface="Cascadia Code Light" panose="020B0609020000020004" pitchFamily="49" charset="0"/>
              </a:rPr>
              <a:t>θ</a:t>
            </a:r>
            <a:r>
              <a:rPr lang="en-US" sz="1100" b="1" baseline="-25000" dirty="0" err="1" smtClean="0">
                <a:latin typeface="Cascadia Code Light" panose="020B0609020000020004" pitchFamily="49" charset="0"/>
                <a:cs typeface="Cascadia Code Light" panose="020B0609020000020004" pitchFamily="49" charset="0"/>
              </a:rPr>
              <a:t>t</a:t>
            </a:r>
            <a:r>
              <a:rPr lang="en-US" sz="1100" b="1" dirty="0" smtClean="0">
                <a:latin typeface="Cascadia Code Light" panose="020B0609020000020004" pitchFamily="49" charset="0"/>
                <a:cs typeface="Cascadia Code Light" panose="020B0609020000020004" pitchFamily="49" charset="0"/>
              </a:rPr>
              <a:t> ] / (1-β</a:t>
            </a:r>
            <a:r>
              <a:rPr lang="en-US" sz="1100" baseline="30000" dirty="0" smtClean="0">
                <a:latin typeface="Cascadia Code Light" panose="020B0609020000020004" pitchFamily="49" charset="0"/>
                <a:cs typeface="Cascadia Code Light" panose="020B0609020000020004" pitchFamily="49" charset="0"/>
              </a:rPr>
              <a:t>t</a:t>
            </a:r>
            <a:r>
              <a:rPr lang="en-US" sz="1100" b="1" dirty="0" smtClean="0">
                <a:latin typeface="Cascadia Code Light" panose="020B0609020000020004" pitchFamily="49" charset="0"/>
                <a:cs typeface="Cascadia Code Light" panose="020B0609020000020004" pitchFamily="49" charset="0"/>
              </a:rPr>
              <a:t>)</a:t>
            </a:r>
            <a:endParaRPr lang="en-US" sz="1100" dirty="0" smtClean="0">
              <a:latin typeface="Cascadia Code Light" panose="020B0609020000020004" pitchFamily="49" charset="0"/>
              <a:cs typeface="Cascadia Code Light" panose="020B0609020000020004" pitchFamily="49" charset="0"/>
            </a:endParaRPr>
          </a:p>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This correction factor ensures that the estimate is normalized and takes into account the fact that we are using a smaller number of </a:t>
            </a:r>
            <a:r>
              <a:rPr lang="en-US" sz="1100" b="1" i="0" u="none" strike="noStrike" cap="none" dirty="0" err="1" smtClean="0">
                <a:solidFill>
                  <a:srgbClr val="000000"/>
                </a:solidFill>
                <a:latin typeface="Arial"/>
                <a:ea typeface="Arial"/>
                <a:cs typeface="Arial"/>
                <a:sym typeface="Arial"/>
              </a:rPr>
              <a:t>θ</a:t>
            </a:r>
            <a:r>
              <a:rPr lang="en-US" sz="1100" b="1" i="0" u="none" strike="noStrike" cap="none" baseline="-25000" dirty="0" err="1" smtClean="0">
                <a:solidFill>
                  <a:srgbClr val="000000"/>
                </a:solidFill>
                <a:latin typeface="Arial"/>
                <a:ea typeface="Arial"/>
                <a:cs typeface="Arial"/>
                <a:sym typeface="Arial"/>
              </a:rPr>
              <a:t>t</a:t>
            </a:r>
            <a:r>
              <a:rPr lang="en-US" sz="1100" b="0" i="0" u="none" strike="noStrike" cap="none" dirty="0" smtClean="0">
                <a:solidFill>
                  <a:srgbClr val="000000"/>
                </a:solidFill>
                <a:latin typeface="Arial"/>
                <a:ea typeface="Arial"/>
                <a:cs typeface="Arial"/>
                <a:sym typeface="Arial"/>
              </a:rPr>
              <a:t> values during the initial phase of learning. By doing this, we can obtain a more accurate estimate of the parameter during the initial phase of learning.</a:t>
            </a:r>
            <a:endParaRPr lang="en-US" dirty="0" smtClean="0"/>
          </a:p>
          <a:p>
            <a:pPr marL="0" lvl="0" indent="0" algn="l" rtl="0">
              <a:lnSpc>
                <a:spcPct val="100000"/>
              </a:lnSpc>
              <a:spcBef>
                <a:spcPts val="0"/>
              </a:spcBef>
              <a:spcAft>
                <a:spcPts val="0"/>
              </a:spcAft>
              <a:buSzPts val="1100"/>
              <a:buNone/>
            </a:pPr>
            <a:endParaRPr dirty="0"/>
          </a:p>
        </p:txBody>
      </p:sp>
      <p:sp>
        <p:nvSpPr>
          <p:cNvPr id="311" name="Google Shape;311;p5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5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In practice, bias correction is not always used in machine learning because it can be computationally expensive and most people are willing to tolerate some bias during the initial phase of learning. However, if accuracy is important during the initial phase of learning, then bias correction can be a useful tool.</a:t>
            </a:r>
            <a:endParaRPr lang="en-US" dirty="0" smtClean="0"/>
          </a:p>
          <a:p>
            <a:pPr marL="355600" marR="0" lvl="0" indent="-139700" algn="l" rtl="0">
              <a:lnSpc>
                <a:spcPct val="100000"/>
              </a:lnSpc>
              <a:spcBef>
                <a:spcPts val="0"/>
              </a:spcBef>
              <a:spcAft>
                <a:spcPts val="0"/>
              </a:spcAft>
              <a:buClr>
                <a:srgbClr val="000000"/>
              </a:buClr>
              <a:buSzPts val="3200"/>
              <a:buFont typeface="Arial"/>
              <a:buNone/>
            </a:pPr>
            <a:endParaRPr lang="en-US" sz="1100" b="0" i="0" u="none" strike="noStrike" cap="none" dirty="0" smtClean="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3200"/>
              <a:buFont typeface="Arial"/>
              <a:buChar char="•"/>
            </a:pPr>
            <a:r>
              <a:rPr lang="en-US" sz="1100" b="0" i="0" u="none" strike="noStrike" cap="none" dirty="0" smtClean="0">
                <a:solidFill>
                  <a:srgbClr val="000000"/>
                </a:solidFill>
                <a:latin typeface="Arial"/>
                <a:ea typeface="Arial"/>
                <a:cs typeface="Arial"/>
                <a:sym typeface="Arial"/>
              </a:rPr>
              <a:t>Overall, exponentially weighted moving averages and bias correction are important concepts to understand in machine learning because they can be used to optimize the training of neural networks and other models. By understanding these concepts, we can better understand how to use these optimization algorithms to improve the accuracy and efficiency of our models.</a:t>
            </a:r>
            <a:endParaRPr lang="en-US" dirty="0" smtClean="0"/>
          </a:p>
          <a:p>
            <a:pPr marL="0" lvl="0" indent="0" algn="l" rtl="0">
              <a:lnSpc>
                <a:spcPct val="100000"/>
              </a:lnSpc>
              <a:spcBef>
                <a:spcPts val="0"/>
              </a:spcBef>
              <a:spcAft>
                <a:spcPts val="0"/>
              </a:spcAft>
              <a:buSzPts val="1100"/>
              <a:buNone/>
            </a:pPr>
            <a:endParaRPr dirty="0"/>
          </a:p>
        </p:txBody>
      </p:sp>
      <p:sp>
        <p:nvSpPr>
          <p:cNvPr id="320" name="Google Shape;320;p5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7" name="Google Shape;337;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100" dirty="0" smtClean="0"/>
              <a:t>An algorithm called </a:t>
            </a:r>
            <a:r>
              <a:rPr lang="en-US" sz="1100" b="1" dirty="0" smtClean="0"/>
              <a:t>momentum</a:t>
            </a:r>
            <a:r>
              <a:rPr lang="en-US" sz="1100" dirty="0" smtClean="0"/>
              <a:t>, or </a:t>
            </a:r>
            <a:r>
              <a:rPr lang="en-US" sz="1100" b="1" dirty="0" smtClean="0"/>
              <a:t>gradient descent with momentum</a:t>
            </a:r>
            <a:r>
              <a:rPr lang="en-US" sz="1100" dirty="0" smtClean="0"/>
              <a:t> that almost always works faster than the standard gradient descent algorithm.</a:t>
            </a:r>
          </a:p>
          <a:p>
            <a:pPr marL="285750" indent="-285750">
              <a:buFont typeface="Arial" panose="020B0604020202020204" pitchFamily="34" charset="0"/>
              <a:buChar char="•"/>
            </a:pPr>
            <a:r>
              <a:rPr lang="en-US" sz="1100" dirty="0" smtClean="0"/>
              <a:t>The basic idea is to compute an exponentially weighted average of gradients and use that to update weights instead of using the derivative directly.</a:t>
            </a:r>
          </a:p>
          <a:p>
            <a:pPr marL="285750" indent="-285750">
              <a:buFont typeface="Arial" panose="020B0604020202020204" pitchFamily="34" charset="0"/>
              <a:buChar char="•"/>
            </a:pPr>
            <a:r>
              <a:rPr lang="en-US" sz="1100" dirty="0" smtClean="0"/>
              <a:t>Momentum add the moving averages equation to the derivative calculations adding the impact of previous iterations</a:t>
            </a:r>
          </a:p>
          <a:p>
            <a:pPr marL="285750" indent="-285750">
              <a:buFont typeface="Arial" panose="020B0604020202020204" pitchFamily="34" charset="0"/>
              <a:buChar char="•"/>
            </a:pPr>
            <a:r>
              <a:rPr lang="en-US" sz="1100" dirty="0" smtClean="0"/>
              <a:t>The goal is to prevent oscillations and enable faster learning in the horizontal direction while slowing down the oscillations in the vertical direction.</a:t>
            </a:r>
          </a:p>
          <a:p>
            <a:pPr marL="285750" indent="-285750">
              <a:buFont typeface="Arial" panose="020B0604020202020204" pitchFamily="34" charset="0"/>
              <a:buChar char="•"/>
            </a:pPr>
            <a:r>
              <a:rPr lang="en-US" sz="1100" dirty="0" smtClean="0"/>
              <a:t>Another way of viewing this problem is that on the vertical axis you want your learning to be a bit slower, because you don't want those oscillations. But on the horizontal axis, you want faster learning. because you want it to aggressively move from left to right, toward that minimum, toward that red dot. This can be achieved with gradient descent with momentum.</a:t>
            </a:r>
          </a:p>
          <a:p>
            <a:pPr marL="0" lvl="0" indent="0" algn="l" rtl="0">
              <a:lnSpc>
                <a:spcPct val="100000"/>
              </a:lnSpc>
              <a:spcBef>
                <a:spcPts val="0"/>
              </a:spcBef>
              <a:spcAft>
                <a:spcPts val="0"/>
              </a:spcAft>
              <a:buSzPts val="1100"/>
              <a:buNone/>
            </a:pPr>
            <a:endParaRPr dirty="0"/>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895489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100" dirty="0" smtClean="0"/>
              <a:t>An algorithm called </a:t>
            </a:r>
            <a:r>
              <a:rPr lang="en-US" sz="1100" b="1" dirty="0" smtClean="0"/>
              <a:t>momentum</a:t>
            </a:r>
            <a:r>
              <a:rPr lang="en-US" sz="1100" dirty="0" smtClean="0"/>
              <a:t>, or </a:t>
            </a:r>
            <a:r>
              <a:rPr lang="en-US" sz="1100" b="1" dirty="0" smtClean="0"/>
              <a:t>gradient descent with momentum</a:t>
            </a:r>
            <a:r>
              <a:rPr lang="en-US" sz="1100" dirty="0" smtClean="0"/>
              <a:t> that almost always works faster than the standard gradient descent algorithm.</a:t>
            </a:r>
          </a:p>
          <a:p>
            <a:pPr marL="285750" indent="-285750">
              <a:buFont typeface="Arial" panose="020B0604020202020204" pitchFamily="34" charset="0"/>
              <a:buChar char="•"/>
            </a:pPr>
            <a:r>
              <a:rPr lang="en-US" sz="1100" dirty="0" smtClean="0"/>
              <a:t>The basic idea is to compute an exponentially weighted average of gradients and use that to update weights instead of using the derivative directly.</a:t>
            </a:r>
          </a:p>
          <a:p>
            <a:pPr marL="285750" indent="-285750">
              <a:buFont typeface="Arial" panose="020B0604020202020204" pitchFamily="34" charset="0"/>
              <a:buChar char="•"/>
            </a:pPr>
            <a:r>
              <a:rPr lang="en-US" sz="1100" dirty="0" smtClean="0"/>
              <a:t>Momentum add the moving averages equation to the derivative calculations adding the impact of previous iterations</a:t>
            </a:r>
          </a:p>
          <a:p>
            <a:pPr marL="285750" indent="-285750">
              <a:buFont typeface="Arial" panose="020B0604020202020204" pitchFamily="34" charset="0"/>
              <a:buChar char="•"/>
            </a:pPr>
            <a:r>
              <a:rPr lang="en-US" sz="1100" dirty="0" smtClean="0"/>
              <a:t>The goal is to prevent oscillations and enable faster learning in the horizontal direction while slowing down the oscillations in the vertical direction.</a:t>
            </a:r>
          </a:p>
          <a:p>
            <a:pPr marL="285750" indent="-285750">
              <a:buFont typeface="Arial" panose="020B0604020202020204" pitchFamily="34" charset="0"/>
              <a:buChar char="•"/>
            </a:pPr>
            <a:r>
              <a:rPr lang="en-US" sz="1100" dirty="0" smtClean="0"/>
              <a:t>Another way of viewing this problem is that on the vertical axis you want your learning to be a bit slower, because you don't want those oscillations. But on the horizontal axis, you want faster learning. because you want it to aggressively move from left to right, toward that minimum, toward that red dot. This can be achieved with gradient descent with momentum.</a:t>
            </a:r>
          </a:p>
          <a:p>
            <a:pPr marL="0" lvl="0" indent="0" algn="l" rtl="0">
              <a:lnSpc>
                <a:spcPct val="100000"/>
              </a:lnSpc>
              <a:spcBef>
                <a:spcPts val="0"/>
              </a:spcBef>
              <a:spcAft>
                <a:spcPts val="0"/>
              </a:spcAft>
              <a:buSzPts val="1100"/>
              <a:buNone/>
            </a:pPr>
            <a:endParaRPr dirty="0"/>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50875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dirty="0" smtClean="0"/>
              <a:t>Here, we have two </a:t>
            </a:r>
            <a:r>
              <a:rPr lang="en-US" sz="1100" dirty="0" err="1" smtClean="0"/>
              <a:t>hyperparameters</a:t>
            </a:r>
            <a:r>
              <a:rPr lang="en-US" sz="1100" dirty="0" smtClean="0"/>
              <a:t>, i.e., α and β. The role of </a:t>
            </a:r>
            <a:r>
              <a:rPr lang="en-US" sz="1100" dirty="0" err="1" smtClean="0"/>
              <a:t>dW</a:t>
            </a:r>
            <a:r>
              <a:rPr lang="en-US" sz="1100" dirty="0" smtClean="0"/>
              <a:t> and </a:t>
            </a:r>
            <a:r>
              <a:rPr lang="en-US" sz="1100" dirty="0" err="1" smtClean="0"/>
              <a:t>db</a:t>
            </a:r>
            <a:r>
              <a:rPr lang="en-US" sz="1100" dirty="0" smtClean="0"/>
              <a:t> in the above equation is to provide momentum, </a:t>
            </a:r>
            <a:r>
              <a:rPr lang="en-US" sz="1100" dirty="0" err="1" smtClean="0"/>
              <a:t>V</a:t>
            </a:r>
            <a:r>
              <a:rPr lang="en-US" sz="1100" baseline="-25000" dirty="0" err="1" smtClean="0"/>
              <a:t>dw</a:t>
            </a:r>
            <a:r>
              <a:rPr lang="en-US" sz="1100" dirty="0" smtClean="0"/>
              <a:t> and </a:t>
            </a:r>
            <a:r>
              <a:rPr lang="en-US" sz="1100" dirty="0" err="1" smtClean="0"/>
              <a:t>V</a:t>
            </a:r>
            <a:r>
              <a:rPr lang="en-US" sz="1100" baseline="-25000" dirty="0" err="1" smtClean="0"/>
              <a:t>db</a:t>
            </a:r>
            <a:r>
              <a:rPr lang="en-US" sz="1100" dirty="0" smtClean="0"/>
              <a:t> provides velocity, and β acts as friction and prevents speeding over the limit. Consider a ball rolling down – </a:t>
            </a:r>
            <a:r>
              <a:rPr lang="en-US" sz="1100" dirty="0" err="1" smtClean="0"/>
              <a:t>V</a:t>
            </a:r>
            <a:r>
              <a:rPr lang="en-US" sz="1100" baseline="-25000" dirty="0" err="1" smtClean="0"/>
              <a:t>dw</a:t>
            </a:r>
            <a:r>
              <a:rPr lang="en-US" sz="1100" dirty="0" smtClean="0"/>
              <a:t> and </a:t>
            </a:r>
            <a:r>
              <a:rPr lang="en-US" sz="1100" dirty="0" err="1" smtClean="0"/>
              <a:t>V</a:t>
            </a:r>
            <a:r>
              <a:rPr lang="en-US" sz="1100" baseline="-25000" dirty="0" err="1" smtClean="0"/>
              <a:t>db</a:t>
            </a:r>
            <a:r>
              <a:rPr lang="en-US" sz="1100" dirty="0" smtClean="0"/>
              <a:t> provide velocity to that ball and make it move faster. We do not want our ball to speed up so much that it misses the global minima, and hence β acts as friction.</a:t>
            </a:r>
          </a:p>
          <a:p>
            <a:pPr marL="342900" indent="-342900">
              <a:buFont typeface="Arial" panose="020B0604020202020204" pitchFamily="34" charset="0"/>
              <a:buChar char="•"/>
            </a:pPr>
            <a:r>
              <a:rPr lang="en-US" sz="1100" dirty="0" smtClean="0"/>
              <a:t>With this algorithm, with a few iterations you find that the gradient descent with momentum ends up eventually just taking steps that are much smaller oscillations in the vertical direction, but are more directed to just moving quickly in the horizontal direction.</a:t>
            </a:r>
          </a:p>
          <a:p>
            <a:pPr marL="342900" indent="-342900">
              <a:buFont typeface="Arial" panose="020B0604020202020204" pitchFamily="34" charset="0"/>
              <a:buChar char="•"/>
            </a:pPr>
            <a:r>
              <a:rPr lang="en-US" sz="1100" dirty="0" smtClean="0"/>
              <a:t>The (1−β) can be seen as acceleration and the β as the velocity on that specific point</a:t>
            </a:r>
          </a:p>
          <a:p>
            <a:pPr marL="342900" indent="-342900">
              <a:buFont typeface="Arial" panose="020B0604020202020204" pitchFamily="34" charset="0"/>
              <a:buChar char="•"/>
            </a:pPr>
            <a:r>
              <a:rPr lang="en-US" sz="1100" dirty="0" smtClean="0"/>
              <a:t>The bias correction can be implemented but as with just few steps it’ll correct itself it makes not much sense to many to implement it</a:t>
            </a:r>
          </a:p>
          <a:p>
            <a:pPr marL="342900" indent="-342900">
              <a:buFont typeface="Arial" panose="020B0604020202020204" pitchFamily="34" charset="0"/>
              <a:buChar char="•"/>
            </a:pPr>
            <a:r>
              <a:rPr lang="en-US" sz="1100" dirty="0" smtClean="0"/>
              <a:t>With these equations β becomes a new </a:t>
            </a:r>
            <a:r>
              <a:rPr lang="en-US" sz="1100" dirty="0" err="1" smtClean="0"/>
              <a:t>hyperparameter</a:t>
            </a:r>
            <a:r>
              <a:rPr lang="en-US" sz="1100" dirty="0" smtClean="0"/>
              <a:t> which directly interfere on the learning rate α.</a:t>
            </a:r>
          </a:p>
          <a:p>
            <a:pPr marL="0" lvl="0" indent="0" algn="l" rtl="0">
              <a:lnSpc>
                <a:spcPct val="100000"/>
              </a:lnSpc>
              <a:spcBef>
                <a:spcPts val="0"/>
              </a:spcBef>
              <a:spcAft>
                <a:spcPts val="0"/>
              </a:spcAft>
              <a:buSzPts val="1100"/>
              <a:buNone/>
            </a:pPr>
            <a:endParaRPr dirty="0"/>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62753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0" name="Google Shape;380;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35550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121439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99470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7" name="Google Shape;397;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0144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6" name="Google Shape;406;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97857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4" name="Google Shape;414;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4" name="Google Shape;414;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815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46977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4" name="Google Shape;424;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74735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81674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6753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100" dirty="0" smtClean="0"/>
              <a:t>It's essential to note that learning rate decay is not always necessary and should be considered lower down on the list of </a:t>
            </a:r>
            <a:r>
              <a:rPr lang="en-US" sz="1100" dirty="0" err="1" smtClean="0"/>
              <a:t>hyperparameters</a:t>
            </a:r>
            <a:r>
              <a:rPr lang="en-US" sz="1100" dirty="0" smtClean="0"/>
              <a:t> to try. Instead, setting a fixed value for Alpha and tuning it well can have a significant impact on the training process. However, learning rate decay can help speed up training in some cases.</a:t>
            </a:r>
          </a:p>
          <a:p>
            <a:pPr marL="285750" indent="-285750">
              <a:buFont typeface="Arial" panose="020B0604020202020204" pitchFamily="34" charset="0"/>
              <a:buChar char="•"/>
            </a:pPr>
            <a:endParaRPr lang="en-US" sz="1100" dirty="0" smtClean="0"/>
          </a:p>
          <a:p>
            <a:pPr marL="285750" indent="-285750">
              <a:buFont typeface="Arial" panose="020B0604020202020204" pitchFamily="34" charset="0"/>
              <a:buChar char="•"/>
            </a:pPr>
            <a:r>
              <a:rPr lang="en-US" sz="1100" dirty="0" smtClean="0"/>
              <a:t>Additionally, in the training process of a neural network, optimization algorithms aim to find a global minimum, but they can get stuck in local optima or saddle points, which are points where the gradient is close to zero in several dimensions, making it challenging to continue the descent. Understanding these types of optimization problems can help develop better intuitions about the training process of neural networks.</a:t>
            </a:r>
          </a:p>
          <a:p>
            <a:pPr marL="0" lvl="0" indent="0" algn="l" rtl="0">
              <a:lnSpc>
                <a:spcPct val="100000"/>
              </a:lnSpc>
              <a:spcBef>
                <a:spcPts val="0"/>
              </a:spcBef>
              <a:spcAft>
                <a:spcPts val="0"/>
              </a:spcAft>
              <a:buSzPts val="1100"/>
              <a:buNone/>
            </a:pPr>
            <a:endParaRPr dirty="0"/>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2142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2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9" name="Google Shape;449;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813013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8" name="Google Shape;458;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sz="1100" dirty="0" smtClean="0"/>
              <a:t>Instead, you're much more likely to encounter saddle points where the gradient is zero, and some directions have the curve bending up while others bend down. Plateaus are a bigger problem because they can slow down learning. Plateaus are regions where the derivative is close to zero for a long time, and gradient descent can take a long time to slowly find its way off the plateau. </a:t>
            </a:r>
          </a:p>
          <a:p>
            <a:pPr marL="285750" indent="-285750">
              <a:buFont typeface="Arial" panose="020B0604020202020204" pitchFamily="34" charset="0"/>
              <a:buChar char="•"/>
            </a:pPr>
            <a:r>
              <a:rPr lang="en-US" sz="1100" dirty="0" smtClean="0"/>
              <a:t>Algorithms like momentum, </a:t>
            </a:r>
            <a:r>
              <a:rPr lang="en-US" sz="1100" dirty="0" err="1" smtClean="0"/>
              <a:t>RMSProp</a:t>
            </a:r>
            <a:r>
              <a:rPr lang="en-US" sz="1100" dirty="0" smtClean="0"/>
              <a:t>, or Adam can help your learning algorithm in these scenarios. In general, because neural networks are solving optimization problems over such high-dimensional spaces, our intuition about low-dimensional spaces does not transfer to these spaces, and our understanding of them is still evolving.</a:t>
            </a:r>
          </a:p>
          <a:p>
            <a:pPr marL="0" lvl="0" indent="0" algn="l" rtl="0">
              <a:lnSpc>
                <a:spcPct val="100000"/>
              </a:lnSpc>
              <a:spcBef>
                <a:spcPts val="0"/>
              </a:spcBef>
              <a:spcAft>
                <a:spcPts val="0"/>
              </a:spcAft>
              <a:buSzPts val="1100"/>
              <a:buNone/>
            </a:pPr>
            <a:endParaRPr dirty="0"/>
          </a:p>
        </p:txBody>
      </p:sp>
      <p:sp>
        <p:nvSpPr>
          <p:cNvPr id="329" name="Google Shape;329;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67931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2" name="Google Shape;472;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Mini-Batch Gradient Descent:</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A variant of gradient descent where training data is divided into mini-batches, and parameter 	updates are performed after each mini-batch. Balances efficiency and convergence.</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Understanding Mini-Batch Gradient Descent:</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Explains how mini-batch gradient descent combines benefits of batch and stochastic gradient 	descent, providing faster convergence and reduced noise in updates.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Exponentially Weighted Averages:</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Technique to smooth noisy data by calculating the weighted average of past values. Useful 	for tracking trends and variations over time.</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Understanding Exponentially Weighted Averages:</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Describes how exponentially weighted averages assign more weight to recent observations 	and less to older ones, resulting in a moving average that captures trends.</a:t>
            </a:r>
            <a:endParaRPr lang="en-US" sz="12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Bias Correction in Exponentially Weighted Average:</a:t>
            </a:r>
          </a:p>
          <a:p>
            <a:pPr marL="12700" marR="5080" lvl="0">
              <a:lnSpc>
                <a:spcPct val="101800"/>
              </a:lnSpc>
              <a:buSzPts val="2400"/>
            </a:pPr>
            <a:r>
              <a:rPr lang="en-US" sz="1100" dirty="0" smtClean="0">
                <a:ea typeface="Century Schoolbook"/>
                <a:cs typeface="Century Schoolbook"/>
                <a:sym typeface="Century Schoolbook"/>
              </a:rPr>
              <a:t>	- Addresses the initial bias of exponentially weighted averages by dividing by a correction term. 	Helps improve the accuracy of the early moving averages.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Gradient Descent with Momentum:</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Momentum enhances gradient descent by adding a fraction of the previous update to the 	current gradient, helping the optimization process by navigating through flatter regions.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Root Mean Square Propagation (</a:t>
            </a:r>
            <a:r>
              <a:rPr lang="en-US" sz="1200" dirty="0" err="1" smtClean="0">
                <a:ea typeface="Century Schoolbook"/>
                <a:cs typeface="Century Schoolbook"/>
                <a:sym typeface="Century Schoolbook"/>
              </a:rPr>
              <a:t>RMSprop</a:t>
            </a:r>
            <a:r>
              <a:rPr lang="en-US" sz="1200" dirty="0" smtClean="0">
                <a:ea typeface="Century Schoolbook"/>
                <a:cs typeface="Century Schoolbook"/>
                <a:sym typeface="Century Schoolbook"/>
              </a:rPr>
              <a:t>):</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An optimization algorithm that adjusts learning rates for each parameter to handle varying 	gradients effectively.</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Adam Optimization Algorithm:</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An optimization algorithm combining the benefits of </a:t>
            </a:r>
            <a:r>
              <a:rPr lang="en-US" sz="1100" dirty="0" err="1" smtClean="0">
                <a:ea typeface="Century Schoolbook"/>
                <a:cs typeface="Century Schoolbook"/>
                <a:sym typeface="Century Schoolbook"/>
              </a:rPr>
              <a:t>RMSprop</a:t>
            </a:r>
            <a:r>
              <a:rPr lang="en-US" sz="1100" dirty="0" smtClean="0">
                <a:ea typeface="Century Schoolbook"/>
                <a:cs typeface="Century Schoolbook"/>
                <a:sym typeface="Century Schoolbook"/>
              </a:rPr>
              <a:t> and momentum, providing 	efficient and adaptive parameter updates.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Learning Rate Decay:</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Learning rate decay involves reducing the learning rate over time to achieve more refined 	parameter updates as training progresses.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The Problem of Local Optima:</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The issue of getting stuck in suboptimal solutions (local optima) during optimization. Modern 	optimization techniques like stochastic gradient descent help escape local optima.</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Understanding these topics is crucial for effectively training neural networks and optimizing t	heir performance during the learning process.</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04607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31"/>
          <p:cNvSpPr txBox="1">
            <a:spLocks noGrp="1"/>
          </p:cNvSpPr>
          <p:nvPr>
            <p:ph type="title"/>
          </p:nvPr>
        </p:nvSpPr>
        <p:spPr>
          <a:xfrm>
            <a:off x="1742096" y="1265766"/>
            <a:ext cx="8707806" cy="17697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1"/>
          <p:cNvSpPr txBox="1">
            <a:spLocks noGrp="1"/>
          </p:cNvSpPr>
          <p:nvPr>
            <p:ph type="body" idx="1"/>
          </p:nvPr>
        </p:nvSpPr>
        <p:spPr>
          <a:xfrm>
            <a:off x="310451" y="1237040"/>
            <a:ext cx="11571097" cy="31159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 name="Google Shape;14;p3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2"/>
          <p:cNvSpPr txBox="1">
            <a:spLocks noGrp="1"/>
          </p:cNvSpPr>
          <p:nvPr>
            <p:ph type="ctrTitle"/>
          </p:nvPr>
        </p:nvSpPr>
        <p:spPr>
          <a:xfrm>
            <a:off x="261620" y="139696"/>
            <a:ext cx="11668759" cy="6959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2"/>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3"/>
        <p:cNvGrpSpPr/>
        <p:nvPr/>
      </p:nvGrpSpPr>
      <p:grpSpPr>
        <a:xfrm>
          <a:off x="0" y="0"/>
          <a:ext cx="0" cy="0"/>
          <a:chOff x="0" y="0"/>
          <a:chExt cx="0" cy="0"/>
        </a:xfrm>
      </p:grpSpPr>
      <p:sp>
        <p:nvSpPr>
          <p:cNvPr id="24" name="Google Shape;24;p33"/>
          <p:cNvSpPr txBox="1">
            <a:spLocks noGrp="1"/>
          </p:cNvSpPr>
          <p:nvPr>
            <p:ph type="title"/>
          </p:nvPr>
        </p:nvSpPr>
        <p:spPr>
          <a:xfrm>
            <a:off x="1742096" y="1265766"/>
            <a:ext cx="8707806" cy="17697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8"/>
        <p:cNvGrpSpPr/>
        <p:nvPr/>
      </p:nvGrpSpPr>
      <p:grpSpPr>
        <a:xfrm>
          <a:off x="0" y="0"/>
          <a:ext cx="0" cy="0"/>
          <a:chOff x="0" y="0"/>
          <a:chExt cx="0" cy="0"/>
        </a:xfrm>
      </p:grpSpPr>
      <p:sp>
        <p:nvSpPr>
          <p:cNvPr id="29" name="Google Shape;29;p3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5"/>
          <p:cNvSpPr txBox="1">
            <a:spLocks noGrp="1"/>
          </p:cNvSpPr>
          <p:nvPr>
            <p:ph type="title"/>
          </p:nvPr>
        </p:nvSpPr>
        <p:spPr>
          <a:xfrm>
            <a:off x="1742096" y="1265766"/>
            <a:ext cx="8707806" cy="17697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5"/>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5" name="Google Shape;35;p35"/>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6" name="Google Shape;36;p3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1742096" y="1265766"/>
            <a:ext cx="8707806" cy="176974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0"/>
          <p:cNvSpPr txBox="1">
            <a:spLocks noGrp="1"/>
          </p:cNvSpPr>
          <p:nvPr>
            <p:ph type="body" idx="1"/>
          </p:nvPr>
        </p:nvSpPr>
        <p:spPr>
          <a:xfrm>
            <a:off x="310451" y="1237040"/>
            <a:ext cx="11571097" cy="31159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p3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3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3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70.png"/><Relationship Id="rId5" Type="http://schemas.openxmlformats.org/officeDocument/2006/relationships/image" Target="../media/image1.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96ac5b9c_0_0"/>
          <p:cNvSpPr txBox="1">
            <a:spLocks noGrp="1"/>
          </p:cNvSpPr>
          <p:nvPr>
            <p:ph type="title"/>
          </p:nvPr>
        </p:nvSpPr>
        <p:spPr>
          <a:xfrm>
            <a:off x="886571" y="355241"/>
            <a:ext cx="8707800" cy="19857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b="1">
                <a:solidFill>
                  <a:srgbClr val="0F0F0F"/>
                </a:solidFill>
                <a:highlight>
                  <a:srgbClr val="FFFFFF"/>
                </a:highlight>
                <a:latin typeface="Roboto"/>
                <a:ea typeface="Roboto"/>
                <a:cs typeface="Roboto"/>
                <a:sym typeface="Roboto"/>
              </a:rPr>
              <a:t>Optimization Algorithms</a:t>
            </a:r>
            <a:endParaRPr b="1">
              <a:solidFill>
                <a:srgbClr val="0F0F0F"/>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400"/>
              <a:buNone/>
            </a:pPr>
            <a:endParaRPr/>
          </a:p>
        </p:txBody>
      </p:sp>
      <p:sp>
        <p:nvSpPr>
          <p:cNvPr id="44" name="Google Shape;44;g21c96ac5b9c_0_0"/>
          <p:cNvSpPr txBox="1">
            <a:spLocks noGrp="1"/>
          </p:cNvSpPr>
          <p:nvPr>
            <p:ph type="body" idx="1"/>
          </p:nvPr>
        </p:nvSpPr>
        <p:spPr>
          <a:xfrm>
            <a:off x="4401800" y="1871775"/>
            <a:ext cx="7702500" cy="2215991"/>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b="1" dirty="0" smtClean="0"/>
              <a:t>Learning Objectives:</a:t>
            </a:r>
          </a:p>
          <a:p>
            <a:pPr marL="342900" lvl="0" indent="-342900">
              <a:buSzPct val="100000"/>
              <a:buFont typeface="Arial" panose="020B0604020202020204" pitchFamily="34" charset="0"/>
              <a:buChar char="•"/>
            </a:pPr>
            <a:r>
              <a:rPr lang="en-US" sz="2000" dirty="0" smtClean="0"/>
              <a:t>Apply </a:t>
            </a:r>
            <a:r>
              <a:rPr lang="en-US" sz="2000" dirty="0"/>
              <a:t>optimization methods such as (Stochastic) Gradient Descent, Momentum, </a:t>
            </a:r>
            <a:r>
              <a:rPr lang="en-US" sz="2000" dirty="0" err="1"/>
              <a:t>RMSProp</a:t>
            </a:r>
            <a:r>
              <a:rPr lang="en-US" sz="2000" dirty="0"/>
              <a:t> and Adam</a:t>
            </a:r>
          </a:p>
          <a:p>
            <a:pPr marL="342900" lvl="0" indent="-342900">
              <a:buSzPct val="100000"/>
              <a:buFont typeface="Arial" panose="020B0604020202020204" pitchFamily="34" charset="0"/>
              <a:buChar char="•"/>
            </a:pPr>
            <a:r>
              <a:rPr lang="en-US" sz="2000" dirty="0" smtClean="0"/>
              <a:t>Use </a:t>
            </a:r>
            <a:r>
              <a:rPr lang="en-US" sz="2000" dirty="0"/>
              <a:t>random </a:t>
            </a:r>
            <a:r>
              <a:rPr lang="en-US" sz="2000" dirty="0" err="1"/>
              <a:t>minibatches</a:t>
            </a:r>
            <a:r>
              <a:rPr lang="en-US" sz="2000" dirty="0"/>
              <a:t> to accelerate convergence and improve optimization</a:t>
            </a:r>
          </a:p>
          <a:p>
            <a:pPr marL="342900" lvl="0" indent="-342900">
              <a:buSzPct val="100000"/>
              <a:buFont typeface="Arial" panose="020B0604020202020204" pitchFamily="34" charset="0"/>
              <a:buChar char="•"/>
            </a:pPr>
            <a:r>
              <a:rPr lang="en-US" sz="2000" dirty="0" smtClean="0"/>
              <a:t>Describe </a:t>
            </a:r>
            <a:r>
              <a:rPr lang="en-US" sz="2000" dirty="0"/>
              <a:t>the benefits of learning rate decay and apply it to your optimization</a:t>
            </a:r>
            <a:endParaRPr sz="2000" dirty="0"/>
          </a:p>
        </p:txBody>
      </p:sp>
      <p:pic>
        <p:nvPicPr>
          <p:cNvPr id="45" name="Google Shape;45;g21c96ac5b9c_0_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46" name="Google Shape;46;g21c96ac5b9c_0_0"/>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96ac5b9c_0_0"/>
          <p:cNvSpPr txBox="1">
            <a:spLocks noGrp="1"/>
          </p:cNvSpPr>
          <p:nvPr>
            <p:ph type="title"/>
          </p:nvPr>
        </p:nvSpPr>
        <p:spPr>
          <a:xfrm>
            <a:off x="886571" y="355241"/>
            <a:ext cx="8707800" cy="19857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b="1">
                <a:solidFill>
                  <a:srgbClr val="0F0F0F"/>
                </a:solidFill>
                <a:highlight>
                  <a:srgbClr val="FFFFFF"/>
                </a:highlight>
                <a:latin typeface="Roboto"/>
                <a:ea typeface="Roboto"/>
                <a:cs typeface="Roboto"/>
                <a:sym typeface="Roboto"/>
              </a:rPr>
              <a:t>Optimization Algorithms</a:t>
            </a:r>
            <a:endParaRPr b="1">
              <a:solidFill>
                <a:srgbClr val="0F0F0F"/>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400"/>
              <a:buNone/>
            </a:pPr>
            <a:endParaRPr/>
          </a:p>
        </p:txBody>
      </p:sp>
      <p:sp>
        <p:nvSpPr>
          <p:cNvPr id="44" name="Google Shape;44;g21c96ac5b9c_0_0"/>
          <p:cNvSpPr txBox="1">
            <a:spLocks noGrp="1"/>
          </p:cNvSpPr>
          <p:nvPr>
            <p:ph type="body" idx="1"/>
          </p:nvPr>
        </p:nvSpPr>
        <p:spPr>
          <a:xfrm>
            <a:off x="4401800" y="1871775"/>
            <a:ext cx="7702500" cy="40635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dirty="0"/>
              <a:t>1 Mini-batch gradient descent</a:t>
            </a:r>
            <a:endParaRPr sz="2400" dirty="0"/>
          </a:p>
          <a:p>
            <a:pPr marL="0" lvl="0" indent="0" algn="l" rtl="0">
              <a:lnSpc>
                <a:spcPct val="100000"/>
              </a:lnSpc>
              <a:spcBef>
                <a:spcPts val="0"/>
              </a:spcBef>
              <a:spcAft>
                <a:spcPts val="0"/>
              </a:spcAft>
              <a:buSzPts val="1400"/>
              <a:buNone/>
            </a:pPr>
            <a:r>
              <a:rPr lang="en-US" sz="2400" dirty="0"/>
              <a:t>2 Understanding mini-batch gradient descent</a:t>
            </a:r>
            <a:endParaRPr sz="2400" dirty="0"/>
          </a:p>
          <a:p>
            <a:pPr marL="0" lvl="0" indent="0" algn="l" rtl="0">
              <a:lnSpc>
                <a:spcPct val="100000"/>
              </a:lnSpc>
              <a:spcBef>
                <a:spcPts val="0"/>
              </a:spcBef>
              <a:spcAft>
                <a:spcPts val="0"/>
              </a:spcAft>
              <a:buSzPts val="1400"/>
              <a:buNone/>
            </a:pPr>
            <a:r>
              <a:rPr lang="en-US" sz="2400" dirty="0"/>
              <a:t>3 Exponentially weighted averages</a:t>
            </a:r>
            <a:endParaRPr sz="2400" dirty="0"/>
          </a:p>
          <a:p>
            <a:pPr marL="0" lvl="0" indent="0" algn="l" rtl="0">
              <a:lnSpc>
                <a:spcPct val="100000"/>
              </a:lnSpc>
              <a:spcBef>
                <a:spcPts val="0"/>
              </a:spcBef>
              <a:spcAft>
                <a:spcPts val="0"/>
              </a:spcAft>
              <a:buSzPts val="1400"/>
              <a:buNone/>
            </a:pPr>
            <a:r>
              <a:rPr lang="en-US" sz="2400" dirty="0"/>
              <a:t>4 Understanding exponentially weighted averages</a:t>
            </a:r>
            <a:endParaRPr sz="2400" dirty="0"/>
          </a:p>
          <a:p>
            <a:pPr marL="0" lvl="0" indent="0" algn="l" rtl="0">
              <a:lnSpc>
                <a:spcPct val="100000"/>
              </a:lnSpc>
              <a:spcBef>
                <a:spcPts val="0"/>
              </a:spcBef>
              <a:spcAft>
                <a:spcPts val="0"/>
              </a:spcAft>
              <a:buSzPts val="1400"/>
              <a:buNone/>
            </a:pPr>
            <a:r>
              <a:rPr lang="en-US" sz="2400" dirty="0"/>
              <a:t>5 Bias correction in exponentially weighted average</a:t>
            </a:r>
            <a:endParaRPr sz="2400" dirty="0"/>
          </a:p>
          <a:p>
            <a:pPr marL="0" lvl="0" indent="0" algn="l" rtl="0">
              <a:lnSpc>
                <a:spcPct val="100000"/>
              </a:lnSpc>
              <a:spcBef>
                <a:spcPts val="0"/>
              </a:spcBef>
              <a:spcAft>
                <a:spcPts val="0"/>
              </a:spcAft>
              <a:buSzPts val="1400"/>
              <a:buNone/>
            </a:pPr>
            <a:r>
              <a:rPr lang="en-US" sz="2400" dirty="0"/>
              <a:t>6 Gradient descent with momentum</a:t>
            </a:r>
            <a:endParaRPr sz="2400" dirty="0"/>
          </a:p>
          <a:p>
            <a:pPr marL="0" lvl="0" indent="0" algn="l" rtl="0">
              <a:lnSpc>
                <a:spcPct val="100000"/>
              </a:lnSpc>
              <a:spcBef>
                <a:spcPts val="0"/>
              </a:spcBef>
              <a:spcAft>
                <a:spcPts val="0"/>
              </a:spcAft>
              <a:buSzPts val="1400"/>
              <a:buNone/>
            </a:pPr>
            <a:r>
              <a:rPr lang="en-US" sz="2400" dirty="0"/>
              <a:t>7 </a:t>
            </a:r>
            <a:r>
              <a:rPr lang="en-US" sz="2400" dirty="0" err="1"/>
              <a:t>RMSprop</a:t>
            </a:r>
            <a:endParaRPr sz="2400" dirty="0"/>
          </a:p>
          <a:p>
            <a:pPr marL="0" lvl="0" indent="0" algn="l" rtl="0">
              <a:lnSpc>
                <a:spcPct val="100000"/>
              </a:lnSpc>
              <a:spcBef>
                <a:spcPts val="0"/>
              </a:spcBef>
              <a:spcAft>
                <a:spcPts val="0"/>
              </a:spcAft>
              <a:buSzPts val="1400"/>
              <a:buNone/>
            </a:pPr>
            <a:r>
              <a:rPr lang="en-US" sz="2400" dirty="0"/>
              <a:t>8 Adam optimization algorithm</a:t>
            </a:r>
            <a:endParaRPr sz="2400" dirty="0"/>
          </a:p>
          <a:p>
            <a:pPr marL="0" lvl="0" indent="0" algn="l" rtl="0">
              <a:lnSpc>
                <a:spcPct val="100000"/>
              </a:lnSpc>
              <a:spcBef>
                <a:spcPts val="0"/>
              </a:spcBef>
              <a:spcAft>
                <a:spcPts val="0"/>
              </a:spcAft>
              <a:buSzPts val="1400"/>
              <a:buNone/>
            </a:pPr>
            <a:r>
              <a:rPr lang="en-US" sz="2400" dirty="0"/>
              <a:t>9 Learning rate decay</a:t>
            </a:r>
            <a:endParaRPr sz="2400" dirty="0"/>
          </a:p>
          <a:p>
            <a:pPr marL="0" lvl="0" indent="0" algn="l" rtl="0">
              <a:lnSpc>
                <a:spcPct val="100000"/>
              </a:lnSpc>
              <a:spcBef>
                <a:spcPts val="0"/>
              </a:spcBef>
              <a:spcAft>
                <a:spcPts val="0"/>
              </a:spcAft>
              <a:buClr>
                <a:schemeClr val="dk1"/>
              </a:buClr>
              <a:buSzPts val="1400"/>
              <a:buFont typeface="Arial"/>
              <a:buNone/>
            </a:pPr>
            <a:r>
              <a:rPr lang="en-US" sz="2400" dirty="0"/>
              <a:t>10 The problem of local optima</a:t>
            </a:r>
            <a:endParaRPr sz="2400" dirty="0"/>
          </a:p>
          <a:p>
            <a:pPr marL="0" lvl="0" indent="0" algn="l" rtl="0">
              <a:lnSpc>
                <a:spcPct val="100000"/>
              </a:lnSpc>
              <a:spcBef>
                <a:spcPts val="0"/>
              </a:spcBef>
              <a:spcAft>
                <a:spcPts val="0"/>
              </a:spcAft>
              <a:buSzPts val="1400"/>
              <a:buNone/>
            </a:pPr>
            <a:endParaRPr sz="2400" dirty="0"/>
          </a:p>
        </p:txBody>
      </p:sp>
      <p:pic>
        <p:nvPicPr>
          <p:cNvPr id="45" name="Google Shape;45;g21c96ac5b9c_0_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46" name="Google Shape;46;g21c96ac5b9c_0_0"/>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a:t>
            </a:fld>
            <a:endParaRPr/>
          </a:p>
        </p:txBody>
      </p:sp>
    </p:spTree>
    <p:extLst>
      <p:ext uri="{BB962C8B-B14F-4D97-AF65-F5344CB8AC3E}">
        <p14:creationId xmlns:p14="http://schemas.microsoft.com/office/powerpoint/2010/main" val="3288605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0"/>
        <p:cNvGrpSpPr/>
        <p:nvPr/>
      </p:nvGrpSpPr>
      <p:grpSpPr>
        <a:xfrm>
          <a:off x="0" y="0"/>
          <a:ext cx="0" cy="0"/>
          <a:chOff x="0" y="0"/>
          <a:chExt cx="0" cy="0"/>
        </a:xfrm>
      </p:grpSpPr>
      <p:sp>
        <p:nvSpPr>
          <p:cNvPr id="51" name="Google Shape;51;p2"/>
          <p:cNvSpPr txBox="1">
            <a:spLocks noGrp="1"/>
          </p:cNvSpPr>
          <p:nvPr>
            <p:ph type="title"/>
          </p:nvPr>
        </p:nvSpPr>
        <p:spPr>
          <a:xfrm>
            <a:off x="1742100" y="1265775"/>
            <a:ext cx="9341100" cy="2124413"/>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dirty="0">
                <a:latin typeface="+mj-lt"/>
              </a:rPr>
              <a:t>Optimization Algorithms</a:t>
            </a:r>
            <a:endParaRPr dirty="0">
              <a:latin typeface="+mj-lt"/>
            </a:endParaRPr>
          </a:p>
        </p:txBody>
      </p:sp>
      <p:sp>
        <p:nvSpPr>
          <p:cNvPr id="52" name="Google Shape;52;p2"/>
          <p:cNvSpPr txBox="1"/>
          <p:nvPr/>
        </p:nvSpPr>
        <p:spPr>
          <a:xfrm>
            <a:off x="5611216" y="3448430"/>
            <a:ext cx="5718300" cy="2009125"/>
          </a:xfrm>
          <a:prstGeom prst="rect">
            <a:avLst/>
          </a:prstGeom>
          <a:noFill/>
          <a:ln>
            <a:noFill/>
          </a:ln>
        </p:spPr>
        <p:txBody>
          <a:bodyPr spcFirstLastPara="1" wrap="square" lIns="0" tIns="31100" rIns="0" bIns="0" anchor="t" anchorCtr="0">
            <a:spAutoFit/>
          </a:bodyPr>
          <a:lstStyle/>
          <a:p>
            <a:pPr marL="12700" marR="5080" lvl="0" indent="998855" algn="l" rtl="0">
              <a:lnSpc>
                <a:spcPct val="119242"/>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Mini-batch gradient descent</a:t>
            </a:r>
            <a:endParaRPr sz="5400" b="0" i="0" u="none" strike="noStrike" cap="none" dirty="0">
              <a:solidFill>
                <a:srgbClr val="000000"/>
              </a:solidFill>
              <a:latin typeface="+mj-lt"/>
              <a:ea typeface="Calibri"/>
              <a:cs typeface="Calibri"/>
              <a:sym typeface="Calibri"/>
            </a:endParaRPr>
          </a:p>
        </p:txBody>
      </p:sp>
      <p:sp>
        <p:nvSpPr>
          <p:cNvPr id="53" name="Google Shape;53;p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4" name="Google Shape;54;p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55" name="Google Shape;55;p2"/>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1"/>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61" name="Google Shape;61;p1"/>
          <p:cNvSpPr txBox="1"/>
          <p:nvPr/>
        </p:nvSpPr>
        <p:spPr>
          <a:xfrm>
            <a:off x="261620" y="1362553"/>
            <a:ext cx="11804650" cy="4444807"/>
          </a:xfrm>
          <a:prstGeom prst="rect">
            <a:avLst/>
          </a:prstGeom>
          <a:noFill/>
          <a:ln>
            <a:noFill/>
          </a:ln>
        </p:spPr>
        <p:txBody>
          <a:bodyPr spcFirstLastPara="1" wrap="square" lIns="0" tIns="12700" rIns="0" bIns="0" anchor="t" anchorCtr="0">
            <a:spAutoFit/>
          </a:bodyPr>
          <a:lstStyle/>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In machine learning, gradient descent is an optimization technique used for computing the model parameters (coefficients and bias) for algorithms like linear regression, logistic regression, neural networks, etc. In this technique, we repeatedly iterate through the training set and update the model parameters in accordance with the gradient of the error with respect to the training set. Depending on the number of training examples considered in updating the model parameters, we have 3-types of gradient descents:</a:t>
            </a:r>
            <a:endParaRPr sz="2400" b="0" i="0" u="none" strike="noStrike" cap="none" dirty="0">
              <a:solidFill>
                <a:srgbClr val="000000"/>
              </a:solidFill>
              <a:latin typeface="Arial"/>
              <a:ea typeface="Arial"/>
              <a:cs typeface="Arial"/>
              <a:sym typeface="Arial"/>
            </a:endParaRPr>
          </a:p>
          <a:p>
            <a:pPr marL="469900" marR="0" lvl="0" indent="-457200" algn="l" rtl="0">
              <a:lnSpc>
                <a:spcPct val="100000"/>
              </a:lnSpc>
              <a:spcBef>
                <a:spcPts val="0"/>
              </a:spcBef>
              <a:spcAft>
                <a:spcPts val="0"/>
              </a:spcAft>
              <a:buClr>
                <a:srgbClr val="000000"/>
              </a:buClr>
              <a:buSzPct val="100000"/>
              <a:buFont typeface="Arial"/>
              <a:buAutoNum type="arabicPeriod"/>
            </a:pPr>
            <a:r>
              <a:rPr lang="en-US" sz="2000" b="1" i="0" u="none" strike="noStrike" cap="none" dirty="0">
                <a:solidFill>
                  <a:srgbClr val="000000"/>
                </a:solidFill>
                <a:latin typeface="Arial"/>
                <a:ea typeface="Arial"/>
                <a:cs typeface="Arial"/>
                <a:sym typeface="Arial"/>
              </a:rPr>
              <a:t>Batch Gradient Descent</a:t>
            </a:r>
            <a:r>
              <a:rPr lang="en-US" sz="2000" b="0" i="0" u="none" strike="noStrike" cap="none" dirty="0">
                <a:solidFill>
                  <a:srgbClr val="000000"/>
                </a:solidFill>
                <a:latin typeface="Arial"/>
                <a:ea typeface="Arial"/>
                <a:cs typeface="Arial"/>
                <a:sym typeface="Arial"/>
              </a:rPr>
              <a:t>: Parameters are updated after computing the gradient of the error with respect to the entire training set</a:t>
            </a:r>
            <a:endParaRPr dirty="0"/>
          </a:p>
          <a:p>
            <a:pPr marL="469900" marR="0" lvl="0" indent="-457200" algn="l" rtl="0">
              <a:lnSpc>
                <a:spcPct val="100000"/>
              </a:lnSpc>
              <a:spcBef>
                <a:spcPts val="0"/>
              </a:spcBef>
              <a:spcAft>
                <a:spcPts val="0"/>
              </a:spcAft>
              <a:buClr>
                <a:srgbClr val="000000"/>
              </a:buClr>
              <a:buSzPct val="100000"/>
              <a:buFont typeface="Arial"/>
              <a:buAutoNum type="arabicPeriod"/>
            </a:pPr>
            <a:r>
              <a:rPr lang="en-US" sz="2000" b="1" i="0" u="none" strike="noStrike" cap="none" dirty="0">
                <a:solidFill>
                  <a:srgbClr val="000000"/>
                </a:solidFill>
                <a:latin typeface="Arial"/>
                <a:ea typeface="Arial"/>
                <a:cs typeface="Arial"/>
                <a:sym typeface="Arial"/>
              </a:rPr>
              <a:t>Stochastic Gradient Descent</a:t>
            </a:r>
            <a:r>
              <a:rPr lang="en-US" sz="2000" b="0" i="0" u="none" strike="noStrike" cap="none" dirty="0">
                <a:solidFill>
                  <a:srgbClr val="000000"/>
                </a:solidFill>
                <a:latin typeface="Arial"/>
                <a:ea typeface="Arial"/>
                <a:cs typeface="Arial"/>
                <a:sym typeface="Arial"/>
              </a:rPr>
              <a:t>: Parameters are updated after computing the gradient of the error with respect to a single training example</a:t>
            </a:r>
            <a:endParaRPr dirty="0"/>
          </a:p>
          <a:p>
            <a:pPr marL="469900" marR="0" lvl="0" indent="-457200" algn="l" rtl="0">
              <a:lnSpc>
                <a:spcPct val="100000"/>
              </a:lnSpc>
              <a:spcBef>
                <a:spcPts val="0"/>
              </a:spcBef>
              <a:spcAft>
                <a:spcPts val="0"/>
              </a:spcAft>
              <a:buClr>
                <a:srgbClr val="000000"/>
              </a:buClr>
              <a:buSzPct val="100000"/>
              <a:buFont typeface="Arial"/>
              <a:buAutoNum type="arabicPeriod"/>
            </a:pPr>
            <a:r>
              <a:rPr lang="en-US" sz="2000" b="1" i="0" u="none" strike="noStrike" cap="none" dirty="0">
                <a:solidFill>
                  <a:srgbClr val="000000"/>
                </a:solidFill>
                <a:latin typeface="Arial"/>
                <a:ea typeface="Arial"/>
                <a:cs typeface="Arial"/>
                <a:sym typeface="Arial"/>
              </a:rPr>
              <a:t>Mini-Batch Gradient Descent</a:t>
            </a:r>
            <a:r>
              <a:rPr lang="en-US" sz="2000" b="0" i="0" u="none" strike="noStrike" cap="none" dirty="0">
                <a:solidFill>
                  <a:srgbClr val="000000"/>
                </a:solidFill>
                <a:latin typeface="Arial"/>
                <a:ea typeface="Arial"/>
                <a:cs typeface="Arial"/>
                <a:sym typeface="Arial"/>
              </a:rPr>
              <a:t>: Parameters are updated after computing the gradient of  the error with respect to a subset of the training set</a:t>
            </a:r>
            <a:endParaRPr dirty="0"/>
          </a:p>
        </p:txBody>
      </p:sp>
      <p:sp>
        <p:nvSpPr>
          <p:cNvPr id="62" name="Google Shape;62;p1"/>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3" name="Google Shape;63;p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4" name="Google Shape;64;p1"/>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8"/>
        <p:cNvGrpSpPr/>
        <p:nvPr/>
      </p:nvGrpSpPr>
      <p:grpSpPr>
        <a:xfrm>
          <a:off x="0" y="0"/>
          <a:ext cx="0" cy="0"/>
          <a:chOff x="0" y="0"/>
          <a:chExt cx="0" cy="0"/>
        </a:xfrm>
      </p:grpSpPr>
      <p:sp>
        <p:nvSpPr>
          <p:cNvPr id="69" name="Google Shape;69;p36"/>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70" name="Google Shape;70;p36"/>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1" name="Google Shape;71;p3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2" name="Google Shape;72;p3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a:t>
            </a:fld>
            <a:endParaRPr/>
          </a:p>
        </p:txBody>
      </p:sp>
      <p:pic>
        <p:nvPicPr>
          <p:cNvPr id="73" name="Google Shape;73;p36" descr="batch gd"/>
          <p:cNvPicPr preferRelativeResize="0"/>
          <p:nvPr/>
        </p:nvPicPr>
        <p:blipFill rotWithShape="1">
          <a:blip r:embed="rId4">
            <a:alphaModFix/>
          </a:blip>
          <a:srcRect/>
          <a:stretch/>
        </p:blipFill>
        <p:spPr>
          <a:xfrm>
            <a:off x="488479" y="1567183"/>
            <a:ext cx="4707311" cy="2255971"/>
          </a:xfrm>
          <a:prstGeom prst="rect">
            <a:avLst/>
          </a:prstGeom>
          <a:noFill/>
          <a:ln>
            <a:noFill/>
          </a:ln>
        </p:spPr>
      </p:pic>
      <p:pic>
        <p:nvPicPr>
          <p:cNvPr id="74" name="Google Shape;74;p36" descr="stochastic gd"/>
          <p:cNvPicPr preferRelativeResize="0"/>
          <p:nvPr/>
        </p:nvPicPr>
        <p:blipFill rotWithShape="1">
          <a:blip r:embed="rId5">
            <a:alphaModFix/>
          </a:blip>
          <a:srcRect/>
          <a:stretch/>
        </p:blipFill>
        <p:spPr>
          <a:xfrm>
            <a:off x="488480" y="4391803"/>
            <a:ext cx="6218894" cy="2378274"/>
          </a:xfrm>
          <a:prstGeom prst="rect">
            <a:avLst/>
          </a:prstGeom>
          <a:noFill/>
          <a:ln>
            <a:noFill/>
          </a:ln>
        </p:spPr>
      </p:pic>
      <p:pic>
        <p:nvPicPr>
          <p:cNvPr id="75" name="Google Shape;75;p36" descr="minibatch gd"/>
          <p:cNvPicPr preferRelativeResize="0"/>
          <p:nvPr/>
        </p:nvPicPr>
        <p:blipFill rotWithShape="1">
          <a:blip r:embed="rId6">
            <a:alphaModFix/>
          </a:blip>
          <a:srcRect/>
          <a:stretch/>
        </p:blipFill>
        <p:spPr>
          <a:xfrm>
            <a:off x="5946262" y="2553874"/>
            <a:ext cx="6163242" cy="2356992"/>
          </a:xfrm>
          <a:prstGeom prst="rect">
            <a:avLst/>
          </a:prstGeom>
          <a:noFill/>
          <a:ln>
            <a:noFill/>
          </a:ln>
        </p:spPr>
      </p:pic>
      <p:sp>
        <p:nvSpPr>
          <p:cNvPr id="76" name="Google Shape;76;p36"/>
          <p:cNvSpPr txBox="1"/>
          <p:nvPr/>
        </p:nvSpPr>
        <p:spPr>
          <a:xfrm>
            <a:off x="597877" y="1294307"/>
            <a:ext cx="220686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Batch Gradient Descent</a:t>
            </a:r>
            <a:endParaRPr sz="1400" b="0" i="0" u="none" strike="noStrike" cap="none">
              <a:solidFill>
                <a:srgbClr val="000000"/>
              </a:solidFill>
              <a:latin typeface="Arial"/>
              <a:ea typeface="Arial"/>
              <a:cs typeface="Arial"/>
              <a:sym typeface="Arial"/>
            </a:endParaRPr>
          </a:p>
        </p:txBody>
      </p:sp>
      <p:sp>
        <p:nvSpPr>
          <p:cNvPr id="77" name="Google Shape;77;p36"/>
          <p:cNvSpPr txBox="1"/>
          <p:nvPr/>
        </p:nvSpPr>
        <p:spPr>
          <a:xfrm>
            <a:off x="597877" y="4084026"/>
            <a:ext cx="262890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Stochastic Gradient Descent</a:t>
            </a:r>
            <a:endParaRPr sz="1400" b="0" i="0" u="none" strike="noStrike" cap="none">
              <a:solidFill>
                <a:srgbClr val="000000"/>
              </a:solidFill>
              <a:latin typeface="Arial"/>
              <a:ea typeface="Arial"/>
              <a:cs typeface="Arial"/>
              <a:sym typeface="Arial"/>
            </a:endParaRPr>
          </a:p>
        </p:txBody>
      </p:sp>
      <p:sp>
        <p:nvSpPr>
          <p:cNvPr id="78" name="Google Shape;78;p36"/>
          <p:cNvSpPr txBox="1"/>
          <p:nvPr/>
        </p:nvSpPr>
        <p:spPr>
          <a:xfrm>
            <a:off x="6125928" y="2261628"/>
            <a:ext cx="265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Mini-Batch Gradient Descent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82"/>
        <p:cNvGrpSpPr/>
        <p:nvPr/>
      </p:nvGrpSpPr>
      <p:grpSpPr>
        <a:xfrm>
          <a:off x="0" y="0"/>
          <a:ext cx="0" cy="0"/>
          <a:chOff x="0" y="0"/>
          <a:chExt cx="0" cy="0"/>
        </a:xfrm>
      </p:grpSpPr>
      <p:sp>
        <p:nvSpPr>
          <p:cNvPr id="83" name="Google Shape;83;p37"/>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84" name="Google Shape;84;p37"/>
          <p:cNvSpPr txBox="1"/>
          <p:nvPr/>
        </p:nvSpPr>
        <p:spPr>
          <a:xfrm>
            <a:off x="261620" y="1362553"/>
            <a:ext cx="11804650" cy="320601"/>
          </a:xfrm>
          <a:prstGeom prst="rect">
            <a:avLst/>
          </a:prstGeom>
          <a:noFill/>
          <a:ln>
            <a:noFill/>
          </a:ln>
        </p:spPr>
        <p:txBody>
          <a:bodyPr spcFirstLastPara="1" wrap="square" lIns="0" tIns="12700" rIns="0" bIns="0" anchor="t" anchorCtr="0">
            <a:spAutoFit/>
          </a:bodyPr>
          <a:lstStyle/>
          <a:p>
            <a:pPr marL="355600" marR="0" lvl="0" indent="-139700" algn="l" rtl="0">
              <a:lnSpc>
                <a:spcPct val="100000"/>
              </a:lnSpc>
              <a:spcBef>
                <a:spcPts val="0"/>
              </a:spcBef>
              <a:spcAft>
                <a:spcPts val="0"/>
              </a:spcAft>
              <a:buClr>
                <a:srgbClr val="000000"/>
              </a:buClr>
              <a:buSzPts val="3200"/>
              <a:buFont typeface="Arial"/>
              <a:buNone/>
            </a:pPr>
            <a:endParaRPr sz="2000" b="0" i="0" u="none" strike="noStrike" cap="none">
              <a:solidFill>
                <a:srgbClr val="000000"/>
              </a:solidFill>
              <a:latin typeface="Arial"/>
              <a:ea typeface="Arial"/>
              <a:cs typeface="Arial"/>
              <a:sym typeface="Arial"/>
            </a:endParaRPr>
          </a:p>
        </p:txBody>
      </p:sp>
      <p:sp>
        <p:nvSpPr>
          <p:cNvPr id="85" name="Google Shape;85;p37"/>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6" name="Google Shape;86;p3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87" name="Google Shape;87;p37"/>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6</a:t>
            </a:fld>
            <a:endParaRPr/>
          </a:p>
        </p:txBody>
      </p:sp>
      <p:graphicFrame>
        <p:nvGraphicFramePr>
          <p:cNvPr id="88" name="Google Shape;88;p37"/>
          <p:cNvGraphicFramePr/>
          <p:nvPr/>
        </p:nvGraphicFramePr>
        <p:xfrm>
          <a:off x="311150" y="1503362"/>
          <a:ext cx="11569725" cy="2582858"/>
        </p:xfrm>
        <a:graphic>
          <a:graphicData uri="http://schemas.openxmlformats.org/drawingml/2006/table">
            <a:tbl>
              <a:tblPr firstRow="1" firstCol="1" bandRow="1">
                <a:noFill/>
                <a:tableStyleId>{A943D7BD-2058-4800-AD35-331F7F2ADB36}</a:tableStyleId>
              </a:tblPr>
              <a:tblGrid>
                <a:gridCol w="3856575">
                  <a:extLst>
                    <a:ext uri="{9D8B030D-6E8A-4147-A177-3AD203B41FA5}">
                      <a16:colId xmlns:a16="http://schemas.microsoft.com/office/drawing/2014/main" val="20000"/>
                    </a:ext>
                  </a:extLst>
                </a:gridCol>
                <a:gridCol w="3856575">
                  <a:extLst>
                    <a:ext uri="{9D8B030D-6E8A-4147-A177-3AD203B41FA5}">
                      <a16:colId xmlns:a16="http://schemas.microsoft.com/office/drawing/2014/main" val="20001"/>
                    </a:ext>
                  </a:extLst>
                </a:gridCol>
                <a:gridCol w="3856575">
                  <a:extLst>
                    <a:ext uri="{9D8B030D-6E8A-4147-A177-3AD203B41FA5}">
                      <a16:colId xmlns:a16="http://schemas.microsoft.com/office/drawing/2014/main" val="20002"/>
                    </a:ext>
                  </a:extLst>
                </a:gridCol>
              </a:tblGrid>
              <a:tr h="418775">
                <a:tc>
                  <a:txBody>
                    <a:bodyPr/>
                    <a:lstStyle/>
                    <a:p>
                      <a:pPr marL="0" marR="0" lvl="0" indent="0" algn="ctr" rtl="0">
                        <a:lnSpc>
                          <a:spcPct val="107000"/>
                        </a:lnSpc>
                        <a:spcBef>
                          <a:spcPts val="0"/>
                        </a:spcBef>
                        <a:spcAft>
                          <a:spcPts val="0"/>
                        </a:spcAft>
                        <a:buNone/>
                      </a:pPr>
                      <a:r>
                        <a:rPr lang="en-US" sz="1400" u="none" strike="noStrike" cap="none"/>
                        <a:t>Batch Gradient Descent</a:t>
                      </a:r>
                      <a:endParaRPr sz="1100" u="none" strike="noStrike" cap="none">
                        <a:latin typeface="Calibri"/>
                        <a:ea typeface="Calibri"/>
                        <a:cs typeface="Calibri"/>
                        <a:sym typeface="Calibri"/>
                      </a:endParaRPr>
                    </a:p>
                  </a:txBody>
                  <a:tcPr marL="38100" marR="38100" marT="95250" marB="95250" anchor="b"/>
                </a:tc>
                <a:tc>
                  <a:txBody>
                    <a:bodyPr/>
                    <a:lstStyle/>
                    <a:p>
                      <a:pPr marL="0" marR="0" lvl="0" indent="0" algn="ctr" rtl="0">
                        <a:lnSpc>
                          <a:spcPct val="107000"/>
                        </a:lnSpc>
                        <a:spcBef>
                          <a:spcPts val="0"/>
                        </a:spcBef>
                        <a:spcAft>
                          <a:spcPts val="0"/>
                        </a:spcAft>
                        <a:buNone/>
                      </a:pPr>
                      <a:r>
                        <a:rPr lang="en-US" sz="1400" u="none" strike="noStrike" cap="none"/>
                        <a:t>Stochastic Gradient Descent</a:t>
                      </a:r>
                      <a:endParaRPr sz="1100" u="none" strike="noStrike" cap="none">
                        <a:latin typeface="Calibri"/>
                        <a:ea typeface="Calibri"/>
                        <a:cs typeface="Calibri"/>
                        <a:sym typeface="Calibri"/>
                      </a:endParaRPr>
                    </a:p>
                  </a:txBody>
                  <a:tcPr marL="95250" marR="95250" marT="95250" marB="95250" anchor="b"/>
                </a:tc>
                <a:tc>
                  <a:txBody>
                    <a:bodyPr/>
                    <a:lstStyle/>
                    <a:p>
                      <a:pPr marL="0" marR="0" lvl="0" indent="0" algn="ctr" rtl="0">
                        <a:lnSpc>
                          <a:spcPct val="107000"/>
                        </a:lnSpc>
                        <a:spcBef>
                          <a:spcPts val="0"/>
                        </a:spcBef>
                        <a:spcAft>
                          <a:spcPts val="0"/>
                        </a:spcAft>
                        <a:buNone/>
                      </a:pPr>
                      <a:r>
                        <a:rPr lang="en-US" sz="1400" u="none" strike="noStrike" cap="none"/>
                        <a:t>Mini-Batch Gradient Descent</a:t>
                      </a:r>
                      <a:endParaRPr sz="1100" u="none" strike="noStrike" cap="none">
                        <a:latin typeface="Calibri"/>
                        <a:ea typeface="Calibri"/>
                        <a:cs typeface="Calibri"/>
                        <a:sym typeface="Calibri"/>
                      </a:endParaRPr>
                    </a:p>
                  </a:txBody>
                  <a:tcPr marL="95250" marR="95250" marT="95250" marB="95250" anchor="b"/>
                </a:tc>
                <a:extLst>
                  <a:ext uri="{0D108BD9-81ED-4DB2-BD59-A6C34878D82A}">
                    <a16:rowId xmlns:a16="http://schemas.microsoft.com/office/drawing/2014/main" val="10000"/>
                  </a:ext>
                </a:extLst>
              </a:tr>
              <a:tr h="1285875">
                <a:tc>
                  <a:txBody>
                    <a:bodyPr/>
                    <a:lstStyle/>
                    <a:p>
                      <a:pPr marL="0" marR="0" lvl="0" indent="0" algn="l" rtl="0">
                        <a:lnSpc>
                          <a:spcPct val="107000"/>
                        </a:lnSpc>
                        <a:spcBef>
                          <a:spcPts val="0"/>
                        </a:spcBef>
                        <a:spcAft>
                          <a:spcPts val="0"/>
                        </a:spcAft>
                        <a:buNone/>
                      </a:pPr>
                      <a:r>
                        <a:rPr lang="en-US" sz="1200" b="0" u="none" strike="noStrike" cap="none">
                          <a:solidFill>
                            <a:schemeClr val="dk1"/>
                          </a:solidFill>
                        </a:rPr>
                        <a:t>Since the entire training data is considered before taking a step in the direction of gradient, therefore it takes a lot of time for making a single update.</a:t>
                      </a:r>
                      <a:endParaRPr sz="1100" b="0" u="none" strike="noStrike" cap="none">
                        <a:solidFill>
                          <a:schemeClr val="dk1"/>
                        </a:solidFill>
                        <a:latin typeface="Calibri"/>
                        <a:ea typeface="Calibri"/>
                        <a:cs typeface="Calibri"/>
                        <a:sym typeface="Calibri"/>
                      </a:endParaRPr>
                    </a:p>
                  </a:txBody>
                  <a:tcPr marL="95250" marR="95250" marT="133350" marB="133350" anchor="ctr">
                    <a:solidFill>
                      <a:schemeClr val="lt2"/>
                    </a:solidFill>
                  </a:tcPr>
                </a:tc>
                <a:tc>
                  <a:txBody>
                    <a:bodyPr/>
                    <a:lstStyle/>
                    <a:p>
                      <a:pPr marL="0" marR="0" lvl="0" indent="0" algn="l" rtl="0">
                        <a:lnSpc>
                          <a:spcPct val="107000"/>
                        </a:lnSpc>
                        <a:spcBef>
                          <a:spcPts val="0"/>
                        </a:spcBef>
                        <a:spcAft>
                          <a:spcPts val="0"/>
                        </a:spcAft>
                        <a:buNone/>
                      </a:pPr>
                      <a:r>
                        <a:rPr lang="en-US" sz="1200" b="0" u="none" strike="noStrike" cap="none">
                          <a:solidFill>
                            <a:schemeClr val="dk1"/>
                          </a:solidFill>
                        </a:rPr>
                        <a:t>Since only a single training example is considered before taking a step in the direction of gradient, we are forced to loop over the training set and thus cannot exploit the speed associated with vectorizing the code.</a:t>
                      </a:r>
                      <a:endParaRPr sz="1100" b="0" u="none" strike="noStrike" cap="none">
                        <a:solidFill>
                          <a:schemeClr val="dk1"/>
                        </a:solidFill>
                        <a:latin typeface="Calibri"/>
                        <a:ea typeface="Calibri"/>
                        <a:cs typeface="Calibri"/>
                        <a:sym typeface="Calibri"/>
                      </a:endParaRPr>
                    </a:p>
                  </a:txBody>
                  <a:tcPr marL="95250" marR="95250" marT="133350" marB="133350" anchor="ctr">
                    <a:solidFill>
                      <a:schemeClr val="lt2"/>
                    </a:solidFill>
                  </a:tcPr>
                </a:tc>
                <a:tc>
                  <a:txBody>
                    <a:bodyPr/>
                    <a:lstStyle/>
                    <a:p>
                      <a:pPr marL="0" marR="0" lvl="0" indent="0" algn="l" rtl="0">
                        <a:lnSpc>
                          <a:spcPct val="107000"/>
                        </a:lnSpc>
                        <a:spcBef>
                          <a:spcPts val="0"/>
                        </a:spcBef>
                        <a:spcAft>
                          <a:spcPts val="0"/>
                        </a:spcAft>
                        <a:buNone/>
                      </a:pPr>
                      <a:r>
                        <a:rPr lang="en-US" sz="1200" b="0" u="none" strike="noStrike" cap="none">
                          <a:solidFill>
                            <a:schemeClr val="dk1"/>
                          </a:solidFill>
                        </a:rPr>
                        <a:t>Since a subset of training examples is considered, it can make quick updates in the model parameters and can also exploit the speed associated with vectorizing the code.</a:t>
                      </a:r>
                      <a:endParaRPr sz="1100" b="0" u="none" strike="noStrike" cap="none">
                        <a:solidFill>
                          <a:schemeClr val="dk1"/>
                        </a:solidFill>
                        <a:latin typeface="Calibri"/>
                        <a:ea typeface="Calibri"/>
                        <a:cs typeface="Calibri"/>
                        <a:sym typeface="Calibri"/>
                      </a:endParaRPr>
                    </a:p>
                  </a:txBody>
                  <a:tcPr marL="95250" marR="95250" marT="133350" marB="133350" anchor="ctr">
                    <a:solidFill>
                      <a:schemeClr val="lt2"/>
                    </a:solidFill>
                  </a:tcPr>
                </a:tc>
                <a:extLst>
                  <a:ext uri="{0D108BD9-81ED-4DB2-BD59-A6C34878D82A}">
                    <a16:rowId xmlns:a16="http://schemas.microsoft.com/office/drawing/2014/main" val="10001"/>
                  </a:ext>
                </a:extLst>
              </a:tr>
              <a:tr h="878200">
                <a:tc>
                  <a:txBody>
                    <a:bodyPr/>
                    <a:lstStyle/>
                    <a:p>
                      <a:pPr marL="0" marR="0" lvl="0" indent="0" algn="l" rtl="0">
                        <a:lnSpc>
                          <a:spcPct val="107000"/>
                        </a:lnSpc>
                        <a:spcBef>
                          <a:spcPts val="0"/>
                        </a:spcBef>
                        <a:spcAft>
                          <a:spcPts val="0"/>
                        </a:spcAft>
                        <a:buNone/>
                      </a:pPr>
                      <a:r>
                        <a:rPr lang="en-US" sz="1200" b="0" u="none" strike="noStrike" cap="none">
                          <a:solidFill>
                            <a:schemeClr val="dk1"/>
                          </a:solidFill>
                        </a:rPr>
                        <a:t>It makes smooth updates in the model parameters</a:t>
                      </a:r>
                      <a:endParaRPr sz="1100" b="0" u="none" strike="noStrike" cap="none">
                        <a:solidFill>
                          <a:schemeClr val="dk1"/>
                        </a:solidFill>
                        <a:latin typeface="Calibri"/>
                        <a:ea typeface="Calibri"/>
                        <a:cs typeface="Calibri"/>
                        <a:sym typeface="Calibri"/>
                      </a:endParaRPr>
                    </a:p>
                  </a:txBody>
                  <a:tcPr marL="95250" marR="95250" marT="133350" marB="133350" anchor="ctr">
                    <a:solidFill>
                      <a:schemeClr val="lt2"/>
                    </a:solidFill>
                  </a:tcPr>
                </a:tc>
                <a:tc>
                  <a:txBody>
                    <a:bodyPr/>
                    <a:lstStyle/>
                    <a:p>
                      <a:pPr marL="0" marR="0" lvl="0" indent="0" algn="l" rtl="0">
                        <a:lnSpc>
                          <a:spcPct val="107000"/>
                        </a:lnSpc>
                        <a:spcBef>
                          <a:spcPts val="0"/>
                        </a:spcBef>
                        <a:spcAft>
                          <a:spcPts val="0"/>
                        </a:spcAft>
                        <a:buNone/>
                      </a:pPr>
                      <a:r>
                        <a:rPr lang="en-US" sz="1200" b="0" u="none" strike="noStrike" cap="none">
                          <a:solidFill>
                            <a:schemeClr val="dk1"/>
                          </a:solidFill>
                        </a:rPr>
                        <a:t>It makes very noisy updates in the parameters</a:t>
                      </a:r>
                      <a:endParaRPr sz="1100" b="0" u="none" strike="noStrike" cap="none">
                        <a:solidFill>
                          <a:schemeClr val="dk1"/>
                        </a:solidFill>
                        <a:latin typeface="Calibri"/>
                        <a:ea typeface="Calibri"/>
                        <a:cs typeface="Calibri"/>
                        <a:sym typeface="Calibri"/>
                      </a:endParaRPr>
                    </a:p>
                  </a:txBody>
                  <a:tcPr marL="95250" marR="95250" marT="133350" marB="133350" anchor="ctr">
                    <a:solidFill>
                      <a:schemeClr val="lt2"/>
                    </a:solidFill>
                  </a:tcPr>
                </a:tc>
                <a:tc>
                  <a:txBody>
                    <a:bodyPr/>
                    <a:lstStyle/>
                    <a:p>
                      <a:pPr marL="0" marR="0" lvl="0" indent="0" algn="l" rtl="0">
                        <a:lnSpc>
                          <a:spcPct val="107000"/>
                        </a:lnSpc>
                        <a:spcBef>
                          <a:spcPts val="0"/>
                        </a:spcBef>
                        <a:spcAft>
                          <a:spcPts val="0"/>
                        </a:spcAft>
                        <a:buNone/>
                      </a:pPr>
                      <a:r>
                        <a:rPr lang="en-US" sz="1200" b="0" u="none" strike="noStrike" cap="none">
                          <a:solidFill>
                            <a:schemeClr val="dk1"/>
                          </a:solidFill>
                        </a:rPr>
                        <a:t>Depending upon the batch size, the updates can be made less noisy – greater the batch size less noisy is the update</a:t>
                      </a:r>
                      <a:endParaRPr sz="1100" b="0" u="none" strike="noStrike" cap="none">
                        <a:solidFill>
                          <a:schemeClr val="dk1"/>
                        </a:solidFill>
                        <a:latin typeface="Calibri"/>
                        <a:ea typeface="Calibri"/>
                        <a:cs typeface="Calibri"/>
                        <a:sym typeface="Calibri"/>
                      </a:endParaRPr>
                    </a:p>
                  </a:txBody>
                  <a:tcPr marL="95250" marR="95250" marT="133350" marB="133350" anchor="ctr">
                    <a:solidFill>
                      <a:schemeClr val="lt2"/>
                    </a:solidFill>
                  </a:tcPr>
                </a:tc>
                <a:extLst>
                  <a:ext uri="{0D108BD9-81ED-4DB2-BD59-A6C34878D82A}">
                    <a16:rowId xmlns:a16="http://schemas.microsoft.com/office/drawing/2014/main" val="10002"/>
                  </a:ext>
                </a:extLst>
              </a:tr>
            </a:tbl>
          </a:graphicData>
        </a:graphic>
      </p:graphicFrame>
      <p:sp>
        <p:nvSpPr>
          <p:cNvPr id="89" name="Google Shape;89;p37"/>
          <p:cNvSpPr txBox="1"/>
          <p:nvPr/>
        </p:nvSpPr>
        <p:spPr>
          <a:xfrm>
            <a:off x="378069" y="4510454"/>
            <a:ext cx="1150278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In this lesson, we only study mini-batch gradient descent.</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93"/>
        <p:cNvGrpSpPr/>
        <p:nvPr/>
      </p:nvGrpSpPr>
      <p:grpSpPr>
        <a:xfrm>
          <a:off x="0" y="0"/>
          <a:ext cx="0" cy="0"/>
          <a:chOff x="0" y="0"/>
          <a:chExt cx="0" cy="0"/>
        </a:xfrm>
      </p:grpSpPr>
      <p:sp>
        <p:nvSpPr>
          <p:cNvPr id="94" name="Google Shape;94;p3"/>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95" name="Google Shape;95;p3"/>
          <p:cNvSpPr txBox="1"/>
          <p:nvPr/>
        </p:nvSpPr>
        <p:spPr>
          <a:xfrm>
            <a:off x="261620" y="1193220"/>
            <a:ext cx="11804650" cy="5552802"/>
          </a:xfrm>
          <a:prstGeom prst="rect">
            <a:avLst/>
          </a:prstGeom>
          <a:noFill/>
          <a:ln>
            <a:noFill/>
          </a:ln>
        </p:spPr>
        <p:txBody>
          <a:bodyPr spcFirstLastPara="1" wrap="square" lIns="0" tIns="12700" rIns="0" bIns="0" anchor="t" anchorCtr="0">
            <a:spAutoFit/>
          </a:bodyPr>
          <a:lstStyle/>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An </a:t>
            </a:r>
            <a:r>
              <a:rPr lang="en-US" sz="2400" b="1" i="0" u="none" strike="noStrike" cap="none" dirty="0">
                <a:solidFill>
                  <a:srgbClr val="000000"/>
                </a:solidFill>
                <a:latin typeface="Arial"/>
                <a:ea typeface="Arial"/>
                <a:cs typeface="Arial"/>
                <a:sym typeface="Arial"/>
              </a:rPr>
              <a:t>epoch</a:t>
            </a:r>
            <a:r>
              <a:rPr lang="en-US" sz="2400" b="0" i="0" u="none" strike="noStrike" cap="none" dirty="0">
                <a:solidFill>
                  <a:srgbClr val="000000"/>
                </a:solidFill>
                <a:latin typeface="Arial"/>
                <a:ea typeface="Arial"/>
                <a:cs typeface="Arial"/>
                <a:sym typeface="Arial"/>
              </a:rPr>
              <a:t> means that we have passed each sample of the training set one time through the network to update the parameters. Generally, the number of epochs is a </a:t>
            </a:r>
            <a:r>
              <a:rPr lang="en-US" sz="2400" b="0" i="0" u="none" strike="noStrike" cap="none" dirty="0" err="1">
                <a:solidFill>
                  <a:srgbClr val="000000"/>
                </a:solidFill>
                <a:latin typeface="Arial"/>
                <a:ea typeface="Arial"/>
                <a:cs typeface="Arial"/>
                <a:sym typeface="Arial"/>
              </a:rPr>
              <a:t>hyperparameter</a:t>
            </a:r>
            <a:r>
              <a:rPr lang="en-US" sz="2400" b="0" i="0" u="none" strike="noStrike" cap="none" dirty="0">
                <a:solidFill>
                  <a:srgbClr val="000000"/>
                </a:solidFill>
                <a:latin typeface="Arial"/>
                <a:ea typeface="Arial"/>
                <a:cs typeface="Arial"/>
                <a:sym typeface="Arial"/>
              </a:rPr>
              <a:t> that defines the number of times that gradient descent will pass the entire dataset.</a:t>
            </a:r>
            <a:endParaRPr sz="2400" b="0" i="0" u="none" strike="noStrike" cap="none" dirty="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If we look at the previous methods, we can see that:</a:t>
            </a:r>
            <a:endParaRPr sz="2400" b="0" i="0" u="none" strike="noStrike" cap="none" dirty="0">
              <a:solidFill>
                <a:srgbClr val="000000"/>
              </a:solidFill>
              <a:latin typeface="Arial"/>
              <a:ea typeface="Arial"/>
              <a:cs typeface="Arial"/>
              <a:sym typeface="Arial"/>
            </a:endParaRPr>
          </a:p>
          <a:p>
            <a:pPr marL="12700" lvl="0"/>
            <a:r>
              <a:rPr lang="en-US" sz="2400" b="0" i="0" u="none" strike="noStrike" cap="none" dirty="0">
                <a:solidFill>
                  <a:srgbClr val="000000"/>
                </a:solidFill>
                <a:latin typeface="Arial"/>
                <a:ea typeface="Arial"/>
                <a:cs typeface="Arial"/>
                <a:sym typeface="Arial"/>
              </a:rPr>
              <a:t>	- In batch gradient descent, one epoch corresponds to a single </a:t>
            </a:r>
            <a:r>
              <a:rPr lang="en-US" sz="2400" dirty="0" smtClean="0"/>
              <a:t>iteration </a:t>
            </a:r>
            <a:r>
              <a:rPr lang="en-US" sz="2400" dirty="0"/>
              <a:t>through </a:t>
            </a:r>
            <a:r>
              <a:rPr lang="en-US" sz="2400" dirty="0" smtClean="0"/>
              <a:t>	the </a:t>
            </a:r>
            <a:r>
              <a:rPr lang="en-US" sz="2400" dirty="0"/>
              <a:t>entire training dataset.</a:t>
            </a:r>
            <a:endParaRPr dirty="0"/>
          </a:p>
          <a:p>
            <a:pPr marL="1270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	- In stochastic gradient descent, one epoch corresponds to </a:t>
            </a:r>
            <a:r>
              <a:rPr lang="en-US" sz="2400" b="0" i="1" u="none" strike="noStrike" cap="none" dirty="0">
                <a:solidFill>
                  <a:srgbClr val="000000"/>
                </a:solidFill>
                <a:latin typeface="Arial"/>
                <a:ea typeface="Arial"/>
                <a:cs typeface="Arial"/>
                <a:sym typeface="Arial"/>
              </a:rPr>
              <a:t>n</a:t>
            </a:r>
            <a:r>
              <a:rPr lang="en-US" sz="2400" b="0" i="0" u="none" strike="noStrike" cap="none" dirty="0">
                <a:solidFill>
                  <a:srgbClr val="000000"/>
                </a:solidFill>
                <a:latin typeface="Arial"/>
                <a:ea typeface="Arial"/>
                <a:cs typeface="Arial"/>
                <a:sym typeface="Arial"/>
              </a:rPr>
              <a:t> iterations, where n 	is the number of training samples.</a:t>
            </a:r>
            <a:endParaRPr dirty="0"/>
          </a:p>
          <a:p>
            <a:pPr marL="1270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	- In mini-batch gradient descent, one epoch corresponds to </a:t>
            </a:r>
            <a:r>
              <a:rPr lang="en-US" sz="2400" b="0" i="1" u="none" strike="noStrike" cap="none" dirty="0">
                <a:solidFill>
                  <a:srgbClr val="000000"/>
                </a:solidFill>
                <a:latin typeface="Arial"/>
                <a:ea typeface="Arial"/>
                <a:cs typeface="Arial"/>
                <a:sym typeface="Arial"/>
              </a:rPr>
              <a:t>n/b</a:t>
            </a:r>
            <a:r>
              <a:rPr lang="en-US" sz="2400" b="0" i="0" u="none" strike="noStrike" cap="none" dirty="0">
                <a:solidFill>
                  <a:srgbClr val="000000"/>
                </a:solidFill>
                <a:latin typeface="Arial"/>
                <a:ea typeface="Arial"/>
                <a:cs typeface="Arial"/>
                <a:sym typeface="Arial"/>
              </a:rPr>
              <a:t> iterations, where 	</a:t>
            </a:r>
            <a:r>
              <a:rPr lang="en-US" sz="2400" b="0" i="1" u="none" strike="noStrike" cap="none" dirty="0">
                <a:solidFill>
                  <a:srgbClr val="000000"/>
                </a:solidFill>
                <a:latin typeface="Arial"/>
                <a:ea typeface="Arial"/>
                <a:cs typeface="Arial"/>
                <a:sym typeface="Arial"/>
              </a:rPr>
              <a:t>b</a:t>
            </a:r>
            <a:r>
              <a:rPr lang="en-US" sz="2400" b="0" i="0" u="none" strike="noStrike" cap="none" dirty="0">
                <a:solidFill>
                  <a:srgbClr val="000000"/>
                </a:solidFill>
                <a:latin typeface="Arial"/>
                <a:ea typeface="Arial"/>
                <a:cs typeface="Arial"/>
                <a:sym typeface="Arial"/>
              </a:rPr>
              <a:t> is the size of the mini-batch.</a:t>
            </a:r>
            <a:endParaRPr dirty="0"/>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A </a:t>
            </a:r>
            <a:r>
              <a:rPr lang="en-US" sz="2400" b="1" i="0" u="none" strike="noStrike" cap="none" dirty="0">
                <a:solidFill>
                  <a:srgbClr val="000000"/>
                </a:solidFill>
                <a:latin typeface="Arial"/>
                <a:ea typeface="Arial"/>
                <a:cs typeface="Arial"/>
                <a:sym typeface="Arial"/>
              </a:rPr>
              <a:t>batch</a:t>
            </a:r>
            <a:r>
              <a:rPr lang="en-US" sz="2400" b="0" i="0" u="none" strike="noStrike" cap="none" dirty="0">
                <a:solidFill>
                  <a:srgbClr val="000000"/>
                </a:solidFill>
                <a:latin typeface="Arial"/>
                <a:ea typeface="Arial"/>
                <a:cs typeface="Arial"/>
                <a:sym typeface="Arial"/>
              </a:rPr>
              <a:t> is equal to the total training data used in batch gradient descent to update the network’s parameters. </a:t>
            </a:r>
            <a:endParaRPr lang="en-US" sz="2400" b="0" i="0" u="none" strike="noStrike" cap="none" dirty="0" smtClean="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smtClean="0">
                <a:solidFill>
                  <a:srgbClr val="000000"/>
                </a:solidFill>
                <a:latin typeface="Arial"/>
                <a:ea typeface="Arial"/>
                <a:cs typeface="Arial"/>
                <a:sym typeface="Arial"/>
              </a:rPr>
              <a:t>A </a:t>
            </a:r>
            <a:r>
              <a:rPr lang="en-US" sz="2400" b="1" i="0" u="none" strike="noStrike" cap="none" dirty="0" smtClean="0">
                <a:solidFill>
                  <a:srgbClr val="000000"/>
                </a:solidFill>
                <a:latin typeface="Arial"/>
                <a:ea typeface="Arial"/>
                <a:cs typeface="Arial"/>
                <a:sym typeface="Arial"/>
              </a:rPr>
              <a:t>mini-batch</a:t>
            </a:r>
            <a:r>
              <a:rPr lang="en-US" sz="2400" b="0" i="0" u="none" strike="noStrike" cap="none" dirty="0" smtClean="0">
                <a:solidFill>
                  <a:srgbClr val="000000"/>
                </a:solidFill>
                <a:latin typeface="Arial"/>
                <a:ea typeface="Arial"/>
                <a:cs typeface="Arial"/>
                <a:sym typeface="Arial"/>
              </a:rPr>
              <a:t> </a:t>
            </a:r>
            <a:r>
              <a:rPr lang="en-US" sz="2400" b="0" i="0" u="none" strike="noStrike" cap="none" dirty="0">
                <a:solidFill>
                  <a:srgbClr val="000000"/>
                </a:solidFill>
                <a:latin typeface="Arial"/>
                <a:ea typeface="Arial"/>
                <a:cs typeface="Arial"/>
                <a:sym typeface="Arial"/>
              </a:rPr>
              <a:t>is a subset of the training data used in each iteration of the training algorithm in mini-batch gradient descent.</a:t>
            </a:r>
            <a:endParaRPr sz="2000" b="0" i="0" u="none" strike="noStrike" cap="none" dirty="0">
              <a:solidFill>
                <a:srgbClr val="000000"/>
              </a:solidFill>
              <a:latin typeface="Arial"/>
              <a:ea typeface="Arial"/>
              <a:cs typeface="Arial"/>
              <a:sym typeface="Arial"/>
            </a:endParaRPr>
          </a:p>
        </p:txBody>
      </p:sp>
      <p:sp>
        <p:nvSpPr>
          <p:cNvPr id="96" name="Google Shape;96;p3"/>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7" name="Google Shape;97;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98" name="Google Shape;98;p3"/>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02"/>
        <p:cNvGrpSpPr/>
        <p:nvPr/>
      </p:nvGrpSpPr>
      <p:grpSpPr>
        <a:xfrm>
          <a:off x="0" y="0"/>
          <a:ext cx="0" cy="0"/>
          <a:chOff x="0" y="0"/>
          <a:chExt cx="0" cy="0"/>
        </a:xfrm>
      </p:grpSpPr>
      <p:sp>
        <p:nvSpPr>
          <p:cNvPr id="103" name="Google Shape;103;p38"/>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104" name="Google Shape;104;p38"/>
          <p:cNvSpPr txBox="1"/>
          <p:nvPr/>
        </p:nvSpPr>
        <p:spPr>
          <a:xfrm>
            <a:off x="261620" y="1362553"/>
            <a:ext cx="11804650" cy="370614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Let’s assume that we have a dataset with </a:t>
            </a:r>
            <a:r>
              <a:rPr lang="en-US" sz="2400" b="1" i="0" u="none" strike="noStrike" cap="none" dirty="0">
                <a:solidFill>
                  <a:srgbClr val="000000"/>
                </a:solidFill>
                <a:latin typeface="Arial"/>
                <a:ea typeface="Arial"/>
                <a:cs typeface="Arial"/>
                <a:sym typeface="Arial"/>
              </a:rPr>
              <a:t>n = 2000</a:t>
            </a:r>
            <a:r>
              <a:rPr lang="en-US" sz="2400" b="0" i="0" u="none" strike="noStrike" cap="none" dirty="0">
                <a:solidFill>
                  <a:srgbClr val="000000"/>
                </a:solidFill>
                <a:latin typeface="Arial"/>
                <a:ea typeface="Arial"/>
                <a:cs typeface="Arial"/>
                <a:sym typeface="Arial"/>
              </a:rPr>
              <a:t> samples, and we want to train a deep learning model using gradient descent for </a:t>
            </a:r>
            <a:r>
              <a:rPr lang="en-US" sz="2400" b="1" i="0" u="none" strike="noStrike" cap="none" dirty="0">
                <a:solidFill>
                  <a:srgbClr val="000000"/>
                </a:solidFill>
                <a:latin typeface="Arial"/>
                <a:ea typeface="Arial"/>
                <a:cs typeface="Arial"/>
                <a:sym typeface="Arial"/>
              </a:rPr>
              <a:t>10</a:t>
            </a:r>
            <a:r>
              <a:rPr lang="en-US" sz="2400" b="0" i="0" u="none" strike="noStrike" cap="none" dirty="0">
                <a:solidFill>
                  <a:srgbClr val="000000"/>
                </a:solidFill>
                <a:latin typeface="Arial"/>
                <a:ea typeface="Arial"/>
                <a:cs typeface="Arial"/>
                <a:sym typeface="Arial"/>
              </a:rPr>
              <a:t> epochs and mini-batch size </a:t>
            </a:r>
            <a:r>
              <a:rPr lang="en-US" sz="2400" b="1" i="0" u="none" strike="noStrike" cap="none" dirty="0">
                <a:solidFill>
                  <a:srgbClr val="000000"/>
                </a:solidFill>
                <a:latin typeface="Arial"/>
                <a:ea typeface="Arial"/>
                <a:cs typeface="Arial"/>
                <a:sym typeface="Arial"/>
              </a:rPr>
              <a:t>b = 4</a:t>
            </a:r>
            <a:r>
              <a:rPr lang="en-US" sz="2400" b="0" i="0" u="none" strike="noStrike" cap="none" dirty="0">
                <a:solidFill>
                  <a:srgbClr val="000000"/>
                </a:solidFill>
                <a:latin typeface="Arial"/>
                <a:ea typeface="Arial"/>
                <a:cs typeface="Arial"/>
                <a:sym typeface="Arial"/>
              </a:rPr>
              <a:t>:</a:t>
            </a:r>
            <a:endParaRPr sz="2400" b="0" i="0" u="none" strike="noStrike" cap="none" dirty="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In batch gradient descent, we’ll update the network’s parameters (using all the data) 10 times which corresponds to 1 time for each epoch.</a:t>
            </a:r>
            <a:endParaRPr dirty="0"/>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In stochastic gradient descent, we’ll update the network’s parameters (using one sample each time) 2000*10 = 20000 times which corresponds to 2000 times for each epoch.</a:t>
            </a:r>
            <a:endParaRPr dirty="0"/>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In mini-batch gradient descent, we’ll update the network’s parameters (using b = 4 samples each time) (2000/4)*10 = 5000 times that corresponds to 2000/4 = 500 times for each epoch.</a:t>
            </a:r>
            <a:endParaRPr sz="2000" b="0" i="0" u="none" strike="noStrike" cap="none" dirty="0">
              <a:solidFill>
                <a:srgbClr val="000000"/>
              </a:solidFill>
              <a:latin typeface="Arial"/>
              <a:ea typeface="Arial"/>
              <a:cs typeface="Arial"/>
              <a:sym typeface="Arial"/>
            </a:endParaRPr>
          </a:p>
        </p:txBody>
      </p:sp>
      <p:sp>
        <p:nvSpPr>
          <p:cNvPr id="105" name="Google Shape;105;p38"/>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06" name="Google Shape;106;p3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07" name="Google Shape;107;p38"/>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11"/>
        <p:cNvGrpSpPr/>
        <p:nvPr/>
      </p:nvGrpSpPr>
      <p:grpSpPr>
        <a:xfrm>
          <a:off x="0" y="0"/>
          <a:ext cx="0" cy="0"/>
          <a:chOff x="0" y="0"/>
          <a:chExt cx="0" cy="0"/>
        </a:xfrm>
      </p:grpSpPr>
      <p:sp>
        <p:nvSpPr>
          <p:cNvPr id="112" name="Google Shape;112;p39"/>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113" name="Google Shape;113;p39"/>
          <p:cNvSpPr txBox="1"/>
          <p:nvPr/>
        </p:nvSpPr>
        <p:spPr>
          <a:xfrm>
            <a:off x="261620" y="1362553"/>
            <a:ext cx="11804650" cy="1490152"/>
          </a:xfrm>
          <a:prstGeom prst="rect">
            <a:avLst/>
          </a:prstGeom>
          <a:noFill/>
          <a:ln>
            <a:noFill/>
          </a:ln>
        </p:spPr>
        <p:txBody>
          <a:bodyPr spcFirstLastPara="1" wrap="square" lIns="0" tIns="12700" rIns="0" bIns="0" anchor="t" anchorCtr="0">
            <a:spAutoFit/>
          </a:bodyPr>
          <a:lstStyle/>
          <a:p>
            <a:pPr marL="355600" lvl="0" indent="-342900">
              <a:buSzPts val="3200"/>
              <a:buFont typeface="Arial"/>
              <a:buChar char="•"/>
            </a:pPr>
            <a:r>
              <a:rPr lang="en-US" sz="2400" dirty="0"/>
              <a:t>Mini-batch gradient descent accelerates deep learning training on large datasets by processing smaller subsets, or mini-batches, at a time. It employs a for loop to iterate through each mini-batch, performing forward and backward propagation to update weights and compute gradients, making the training process more efficient.</a:t>
            </a:r>
            <a:endParaRPr sz="2400" b="0" i="0" u="none" strike="noStrike" cap="none" dirty="0">
              <a:solidFill>
                <a:srgbClr val="000000"/>
              </a:solidFill>
              <a:latin typeface="Arial"/>
              <a:ea typeface="Arial"/>
              <a:cs typeface="Arial"/>
              <a:sym typeface="Arial"/>
            </a:endParaRPr>
          </a:p>
        </p:txBody>
      </p:sp>
      <p:sp>
        <p:nvSpPr>
          <p:cNvPr id="114" name="Google Shape;114;p39"/>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5" name="Google Shape;115;p3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16" name="Google Shape;116;p39"/>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20"/>
        <p:cNvGrpSpPr/>
        <p:nvPr/>
      </p:nvGrpSpPr>
      <p:grpSpPr>
        <a:xfrm>
          <a:off x="0" y="0"/>
          <a:ext cx="0" cy="0"/>
          <a:chOff x="0" y="0"/>
          <a:chExt cx="0" cy="0"/>
        </a:xfrm>
      </p:grpSpPr>
      <p:sp>
        <p:nvSpPr>
          <p:cNvPr id="121" name="Google Shape;121;p40"/>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122" name="Google Shape;122;p40"/>
          <p:cNvSpPr txBox="1"/>
          <p:nvPr/>
        </p:nvSpPr>
        <p:spPr>
          <a:xfrm>
            <a:off x="261620" y="1213084"/>
            <a:ext cx="11804650" cy="4814138"/>
          </a:xfrm>
          <a:prstGeom prst="rect">
            <a:avLst/>
          </a:prstGeom>
          <a:noFill/>
          <a:ln>
            <a:noFill/>
          </a:ln>
        </p:spPr>
        <p:txBody>
          <a:bodyPr spcFirstLastPara="1" wrap="square" lIns="0" tIns="12700" rIns="0" bIns="0" anchor="t" anchorCtr="0">
            <a:spAutoFit/>
          </a:bodyPr>
          <a:lstStyle/>
          <a:p>
            <a:pPr marL="355600" lvl="0" indent="-342900">
              <a:buSzPts val="3200"/>
              <a:buFont typeface="Arial" panose="020B0604020202020204" pitchFamily="34" charset="0"/>
              <a:buChar char="•"/>
            </a:pPr>
            <a:r>
              <a:rPr lang="en-US" sz="2400" dirty="0" smtClean="0"/>
              <a:t>Vectorization </a:t>
            </a:r>
            <a:r>
              <a:rPr lang="en-US" sz="2400" dirty="0"/>
              <a:t>allows you to efficiently compute on m examples. But m if is really large that can still be slow. A solution to this is only ingest a small fixed amount of examples (1000, for example) and use each one to iteratively compute the errors.</a:t>
            </a:r>
          </a:p>
          <a:p>
            <a:pPr marL="355600" lvl="0" indent="-342900">
              <a:buSzPts val="3200"/>
              <a:buFont typeface="Arial" panose="020B0604020202020204" pitchFamily="34" charset="0"/>
              <a:buChar char="•"/>
            </a:pPr>
            <a:r>
              <a:rPr lang="en-US" sz="2400" dirty="0"/>
              <a:t>Notation:</a:t>
            </a:r>
          </a:p>
          <a:p>
            <a:pPr marL="12700" lvl="1">
              <a:buSzPts val="3200"/>
            </a:pPr>
            <a:r>
              <a:rPr lang="en-US" sz="2400" dirty="0" smtClean="0"/>
              <a:t>	</a:t>
            </a:r>
            <a:r>
              <a:rPr lang="en-US" sz="2000" dirty="0" smtClean="0"/>
              <a:t>- x</a:t>
            </a:r>
            <a:r>
              <a:rPr lang="en-US" sz="2000" baseline="30000" dirty="0" smtClean="0"/>
              <a:t>(</a:t>
            </a:r>
            <a:r>
              <a:rPr lang="en-US" sz="2000" baseline="30000" dirty="0" err="1" smtClean="0"/>
              <a:t>i</a:t>
            </a:r>
            <a:r>
              <a:rPr lang="en-US" sz="2000" baseline="30000" dirty="0" smtClean="0"/>
              <a:t>)</a:t>
            </a:r>
            <a:r>
              <a:rPr lang="en-US" sz="2000" dirty="0" smtClean="0"/>
              <a:t> </a:t>
            </a:r>
            <a:r>
              <a:rPr lang="en-US" sz="2000" dirty="0" err="1"/>
              <a:t>ith</a:t>
            </a:r>
            <a:r>
              <a:rPr lang="en-US" sz="2000" dirty="0"/>
              <a:t> example in the test set</a:t>
            </a:r>
          </a:p>
          <a:p>
            <a:pPr marL="12700" lvl="0">
              <a:buSzPts val="3200"/>
            </a:pPr>
            <a:r>
              <a:rPr lang="en-US" sz="2000" dirty="0" smtClean="0"/>
              <a:t>	- Z</a:t>
            </a:r>
            <a:r>
              <a:rPr lang="en-US" sz="2000" baseline="30000" dirty="0" smtClean="0"/>
              <a:t>[l]</a:t>
            </a:r>
            <a:r>
              <a:rPr lang="en-US" sz="2000" dirty="0" smtClean="0"/>
              <a:t> lth layer </a:t>
            </a:r>
            <a:r>
              <a:rPr lang="en-US" sz="2000" dirty="0"/>
              <a:t>in the neural network</a:t>
            </a:r>
          </a:p>
          <a:p>
            <a:pPr marL="12700" lvl="0">
              <a:buSzPts val="3200"/>
            </a:pPr>
            <a:r>
              <a:rPr lang="en-US" sz="2000" dirty="0" smtClean="0"/>
              <a:t>	- X</a:t>
            </a:r>
            <a:r>
              <a:rPr lang="en-US" sz="2000" baseline="30000" dirty="0" smtClean="0"/>
              <a:t>{</a:t>
            </a:r>
            <a:r>
              <a:rPr lang="en-US" sz="2000" baseline="30000" dirty="0" err="1" smtClean="0"/>
              <a:t>i</a:t>
            </a:r>
            <a:r>
              <a:rPr lang="en-US" sz="2000" baseline="30000" dirty="0" smtClean="0"/>
              <a:t>}</a:t>
            </a:r>
            <a:r>
              <a:rPr lang="en-US" sz="2000" dirty="0" smtClean="0"/>
              <a:t> </a:t>
            </a:r>
            <a:r>
              <a:rPr lang="en-US" sz="2000" dirty="0" err="1" smtClean="0"/>
              <a:t>ith</a:t>
            </a:r>
            <a:r>
              <a:rPr lang="en-US" sz="2000" dirty="0" smtClean="0"/>
              <a:t> batch </a:t>
            </a:r>
            <a:r>
              <a:rPr lang="en-US" sz="2000" dirty="0"/>
              <a:t>in the mini-batch test set. </a:t>
            </a:r>
            <a:r>
              <a:rPr lang="en-US" sz="2000" dirty="0" smtClean="0"/>
              <a:t>X</a:t>
            </a:r>
            <a:r>
              <a:rPr lang="en-US" sz="2000" baseline="30000" dirty="0" smtClean="0"/>
              <a:t>{</a:t>
            </a:r>
            <a:r>
              <a:rPr lang="en-US" sz="2000" baseline="30000" dirty="0" err="1" smtClean="0"/>
              <a:t>i</a:t>
            </a:r>
            <a:r>
              <a:rPr lang="en-US" sz="2000" baseline="30000" dirty="0" smtClean="0"/>
              <a:t>}</a:t>
            </a:r>
            <a:r>
              <a:rPr lang="en-US" sz="2000" dirty="0" smtClean="0"/>
              <a:t>. </a:t>
            </a:r>
            <a:r>
              <a:rPr lang="en-US" sz="2000" dirty="0"/>
              <a:t>shape = (</a:t>
            </a:r>
            <a:r>
              <a:rPr lang="en-US" sz="2000" dirty="0" err="1" smtClean="0"/>
              <a:t>n</a:t>
            </a:r>
            <a:r>
              <a:rPr lang="en-US" sz="2000" baseline="-25000" dirty="0" err="1" smtClean="0"/>
              <a:t>x</a:t>
            </a:r>
            <a:r>
              <a:rPr lang="en-US" sz="2000" dirty="0" smtClean="0"/>
              <a:t>, </a:t>
            </a:r>
            <a:r>
              <a:rPr lang="en-US" sz="2000" dirty="0"/>
              <a:t>m</a:t>
            </a:r>
            <a:r>
              <a:rPr lang="en-US" sz="2000" dirty="0" smtClean="0"/>
              <a:t>)</a:t>
            </a:r>
          </a:p>
          <a:p>
            <a:pPr marL="355600" lvl="0" indent="-342900">
              <a:buSzPts val="3200"/>
              <a:buFont typeface="Arial" panose="020B0604020202020204" pitchFamily="34" charset="0"/>
              <a:buChar char="•"/>
            </a:pPr>
            <a:r>
              <a:rPr lang="en-US" sz="2400" dirty="0"/>
              <a:t>Mini-Batch algorithm pseudo code:  </a:t>
            </a:r>
          </a:p>
          <a:p>
            <a:pPr marL="12700" lvl="0">
              <a:buSzPts val="3200"/>
            </a:pPr>
            <a:r>
              <a:rPr lang="en-US" sz="2400" dirty="0"/>
              <a:t>	</a:t>
            </a:r>
            <a:r>
              <a:rPr lang="en-US" sz="2000" dirty="0">
                <a:latin typeface="Cascadia Code Light" panose="020B0609020000020004" pitchFamily="49" charset="0"/>
                <a:cs typeface="Cascadia Code Light" panose="020B0609020000020004" pitchFamily="49" charset="0"/>
              </a:rPr>
              <a:t>for t = 1:No_of_batches # this is called an epoch  	</a:t>
            </a:r>
          </a:p>
          <a:p>
            <a:pPr marL="12700" lvl="0">
              <a:buSzPts val="3200"/>
            </a:pPr>
            <a:r>
              <a:rPr lang="en-US" sz="2000" dirty="0">
                <a:latin typeface="Cascadia Code Light" panose="020B0609020000020004" pitchFamily="49" charset="0"/>
                <a:cs typeface="Cascadia Code Light" panose="020B0609020000020004" pitchFamily="49" charset="0"/>
              </a:rPr>
              <a:t>		A</a:t>
            </a:r>
            <a:r>
              <a:rPr lang="en-US" sz="2000" baseline="30000" dirty="0">
                <a:latin typeface="Cascadia Code Light" panose="020B0609020000020004" pitchFamily="49" charset="0"/>
                <a:cs typeface="Cascadia Code Light" panose="020B0609020000020004" pitchFamily="49" charset="0"/>
              </a:rPr>
              <a:t>L</a:t>
            </a:r>
            <a:r>
              <a:rPr lang="en-US" sz="2000" dirty="0">
                <a:latin typeface="Cascadia Code Light" panose="020B0609020000020004" pitchFamily="49" charset="0"/>
                <a:cs typeface="Cascadia Code Light" panose="020B0609020000020004" pitchFamily="49" charset="0"/>
              </a:rPr>
              <a:t>, caches = </a:t>
            </a:r>
            <a:r>
              <a:rPr lang="en-US" sz="2000" dirty="0" err="1">
                <a:latin typeface="Cascadia Code Light" panose="020B0609020000020004" pitchFamily="49" charset="0"/>
                <a:cs typeface="Cascadia Code Light" panose="020B0609020000020004" pitchFamily="49" charset="0"/>
              </a:rPr>
              <a:t>forward_prop</a:t>
            </a:r>
            <a:r>
              <a:rPr lang="en-US" sz="2000" dirty="0">
                <a:latin typeface="Cascadia Code Light" panose="020B0609020000020004" pitchFamily="49" charset="0"/>
                <a:cs typeface="Cascadia Code Light" panose="020B0609020000020004" pitchFamily="49" charset="0"/>
              </a:rPr>
              <a:t>(X</a:t>
            </a:r>
            <a:r>
              <a:rPr lang="en-US" sz="2000" baseline="30000" dirty="0">
                <a:latin typeface="Cascadia Code Light" panose="020B0609020000020004" pitchFamily="49" charset="0"/>
                <a:cs typeface="Cascadia Code Light" panose="020B0609020000020004" pitchFamily="49" charset="0"/>
              </a:rPr>
              <a:t>{t}</a:t>
            </a:r>
            <a:r>
              <a:rPr lang="en-US" sz="2000" dirty="0">
                <a:latin typeface="Cascadia Code Light" panose="020B0609020000020004" pitchFamily="49" charset="0"/>
                <a:cs typeface="Cascadia Code Light" panose="020B0609020000020004" pitchFamily="49" charset="0"/>
              </a:rPr>
              <a:t>, Y</a:t>
            </a:r>
            <a:r>
              <a:rPr lang="en-US" sz="2000" baseline="30000" dirty="0">
                <a:latin typeface="Cascadia Code Light" panose="020B0609020000020004" pitchFamily="49" charset="0"/>
                <a:cs typeface="Cascadia Code Light" panose="020B0609020000020004" pitchFamily="49" charset="0"/>
              </a:rPr>
              <a:t>{t}</a:t>
            </a:r>
            <a:r>
              <a:rPr lang="en-US" sz="2000" dirty="0">
                <a:latin typeface="Cascadia Code Light" panose="020B0609020000020004" pitchFamily="49" charset="0"/>
                <a:cs typeface="Cascadia Code Light" panose="020B0609020000020004" pitchFamily="49" charset="0"/>
              </a:rPr>
              <a:t>)</a:t>
            </a:r>
          </a:p>
          <a:p>
            <a:pPr marL="12700" lvl="0">
              <a:buSzPts val="3200"/>
            </a:pPr>
            <a:r>
              <a:rPr lang="en-US" sz="2000" dirty="0">
                <a:latin typeface="Cascadia Code Light" panose="020B0609020000020004" pitchFamily="49" charset="0"/>
                <a:cs typeface="Cascadia Code Light" panose="020B0609020000020004" pitchFamily="49" charset="0"/>
              </a:rPr>
              <a:t>		cost = </a:t>
            </a:r>
            <a:r>
              <a:rPr lang="en-US" sz="2000" dirty="0" err="1">
                <a:latin typeface="Cascadia Code Light" panose="020B0609020000020004" pitchFamily="49" charset="0"/>
                <a:cs typeface="Cascadia Code Light" panose="020B0609020000020004" pitchFamily="49" charset="0"/>
              </a:rPr>
              <a:t>compute_cost</a:t>
            </a:r>
            <a:r>
              <a:rPr lang="en-US" sz="2000" dirty="0">
                <a:latin typeface="Cascadia Code Light" panose="020B0609020000020004" pitchFamily="49" charset="0"/>
                <a:cs typeface="Cascadia Code Light" panose="020B0609020000020004" pitchFamily="49" charset="0"/>
              </a:rPr>
              <a:t>(A</a:t>
            </a:r>
            <a:r>
              <a:rPr lang="en-US" sz="2000" baseline="30000" dirty="0">
                <a:latin typeface="Cascadia Code Light" panose="020B0609020000020004" pitchFamily="49" charset="0"/>
                <a:cs typeface="Cascadia Code Light" panose="020B0609020000020004" pitchFamily="49" charset="0"/>
              </a:rPr>
              <a:t>L</a:t>
            </a:r>
            <a:r>
              <a:rPr lang="en-US" sz="2000" dirty="0">
                <a:latin typeface="Cascadia Code Light" panose="020B0609020000020004" pitchFamily="49" charset="0"/>
                <a:cs typeface="Cascadia Code Light" panose="020B0609020000020004" pitchFamily="49" charset="0"/>
              </a:rPr>
              <a:t>, Y</a:t>
            </a:r>
            <a:r>
              <a:rPr lang="en-US" sz="2000" baseline="30000" dirty="0">
                <a:latin typeface="Cascadia Code Light" panose="020B0609020000020004" pitchFamily="49" charset="0"/>
                <a:cs typeface="Cascadia Code Light" panose="020B0609020000020004" pitchFamily="49" charset="0"/>
              </a:rPr>
              <a:t>{t}</a:t>
            </a:r>
            <a:r>
              <a:rPr lang="en-US" sz="2000" dirty="0">
                <a:latin typeface="Cascadia Code Light" panose="020B0609020000020004" pitchFamily="49" charset="0"/>
                <a:cs typeface="Cascadia Code Light" panose="020B0609020000020004" pitchFamily="49" charset="0"/>
              </a:rPr>
              <a:t>)</a:t>
            </a:r>
          </a:p>
          <a:p>
            <a:pPr marL="12700" lvl="0">
              <a:buSzPts val="3200"/>
            </a:pPr>
            <a:r>
              <a:rPr lang="en-US" sz="2000" dirty="0">
                <a:latin typeface="Cascadia Code Light" panose="020B0609020000020004" pitchFamily="49" charset="0"/>
                <a:cs typeface="Cascadia Code Light" panose="020B0609020000020004" pitchFamily="49" charset="0"/>
              </a:rPr>
              <a:t>		grads = </a:t>
            </a:r>
            <a:r>
              <a:rPr lang="en-US" sz="2000" dirty="0" err="1">
                <a:latin typeface="Cascadia Code Light" panose="020B0609020000020004" pitchFamily="49" charset="0"/>
                <a:cs typeface="Cascadia Code Light" panose="020B0609020000020004" pitchFamily="49" charset="0"/>
              </a:rPr>
              <a:t>backward_prop</a:t>
            </a:r>
            <a:r>
              <a:rPr lang="en-US" sz="2000" dirty="0">
                <a:latin typeface="Cascadia Code Light" panose="020B0609020000020004" pitchFamily="49" charset="0"/>
                <a:cs typeface="Cascadia Code Light" panose="020B0609020000020004" pitchFamily="49" charset="0"/>
              </a:rPr>
              <a:t>(A</a:t>
            </a:r>
            <a:r>
              <a:rPr lang="en-US" sz="2000" baseline="30000" dirty="0">
                <a:latin typeface="Cascadia Code Light" panose="020B0609020000020004" pitchFamily="49" charset="0"/>
                <a:cs typeface="Cascadia Code Light" panose="020B0609020000020004" pitchFamily="49" charset="0"/>
              </a:rPr>
              <a:t>L</a:t>
            </a:r>
            <a:r>
              <a:rPr lang="en-US" sz="2000" dirty="0">
                <a:latin typeface="Cascadia Code Light" panose="020B0609020000020004" pitchFamily="49" charset="0"/>
                <a:cs typeface="Cascadia Code Light" panose="020B0609020000020004" pitchFamily="49" charset="0"/>
              </a:rPr>
              <a:t>, caches)</a:t>
            </a:r>
          </a:p>
          <a:p>
            <a:pPr marL="12700" lvl="0">
              <a:buSzPts val="3200"/>
            </a:pPr>
            <a:r>
              <a:rPr lang="en-US" sz="2000" dirty="0">
                <a:latin typeface="Cascadia Code Light" panose="020B0609020000020004" pitchFamily="49" charset="0"/>
                <a:cs typeface="Cascadia Code Light" panose="020B0609020000020004" pitchFamily="49" charset="0"/>
              </a:rPr>
              <a:t>		</a:t>
            </a:r>
            <a:r>
              <a:rPr lang="en-US" sz="2000" dirty="0" err="1">
                <a:latin typeface="Cascadia Code Light" panose="020B0609020000020004" pitchFamily="49" charset="0"/>
                <a:cs typeface="Cascadia Code Light" panose="020B0609020000020004" pitchFamily="49" charset="0"/>
              </a:rPr>
              <a:t>update_parameters</a:t>
            </a:r>
            <a:r>
              <a:rPr lang="en-US" sz="2000" dirty="0">
                <a:latin typeface="Cascadia Code Light" panose="020B0609020000020004" pitchFamily="49" charset="0"/>
                <a:cs typeface="Cascadia Code Light" panose="020B0609020000020004" pitchFamily="49" charset="0"/>
              </a:rPr>
              <a:t>(grads</a:t>
            </a:r>
            <a:r>
              <a:rPr lang="en-US" sz="2000" dirty="0" smtClean="0">
                <a:latin typeface="Cascadia Code Light" panose="020B0609020000020004" pitchFamily="49" charset="0"/>
                <a:cs typeface="Cascadia Code Light" panose="020B0609020000020004" pitchFamily="49" charset="0"/>
              </a:rPr>
              <a:t>)</a:t>
            </a:r>
          </a:p>
          <a:p>
            <a:pPr marL="355600" lvl="0" indent="-342900">
              <a:buSzPts val="3200"/>
              <a:buFont typeface="Arial" panose="020B0604020202020204" pitchFamily="34" charset="0"/>
              <a:buChar char="•"/>
            </a:pPr>
            <a:r>
              <a:rPr lang="en-US" sz="2400" dirty="0"/>
              <a:t>The code inside an epoch should be </a:t>
            </a:r>
            <a:r>
              <a:rPr lang="en-US" sz="2400" dirty="0" err="1"/>
              <a:t>vectorized</a:t>
            </a:r>
            <a:r>
              <a:rPr lang="en-US" sz="2400" dirty="0" smtClean="0"/>
              <a:t>.</a:t>
            </a:r>
            <a:endParaRPr lang="en-US" sz="2400" dirty="0"/>
          </a:p>
        </p:txBody>
      </p:sp>
      <p:sp>
        <p:nvSpPr>
          <p:cNvPr id="123" name="Google Shape;123;p40"/>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4" name="Google Shape;124;p4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25" name="Google Shape;125;p40"/>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10</a:t>
            </a:fld>
            <a:endParaRPr/>
          </a:p>
        </p:txBody>
      </p:sp>
    </p:spTree>
    <p:extLst>
      <p:ext uri="{BB962C8B-B14F-4D97-AF65-F5344CB8AC3E}">
        <p14:creationId xmlns:p14="http://schemas.microsoft.com/office/powerpoint/2010/main" val="3694717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20"/>
        <p:cNvGrpSpPr/>
        <p:nvPr/>
      </p:nvGrpSpPr>
      <p:grpSpPr>
        <a:xfrm>
          <a:off x="0" y="0"/>
          <a:ext cx="0" cy="0"/>
          <a:chOff x="0" y="0"/>
          <a:chExt cx="0" cy="0"/>
        </a:xfrm>
      </p:grpSpPr>
      <p:sp>
        <p:nvSpPr>
          <p:cNvPr id="121" name="Google Shape;121;p40"/>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123" name="Google Shape;123;p40"/>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4" name="Google Shape;124;p4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25" name="Google Shape;125;p40"/>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11</a:t>
            </a:fld>
            <a:endParaRPr/>
          </a:p>
        </p:txBody>
      </p:sp>
      <mc:AlternateContent xmlns:mc="http://schemas.openxmlformats.org/markup-compatibility/2006" xmlns:a14="http://schemas.microsoft.com/office/drawing/2010/main">
        <mc:Choice Requires="a14">
          <p:sp>
            <p:nvSpPr>
              <p:cNvPr id="122" name="Google Shape;122;p40"/>
              <p:cNvSpPr txBox="1"/>
              <p:nvPr/>
            </p:nvSpPr>
            <p:spPr>
              <a:xfrm>
                <a:off x="261620" y="1362553"/>
                <a:ext cx="11804650" cy="3874522"/>
              </a:xfrm>
              <a:prstGeom prst="rect">
                <a:avLst/>
              </a:prstGeom>
              <a:noFill/>
              <a:ln>
                <a:noFill/>
              </a:ln>
            </p:spPr>
            <p:txBody>
              <a:bodyPr spcFirstLastPara="1" wrap="square" lIns="0" tIns="12700" rIns="0" bIns="0" anchor="t" anchorCtr="0">
                <a:spAutoFit/>
              </a:bodyPr>
              <a:lstStyle/>
              <a:p>
                <a:pPr marL="355600" lvl="0" indent="-342900">
                  <a:buSzPts val="3200"/>
                  <a:buFont typeface="Arial" panose="020B0604020202020204" pitchFamily="34" charset="0"/>
                  <a:buChar char="•"/>
                </a:pPr>
                <a:r>
                  <a:rPr lang="en-US" sz="2400" dirty="0" smtClean="0"/>
                  <a:t>If </a:t>
                </a:r>
                <a:r>
                  <a:rPr lang="en-US" sz="2400" dirty="0"/>
                  <a:t>you have 5 million training samples total and each of these little mini batches has a thousand examples, that means you have 5,000 mini-batches</a:t>
                </a:r>
                <a:r>
                  <a:rPr lang="en-US" sz="2400" dirty="0" smtClean="0"/>
                  <a:t>.</a:t>
                </a:r>
              </a:p>
              <a:p>
                <a:pPr marL="12700" lvl="0">
                  <a:buSzPts val="3200"/>
                </a:pPr>
                <a:r>
                  <a:rPr lang="en-US" sz="2400" dirty="0"/>
                  <a:t>	</a:t>
                </a:r>
                <a:r>
                  <a:rPr lang="en-US" sz="2400" dirty="0" smtClean="0"/>
                  <a:t>X = [</a:t>
                </a:r>
                <a14:m>
                  <m:oMath xmlns:m="http://schemas.openxmlformats.org/officeDocument/2006/math">
                    <m:groupChr>
                      <m:groupChrPr>
                        <m:chr m:val="⏟"/>
                        <m:ctrlPr>
                          <a:rPr lang="en-US" sz="2400" i="1">
                            <a:latin typeface="Cambria Math" panose="02040503050406030204" pitchFamily="18" charset="0"/>
                          </a:rPr>
                        </m:ctrlPr>
                      </m:groupChrPr>
                      <m:e>
                        <m:r>
                          <m:rPr>
                            <m:nor/>
                          </m:rPr>
                          <a:rPr lang="en-US" sz="2400" dirty="0"/>
                          <m:t>x</m:t>
                        </m:r>
                        <m:r>
                          <m:rPr>
                            <m:nor/>
                          </m:rPr>
                          <a:rPr lang="en-US" sz="2400" baseline="30000" dirty="0"/>
                          <m:t>(1)</m:t>
                        </m:r>
                        <m:r>
                          <m:rPr>
                            <m:nor/>
                          </m:rPr>
                          <a:rPr lang="en-US" sz="2400" dirty="0"/>
                          <m:t> , </m:t>
                        </m:r>
                        <m:r>
                          <m:rPr>
                            <m:nor/>
                          </m:rPr>
                          <a:rPr lang="en-US" sz="2400" dirty="0"/>
                          <m:t>x</m:t>
                        </m:r>
                        <m:r>
                          <m:rPr>
                            <m:nor/>
                          </m:rPr>
                          <a:rPr lang="en-US" sz="2400" baseline="30000" dirty="0"/>
                          <m:t>(2)</m:t>
                        </m:r>
                        <m:r>
                          <m:rPr>
                            <m:nor/>
                          </m:rPr>
                          <a:rPr lang="en-US" sz="2400" dirty="0"/>
                          <m:t> , </m:t>
                        </m:r>
                        <m:r>
                          <m:rPr>
                            <m:nor/>
                          </m:rPr>
                          <a:rPr lang="en-US" sz="2400" dirty="0"/>
                          <m:t>x</m:t>
                        </m:r>
                        <m:r>
                          <m:rPr>
                            <m:nor/>
                          </m:rPr>
                          <a:rPr lang="en-US" sz="2400" baseline="30000" dirty="0"/>
                          <m:t>(3)</m:t>
                        </m:r>
                        <m:r>
                          <m:rPr>
                            <m:nor/>
                          </m:rPr>
                          <a:rPr lang="en-US" sz="2400" dirty="0"/>
                          <m:t> , …, </m:t>
                        </m:r>
                        <m:r>
                          <m:rPr>
                            <m:nor/>
                          </m:rPr>
                          <a:rPr lang="en-US" sz="2400" dirty="0"/>
                          <m:t>x</m:t>
                        </m:r>
                        <m:r>
                          <m:rPr>
                            <m:nor/>
                          </m:rPr>
                          <a:rPr lang="en-US" sz="2400" baseline="30000" dirty="0"/>
                          <m:t>(1,000)</m:t>
                        </m:r>
                      </m:e>
                    </m:groupChr>
                  </m:oMath>
                </a14:m>
                <a:r>
                  <a:rPr lang="en-US" sz="2400" dirty="0" smtClean="0"/>
                  <a:t>, </a:t>
                </a:r>
                <a14:m>
                  <m:oMath xmlns:m="http://schemas.openxmlformats.org/officeDocument/2006/math">
                    <m:groupChr>
                      <m:groupChrPr>
                        <m:chr m:val="⏟"/>
                        <m:ctrlPr>
                          <a:rPr lang="en-US" sz="2400" i="1">
                            <a:latin typeface="Cambria Math" panose="02040503050406030204" pitchFamily="18" charset="0"/>
                          </a:rPr>
                        </m:ctrlPr>
                      </m:groupChrPr>
                      <m:e>
                        <m:r>
                          <m:rPr>
                            <m:nor/>
                          </m:rPr>
                          <a:rPr lang="en-US" sz="2400" dirty="0"/>
                          <m:t>x</m:t>
                        </m:r>
                        <m:r>
                          <m:rPr>
                            <m:nor/>
                          </m:rPr>
                          <a:rPr lang="en-US" sz="2400" baseline="30000" dirty="0"/>
                          <m:t>(1</m:t>
                        </m:r>
                        <m:r>
                          <m:rPr>
                            <m:nor/>
                          </m:rPr>
                          <a:rPr lang="en-US" sz="2400" b="0" i="0" baseline="30000" dirty="0" smtClean="0"/>
                          <m:t>,001</m:t>
                        </m:r>
                        <m:r>
                          <m:rPr>
                            <m:nor/>
                          </m:rPr>
                          <a:rPr lang="en-US" sz="2400" baseline="30000" dirty="0"/>
                          <m:t>)</m:t>
                        </m:r>
                        <m:r>
                          <m:rPr>
                            <m:nor/>
                          </m:rPr>
                          <a:rPr lang="en-US" sz="2400" dirty="0"/>
                          <m:t> , …, </m:t>
                        </m:r>
                        <m:r>
                          <m:rPr>
                            <m:nor/>
                          </m:rPr>
                          <a:rPr lang="en-US" sz="2400" dirty="0"/>
                          <m:t>x</m:t>
                        </m:r>
                        <m:r>
                          <m:rPr>
                            <m:nor/>
                          </m:rPr>
                          <a:rPr lang="en-US" sz="2400" baseline="30000" dirty="0"/>
                          <m:t>(</m:t>
                        </m:r>
                        <m:r>
                          <m:rPr>
                            <m:nor/>
                          </m:rPr>
                          <a:rPr lang="en-US" sz="2400" b="0" i="0" baseline="30000" dirty="0" smtClean="0"/>
                          <m:t>2</m:t>
                        </m:r>
                        <m:r>
                          <m:rPr>
                            <m:nor/>
                          </m:rPr>
                          <a:rPr lang="en-US" sz="2400" baseline="30000" dirty="0"/>
                          <m:t>,000)</m:t>
                        </m:r>
                      </m:e>
                    </m:groupChr>
                  </m:oMath>
                </a14:m>
                <a:r>
                  <a:rPr lang="en-US" sz="2400" dirty="0" smtClean="0"/>
                  <a:t> , …, </a:t>
                </a:r>
                <a14:m>
                  <m:oMath xmlns:m="http://schemas.openxmlformats.org/officeDocument/2006/math">
                    <m:groupChr>
                      <m:groupChrPr>
                        <m:chr m:val="⏟"/>
                        <m:ctrlPr>
                          <a:rPr lang="en-US" sz="2400" i="1">
                            <a:latin typeface="Cambria Math" panose="02040503050406030204" pitchFamily="18" charset="0"/>
                          </a:rPr>
                        </m:ctrlPr>
                      </m:groupChrPr>
                      <m:e>
                        <m:r>
                          <m:rPr>
                            <m:nor/>
                          </m:rPr>
                          <a:rPr lang="en-US" sz="2400" dirty="0"/>
                          <m:t>x</m:t>
                        </m:r>
                        <m:r>
                          <m:rPr>
                            <m:nor/>
                          </m:rPr>
                          <a:rPr lang="en-US" sz="2400" baseline="30000" dirty="0"/>
                          <m:t>(4,999,000)</m:t>
                        </m:r>
                        <m:r>
                          <m:rPr>
                            <m:nor/>
                          </m:rPr>
                          <a:rPr lang="en-US" sz="2400" dirty="0"/>
                          <m:t> ,…,</m:t>
                        </m:r>
                        <m:r>
                          <m:rPr>
                            <m:nor/>
                          </m:rPr>
                          <a:rPr lang="en-US" sz="2400" baseline="30000" dirty="0"/>
                          <m:t> </m:t>
                        </m:r>
                        <m:r>
                          <m:rPr>
                            <m:nor/>
                          </m:rPr>
                          <a:rPr lang="en-US" sz="2400" dirty="0"/>
                          <m:t>x</m:t>
                        </m:r>
                        <m:r>
                          <m:rPr>
                            <m:nor/>
                          </m:rPr>
                          <a:rPr lang="en-US" sz="2400" baseline="30000" dirty="0"/>
                          <m:t>(5,000,000)</m:t>
                        </m:r>
                      </m:e>
                    </m:groupChr>
                  </m:oMath>
                </a14:m>
                <a:r>
                  <a:rPr lang="en-US" sz="2400" dirty="0" smtClean="0"/>
                  <a:t> ]</a:t>
                </a:r>
              </a:p>
              <a:p>
                <a:pPr marL="12700" lvl="0">
                  <a:buSzPts val="3200"/>
                </a:pPr>
                <a:r>
                  <a:rPr lang="en-US" sz="2400" dirty="0" smtClean="0"/>
                  <a:t>			 X</a:t>
                </a:r>
                <a:r>
                  <a:rPr lang="en-US" sz="2400" baseline="30000" dirty="0" smtClean="0"/>
                  <a:t>{1}</a:t>
                </a:r>
                <a:r>
                  <a:rPr lang="en-US" sz="2400" dirty="0" smtClean="0"/>
                  <a:t>                               X</a:t>
                </a:r>
                <a:r>
                  <a:rPr lang="en-US" sz="2400" baseline="30000" dirty="0" smtClean="0"/>
                  <a:t>{2}</a:t>
                </a:r>
                <a:r>
                  <a:rPr lang="en-US" sz="2400" dirty="0" smtClean="0"/>
                  <a:t>              …                 X</a:t>
                </a:r>
                <a:r>
                  <a:rPr lang="en-US" sz="2400" baseline="30000" dirty="0" smtClean="0"/>
                  <a:t>{5,000}</a:t>
                </a:r>
                <a:r>
                  <a:rPr lang="en-US" sz="2400" dirty="0" smtClean="0"/>
                  <a:t> 	</a:t>
                </a:r>
              </a:p>
              <a:p>
                <a:pPr marL="12700" lvl="0">
                  <a:buSzPts val="3200"/>
                </a:pPr>
                <a:endParaRPr lang="en-US" sz="2400" dirty="0" smtClean="0"/>
              </a:p>
              <a:p>
                <a:pPr marL="12700" lvl="0">
                  <a:buSzPts val="3200"/>
                </a:pPr>
                <a:r>
                  <a:rPr lang="en-US" sz="2400" dirty="0"/>
                  <a:t>	Y</a:t>
                </a:r>
                <a:r>
                  <a:rPr lang="en-US" sz="2400" dirty="0" smtClean="0"/>
                  <a:t> </a:t>
                </a:r>
                <a:r>
                  <a:rPr lang="en-US" sz="2400" dirty="0"/>
                  <a:t>= [</a:t>
                </a:r>
                <a14:m>
                  <m:oMath xmlns:m="http://schemas.openxmlformats.org/officeDocument/2006/math">
                    <m:groupChr>
                      <m:groupChrPr>
                        <m:chr m:val="⏟"/>
                        <m:ctrlPr>
                          <a:rPr lang="en-US" sz="2400" i="1">
                            <a:latin typeface="Cambria Math" panose="02040503050406030204" pitchFamily="18" charset="0"/>
                          </a:rPr>
                        </m:ctrlPr>
                      </m:groupChrPr>
                      <m:e>
                        <m:r>
                          <m:rPr>
                            <m:nor/>
                          </m:rPr>
                          <a:rPr lang="en-US" sz="2400" b="0" i="0" smtClean="0">
                            <a:latin typeface="Cambria Math" panose="02040503050406030204" pitchFamily="18" charset="0"/>
                          </a:rPr>
                          <m:t>y</m:t>
                        </m:r>
                        <m:r>
                          <m:rPr>
                            <m:nor/>
                          </m:rPr>
                          <a:rPr lang="en-US" sz="2400" baseline="30000" dirty="0"/>
                          <m:t>(1)</m:t>
                        </m:r>
                        <m:r>
                          <m:rPr>
                            <m:nor/>
                          </m:rPr>
                          <a:rPr lang="en-US" sz="2400" dirty="0"/>
                          <m:t> , </m:t>
                        </m:r>
                        <m:r>
                          <m:rPr>
                            <m:nor/>
                          </m:rPr>
                          <a:rPr lang="en-US" sz="2400" b="0" i="0" dirty="0" smtClean="0"/>
                          <m:t>y</m:t>
                        </m:r>
                        <m:r>
                          <m:rPr>
                            <m:nor/>
                          </m:rPr>
                          <a:rPr lang="en-US" sz="2400" baseline="30000" dirty="0"/>
                          <m:t>(2)</m:t>
                        </m:r>
                        <m:r>
                          <m:rPr>
                            <m:nor/>
                          </m:rPr>
                          <a:rPr lang="en-US" sz="2400" dirty="0"/>
                          <m:t> , </m:t>
                        </m:r>
                        <m:r>
                          <m:rPr>
                            <m:nor/>
                          </m:rPr>
                          <a:rPr lang="en-US" sz="2400" b="0" i="0" dirty="0" smtClean="0"/>
                          <m:t>y</m:t>
                        </m:r>
                        <m:r>
                          <m:rPr>
                            <m:nor/>
                          </m:rPr>
                          <a:rPr lang="en-US" sz="2400" baseline="30000" dirty="0"/>
                          <m:t>(3)</m:t>
                        </m:r>
                        <m:r>
                          <m:rPr>
                            <m:nor/>
                          </m:rPr>
                          <a:rPr lang="en-US" sz="2400" dirty="0"/>
                          <m:t> , …, </m:t>
                        </m:r>
                        <m:r>
                          <m:rPr>
                            <m:nor/>
                          </m:rPr>
                          <a:rPr lang="en-US" sz="2400" b="0" i="0" dirty="0" smtClean="0"/>
                          <m:t>y</m:t>
                        </m:r>
                        <m:r>
                          <m:rPr>
                            <m:nor/>
                          </m:rPr>
                          <a:rPr lang="en-US" sz="2400" baseline="30000" dirty="0"/>
                          <m:t>(1,000)</m:t>
                        </m:r>
                      </m:e>
                    </m:groupChr>
                  </m:oMath>
                </a14:m>
                <a:r>
                  <a:rPr lang="en-US" sz="2400" dirty="0"/>
                  <a:t>, </a:t>
                </a:r>
                <a14:m>
                  <m:oMath xmlns:m="http://schemas.openxmlformats.org/officeDocument/2006/math">
                    <m:groupChr>
                      <m:groupChrPr>
                        <m:chr m:val="⏟"/>
                        <m:ctrlPr>
                          <a:rPr lang="en-US" sz="2400" i="1">
                            <a:latin typeface="Cambria Math" panose="02040503050406030204" pitchFamily="18" charset="0"/>
                          </a:rPr>
                        </m:ctrlPr>
                      </m:groupChrPr>
                      <m:e>
                        <m:r>
                          <m:rPr>
                            <m:nor/>
                          </m:rPr>
                          <a:rPr lang="en-US" sz="2400" b="0" i="0" smtClean="0">
                            <a:latin typeface="Cambria Math" panose="02040503050406030204" pitchFamily="18" charset="0"/>
                          </a:rPr>
                          <m:t>y</m:t>
                        </m:r>
                        <m:r>
                          <m:rPr>
                            <m:nor/>
                          </m:rPr>
                          <a:rPr lang="en-US" sz="2400" baseline="30000" dirty="0"/>
                          <m:t>(1,001)</m:t>
                        </m:r>
                        <m:r>
                          <m:rPr>
                            <m:nor/>
                          </m:rPr>
                          <a:rPr lang="en-US" sz="2400" dirty="0"/>
                          <m:t> , …, </m:t>
                        </m:r>
                        <m:r>
                          <m:rPr>
                            <m:nor/>
                          </m:rPr>
                          <a:rPr lang="en-US" sz="2400" b="0" i="0" dirty="0" smtClean="0"/>
                          <m:t>y</m:t>
                        </m:r>
                        <m:r>
                          <m:rPr>
                            <m:nor/>
                          </m:rPr>
                          <a:rPr lang="en-US" sz="2400" baseline="30000" dirty="0"/>
                          <m:t>(2,000)</m:t>
                        </m:r>
                      </m:e>
                    </m:groupChr>
                  </m:oMath>
                </a14:m>
                <a:r>
                  <a:rPr lang="en-US" sz="2400" dirty="0"/>
                  <a:t> , …, </a:t>
                </a:r>
                <a14:m>
                  <m:oMath xmlns:m="http://schemas.openxmlformats.org/officeDocument/2006/math">
                    <m:groupChr>
                      <m:groupChrPr>
                        <m:chr m:val="⏟"/>
                        <m:ctrlPr>
                          <a:rPr lang="en-US" sz="2400" i="1">
                            <a:latin typeface="Cambria Math" panose="02040503050406030204" pitchFamily="18" charset="0"/>
                          </a:rPr>
                        </m:ctrlPr>
                      </m:groupChrPr>
                      <m:e>
                        <m:r>
                          <m:rPr>
                            <m:nor/>
                          </m:rPr>
                          <a:rPr lang="en-US" sz="2400" b="0" i="0" smtClean="0">
                            <a:latin typeface="Cambria Math" panose="02040503050406030204" pitchFamily="18" charset="0"/>
                          </a:rPr>
                          <m:t>y</m:t>
                        </m:r>
                        <m:r>
                          <m:rPr>
                            <m:nor/>
                          </m:rPr>
                          <a:rPr lang="en-US" sz="2400" baseline="30000" dirty="0"/>
                          <m:t>(4,999,000)</m:t>
                        </m:r>
                        <m:r>
                          <m:rPr>
                            <m:nor/>
                          </m:rPr>
                          <a:rPr lang="en-US" sz="2400" dirty="0"/>
                          <m:t> ,…,</m:t>
                        </m:r>
                        <m:r>
                          <m:rPr>
                            <m:nor/>
                          </m:rPr>
                          <a:rPr lang="en-US" sz="2400" baseline="30000" dirty="0"/>
                          <m:t> </m:t>
                        </m:r>
                        <m:r>
                          <m:rPr>
                            <m:nor/>
                          </m:rPr>
                          <a:rPr lang="en-US" sz="2400" b="0" i="0" baseline="30000" dirty="0" smtClean="0"/>
                          <m:t>y</m:t>
                        </m:r>
                        <m:r>
                          <m:rPr>
                            <m:nor/>
                          </m:rPr>
                          <a:rPr lang="en-US" sz="2400" baseline="30000" dirty="0"/>
                          <m:t>(5,000,000)</m:t>
                        </m:r>
                      </m:e>
                    </m:groupChr>
                  </m:oMath>
                </a14:m>
                <a:r>
                  <a:rPr lang="en-US" sz="2400" dirty="0"/>
                  <a:t> ]</a:t>
                </a:r>
              </a:p>
              <a:p>
                <a:pPr marL="12700" lvl="0">
                  <a:buSzPts val="3200"/>
                </a:pPr>
                <a:r>
                  <a:rPr lang="en-US" sz="2400" dirty="0"/>
                  <a:t>			 </a:t>
                </a:r>
                <a:r>
                  <a:rPr lang="en-US" sz="2400" dirty="0" smtClean="0"/>
                  <a:t>Y</a:t>
                </a:r>
                <a:r>
                  <a:rPr lang="en-US" sz="2400" baseline="30000" dirty="0" smtClean="0"/>
                  <a:t>{1</a:t>
                </a:r>
                <a:r>
                  <a:rPr lang="en-US" sz="2400" baseline="30000" dirty="0"/>
                  <a:t>}</a:t>
                </a:r>
                <a:r>
                  <a:rPr lang="en-US" sz="2400" dirty="0"/>
                  <a:t>                               </a:t>
                </a:r>
                <a:r>
                  <a:rPr lang="en-US" sz="2400" dirty="0" smtClean="0"/>
                  <a:t>Y</a:t>
                </a:r>
                <a:r>
                  <a:rPr lang="en-US" sz="2400" baseline="30000" dirty="0" smtClean="0"/>
                  <a:t>{2</a:t>
                </a:r>
                <a:r>
                  <a:rPr lang="en-US" sz="2400" baseline="30000" dirty="0"/>
                  <a:t>}</a:t>
                </a:r>
                <a:r>
                  <a:rPr lang="en-US" sz="2400" dirty="0"/>
                  <a:t>              …                 </a:t>
                </a:r>
                <a:r>
                  <a:rPr lang="en-US" sz="2400" dirty="0" smtClean="0"/>
                  <a:t>Y</a:t>
                </a:r>
                <a:r>
                  <a:rPr lang="en-US" sz="2400" baseline="30000" dirty="0" smtClean="0"/>
                  <a:t>{5,000</a:t>
                </a:r>
                <a:r>
                  <a:rPr lang="en-US" sz="2400" baseline="30000" dirty="0"/>
                  <a:t>}</a:t>
                </a:r>
                <a:r>
                  <a:rPr lang="en-US" sz="2400" dirty="0"/>
                  <a:t> 	</a:t>
                </a:r>
              </a:p>
              <a:p>
                <a:pPr marL="12700" lvl="0">
                  <a:buSzPts val="3200"/>
                </a:pPr>
                <a:endParaRPr lang="en-US" sz="2400" dirty="0"/>
              </a:p>
              <a:p>
                <a:pPr marL="12700" lvl="0">
                  <a:buSzPts val="3200"/>
                </a:pPr>
                <a:endParaRPr lang="en-US" sz="2400" dirty="0" smtClean="0"/>
              </a:p>
              <a:p>
                <a:pPr marL="12700" lvl="0">
                  <a:buSzPts val="3200"/>
                </a:pPr>
                <a:endParaRPr lang="en-US" sz="2400" dirty="0" smtClean="0"/>
              </a:p>
            </p:txBody>
          </p:sp>
        </mc:Choice>
        <mc:Fallback xmlns="">
          <p:sp>
            <p:nvSpPr>
              <p:cNvPr id="122" name="Google Shape;122;p40"/>
              <p:cNvSpPr txBox="1">
                <a:spLocks noRot="1" noChangeAspect="1" noMove="1" noResize="1" noEditPoints="1" noAdjustHandles="1" noChangeArrowheads="1" noChangeShapeType="1" noTextEdit="1"/>
              </p:cNvSpPr>
              <p:nvPr/>
            </p:nvSpPr>
            <p:spPr>
              <a:xfrm>
                <a:off x="261620" y="1362553"/>
                <a:ext cx="11804650" cy="3874522"/>
              </a:xfrm>
              <a:prstGeom prst="rect">
                <a:avLst/>
              </a:prstGeom>
              <a:blipFill>
                <a:blip r:embed="rId4"/>
                <a:stretch>
                  <a:fillRect l="-1860" t="-4724" r="-2066"/>
                </a:stretch>
              </a:blipFill>
              <a:ln>
                <a:noFill/>
              </a:ln>
            </p:spPr>
            <p:txBody>
              <a:bodyPr/>
              <a:lstStyle/>
              <a:p>
                <a:r>
                  <a:rPr lang="en-US">
                    <a:noFill/>
                  </a:rPr>
                  <a:t> </a:t>
                </a:r>
              </a:p>
            </p:txBody>
          </p:sp>
        </mc:Fallback>
      </mc:AlternateContent>
      <p:sp>
        <p:nvSpPr>
          <p:cNvPr id="2" name="Rectangle 1"/>
          <p:cNvSpPr/>
          <p:nvPr/>
        </p:nvSpPr>
        <p:spPr>
          <a:xfrm>
            <a:off x="852853" y="2444262"/>
            <a:ext cx="800101" cy="272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n</a:t>
            </a:r>
            <a:r>
              <a:rPr lang="en-US" baseline="-25000" dirty="0" err="1" smtClean="0">
                <a:solidFill>
                  <a:schemeClr val="tx1"/>
                </a:solidFill>
              </a:rPr>
              <a:t>x</a:t>
            </a:r>
            <a:r>
              <a:rPr lang="en-US" dirty="0" smtClean="0">
                <a:solidFill>
                  <a:schemeClr val="tx1"/>
                </a:solidFill>
              </a:rPr>
              <a:t> , m)</a:t>
            </a:r>
            <a:endParaRPr lang="en-US" dirty="0">
              <a:solidFill>
                <a:schemeClr val="tx1"/>
              </a:solidFill>
            </a:endParaRPr>
          </a:p>
        </p:txBody>
      </p:sp>
      <p:sp>
        <p:nvSpPr>
          <p:cNvPr id="8" name="Rectangle 7"/>
          <p:cNvSpPr/>
          <p:nvPr/>
        </p:nvSpPr>
        <p:spPr>
          <a:xfrm>
            <a:off x="917152" y="3568106"/>
            <a:ext cx="800101" cy="272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(1, m)</a:t>
            </a:r>
            <a:endParaRPr lang="en-US" dirty="0">
              <a:solidFill>
                <a:schemeClr val="tx1"/>
              </a:solidFill>
            </a:endParaRPr>
          </a:p>
        </p:txBody>
      </p:sp>
      <p:sp>
        <p:nvSpPr>
          <p:cNvPr id="9" name="Rectangle 8"/>
          <p:cNvSpPr/>
          <p:nvPr/>
        </p:nvSpPr>
        <p:spPr>
          <a:xfrm>
            <a:off x="3458307" y="2716824"/>
            <a:ext cx="1043355" cy="272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n</a:t>
            </a:r>
            <a:r>
              <a:rPr lang="en-US" baseline="-25000" dirty="0" err="1" smtClean="0">
                <a:solidFill>
                  <a:schemeClr val="tx1"/>
                </a:solidFill>
              </a:rPr>
              <a:t>x</a:t>
            </a:r>
            <a:r>
              <a:rPr lang="en-US" dirty="0" smtClean="0">
                <a:solidFill>
                  <a:schemeClr val="tx1"/>
                </a:solidFill>
              </a:rPr>
              <a:t> , 1000)</a:t>
            </a:r>
            <a:endParaRPr lang="en-US" dirty="0">
              <a:solidFill>
                <a:schemeClr val="tx1"/>
              </a:solidFill>
            </a:endParaRPr>
          </a:p>
        </p:txBody>
      </p:sp>
      <p:sp>
        <p:nvSpPr>
          <p:cNvPr id="10" name="Rectangle 9"/>
          <p:cNvSpPr/>
          <p:nvPr/>
        </p:nvSpPr>
        <p:spPr>
          <a:xfrm>
            <a:off x="6561991" y="2721221"/>
            <a:ext cx="1008186" cy="272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n</a:t>
            </a:r>
            <a:r>
              <a:rPr lang="en-US" baseline="-25000" dirty="0" err="1" smtClean="0">
                <a:solidFill>
                  <a:schemeClr val="tx1"/>
                </a:solidFill>
              </a:rPr>
              <a:t>x</a:t>
            </a:r>
            <a:r>
              <a:rPr lang="en-US" dirty="0" smtClean="0">
                <a:solidFill>
                  <a:schemeClr val="tx1"/>
                </a:solidFill>
              </a:rPr>
              <a:t> , 1000)</a:t>
            </a:r>
            <a:endParaRPr lang="en-US" dirty="0">
              <a:solidFill>
                <a:schemeClr val="tx1"/>
              </a:solidFill>
            </a:endParaRPr>
          </a:p>
        </p:txBody>
      </p:sp>
      <p:sp>
        <p:nvSpPr>
          <p:cNvPr id="11" name="Rectangle 10"/>
          <p:cNvSpPr/>
          <p:nvPr/>
        </p:nvSpPr>
        <p:spPr>
          <a:xfrm>
            <a:off x="10334422" y="2705617"/>
            <a:ext cx="1007655" cy="272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n</a:t>
            </a:r>
            <a:r>
              <a:rPr lang="en-US" baseline="-25000" dirty="0" err="1" smtClean="0">
                <a:solidFill>
                  <a:schemeClr val="tx1"/>
                </a:solidFill>
              </a:rPr>
              <a:t>x</a:t>
            </a:r>
            <a:r>
              <a:rPr lang="en-US" dirty="0" smtClean="0">
                <a:solidFill>
                  <a:schemeClr val="tx1"/>
                </a:solidFill>
              </a:rPr>
              <a:t> , 1000)</a:t>
            </a:r>
            <a:endParaRPr lang="en-US" dirty="0">
              <a:solidFill>
                <a:schemeClr val="tx1"/>
              </a:solidFill>
            </a:endParaRPr>
          </a:p>
        </p:txBody>
      </p:sp>
      <p:sp>
        <p:nvSpPr>
          <p:cNvPr id="12" name="Rectangle 11"/>
          <p:cNvSpPr/>
          <p:nvPr/>
        </p:nvSpPr>
        <p:spPr>
          <a:xfrm>
            <a:off x="3458306" y="3976949"/>
            <a:ext cx="1043355" cy="272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a:solidFill>
                  <a:schemeClr val="tx1"/>
                </a:solidFill>
              </a:rPr>
              <a:t>1</a:t>
            </a:r>
            <a:r>
              <a:rPr lang="en-US" dirty="0" smtClean="0">
                <a:solidFill>
                  <a:schemeClr val="tx1"/>
                </a:solidFill>
              </a:rPr>
              <a:t> , 1000)</a:t>
            </a:r>
            <a:endParaRPr lang="en-US" dirty="0">
              <a:solidFill>
                <a:schemeClr val="tx1"/>
              </a:solidFill>
            </a:endParaRPr>
          </a:p>
        </p:txBody>
      </p:sp>
      <p:sp>
        <p:nvSpPr>
          <p:cNvPr id="14" name="Rectangle 13"/>
          <p:cNvSpPr/>
          <p:nvPr/>
        </p:nvSpPr>
        <p:spPr>
          <a:xfrm>
            <a:off x="6526822" y="4018600"/>
            <a:ext cx="1043355" cy="272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a:solidFill>
                  <a:schemeClr val="tx1"/>
                </a:solidFill>
              </a:rPr>
              <a:t>1</a:t>
            </a:r>
            <a:r>
              <a:rPr lang="en-US" dirty="0" smtClean="0">
                <a:solidFill>
                  <a:schemeClr val="tx1"/>
                </a:solidFill>
              </a:rPr>
              <a:t> , 1000)</a:t>
            </a:r>
            <a:endParaRPr lang="en-US" dirty="0">
              <a:solidFill>
                <a:schemeClr val="tx1"/>
              </a:solidFill>
            </a:endParaRPr>
          </a:p>
        </p:txBody>
      </p:sp>
      <p:sp>
        <p:nvSpPr>
          <p:cNvPr id="15" name="Rectangle 14"/>
          <p:cNvSpPr/>
          <p:nvPr/>
        </p:nvSpPr>
        <p:spPr>
          <a:xfrm>
            <a:off x="10298722" y="4048681"/>
            <a:ext cx="1043355" cy="272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a:solidFill>
                  <a:schemeClr val="tx1"/>
                </a:solidFill>
              </a:rPr>
              <a:t>1</a:t>
            </a:r>
            <a:r>
              <a:rPr lang="en-US" dirty="0" smtClean="0">
                <a:solidFill>
                  <a:schemeClr val="tx1"/>
                </a:solidFill>
              </a:rPr>
              <a:t> , 1000)</a:t>
            </a:r>
            <a:endParaRPr lang="en-US" dirty="0">
              <a:solidFill>
                <a:schemeClr val="tx1"/>
              </a:solidFill>
            </a:endParaRPr>
          </a:p>
        </p:txBody>
      </p:sp>
    </p:spTree>
    <p:extLst>
      <p:ext uri="{BB962C8B-B14F-4D97-AF65-F5344CB8AC3E}">
        <p14:creationId xmlns:p14="http://schemas.microsoft.com/office/powerpoint/2010/main" val="787211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20"/>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 name="Google Shape;122;p40"/>
              <p:cNvSpPr txBox="1"/>
              <p:nvPr/>
            </p:nvSpPr>
            <p:spPr>
              <a:xfrm>
                <a:off x="261620" y="1362553"/>
                <a:ext cx="11804650" cy="4310475"/>
              </a:xfrm>
              <a:prstGeom prst="rect">
                <a:avLst/>
              </a:prstGeom>
              <a:noFill/>
              <a:ln>
                <a:noFill/>
              </a:ln>
            </p:spPr>
            <p:txBody>
              <a:bodyPr spcFirstLastPara="1" wrap="square" lIns="0" tIns="12700" rIns="0" bIns="0" anchor="t" anchorCtr="0">
                <a:spAutoFit/>
              </a:bodyPr>
              <a:lstStyle/>
              <a:p>
                <a:pPr marL="355600" lvl="0" indent="-342900">
                  <a:buSzPts val="3200"/>
                  <a:buFont typeface="Arial" panose="020B0604020202020204" pitchFamily="34" charset="0"/>
                  <a:buChar char="•"/>
                </a:pPr>
                <a:r>
                  <a:rPr lang="en-US" sz="2400" dirty="0" smtClean="0"/>
                  <a:t>Mini-Batch algorithm pseudo code:  </a:t>
                </a:r>
              </a:p>
              <a:p>
                <a:pPr marL="12700" lvl="0">
                  <a:buSzPts val="3200"/>
                </a:pPr>
                <a:r>
                  <a:rPr lang="en-US" sz="2400" dirty="0" smtClean="0"/>
                  <a:t>	</a:t>
                </a:r>
                <a:r>
                  <a:rPr lang="en-US" sz="2000" dirty="0" smtClean="0">
                    <a:latin typeface="Cascadia Code Light" panose="020B0609020000020004" pitchFamily="49" charset="0"/>
                    <a:cs typeface="Cascadia Code Light" panose="020B0609020000020004" pitchFamily="49" charset="0"/>
                  </a:rPr>
                  <a:t>for </a:t>
                </a:r>
                <a:r>
                  <a:rPr lang="en-US" sz="2000" dirty="0">
                    <a:latin typeface="Cascadia Code Light" panose="020B0609020000020004" pitchFamily="49" charset="0"/>
                    <a:cs typeface="Cascadia Code Light" panose="020B0609020000020004" pitchFamily="49" charset="0"/>
                  </a:rPr>
                  <a:t>t = </a:t>
                </a:r>
                <a:r>
                  <a:rPr lang="en-US" sz="2000" dirty="0" smtClean="0">
                    <a:latin typeface="Cascadia Code Light" panose="020B0609020000020004" pitchFamily="49" charset="0"/>
                    <a:cs typeface="Cascadia Code Light" panose="020B0609020000020004" pitchFamily="49" charset="0"/>
                  </a:rPr>
                  <a:t>1:5,000</a:t>
                </a:r>
                <a:r>
                  <a:rPr lang="en-US" sz="2000" dirty="0">
                    <a:latin typeface="Cascadia Code Light" panose="020B0609020000020004" pitchFamily="49" charset="0"/>
                    <a:cs typeface="Cascadia Code Light" panose="020B0609020000020004" pitchFamily="49" charset="0"/>
                  </a:rPr>
                  <a:t>	</a:t>
                </a:r>
                <a:endParaRPr lang="en-US" sz="2000" dirty="0" smtClean="0">
                  <a:latin typeface="Cascadia Code Light" panose="020B0609020000020004" pitchFamily="49" charset="0"/>
                  <a:cs typeface="Cascadia Code Light" panose="020B0609020000020004" pitchFamily="49" charset="0"/>
                </a:endParaRPr>
              </a:p>
              <a:p>
                <a:pPr marL="12700" lvl="0">
                  <a:buSzPts val="3200"/>
                </a:pPr>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	forward prop on X</a:t>
                </a:r>
                <a:r>
                  <a:rPr lang="en-US" sz="2000" baseline="30000" dirty="0" smtClean="0">
                    <a:latin typeface="Cascadia Code Light" panose="020B0609020000020004" pitchFamily="49" charset="0"/>
                    <a:cs typeface="Cascadia Code Light" panose="020B0609020000020004" pitchFamily="49" charset="0"/>
                  </a:rPr>
                  <a:t>{t}</a:t>
                </a:r>
              </a:p>
              <a:p>
                <a:pPr marL="12700" lvl="0">
                  <a:buSzPts val="3200"/>
                </a:pPr>
                <a:r>
                  <a:rPr lang="en-US" sz="2000" baseline="30000" dirty="0">
                    <a:latin typeface="Cascadia Code Light" panose="020B0609020000020004" pitchFamily="49" charset="0"/>
                    <a:cs typeface="Cascadia Code Light" panose="020B0609020000020004" pitchFamily="49" charset="0"/>
                  </a:rPr>
                  <a:t>	</a:t>
                </a:r>
                <a:r>
                  <a:rPr lang="en-US" sz="2000" baseline="30000" dirty="0" smtClean="0">
                    <a:latin typeface="Cascadia Code Light" panose="020B0609020000020004" pitchFamily="49" charset="0"/>
                    <a:cs typeface="Cascadia Code Light" panose="020B0609020000020004" pitchFamily="49" charset="0"/>
                  </a:rPr>
                  <a:t>		</a:t>
                </a:r>
                <a14:m>
                  <m:oMath xmlns:m="http://schemas.openxmlformats.org/officeDocument/2006/math">
                    <m:d>
                      <m:dPr>
                        <m:begChr m:val=""/>
                        <m:endChr m:val="}"/>
                        <m:ctrlPr>
                          <a:rPr lang="en-US" sz="2000" i="1" baseline="30000" smtClean="0">
                            <a:latin typeface="Cambria Math" panose="02040503050406030204" pitchFamily="18" charset="0"/>
                            <a:cs typeface="Cascadia Code Light" panose="020B0609020000020004" pitchFamily="49" charset="0"/>
                          </a:rPr>
                        </m:ctrlPr>
                      </m:dPr>
                      <m:e>
                        <m:eqArr>
                          <m:eqArrPr>
                            <m:ctrlPr>
                              <a:rPr lang="en-US" sz="2000" i="1" dirty="0">
                                <a:latin typeface="Cambria Math" panose="02040503050406030204" pitchFamily="18" charset="0"/>
                                <a:cs typeface="Cascadia Code Light" panose="020B0609020000020004" pitchFamily="49" charset="0"/>
                              </a:rPr>
                            </m:ctrlPr>
                          </m:eqArrPr>
                          <m:e/>
                          <m:e>
                            <m:r>
                              <m:rPr>
                                <m:nor/>
                              </m:rPr>
                              <a:rPr lang="en-US" sz="2000" dirty="0">
                                <a:latin typeface="Cascadia Code Light" panose="020B0609020000020004" pitchFamily="49" charset="0"/>
                                <a:cs typeface="Cascadia Code Light" panose="020B0609020000020004" pitchFamily="49" charset="0"/>
                              </a:rPr>
                              <m:t>Z</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baseline="30000" dirty="0">
                                <a:latin typeface="Cascadia Code Light" panose="020B0609020000020004" pitchFamily="49" charset="0"/>
                                <a:cs typeface="Cascadia Code Light" panose="020B0609020000020004" pitchFamily="49" charset="0"/>
                              </a:rPr>
                              <m:t>1</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dirty="0">
                                <a:latin typeface="Cascadia Code Light" panose="020B0609020000020004" pitchFamily="49" charset="0"/>
                                <a:cs typeface="Cascadia Code Light" panose="020B0609020000020004" pitchFamily="49" charset="0"/>
                              </a:rPr>
                              <m:t> = </m:t>
                            </m:r>
                            <m:r>
                              <m:rPr>
                                <m:nor/>
                              </m:rPr>
                              <a:rPr lang="en-US" sz="2000" dirty="0">
                                <a:latin typeface="Cascadia Code Light" panose="020B0609020000020004" pitchFamily="49" charset="0"/>
                                <a:cs typeface="Cascadia Code Light" panose="020B0609020000020004" pitchFamily="49" charset="0"/>
                              </a:rPr>
                              <m:t>W</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baseline="30000" dirty="0">
                                <a:latin typeface="Cascadia Code Light" panose="020B0609020000020004" pitchFamily="49" charset="0"/>
                                <a:cs typeface="Cascadia Code Light" panose="020B0609020000020004" pitchFamily="49" charset="0"/>
                              </a:rPr>
                              <m:t>1</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dirty="0">
                                <a:latin typeface="Cascadia Code Light" panose="020B0609020000020004" pitchFamily="49" charset="0"/>
                                <a:cs typeface="Cascadia Code Light" panose="020B0609020000020004" pitchFamily="49" charset="0"/>
                              </a:rPr>
                              <m:t> ∗ </m:t>
                            </m:r>
                            <m:r>
                              <m:rPr>
                                <m:nor/>
                              </m:rPr>
                              <a:rPr lang="en-US" sz="2000" dirty="0">
                                <a:latin typeface="Cascadia Code Light" panose="020B0609020000020004" pitchFamily="49" charset="0"/>
                                <a:cs typeface="Cascadia Code Light" panose="020B0609020000020004" pitchFamily="49" charset="0"/>
                              </a:rPr>
                              <m:t>X</m:t>
                            </m:r>
                            <m:r>
                              <m:rPr>
                                <m:nor/>
                              </m:rPr>
                              <a:rPr lang="en-US" sz="2000" baseline="30000" dirty="0">
                                <a:latin typeface="Cascadia Code Light" panose="020B0609020000020004" pitchFamily="49" charset="0"/>
                                <a:cs typeface="Cascadia Code Light" panose="020B0609020000020004" pitchFamily="49" charset="0"/>
                              </a:rPr>
                              <m:t>{</m:t>
                            </m:r>
                            <m:r>
                              <m:rPr>
                                <m:nor/>
                              </m:rPr>
                              <a:rPr lang="en-US" sz="2000" baseline="30000" dirty="0">
                                <a:latin typeface="Cascadia Code Light" panose="020B0609020000020004" pitchFamily="49" charset="0"/>
                                <a:cs typeface="Cascadia Code Light" panose="020B0609020000020004" pitchFamily="49" charset="0"/>
                              </a:rPr>
                              <m:t>t</m:t>
                            </m:r>
                            <m:r>
                              <m:rPr>
                                <m:nor/>
                              </m:rPr>
                              <a:rPr lang="en-US" sz="2000" baseline="30000" dirty="0">
                                <a:latin typeface="Cascadia Code Light" panose="020B0609020000020004" pitchFamily="49" charset="0"/>
                                <a:cs typeface="Cascadia Code Light" panose="020B0609020000020004" pitchFamily="49" charset="0"/>
                              </a:rPr>
                              <m:t>} + </m:t>
                            </m:r>
                            <m:r>
                              <m:rPr>
                                <m:nor/>
                              </m:rPr>
                              <a:rPr lang="en-US" sz="2000" dirty="0">
                                <a:latin typeface="Cascadia Code Light" panose="020B0609020000020004" pitchFamily="49" charset="0"/>
                                <a:cs typeface="Cascadia Code Light" panose="020B0609020000020004" pitchFamily="49" charset="0"/>
                              </a:rPr>
                              <m:t>b</m:t>
                            </m:r>
                            <m:r>
                              <m:rPr>
                                <m:nor/>
                              </m:rPr>
                              <a:rPr lang="en-US" sz="2000" b="0" i="0" baseline="30000" dirty="0" smtClean="0">
                                <a:latin typeface="Cascadia Code Light" panose="020B0609020000020004" pitchFamily="49" charset="0"/>
                                <a:cs typeface="Cascadia Code Light" panose="020B0609020000020004" pitchFamily="49" charset="0"/>
                              </a:rPr>
                              <m:t>[1]</m:t>
                            </m:r>
                          </m:e>
                          <m:e>
                            <m:r>
                              <m:rPr>
                                <m:nor/>
                              </m:rPr>
                              <a:rPr lang="en-US" sz="2000" dirty="0">
                                <a:latin typeface="Cascadia Code Light" panose="020B0609020000020004" pitchFamily="49" charset="0"/>
                                <a:cs typeface="Cascadia Code Light" panose="020B0609020000020004" pitchFamily="49" charset="0"/>
                              </a:rPr>
                              <m:t>A</m:t>
                            </m:r>
                            <m:r>
                              <m:rPr>
                                <m:nor/>
                              </m:rPr>
                              <a:rPr lang="en-US" sz="2000" b="0" i="0" baseline="30000" dirty="0" smtClean="0">
                                <a:latin typeface="Cascadia Code Light" panose="020B0609020000020004" pitchFamily="49" charset="0"/>
                                <a:cs typeface="Cascadia Code Light" panose="020B0609020000020004" pitchFamily="49" charset="0"/>
                              </a:rPr>
                              <m:t>[1]</m:t>
                            </m:r>
                            <m:r>
                              <m:rPr>
                                <m:nor/>
                              </m:rPr>
                              <a:rPr lang="en-US" sz="2000" dirty="0">
                                <a:latin typeface="Cascadia Code Light" panose="020B0609020000020004" pitchFamily="49" charset="0"/>
                                <a:cs typeface="Cascadia Code Light" panose="020B0609020000020004" pitchFamily="49" charset="0"/>
                              </a:rPr>
                              <m:t> = </m:t>
                            </m:r>
                            <m:r>
                              <m:rPr>
                                <m:nor/>
                              </m:rPr>
                              <a:rPr lang="en-US" sz="2000" dirty="0">
                                <a:latin typeface="Cascadia Code Light" panose="020B0609020000020004" pitchFamily="49" charset="0"/>
                                <a:cs typeface="Cascadia Code Light" panose="020B0609020000020004" pitchFamily="49" charset="0"/>
                              </a:rPr>
                              <m:t>g</m:t>
                            </m:r>
                            <m:r>
                              <m:rPr>
                                <m:nor/>
                              </m:rPr>
                              <a:rPr lang="en-US" sz="2000" dirty="0">
                                <a:latin typeface="Cascadia Code Light" panose="020B0609020000020004" pitchFamily="49" charset="0"/>
                                <a:cs typeface="Cascadia Code Light" panose="020B0609020000020004" pitchFamily="49" charset="0"/>
                              </a:rPr>
                              <m:t>(</m:t>
                            </m:r>
                            <m:r>
                              <m:rPr>
                                <m:nor/>
                              </m:rPr>
                              <a:rPr lang="en-US" sz="2000" dirty="0">
                                <a:latin typeface="Cascadia Code Light" panose="020B0609020000020004" pitchFamily="49" charset="0"/>
                                <a:cs typeface="Cascadia Code Light" panose="020B0609020000020004" pitchFamily="49" charset="0"/>
                              </a:rPr>
                              <m:t>Z</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baseline="30000" dirty="0">
                                <a:latin typeface="Cascadia Code Light" panose="020B0609020000020004" pitchFamily="49" charset="0"/>
                                <a:cs typeface="Cascadia Code Light" panose="020B0609020000020004" pitchFamily="49" charset="0"/>
                              </a:rPr>
                              <m:t>1</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dirty="0">
                                <a:latin typeface="Cascadia Code Light" panose="020B0609020000020004" pitchFamily="49" charset="0"/>
                                <a:cs typeface="Cascadia Code Light" panose="020B0609020000020004" pitchFamily="49" charset="0"/>
                              </a:rPr>
                              <m:t>)</m:t>
                            </m:r>
                          </m:e>
                          <m:e>
                            <m:r>
                              <a:rPr lang="en-US" sz="2000" i="1">
                                <a:latin typeface="Cambria Math" panose="02040503050406030204" pitchFamily="18" charset="0"/>
                                <a:cs typeface="Cascadia Code Light" panose="020B0609020000020004" pitchFamily="49" charset="0"/>
                              </a:rPr>
                              <m:t>⋮</m:t>
                            </m:r>
                          </m:e>
                          <m:e>
                            <m:r>
                              <m:rPr>
                                <m:nor/>
                              </m:rPr>
                              <a:rPr lang="en-US" sz="2000" dirty="0">
                                <a:latin typeface="Cascadia Code Light" panose="020B0609020000020004" pitchFamily="49" charset="0"/>
                                <a:cs typeface="Cascadia Code Light" panose="020B0609020000020004" pitchFamily="49" charset="0"/>
                              </a:rPr>
                              <m:t>A</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b="0" i="0" baseline="30000" dirty="0" smtClean="0">
                                <a:latin typeface="Cascadia Code Light" panose="020B0609020000020004" pitchFamily="49" charset="0"/>
                                <a:cs typeface="Cascadia Code Light" panose="020B0609020000020004" pitchFamily="49" charset="0"/>
                              </a:rPr>
                              <m:t>l</m:t>
                            </m:r>
                            <m:r>
                              <m:rPr>
                                <m:nor/>
                              </m:rPr>
                              <a:rPr lang="en-US" sz="2000" b="0" i="0" baseline="30000" dirty="0" smtClean="0">
                                <a:latin typeface="Cascadia Code Light" panose="020B0609020000020004" pitchFamily="49" charset="0"/>
                                <a:cs typeface="Cascadia Code Light" panose="020B0609020000020004" pitchFamily="49" charset="0"/>
                              </a:rPr>
                              <m:t>] = </m:t>
                            </m:r>
                            <m:r>
                              <m:rPr>
                                <m:nor/>
                              </m:rPr>
                              <a:rPr lang="en-US" sz="2000" dirty="0">
                                <a:latin typeface="Cascadia Code Light" panose="020B0609020000020004" pitchFamily="49" charset="0"/>
                                <a:cs typeface="Cascadia Code Light" panose="020B0609020000020004" pitchFamily="49" charset="0"/>
                              </a:rPr>
                              <m:t>g</m:t>
                            </m:r>
                            <m:r>
                              <m:rPr>
                                <m:nor/>
                              </m:rPr>
                              <a:rPr lang="en-US" sz="2000" dirty="0">
                                <a:latin typeface="Cascadia Code Light" panose="020B0609020000020004" pitchFamily="49" charset="0"/>
                                <a:cs typeface="Cascadia Code Light" panose="020B0609020000020004" pitchFamily="49" charset="0"/>
                              </a:rPr>
                              <m:t>(</m:t>
                            </m:r>
                            <m:r>
                              <m:rPr>
                                <m:nor/>
                              </m:rPr>
                              <a:rPr lang="en-US" sz="2000" dirty="0">
                                <a:latin typeface="Cascadia Code Light" panose="020B0609020000020004" pitchFamily="49" charset="0"/>
                                <a:cs typeface="Cascadia Code Light" panose="020B0609020000020004" pitchFamily="49" charset="0"/>
                              </a:rPr>
                              <m:t>Z</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baseline="30000" dirty="0">
                                <a:latin typeface="Cascadia Code Light" panose="020B0609020000020004" pitchFamily="49" charset="0"/>
                                <a:cs typeface="Cascadia Code Light" panose="020B0609020000020004" pitchFamily="49" charset="0"/>
                              </a:rPr>
                              <m:t>l</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dirty="0">
                                <a:latin typeface="Cascadia Code Light" panose="020B0609020000020004" pitchFamily="49" charset="0"/>
                                <a:cs typeface="Cascadia Code Light" panose="020B0609020000020004" pitchFamily="49" charset="0"/>
                              </a:rPr>
                              <m:t>)</m:t>
                            </m:r>
                          </m:e>
                        </m:eqArr>
                      </m:e>
                    </m:d>
                  </m:oMath>
                </a14:m>
                <a:r>
                  <a:rPr lang="en-US" sz="2000" dirty="0" smtClean="0">
                    <a:latin typeface="Cascadia Code Light" panose="020B0609020000020004" pitchFamily="49" charset="0"/>
                    <a:cs typeface="Cascadia Code Light" panose="020B0609020000020004" pitchFamily="49" charset="0"/>
                  </a:rPr>
                  <a:t> </a:t>
                </a:r>
                <a:r>
                  <a:rPr lang="en-US" sz="1800" dirty="0" err="1" smtClean="0">
                    <a:latin typeface="+mj-lt"/>
                    <a:cs typeface="Cascadia Code Light" panose="020B0609020000020004" pitchFamily="49" charset="0"/>
                  </a:rPr>
                  <a:t>Vectorized</a:t>
                </a:r>
                <a:r>
                  <a:rPr lang="en-US" sz="1800" dirty="0" smtClean="0">
                    <a:latin typeface="+mj-lt"/>
                    <a:cs typeface="Cascadia Code Light" panose="020B0609020000020004" pitchFamily="49" charset="0"/>
                  </a:rPr>
                  <a:t> implementation (1,000 examples)</a:t>
                </a:r>
              </a:p>
              <a:p>
                <a:pPr marL="12700" lvl="0">
                  <a:buSzPts val="3200"/>
                </a:pPr>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	</a:t>
                </a:r>
                <a:r>
                  <a:rPr lang="en-US" sz="2000" dirty="0" err="1" smtClean="0">
                    <a:latin typeface="Cascadia Code Light" panose="020B0609020000020004" pitchFamily="49" charset="0"/>
                    <a:cs typeface="Cascadia Code Light" panose="020B0609020000020004" pitchFamily="49" charset="0"/>
                  </a:rPr>
                  <a:t>compute_cost</a:t>
                </a:r>
                <a:r>
                  <a:rPr lang="en-US" sz="2000" dirty="0" smtClean="0">
                    <a:latin typeface="Cascadia Code Light" panose="020B0609020000020004" pitchFamily="49" charset="0"/>
                    <a:cs typeface="Cascadia Code Light" panose="020B0609020000020004" pitchFamily="49" charset="0"/>
                  </a:rPr>
                  <a:t>:</a:t>
                </a:r>
              </a:p>
              <a:p>
                <a:pPr marL="12700" lvl="0">
                  <a:buSzPts val="3200"/>
                </a:pPr>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		J</a:t>
                </a:r>
                <a:r>
                  <a:rPr lang="en-US" sz="2000" baseline="30000" dirty="0" smtClean="0">
                    <a:latin typeface="Cascadia Code Light" panose="020B0609020000020004" pitchFamily="49" charset="0"/>
                    <a:cs typeface="Cascadia Code Light" panose="020B0609020000020004" pitchFamily="49" charset="0"/>
                  </a:rPr>
                  <a:t>{t}</a:t>
                </a:r>
                <a:r>
                  <a:rPr lang="en-US" sz="2000" dirty="0" smtClean="0">
                    <a:latin typeface="Cascadia Code Light" panose="020B0609020000020004" pitchFamily="49" charset="0"/>
                    <a:cs typeface="Cascadia Code Light" panose="020B0609020000020004" pitchFamily="49" charset="0"/>
                  </a:rPr>
                  <a:t> = </a:t>
                </a:r>
                <a14:m>
                  <m:oMath xmlns:m="http://schemas.openxmlformats.org/officeDocument/2006/math">
                    <m:f>
                      <m:fPr>
                        <m:ctrlPr>
                          <a:rPr lang="en-US" sz="2000" i="1" smtClean="0">
                            <a:latin typeface="Cambria Math" panose="02040503050406030204" pitchFamily="18" charset="0"/>
                            <a:cs typeface="Cascadia Code Light" panose="020B0609020000020004" pitchFamily="49" charset="0"/>
                          </a:rPr>
                        </m:ctrlPr>
                      </m:fPr>
                      <m:num>
                        <m:r>
                          <a:rPr lang="en-US" sz="2000" b="0" i="1" smtClean="0">
                            <a:latin typeface="Cambria Math" panose="02040503050406030204" pitchFamily="18" charset="0"/>
                            <a:cs typeface="Cascadia Code Light" panose="020B0609020000020004" pitchFamily="49" charset="0"/>
                          </a:rPr>
                          <m:t>1</m:t>
                        </m:r>
                      </m:num>
                      <m:den>
                        <m:r>
                          <a:rPr lang="en-US" sz="2000" b="0" i="1" smtClean="0">
                            <a:latin typeface="Cambria Math" panose="02040503050406030204" pitchFamily="18" charset="0"/>
                            <a:cs typeface="Cascadia Code Light" panose="020B0609020000020004" pitchFamily="49" charset="0"/>
                          </a:rPr>
                          <m:t>1000</m:t>
                        </m:r>
                      </m:den>
                    </m:f>
                    <m:r>
                      <a:rPr lang="en-US" sz="2000" b="0" i="1" smtClean="0">
                        <a:latin typeface="Cambria Math" panose="02040503050406030204" pitchFamily="18" charset="0"/>
                        <a:cs typeface="Cascadia Code Light" panose="020B0609020000020004" pitchFamily="49" charset="0"/>
                      </a:rPr>
                      <m:t> </m:t>
                    </m:r>
                    <m:nary>
                      <m:naryPr>
                        <m:chr m:val="∑"/>
                        <m:ctrlPr>
                          <a:rPr lang="en-US" sz="2000" b="0" i="1" smtClean="0">
                            <a:latin typeface="Cambria Math" panose="02040503050406030204" pitchFamily="18" charset="0"/>
                            <a:cs typeface="Cascadia Code Light" panose="020B0609020000020004" pitchFamily="49" charset="0"/>
                          </a:rPr>
                        </m:ctrlPr>
                      </m:naryPr>
                      <m:sub>
                        <m:r>
                          <m:rPr>
                            <m:brk m:alnAt="23"/>
                          </m:rPr>
                          <a:rPr lang="en-US" sz="2000" b="0" i="1" smtClean="0">
                            <a:latin typeface="Cambria Math" panose="02040503050406030204" pitchFamily="18" charset="0"/>
                            <a:cs typeface="Cascadia Code Light" panose="020B0609020000020004" pitchFamily="49" charset="0"/>
                          </a:rPr>
                          <m:t>𝑖</m:t>
                        </m:r>
                        <m:r>
                          <a:rPr lang="en-US" sz="2000" b="0" i="1" smtClean="0">
                            <a:latin typeface="Cambria Math" panose="02040503050406030204" pitchFamily="18" charset="0"/>
                            <a:cs typeface="Cascadia Code Light" panose="020B0609020000020004" pitchFamily="49" charset="0"/>
                          </a:rPr>
                          <m:t>=1</m:t>
                        </m:r>
                      </m:sub>
                      <m:sup>
                        <m:r>
                          <a:rPr lang="en-US" sz="2000" b="0" i="1" smtClean="0">
                            <a:latin typeface="Cambria Math" panose="02040503050406030204" pitchFamily="18" charset="0"/>
                            <a:cs typeface="Cascadia Code Light" panose="020B0609020000020004" pitchFamily="49" charset="0"/>
                          </a:rPr>
                          <m:t>𝑙</m:t>
                        </m:r>
                      </m:sup>
                      <m:e>
                        <m:r>
                          <a:rPr lang="en-US" sz="2000" b="0" i="1" smtClean="0">
                            <a:latin typeface="Cambria Math" panose="02040503050406030204" pitchFamily="18" charset="0"/>
                            <a:ea typeface="Cambria Math" panose="02040503050406030204" pitchFamily="18" charset="0"/>
                            <a:cs typeface="Cascadia Code Light" panose="020B0609020000020004" pitchFamily="49" charset="0"/>
                          </a:rPr>
                          <m:t>ℒ</m:t>
                        </m:r>
                      </m:e>
                    </m:nary>
                  </m:oMath>
                </a14:m>
                <a:r>
                  <a:rPr lang="en-US" sz="2000" dirty="0" smtClean="0">
                    <a:latin typeface="Cascadia Code Light" panose="020B0609020000020004" pitchFamily="49" charset="0"/>
                    <a:cs typeface="Cascadia Code Light" panose="020B0609020000020004" pitchFamily="49" charset="0"/>
                  </a:rPr>
                  <a:t>(</a:t>
                </a:r>
                <a:r>
                  <a:rPr lang="cy-GB" sz="2000" dirty="0" smtClean="0">
                    <a:latin typeface="Cascadia Code Light" panose="020B0609020000020004" pitchFamily="49" charset="0"/>
                    <a:cs typeface="Cascadia Code Light" panose="020B0609020000020004" pitchFamily="49" charset="0"/>
                  </a:rPr>
                  <a:t>ŷ</a:t>
                </a:r>
                <a:r>
                  <a:rPr lang="cy-GB" sz="2000" baseline="30000" dirty="0" smtClean="0">
                    <a:latin typeface="Cascadia Code Light" panose="020B0609020000020004" pitchFamily="49" charset="0"/>
                    <a:cs typeface="Cascadia Code Light" panose="020B0609020000020004" pitchFamily="49" charset="0"/>
                  </a:rPr>
                  <a:t>(i)</a:t>
                </a:r>
                <a:r>
                  <a:rPr lang="cy-GB" sz="2000" dirty="0" smtClean="0">
                    <a:latin typeface="Cascadia Code Light" panose="020B0609020000020004" pitchFamily="49" charset="0"/>
                    <a:cs typeface="Cascadia Code Light" panose="020B0609020000020004" pitchFamily="49" charset="0"/>
                  </a:rPr>
                  <a:t>,y</a:t>
                </a:r>
                <a:r>
                  <a:rPr lang="cy-GB" sz="2000" baseline="30000" dirty="0" smtClean="0">
                    <a:latin typeface="Cascadia Code Light" panose="020B0609020000020004" pitchFamily="49" charset="0"/>
                    <a:cs typeface="Cascadia Code Light" panose="020B0609020000020004" pitchFamily="49" charset="0"/>
                  </a:rPr>
                  <a:t>(i)</a:t>
                </a:r>
                <a:r>
                  <a:rPr lang="en-US" sz="2000" dirty="0" smtClean="0">
                    <a:latin typeface="Cascadia Code Light" panose="020B0609020000020004" pitchFamily="49" charset="0"/>
                    <a:cs typeface="Cascadia Code Light" panose="020B0609020000020004" pitchFamily="49" charset="0"/>
                  </a:rPr>
                  <a:t>) + </a:t>
                </a:r>
                <a14:m>
                  <m:oMath xmlns:m="http://schemas.openxmlformats.org/officeDocument/2006/math">
                    <m:f>
                      <m:fPr>
                        <m:ctrlPr>
                          <a:rPr lang="en-US" sz="2000" i="1" smtClean="0">
                            <a:latin typeface="Cambria Math" panose="02040503050406030204" pitchFamily="18" charset="0"/>
                            <a:cs typeface="Cascadia Code Light" panose="020B0609020000020004" pitchFamily="49" charset="0"/>
                          </a:rPr>
                        </m:ctrlPr>
                      </m:fPr>
                      <m:num>
                        <m:r>
                          <a:rPr lang="en-US" sz="2000" i="1">
                            <a:latin typeface="Cambria Math" panose="02040503050406030204" pitchFamily="18" charset="0"/>
                            <a:ea typeface="Cambria Math" panose="02040503050406030204" pitchFamily="18" charset="0"/>
                            <a:cs typeface="Cascadia Code Light" panose="020B0609020000020004" pitchFamily="49" charset="0"/>
                          </a:rPr>
                          <m:t>𝜆</m:t>
                        </m:r>
                      </m:num>
                      <m:den>
                        <m:r>
                          <a:rPr lang="en-US" sz="2000" b="0" i="1" smtClean="0">
                            <a:latin typeface="Cambria Math" panose="02040503050406030204" pitchFamily="18" charset="0"/>
                            <a:cs typeface="Cascadia Code Light" panose="020B0609020000020004" pitchFamily="49" charset="0"/>
                          </a:rPr>
                          <m:t>2∗1000</m:t>
                        </m:r>
                      </m:den>
                    </m:f>
                    <m:r>
                      <a:rPr lang="en-US" sz="2000" b="0" i="1" smtClean="0">
                        <a:latin typeface="Cambria Math" panose="02040503050406030204" pitchFamily="18" charset="0"/>
                        <a:cs typeface="Cascadia Code Light" panose="020B0609020000020004" pitchFamily="49" charset="0"/>
                      </a:rPr>
                      <m:t> </m:t>
                    </m:r>
                    <m:nary>
                      <m:naryPr>
                        <m:chr m:val="∑"/>
                        <m:supHide m:val="on"/>
                        <m:ctrlPr>
                          <a:rPr lang="en-US" sz="2000" b="0" i="1" smtClean="0">
                            <a:latin typeface="Cambria Math" panose="02040503050406030204" pitchFamily="18" charset="0"/>
                            <a:cs typeface="Cascadia Code Light" panose="020B0609020000020004" pitchFamily="49" charset="0"/>
                          </a:rPr>
                        </m:ctrlPr>
                      </m:naryPr>
                      <m:sub>
                        <m:r>
                          <m:rPr>
                            <m:brk m:alnAt="7"/>
                          </m:rPr>
                          <a:rPr lang="en-US" sz="2000" b="0" i="1" smtClean="0">
                            <a:latin typeface="Cambria Math" panose="02040503050406030204" pitchFamily="18" charset="0"/>
                            <a:cs typeface="Cascadia Code Light" panose="020B0609020000020004" pitchFamily="49" charset="0"/>
                          </a:rPr>
                          <m:t>𝑙</m:t>
                        </m:r>
                      </m:sub>
                      <m:sup/>
                      <m:e>
                        <m:sSup>
                          <m:sSupPr>
                            <m:ctrlPr>
                              <a:rPr lang="en-US" sz="2000" i="1">
                                <a:latin typeface="Cambria Math" panose="02040503050406030204" pitchFamily="18" charset="0"/>
                                <a:cs typeface="Cascadia Code Light" panose="020B0609020000020004" pitchFamily="49" charset="0"/>
                              </a:rPr>
                            </m:ctrlPr>
                          </m:sSupPr>
                          <m:e>
                            <m:d>
                              <m:dPr>
                                <m:begChr m:val="‖"/>
                                <m:endChr m:val="‖"/>
                                <m:ctrlPr>
                                  <a:rPr lang="en-US" sz="2000" i="1">
                                    <a:latin typeface="Cambria Math" panose="02040503050406030204" pitchFamily="18" charset="0"/>
                                    <a:cs typeface="Cascadia Code Light" panose="020B0609020000020004" pitchFamily="49" charset="0"/>
                                  </a:rPr>
                                </m:ctrlPr>
                              </m:dPr>
                              <m:e>
                                <m:sSup>
                                  <m:sSupPr>
                                    <m:ctrlPr>
                                      <a:rPr lang="en-US" sz="2000" i="1" smtClean="0">
                                        <a:latin typeface="Cambria Math" panose="02040503050406030204" pitchFamily="18" charset="0"/>
                                        <a:cs typeface="Cascadia Code Light" panose="020B0609020000020004" pitchFamily="49" charset="0"/>
                                      </a:rPr>
                                    </m:ctrlPr>
                                  </m:sSupPr>
                                  <m:e>
                                    <m:r>
                                      <a:rPr lang="en-US" sz="2000" b="0" i="1" smtClean="0">
                                        <a:latin typeface="Cambria Math" panose="02040503050406030204" pitchFamily="18" charset="0"/>
                                        <a:cs typeface="Cascadia Code Light" panose="020B0609020000020004" pitchFamily="49" charset="0"/>
                                      </a:rPr>
                                      <m:t>𝑊</m:t>
                                    </m:r>
                                  </m:e>
                                  <m:sup>
                                    <m:r>
                                      <a:rPr lang="en-US" sz="2000" i="1">
                                        <a:latin typeface="Cambria Math" panose="02040503050406030204" pitchFamily="18" charset="0"/>
                                        <a:cs typeface="Cascadia Code Light" panose="020B0609020000020004" pitchFamily="49" charset="0"/>
                                      </a:rPr>
                                      <m:t>2</m:t>
                                    </m:r>
                                  </m:sup>
                                </m:sSup>
                              </m:e>
                            </m:d>
                          </m:e>
                          <m:sup>
                            <m:r>
                              <a:rPr lang="en-US" sz="2000" i="1">
                                <a:latin typeface="Cambria Math" panose="02040503050406030204" pitchFamily="18" charset="0"/>
                                <a:cs typeface="Cascadia Code Light" panose="020B0609020000020004" pitchFamily="49" charset="0"/>
                              </a:rPr>
                              <m:t>𝑙</m:t>
                            </m:r>
                          </m:sup>
                        </m:sSup>
                      </m:e>
                    </m:nary>
                  </m:oMath>
                </a14:m>
                <a:endParaRPr lang="en-US" sz="2000" dirty="0" smtClean="0">
                  <a:latin typeface="Cascadia Code Light" panose="020B0609020000020004" pitchFamily="49" charset="0"/>
                  <a:cs typeface="Cascadia Code Light" panose="020B0609020000020004" pitchFamily="49" charset="0"/>
                </a:endParaRPr>
              </a:p>
              <a:p>
                <a:pPr marL="12700" lvl="0">
                  <a:buSzPts val="3200"/>
                </a:pPr>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	backward prop to compute grads and update parameters:</a:t>
                </a:r>
              </a:p>
              <a:p>
                <a:pPr marL="12700" lvl="0">
                  <a:buSzPts val="3200"/>
                </a:pPr>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	W</a:t>
                </a:r>
                <a:r>
                  <a:rPr lang="en-US" sz="2000" baseline="30000" dirty="0" smtClean="0">
                    <a:latin typeface="Cascadia Code Light" panose="020B0609020000020004" pitchFamily="49" charset="0"/>
                    <a:cs typeface="Cascadia Code Light" panose="020B0609020000020004" pitchFamily="49" charset="0"/>
                  </a:rPr>
                  <a:t>[l]</a:t>
                </a:r>
                <a:r>
                  <a:rPr lang="en-US" sz="2000" dirty="0" smtClean="0">
                    <a:latin typeface="Cascadia Code Light" panose="020B0609020000020004" pitchFamily="49" charset="0"/>
                    <a:cs typeface="Cascadia Code Light" panose="020B0609020000020004" pitchFamily="49" charset="0"/>
                  </a:rPr>
                  <a:t> = W</a:t>
                </a:r>
                <a:r>
                  <a:rPr lang="en-US" sz="2000" baseline="30000" dirty="0" smtClean="0">
                    <a:latin typeface="Cascadia Code Light" panose="020B0609020000020004" pitchFamily="49" charset="0"/>
                    <a:cs typeface="Cascadia Code Light" panose="020B0609020000020004" pitchFamily="49" charset="0"/>
                  </a:rPr>
                  <a:t>[l]</a:t>
                </a:r>
                <a:r>
                  <a:rPr lang="en-US" sz="2000" dirty="0" smtClean="0">
                    <a:latin typeface="Cascadia Code Light" panose="020B0609020000020004" pitchFamily="49" charset="0"/>
                    <a:cs typeface="Cascadia Code Light" panose="020B0609020000020004" pitchFamily="49" charset="0"/>
                  </a:rPr>
                  <a:t> - </a:t>
                </a:r>
                <a14:m>
                  <m:oMath xmlns:m="http://schemas.openxmlformats.org/officeDocument/2006/math">
                    <m:r>
                      <a:rPr lang="en-US" sz="2000" i="1" smtClean="0">
                        <a:latin typeface="Cambria Math" panose="02040503050406030204" pitchFamily="18" charset="0"/>
                        <a:ea typeface="Cambria Math" panose="02040503050406030204" pitchFamily="18" charset="0"/>
                        <a:cs typeface="Cascadia Code Light" panose="020B0609020000020004" pitchFamily="49" charset="0"/>
                      </a:rPr>
                      <m:t>𝛼</m:t>
                    </m:r>
                    <m:r>
                      <a:rPr lang="en-US" sz="2000" b="0" i="1" smtClean="0">
                        <a:latin typeface="Cambria Math" panose="02040503050406030204" pitchFamily="18" charset="0"/>
                        <a:ea typeface="Cambria Math" panose="02040503050406030204" pitchFamily="18" charset="0"/>
                        <a:cs typeface="Cascadia Code Light" panose="020B0609020000020004" pitchFamily="49" charset="0"/>
                      </a:rPr>
                      <m:t>∗</m:t>
                    </m:r>
                    <m:r>
                      <a:rPr lang="en-US" sz="2000" b="0" i="1" smtClean="0">
                        <a:latin typeface="Cambria Math" panose="02040503050406030204" pitchFamily="18" charset="0"/>
                        <a:ea typeface="Cambria Math" panose="02040503050406030204" pitchFamily="18" charset="0"/>
                        <a:cs typeface="Cascadia Code Light" panose="020B0609020000020004" pitchFamily="49" charset="0"/>
                      </a:rPr>
                      <m:t>𝑑</m:t>
                    </m:r>
                    <m:r>
                      <m:rPr>
                        <m:nor/>
                      </m:rPr>
                      <a:rPr lang="en-US" sz="2000" dirty="0">
                        <a:latin typeface="Cascadia Code Light" panose="020B0609020000020004" pitchFamily="49" charset="0"/>
                        <a:cs typeface="Cascadia Code Light" panose="020B0609020000020004" pitchFamily="49" charset="0"/>
                      </a:rPr>
                      <m:t>W</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baseline="30000" dirty="0">
                        <a:latin typeface="Cascadia Code Light" panose="020B0609020000020004" pitchFamily="49" charset="0"/>
                        <a:cs typeface="Cascadia Code Light" panose="020B0609020000020004" pitchFamily="49" charset="0"/>
                      </a:rPr>
                      <m:t>l</m:t>
                    </m:r>
                    <m:r>
                      <m:rPr>
                        <m:nor/>
                      </m:rPr>
                      <a:rPr lang="en-US" sz="2000" b="0" i="0" baseline="30000" dirty="0" smtClean="0">
                        <a:latin typeface="Cascadia Code Light" panose="020B0609020000020004" pitchFamily="49" charset="0"/>
                        <a:cs typeface="Cascadia Code Light" panose="020B0609020000020004" pitchFamily="49" charset="0"/>
                      </a:rPr>
                      <m:t>]</m:t>
                    </m:r>
                  </m:oMath>
                </a14:m>
                <a:r>
                  <a:rPr lang="en-US" sz="2000" dirty="0" smtClean="0">
                    <a:latin typeface="Cascadia Code Light" panose="020B0609020000020004" pitchFamily="49" charset="0"/>
                    <a:cs typeface="Cascadia Code Light" panose="020B0609020000020004" pitchFamily="49" charset="0"/>
                  </a:rPr>
                  <a:t> , b</a:t>
                </a:r>
                <a:r>
                  <a:rPr lang="en-US" sz="2000" baseline="30000" dirty="0" smtClean="0">
                    <a:latin typeface="Cascadia Code Light" panose="020B0609020000020004" pitchFamily="49" charset="0"/>
                    <a:cs typeface="Cascadia Code Light" panose="020B0609020000020004" pitchFamily="49" charset="0"/>
                  </a:rPr>
                  <a:t>[l</a:t>
                </a:r>
                <a:r>
                  <a:rPr lang="en-US" sz="2000" baseline="30000" dirty="0">
                    <a:latin typeface="Cascadia Code Light" panose="020B0609020000020004" pitchFamily="49" charset="0"/>
                    <a:cs typeface="Cascadia Code Light" panose="020B0609020000020004" pitchFamily="49" charset="0"/>
                  </a:rPr>
                  <a:t>]</a:t>
                </a:r>
                <a:r>
                  <a:rPr lang="en-US" sz="2000" dirty="0" smtClean="0">
                    <a:latin typeface="Cascadia Code Light" panose="020B0609020000020004" pitchFamily="49" charset="0"/>
                    <a:cs typeface="Cascadia Code Light" panose="020B0609020000020004" pitchFamily="49" charset="0"/>
                  </a:rPr>
                  <a:t> </a:t>
                </a:r>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b</a:t>
                </a:r>
                <a:r>
                  <a:rPr lang="en-US" sz="2000" baseline="30000" dirty="0" smtClean="0">
                    <a:latin typeface="Cascadia Code Light" panose="020B0609020000020004" pitchFamily="49" charset="0"/>
                    <a:cs typeface="Cascadia Code Light" panose="020B0609020000020004" pitchFamily="49" charset="0"/>
                  </a:rPr>
                  <a:t>[l</a:t>
                </a:r>
                <a:r>
                  <a:rPr lang="en-US" sz="2000" baseline="30000" dirty="0">
                    <a:latin typeface="Cascadia Code Light" panose="020B0609020000020004" pitchFamily="49" charset="0"/>
                    <a:cs typeface="Cascadia Code Light" panose="020B0609020000020004" pitchFamily="49" charset="0"/>
                  </a:rPr>
                  <a:t>]</a:t>
                </a:r>
                <a:r>
                  <a:rPr lang="en-US" sz="2000" dirty="0" smtClean="0">
                    <a:latin typeface="Cascadia Code Light" panose="020B0609020000020004" pitchFamily="49" charset="0"/>
                    <a:cs typeface="Cascadia Code Light" panose="020B0609020000020004" pitchFamily="49" charset="0"/>
                  </a:rPr>
                  <a:t> </a:t>
                </a:r>
                <a:r>
                  <a:rPr lang="en-US" sz="2000" dirty="0">
                    <a:latin typeface="Cascadia Code Light" panose="020B0609020000020004" pitchFamily="49" charset="0"/>
                    <a:cs typeface="Cascadia Code Light" panose="020B0609020000020004" pitchFamily="49"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scadia Code Light" panose="020B0609020000020004" pitchFamily="49" charset="0"/>
                      </a:rPr>
                      <m:t>𝛼</m:t>
                    </m:r>
                    <m:r>
                      <a:rPr lang="en-US" sz="2000" i="1">
                        <a:latin typeface="Cambria Math" panose="02040503050406030204" pitchFamily="18" charset="0"/>
                        <a:ea typeface="Cambria Math" panose="02040503050406030204" pitchFamily="18" charset="0"/>
                        <a:cs typeface="Cascadia Code Light" panose="020B0609020000020004" pitchFamily="49" charset="0"/>
                      </a:rPr>
                      <m:t>∗</m:t>
                    </m:r>
                    <m:r>
                      <a:rPr lang="en-US" sz="2000" i="1">
                        <a:latin typeface="Cambria Math" panose="02040503050406030204" pitchFamily="18" charset="0"/>
                        <a:ea typeface="Cambria Math" panose="02040503050406030204" pitchFamily="18" charset="0"/>
                        <a:cs typeface="Cascadia Code Light" panose="020B0609020000020004" pitchFamily="49" charset="0"/>
                      </a:rPr>
                      <m:t>𝑑</m:t>
                    </m:r>
                    <m:r>
                      <m:rPr>
                        <m:nor/>
                      </m:rPr>
                      <a:rPr lang="en-US" sz="2000" b="0" i="0" smtClean="0">
                        <a:latin typeface="Cambria Math" panose="02040503050406030204" pitchFamily="18" charset="0"/>
                        <a:ea typeface="Cambria Math" panose="02040503050406030204" pitchFamily="18" charset="0"/>
                        <a:cs typeface="Cascadia Code Light" panose="020B0609020000020004" pitchFamily="49" charset="0"/>
                      </a:rPr>
                      <m:t>b</m:t>
                    </m:r>
                    <m:r>
                      <m:rPr>
                        <m:nor/>
                      </m:rPr>
                      <a:rPr lang="en-US" sz="2000" b="0" i="0" baseline="30000" dirty="0" smtClean="0">
                        <a:latin typeface="Cascadia Code Light" panose="020B0609020000020004" pitchFamily="49" charset="0"/>
                        <a:cs typeface="Cascadia Code Light" panose="020B0609020000020004" pitchFamily="49" charset="0"/>
                      </a:rPr>
                      <m:t>[</m:t>
                    </m:r>
                    <m:r>
                      <m:rPr>
                        <m:nor/>
                      </m:rPr>
                      <a:rPr lang="en-US" sz="2000" baseline="30000" dirty="0">
                        <a:latin typeface="Cascadia Code Light" panose="020B0609020000020004" pitchFamily="49" charset="0"/>
                        <a:cs typeface="Cascadia Code Light" panose="020B0609020000020004" pitchFamily="49" charset="0"/>
                      </a:rPr>
                      <m:t>l</m:t>
                    </m:r>
                    <m:r>
                      <m:rPr>
                        <m:nor/>
                      </m:rPr>
                      <a:rPr lang="en-US" sz="2000" b="0" i="0" baseline="30000" dirty="0" smtClean="0">
                        <a:latin typeface="Cascadia Code Light" panose="020B0609020000020004" pitchFamily="49" charset="0"/>
                        <a:cs typeface="Cascadia Code Light" panose="020B0609020000020004" pitchFamily="49" charset="0"/>
                      </a:rPr>
                      <m:t>]</m:t>
                    </m:r>
                  </m:oMath>
                </a14:m>
                <a:r>
                  <a:rPr lang="en-US" sz="2000" dirty="0">
                    <a:latin typeface="Cascadia Code Light" panose="020B0609020000020004" pitchFamily="49" charset="0"/>
                    <a:cs typeface="Cascadia Code Light" panose="020B0609020000020004" pitchFamily="49" charset="0"/>
                  </a:rPr>
                  <a:t> </a:t>
                </a:r>
                <a:endParaRPr lang="en-US" sz="2000" dirty="0" smtClean="0"/>
              </a:p>
              <a:p>
                <a:pPr marL="12700" lvl="0">
                  <a:buSzPts val="3200"/>
                </a:pPr>
                <a:endParaRPr lang="en-US" sz="2400" dirty="0" smtClean="0"/>
              </a:p>
            </p:txBody>
          </p:sp>
        </mc:Choice>
        <mc:Fallback xmlns="">
          <p:sp>
            <p:nvSpPr>
              <p:cNvPr id="122" name="Google Shape;122;p40"/>
              <p:cNvSpPr txBox="1">
                <a:spLocks noRot="1" noChangeAspect="1" noMove="1" noResize="1" noEditPoints="1" noAdjustHandles="1" noChangeArrowheads="1" noChangeShapeType="1" noTextEdit="1"/>
              </p:cNvSpPr>
              <p:nvPr/>
            </p:nvSpPr>
            <p:spPr>
              <a:xfrm>
                <a:off x="261620" y="1362553"/>
                <a:ext cx="11804650" cy="4310475"/>
              </a:xfrm>
              <a:prstGeom prst="rect">
                <a:avLst/>
              </a:prstGeom>
              <a:blipFill>
                <a:blip r:embed="rId3"/>
                <a:stretch>
                  <a:fillRect l="-1860" t="-4243"/>
                </a:stretch>
              </a:blipFill>
              <a:ln>
                <a:noFill/>
              </a:ln>
            </p:spPr>
            <p:txBody>
              <a:bodyPr/>
              <a:lstStyle/>
              <a:p>
                <a:r>
                  <a:rPr lang="en-US">
                    <a:noFill/>
                  </a:rPr>
                  <a:t> </a:t>
                </a:r>
              </a:p>
            </p:txBody>
          </p:sp>
        </mc:Fallback>
      </mc:AlternateContent>
      <p:sp>
        <p:nvSpPr>
          <p:cNvPr id="121" name="Google Shape;121;p40"/>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Mini-batch gradient descent</a:t>
            </a:r>
            <a:endParaRPr sz="4400" b="0" i="0" u="none" strike="noStrike" cap="none" dirty="0">
              <a:solidFill>
                <a:srgbClr val="000000"/>
              </a:solidFill>
              <a:latin typeface="+mj-lt"/>
              <a:ea typeface="Cambria"/>
              <a:cs typeface="Cambria"/>
              <a:sym typeface="Cambria"/>
            </a:endParaRPr>
          </a:p>
        </p:txBody>
      </p:sp>
      <p:sp>
        <p:nvSpPr>
          <p:cNvPr id="123" name="Google Shape;123;p40"/>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4" name="Google Shape;124;p40"/>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25" name="Google Shape;125;p40"/>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12</a:t>
            </a:fld>
            <a:endParaRPr/>
          </a:p>
        </p:txBody>
      </p:sp>
    </p:spTree>
    <p:extLst>
      <p:ext uri="{BB962C8B-B14F-4D97-AF65-F5344CB8AC3E}">
        <p14:creationId xmlns:p14="http://schemas.microsoft.com/office/powerpoint/2010/main" val="921123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39"/>
        <p:cNvGrpSpPr/>
        <p:nvPr/>
      </p:nvGrpSpPr>
      <p:grpSpPr>
        <a:xfrm>
          <a:off x="0" y="0"/>
          <a:ext cx="0" cy="0"/>
          <a:chOff x="0" y="0"/>
          <a:chExt cx="0" cy="0"/>
        </a:xfrm>
      </p:grpSpPr>
      <p:pic>
        <p:nvPicPr>
          <p:cNvPr id="141" name="Google Shape;141;p4"/>
          <p:cNvPicPr preferRelativeResize="0"/>
          <p:nvPr/>
        </p:nvPicPr>
        <p:blipFill rotWithShape="1">
          <a:blip r:embed="rId3">
            <a:alphaModFix/>
          </a:blip>
          <a:srcRect/>
          <a:stretch/>
        </p:blipFill>
        <p:spPr>
          <a:xfrm>
            <a:off x="-12" y="149694"/>
            <a:ext cx="12182510" cy="5381340"/>
          </a:xfrm>
          <a:prstGeom prst="rect">
            <a:avLst/>
          </a:prstGeom>
          <a:noFill/>
          <a:ln>
            <a:noFill/>
          </a:ln>
        </p:spPr>
      </p:pic>
      <p:pic>
        <p:nvPicPr>
          <p:cNvPr id="142" name="Google Shape;142;p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43" name="Google Shape;143;p4"/>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47"/>
        <p:cNvGrpSpPr/>
        <p:nvPr/>
      </p:nvGrpSpPr>
      <p:grpSpPr>
        <a:xfrm>
          <a:off x="0" y="0"/>
          <a:ext cx="0" cy="0"/>
          <a:chOff x="0" y="0"/>
          <a:chExt cx="0" cy="0"/>
        </a:xfrm>
      </p:grpSpPr>
      <p:sp>
        <p:nvSpPr>
          <p:cNvPr id="148" name="Google Shape;148;p5"/>
          <p:cNvSpPr txBox="1">
            <a:spLocks noGrp="1"/>
          </p:cNvSpPr>
          <p:nvPr>
            <p:ph type="title"/>
          </p:nvPr>
        </p:nvSpPr>
        <p:spPr>
          <a:xfrm>
            <a:off x="1742100" y="1265775"/>
            <a:ext cx="9451500" cy="2040300"/>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dirty="0"/>
              <a:t>Optimization Algorithms</a:t>
            </a:r>
            <a:endParaRPr dirty="0"/>
          </a:p>
        </p:txBody>
      </p:sp>
      <p:sp>
        <p:nvSpPr>
          <p:cNvPr id="149" name="Google Shape;149;p5"/>
          <p:cNvSpPr txBox="1"/>
          <p:nvPr/>
        </p:nvSpPr>
        <p:spPr>
          <a:xfrm>
            <a:off x="5015966" y="3636425"/>
            <a:ext cx="6908799" cy="2505814"/>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Clr>
                <a:srgbClr val="000000"/>
              </a:buClr>
              <a:buSzPts val="6000"/>
              <a:buFont typeface="Arial"/>
              <a:buNone/>
            </a:pPr>
            <a:r>
              <a:rPr lang="en-US" sz="5400" b="0" i="0" u="none" strike="noStrike" cap="none" dirty="0">
                <a:solidFill>
                  <a:srgbClr val="000000"/>
                </a:solidFill>
                <a:latin typeface="+mj-lt"/>
                <a:ea typeface="Calibri"/>
                <a:cs typeface="Calibri"/>
                <a:sym typeface="Calibri"/>
              </a:rPr>
              <a:t>Understanding mini-batch gradient descent</a:t>
            </a:r>
            <a:endParaRPr sz="5400" b="0" i="0" u="none" strike="noStrike" cap="none" dirty="0">
              <a:solidFill>
                <a:srgbClr val="000000"/>
              </a:solidFill>
              <a:latin typeface="+mj-lt"/>
              <a:ea typeface="Calibri"/>
              <a:cs typeface="Calibri"/>
              <a:sym typeface="Calibri"/>
            </a:endParaRPr>
          </a:p>
        </p:txBody>
      </p:sp>
      <p:sp>
        <p:nvSpPr>
          <p:cNvPr id="150" name="Google Shape;150;p5"/>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1" name="Google Shape;151;p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52" name="Google Shape;152;p5"/>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6"/>
          <p:cNvSpPr txBox="1">
            <a:spLocks noGrp="1"/>
          </p:cNvSpPr>
          <p:nvPr>
            <p:ph type="title"/>
          </p:nvPr>
        </p:nvSpPr>
        <p:spPr>
          <a:xfrm>
            <a:off x="261618" y="139696"/>
            <a:ext cx="109943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Training with mini batch gradient descent</a:t>
            </a:r>
            <a:endParaRPr sz="4400" dirty="0">
              <a:latin typeface="+mj-lt"/>
              <a:ea typeface="Cambria"/>
              <a:cs typeface="Cambria"/>
              <a:sym typeface="Cambria"/>
            </a:endParaRPr>
          </a:p>
        </p:txBody>
      </p:sp>
      <p:pic>
        <p:nvPicPr>
          <p:cNvPr id="158" name="Google Shape;158;p6" descr="Mini-batch Gradient Descent - Andrea Perlato"/>
          <p:cNvPicPr preferRelativeResize="0"/>
          <p:nvPr/>
        </p:nvPicPr>
        <p:blipFill rotWithShape="1">
          <a:blip r:embed="rId3">
            <a:alphaModFix/>
          </a:blip>
          <a:srcRect/>
          <a:stretch/>
        </p:blipFill>
        <p:spPr>
          <a:xfrm>
            <a:off x="76200" y="840572"/>
            <a:ext cx="11844402" cy="5688047"/>
          </a:xfrm>
          <a:prstGeom prst="rect">
            <a:avLst/>
          </a:prstGeom>
          <a:noFill/>
          <a:ln>
            <a:noFill/>
          </a:ln>
        </p:spPr>
      </p:pic>
      <p:pic>
        <p:nvPicPr>
          <p:cNvPr id="159" name="Google Shape;159;p6"/>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60" name="Google Shape;160;p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sp>
        <p:nvSpPr>
          <p:cNvPr id="173" name="Google Shape;173;p8"/>
          <p:cNvSpPr txBox="1">
            <a:spLocks noGrp="1"/>
          </p:cNvSpPr>
          <p:nvPr>
            <p:ph type="title"/>
          </p:nvPr>
        </p:nvSpPr>
        <p:spPr>
          <a:xfrm>
            <a:off x="261620" y="139696"/>
            <a:ext cx="7827009"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Choosing your mini-batch size</a:t>
            </a:r>
            <a:endParaRPr sz="4400" dirty="0">
              <a:latin typeface="+mj-lt"/>
              <a:ea typeface="Cambria"/>
              <a:cs typeface="Cambria"/>
              <a:sym typeface="Cambria"/>
            </a:endParaRPr>
          </a:p>
        </p:txBody>
      </p:sp>
      <p:pic>
        <p:nvPicPr>
          <p:cNvPr id="175" name="Google Shape;175;p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6" name="Google Shape;176;p8"/>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16</a:t>
            </a:fld>
            <a:endParaRPr/>
          </a:p>
        </p:txBody>
      </p:sp>
      <p:sp>
        <p:nvSpPr>
          <p:cNvPr id="2" name="TextBox 1"/>
          <p:cNvSpPr txBox="1"/>
          <p:nvPr/>
        </p:nvSpPr>
        <p:spPr>
          <a:xfrm>
            <a:off x="448408" y="1325019"/>
            <a:ext cx="11133932" cy="3539430"/>
          </a:xfrm>
          <a:prstGeom prst="rect">
            <a:avLst/>
          </a:prstGeom>
          <a:noFill/>
        </p:spPr>
        <p:txBody>
          <a:bodyPr wrap="square" rtlCol="0">
            <a:spAutoFit/>
          </a:bodyPr>
          <a:lstStyle/>
          <a:p>
            <a:r>
              <a:rPr lang="en-US" sz="2400" dirty="0"/>
              <a:t>Let’s see various cases</a:t>
            </a:r>
            <a:r>
              <a:rPr lang="en-US" sz="2400" dirty="0" smtClean="0"/>
              <a:t>:</a:t>
            </a:r>
            <a:endParaRPr lang="en-US" sz="2400" dirty="0"/>
          </a:p>
          <a:p>
            <a:pPr marL="342900" indent="-342900">
              <a:buFont typeface="Arial" panose="020B0604020202020204" pitchFamily="34" charset="0"/>
              <a:buChar char="•"/>
            </a:pPr>
            <a:r>
              <a:rPr lang="en-US" sz="2000" dirty="0"/>
              <a:t>If the mini-batch size = </a:t>
            </a:r>
            <a:r>
              <a:rPr lang="en-US" sz="2000" dirty="0" smtClean="0"/>
              <a:t>m:</a:t>
            </a:r>
          </a:p>
          <a:p>
            <a:pPr lvl="1"/>
            <a:r>
              <a:rPr lang="en-US" sz="2000" dirty="0" smtClean="0"/>
              <a:t>	It </a:t>
            </a:r>
            <a:r>
              <a:rPr lang="en-US" sz="2000" dirty="0"/>
              <a:t>is a batch gradient descent where all the training examples are used in each iteration. It </a:t>
            </a:r>
            <a:r>
              <a:rPr lang="en-US" sz="2000" dirty="0" smtClean="0"/>
              <a:t>	takes </a:t>
            </a:r>
            <a:r>
              <a:rPr lang="en-US" sz="2000" dirty="0"/>
              <a:t>too much time per iteration.</a:t>
            </a:r>
          </a:p>
          <a:p>
            <a:pPr marL="342900" indent="-342900">
              <a:buFont typeface="Arial" panose="020B0604020202020204" pitchFamily="34" charset="0"/>
              <a:buChar char="•"/>
            </a:pPr>
            <a:r>
              <a:rPr lang="en-US" sz="2000" dirty="0"/>
              <a:t>If the mini-batch size = 1:</a:t>
            </a:r>
          </a:p>
          <a:p>
            <a:r>
              <a:rPr lang="en-US" sz="2000" dirty="0" smtClean="0"/>
              <a:t>	It </a:t>
            </a:r>
            <a:r>
              <a:rPr lang="en-US" sz="2000" dirty="0"/>
              <a:t>is called stochastic gradient descent, where each training example is its own </a:t>
            </a:r>
            <a:r>
              <a:rPr lang="en-US" sz="2000" dirty="0" smtClean="0"/>
              <a:t>mini-	batch</a:t>
            </a:r>
            <a:r>
              <a:rPr lang="en-US" sz="2000" dirty="0"/>
              <a:t>. Since in every iteration we are taking just a single example, it can become </a:t>
            </a:r>
            <a:r>
              <a:rPr lang="en-US" sz="2000" dirty="0" smtClean="0"/>
              <a:t>	extremely </a:t>
            </a:r>
            <a:r>
              <a:rPr lang="en-US" sz="2000" dirty="0"/>
              <a:t>noisy and takes much more time to reach the global minima.</a:t>
            </a:r>
          </a:p>
          <a:p>
            <a:pPr marL="342900" indent="-342900">
              <a:buFont typeface="Arial" panose="020B0604020202020204" pitchFamily="34" charset="0"/>
              <a:buChar char="•"/>
            </a:pPr>
            <a:r>
              <a:rPr lang="en-US" sz="2000" dirty="0"/>
              <a:t>If the mini-batch size is between 1 to m:</a:t>
            </a:r>
          </a:p>
          <a:p>
            <a:r>
              <a:rPr lang="en-US" sz="2000" dirty="0" smtClean="0"/>
              <a:t>	It </a:t>
            </a:r>
            <a:r>
              <a:rPr lang="en-US" sz="2000" dirty="0"/>
              <a:t>is mini-batch gradient descent. The size of the mini-batch should not be too large or too </a:t>
            </a:r>
            <a:r>
              <a:rPr lang="en-US" sz="2000" dirty="0" smtClean="0"/>
              <a:t>	small</a:t>
            </a:r>
            <a:r>
              <a:rPr lang="en-US" sz="2000" dirty="0"/>
              <a:t>.</a:t>
            </a:r>
          </a:p>
        </p:txBody>
      </p:sp>
    </p:spTree>
    <p:extLst>
      <p:ext uri="{BB962C8B-B14F-4D97-AF65-F5344CB8AC3E}">
        <p14:creationId xmlns:p14="http://schemas.microsoft.com/office/powerpoint/2010/main" val="334768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sp>
        <p:nvSpPr>
          <p:cNvPr id="173" name="Google Shape;173;p8"/>
          <p:cNvSpPr txBox="1">
            <a:spLocks noGrp="1"/>
          </p:cNvSpPr>
          <p:nvPr>
            <p:ph type="title"/>
          </p:nvPr>
        </p:nvSpPr>
        <p:spPr>
          <a:xfrm>
            <a:off x="261620" y="139696"/>
            <a:ext cx="7827009"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Choosing your mini-batch size</a:t>
            </a:r>
            <a:endParaRPr sz="4400" dirty="0">
              <a:latin typeface="+mj-lt"/>
              <a:ea typeface="Cambria"/>
              <a:cs typeface="Cambria"/>
              <a:sym typeface="Cambria"/>
            </a:endParaRPr>
          </a:p>
        </p:txBody>
      </p:sp>
      <p:pic>
        <p:nvPicPr>
          <p:cNvPr id="175" name="Google Shape;175;p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6" name="Google Shape;176;p8"/>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17</a:t>
            </a:fld>
            <a:endParaRPr/>
          </a:p>
        </p:txBody>
      </p:sp>
      <p:sp>
        <p:nvSpPr>
          <p:cNvPr id="2" name="TextBox 1"/>
          <p:cNvSpPr txBox="1"/>
          <p:nvPr/>
        </p:nvSpPr>
        <p:spPr>
          <a:xfrm>
            <a:off x="386862" y="1688123"/>
            <a:ext cx="11133932" cy="2739211"/>
          </a:xfrm>
          <a:prstGeom prst="rect">
            <a:avLst/>
          </a:prstGeom>
          <a:noFill/>
        </p:spPr>
        <p:txBody>
          <a:bodyPr wrap="square" rtlCol="0">
            <a:spAutoFit/>
          </a:bodyPr>
          <a:lstStyle/>
          <a:p>
            <a:pPr marL="342900" indent="-342900">
              <a:buFont typeface="Arial" panose="020B0604020202020204" pitchFamily="34" charset="0"/>
              <a:buChar char="•"/>
            </a:pPr>
            <a:r>
              <a:rPr lang="en-US" sz="2400" dirty="0"/>
              <a:t>Below are a few general guidelines to keep in mind while deciding the mini-batch size:</a:t>
            </a:r>
          </a:p>
          <a:p>
            <a:r>
              <a:rPr lang="en-US" sz="2400" dirty="0" smtClean="0"/>
              <a:t>	</a:t>
            </a:r>
            <a:r>
              <a:rPr lang="en-US" sz="2000" dirty="0" smtClean="0"/>
              <a:t>- If </a:t>
            </a:r>
            <a:r>
              <a:rPr lang="en-US" sz="2000" dirty="0"/>
              <a:t>the training set is small, we can choose a mini-batch size of m&lt;2000</a:t>
            </a:r>
          </a:p>
          <a:p>
            <a:pPr lvl="1"/>
            <a:r>
              <a:rPr lang="en-US" sz="2000" dirty="0" smtClean="0"/>
              <a:t>	- For </a:t>
            </a:r>
            <a:r>
              <a:rPr lang="en-US" sz="2000" dirty="0"/>
              <a:t>a larger training set, typical mini-batch sizes are: 64, 128, 256, 512</a:t>
            </a:r>
          </a:p>
          <a:p>
            <a:r>
              <a:rPr lang="en-US" sz="2000" dirty="0" smtClean="0"/>
              <a:t>	- Make </a:t>
            </a:r>
            <a:r>
              <a:rPr lang="en-US" sz="2000" dirty="0"/>
              <a:t>sure that the mini-batch size fits your CPU/GPU memory. If data fits in CPU/GPU, </a:t>
            </a:r>
            <a:r>
              <a:rPr lang="en-US" sz="2000" dirty="0" smtClean="0"/>
              <a:t>	we </a:t>
            </a:r>
            <a:r>
              <a:rPr lang="en-US" sz="2000" dirty="0"/>
              <a:t>can leverage the speed of processor cache, which significantly reduces the time </a:t>
            </a:r>
            <a:r>
              <a:rPr lang="en-US" sz="2000" dirty="0" smtClean="0"/>
              <a:t>	required </a:t>
            </a:r>
            <a:r>
              <a:rPr lang="en-US" sz="2000" dirty="0"/>
              <a:t>to train a model.</a:t>
            </a:r>
          </a:p>
          <a:p>
            <a:endParaRPr lang="en-US" sz="2000" dirty="0"/>
          </a:p>
        </p:txBody>
      </p:sp>
    </p:spTree>
    <p:extLst>
      <p:ext uri="{BB962C8B-B14F-4D97-AF65-F5344CB8AC3E}">
        <p14:creationId xmlns:p14="http://schemas.microsoft.com/office/powerpoint/2010/main" val="2013505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80"/>
        <p:cNvGrpSpPr/>
        <p:nvPr/>
      </p:nvGrpSpPr>
      <p:grpSpPr>
        <a:xfrm>
          <a:off x="0" y="0"/>
          <a:ext cx="0" cy="0"/>
          <a:chOff x="0" y="0"/>
          <a:chExt cx="0" cy="0"/>
        </a:xfrm>
      </p:grpSpPr>
      <p:sp>
        <p:nvSpPr>
          <p:cNvPr id="181" name="Google Shape;181;p42"/>
          <p:cNvSpPr txBox="1">
            <a:spLocks noGrp="1"/>
          </p:cNvSpPr>
          <p:nvPr>
            <p:ph type="title"/>
          </p:nvPr>
        </p:nvSpPr>
        <p:spPr>
          <a:xfrm>
            <a:off x="1742100" y="1265775"/>
            <a:ext cx="9451500" cy="2040300"/>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a:t>Optimization Algorithms</a:t>
            </a:r>
            <a:endParaRPr/>
          </a:p>
        </p:txBody>
      </p:sp>
      <p:sp>
        <p:nvSpPr>
          <p:cNvPr id="182" name="Google Shape;182;p42"/>
          <p:cNvSpPr txBox="1"/>
          <p:nvPr/>
        </p:nvSpPr>
        <p:spPr>
          <a:xfrm>
            <a:off x="5015966" y="3636425"/>
            <a:ext cx="6908799" cy="1674817"/>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Clr>
                <a:srgbClr val="000000"/>
              </a:buClr>
              <a:buSzPts val="6000"/>
              <a:buFont typeface="Arial"/>
              <a:buNone/>
            </a:pPr>
            <a:r>
              <a:rPr lang="en-US" sz="5400" b="0" i="0" u="none" strike="noStrike" cap="none">
                <a:solidFill>
                  <a:srgbClr val="000000"/>
                </a:solidFill>
                <a:latin typeface="Calibri"/>
                <a:ea typeface="Calibri"/>
                <a:cs typeface="Calibri"/>
                <a:sym typeface="Calibri"/>
              </a:rPr>
              <a:t>Exponentially weighted averages</a:t>
            </a:r>
            <a:endParaRPr sz="5400" b="0" i="0" u="none" strike="noStrike" cap="none">
              <a:solidFill>
                <a:srgbClr val="000000"/>
              </a:solidFill>
              <a:latin typeface="Calibri"/>
              <a:ea typeface="Calibri"/>
              <a:cs typeface="Calibri"/>
              <a:sym typeface="Calibri"/>
            </a:endParaRPr>
          </a:p>
        </p:txBody>
      </p:sp>
      <p:sp>
        <p:nvSpPr>
          <p:cNvPr id="183" name="Google Shape;183;p4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4" name="Google Shape;184;p4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85" name="Google Shape;185;p42"/>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89"/>
        <p:cNvGrpSpPr/>
        <p:nvPr/>
      </p:nvGrpSpPr>
      <p:grpSpPr>
        <a:xfrm>
          <a:off x="0" y="0"/>
          <a:ext cx="0" cy="0"/>
          <a:chOff x="0" y="0"/>
          <a:chExt cx="0" cy="0"/>
        </a:xfrm>
      </p:grpSpPr>
      <p:sp>
        <p:nvSpPr>
          <p:cNvPr id="190" name="Google Shape;190;p43"/>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191" name="Google Shape;191;p43"/>
          <p:cNvSpPr txBox="1"/>
          <p:nvPr/>
        </p:nvSpPr>
        <p:spPr>
          <a:xfrm>
            <a:off x="261620" y="1362553"/>
            <a:ext cx="11804650" cy="3706143"/>
          </a:xfrm>
          <a:prstGeom prst="rect">
            <a:avLst/>
          </a:prstGeom>
          <a:noFill/>
          <a:ln>
            <a:noFill/>
          </a:ln>
        </p:spPr>
        <p:txBody>
          <a:bodyPr spcFirstLastPara="1" wrap="square" lIns="0" tIns="12700" rIns="0" bIns="0" anchor="t" anchorCtr="0">
            <a:spAutoFit/>
          </a:bodyPr>
          <a:lstStyle/>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Exponentially weighted averages (EWAs) are a way to compute a moving average of a sequence of data points that assigns exponentially decreasing weights to the previous values in the sequence. This means that more recent data points are given more weight than older ones.</a:t>
            </a:r>
            <a:endParaRPr dirty="0"/>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The formula for computing the exponentially weighted average is given by </a:t>
            </a:r>
            <a:endParaRPr sz="2400" b="0" i="0" u="none" strike="noStrike" cap="none" dirty="0">
              <a:solidFill>
                <a:srgbClr val="000000"/>
              </a:solidFill>
              <a:latin typeface="Arial"/>
              <a:ea typeface="Arial"/>
              <a:cs typeface="Arial"/>
              <a:sym typeface="Arial"/>
            </a:endParaRPr>
          </a:p>
          <a:p>
            <a:pPr marL="1270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		</a:t>
            </a:r>
            <a:r>
              <a:rPr lang="en-US" sz="2400" b="1" i="0" u="none" strike="noStrike" cap="none" dirty="0" err="1">
                <a:solidFill>
                  <a:srgbClr val="000000"/>
                </a:solidFill>
                <a:latin typeface="Cascadia Code Light" panose="020B0609020000020004" pitchFamily="49" charset="0"/>
                <a:cs typeface="Cascadia Code Light" panose="020B0609020000020004" pitchFamily="49" charset="0"/>
                <a:sym typeface="Arial"/>
              </a:rPr>
              <a:t>V</a:t>
            </a:r>
            <a:r>
              <a:rPr lang="en-US" sz="2400" b="1" i="0" u="none" strike="noStrike" cap="none" baseline="-25000" dirty="0" err="1">
                <a:solidFill>
                  <a:srgbClr val="000000"/>
                </a:solidFill>
                <a:latin typeface="Cascadia Code Light" panose="020B0609020000020004" pitchFamily="49" charset="0"/>
                <a:cs typeface="Cascadia Code Light" panose="020B0609020000020004" pitchFamily="49" charset="0"/>
                <a:sym typeface="Arial"/>
              </a:rPr>
              <a:t>t</a:t>
            </a:r>
            <a:r>
              <a:rPr lang="en-US" sz="2400" b="1" i="0" u="none" strike="noStrike" cap="none" dirty="0">
                <a:solidFill>
                  <a:srgbClr val="000000"/>
                </a:solidFill>
                <a:latin typeface="Cascadia Code Light" panose="020B0609020000020004" pitchFamily="49" charset="0"/>
                <a:cs typeface="Cascadia Code Light" panose="020B0609020000020004" pitchFamily="49" charset="0"/>
                <a:sym typeface="Arial"/>
              </a:rPr>
              <a:t> = βV</a:t>
            </a:r>
            <a:r>
              <a:rPr lang="en-US" sz="2400" b="1" i="0" u="none" strike="noStrike" cap="none" baseline="-25000" dirty="0">
                <a:solidFill>
                  <a:srgbClr val="000000"/>
                </a:solidFill>
                <a:latin typeface="Cascadia Code Light" panose="020B0609020000020004" pitchFamily="49" charset="0"/>
                <a:cs typeface="Cascadia Code Light" panose="020B0609020000020004" pitchFamily="49" charset="0"/>
                <a:sym typeface="Arial"/>
              </a:rPr>
              <a:t>t-1</a:t>
            </a:r>
            <a:r>
              <a:rPr lang="en-US" sz="2400" b="1" i="0" u="none" strike="noStrike" cap="none" dirty="0">
                <a:solidFill>
                  <a:srgbClr val="000000"/>
                </a:solidFill>
                <a:latin typeface="Cascadia Code Light" panose="020B0609020000020004" pitchFamily="49" charset="0"/>
                <a:cs typeface="Cascadia Code Light" panose="020B0609020000020004" pitchFamily="49" charset="0"/>
                <a:sym typeface="Arial"/>
              </a:rPr>
              <a:t> + (1-β)</a:t>
            </a:r>
            <a:r>
              <a:rPr lang="en-US" sz="2400" b="1" i="0" u="none" strike="noStrike" cap="none" dirty="0" err="1">
                <a:solidFill>
                  <a:srgbClr val="000000"/>
                </a:solidFill>
                <a:latin typeface="Cascadia Code Light" panose="020B0609020000020004" pitchFamily="49" charset="0"/>
                <a:cs typeface="Cascadia Code Light" panose="020B0609020000020004" pitchFamily="49" charset="0"/>
                <a:sym typeface="Arial"/>
              </a:rPr>
              <a:t>θ</a:t>
            </a:r>
            <a:r>
              <a:rPr lang="en-US" sz="2400" b="1" i="0" u="none" strike="noStrike" cap="none" baseline="-25000" dirty="0" err="1">
                <a:solidFill>
                  <a:srgbClr val="000000"/>
                </a:solidFill>
                <a:latin typeface="Cascadia Code Light" panose="020B0609020000020004" pitchFamily="49" charset="0"/>
                <a:cs typeface="Cascadia Code Light" panose="020B0609020000020004" pitchFamily="49" charset="0"/>
                <a:sym typeface="Arial"/>
              </a:rPr>
              <a:t>t</a:t>
            </a:r>
            <a:endParaRPr sz="2400" b="1" i="0" u="none" strike="noStrike" cap="none" dirty="0">
              <a:solidFill>
                <a:srgbClr val="000000"/>
              </a:solidFill>
              <a:latin typeface="Cascadia Code Light" panose="020B0609020000020004" pitchFamily="49" charset="0"/>
              <a:cs typeface="Cascadia Code Light" panose="020B0609020000020004" pitchFamily="49" charset="0"/>
              <a:sym typeface="Arial"/>
            </a:endParaRPr>
          </a:p>
          <a:p>
            <a:pPr marL="1270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	where β is a parameter between 0 and 1 that controls the weight given to the </a:t>
            </a:r>
            <a:r>
              <a:rPr lang="en-US" sz="2400" b="0" i="0" u="none" strike="noStrike" cap="none" dirty="0" smtClean="0">
                <a:solidFill>
                  <a:srgbClr val="000000"/>
                </a:solidFill>
                <a:latin typeface="Arial"/>
                <a:ea typeface="Arial"/>
                <a:cs typeface="Arial"/>
                <a:sym typeface="Arial"/>
              </a:rPr>
              <a:t>	previous </a:t>
            </a:r>
            <a:r>
              <a:rPr lang="en-US" sz="2400" b="0" i="0" u="none" strike="noStrike" cap="none" dirty="0">
                <a:solidFill>
                  <a:srgbClr val="000000"/>
                </a:solidFill>
                <a:latin typeface="Arial"/>
                <a:ea typeface="Arial"/>
                <a:cs typeface="Arial"/>
                <a:sym typeface="Arial"/>
              </a:rPr>
              <a:t>average, V</a:t>
            </a:r>
            <a:r>
              <a:rPr lang="en-US" sz="2400" b="0" i="0" u="none" strike="noStrike" cap="none" baseline="-25000" dirty="0">
                <a:solidFill>
                  <a:srgbClr val="000000"/>
                </a:solidFill>
                <a:latin typeface="Arial"/>
                <a:ea typeface="Arial"/>
                <a:cs typeface="Arial"/>
                <a:sym typeface="Arial"/>
              </a:rPr>
              <a:t>t-1</a:t>
            </a:r>
            <a:r>
              <a:rPr lang="en-US" sz="2400" b="0" i="0" u="none" strike="noStrike" cap="none" dirty="0">
                <a:solidFill>
                  <a:srgbClr val="000000"/>
                </a:solidFill>
                <a:latin typeface="Arial"/>
                <a:ea typeface="Arial"/>
                <a:cs typeface="Arial"/>
                <a:sym typeface="Arial"/>
              </a:rPr>
              <a:t>, and the current data point, </a:t>
            </a:r>
            <a:r>
              <a:rPr lang="en-US" sz="2400" b="0" i="0" u="none" strike="noStrike" cap="none" dirty="0" err="1">
                <a:solidFill>
                  <a:srgbClr val="000000"/>
                </a:solidFill>
                <a:latin typeface="Arial"/>
                <a:ea typeface="Arial"/>
                <a:cs typeface="Arial"/>
                <a:sym typeface="Arial"/>
              </a:rPr>
              <a:t>θ</a:t>
            </a:r>
            <a:r>
              <a:rPr lang="en-US" sz="2400" b="0" i="0" u="none" strike="noStrike" cap="none" baseline="-25000" dirty="0" err="1">
                <a:solidFill>
                  <a:srgbClr val="000000"/>
                </a:solidFill>
                <a:latin typeface="Arial"/>
                <a:ea typeface="Arial"/>
                <a:cs typeface="Arial"/>
                <a:sym typeface="Arial"/>
              </a:rPr>
              <a:t>t</a:t>
            </a:r>
            <a:r>
              <a:rPr lang="en-US" sz="2400" b="0" i="0" u="none" strike="noStrike" cap="none" dirty="0">
                <a:solidFill>
                  <a:srgbClr val="000000"/>
                </a:solidFill>
                <a:latin typeface="Arial"/>
                <a:ea typeface="Arial"/>
                <a:cs typeface="Arial"/>
                <a:sym typeface="Arial"/>
              </a:rPr>
              <a:t>. The parameter β is often </a:t>
            </a:r>
            <a:r>
              <a:rPr lang="en-US" sz="2400" b="0" i="0" u="none" strike="noStrike" cap="none" dirty="0" smtClean="0">
                <a:solidFill>
                  <a:srgbClr val="000000"/>
                </a:solidFill>
                <a:latin typeface="Arial"/>
                <a:ea typeface="Arial"/>
                <a:cs typeface="Arial"/>
                <a:sym typeface="Arial"/>
              </a:rPr>
              <a:t>	referred </a:t>
            </a:r>
            <a:r>
              <a:rPr lang="en-US" sz="2400" b="0" i="0" u="none" strike="noStrike" cap="none" dirty="0">
                <a:solidFill>
                  <a:srgbClr val="000000"/>
                </a:solidFill>
                <a:latin typeface="Arial"/>
                <a:ea typeface="Arial"/>
                <a:cs typeface="Arial"/>
                <a:sym typeface="Arial"/>
              </a:rPr>
              <a:t>to as the smoothing factor and is a </a:t>
            </a:r>
            <a:r>
              <a:rPr lang="en-US" sz="2400" b="0" i="0" u="none" strike="noStrike" cap="none" dirty="0" err="1">
                <a:solidFill>
                  <a:srgbClr val="000000"/>
                </a:solidFill>
                <a:latin typeface="Arial"/>
                <a:ea typeface="Arial"/>
                <a:cs typeface="Arial"/>
                <a:sym typeface="Arial"/>
              </a:rPr>
              <a:t>hyperparameter</a:t>
            </a:r>
            <a:r>
              <a:rPr lang="en-US" sz="2400" b="0" i="0" u="none" strike="noStrike" cap="none" dirty="0">
                <a:solidFill>
                  <a:srgbClr val="000000"/>
                </a:solidFill>
                <a:latin typeface="Arial"/>
                <a:ea typeface="Arial"/>
                <a:cs typeface="Arial"/>
                <a:sym typeface="Arial"/>
              </a:rPr>
              <a:t> that can be tuned to </a:t>
            </a:r>
            <a:r>
              <a:rPr lang="en-US" sz="2400" b="0" i="0" u="none" strike="noStrike" cap="none" dirty="0" smtClean="0">
                <a:solidFill>
                  <a:srgbClr val="000000"/>
                </a:solidFill>
                <a:latin typeface="Arial"/>
                <a:ea typeface="Arial"/>
                <a:cs typeface="Arial"/>
                <a:sym typeface="Arial"/>
              </a:rPr>
              <a:t>	obtain </a:t>
            </a:r>
            <a:r>
              <a:rPr lang="en-US" sz="2400" b="0" i="0" u="none" strike="noStrike" cap="none" dirty="0">
                <a:solidFill>
                  <a:srgbClr val="000000"/>
                </a:solidFill>
                <a:latin typeface="Arial"/>
                <a:ea typeface="Arial"/>
                <a:cs typeface="Arial"/>
                <a:sym typeface="Arial"/>
              </a:rPr>
              <a:t>the desired results.</a:t>
            </a:r>
            <a:endParaRPr sz="2400" b="0" i="0" u="none" strike="noStrike" cap="none" dirty="0">
              <a:solidFill>
                <a:srgbClr val="000000"/>
              </a:solidFill>
              <a:latin typeface="Arial"/>
              <a:ea typeface="Arial"/>
              <a:cs typeface="Arial"/>
              <a:sym typeface="Arial"/>
            </a:endParaRPr>
          </a:p>
        </p:txBody>
      </p:sp>
      <p:sp>
        <p:nvSpPr>
          <p:cNvPr id="192" name="Google Shape;192;p43"/>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93" name="Google Shape;193;p4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94" name="Google Shape;194;p43"/>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199" name="Google Shape;199;p44"/>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200" name="Google Shape;200;p44"/>
          <p:cNvSpPr txBox="1"/>
          <p:nvPr/>
        </p:nvSpPr>
        <p:spPr>
          <a:xfrm>
            <a:off x="261620" y="1362553"/>
            <a:ext cx="11804650" cy="2598147"/>
          </a:xfrm>
          <a:prstGeom prst="rect">
            <a:avLst/>
          </a:prstGeom>
          <a:noFill/>
          <a:ln>
            <a:noFill/>
          </a:ln>
        </p:spPr>
        <p:txBody>
          <a:bodyPr spcFirstLastPara="1" wrap="square" lIns="0" tIns="12700" rIns="0" bIns="0" anchor="t" anchorCtr="0">
            <a:spAutoFit/>
          </a:bodyPr>
          <a:lstStyle/>
          <a:p>
            <a:pPr marL="355600" lvl="0" indent="-342900">
              <a:buSzPts val="3200"/>
              <a:buFont typeface="Arial"/>
              <a:buChar char="•"/>
            </a:pPr>
            <a:r>
              <a:rPr lang="en-US" sz="2400" dirty="0"/>
              <a:t>The parameter β in exponentially weighted averages determines the balance between emphasizing recent data points and smoothing the sequence. </a:t>
            </a:r>
            <a:endParaRPr lang="en-US" sz="2400" dirty="0" smtClean="0"/>
          </a:p>
          <a:p>
            <a:pPr marL="12700" lvl="1">
              <a:buSzPts val="3200"/>
            </a:pPr>
            <a:r>
              <a:rPr lang="en-US" sz="2400" dirty="0"/>
              <a:t>	</a:t>
            </a:r>
            <a:r>
              <a:rPr lang="en-US" sz="2400" dirty="0" smtClean="0"/>
              <a:t>- </a:t>
            </a:r>
            <a:r>
              <a:rPr lang="en-US" sz="2000" dirty="0" smtClean="0"/>
              <a:t>A </a:t>
            </a:r>
            <a:r>
              <a:rPr lang="en-US" sz="2000" dirty="0"/>
              <a:t>higher β, near 1, leads to a smoother sequence with slower adaptation to </a:t>
            </a:r>
            <a:r>
              <a:rPr lang="en-US" sz="2000" dirty="0" smtClean="0"/>
              <a:t>changes.</a:t>
            </a:r>
          </a:p>
          <a:p>
            <a:pPr marL="12700" lvl="1">
              <a:buSzPts val="3200"/>
            </a:pPr>
            <a:r>
              <a:rPr lang="en-US" sz="2000" dirty="0"/>
              <a:t>	</a:t>
            </a:r>
            <a:r>
              <a:rPr lang="en-US" sz="2000" dirty="0" smtClean="0"/>
              <a:t>- A </a:t>
            </a:r>
            <a:r>
              <a:rPr lang="en-US" sz="2000" dirty="0"/>
              <a:t>lower β, near 0, results in a more responsive but volatile sequence.</a:t>
            </a:r>
            <a:r>
              <a:rPr lang="en-US" sz="2400" dirty="0"/>
              <a:t> </a:t>
            </a:r>
            <a:endParaRPr lang="en-US" sz="2400" dirty="0" smtClean="0"/>
          </a:p>
          <a:p>
            <a:pPr marL="355600" lvl="0" indent="-342900">
              <a:buSzPts val="3200"/>
              <a:buFont typeface="Arial"/>
              <a:buChar char="•"/>
            </a:pPr>
            <a:r>
              <a:rPr lang="en-US" sz="2400" dirty="0" smtClean="0"/>
              <a:t>Exponentially </a:t>
            </a:r>
            <a:r>
              <a:rPr lang="en-US" sz="2400" dirty="0"/>
              <a:t>weighted averages are widely used in time series analysis, finance, and machine learning for efficiently smoothing data sequences and responding to changes without overfitting.</a:t>
            </a:r>
            <a:endParaRPr sz="2400" b="0" i="0" u="none" strike="noStrike" cap="none" dirty="0">
              <a:solidFill>
                <a:srgbClr val="000000"/>
              </a:solidFill>
              <a:latin typeface="Arial"/>
              <a:ea typeface="Arial"/>
              <a:cs typeface="Arial"/>
              <a:sym typeface="Arial"/>
            </a:endParaRPr>
          </a:p>
        </p:txBody>
      </p:sp>
      <p:sp>
        <p:nvSpPr>
          <p:cNvPr id="201" name="Google Shape;201;p44"/>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2" name="Google Shape;202;p4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03" name="Google Shape;203;p44"/>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07"/>
        <p:cNvGrpSpPr/>
        <p:nvPr/>
      </p:nvGrpSpPr>
      <p:grpSpPr>
        <a:xfrm>
          <a:off x="0" y="0"/>
          <a:ext cx="0" cy="0"/>
          <a:chOff x="0" y="0"/>
          <a:chExt cx="0" cy="0"/>
        </a:xfrm>
      </p:grpSpPr>
      <p:sp>
        <p:nvSpPr>
          <p:cNvPr id="208" name="Google Shape;208;p45"/>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209" name="Google Shape;209;p45"/>
          <p:cNvSpPr txBox="1"/>
          <p:nvPr/>
        </p:nvSpPr>
        <p:spPr>
          <a:xfrm>
            <a:off x="261620" y="1362553"/>
            <a:ext cx="11804650" cy="1490152"/>
          </a:xfrm>
          <a:prstGeom prst="rect">
            <a:avLst/>
          </a:prstGeom>
          <a:noFill/>
          <a:ln>
            <a:noFill/>
          </a:ln>
        </p:spPr>
        <p:txBody>
          <a:bodyPr spcFirstLastPara="1" wrap="square" lIns="0" tIns="12700" rIns="0" bIns="0" anchor="t" anchorCtr="0">
            <a:spAutoFit/>
          </a:bodyPr>
          <a:lstStyle/>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a:solidFill>
                  <a:srgbClr val="000000"/>
                </a:solidFill>
                <a:latin typeface="Arial"/>
                <a:ea typeface="Arial"/>
                <a:cs typeface="Arial"/>
                <a:sym typeface="Arial"/>
              </a:rPr>
              <a:t>Consider example of the daily temperature of London from the last year is taken as the sequence of data points. The goal is to compute the moving average of the temperature over a certain window of time, which is done by taking an exponentially weighted average.</a:t>
            </a:r>
            <a:endParaRPr/>
          </a:p>
        </p:txBody>
      </p:sp>
      <p:sp>
        <p:nvSpPr>
          <p:cNvPr id="210" name="Google Shape;210;p45"/>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1" name="Google Shape;211;p4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2" name="Google Shape;212;p45"/>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07"/>
        <p:cNvGrpSpPr/>
        <p:nvPr/>
      </p:nvGrpSpPr>
      <p:grpSpPr>
        <a:xfrm>
          <a:off x="0" y="0"/>
          <a:ext cx="0" cy="0"/>
          <a:chOff x="0" y="0"/>
          <a:chExt cx="0" cy="0"/>
        </a:xfrm>
      </p:grpSpPr>
      <p:sp>
        <p:nvSpPr>
          <p:cNvPr id="208" name="Google Shape;208;p45"/>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210" name="Google Shape;210;p45"/>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1" name="Google Shape;211;p4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2" name="Google Shape;212;p45"/>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22</a:t>
            </a:fld>
            <a:endParaRPr/>
          </a:p>
        </p:txBody>
      </p:sp>
      <mc:AlternateContent xmlns:mc="http://schemas.openxmlformats.org/markup-compatibility/2006" xmlns:a14="http://schemas.microsoft.com/office/drawing/2010/main">
        <mc:Choice Requires="a14">
          <p:sp>
            <p:nvSpPr>
              <p:cNvPr id="4" name="Rectangle 3"/>
              <p:cNvSpPr>
                <a:spLocks noChangeArrowheads="1"/>
              </p:cNvSpPr>
              <p:nvPr/>
            </p:nvSpPr>
            <p:spPr bwMode="auto">
              <a:xfrm>
                <a:off x="534181" y="1212031"/>
                <a:ext cx="9849535" cy="2816156"/>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222222"/>
                    </a:solidFill>
                    <a:effectLst/>
                    <a:latin typeface="+mn-lt"/>
                  </a:rPr>
                  <a:t>Below is a sample of hypothetical temperature data collected for an entire year:</a:t>
                </a:r>
                <a:endParaRPr kumimoji="0" lang="en-US" altLang="en-US" sz="2000" b="0" i="0" u="none" strike="noStrike" cap="none" normalizeH="0" baseline="0" dirty="0" smtClean="0">
                  <a:ln>
                    <a:noFill/>
                  </a:ln>
                  <a:solidFill>
                    <a:srgbClr val="212529"/>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14:m>
                  <m:oMath xmlns:m="http://schemas.openxmlformats.org/officeDocument/2006/math">
                    <m:sSub>
                      <m:sSubPr>
                        <m:ctrlPr>
                          <a:rPr kumimoji="0" lang="en-US" altLang="en-US" sz="2000" b="0" i="1" u="none" strike="noStrike" cap="none" normalizeH="0" baseline="0" smtClean="0">
                            <a:ln>
                              <a:noFill/>
                            </a:ln>
                            <a:solidFill>
                              <a:srgbClr val="212529"/>
                            </a:solidFill>
                            <a:effectLst/>
                            <a:latin typeface="Cambria Math" panose="02040503050406030204" pitchFamily="18" charset="0"/>
                          </a:rPr>
                        </m:ctrlPr>
                      </m:sSubPr>
                      <m:e>
                        <m:r>
                          <a:rPr kumimoji="0" lang="en-US" altLang="en-US" sz="2000" b="0" i="1" u="none" strike="noStrike" cap="none" normalizeH="0" baseline="0" smtClean="0">
                            <a:ln>
                              <a:noFill/>
                            </a:ln>
                            <a:solidFill>
                              <a:srgbClr val="212529"/>
                            </a:solidFill>
                            <a:effectLst/>
                            <a:latin typeface="Cambria Math" panose="02040503050406030204" pitchFamily="18" charset="0"/>
                            <a:ea typeface="Cambria Math" panose="02040503050406030204" pitchFamily="18" charset="0"/>
                          </a:rPr>
                          <m:t>𝜃</m:t>
                        </m:r>
                      </m:e>
                      <m:sub>
                        <m:r>
                          <a:rPr kumimoji="0" lang="en-US" altLang="en-US" sz="2000" b="0" i="1" u="none" strike="noStrike" cap="none" normalizeH="0" baseline="0" smtClean="0">
                            <a:ln>
                              <a:noFill/>
                            </a:ln>
                            <a:solidFill>
                              <a:srgbClr val="212529"/>
                            </a:solidFill>
                            <a:effectLst/>
                            <a:latin typeface="Cambria Math" panose="02040503050406030204" pitchFamily="18" charset="0"/>
                          </a:rPr>
                          <m:t>1</m:t>
                        </m:r>
                      </m:sub>
                    </m:sSub>
                  </m:oMath>
                </a14:m>
                <a:r>
                  <a:rPr kumimoji="0" lang="en-US" altLang="en-US" sz="2000" b="0" i="0" u="none" strike="noStrike" cap="none" normalizeH="0" baseline="0" dirty="0" smtClean="0">
                    <a:ln>
                      <a:noFill/>
                    </a:ln>
                    <a:solidFill>
                      <a:srgbClr val="212529"/>
                    </a:solidFill>
                    <a:effectLst/>
                    <a:latin typeface="+mn-lt"/>
                  </a:rPr>
                  <a:t>= 40</a:t>
                </a:r>
                <a:r>
                  <a:rPr kumimoji="0" lang="en-US" altLang="en-US" sz="2000" b="0" i="0" u="none" strike="noStrike" cap="none" normalizeH="0" baseline="30000" dirty="0" smtClean="0">
                    <a:ln>
                      <a:noFill/>
                    </a:ln>
                    <a:solidFill>
                      <a:srgbClr val="212529"/>
                    </a:solidFill>
                    <a:effectLst/>
                    <a:latin typeface="+mn-lt"/>
                  </a:rPr>
                  <a:t>o</a:t>
                </a:r>
                <a:r>
                  <a:rPr kumimoji="0" lang="en-US" altLang="en-US" sz="2000" b="0" i="0" u="none" strike="noStrike" cap="none" normalizeH="0" baseline="0" dirty="0" smtClean="0">
                    <a:ln>
                      <a:noFill/>
                    </a:ln>
                    <a:solidFill>
                      <a:srgbClr val="212529"/>
                    </a:solidFill>
                    <a:effectLst/>
                    <a:latin typeface="+mn-lt"/>
                  </a:rPr>
                  <a:t>F </a:t>
                </a:r>
              </a:p>
              <a:p>
                <a:pPr lvl="0" eaLnBrk="0" fontAlgn="base" hangingPunct="0">
                  <a:spcBef>
                    <a:spcPct val="0"/>
                  </a:spcBef>
                  <a:spcAft>
                    <a:spcPct val="0"/>
                  </a:spcAft>
                  <a:buClrTx/>
                </a:pPr>
                <a14:m>
                  <m:oMath xmlns:m="http://schemas.openxmlformats.org/officeDocument/2006/math">
                    <m:sSub>
                      <m:sSubPr>
                        <m:ctrlPr>
                          <a:rPr lang="en-US" altLang="en-US" sz="2000" i="1">
                            <a:solidFill>
                              <a:srgbClr val="212529"/>
                            </a:solidFill>
                            <a:latin typeface="Cambria Math" panose="02040503050406030204" pitchFamily="18" charset="0"/>
                          </a:rPr>
                        </m:ctrlPr>
                      </m:sSubPr>
                      <m:e>
                        <m:r>
                          <a:rPr lang="en-US" altLang="en-US" sz="2000" i="1">
                            <a:solidFill>
                              <a:srgbClr val="212529"/>
                            </a:solidFill>
                            <a:latin typeface="Cambria Math" panose="02040503050406030204" pitchFamily="18" charset="0"/>
                            <a:ea typeface="Cambria Math" panose="02040503050406030204" pitchFamily="18" charset="0"/>
                          </a:rPr>
                          <m:t>𝜃</m:t>
                        </m:r>
                      </m:e>
                      <m:sub>
                        <m:r>
                          <a:rPr lang="en-US" altLang="en-US" sz="2000" b="0" i="1" smtClean="0">
                            <a:solidFill>
                              <a:srgbClr val="212529"/>
                            </a:solidFill>
                            <a:latin typeface="Cambria Math" panose="02040503050406030204" pitchFamily="18" charset="0"/>
                            <a:ea typeface="Cambria Math" panose="02040503050406030204" pitchFamily="18" charset="0"/>
                          </a:rPr>
                          <m:t>2</m:t>
                        </m:r>
                      </m:sub>
                    </m:sSub>
                  </m:oMath>
                </a14:m>
                <a:r>
                  <a:rPr kumimoji="0" lang="en-US" altLang="en-US" sz="2000" b="0" i="0" u="none" strike="noStrike" cap="none" normalizeH="0" baseline="0" dirty="0" smtClean="0">
                    <a:ln>
                      <a:noFill/>
                    </a:ln>
                    <a:solidFill>
                      <a:srgbClr val="212529"/>
                    </a:solidFill>
                    <a:effectLst/>
                    <a:latin typeface="+mn-lt"/>
                  </a:rPr>
                  <a:t> = 49</a:t>
                </a:r>
                <a:r>
                  <a:rPr kumimoji="0" lang="en-US" altLang="en-US" sz="2000" b="0" i="0" u="none" strike="noStrike" cap="none" normalizeH="0" baseline="30000" dirty="0" smtClean="0">
                    <a:ln>
                      <a:noFill/>
                    </a:ln>
                    <a:solidFill>
                      <a:srgbClr val="212529"/>
                    </a:solidFill>
                    <a:effectLst/>
                    <a:latin typeface="+mn-lt"/>
                  </a:rPr>
                  <a:t>o</a:t>
                </a:r>
                <a:r>
                  <a:rPr kumimoji="0" lang="en-US" altLang="en-US" sz="2000" b="0" i="0" u="none" strike="noStrike" cap="none" normalizeH="0" baseline="0" dirty="0" smtClean="0">
                    <a:ln>
                      <a:noFill/>
                    </a:ln>
                    <a:solidFill>
                      <a:srgbClr val="212529"/>
                    </a:solidFill>
                    <a:effectLst/>
                    <a:latin typeface="+mn-lt"/>
                  </a:rPr>
                  <a:t>F </a:t>
                </a:r>
              </a:p>
              <a:p>
                <a:pPr lvl="0" eaLnBrk="0" fontAlgn="base" hangingPunct="0">
                  <a:spcBef>
                    <a:spcPct val="0"/>
                  </a:spcBef>
                  <a:spcAft>
                    <a:spcPct val="0"/>
                  </a:spcAft>
                  <a:buClrTx/>
                </a:pPr>
                <a14:m>
                  <m:oMath xmlns:m="http://schemas.openxmlformats.org/officeDocument/2006/math">
                    <m:sSub>
                      <m:sSubPr>
                        <m:ctrlPr>
                          <a:rPr lang="en-US" altLang="en-US" sz="2000" i="1">
                            <a:solidFill>
                              <a:srgbClr val="212529"/>
                            </a:solidFill>
                            <a:latin typeface="Cambria Math" panose="02040503050406030204" pitchFamily="18" charset="0"/>
                          </a:rPr>
                        </m:ctrlPr>
                      </m:sSubPr>
                      <m:e>
                        <m:r>
                          <a:rPr lang="en-US" altLang="en-US" sz="2000" i="1">
                            <a:solidFill>
                              <a:srgbClr val="212529"/>
                            </a:solidFill>
                            <a:latin typeface="Cambria Math" panose="02040503050406030204" pitchFamily="18" charset="0"/>
                            <a:ea typeface="Cambria Math" panose="02040503050406030204" pitchFamily="18" charset="0"/>
                          </a:rPr>
                          <m:t>𝜃</m:t>
                        </m:r>
                      </m:e>
                      <m:sub>
                        <m:r>
                          <a:rPr lang="en-US" altLang="en-US" sz="2000" b="0" i="1" smtClean="0">
                            <a:solidFill>
                              <a:srgbClr val="212529"/>
                            </a:solidFill>
                            <a:latin typeface="Cambria Math" panose="02040503050406030204" pitchFamily="18" charset="0"/>
                            <a:ea typeface="Cambria Math" panose="02040503050406030204" pitchFamily="18" charset="0"/>
                          </a:rPr>
                          <m:t>3</m:t>
                        </m:r>
                      </m:sub>
                    </m:sSub>
                  </m:oMath>
                </a14:m>
                <a:r>
                  <a:rPr kumimoji="0" lang="en-US" altLang="en-US" sz="2000" b="0" i="0" u="none" strike="noStrike" cap="none" normalizeH="0" baseline="0" dirty="0" smtClean="0">
                    <a:ln>
                      <a:noFill/>
                    </a:ln>
                    <a:solidFill>
                      <a:srgbClr val="212529"/>
                    </a:solidFill>
                    <a:effectLst/>
                    <a:latin typeface="+mn-lt"/>
                  </a:rPr>
                  <a:t> = 45</a:t>
                </a:r>
                <a:r>
                  <a:rPr kumimoji="0" lang="en-US" altLang="en-US" sz="2000" b="0" i="0" u="none" strike="noStrike" cap="none" normalizeH="0" baseline="30000" dirty="0" smtClean="0">
                    <a:ln>
                      <a:noFill/>
                    </a:ln>
                    <a:solidFill>
                      <a:srgbClr val="212529"/>
                    </a:solidFill>
                    <a:effectLst/>
                    <a:latin typeface="+mn-lt"/>
                  </a:rPr>
                  <a:t>o</a:t>
                </a:r>
                <a:r>
                  <a:rPr kumimoji="0" lang="en-US" altLang="en-US" sz="2000" b="0" i="0" u="none" strike="noStrike" cap="none" normalizeH="0" baseline="0" dirty="0" smtClean="0">
                    <a:ln>
                      <a:noFill/>
                    </a:ln>
                    <a:solidFill>
                      <a:srgbClr val="212529"/>
                    </a:solidFill>
                    <a:effectLst/>
                    <a:latin typeface="+mn-lt"/>
                  </a:rPr>
                  <a:t>F </a:t>
                </a:r>
              </a:p>
              <a:p>
                <a:pPr lvl="0" eaLnBrk="0" fontAlgn="base" hangingPunct="0">
                  <a:spcBef>
                    <a:spcPct val="0"/>
                  </a:spcBef>
                  <a:spcAft>
                    <a:spcPct val="0"/>
                  </a:spcAft>
                  <a:buClrTx/>
                </a:pPr>
                <a14:m>
                  <m:oMathPara xmlns:m="http://schemas.openxmlformats.org/officeDocument/2006/math">
                    <m:oMathParaPr>
                      <m:jc m:val="left"/>
                    </m:oMathParaPr>
                    <m:oMath xmlns:m="http://schemas.openxmlformats.org/officeDocument/2006/math">
                      <m:r>
                        <a:rPr lang="en-US" altLang="en-US" sz="2000" i="1" smtClean="0">
                          <a:solidFill>
                            <a:srgbClr val="212529"/>
                          </a:solidFill>
                          <a:latin typeface="Cambria Math" panose="02040503050406030204" pitchFamily="18" charset="0"/>
                        </a:rPr>
                        <m:t>⋮</m:t>
                      </m:r>
                    </m:oMath>
                  </m:oMathPara>
                </a14:m>
                <a:endParaRPr lang="en-US" altLang="en-US" sz="2000" i="1" dirty="0" smtClean="0">
                  <a:solidFill>
                    <a:srgbClr val="212529"/>
                  </a:solidFill>
                  <a:latin typeface="+mn-lt"/>
                </a:endParaRPr>
              </a:p>
              <a:p>
                <a:pPr lvl="0" eaLnBrk="0" fontAlgn="base" hangingPunct="0">
                  <a:spcBef>
                    <a:spcPct val="0"/>
                  </a:spcBef>
                  <a:spcAft>
                    <a:spcPct val="0"/>
                  </a:spcAft>
                  <a:buClrTx/>
                </a:pPr>
                <a14:m>
                  <m:oMath xmlns:m="http://schemas.openxmlformats.org/officeDocument/2006/math">
                    <m:sSub>
                      <m:sSubPr>
                        <m:ctrlPr>
                          <a:rPr lang="en-US" altLang="en-US" sz="2000" i="1">
                            <a:solidFill>
                              <a:srgbClr val="212529"/>
                            </a:solidFill>
                            <a:latin typeface="Cambria Math" panose="02040503050406030204" pitchFamily="18" charset="0"/>
                          </a:rPr>
                        </m:ctrlPr>
                      </m:sSubPr>
                      <m:e>
                        <m:r>
                          <a:rPr lang="en-US" altLang="en-US" sz="2000" i="1">
                            <a:solidFill>
                              <a:srgbClr val="212529"/>
                            </a:solidFill>
                            <a:latin typeface="Cambria Math" panose="02040503050406030204" pitchFamily="18" charset="0"/>
                            <a:ea typeface="Cambria Math" panose="02040503050406030204" pitchFamily="18" charset="0"/>
                          </a:rPr>
                          <m:t>𝜃</m:t>
                        </m:r>
                      </m:e>
                      <m:sub>
                        <m:r>
                          <a:rPr lang="en-US" altLang="en-US" sz="2000" b="0" i="1" smtClean="0">
                            <a:solidFill>
                              <a:srgbClr val="212529"/>
                            </a:solidFill>
                            <a:latin typeface="Cambria Math" panose="02040503050406030204" pitchFamily="18" charset="0"/>
                          </a:rPr>
                          <m:t>180</m:t>
                        </m:r>
                      </m:sub>
                    </m:sSub>
                  </m:oMath>
                </a14:m>
                <a:r>
                  <a:rPr kumimoji="0" lang="en-US" altLang="en-US" sz="2000" b="0" i="0" u="none" strike="noStrike" cap="none" normalizeH="0" baseline="0" dirty="0" smtClean="0">
                    <a:ln>
                      <a:noFill/>
                    </a:ln>
                    <a:solidFill>
                      <a:srgbClr val="212529"/>
                    </a:solidFill>
                    <a:effectLst/>
                    <a:latin typeface="+mn-lt"/>
                  </a:rPr>
                  <a:t> = 60</a:t>
                </a:r>
                <a:r>
                  <a:rPr kumimoji="0" lang="en-US" altLang="en-US" sz="2000" b="0" i="0" u="none" strike="noStrike" cap="none" normalizeH="0" baseline="30000" dirty="0" smtClean="0">
                    <a:ln>
                      <a:noFill/>
                    </a:ln>
                    <a:solidFill>
                      <a:srgbClr val="212529"/>
                    </a:solidFill>
                    <a:effectLst/>
                    <a:latin typeface="+mn-lt"/>
                  </a:rPr>
                  <a:t>o</a:t>
                </a:r>
                <a:r>
                  <a:rPr kumimoji="0" lang="en-US" altLang="en-US" sz="2000" b="0" i="0" u="none" strike="noStrike" cap="none" normalizeH="0" baseline="0" dirty="0" smtClean="0">
                    <a:ln>
                      <a:noFill/>
                    </a:ln>
                    <a:solidFill>
                      <a:srgbClr val="212529"/>
                    </a:solidFill>
                    <a:effectLst/>
                    <a:latin typeface="+mn-lt"/>
                  </a:rPr>
                  <a:t>F </a:t>
                </a:r>
              </a:p>
              <a:p>
                <a:pPr lvl="0" eaLnBrk="0" fontAlgn="base" hangingPunct="0">
                  <a:spcBef>
                    <a:spcPct val="0"/>
                  </a:spcBef>
                  <a:spcAft>
                    <a:spcPct val="0"/>
                  </a:spcAft>
                  <a:buClrTx/>
                </a:pPr>
                <a14:m>
                  <m:oMath xmlns:m="http://schemas.openxmlformats.org/officeDocument/2006/math">
                    <m:sSub>
                      <m:sSubPr>
                        <m:ctrlPr>
                          <a:rPr lang="en-US" altLang="en-US" sz="2000" i="1">
                            <a:solidFill>
                              <a:srgbClr val="212529"/>
                            </a:solidFill>
                            <a:latin typeface="Cambria Math" panose="02040503050406030204" pitchFamily="18" charset="0"/>
                          </a:rPr>
                        </m:ctrlPr>
                      </m:sSubPr>
                      <m:e>
                        <m:r>
                          <a:rPr lang="en-US" altLang="en-US" sz="2000" i="1">
                            <a:solidFill>
                              <a:srgbClr val="212529"/>
                            </a:solidFill>
                            <a:latin typeface="Cambria Math" panose="02040503050406030204" pitchFamily="18" charset="0"/>
                            <a:ea typeface="Cambria Math" panose="02040503050406030204" pitchFamily="18" charset="0"/>
                          </a:rPr>
                          <m:t>𝜃</m:t>
                        </m:r>
                      </m:e>
                      <m:sub>
                        <m:r>
                          <a:rPr lang="en-US" altLang="en-US" sz="2000" i="1">
                            <a:solidFill>
                              <a:srgbClr val="212529"/>
                            </a:solidFill>
                            <a:latin typeface="Cambria Math" panose="02040503050406030204" pitchFamily="18" charset="0"/>
                          </a:rPr>
                          <m:t>1</m:t>
                        </m:r>
                        <m:r>
                          <a:rPr lang="en-US" altLang="en-US" sz="2000" b="0" i="1" smtClean="0">
                            <a:solidFill>
                              <a:srgbClr val="212529"/>
                            </a:solidFill>
                            <a:latin typeface="Cambria Math" panose="02040503050406030204" pitchFamily="18" charset="0"/>
                          </a:rPr>
                          <m:t>81</m:t>
                        </m:r>
                      </m:sub>
                    </m:sSub>
                  </m:oMath>
                </a14:m>
                <a:r>
                  <a:rPr kumimoji="0" lang="en-US" altLang="en-US" sz="2000" b="0" i="0" u="none" strike="noStrike" cap="none" normalizeH="0" baseline="0" dirty="0" smtClean="0">
                    <a:ln>
                      <a:noFill/>
                    </a:ln>
                    <a:solidFill>
                      <a:srgbClr val="212529"/>
                    </a:solidFill>
                    <a:effectLst/>
                    <a:latin typeface="+mn-lt"/>
                  </a:rPr>
                  <a:t> = 56</a:t>
                </a:r>
                <a:r>
                  <a:rPr kumimoji="0" lang="en-US" altLang="en-US" sz="2000" b="0" i="0" u="none" strike="noStrike" cap="none" normalizeH="0" baseline="30000" dirty="0" smtClean="0">
                    <a:ln>
                      <a:noFill/>
                    </a:ln>
                    <a:solidFill>
                      <a:srgbClr val="212529"/>
                    </a:solidFill>
                    <a:effectLst/>
                    <a:latin typeface="+mn-lt"/>
                  </a:rPr>
                  <a:t>o</a:t>
                </a:r>
                <a:r>
                  <a:rPr kumimoji="0" lang="en-US" altLang="en-US" sz="2000" b="0" i="0" u="none" strike="noStrike" cap="none" normalizeH="0" baseline="0" dirty="0" smtClean="0">
                    <a:ln>
                      <a:noFill/>
                    </a:ln>
                    <a:solidFill>
                      <a:srgbClr val="212529"/>
                    </a:solidFill>
                    <a:effectLst/>
                    <a:latin typeface="+mn-lt"/>
                  </a:rPr>
                  <a:t>F</a:t>
                </a:r>
                <a:endParaRPr lang="en-US" altLang="en-US" sz="2000" dirty="0">
                  <a:solidFill>
                    <a:srgbClr val="212529"/>
                  </a:solidFill>
                  <a:latin typeface="+mn-lt"/>
                </a:endParaRPr>
              </a:p>
              <a:p>
                <a:pPr eaLnBrk="0" fontAlgn="base" hangingPunct="0">
                  <a:spcBef>
                    <a:spcPct val="0"/>
                  </a:spcBef>
                  <a:spcAft>
                    <a:spcPct val="0"/>
                  </a:spcAft>
                  <a:buClrTx/>
                </a:pPr>
                <a14:m>
                  <m:oMathPara xmlns:m="http://schemas.openxmlformats.org/officeDocument/2006/math">
                    <m:oMathParaPr>
                      <m:jc m:val="left"/>
                    </m:oMathParaPr>
                    <m:oMath xmlns:m="http://schemas.openxmlformats.org/officeDocument/2006/math">
                      <m:r>
                        <a:rPr lang="en-US" altLang="en-US" sz="2000" i="1">
                          <a:solidFill>
                            <a:srgbClr val="212529"/>
                          </a:solidFill>
                          <a:latin typeface="Cambria Math" panose="02040503050406030204" pitchFamily="18" charset="0"/>
                        </a:rPr>
                        <m:t>⋮</m:t>
                      </m:r>
                    </m:oMath>
                  </m:oMathPara>
                </a14:m>
                <a:endParaRPr lang="en-US" altLang="en-US" sz="2000" i="1" dirty="0">
                  <a:solidFill>
                    <a:srgbClr val="212529"/>
                  </a:solidFill>
                  <a:latin typeface="+mn-lt"/>
                </a:endParaRPr>
              </a:p>
              <a:p>
                <a:pPr lvl="0" eaLnBrk="0" fontAlgn="base" hangingPunct="0">
                  <a:spcBef>
                    <a:spcPct val="0"/>
                  </a:spcBef>
                  <a:spcAft>
                    <a:spcPct val="0"/>
                  </a:spcAft>
                  <a:buClrTx/>
                </a:pPr>
                <a:r>
                  <a:rPr lang="en-US" altLang="en-US" sz="2000" dirty="0">
                    <a:solidFill>
                      <a:srgbClr val="212529"/>
                    </a:solidFill>
                    <a:latin typeface="+mn-lt"/>
                  </a:rPr>
                  <a:t>The below plot neatly summarizes this temperature data for us:</a:t>
                </a:r>
                <a:endParaRPr kumimoji="0" lang="en-US" altLang="en-US" sz="2000" b="0" i="0" u="none" strike="noStrike" cap="none" normalizeH="0" baseline="0" dirty="0" smtClean="0">
                  <a:ln>
                    <a:noFill/>
                  </a:ln>
                  <a:solidFill>
                    <a:srgbClr val="212529"/>
                  </a:solidFill>
                  <a:effectLst/>
                  <a:latin typeface="+mn-lt"/>
                </a:endParaRPr>
              </a:p>
            </p:txBody>
          </p:sp>
        </mc:Choice>
        <mc:Fallback xmlns="">
          <p:sp>
            <p:nvSpPr>
              <p:cNvPr id="4" name="Rectangle 3"/>
              <p:cNvSpPr>
                <a:spLocks noRot="1" noChangeAspect="1" noMove="1" noResize="1" noEditPoints="1" noAdjustHandles="1" noChangeArrowheads="1" noChangeShapeType="1" noTextEdit="1"/>
              </p:cNvSpPr>
              <p:nvPr/>
            </p:nvSpPr>
            <p:spPr bwMode="auto">
              <a:xfrm>
                <a:off x="534181" y="1212031"/>
                <a:ext cx="9849535" cy="2816156"/>
              </a:xfrm>
              <a:prstGeom prst="rect">
                <a:avLst/>
              </a:prstGeom>
              <a:blipFill>
                <a:blip r:embed="rId4"/>
                <a:stretch>
                  <a:fillRect l="-681" t="-2165" b="-3680"/>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2053" name="Picture 5" descr="https://cdn.analyticsvidhya.com/wp-content/uploads/2018/11/Screenshot-from-2018-11-03-12-48-47.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5636" y="4177665"/>
            <a:ext cx="4038600" cy="220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143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07"/>
        <p:cNvGrpSpPr/>
        <p:nvPr/>
      </p:nvGrpSpPr>
      <p:grpSpPr>
        <a:xfrm>
          <a:off x="0" y="0"/>
          <a:ext cx="0" cy="0"/>
          <a:chOff x="0" y="0"/>
          <a:chExt cx="0" cy="0"/>
        </a:xfrm>
      </p:grpSpPr>
      <p:sp>
        <p:nvSpPr>
          <p:cNvPr id="208" name="Google Shape;208;p45"/>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210" name="Google Shape;210;p45"/>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1" name="Google Shape;211;p4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2" name="Google Shape;212;p45"/>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23</a:t>
            </a:fld>
            <a:endParaRPr/>
          </a:p>
        </p:txBody>
      </p:sp>
      <mc:AlternateContent xmlns:mc="http://schemas.openxmlformats.org/markup-compatibility/2006" xmlns:a14="http://schemas.microsoft.com/office/drawing/2010/main">
        <mc:Choice Requires="a14">
          <p:sp>
            <p:nvSpPr>
              <p:cNvPr id="4" name="Rectangle 3"/>
              <p:cNvSpPr>
                <a:spLocks noChangeArrowheads="1"/>
              </p:cNvSpPr>
              <p:nvPr/>
            </p:nvSpPr>
            <p:spPr bwMode="auto">
              <a:xfrm>
                <a:off x="534181" y="1058141"/>
                <a:ext cx="11317850" cy="3123932"/>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000" dirty="0" smtClean="0">
                    <a:solidFill>
                      <a:srgbClr val="222222"/>
                    </a:solidFill>
                    <a:latin typeface="+mn-lt"/>
                  </a:rPr>
                  <a:t>Exponentially weighted average, or exponentially weighted moving average, computes the trends. We will first initialize a term as 0:</a:t>
                </a:r>
                <a:endParaRPr lang="en-US" altLang="en-US" sz="2000" dirty="0">
                  <a:solidFill>
                    <a:srgbClr val="222222"/>
                  </a:solidFill>
                  <a:latin typeface="+mn-lt"/>
                </a:endParaRPr>
              </a:p>
              <a:p>
                <a:pPr lvl="0" eaLnBrk="0" fontAlgn="base" hangingPunct="0">
                  <a:spcBef>
                    <a:spcPct val="0"/>
                  </a:spcBef>
                  <a:spcAft>
                    <a:spcPct val="0"/>
                  </a:spcAft>
                  <a:buClrTx/>
                </a:pPr>
                <a:r>
                  <a:rPr lang="en-US" altLang="en-US" sz="2000" dirty="0" smtClean="0">
                    <a:solidFill>
                      <a:srgbClr val="222222"/>
                    </a:solidFill>
                    <a:latin typeface="Cascadia Code Light" panose="020B0609020000020004" pitchFamily="49" charset="0"/>
                    <a:cs typeface="Cascadia Code Light" panose="020B0609020000020004" pitchFamily="49" charset="0"/>
                  </a:rPr>
                  <a:t>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0</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a:t>
                </a:r>
                <a:r>
                  <a:rPr lang="en-US" altLang="en-US" sz="2000" dirty="0" smtClean="0">
                    <a:solidFill>
                      <a:srgbClr val="222222"/>
                    </a:solidFill>
                    <a:latin typeface="Cascadia Code Light" panose="020B0609020000020004" pitchFamily="49" charset="0"/>
                    <a:cs typeface="Cascadia Code Light" panose="020B0609020000020004" pitchFamily="49" charset="0"/>
                  </a:rPr>
                  <a:t>0</a:t>
                </a:r>
                <a:endParaRPr lang="en-US" altLang="en-US" sz="2000" dirty="0">
                  <a:solidFill>
                    <a:srgbClr val="222222"/>
                  </a:solidFill>
                  <a:latin typeface="Cascadia Code Light" panose="020B0609020000020004" pitchFamily="49" charset="0"/>
                  <a:cs typeface="Cascadia Code Light" panose="020B0609020000020004" pitchFamily="49" charset="0"/>
                </a:endParaRPr>
              </a:p>
              <a:p>
                <a:pPr lvl="0" eaLnBrk="0" fontAlgn="base" hangingPunct="0">
                  <a:spcBef>
                    <a:spcPct val="0"/>
                  </a:spcBef>
                  <a:spcAft>
                    <a:spcPct val="0"/>
                  </a:spcAft>
                  <a:buClrTx/>
                </a:pPr>
                <a:r>
                  <a:rPr lang="en-US" altLang="en-US" sz="2000" dirty="0">
                    <a:solidFill>
                      <a:srgbClr val="222222"/>
                    </a:solidFill>
                    <a:latin typeface="+mn-lt"/>
                  </a:rPr>
                  <a:t>Now, all the further terms will be calculated as the weighted sum of V0 and the temperature of that day</a:t>
                </a:r>
                <a:r>
                  <a:rPr lang="en-US" altLang="en-US" sz="2000" dirty="0" smtClean="0">
                    <a:solidFill>
                      <a:srgbClr val="222222"/>
                    </a:solidFill>
                    <a:latin typeface="+mn-lt"/>
                  </a:rPr>
                  <a:t>:</a:t>
                </a:r>
                <a:endParaRPr lang="en-US" altLang="en-US" sz="2000" dirty="0">
                  <a:solidFill>
                    <a:srgbClr val="222222"/>
                  </a:solidFill>
                  <a:latin typeface="+mn-lt"/>
                </a:endParaRPr>
              </a:p>
              <a:p>
                <a:pPr lvl="0" eaLnBrk="0" fontAlgn="base" hangingPunct="0">
                  <a:spcBef>
                    <a:spcPct val="0"/>
                  </a:spcBef>
                  <a:spcAft>
                    <a:spcPct val="0"/>
                  </a:spcAft>
                  <a:buClrTx/>
                </a:pPr>
                <a:r>
                  <a:rPr lang="en-US" altLang="en-US" sz="2000" dirty="0" smtClean="0">
                    <a:solidFill>
                      <a:srgbClr val="222222"/>
                    </a:solidFill>
                    <a:latin typeface="Cascadia Code Light" panose="020B0609020000020004" pitchFamily="49" charset="0"/>
                    <a:cs typeface="Cascadia Code Light" panose="020B0609020000020004" pitchFamily="49" charset="0"/>
                  </a:rPr>
                  <a:t>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1</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a:t>
                </a:r>
                <a:r>
                  <a:rPr lang="en-US" altLang="en-US" sz="2000" dirty="0" smtClean="0">
                    <a:solidFill>
                      <a:srgbClr val="222222"/>
                    </a:solidFill>
                    <a:latin typeface="Cascadia Code Light" panose="020B0609020000020004" pitchFamily="49" charset="0"/>
                    <a:cs typeface="Cascadia Code Light" panose="020B0609020000020004" pitchFamily="49" charset="0"/>
                  </a:rPr>
                  <a:t>0.9V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0</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a:t>
                </a:r>
                <a:r>
                  <a:rPr lang="en-US" altLang="en-US" sz="2000" dirty="0" smtClean="0">
                    <a:solidFill>
                      <a:srgbClr val="222222"/>
                    </a:solidFill>
                    <a:latin typeface="Cascadia Code Light" panose="020B0609020000020004" pitchFamily="49" charset="0"/>
                    <a:cs typeface="Cascadia Code Light" panose="020B0609020000020004" pitchFamily="49" charset="0"/>
                  </a:rPr>
                  <a:t>0.1</a:t>
                </a:r>
                <a14:m>
                  <m:oMath xmlns:m="http://schemas.openxmlformats.org/officeDocument/2006/math">
                    <m:sSub>
                      <m:sSubPr>
                        <m:ctrlPr>
                          <a:rPr lang="en-US" altLang="en-US" sz="2000" i="1">
                            <a:solidFill>
                              <a:srgbClr val="212529"/>
                            </a:solidFill>
                            <a:latin typeface="Cambria Math" panose="02040503050406030204" pitchFamily="18" charset="0"/>
                          </a:rPr>
                        </m:ctrlPr>
                      </m:sSubPr>
                      <m:e>
                        <m:r>
                          <a:rPr lang="en-US" altLang="en-US" sz="2000" i="1">
                            <a:solidFill>
                              <a:srgbClr val="212529"/>
                            </a:solidFill>
                            <a:latin typeface="Cambria Math" panose="02040503050406030204" pitchFamily="18" charset="0"/>
                            <a:ea typeface="Cambria Math" panose="02040503050406030204" pitchFamily="18" charset="0"/>
                          </a:rPr>
                          <m:t>𝜃</m:t>
                        </m:r>
                      </m:e>
                      <m:sub>
                        <m:r>
                          <a:rPr lang="en-US" altLang="en-US" sz="2000" i="1">
                            <a:solidFill>
                              <a:srgbClr val="212529"/>
                            </a:solidFill>
                            <a:latin typeface="Cambria Math" panose="02040503050406030204" pitchFamily="18" charset="0"/>
                          </a:rPr>
                          <m:t>1</m:t>
                        </m:r>
                      </m:sub>
                    </m:sSub>
                  </m:oMath>
                </a14:m>
                <a:endParaRPr lang="en-US" altLang="en-US" sz="2000" dirty="0">
                  <a:solidFill>
                    <a:srgbClr val="222222"/>
                  </a:solidFill>
                  <a:latin typeface="Cascadia Code Light" panose="020B0609020000020004" pitchFamily="49" charset="0"/>
                  <a:cs typeface="Cascadia Code Light" panose="020B0609020000020004" pitchFamily="49" charset="0"/>
                </a:endParaRPr>
              </a:p>
              <a:p>
                <a:pPr lvl="0" eaLnBrk="0" fontAlgn="base" hangingPunct="0">
                  <a:spcBef>
                    <a:spcPct val="0"/>
                  </a:spcBef>
                  <a:spcAft>
                    <a:spcPct val="0"/>
                  </a:spcAft>
                  <a:buClrTx/>
                </a:pPr>
                <a:r>
                  <a:rPr lang="en-US" altLang="en-US" sz="2000" dirty="0" smtClean="0">
                    <a:solidFill>
                      <a:srgbClr val="222222"/>
                    </a:solidFill>
                    <a:latin typeface="Cascadia Code Light" panose="020B0609020000020004" pitchFamily="49" charset="0"/>
                    <a:cs typeface="Cascadia Code Light" panose="020B0609020000020004" pitchFamily="49" charset="0"/>
                  </a:rPr>
                  <a:t>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2</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a:t>
                </a:r>
                <a:r>
                  <a:rPr lang="en-US" altLang="en-US" sz="2000" dirty="0" smtClean="0">
                    <a:solidFill>
                      <a:srgbClr val="222222"/>
                    </a:solidFill>
                    <a:latin typeface="Cascadia Code Light" panose="020B0609020000020004" pitchFamily="49" charset="0"/>
                    <a:cs typeface="Cascadia Code Light" panose="020B0609020000020004" pitchFamily="49" charset="0"/>
                  </a:rPr>
                  <a:t>0.9V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1</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a:t>
                </a:r>
                <a:r>
                  <a:rPr lang="en-US" altLang="en-US" sz="2000" dirty="0" smtClean="0">
                    <a:solidFill>
                      <a:srgbClr val="222222"/>
                    </a:solidFill>
                    <a:latin typeface="Cascadia Code Light" panose="020B0609020000020004" pitchFamily="49" charset="0"/>
                    <a:cs typeface="Cascadia Code Light" panose="020B0609020000020004" pitchFamily="49" charset="0"/>
                  </a:rPr>
                  <a:t>0.1</a:t>
                </a:r>
                <a14:m>
                  <m:oMath xmlns:m="http://schemas.openxmlformats.org/officeDocument/2006/math">
                    <m:sSub>
                      <m:sSubPr>
                        <m:ctrlPr>
                          <a:rPr lang="en-US" altLang="en-US" sz="2000" i="1">
                            <a:solidFill>
                              <a:srgbClr val="212529"/>
                            </a:solidFill>
                            <a:latin typeface="Cambria Math" panose="02040503050406030204" pitchFamily="18" charset="0"/>
                          </a:rPr>
                        </m:ctrlPr>
                      </m:sSubPr>
                      <m:e>
                        <m:r>
                          <a:rPr lang="en-US" altLang="en-US" sz="2000" i="1">
                            <a:solidFill>
                              <a:srgbClr val="212529"/>
                            </a:solidFill>
                            <a:latin typeface="Cambria Math" panose="02040503050406030204" pitchFamily="18" charset="0"/>
                            <a:ea typeface="Cambria Math" panose="02040503050406030204" pitchFamily="18" charset="0"/>
                          </a:rPr>
                          <m:t>𝜃</m:t>
                        </m:r>
                      </m:e>
                      <m:sub>
                        <m:r>
                          <a:rPr lang="en-US" altLang="en-US" sz="2000" b="0" i="1" smtClean="0">
                            <a:solidFill>
                              <a:srgbClr val="212529"/>
                            </a:solidFill>
                            <a:latin typeface="Cambria Math" panose="02040503050406030204" pitchFamily="18" charset="0"/>
                            <a:ea typeface="Cambria Math" panose="02040503050406030204" pitchFamily="18" charset="0"/>
                          </a:rPr>
                          <m:t>2</m:t>
                        </m:r>
                      </m:sub>
                    </m:sSub>
                  </m:oMath>
                </a14:m>
                <a:endParaRPr lang="en-US" altLang="en-US" sz="2000" dirty="0">
                  <a:solidFill>
                    <a:srgbClr val="222222"/>
                  </a:solidFill>
                  <a:latin typeface="Cascadia Code Light" panose="020B0609020000020004" pitchFamily="49" charset="0"/>
                  <a:cs typeface="Cascadia Code Light" panose="020B0609020000020004" pitchFamily="49" charset="0"/>
                </a:endParaRPr>
              </a:p>
              <a:p>
                <a:pPr lvl="0" eaLnBrk="0" fontAlgn="base" hangingPunct="0">
                  <a:spcBef>
                    <a:spcPct val="0"/>
                  </a:spcBef>
                  <a:spcAft>
                    <a:spcPct val="0"/>
                  </a:spcAft>
                  <a:buClrTx/>
                </a:pPr>
                <a:r>
                  <a:rPr lang="en-US" altLang="en-US" sz="2000" dirty="0">
                    <a:solidFill>
                      <a:srgbClr val="222222"/>
                    </a:solidFill>
                    <a:latin typeface="+mn-lt"/>
                  </a:rPr>
                  <a:t>And so on. A more generalized form of exponentially weighted average can be written as</a:t>
                </a:r>
                <a:r>
                  <a:rPr lang="en-US" altLang="en-US" sz="2000" dirty="0" smtClean="0">
                    <a:solidFill>
                      <a:srgbClr val="222222"/>
                    </a:solidFill>
                    <a:latin typeface="+mn-lt"/>
                  </a:rPr>
                  <a:t>:</a:t>
                </a:r>
                <a:endParaRPr lang="en-US" altLang="en-US" sz="2000" dirty="0">
                  <a:solidFill>
                    <a:srgbClr val="222222"/>
                  </a:solidFill>
                  <a:latin typeface="+mn-lt"/>
                </a:endParaRPr>
              </a:p>
              <a:p>
                <a:pPr lvl="0" eaLnBrk="0" fontAlgn="base" hangingPunct="0">
                  <a:spcBef>
                    <a:spcPct val="0"/>
                  </a:spcBef>
                  <a:spcAft>
                    <a:spcPct val="0"/>
                  </a:spcAft>
                  <a:buClrTx/>
                </a:pPr>
                <a:r>
                  <a:rPr lang="en-US" altLang="en-US" sz="2000" dirty="0" err="1" smtClean="0">
                    <a:solidFill>
                      <a:srgbClr val="222222"/>
                    </a:solidFill>
                    <a:latin typeface="Cascadia Code Light" panose="020B0609020000020004" pitchFamily="49" charset="0"/>
                    <a:cs typeface="Cascadia Code Light" panose="020B0609020000020004" pitchFamily="49" charset="0"/>
                  </a:rPr>
                  <a:t>V</a:t>
                </a:r>
                <a:r>
                  <a:rPr lang="en-US" altLang="en-US" sz="2000" baseline="-25000" dirty="0" err="1" smtClean="0">
                    <a:solidFill>
                      <a:srgbClr val="222222"/>
                    </a:solidFill>
                    <a:latin typeface="Cascadia Code Light" panose="020B0609020000020004" pitchFamily="49" charset="0"/>
                    <a:cs typeface="Cascadia Code Light" panose="020B0609020000020004" pitchFamily="49" charset="0"/>
                  </a:rPr>
                  <a:t>t</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a:t>
                </a:r>
                <a:r>
                  <a:rPr lang="en-US" altLang="en-US" sz="2000" dirty="0" smtClean="0">
                    <a:solidFill>
                      <a:srgbClr val="222222"/>
                    </a:solidFill>
                    <a:latin typeface="Cascadia Code Light" panose="020B0609020000020004" pitchFamily="49" charset="0"/>
                    <a:cs typeface="Cascadia Code Light" panose="020B0609020000020004" pitchFamily="49" charset="0"/>
                  </a:rPr>
                  <a:t>βV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t-1</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(1 – β</a:t>
                </a:r>
                <a:r>
                  <a:rPr lang="en-US" altLang="en-US" sz="2000" dirty="0" smtClean="0">
                    <a:solidFill>
                      <a:srgbClr val="222222"/>
                    </a:solidFill>
                    <a:latin typeface="Cascadia Code Light" panose="020B0609020000020004" pitchFamily="49" charset="0"/>
                    <a:cs typeface="Cascadia Code Light" panose="020B0609020000020004" pitchFamily="49" charset="0"/>
                  </a:rPr>
                  <a:t>)</a:t>
                </a:r>
                <a14:m>
                  <m:oMath xmlns:m="http://schemas.openxmlformats.org/officeDocument/2006/math">
                    <m:sSub>
                      <m:sSubPr>
                        <m:ctrlPr>
                          <a:rPr lang="en-US" altLang="en-US" sz="2000" i="1">
                            <a:solidFill>
                              <a:srgbClr val="212529"/>
                            </a:solidFill>
                            <a:latin typeface="Cambria Math" panose="02040503050406030204" pitchFamily="18" charset="0"/>
                          </a:rPr>
                        </m:ctrlPr>
                      </m:sSubPr>
                      <m:e>
                        <m:r>
                          <a:rPr lang="en-US" altLang="en-US" sz="2000" i="1">
                            <a:solidFill>
                              <a:srgbClr val="212529"/>
                            </a:solidFill>
                            <a:latin typeface="Cambria Math" panose="02040503050406030204" pitchFamily="18" charset="0"/>
                            <a:ea typeface="Cambria Math" panose="02040503050406030204" pitchFamily="18" charset="0"/>
                          </a:rPr>
                          <m:t>𝜃</m:t>
                        </m:r>
                      </m:e>
                      <m:sub>
                        <m:r>
                          <a:rPr lang="en-US" altLang="en-US" sz="2000" b="0" i="1" smtClean="0">
                            <a:solidFill>
                              <a:srgbClr val="212529"/>
                            </a:solidFill>
                            <a:latin typeface="Cambria Math" panose="02040503050406030204" pitchFamily="18" charset="0"/>
                            <a:ea typeface="Cambria Math" panose="02040503050406030204" pitchFamily="18" charset="0"/>
                          </a:rPr>
                          <m:t>𝑡</m:t>
                        </m:r>
                      </m:sub>
                    </m:sSub>
                  </m:oMath>
                </a14:m>
                <a:endParaRPr lang="en-US" altLang="en-US" sz="2000" dirty="0" smtClean="0">
                  <a:solidFill>
                    <a:srgbClr val="222222"/>
                  </a:solidFill>
                  <a:latin typeface="Cascadia Code Light" panose="020B0609020000020004" pitchFamily="49" charset="0"/>
                  <a:cs typeface="Cascadia Code Light" panose="020B0609020000020004" pitchFamily="49" charset="0"/>
                </a:endParaRPr>
              </a:p>
              <a:p>
                <a:pPr lvl="0" eaLnBrk="0" fontAlgn="base" hangingPunct="0">
                  <a:spcBef>
                    <a:spcPct val="0"/>
                  </a:spcBef>
                  <a:spcAft>
                    <a:spcPct val="0"/>
                  </a:spcAft>
                  <a:buClrTx/>
                </a:pPr>
                <a:r>
                  <a:rPr lang="en-US" altLang="en-US" sz="2000" dirty="0" smtClean="0">
                    <a:solidFill>
                      <a:srgbClr val="222222"/>
                    </a:solidFill>
                    <a:latin typeface="+mn-lt"/>
                  </a:rPr>
                  <a:t>Using </a:t>
                </a:r>
                <a:r>
                  <a:rPr lang="en-US" altLang="en-US" sz="2000" dirty="0">
                    <a:solidFill>
                      <a:srgbClr val="222222"/>
                    </a:solidFill>
                    <a:latin typeface="+mn-lt"/>
                  </a:rPr>
                  <a:t>this equation for trend, the data will be </a:t>
                </a:r>
                <a:r>
                  <a:rPr lang="en-US" altLang="en-US" sz="2000" dirty="0" smtClean="0">
                    <a:solidFill>
                      <a:srgbClr val="222222"/>
                    </a:solidFill>
                    <a:latin typeface="+mn-lt"/>
                  </a:rPr>
                  <a:t>generalized </a:t>
                </a:r>
                <a:r>
                  <a:rPr lang="en-US" altLang="en-US" sz="2000" dirty="0">
                    <a:solidFill>
                      <a:srgbClr val="222222"/>
                    </a:solidFill>
                    <a:latin typeface="+mn-lt"/>
                  </a:rPr>
                  <a:t>as:</a:t>
                </a:r>
                <a:endParaRPr kumimoji="0" lang="en-US" altLang="en-US" sz="2000" b="0" i="0" u="none" strike="noStrike" cap="none" normalizeH="0" baseline="0" dirty="0" smtClean="0">
                  <a:ln>
                    <a:noFill/>
                  </a:ln>
                  <a:solidFill>
                    <a:srgbClr val="212529"/>
                  </a:solidFill>
                  <a:effectLst/>
                  <a:latin typeface="+mn-lt"/>
                </a:endParaRPr>
              </a:p>
            </p:txBody>
          </p:sp>
        </mc:Choice>
        <mc:Fallback xmlns="">
          <p:sp>
            <p:nvSpPr>
              <p:cNvPr id="4" name="Rectangle 3"/>
              <p:cNvSpPr>
                <a:spLocks noRot="1" noChangeAspect="1" noMove="1" noResize="1" noEditPoints="1" noAdjustHandles="1" noChangeArrowheads="1" noChangeShapeType="1" noTextEdit="1"/>
              </p:cNvSpPr>
              <p:nvPr/>
            </p:nvSpPr>
            <p:spPr bwMode="auto">
              <a:xfrm>
                <a:off x="534181" y="1058141"/>
                <a:ext cx="11317850" cy="3123932"/>
              </a:xfrm>
              <a:prstGeom prst="rect">
                <a:avLst/>
              </a:prstGeom>
              <a:blipFill>
                <a:blip r:embed="rId4"/>
                <a:stretch>
                  <a:fillRect l="-593" t="-1953" r="-54" b="-3320"/>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3074" name="Picture 2" descr="https://cdn.analyticsvidhya.com/wp-content/uploads/2018/11/Screenshot-from-2018-11-03-12-56-0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0567" y="4196714"/>
            <a:ext cx="4048125" cy="2181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581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07"/>
        <p:cNvGrpSpPr/>
        <p:nvPr/>
      </p:nvGrpSpPr>
      <p:grpSpPr>
        <a:xfrm>
          <a:off x="0" y="0"/>
          <a:ext cx="0" cy="0"/>
          <a:chOff x="0" y="0"/>
          <a:chExt cx="0" cy="0"/>
        </a:xfrm>
      </p:grpSpPr>
      <p:sp>
        <p:nvSpPr>
          <p:cNvPr id="208" name="Google Shape;208;p45"/>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210" name="Google Shape;210;p45"/>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1" name="Google Shape;211;p4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2" name="Google Shape;212;p45"/>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24</a:t>
            </a:fld>
            <a:endParaRPr/>
          </a:p>
        </p:txBody>
      </p:sp>
      <p:sp>
        <p:nvSpPr>
          <p:cNvPr id="4" name="Rectangle 3"/>
          <p:cNvSpPr>
            <a:spLocks noChangeArrowheads="1"/>
          </p:cNvSpPr>
          <p:nvPr/>
        </p:nvSpPr>
        <p:spPr bwMode="auto">
          <a:xfrm>
            <a:off x="459666" y="1110147"/>
            <a:ext cx="11317850" cy="43550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000" dirty="0">
                <a:solidFill>
                  <a:srgbClr val="222222"/>
                </a:solidFill>
                <a:latin typeface="+mn-lt"/>
              </a:rPr>
              <a:t>The β value in this example is 0.9, which means </a:t>
            </a:r>
            <a:r>
              <a:rPr lang="en-US" altLang="en-US" sz="2000" dirty="0" err="1" smtClean="0">
                <a:solidFill>
                  <a:srgbClr val="222222"/>
                </a:solidFill>
                <a:latin typeface="+mn-lt"/>
              </a:rPr>
              <a:t>V</a:t>
            </a:r>
            <a:r>
              <a:rPr lang="en-US" altLang="en-US" sz="2000" baseline="-25000" dirty="0" err="1" smtClean="0">
                <a:solidFill>
                  <a:srgbClr val="222222"/>
                </a:solidFill>
                <a:latin typeface="+mn-lt"/>
              </a:rPr>
              <a:t>t</a:t>
            </a:r>
            <a:r>
              <a:rPr lang="en-US" altLang="en-US" sz="2000" dirty="0" smtClean="0">
                <a:solidFill>
                  <a:srgbClr val="222222"/>
                </a:solidFill>
                <a:latin typeface="+mn-lt"/>
              </a:rPr>
              <a:t> </a:t>
            </a:r>
            <a:r>
              <a:rPr lang="en-US" altLang="en-US" sz="2000" dirty="0">
                <a:solidFill>
                  <a:srgbClr val="222222"/>
                </a:solidFill>
                <a:latin typeface="+mn-lt"/>
              </a:rPr>
              <a:t>is an approximation of average over 1/(1-β) days, i.e., 1/(1-0.9) = 10 days temperature. Increasing the value of β will result in approximating over more days, i.e., taking the average temperature of more days. If the β value is small, i.e., we use only 1 day’s data for approximation, the predictions become much more noisy</a:t>
            </a:r>
            <a:r>
              <a:rPr lang="en-US" altLang="en-US" sz="2000" dirty="0" smtClean="0">
                <a:solidFill>
                  <a:srgbClr val="222222"/>
                </a:solidFill>
                <a:latin typeface="+mn-lt"/>
              </a:rPr>
              <a:t>:</a:t>
            </a:r>
          </a:p>
          <a:p>
            <a:pPr lvl="0" eaLnBrk="0" fontAlgn="base" hangingPunct="0">
              <a:spcBef>
                <a:spcPct val="0"/>
              </a:spcBef>
              <a:spcAft>
                <a:spcPct val="0"/>
              </a:spcAft>
              <a:buClrTx/>
            </a:pPr>
            <a:endParaRPr kumimoji="0" lang="en-US" altLang="en-US" sz="2000" b="0" i="0" u="none" strike="noStrike" cap="none" normalizeH="0" baseline="0" dirty="0">
              <a:ln>
                <a:noFill/>
              </a:ln>
              <a:solidFill>
                <a:srgbClr val="222222"/>
              </a:solidFill>
              <a:effectLst/>
              <a:latin typeface="+mn-lt"/>
            </a:endParaRPr>
          </a:p>
          <a:p>
            <a:pPr lvl="0" eaLnBrk="0" fontAlgn="base" hangingPunct="0">
              <a:spcBef>
                <a:spcPct val="0"/>
              </a:spcBef>
              <a:spcAft>
                <a:spcPct val="0"/>
              </a:spcAft>
              <a:buClrTx/>
            </a:pPr>
            <a:endParaRPr lang="en-US" altLang="en-US" sz="2000" dirty="0" smtClean="0">
              <a:solidFill>
                <a:srgbClr val="222222"/>
              </a:solidFill>
              <a:latin typeface="+mn-lt"/>
            </a:endParaRPr>
          </a:p>
          <a:p>
            <a:pPr lvl="0" eaLnBrk="0" fontAlgn="base" hangingPunct="0">
              <a:spcBef>
                <a:spcPct val="0"/>
              </a:spcBef>
              <a:spcAft>
                <a:spcPct val="0"/>
              </a:spcAft>
              <a:buClrTx/>
            </a:pPr>
            <a:endParaRPr kumimoji="0" lang="en-US" altLang="en-US" sz="2000" b="0" i="0" u="none" strike="noStrike" cap="none" normalizeH="0" baseline="0" dirty="0">
              <a:ln>
                <a:noFill/>
              </a:ln>
              <a:solidFill>
                <a:srgbClr val="222222"/>
              </a:solidFill>
              <a:effectLst/>
              <a:latin typeface="+mn-lt"/>
            </a:endParaRPr>
          </a:p>
          <a:p>
            <a:pPr lvl="0" eaLnBrk="0" fontAlgn="base" hangingPunct="0">
              <a:spcBef>
                <a:spcPct val="0"/>
              </a:spcBef>
              <a:spcAft>
                <a:spcPct val="0"/>
              </a:spcAft>
              <a:buClrTx/>
            </a:pPr>
            <a:endParaRPr lang="en-US" altLang="en-US" sz="2000" dirty="0" smtClean="0">
              <a:solidFill>
                <a:srgbClr val="222222"/>
              </a:solidFill>
              <a:latin typeface="+mn-lt"/>
            </a:endParaRPr>
          </a:p>
          <a:p>
            <a:pPr lvl="0" eaLnBrk="0" fontAlgn="base" hangingPunct="0">
              <a:spcBef>
                <a:spcPct val="0"/>
              </a:spcBef>
              <a:spcAft>
                <a:spcPct val="0"/>
              </a:spcAft>
              <a:buClrTx/>
            </a:pPr>
            <a:endParaRPr kumimoji="0" lang="en-US" altLang="en-US" sz="2000" b="0" i="0" u="none" strike="noStrike" cap="none" normalizeH="0" baseline="0" dirty="0">
              <a:ln>
                <a:noFill/>
              </a:ln>
              <a:solidFill>
                <a:srgbClr val="222222"/>
              </a:solidFill>
              <a:effectLst/>
              <a:latin typeface="+mn-lt"/>
            </a:endParaRPr>
          </a:p>
          <a:p>
            <a:pPr lvl="0" eaLnBrk="0" fontAlgn="base" hangingPunct="0">
              <a:spcBef>
                <a:spcPct val="0"/>
              </a:spcBef>
              <a:spcAft>
                <a:spcPct val="0"/>
              </a:spcAft>
              <a:buClrTx/>
            </a:pPr>
            <a:endParaRPr lang="en-US" altLang="en-US" sz="2000" dirty="0" smtClean="0">
              <a:solidFill>
                <a:srgbClr val="222222"/>
              </a:solidFill>
              <a:latin typeface="+mn-lt"/>
            </a:endParaRPr>
          </a:p>
          <a:p>
            <a:pPr lvl="0" eaLnBrk="0" fontAlgn="base" hangingPunct="0">
              <a:spcBef>
                <a:spcPct val="0"/>
              </a:spcBef>
              <a:spcAft>
                <a:spcPct val="0"/>
              </a:spcAft>
              <a:buClrTx/>
            </a:pPr>
            <a:endParaRPr kumimoji="0" lang="en-US" altLang="en-US" sz="2000" b="0" i="0" u="none" strike="noStrike" cap="none" normalizeH="0" baseline="0" dirty="0">
              <a:ln>
                <a:noFill/>
              </a:ln>
              <a:solidFill>
                <a:srgbClr val="222222"/>
              </a:solidFill>
              <a:effectLst/>
              <a:latin typeface="+mn-lt"/>
            </a:endParaRPr>
          </a:p>
          <a:p>
            <a:pPr lvl="0" eaLnBrk="0" fontAlgn="base" hangingPunct="0">
              <a:spcBef>
                <a:spcPct val="0"/>
              </a:spcBef>
              <a:spcAft>
                <a:spcPct val="0"/>
              </a:spcAft>
              <a:buClrTx/>
            </a:pPr>
            <a:endParaRPr lang="en-US" altLang="en-US" sz="2000" dirty="0" smtClean="0">
              <a:solidFill>
                <a:srgbClr val="222222"/>
              </a:solidFill>
              <a:latin typeface="+mn-lt"/>
            </a:endParaRPr>
          </a:p>
          <a:p>
            <a:pPr lvl="0" eaLnBrk="0" fontAlgn="base" hangingPunct="0">
              <a:spcBef>
                <a:spcPct val="0"/>
              </a:spcBef>
              <a:spcAft>
                <a:spcPct val="0"/>
              </a:spcAft>
              <a:buClrTx/>
            </a:pPr>
            <a:r>
              <a:rPr lang="en-US" altLang="en-US" sz="2000" dirty="0" smtClean="0">
                <a:solidFill>
                  <a:srgbClr val="222222"/>
                </a:solidFill>
                <a:latin typeface="+mn-lt"/>
              </a:rPr>
              <a:t>Here</a:t>
            </a:r>
            <a:r>
              <a:rPr lang="en-US" altLang="en-US" sz="2000" dirty="0">
                <a:solidFill>
                  <a:srgbClr val="222222"/>
                </a:solidFill>
                <a:latin typeface="+mn-lt"/>
              </a:rPr>
              <a:t>, the green line is the approximation when β = 0.98 (using 50 days) and the yellow line is when β = 0.5 (using 2 days). It can be seen that using small β results in noisy predictions.</a:t>
            </a:r>
            <a:endParaRPr lang="en-US" altLang="en-US" sz="2000" dirty="0" smtClean="0">
              <a:solidFill>
                <a:srgbClr val="222222"/>
              </a:solidFill>
              <a:latin typeface="+mn-lt"/>
            </a:endParaRPr>
          </a:p>
        </p:txBody>
      </p:sp>
      <p:pic>
        <p:nvPicPr>
          <p:cNvPr id="4098" name="Picture 2" descr="https://cdn.analyticsvidhya.com/wp-content/uploads/2018/11/Screenshot-from-2018-11-03-13-04-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783" y="2468149"/>
            <a:ext cx="4486275" cy="2219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4164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33"/>
        <p:cNvGrpSpPr/>
        <p:nvPr/>
      </p:nvGrpSpPr>
      <p:grpSpPr>
        <a:xfrm>
          <a:off x="0" y="0"/>
          <a:ext cx="0" cy="0"/>
          <a:chOff x="0" y="0"/>
          <a:chExt cx="0" cy="0"/>
        </a:xfrm>
      </p:grpSpPr>
      <p:sp>
        <p:nvSpPr>
          <p:cNvPr id="234" name="Google Shape;234;p47"/>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235" name="Google Shape;235;p47"/>
          <p:cNvSpPr txBox="1"/>
          <p:nvPr/>
        </p:nvSpPr>
        <p:spPr>
          <a:xfrm>
            <a:off x="261620" y="1362553"/>
            <a:ext cx="11804650" cy="1859483"/>
          </a:xfrm>
          <a:prstGeom prst="rect">
            <a:avLst/>
          </a:prstGeom>
          <a:noFill/>
          <a:ln>
            <a:noFill/>
          </a:ln>
        </p:spPr>
        <p:txBody>
          <a:bodyPr spcFirstLastPara="1" wrap="square" lIns="0" tIns="12700" rIns="0" bIns="0" anchor="t" anchorCtr="0">
            <a:spAutoFit/>
          </a:bodyPr>
          <a:lstStyle/>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smtClean="0">
                <a:solidFill>
                  <a:srgbClr val="000000"/>
                </a:solidFill>
                <a:latin typeface="Arial"/>
                <a:ea typeface="Arial"/>
                <a:cs typeface="Arial"/>
                <a:sym typeface="Arial"/>
              </a:rPr>
              <a:t>The </a:t>
            </a:r>
            <a:r>
              <a:rPr lang="en-US" sz="2400" b="0" i="0" u="none" strike="noStrike" cap="none" dirty="0">
                <a:solidFill>
                  <a:srgbClr val="000000"/>
                </a:solidFill>
                <a:latin typeface="Arial"/>
                <a:ea typeface="Arial"/>
                <a:cs typeface="Arial"/>
                <a:sym typeface="Arial"/>
              </a:rPr>
              <a:t>choice of β depends on the nature of the data and the desired level of smoothing. By varying the value of β, one can obtain different levels of smoothing and adaptation to changes in the data. The exponentially weighted average is a widely used technique in signal processing, finance, and machine learning, where it is used in optimization algorithms that are faster than gradient descent.</a:t>
            </a:r>
            <a:endParaRPr sz="2400" b="0" i="0" u="none" strike="noStrike" cap="none" dirty="0">
              <a:solidFill>
                <a:srgbClr val="000000"/>
              </a:solidFill>
              <a:latin typeface="Arial"/>
              <a:ea typeface="Arial"/>
              <a:cs typeface="Arial"/>
              <a:sym typeface="Arial"/>
            </a:endParaRPr>
          </a:p>
        </p:txBody>
      </p:sp>
      <p:sp>
        <p:nvSpPr>
          <p:cNvPr id="236" name="Google Shape;236;p47"/>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37" name="Google Shape;237;p4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38" name="Google Shape;238;p47"/>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52" name="Google Shape;252;p48"/>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26</a:t>
            </a:fld>
            <a:endParaRPr/>
          </a:p>
        </p:txBody>
      </p:sp>
      <p:pic>
        <p:nvPicPr>
          <p:cNvPr id="253" name="Google Shape;253;p48" descr="exponential-moving-average-with-different-betas"/>
          <p:cNvPicPr preferRelativeResize="0"/>
          <p:nvPr/>
        </p:nvPicPr>
        <p:blipFill rotWithShape="1">
          <a:blip r:embed="rId4">
            <a:alphaModFix/>
          </a:blip>
          <a:srcRect/>
          <a:stretch/>
        </p:blipFill>
        <p:spPr>
          <a:xfrm>
            <a:off x="296251" y="262219"/>
            <a:ext cx="10152426" cy="541761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07"/>
        <p:cNvGrpSpPr/>
        <p:nvPr/>
      </p:nvGrpSpPr>
      <p:grpSpPr>
        <a:xfrm>
          <a:off x="0" y="0"/>
          <a:ext cx="0" cy="0"/>
          <a:chOff x="0" y="0"/>
          <a:chExt cx="0" cy="0"/>
        </a:xfrm>
      </p:grpSpPr>
      <p:sp>
        <p:nvSpPr>
          <p:cNvPr id="208" name="Google Shape;208;p45"/>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210" name="Google Shape;210;p45"/>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1" name="Google Shape;211;p4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2" name="Google Shape;212;p45"/>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27</a:t>
            </a:fld>
            <a:endParaRPr/>
          </a:p>
        </p:txBody>
      </p:sp>
      <mc:AlternateContent xmlns:mc="http://schemas.openxmlformats.org/markup-compatibility/2006" xmlns:a14="http://schemas.microsoft.com/office/drawing/2010/main">
        <mc:Choice Requires="a14">
          <p:sp>
            <p:nvSpPr>
              <p:cNvPr id="4" name="Rectangle 3"/>
              <p:cNvSpPr>
                <a:spLocks noChangeArrowheads="1"/>
              </p:cNvSpPr>
              <p:nvPr/>
            </p:nvSpPr>
            <p:spPr bwMode="auto">
              <a:xfrm>
                <a:off x="459666" y="1571811"/>
                <a:ext cx="11317850" cy="3431709"/>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000" dirty="0" smtClean="0">
                    <a:solidFill>
                      <a:srgbClr val="222222"/>
                    </a:solidFill>
                    <a:latin typeface="+mn-lt"/>
                  </a:rPr>
                  <a:t>The equation of exponentially weighted averages is given by:</a:t>
                </a:r>
                <a:endParaRPr lang="en-US" altLang="en-US" sz="2000" dirty="0">
                  <a:solidFill>
                    <a:srgbClr val="222222"/>
                  </a:solidFill>
                  <a:latin typeface="+mn-lt"/>
                </a:endParaRPr>
              </a:p>
              <a:p>
                <a:pPr lvl="0" eaLnBrk="0" fontAlgn="base" hangingPunct="0">
                  <a:spcBef>
                    <a:spcPct val="0"/>
                  </a:spcBef>
                  <a:spcAft>
                    <a:spcPct val="0"/>
                  </a:spcAft>
                  <a:buClrTx/>
                </a:pPr>
                <a:r>
                  <a:rPr lang="en-US" altLang="en-US" sz="2000" b="1" dirty="0" err="1" smtClean="0">
                    <a:solidFill>
                      <a:srgbClr val="222222"/>
                    </a:solidFill>
                    <a:latin typeface="Cascadia Code Light" panose="020B0609020000020004" pitchFamily="49" charset="0"/>
                    <a:cs typeface="Cascadia Code Light" panose="020B0609020000020004" pitchFamily="49" charset="0"/>
                  </a:rPr>
                  <a:t>V</a:t>
                </a:r>
                <a:r>
                  <a:rPr lang="en-US" altLang="en-US" sz="2000" b="1" baseline="-25000" dirty="0" err="1" smtClean="0">
                    <a:solidFill>
                      <a:srgbClr val="222222"/>
                    </a:solidFill>
                    <a:latin typeface="Cascadia Code Light" panose="020B0609020000020004" pitchFamily="49" charset="0"/>
                    <a:cs typeface="Cascadia Code Light" panose="020B0609020000020004" pitchFamily="49" charset="0"/>
                  </a:rPr>
                  <a:t>t</a:t>
                </a:r>
                <a:r>
                  <a:rPr lang="en-US" altLang="en-US" sz="2000" b="1" dirty="0" smtClean="0">
                    <a:solidFill>
                      <a:srgbClr val="222222"/>
                    </a:solidFill>
                    <a:latin typeface="Cascadia Code Light" panose="020B0609020000020004" pitchFamily="49" charset="0"/>
                    <a:cs typeface="Cascadia Code Light" panose="020B0609020000020004" pitchFamily="49" charset="0"/>
                  </a:rPr>
                  <a:t> </a:t>
                </a:r>
                <a:r>
                  <a:rPr lang="en-US" altLang="en-US" sz="2000" b="1" dirty="0">
                    <a:solidFill>
                      <a:srgbClr val="222222"/>
                    </a:solidFill>
                    <a:latin typeface="Cascadia Code Light" panose="020B0609020000020004" pitchFamily="49" charset="0"/>
                    <a:cs typeface="Cascadia Code Light" panose="020B0609020000020004" pitchFamily="49" charset="0"/>
                  </a:rPr>
                  <a:t>= </a:t>
                </a:r>
                <a:r>
                  <a:rPr lang="en-US" altLang="en-US" sz="2000" b="1" dirty="0" smtClean="0">
                    <a:solidFill>
                      <a:srgbClr val="222222"/>
                    </a:solidFill>
                    <a:latin typeface="Cascadia Code Light" panose="020B0609020000020004" pitchFamily="49" charset="0"/>
                    <a:cs typeface="Cascadia Code Light" panose="020B0609020000020004" pitchFamily="49" charset="0"/>
                  </a:rPr>
                  <a:t>βV</a:t>
                </a:r>
                <a:r>
                  <a:rPr lang="en-US" altLang="en-US" sz="2000" b="1" baseline="-25000" dirty="0" smtClean="0">
                    <a:solidFill>
                      <a:srgbClr val="222222"/>
                    </a:solidFill>
                    <a:latin typeface="Cascadia Code Light" panose="020B0609020000020004" pitchFamily="49" charset="0"/>
                    <a:cs typeface="Cascadia Code Light" panose="020B0609020000020004" pitchFamily="49" charset="0"/>
                  </a:rPr>
                  <a:t>t-1</a:t>
                </a:r>
                <a:r>
                  <a:rPr lang="en-US" altLang="en-US" sz="2000" b="1" dirty="0" smtClean="0">
                    <a:solidFill>
                      <a:srgbClr val="222222"/>
                    </a:solidFill>
                    <a:latin typeface="Cascadia Code Light" panose="020B0609020000020004" pitchFamily="49" charset="0"/>
                    <a:cs typeface="Cascadia Code Light" panose="020B0609020000020004" pitchFamily="49" charset="0"/>
                  </a:rPr>
                  <a:t> </a:t>
                </a:r>
                <a:r>
                  <a:rPr lang="en-US" altLang="en-US" sz="2000" b="1" dirty="0">
                    <a:solidFill>
                      <a:srgbClr val="222222"/>
                    </a:solidFill>
                    <a:latin typeface="Cascadia Code Light" panose="020B0609020000020004" pitchFamily="49" charset="0"/>
                    <a:cs typeface="Cascadia Code Light" panose="020B0609020000020004" pitchFamily="49" charset="0"/>
                  </a:rPr>
                  <a:t>+ (1 – β</a:t>
                </a:r>
                <a:r>
                  <a:rPr lang="en-US" altLang="en-US" sz="2000" b="1" dirty="0" smtClean="0">
                    <a:solidFill>
                      <a:srgbClr val="222222"/>
                    </a:solidFill>
                    <a:latin typeface="Cascadia Code Light" panose="020B0609020000020004" pitchFamily="49" charset="0"/>
                    <a:cs typeface="Cascadia Code Light" panose="020B0609020000020004" pitchFamily="49" charset="0"/>
                  </a:rPr>
                  <a:t>)</a:t>
                </a:r>
                <a14:m>
                  <m:oMath xmlns:m="http://schemas.openxmlformats.org/officeDocument/2006/math">
                    <m:sSub>
                      <m:sSubPr>
                        <m:ctrlPr>
                          <a:rPr lang="en-US" altLang="en-US" sz="2000" b="1" i="1">
                            <a:solidFill>
                              <a:srgbClr val="212529"/>
                            </a:solidFill>
                            <a:latin typeface="Cambria Math" panose="02040503050406030204" pitchFamily="18" charset="0"/>
                          </a:rPr>
                        </m:ctrlPr>
                      </m:sSubPr>
                      <m:e>
                        <m:r>
                          <a:rPr lang="en-US" altLang="en-US" sz="2000" b="1" i="1">
                            <a:solidFill>
                              <a:srgbClr val="212529"/>
                            </a:solidFill>
                            <a:latin typeface="Cambria Math" panose="02040503050406030204" pitchFamily="18" charset="0"/>
                            <a:ea typeface="Cambria Math" panose="02040503050406030204" pitchFamily="18" charset="0"/>
                          </a:rPr>
                          <m:t>𝜽</m:t>
                        </m:r>
                      </m:e>
                      <m:sub>
                        <m:r>
                          <a:rPr lang="en-US" altLang="en-US" sz="2000" b="1" i="1" smtClean="0">
                            <a:solidFill>
                              <a:srgbClr val="212529"/>
                            </a:solidFill>
                            <a:latin typeface="Cambria Math" panose="02040503050406030204" pitchFamily="18" charset="0"/>
                            <a:ea typeface="Cambria Math" panose="02040503050406030204" pitchFamily="18" charset="0"/>
                          </a:rPr>
                          <m:t>𝒕</m:t>
                        </m:r>
                      </m:sub>
                    </m:sSub>
                  </m:oMath>
                </a14:m>
                <a:endParaRPr lang="en-US" altLang="en-US" sz="2000" b="1" dirty="0">
                  <a:solidFill>
                    <a:srgbClr val="222222"/>
                  </a:solidFill>
                  <a:latin typeface="Cascadia Code Light" panose="020B0609020000020004" pitchFamily="49" charset="0"/>
                  <a:cs typeface="Cascadia Code Light" panose="020B0609020000020004" pitchFamily="49" charset="0"/>
                </a:endParaRPr>
              </a:p>
              <a:p>
                <a:pPr lvl="0" eaLnBrk="0" fontAlgn="base" hangingPunct="0">
                  <a:spcBef>
                    <a:spcPct val="0"/>
                  </a:spcBef>
                  <a:spcAft>
                    <a:spcPct val="0"/>
                  </a:spcAft>
                  <a:buClrTx/>
                </a:pPr>
                <a:r>
                  <a:rPr lang="en-US" altLang="en-US" sz="2000" dirty="0">
                    <a:solidFill>
                      <a:srgbClr val="222222"/>
                    </a:solidFill>
                    <a:latin typeface="+mn-lt"/>
                  </a:rPr>
                  <a:t>Let’s look at how we can implement this</a:t>
                </a:r>
                <a:r>
                  <a:rPr lang="en-US" altLang="en-US" sz="2000" dirty="0" smtClean="0">
                    <a:solidFill>
                      <a:srgbClr val="222222"/>
                    </a:solidFill>
                    <a:latin typeface="+mn-lt"/>
                  </a:rPr>
                  <a:t>:</a:t>
                </a:r>
                <a:endParaRPr lang="en-US" altLang="en-US" sz="2000" dirty="0">
                  <a:solidFill>
                    <a:srgbClr val="222222"/>
                  </a:solidFill>
                  <a:latin typeface="+mn-lt"/>
                </a:endParaRPr>
              </a:p>
              <a:p>
                <a:pPr lvl="0" eaLnBrk="0" fontAlgn="base" hangingPunct="0">
                  <a:spcBef>
                    <a:spcPct val="0"/>
                  </a:spcBef>
                  <a:spcAft>
                    <a:spcPct val="0"/>
                  </a:spcAft>
                  <a:buClrTx/>
                </a:pPr>
                <a:r>
                  <a:rPr lang="en-US" altLang="en-US" sz="2000" dirty="0">
                    <a:solidFill>
                      <a:srgbClr val="222222"/>
                    </a:solidFill>
                    <a:latin typeface="Cascadia Code Light" panose="020B0609020000020004" pitchFamily="49" charset="0"/>
                    <a:cs typeface="Cascadia Code Light" panose="020B0609020000020004" pitchFamily="49" charset="0"/>
                  </a:rPr>
                  <a:t>Initialize </a:t>
                </a:r>
                <a:r>
                  <a:rPr lang="en-US" altLang="en-US" sz="2000" dirty="0" smtClean="0">
                    <a:solidFill>
                      <a:srgbClr val="222222"/>
                    </a:solidFill>
                    <a:latin typeface="Cascadia Code Light" panose="020B0609020000020004" pitchFamily="49" charset="0"/>
                    <a:cs typeface="Cascadia Code Light" panose="020B0609020000020004" pitchFamily="49" charset="0"/>
                  </a:rPr>
                  <a:t>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0</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0</a:t>
                </a:r>
              </a:p>
              <a:p>
                <a:pPr lvl="0" eaLnBrk="0" fontAlgn="base" hangingPunct="0">
                  <a:spcBef>
                    <a:spcPct val="0"/>
                  </a:spcBef>
                  <a:spcAft>
                    <a:spcPct val="0"/>
                  </a:spcAft>
                  <a:buClrTx/>
                </a:pPr>
                <a:r>
                  <a:rPr lang="en-US" altLang="en-US" sz="2000" dirty="0">
                    <a:solidFill>
                      <a:srgbClr val="222222"/>
                    </a:solidFill>
                    <a:latin typeface="Cascadia Code Light" panose="020B0609020000020004" pitchFamily="49" charset="0"/>
                    <a:cs typeface="Cascadia Code Light" panose="020B0609020000020004" pitchFamily="49" charset="0"/>
                  </a:rPr>
                  <a:t>Repeat</a:t>
                </a:r>
              </a:p>
              <a:p>
                <a:pPr lvl="0" eaLnBrk="0" fontAlgn="base" hangingPunct="0">
                  <a:spcBef>
                    <a:spcPct val="0"/>
                  </a:spcBef>
                  <a:spcAft>
                    <a:spcPct val="0"/>
                  </a:spcAft>
                  <a:buClrTx/>
                </a:pPr>
                <a:r>
                  <a:rPr lang="en-US" altLang="en-US" sz="2000" dirty="0">
                    <a:solidFill>
                      <a:srgbClr val="222222"/>
                    </a:solidFill>
                    <a:latin typeface="Cascadia Code Light" panose="020B0609020000020004" pitchFamily="49" charset="0"/>
                    <a:cs typeface="Cascadia Code Light" panose="020B0609020000020004" pitchFamily="49" charset="0"/>
                  </a:rPr>
                  <a:t>{</a:t>
                </a:r>
              </a:p>
              <a:p>
                <a:pPr lvl="0" eaLnBrk="0" fontAlgn="base" hangingPunct="0">
                  <a:spcBef>
                    <a:spcPct val="0"/>
                  </a:spcBef>
                  <a:spcAft>
                    <a:spcPct val="0"/>
                  </a:spcAft>
                  <a:buClrTx/>
                </a:pPr>
                <a:r>
                  <a:rPr lang="en-US" altLang="en-US" sz="2000" dirty="0" smtClean="0">
                    <a:solidFill>
                      <a:srgbClr val="222222"/>
                    </a:solidFill>
                    <a:latin typeface="Cascadia Code Light" panose="020B0609020000020004" pitchFamily="49" charset="0"/>
                    <a:cs typeface="Cascadia Code Light" panose="020B0609020000020004" pitchFamily="49" charset="0"/>
                  </a:rPr>
                  <a:t>	get </a:t>
                </a:r>
                <a:r>
                  <a:rPr lang="en-US" altLang="en-US" sz="2000" dirty="0">
                    <a:solidFill>
                      <a:srgbClr val="222222"/>
                    </a:solidFill>
                    <a:latin typeface="Cascadia Code Light" panose="020B0609020000020004" pitchFamily="49" charset="0"/>
                    <a:cs typeface="Cascadia Code Light" panose="020B0609020000020004" pitchFamily="49" charset="0"/>
                  </a:rPr>
                  <a:t>next </a:t>
                </a:r>
                <a14:m>
                  <m:oMath xmlns:m="http://schemas.openxmlformats.org/officeDocument/2006/math">
                    <m:sSub>
                      <m:sSubPr>
                        <m:ctrlPr>
                          <a:rPr lang="en-US" altLang="en-US" sz="2000" b="1" i="1">
                            <a:solidFill>
                              <a:srgbClr val="212529"/>
                            </a:solidFill>
                            <a:latin typeface="Cambria Math" panose="02040503050406030204" pitchFamily="18" charset="0"/>
                          </a:rPr>
                        </m:ctrlPr>
                      </m:sSubPr>
                      <m:e>
                        <m:r>
                          <a:rPr lang="en-US" altLang="en-US" sz="2000" b="1" i="1">
                            <a:solidFill>
                              <a:srgbClr val="212529"/>
                            </a:solidFill>
                            <a:latin typeface="Cambria Math" panose="02040503050406030204" pitchFamily="18" charset="0"/>
                            <a:ea typeface="Cambria Math" panose="02040503050406030204" pitchFamily="18" charset="0"/>
                          </a:rPr>
                          <m:t>𝜽</m:t>
                        </m:r>
                      </m:e>
                      <m:sub>
                        <m:r>
                          <a:rPr lang="en-US" altLang="en-US" sz="2000" b="1" i="1">
                            <a:solidFill>
                              <a:srgbClr val="212529"/>
                            </a:solidFill>
                            <a:latin typeface="Cambria Math" panose="02040503050406030204" pitchFamily="18" charset="0"/>
                            <a:ea typeface="Cambria Math" panose="02040503050406030204" pitchFamily="18" charset="0"/>
                          </a:rPr>
                          <m:t>𝒕</m:t>
                        </m:r>
                      </m:sub>
                    </m:sSub>
                  </m:oMath>
                </a14:m>
                <a:endParaRPr lang="en-US" altLang="en-US" sz="2000" dirty="0" smtClean="0">
                  <a:solidFill>
                    <a:srgbClr val="222222"/>
                  </a:solidFill>
                  <a:latin typeface="Cascadia Code Light" panose="020B0609020000020004" pitchFamily="49" charset="0"/>
                  <a:cs typeface="Cascadia Code Light" panose="020B0609020000020004" pitchFamily="49" charset="0"/>
                </a:endParaRPr>
              </a:p>
              <a:p>
                <a:pPr lvl="0" eaLnBrk="0" fontAlgn="base" hangingPunct="0">
                  <a:spcBef>
                    <a:spcPct val="0"/>
                  </a:spcBef>
                  <a:spcAft>
                    <a:spcPct val="0"/>
                  </a:spcAft>
                  <a:buClrTx/>
                </a:pPr>
                <a:r>
                  <a:rPr lang="en-US" altLang="en-US" sz="2000" dirty="0" smtClean="0">
                    <a:solidFill>
                      <a:srgbClr val="222222"/>
                    </a:solidFill>
                    <a:latin typeface="Cascadia Code Light" panose="020B0609020000020004" pitchFamily="49" charset="0"/>
                    <a:cs typeface="Cascadia Code Light" panose="020B0609020000020004" pitchFamily="49" charset="0"/>
                  </a:rPr>
                  <a:t>	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0</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a:t>
                </a:r>
                <a:r>
                  <a:rPr lang="en-US" altLang="en-US" sz="2000" dirty="0" smtClean="0">
                    <a:solidFill>
                      <a:srgbClr val="222222"/>
                    </a:solidFill>
                    <a:latin typeface="Cascadia Code Light" panose="020B0609020000020004" pitchFamily="49" charset="0"/>
                    <a:cs typeface="Cascadia Code Light" panose="020B0609020000020004" pitchFamily="49" charset="0"/>
                  </a:rPr>
                  <a:t>βV</a:t>
                </a:r>
                <a:r>
                  <a:rPr lang="en-US" altLang="en-US" sz="2000" baseline="-25000" dirty="0" smtClean="0">
                    <a:solidFill>
                      <a:srgbClr val="222222"/>
                    </a:solidFill>
                    <a:latin typeface="Cascadia Code Light" panose="020B0609020000020004" pitchFamily="49" charset="0"/>
                    <a:cs typeface="Cascadia Code Light" panose="020B0609020000020004" pitchFamily="49" charset="0"/>
                  </a:rPr>
                  <a:t>0</a:t>
                </a:r>
                <a:r>
                  <a:rPr lang="en-US" altLang="en-US" sz="2000" dirty="0" smtClean="0">
                    <a:solidFill>
                      <a:srgbClr val="222222"/>
                    </a:solidFill>
                    <a:latin typeface="Cascadia Code Light" panose="020B0609020000020004" pitchFamily="49" charset="0"/>
                    <a:cs typeface="Cascadia Code Light" panose="020B0609020000020004" pitchFamily="49" charset="0"/>
                  </a:rPr>
                  <a:t> </a:t>
                </a:r>
                <a:r>
                  <a:rPr lang="en-US" altLang="en-US" sz="2000" dirty="0">
                    <a:solidFill>
                      <a:srgbClr val="222222"/>
                    </a:solidFill>
                    <a:latin typeface="Cascadia Code Light" panose="020B0609020000020004" pitchFamily="49" charset="0"/>
                    <a:cs typeface="Cascadia Code Light" panose="020B0609020000020004" pitchFamily="49" charset="0"/>
                  </a:rPr>
                  <a:t>+ (1 - β</a:t>
                </a:r>
                <a:r>
                  <a:rPr lang="en-US" altLang="en-US" sz="2000" dirty="0" smtClean="0">
                    <a:solidFill>
                      <a:srgbClr val="222222"/>
                    </a:solidFill>
                    <a:latin typeface="Cascadia Code Light" panose="020B0609020000020004" pitchFamily="49" charset="0"/>
                    <a:cs typeface="Cascadia Code Light" panose="020B0609020000020004" pitchFamily="49" charset="0"/>
                  </a:rPr>
                  <a:t>)</a:t>
                </a:r>
                <a14:m>
                  <m:oMath xmlns:m="http://schemas.openxmlformats.org/officeDocument/2006/math">
                    <m:sSub>
                      <m:sSubPr>
                        <m:ctrlPr>
                          <a:rPr lang="en-US" altLang="en-US" sz="2000" b="1" i="1">
                            <a:solidFill>
                              <a:srgbClr val="212529"/>
                            </a:solidFill>
                            <a:latin typeface="Cambria Math" panose="02040503050406030204" pitchFamily="18" charset="0"/>
                          </a:rPr>
                        </m:ctrlPr>
                      </m:sSubPr>
                      <m:e>
                        <m:r>
                          <a:rPr lang="en-US" altLang="en-US" sz="2000" b="1" i="1">
                            <a:solidFill>
                              <a:srgbClr val="212529"/>
                            </a:solidFill>
                            <a:latin typeface="Cambria Math" panose="02040503050406030204" pitchFamily="18" charset="0"/>
                            <a:ea typeface="Cambria Math" panose="02040503050406030204" pitchFamily="18" charset="0"/>
                          </a:rPr>
                          <m:t>𝜽</m:t>
                        </m:r>
                      </m:e>
                      <m:sub>
                        <m:r>
                          <a:rPr lang="en-US" altLang="en-US" sz="2000" b="1" i="1">
                            <a:solidFill>
                              <a:srgbClr val="212529"/>
                            </a:solidFill>
                            <a:latin typeface="Cambria Math" panose="02040503050406030204" pitchFamily="18" charset="0"/>
                            <a:ea typeface="Cambria Math" panose="02040503050406030204" pitchFamily="18" charset="0"/>
                          </a:rPr>
                          <m:t>𝒕</m:t>
                        </m:r>
                      </m:sub>
                    </m:sSub>
                  </m:oMath>
                </a14:m>
                <a:endParaRPr lang="en-US" altLang="en-US" sz="2000" dirty="0" smtClean="0">
                  <a:solidFill>
                    <a:srgbClr val="222222"/>
                  </a:solidFill>
                  <a:latin typeface="Cascadia Code Light" panose="020B0609020000020004" pitchFamily="49" charset="0"/>
                  <a:cs typeface="Cascadia Code Light" panose="020B0609020000020004" pitchFamily="49" charset="0"/>
                </a:endParaRPr>
              </a:p>
              <a:p>
                <a:pPr lvl="0" eaLnBrk="0" fontAlgn="base" hangingPunct="0">
                  <a:spcBef>
                    <a:spcPct val="0"/>
                  </a:spcBef>
                  <a:spcAft>
                    <a:spcPct val="0"/>
                  </a:spcAft>
                  <a:buClrTx/>
                </a:pPr>
                <a:r>
                  <a:rPr lang="en-US" altLang="en-US" sz="2000" dirty="0" smtClean="0">
                    <a:solidFill>
                      <a:srgbClr val="222222"/>
                    </a:solidFill>
                    <a:latin typeface="Cascadia Code Light" panose="020B0609020000020004" pitchFamily="49" charset="0"/>
                    <a:cs typeface="Cascadia Code Light" panose="020B0609020000020004" pitchFamily="49" charset="0"/>
                  </a:rPr>
                  <a:t>}</a:t>
                </a:r>
                <a:endParaRPr lang="en-US" altLang="en-US" sz="2000" dirty="0">
                  <a:solidFill>
                    <a:srgbClr val="222222"/>
                  </a:solidFill>
                  <a:latin typeface="Cascadia Code Light" panose="020B0609020000020004" pitchFamily="49" charset="0"/>
                  <a:cs typeface="Cascadia Code Light" panose="020B0609020000020004" pitchFamily="49" charset="0"/>
                </a:endParaRPr>
              </a:p>
              <a:p>
                <a:pPr lvl="0" eaLnBrk="0" fontAlgn="base" hangingPunct="0">
                  <a:spcBef>
                    <a:spcPct val="0"/>
                  </a:spcBef>
                  <a:spcAft>
                    <a:spcPct val="0"/>
                  </a:spcAft>
                  <a:buClrTx/>
                </a:pPr>
                <a:r>
                  <a:rPr lang="en-US" altLang="en-US" sz="2000" dirty="0">
                    <a:solidFill>
                      <a:srgbClr val="222222"/>
                    </a:solidFill>
                    <a:latin typeface="+mn-lt"/>
                  </a:rPr>
                  <a:t>This step takes a lot less memory </a:t>
                </a:r>
                <a:r>
                  <a:rPr lang="en-US" altLang="en-US" sz="2000" b="1" dirty="0">
                    <a:solidFill>
                      <a:srgbClr val="222222"/>
                    </a:solidFill>
                    <a:latin typeface="+mn-lt"/>
                  </a:rPr>
                  <a:t>as we are overwriting the previous values</a:t>
                </a:r>
                <a:r>
                  <a:rPr lang="en-US" altLang="en-US" sz="2000" dirty="0">
                    <a:solidFill>
                      <a:srgbClr val="222222"/>
                    </a:solidFill>
                    <a:latin typeface="+mn-lt"/>
                  </a:rPr>
                  <a:t>. Hence, it is a computational, as well as memory efficient, process.</a:t>
                </a:r>
                <a:endParaRPr lang="en-US" altLang="en-US" sz="2000" dirty="0" smtClean="0">
                  <a:solidFill>
                    <a:srgbClr val="222222"/>
                  </a:solidFill>
                  <a:latin typeface="+mn-lt"/>
                </a:endParaRPr>
              </a:p>
            </p:txBody>
          </p:sp>
        </mc:Choice>
        <mc:Fallback xmlns="">
          <p:sp>
            <p:nvSpPr>
              <p:cNvPr id="4" name="Rectangle 3"/>
              <p:cNvSpPr>
                <a:spLocks noRot="1" noChangeAspect="1" noMove="1" noResize="1" noEditPoints="1" noAdjustHandles="1" noChangeArrowheads="1" noChangeShapeType="1" noTextEdit="1"/>
              </p:cNvSpPr>
              <p:nvPr/>
            </p:nvSpPr>
            <p:spPr bwMode="auto">
              <a:xfrm>
                <a:off x="459666" y="1571811"/>
                <a:ext cx="11317850" cy="3431709"/>
              </a:xfrm>
              <a:prstGeom prst="rect">
                <a:avLst/>
              </a:prstGeom>
              <a:blipFill>
                <a:blip r:embed="rId4"/>
                <a:stretch>
                  <a:fillRect l="-539" t="-1599" b="-2842"/>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592648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57"/>
        <p:cNvGrpSpPr/>
        <p:nvPr/>
      </p:nvGrpSpPr>
      <p:grpSpPr>
        <a:xfrm>
          <a:off x="0" y="0"/>
          <a:ext cx="0" cy="0"/>
          <a:chOff x="0" y="0"/>
          <a:chExt cx="0" cy="0"/>
        </a:xfrm>
      </p:grpSpPr>
      <p:sp>
        <p:nvSpPr>
          <p:cNvPr id="258" name="Google Shape;258;p12"/>
          <p:cNvSpPr txBox="1">
            <a:spLocks noGrp="1"/>
          </p:cNvSpPr>
          <p:nvPr>
            <p:ph type="title"/>
          </p:nvPr>
        </p:nvSpPr>
        <p:spPr>
          <a:xfrm>
            <a:off x="1742100" y="1265775"/>
            <a:ext cx="9561900" cy="2040300"/>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a:t>Optimization Algorithms</a:t>
            </a:r>
            <a:endParaRPr/>
          </a:p>
        </p:txBody>
      </p:sp>
      <p:sp>
        <p:nvSpPr>
          <p:cNvPr id="259" name="Google Shape;259;p12"/>
          <p:cNvSpPr txBox="1"/>
          <p:nvPr/>
        </p:nvSpPr>
        <p:spPr>
          <a:xfrm>
            <a:off x="5578716" y="3704167"/>
            <a:ext cx="5782200" cy="2506500"/>
          </a:xfrm>
          <a:prstGeom prst="rect">
            <a:avLst/>
          </a:prstGeom>
          <a:noFill/>
          <a:ln>
            <a:noFill/>
          </a:ln>
        </p:spPr>
        <p:txBody>
          <a:bodyPr spcFirstLastPara="1" wrap="square" lIns="0" tIns="12700" rIns="0" bIns="0" anchor="t" anchorCtr="0">
            <a:spAutoFit/>
          </a:bodyPr>
          <a:lstStyle/>
          <a:p>
            <a:pPr marL="12065" marR="5080" lvl="0" indent="-635" algn="ctr" rtl="0">
              <a:lnSpc>
                <a:spcPct val="100000"/>
              </a:lnSpc>
              <a:spcBef>
                <a:spcPts val="0"/>
              </a:spcBef>
              <a:spcAft>
                <a:spcPts val="0"/>
              </a:spcAft>
              <a:buClr>
                <a:srgbClr val="000000"/>
              </a:buClr>
              <a:buSzPts val="6000"/>
              <a:buFont typeface="Arial"/>
              <a:buNone/>
            </a:pPr>
            <a:r>
              <a:rPr lang="en-US" sz="5400" b="0" i="0" u="none" strike="noStrike" cap="none">
                <a:solidFill>
                  <a:srgbClr val="000000"/>
                </a:solidFill>
                <a:latin typeface="Arial"/>
                <a:ea typeface="Arial"/>
                <a:cs typeface="Arial"/>
                <a:sym typeface="Arial"/>
              </a:rPr>
              <a:t>Understanding exponentially weighted averages</a:t>
            </a:r>
            <a:endParaRPr sz="5400" b="0" i="0" u="none" strike="noStrike" cap="none">
              <a:solidFill>
                <a:srgbClr val="000000"/>
              </a:solidFill>
              <a:latin typeface="Arial"/>
              <a:ea typeface="Arial"/>
              <a:cs typeface="Arial"/>
              <a:sym typeface="Arial"/>
            </a:endParaRPr>
          </a:p>
        </p:txBody>
      </p:sp>
      <p:sp>
        <p:nvSpPr>
          <p:cNvPr id="260" name="Google Shape;260;p1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61" name="Google Shape;261;p1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62" name="Google Shape;262;p12"/>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66"/>
        <p:cNvGrpSpPr/>
        <p:nvPr/>
      </p:nvGrpSpPr>
      <p:grpSpPr>
        <a:xfrm>
          <a:off x="0" y="0"/>
          <a:ext cx="0" cy="0"/>
          <a:chOff x="0" y="0"/>
          <a:chExt cx="0" cy="0"/>
        </a:xfrm>
      </p:grpSpPr>
      <p:sp>
        <p:nvSpPr>
          <p:cNvPr id="267" name="Google Shape;267;p13"/>
          <p:cNvSpPr txBox="1">
            <a:spLocks noGrp="1"/>
          </p:cNvSpPr>
          <p:nvPr>
            <p:ph type="title"/>
          </p:nvPr>
        </p:nvSpPr>
        <p:spPr>
          <a:xfrm>
            <a:off x="139968" y="105471"/>
            <a:ext cx="10023939" cy="754053"/>
          </a:xfrm>
          <a:prstGeom prst="rect">
            <a:avLst/>
          </a:prstGeom>
          <a:noFill/>
          <a:ln>
            <a:noFill/>
          </a:ln>
        </p:spPr>
        <p:txBody>
          <a:bodyPr spcFirstLastPara="1" wrap="square" lIns="0" tIns="76200" rIns="0" bIns="0" anchor="t" anchorCtr="0">
            <a:spAutoFit/>
          </a:bodyPr>
          <a:lstStyle/>
          <a:p>
            <a:pPr marL="38100" lvl="0" indent="0" algn="l" rtl="0">
              <a:lnSpc>
                <a:spcPct val="100000"/>
              </a:lnSpc>
              <a:spcBef>
                <a:spcPts val="0"/>
              </a:spcBef>
              <a:spcAft>
                <a:spcPts val="0"/>
              </a:spcAft>
              <a:buSzPts val="1400"/>
              <a:buNone/>
            </a:pPr>
            <a:r>
              <a:rPr lang="en-US" sz="4400" b="0" dirty="0">
                <a:latin typeface="+mj-lt"/>
                <a:ea typeface="Cambria"/>
                <a:cs typeface="Cambria"/>
                <a:sym typeface="Cambria"/>
              </a:rPr>
              <a:t>Exponentially weighted </a:t>
            </a:r>
            <a:r>
              <a:rPr lang="en-US" sz="4400" b="0" dirty="0" smtClean="0">
                <a:latin typeface="+mj-lt"/>
                <a:ea typeface="Cambria"/>
                <a:cs typeface="Cambria"/>
                <a:sym typeface="Cambria"/>
              </a:rPr>
              <a:t>averages (EWA)</a:t>
            </a:r>
            <a:endParaRPr sz="4400" dirty="0">
              <a:latin typeface="+mj-lt"/>
              <a:ea typeface="Cambria"/>
              <a:cs typeface="Cambria"/>
              <a:sym typeface="Cambria"/>
            </a:endParaRPr>
          </a:p>
        </p:txBody>
      </p:sp>
      <p:pic>
        <p:nvPicPr>
          <p:cNvPr id="269" name="Google Shape;269;p13"/>
          <p:cNvPicPr preferRelativeResize="0"/>
          <p:nvPr/>
        </p:nvPicPr>
        <p:blipFill rotWithShape="1">
          <a:blip r:embed="rId3">
            <a:alphaModFix/>
          </a:blip>
          <a:srcRect/>
          <a:stretch/>
        </p:blipFill>
        <p:spPr>
          <a:xfrm>
            <a:off x="520200" y="4291100"/>
            <a:ext cx="6645409" cy="2397735"/>
          </a:xfrm>
          <a:prstGeom prst="rect">
            <a:avLst/>
          </a:prstGeom>
          <a:noFill/>
          <a:ln>
            <a:noFill/>
          </a:ln>
        </p:spPr>
      </p:pic>
      <p:pic>
        <p:nvPicPr>
          <p:cNvPr id="270" name="Google Shape;270;p13"/>
          <p:cNvPicPr preferRelativeResize="0"/>
          <p:nvPr/>
        </p:nvPicPr>
        <p:blipFill rotWithShape="1">
          <a:blip r:embed="rId4">
            <a:alphaModFix/>
          </a:blip>
          <a:srcRect/>
          <a:stretch/>
        </p:blipFill>
        <p:spPr>
          <a:xfrm>
            <a:off x="139969" y="1160199"/>
            <a:ext cx="5198831" cy="3130895"/>
          </a:xfrm>
          <a:prstGeom prst="rect">
            <a:avLst/>
          </a:prstGeom>
          <a:noFill/>
          <a:ln>
            <a:noFill/>
          </a:ln>
        </p:spPr>
      </p:pic>
      <p:pic>
        <p:nvPicPr>
          <p:cNvPr id="271" name="Google Shape;271;p13"/>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72" name="Google Shape;272;p13"/>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29</a:t>
            </a:fld>
            <a:endParaRPr/>
          </a:p>
        </p:txBody>
      </p:sp>
      <mc:AlternateContent xmlns:mc="http://schemas.openxmlformats.org/markup-compatibility/2006" xmlns:a14="http://schemas.microsoft.com/office/drawing/2010/main">
        <mc:Choice Requires="a14">
          <p:sp>
            <p:nvSpPr>
              <p:cNvPr id="2" name="TextBox 1"/>
              <p:cNvSpPr txBox="1"/>
              <p:nvPr/>
            </p:nvSpPr>
            <p:spPr>
              <a:xfrm>
                <a:off x="5046785" y="1345223"/>
                <a:ext cx="6989884" cy="2608535"/>
              </a:xfrm>
              <a:prstGeom prst="rect">
                <a:avLst/>
              </a:prstGeom>
              <a:noFill/>
            </p:spPr>
            <p:txBody>
              <a:bodyPr wrap="square" rtlCol="0">
                <a:spAutoFit/>
              </a:bodyPr>
              <a:lstStyle/>
              <a:p>
                <a:r>
                  <a:rPr lang="en-US" sz="1600" dirty="0" smtClean="0"/>
                  <a:t>Also, if beta = 0.9 the weight decays to about a third by 10th iteration.</a:t>
                </a:r>
              </a:p>
              <a:p>
                <a:endParaRPr lang="en-US" sz="1600" dirty="0" smtClean="0"/>
              </a:p>
              <a:p>
                <a:r>
                  <a:rPr lang="en-US" sz="1600" dirty="0" smtClean="0"/>
                  <a:t>Proof</a:t>
                </a:r>
                <a:r>
                  <a:rPr lang="en-US" sz="1600" dirty="0"/>
                  <a:t>: </a:t>
                </a:r>
                <a14:m>
                  <m:oMath xmlns:m="http://schemas.openxmlformats.org/officeDocument/2006/math">
                    <m:sSup>
                      <m:sSupPr>
                        <m:ctrlPr>
                          <a:rPr lang="en-US" sz="1600" i="1" smtClean="0">
                            <a:latin typeface="Cambria Math" panose="02040503050406030204" pitchFamily="18" charset="0"/>
                          </a:rPr>
                        </m:ctrlPr>
                      </m:sSupPr>
                      <m:e>
                        <m:r>
                          <m:rPr>
                            <m:nor/>
                          </m:rPr>
                          <a:rPr lang="en-US" sz="1600" dirty="0"/>
                          <m:t>(1−</m:t>
                        </m:r>
                        <m:r>
                          <m:rPr>
                            <m:nor/>
                          </m:rPr>
                          <a:rPr lang="en-US" sz="1600" b="0" i="0" dirty="0" smtClean="0"/>
                          <m:t> </m:t>
                        </m:r>
                        <m:r>
                          <m:rPr>
                            <m:nor/>
                          </m:rPr>
                          <a:rPr lang="en-US" sz="1600" b="0" i="0" dirty="0" smtClean="0"/>
                          <m:t>epsilon</m:t>
                        </m:r>
                        <m:r>
                          <m:rPr>
                            <m:nor/>
                          </m:rPr>
                          <a:rPr lang="en-US" sz="1600" dirty="0"/>
                          <m:t>)</m:t>
                        </m:r>
                      </m:e>
                      <m:sup>
                        <m:r>
                          <m:rPr>
                            <m:nor/>
                          </m:rPr>
                          <a:rPr lang="en-US" sz="1600" dirty="0"/>
                          <m:t>(1</m:t>
                        </m:r>
                        <m:r>
                          <a:rPr lang="en-US" sz="1600" b="0" i="1" dirty="0" smtClean="0">
                            <a:latin typeface="Cambria Math" panose="02040503050406030204" pitchFamily="18" charset="0"/>
                          </a:rPr>
                          <m:t>/</m:t>
                        </m:r>
                        <m:r>
                          <m:rPr>
                            <m:nor/>
                          </m:rPr>
                          <a:rPr lang="en-US" sz="1600" b="0" i="0" dirty="0" smtClean="0">
                            <a:latin typeface="Cambria Math" panose="02040503050406030204" pitchFamily="18" charset="0"/>
                          </a:rPr>
                          <m:t>epsilon</m:t>
                        </m:r>
                        <m:r>
                          <m:rPr>
                            <m:nor/>
                          </m:rPr>
                          <a:rPr lang="en-US" sz="1600" dirty="0"/>
                          <m:t>)</m:t>
                        </m:r>
                      </m:sup>
                    </m:sSup>
                  </m:oMath>
                </a14:m>
                <a:r>
                  <a:rPr lang="en-US" sz="1600" dirty="0" smtClean="0"/>
                  <a:t> ≈ 1/e , where e </a:t>
                </a:r>
                <a:r>
                  <a:rPr lang="en-US" sz="1600" dirty="0"/>
                  <a:t>is 2.718281828459045… (Euler’s </a:t>
                </a:r>
                <a:r>
                  <a:rPr lang="en-US" sz="1600" dirty="0" smtClean="0"/>
                  <a:t>number)</a:t>
                </a:r>
              </a:p>
              <a:p>
                <a:endParaRPr lang="en-US" sz="1600" dirty="0" smtClean="0"/>
              </a:p>
              <a:p>
                <a:r>
                  <a:rPr lang="en-US" sz="1600" dirty="0" smtClean="0"/>
                  <a:t>epsilon </a:t>
                </a:r>
                <a:r>
                  <a:rPr lang="en-US" sz="1600" dirty="0"/>
                  <a:t>= 1 - beta</a:t>
                </a:r>
              </a:p>
              <a:p>
                <a:r>
                  <a:rPr lang="en-US" sz="1600" dirty="0"/>
                  <a:t>of beta = 0.9, epsilon = 1 - beta = 0.1</a:t>
                </a:r>
              </a:p>
              <a:p>
                <a:endParaRPr lang="en-US" sz="1600" dirty="0"/>
              </a:p>
              <a:p>
                <a:r>
                  <a:rPr lang="en-US" sz="1600" dirty="0" smtClean="0"/>
                  <a:t>(1-0.1)</a:t>
                </a:r>
                <a:r>
                  <a:rPr lang="en-US" sz="1600" baseline="30000" dirty="0" smtClean="0"/>
                  <a:t>(1/0.1)</a:t>
                </a:r>
                <a:r>
                  <a:rPr lang="en-US" sz="1600" dirty="0" smtClean="0"/>
                  <a:t> = 0,9</a:t>
                </a:r>
                <a:r>
                  <a:rPr lang="en-US" sz="1600" baseline="30000" dirty="0" smtClean="0"/>
                  <a:t>10</a:t>
                </a:r>
                <a:r>
                  <a:rPr lang="en-US" sz="1600" dirty="0" smtClean="0"/>
                  <a:t> = 0.35 ≈ 1/e</a:t>
                </a:r>
                <a:endParaRPr lang="en-US" sz="1600" dirty="0"/>
              </a:p>
              <a:p>
                <a:r>
                  <a:rPr lang="en-US" sz="1600" dirty="0"/>
                  <a:t>Interpretation: It takes about 10 days for height to decay to 1/3rd</a:t>
                </a:r>
              </a:p>
            </p:txBody>
          </p:sp>
        </mc:Choice>
        <mc:Fallback xmlns="">
          <p:sp>
            <p:nvSpPr>
              <p:cNvPr id="2" name="TextBox 1"/>
              <p:cNvSpPr txBox="1">
                <a:spLocks noRot="1" noChangeAspect="1" noMove="1" noResize="1" noEditPoints="1" noAdjustHandles="1" noChangeArrowheads="1" noChangeShapeType="1" noTextEdit="1"/>
              </p:cNvSpPr>
              <p:nvPr/>
            </p:nvSpPr>
            <p:spPr>
              <a:xfrm>
                <a:off x="5046785" y="1345223"/>
                <a:ext cx="6989884" cy="2608535"/>
              </a:xfrm>
              <a:prstGeom prst="rect">
                <a:avLst/>
              </a:prstGeom>
              <a:blipFill>
                <a:blip r:embed="rId6"/>
                <a:stretch>
                  <a:fillRect l="-523" t="-701" b="-2103"/>
                </a:stretch>
              </a:blipFill>
            </p:spPr>
            <p:txBody>
              <a:bodyPr/>
              <a:lstStyle/>
              <a:p>
                <a:r>
                  <a:rPr 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85"/>
        <p:cNvGrpSpPr/>
        <p:nvPr/>
      </p:nvGrpSpPr>
      <p:grpSpPr>
        <a:xfrm>
          <a:off x="0" y="0"/>
          <a:ext cx="0" cy="0"/>
          <a:chOff x="0" y="0"/>
          <a:chExt cx="0" cy="0"/>
        </a:xfrm>
      </p:grpSpPr>
      <p:sp>
        <p:nvSpPr>
          <p:cNvPr id="286" name="Google Shape;286;p49"/>
          <p:cNvSpPr txBox="1"/>
          <p:nvPr/>
        </p:nvSpPr>
        <p:spPr>
          <a:xfrm>
            <a:off x="261620" y="139696"/>
            <a:ext cx="9824085"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mj-lt"/>
                <a:ea typeface="Cambria"/>
                <a:cs typeface="Cambria"/>
                <a:sym typeface="Cambria"/>
              </a:rPr>
              <a:t>Exponentially weighted averages</a:t>
            </a:r>
            <a:endParaRPr dirty="0">
              <a:latin typeface="+mj-lt"/>
            </a:endParaRPr>
          </a:p>
        </p:txBody>
      </p:sp>
      <p:sp>
        <p:nvSpPr>
          <p:cNvPr id="287" name="Google Shape;287;p49"/>
          <p:cNvSpPr txBox="1"/>
          <p:nvPr/>
        </p:nvSpPr>
        <p:spPr>
          <a:xfrm>
            <a:off x="261620" y="1362553"/>
            <a:ext cx="11804650" cy="1490152"/>
          </a:xfrm>
          <a:prstGeom prst="rect">
            <a:avLst/>
          </a:prstGeom>
          <a:noFill/>
          <a:ln>
            <a:noFill/>
          </a:ln>
        </p:spPr>
        <p:txBody>
          <a:bodyPr spcFirstLastPara="1" wrap="square" lIns="0" tIns="12700" rIns="0" bIns="0" anchor="t" anchorCtr="0">
            <a:spAutoFit/>
          </a:bodyPr>
          <a:lstStyle/>
          <a:p>
            <a:pPr marL="355600" lvl="0" indent="-342900">
              <a:buSzPts val="3200"/>
              <a:buFont typeface="Arial"/>
              <a:buChar char="•"/>
            </a:pPr>
            <a:r>
              <a:rPr lang="en-US" sz="2400" dirty="0"/>
              <a:t>The EWA algorithm computes a time series moving average with exponentially decaying weights, adapting faster with smaller beta and slower with larger beta. </a:t>
            </a:r>
            <a:endParaRPr lang="en-US" sz="2400" dirty="0" smtClean="0"/>
          </a:p>
          <a:p>
            <a:pPr marL="355600" lvl="0" indent="-342900">
              <a:buSzPts val="3200"/>
              <a:buFont typeface="Arial"/>
              <a:buChar char="•"/>
            </a:pPr>
            <a:r>
              <a:rPr lang="en-US" sz="2400" dirty="0" smtClean="0"/>
              <a:t>Its </a:t>
            </a:r>
            <a:r>
              <a:rPr lang="en-US" sz="2400" dirty="0"/>
              <a:t>efficiency lies in minimal memory usage, making it suitable for computing averages across numerous variables.</a:t>
            </a:r>
            <a:endParaRPr dirty="0"/>
          </a:p>
        </p:txBody>
      </p:sp>
      <p:sp>
        <p:nvSpPr>
          <p:cNvPr id="288" name="Google Shape;288;p49"/>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89" name="Google Shape;289;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90" name="Google Shape;290;p49"/>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15"/>
          <p:cNvSpPr txBox="1">
            <a:spLocks noGrp="1"/>
          </p:cNvSpPr>
          <p:nvPr>
            <p:ph type="title"/>
          </p:nvPr>
        </p:nvSpPr>
        <p:spPr>
          <a:xfrm>
            <a:off x="1742100" y="1265775"/>
            <a:ext cx="9469800" cy="2040300"/>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a:t>Optimization Algorithms</a:t>
            </a:r>
            <a:endParaRPr/>
          </a:p>
        </p:txBody>
      </p:sp>
      <p:sp>
        <p:nvSpPr>
          <p:cNvPr id="296" name="Google Shape;296;p15"/>
          <p:cNvSpPr txBox="1"/>
          <p:nvPr/>
        </p:nvSpPr>
        <p:spPr>
          <a:xfrm>
            <a:off x="5015966" y="3636425"/>
            <a:ext cx="6908700" cy="2506500"/>
          </a:xfrm>
          <a:prstGeom prst="rect">
            <a:avLst/>
          </a:prstGeom>
          <a:noFill/>
          <a:ln>
            <a:noFill/>
          </a:ln>
        </p:spPr>
        <p:txBody>
          <a:bodyPr spcFirstLastPara="1" wrap="square" lIns="0" tIns="12700" rIns="0" bIns="0" anchor="t" anchorCtr="0">
            <a:spAutoFit/>
          </a:bodyPr>
          <a:lstStyle/>
          <a:p>
            <a:pPr marL="287020" marR="279400" lvl="0" indent="633" algn="ctr" rtl="0">
              <a:lnSpc>
                <a:spcPct val="100000"/>
              </a:lnSpc>
              <a:spcBef>
                <a:spcPts val="0"/>
              </a:spcBef>
              <a:spcAft>
                <a:spcPts val="0"/>
              </a:spcAft>
              <a:buClr>
                <a:srgbClr val="000000"/>
              </a:buClr>
              <a:buSzPts val="6000"/>
              <a:buFont typeface="Arial"/>
              <a:buNone/>
            </a:pPr>
            <a:r>
              <a:rPr lang="en-US" sz="5400" b="0" i="0" u="none" strike="noStrike" cap="none">
                <a:solidFill>
                  <a:srgbClr val="000000"/>
                </a:solidFill>
                <a:latin typeface="Arial"/>
                <a:ea typeface="Arial"/>
                <a:cs typeface="Arial"/>
                <a:sym typeface="Arial"/>
              </a:rPr>
              <a:t>Bias correction in exponentially</a:t>
            </a:r>
            <a:endParaRPr sz="5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0"/>
              <a:buFont typeface="Arial"/>
              <a:buNone/>
            </a:pPr>
            <a:r>
              <a:rPr lang="en-US" sz="5400" b="0" i="0" u="none" strike="noStrike" cap="none">
                <a:solidFill>
                  <a:srgbClr val="000000"/>
                </a:solidFill>
                <a:latin typeface="Arial"/>
                <a:ea typeface="Arial"/>
                <a:cs typeface="Arial"/>
                <a:sym typeface="Arial"/>
              </a:rPr>
              <a:t>weighted average</a:t>
            </a:r>
            <a:endParaRPr sz="5400" b="0" i="0" u="none" strike="noStrike" cap="none">
              <a:solidFill>
                <a:srgbClr val="000000"/>
              </a:solidFill>
              <a:latin typeface="Arial"/>
              <a:ea typeface="Arial"/>
              <a:cs typeface="Arial"/>
              <a:sym typeface="Arial"/>
            </a:endParaRPr>
          </a:p>
        </p:txBody>
      </p:sp>
      <p:sp>
        <p:nvSpPr>
          <p:cNvPr id="297" name="Google Shape;297;p15"/>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98" name="Google Shape;298;p1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99" name="Google Shape;299;p15"/>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03"/>
        <p:cNvGrpSpPr/>
        <p:nvPr/>
      </p:nvGrpSpPr>
      <p:grpSpPr>
        <a:xfrm>
          <a:off x="0" y="0"/>
          <a:ext cx="0" cy="0"/>
          <a:chOff x="0" y="0"/>
          <a:chExt cx="0" cy="0"/>
        </a:xfrm>
      </p:grpSpPr>
      <p:sp>
        <p:nvSpPr>
          <p:cNvPr id="304" name="Google Shape;304;p50"/>
          <p:cNvSpPr txBox="1"/>
          <p:nvPr/>
        </p:nvSpPr>
        <p:spPr>
          <a:xfrm>
            <a:off x="261620" y="139696"/>
            <a:ext cx="10472854" cy="136704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dirty="0">
                <a:solidFill>
                  <a:srgbClr val="000000"/>
                </a:solidFill>
                <a:latin typeface="Arial"/>
                <a:ea typeface="Arial"/>
                <a:cs typeface="Arial"/>
                <a:sym typeface="Arial"/>
              </a:rPr>
              <a:t>Bias correction in exponentially</a:t>
            </a:r>
            <a:endParaRPr dirty="0"/>
          </a:p>
          <a:p>
            <a:pPr marL="12700" marR="0" lvl="0" indent="0" algn="l" rtl="0">
              <a:lnSpc>
                <a:spcPct val="100000"/>
              </a:lnSpc>
              <a:spcBef>
                <a:spcPts val="0"/>
              </a:spcBef>
              <a:spcAft>
                <a:spcPts val="0"/>
              </a:spcAft>
              <a:buNone/>
            </a:pPr>
            <a:r>
              <a:rPr lang="en-US" sz="4400" b="0" i="0" u="none" strike="noStrike" cap="none" dirty="0">
                <a:solidFill>
                  <a:srgbClr val="000000"/>
                </a:solidFill>
                <a:latin typeface="Arial"/>
                <a:ea typeface="Arial"/>
                <a:cs typeface="Arial"/>
                <a:sym typeface="Arial"/>
              </a:rPr>
              <a:t>weighted average</a:t>
            </a:r>
            <a:endParaRPr dirty="0"/>
          </a:p>
        </p:txBody>
      </p:sp>
      <p:sp>
        <p:nvSpPr>
          <p:cNvPr id="305" name="Google Shape;305;p50"/>
          <p:cNvSpPr txBox="1"/>
          <p:nvPr/>
        </p:nvSpPr>
        <p:spPr>
          <a:xfrm>
            <a:off x="261620" y="1793376"/>
            <a:ext cx="11804650" cy="3182923"/>
          </a:xfrm>
          <a:prstGeom prst="rect">
            <a:avLst/>
          </a:prstGeom>
          <a:noFill/>
          <a:ln>
            <a:noFill/>
          </a:ln>
        </p:spPr>
        <p:txBody>
          <a:bodyPr spcFirstLastPara="1" wrap="square" lIns="0" tIns="12700" rIns="0" bIns="0" anchor="t" anchorCtr="0">
            <a:spAutoFit/>
          </a:bodyPr>
          <a:lstStyle/>
          <a:p>
            <a:pPr marL="355600" lvl="0" indent="-342900">
              <a:buSzPts val="3200"/>
              <a:buFont typeface="Arial"/>
              <a:buChar char="•"/>
            </a:pPr>
            <a:r>
              <a:rPr lang="en-US" sz="2400" dirty="0"/>
              <a:t>Exponentially weighted moving averages play a vital role in optimizing neural networks during training. They involve calculating a weighted average that prioritizes recent values while smoothing out noise</a:t>
            </a:r>
            <a:endParaRPr dirty="0"/>
          </a:p>
          <a:p>
            <a:pPr marL="355600" marR="0" lvl="0" indent="-139700" algn="l" rtl="0">
              <a:lnSpc>
                <a:spcPct val="100000"/>
              </a:lnSpc>
              <a:spcBef>
                <a:spcPts val="0"/>
              </a:spcBef>
              <a:spcAft>
                <a:spcPts val="0"/>
              </a:spcAft>
              <a:buClr>
                <a:srgbClr val="000000"/>
              </a:buClr>
              <a:buSzPts val="3200"/>
              <a:buFont typeface="Arial"/>
              <a:buNone/>
            </a:pPr>
            <a:endParaRPr sz="2400" b="0" i="0" u="none" strike="noStrike" cap="none" dirty="0">
              <a:solidFill>
                <a:srgbClr val="000000"/>
              </a:solidFill>
              <a:latin typeface="Arial"/>
              <a:ea typeface="Arial"/>
              <a:cs typeface="Arial"/>
              <a:sym typeface="Arial"/>
            </a:endParaRPr>
          </a:p>
          <a:p>
            <a:pPr marL="355600" lvl="0" indent="-342900">
              <a:buSzPts val="3200"/>
              <a:buFont typeface="Arial"/>
              <a:buChar char="•"/>
            </a:pPr>
            <a:r>
              <a:rPr lang="en-US" sz="2400" dirty="0"/>
              <a:t>To enhance accuracy, a bias correction technique is often applied, adjusting the initialization and computation using the formula. </a:t>
            </a:r>
            <a:endParaRPr lang="en-US" sz="2400" b="0" i="0" u="none" strike="noStrike" cap="none" dirty="0" smtClean="0">
              <a:solidFill>
                <a:srgbClr val="000000"/>
              </a:solidFill>
              <a:latin typeface="Arial"/>
              <a:ea typeface="Arial"/>
              <a:cs typeface="Arial"/>
              <a:sym typeface="Arial"/>
            </a:endParaRPr>
          </a:p>
          <a:p>
            <a:pPr marL="12700" lvl="0">
              <a:buSzPts val="3200"/>
            </a:pPr>
            <a:r>
              <a:rPr lang="en-US" sz="2400" dirty="0"/>
              <a:t>	</a:t>
            </a:r>
            <a:r>
              <a:rPr lang="en-US" sz="2400" b="1" dirty="0" smtClean="0">
                <a:latin typeface="Cascadia Code Light" panose="020B0609020000020004" pitchFamily="49" charset="0"/>
                <a:cs typeface="Cascadia Code Light" panose="020B0609020000020004" pitchFamily="49" charset="0"/>
              </a:rPr>
              <a:t>V</a:t>
            </a:r>
            <a:r>
              <a:rPr lang="en-US" sz="2400" b="1" baseline="-25000" dirty="0" smtClean="0">
                <a:latin typeface="Cascadia Code Light" panose="020B0609020000020004" pitchFamily="49" charset="0"/>
                <a:cs typeface="Cascadia Code Light" panose="020B0609020000020004" pitchFamily="49" charset="0"/>
              </a:rPr>
              <a:t>0</a:t>
            </a:r>
            <a:r>
              <a:rPr lang="en-US" sz="2400" b="1" dirty="0" smtClean="0">
                <a:latin typeface="Cascadia Code Light" panose="020B0609020000020004" pitchFamily="49" charset="0"/>
                <a:cs typeface="Cascadia Code Light" panose="020B0609020000020004" pitchFamily="49" charset="0"/>
              </a:rPr>
              <a:t> = 0</a:t>
            </a:r>
            <a:r>
              <a:rPr lang="en-US" sz="2400" b="0" i="0" u="none" strike="noStrike" cap="none" dirty="0" smtClean="0">
                <a:solidFill>
                  <a:srgbClr val="000000"/>
                </a:solidFill>
                <a:latin typeface="Arial"/>
                <a:ea typeface="Arial"/>
                <a:cs typeface="Arial"/>
                <a:sym typeface="Arial"/>
              </a:rPr>
              <a:t> </a:t>
            </a:r>
          </a:p>
          <a:p>
            <a:pPr marL="12700" lvl="1">
              <a:buSzPts val="3200"/>
            </a:pPr>
            <a:r>
              <a:rPr lang="en-US" dirty="0"/>
              <a:t>	</a:t>
            </a:r>
            <a:endParaRPr dirty="0"/>
          </a:p>
          <a:p>
            <a:pPr marL="1270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	</a:t>
            </a:r>
            <a:r>
              <a:rPr lang="en-US" sz="2400" b="1" i="0" u="none" strike="noStrike" cap="none" dirty="0" err="1">
                <a:solidFill>
                  <a:srgbClr val="000000"/>
                </a:solidFill>
                <a:latin typeface="Cascadia Code Light" panose="020B0609020000020004" pitchFamily="49" charset="0"/>
                <a:cs typeface="Cascadia Code Light" panose="020B0609020000020004" pitchFamily="49" charset="0"/>
                <a:sym typeface="Arial"/>
              </a:rPr>
              <a:t>V</a:t>
            </a:r>
            <a:r>
              <a:rPr lang="en-US" sz="2400" b="1" i="0" u="none" strike="noStrike" cap="none" baseline="-25000" dirty="0" err="1">
                <a:solidFill>
                  <a:srgbClr val="000000"/>
                </a:solidFill>
                <a:latin typeface="Cascadia Code Light" panose="020B0609020000020004" pitchFamily="49" charset="0"/>
                <a:cs typeface="Cascadia Code Light" panose="020B0609020000020004" pitchFamily="49" charset="0"/>
                <a:sym typeface="Arial"/>
              </a:rPr>
              <a:t>t</a:t>
            </a:r>
            <a:r>
              <a:rPr lang="en-US" sz="2400" b="1" i="0" u="none" strike="noStrike" cap="none" dirty="0">
                <a:solidFill>
                  <a:srgbClr val="000000"/>
                </a:solidFill>
                <a:latin typeface="Cascadia Code Light" panose="020B0609020000020004" pitchFamily="49" charset="0"/>
                <a:cs typeface="Cascadia Code Light" panose="020B0609020000020004" pitchFamily="49" charset="0"/>
                <a:sym typeface="Arial"/>
              </a:rPr>
              <a:t> = </a:t>
            </a:r>
            <a:r>
              <a:rPr lang="en-US" sz="2400" b="1" i="0" u="none" strike="noStrike" cap="none" dirty="0" smtClean="0">
                <a:solidFill>
                  <a:srgbClr val="000000"/>
                </a:solidFill>
                <a:latin typeface="Cascadia Code Light" panose="020B0609020000020004" pitchFamily="49" charset="0"/>
                <a:cs typeface="Cascadia Code Light" panose="020B0609020000020004" pitchFamily="49" charset="0"/>
                <a:sym typeface="Arial"/>
              </a:rPr>
              <a:t>βV</a:t>
            </a:r>
            <a:r>
              <a:rPr lang="en-US" sz="2400" b="1" i="0" u="none" strike="noStrike" cap="none" baseline="-25000" dirty="0" smtClean="0">
                <a:solidFill>
                  <a:srgbClr val="000000"/>
                </a:solidFill>
                <a:latin typeface="Cascadia Code Light" panose="020B0609020000020004" pitchFamily="49" charset="0"/>
                <a:cs typeface="Cascadia Code Light" panose="020B0609020000020004" pitchFamily="49" charset="0"/>
                <a:sym typeface="Arial"/>
              </a:rPr>
              <a:t>t-1</a:t>
            </a:r>
            <a:r>
              <a:rPr lang="en-US" sz="2400" b="1" i="0" u="none" strike="noStrike" cap="none" dirty="0" smtClean="0">
                <a:solidFill>
                  <a:srgbClr val="000000"/>
                </a:solidFill>
                <a:latin typeface="Cascadia Code Light" panose="020B0609020000020004" pitchFamily="49" charset="0"/>
                <a:cs typeface="Cascadia Code Light" panose="020B0609020000020004" pitchFamily="49" charset="0"/>
                <a:sym typeface="Arial"/>
              </a:rPr>
              <a:t> </a:t>
            </a:r>
            <a:r>
              <a:rPr lang="en-US" sz="2400" b="1" i="0" u="none" strike="noStrike" cap="none" dirty="0">
                <a:solidFill>
                  <a:srgbClr val="000000"/>
                </a:solidFill>
                <a:latin typeface="Cascadia Code Light" panose="020B0609020000020004" pitchFamily="49" charset="0"/>
                <a:cs typeface="Cascadia Code Light" panose="020B0609020000020004" pitchFamily="49" charset="0"/>
                <a:sym typeface="Arial"/>
              </a:rPr>
              <a:t>+ (</a:t>
            </a:r>
            <a:r>
              <a:rPr lang="en-US" sz="2400" b="1" i="0" u="none" strike="noStrike" cap="none" dirty="0" smtClean="0">
                <a:solidFill>
                  <a:srgbClr val="000000"/>
                </a:solidFill>
                <a:latin typeface="Cascadia Code Light" panose="020B0609020000020004" pitchFamily="49" charset="0"/>
                <a:cs typeface="Cascadia Code Light" panose="020B0609020000020004" pitchFamily="49" charset="0"/>
                <a:sym typeface="Arial"/>
              </a:rPr>
              <a:t>1-β)</a:t>
            </a:r>
            <a:r>
              <a:rPr lang="en-US" sz="2400" b="1" i="0" u="none" strike="noStrike" cap="none" dirty="0" err="1" smtClean="0">
                <a:solidFill>
                  <a:srgbClr val="000000"/>
                </a:solidFill>
                <a:latin typeface="Cascadia Code Light" panose="020B0609020000020004" pitchFamily="49" charset="0"/>
                <a:cs typeface="Cascadia Code Light" panose="020B0609020000020004" pitchFamily="49" charset="0"/>
                <a:sym typeface="Arial"/>
              </a:rPr>
              <a:t>θ</a:t>
            </a:r>
            <a:r>
              <a:rPr lang="en-US" sz="2400" b="1" i="0" u="none" strike="noStrike" cap="none" baseline="-25000" dirty="0" err="1" smtClean="0">
                <a:solidFill>
                  <a:srgbClr val="000000"/>
                </a:solidFill>
                <a:latin typeface="Cascadia Code Light" panose="020B0609020000020004" pitchFamily="49" charset="0"/>
                <a:cs typeface="Cascadia Code Light" panose="020B0609020000020004" pitchFamily="49" charset="0"/>
                <a:sym typeface="Arial"/>
              </a:rPr>
              <a:t>t</a:t>
            </a:r>
            <a:endParaRPr sz="2400" b="1" i="0" u="none" strike="noStrike" cap="none" dirty="0">
              <a:solidFill>
                <a:srgbClr val="000000"/>
              </a:solidFill>
              <a:latin typeface="Cascadia Code Light" panose="020B0609020000020004" pitchFamily="49" charset="0"/>
              <a:cs typeface="Cascadia Code Light" panose="020B0609020000020004" pitchFamily="49" charset="0"/>
              <a:sym typeface="Arial"/>
            </a:endParaRPr>
          </a:p>
        </p:txBody>
      </p:sp>
      <p:sp>
        <p:nvSpPr>
          <p:cNvPr id="306" name="Google Shape;306;p50"/>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07" name="Google Shape;307;p5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08" name="Google Shape;308;p50"/>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312"/>
        <p:cNvGrpSpPr/>
        <p:nvPr/>
      </p:nvGrpSpPr>
      <p:grpSpPr>
        <a:xfrm>
          <a:off x="0" y="0"/>
          <a:ext cx="0" cy="0"/>
          <a:chOff x="0" y="0"/>
          <a:chExt cx="0" cy="0"/>
        </a:xfrm>
      </p:grpSpPr>
      <p:sp>
        <p:nvSpPr>
          <p:cNvPr id="313" name="Google Shape;313;p51"/>
          <p:cNvSpPr txBox="1"/>
          <p:nvPr/>
        </p:nvSpPr>
        <p:spPr>
          <a:xfrm>
            <a:off x="261620" y="139696"/>
            <a:ext cx="10472854" cy="136704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a:solidFill>
                  <a:srgbClr val="000000"/>
                </a:solidFill>
                <a:latin typeface="Arial"/>
                <a:ea typeface="Arial"/>
                <a:cs typeface="Arial"/>
                <a:sym typeface="Arial"/>
              </a:rPr>
              <a:t>Bias correction in exponentially</a:t>
            </a:r>
            <a:endParaRPr/>
          </a:p>
          <a:p>
            <a:pPr marL="12700" marR="0" lvl="0" indent="0" algn="l" rtl="0">
              <a:lnSpc>
                <a:spcPct val="100000"/>
              </a:lnSpc>
              <a:spcBef>
                <a:spcPts val="0"/>
              </a:spcBef>
              <a:spcAft>
                <a:spcPts val="0"/>
              </a:spcAft>
              <a:buNone/>
            </a:pPr>
            <a:r>
              <a:rPr lang="en-US" sz="4400" b="0" i="0" u="none" strike="noStrike" cap="none">
                <a:solidFill>
                  <a:srgbClr val="000000"/>
                </a:solidFill>
                <a:latin typeface="Arial"/>
                <a:ea typeface="Arial"/>
                <a:cs typeface="Arial"/>
                <a:sym typeface="Arial"/>
              </a:rPr>
              <a:t>weighted average</a:t>
            </a:r>
            <a:endParaRPr/>
          </a:p>
        </p:txBody>
      </p:sp>
      <p:sp>
        <p:nvSpPr>
          <p:cNvPr id="314" name="Google Shape;314;p51"/>
          <p:cNvSpPr txBox="1"/>
          <p:nvPr/>
        </p:nvSpPr>
        <p:spPr>
          <a:xfrm>
            <a:off x="261620" y="1793376"/>
            <a:ext cx="11804650" cy="4075475"/>
          </a:xfrm>
          <a:prstGeom prst="rect">
            <a:avLst/>
          </a:prstGeom>
          <a:noFill/>
          <a:ln>
            <a:noFill/>
          </a:ln>
        </p:spPr>
        <p:txBody>
          <a:bodyPr spcFirstLastPara="1" wrap="square" lIns="0" tIns="12700" rIns="0" bIns="0" anchor="t" anchorCtr="0">
            <a:spAutoFit/>
          </a:bodyPr>
          <a:lstStyle/>
          <a:p>
            <a:pPr marL="355600" marR="0" lvl="0" indent="-342900" algn="l" rtl="0">
              <a:lnSpc>
                <a:spcPct val="100000"/>
              </a:lnSpc>
              <a:spcBef>
                <a:spcPts val="0"/>
              </a:spcBef>
              <a:spcAft>
                <a:spcPts val="0"/>
              </a:spcAft>
              <a:buClr>
                <a:srgbClr val="000000"/>
              </a:buClr>
              <a:buSzPts val="3200"/>
              <a:buFont typeface="Arial"/>
              <a:buChar char="•"/>
            </a:pPr>
            <a:r>
              <a:rPr lang="en-US" sz="2400" dirty="0" smtClean="0"/>
              <a:t>W</a:t>
            </a:r>
            <a:r>
              <a:rPr lang="en-US" sz="2400" b="0" i="0" u="none" strike="noStrike" cap="none" dirty="0" smtClean="0">
                <a:solidFill>
                  <a:srgbClr val="000000"/>
                </a:solidFill>
                <a:latin typeface="Arial"/>
                <a:ea typeface="Arial"/>
                <a:cs typeface="Arial"/>
                <a:sym typeface="Arial"/>
              </a:rPr>
              <a:t>hen </a:t>
            </a:r>
            <a:r>
              <a:rPr lang="en-US" sz="2400" b="0" i="0" u="none" strike="noStrike" cap="none" dirty="0">
                <a:solidFill>
                  <a:srgbClr val="000000"/>
                </a:solidFill>
                <a:latin typeface="Arial"/>
                <a:ea typeface="Arial"/>
                <a:cs typeface="Arial"/>
                <a:sym typeface="Arial"/>
              </a:rPr>
              <a:t>we calculate </a:t>
            </a:r>
            <a:r>
              <a:rPr lang="en-US" sz="2400" b="0" i="0" u="none" strike="noStrike" cap="none" dirty="0" err="1">
                <a:solidFill>
                  <a:srgbClr val="000000"/>
                </a:solidFill>
                <a:latin typeface="Arial"/>
                <a:ea typeface="Arial"/>
                <a:cs typeface="Arial"/>
                <a:sym typeface="Arial"/>
              </a:rPr>
              <a:t>V</a:t>
            </a:r>
            <a:r>
              <a:rPr lang="en-US" sz="2400" b="0" i="0" u="none" strike="noStrike" cap="none" baseline="-25000" dirty="0" err="1">
                <a:solidFill>
                  <a:srgbClr val="000000"/>
                </a:solidFill>
                <a:latin typeface="Arial"/>
                <a:ea typeface="Arial"/>
                <a:cs typeface="Arial"/>
                <a:sym typeface="Arial"/>
              </a:rPr>
              <a:t>t</a:t>
            </a:r>
            <a:r>
              <a:rPr lang="en-US" sz="2400" b="0" i="0" u="none" strike="noStrike" cap="none" dirty="0">
                <a:solidFill>
                  <a:srgbClr val="000000"/>
                </a:solidFill>
                <a:latin typeface="Arial"/>
                <a:ea typeface="Arial"/>
                <a:cs typeface="Arial"/>
                <a:sym typeface="Arial"/>
              </a:rPr>
              <a:t> using this formula, it can result in a bias towards lower values, especially during the initial phase of learning. This is because the first few values of </a:t>
            </a:r>
            <a:r>
              <a:rPr lang="en-US" sz="2400" b="0" i="0" u="none" strike="noStrike" cap="none" dirty="0" err="1">
                <a:solidFill>
                  <a:srgbClr val="000000"/>
                </a:solidFill>
                <a:latin typeface="Arial"/>
                <a:ea typeface="Arial"/>
                <a:cs typeface="Arial"/>
                <a:sym typeface="Arial"/>
              </a:rPr>
              <a:t>V</a:t>
            </a:r>
            <a:r>
              <a:rPr lang="en-US" sz="2400" b="0" i="0" u="none" strike="noStrike" cap="none" baseline="-25000" dirty="0" err="1">
                <a:solidFill>
                  <a:srgbClr val="000000"/>
                </a:solidFill>
                <a:latin typeface="Arial"/>
                <a:ea typeface="Arial"/>
                <a:cs typeface="Arial"/>
                <a:sym typeface="Arial"/>
              </a:rPr>
              <a:t>t</a:t>
            </a:r>
            <a:r>
              <a:rPr lang="en-US" sz="2400" b="0" i="0" u="none" strike="noStrike" cap="none" dirty="0">
                <a:solidFill>
                  <a:srgbClr val="000000"/>
                </a:solidFill>
                <a:latin typeface="Arial"/>
                <a:ea typeface="Arial"/>
                <a:cs typeface="Arial"/>
                <a:sym typeface="Arial"/>
              </a:rPr>
              <a:t> are calculated using a small number of </a:t>
            </a:r>
            <a:r>
              <a:rPr lang="en-US" sz="2400" b="1" i="0" u="none" strike="noStrike" cap="none" dirty="0" err="1">
                <a:solidFill>
                  <a:srgbClr val="000000"/>
                </a:solidFill>
                <a:latin typeface="Arial"/>
                <a:ea typeface="Arial"/>
                <a:cs typeface="Arial"/>
                <a:sym typeface="Arial"/>
              </a:rPr>
              <a:t>θ</a:t>
            </a:r>
            <a:r>
              <a:rPr lang="en-US" sz="2400" b="1" i="0" u="none" strike="noStrike" cap="none" baseline="-25000" dirty="0" err="1">
                <a:solidFill>
                  <a:srgbClr val="000000"/>
                </a:solidFill>
                <a:latin typeface="Arial"/>
                <a:ea typeface="Arial"/>
                <a:cs typeface="Arial"/>
                <a:sym typeface="Arial"/>
              </a:rPr>
              <a:t>t</a:t>
            </a:r>
            <a:r>
              <a:rPr lang="en-US" sz="2400" b="1" i="0" u="none" strike="noStrike" cap="none" dirty="0">
                <a:solidFill>
                  <a:srgbClr val="000000"/>
                </a:solidFill>
                <a:latin typeface="Arial"/>
                <a:ea typeface="Arial"/>
                <a:cs typeface="Arial"/>
                <a:sym typeface="Arial"/>
              </a:rPr>
              <a:t> </a:t>
            </a:r>
            <a:r>
              <a:rPr lang="en-US" sz="2400" b="0" i="0" u="none" strike="noStrike" cap="none" dirty="0">
                <a:solidFill>
                  <a:srgbClr val="000000"/>
                </a:solidFill>
                <a:latin typeface="Arial"/>
                <a:ea typeface="Arial"/>
                <a:cs typeface="Arial"/>
                <a:sym typeface="Arial"/>
              </a:rPr>
              <a:t>values, which can cause the moving average to underestimate the true value of the parameter</a:t>
            </a:r>
            <a:r>
              <a:rPr lang="en-US" sz="2400" b="0" i="0" u="none" strike="noStrike" cap="none" dirty="0" smtClean="0">
                <a:solidFill>
                  <a:srgbClr val="000000"/>
                </a:solidFill>
                <a:latin typeface="Arial"/>
                <a:ea typeface="Arial"/>
                <a:cs typeface="Arial"/>
                <a:sym typeface="Arial"/>
              </a:rPr>
              <a:t>.</a:t>
            </a:r>
            <a:endParaRPr sz="2400" b="0" i="0" u="none" strike="noStrike" cap="none" dirty="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a:solidFill>
                  <a:srgbClr val="000000"/>
                </a:solidFill>
                <a:latin typeface="Arial"/>
                <a:ea typeface="Arial"/>
                <a:cs typeface="Arial"/>
                <a:sym typeface="Arial"/>
              </a:rPr>
              <a:t>To correct for this bias, we can modify the estimate of </a:t>
            </a:r>
            <a:r>
              <a:rPr lang="en-US" sz="2400" b="0" i="0" u="none" strike="noStrike" cap="none" dirty="0" err="1">
                <a:solidFill>
                  <a:srgbClr val="000000"/>
                </a:solidFill>
                <a:latin typeface="Arial"/>
                <a:ea typeface="Arial"/>
                <a:cs typeface="Arial"/>
                <a:sym typeface="Arial"/>
              </a:rPr>
              <a:t>V</a:t>
            </a:r>
            <a:r>
              <a:rPr lang="en-US" sz="2400" b="0" i="0" u="none" strike="noStrike" cap="none" baseline="-25000" dirty="0" err="1">
                <a:solidFill>
                  <a:srgbClr val="000000"/>
                </a:solidFill>
                <a:latin typeface="Arial"/>
                <a:ea typeface="Arial"/>
                <a:cs typeface="Arial"/>
                <a:sym typeface="Arial"/>
              </a:rPr>
              <a:t>t</a:t>
            </a:r>
            <a:r>
              <a:rPr lang="en-US" sz="2400" b="0" i="0" u="none" strike="noStrike" cap="none" dirty="0">
                <a:solidFill>
                  <a:srgbClr val="000000"/>
                </a:solidFill>
                <a:latin typeface="Arial"/>
                <a:ea typeface="Arial"/>
                <a:cs typeface="Arial"/>
                <a:sym typeface="Arial"/>
              </a:rPr>
              <a:t> by dividing it by a correction factor, which is </a:t>
            </a:r>
            <a:r>
              <a:rPr lang="en-US" sz="2400" b="1" i="0" u="none" strike="noStrike" cap="none" dirty="0" smtClean="0">
                <a:solidFill>
                  <a:srgbClr val="000000"/>
                </a:solidFill>
                <a:latin typeface="Cascadia Code Light" panose="020B0609020000020004" pitchFamily="49" charset="0"/>
                <a:cs typeface="Cascadia Code Light" panose="020B0609020000020004" pitchFamily="49" charset="0"/>
                <a:sym typeface="Arial"/>
              </a:rPr>
              <a:t>1-β</a:t>
            </a:r>
            <a:r>
              <a:rPr lang="en-US" sz="2400" b="0" i="0" u="none" strike="noStrike" cap="none" baseline="30000" dirty="0" smtClean="0">
                <a:solidFill>
                  <a:srgbClr val="000000"/>
                </a:solidFill>
                <a:latin typeface="Cascadia Code Light" panose="020B0609020000020004" pitchFamily="49" charset="0"/>
                <a:cs typeface="Cascadia Code Light" panose="020B0609020000020004" pitchFamily="49" charset="0"/>
                <a:sym typeface="Arial"/>
              </a:rPr>
              <a:t>t</a:t>
            </a:r>
            <a:r>
              <a:rPr lang="en-US" sz="2400" dirty="0"/>
              <a:t> </a:t>
            </a:r>
            <a:r>
              <a:rPr lang="en-US" sz="2400" dirty="0" smtClean="0"/>
              <a:t>:</a:t>
            </a:r>
          </a:p>
          <a:p>
            <a:pPr marL="12700">
              <a:buSzPts val="3200"/>
            </a:pPr>
            <a:r>
              <a:rPr lang="en-US" sz="2400" dirty="0"/>
              <a:t>	</a:t>
            </a:r>
            <a:r>
              <a:rPr lang="en-US" sz="2400" b="1" dirty="0" err="1">
                <a:latin typeface="Cascadia Code Light" panose="020B0609020000020004" pitchFamily="49" charset="0"/>
                <a:cs typeface="Cascadia Code Light" panose="020B0609020000020004" pitchFamily="49" charset="0"/>
              </a:rPr>
              <a:t>V</a:t>
            </a:r>
            <a:r>
              <a:rPr lang="en-US" sz="2400" b="1" baseline="-25000" dirty="0" err="1">
                <a:latin typeface="Cascadia Code Light" panose="020B0609020000020004" pitchFamily="49" charset="0"/>
                <a:cs typeface="Cascadia Code Light" panose="020B0609020000020004" pitchFamily="49" charset="0"/>
              </a:rPr>
              <a:t>t</a:t>
            </a:r>
            <a:r>
              <a:rPr lang="en-US" sz="2400" b="1" dirty="0">
                <a:latin typeface="Cascadia Code Light" panose="020B0609020000020004" pitchFamily="49" charset="0"/>
                <a:cs typeface="Cascadia Code Light" panose="020B0609020000020004" pitchFamily="49" charset="0"/>
              </a:rPr>
              <a:t> = </a:t>
            </a:r>
            <a:r>
              <a:rPr lang="en-US" sz="2400" b="1" dirty="0" smtClean="0">
                <a:latin typeface="Cascadia Code Light" panose="020B0609020000020004" pitchFamily="49" charset="0"/>
                <a:cs typeface="Cascadia Code Light" panose="020B0609020000020004" pitchFamily="49" charset="0"/>
              </a:rPr>
              <a:t>[</a:t>
            </a:r>
            <a:r>
              <a:rPr lang="el-GR" sz="2400" b="1" dirty="0" smtClean="0">
                <a:latin typeface="Cascadia Code Light" panose="020B0609020000020004" pitchFamily="49" charset="0"/>
                <a:cs typeface="Cascadia Code Light" panose="020B0609020000020004" pitchFamily="49" charset="0"/>
              </a:rPr>
              <a:t>β</a:t>
            </a:r>
            <a:r>
              <a:rPr lang="en-US" sz="2400" b="1" dirty="0">
                <a:latin typeface="Cascadia Code Light" panose="020B0609020000020004" pitchFamily="49" charset="0"/>
                <a:cs typeface="Cascadia Code Light" panose="020B0609020000020004" pitchFamily="49" charset="0"/>
              </a:rPr>
              <a:t>V</a:t>
            </a:r>
            <a:r>
              <a:rPr lang="en-US" sz="2400" b="1" baseline="-25000" dirty="0">
                <a:latin typeface="Cascadia Code Light" panose="020B0609020000020004" pitchFamily="49" charset="0"/>
                <a:cs typeface="Cascadia Code Light" panose="020B0609020000020004" pitchFamily="49" charset="0"/>
              </a:rPr>
              <a:t>t-1</a:t>
            </a:r>
            <a:r>
              <a:rPr lang="en-US" sz="2400" b="1" dirty="0">
                <a:latin typeface="Cascadia Code Light" panose="020B0609020000020004" pitchFamily="49" charset="0"/>
                <a:cs typeface="Cascadia Code Light" panose="020B0609020000020004" pitchFamily="49" charset="0"/>
              </a:rPr>
              <a:t> + (1-</a:t>
            </a:r>
            <a:r>
              <a:rPr lang="el-GR" sz="2400" b="1" dirty="0">
                <a:latin typeface="Cascadia Code Light" panose="020B0609020000020004" pitchFamily="49" charset="0"/>
                <a:cs typeface="Cascadia Code Light" panose="020B0609020000020004" pitchFamily="49" charset="0"/>
              </a:rPr>
              <a:t>β)θ</a:t>
            </a:r>
            <a:r>
              <a:rPr lang="en-US" sz="2400" b="1" baseline="-25000" dirty="0" smtClean="0">
                <a:latin typeface="Cascadia Code Light" panose="020B0609020000020004" pitchFamily="49" charset="0"/>
                <a:cs typeface="Cascadia Code Light" panose="020B0609020000020004" pitchFamily="49" charset="0"/>
              </a:rPr>
              <a:t>t</a:t>
            </a:r>
            <a:r>
              <a:rPr lang="en-US" sz="2400" b="1" dirty="0" smtClean="0">
                <a:latin typeface="Cascadia Code Light" panose="020B0609020000020004" pitchFamily="49" charset="0"/>
                <a:cs typeface="Cascadia Code Light" panose="020B0609020000020004" pitchFamily="49" charset="0"/>
              </a:rPr>
              <a:t> ] / (</a:t>
            </a:r>
            <a:r>
              <a:rPr lang="en-US" sz="2400" b="1" dirty="0">
                <a:latin typeface="Cascadia Code Light" panose="020B0609020000020004" pitchFamily="49" charset="0"/>
                <a:cs typeface="Cascadia Code Light" panose="020B0609020000020004" pitchFamily="49" charset="0"/>
              </a:rPr>
              <a:t>1-β</a:t>
            </a:r>
            <a:r>
              <a:rPr lang="en-US" sz="2400" baseline="30000" dirty="0">
                <a:latin typeface="Cascadia Code Light" panose="020B0609020000020004" pitchFamily="49" charset="0"/>
                <a:cs typeface="Cascadia Code Light" panose="020B0609020000020004" pitchFamily="49" charset="0"/>
              </a:rPr>
              <a:t>t</a:t>
            </a:r>
            <a:r>
              <a:rPr lang="en-US" sz="2400" b="1" dirty="0" smtClean="0">
                <a:latin typeface="Cascadia Code Light" panose="020B0609020000020004" pitchFamily="49" charset="0"/>
                <a:cs typeface="Cascadia Code Light" panose="020B0609020000020004" pitchFamily="49" charset="0"/>
              </a:rPr>
              <a:t>)</a:t>
            </a:r>
            <a:endParaRPr lang="en-US" sz="2400" dirty="0" smtClean="0">
              <a:latin typeface="Cascadia Code Light" panose="020B0609020000020004" pitchFamily="49" charset="0"/>
              <a:cs typeface="Cascadia Code Light" panose="020B0609020000020004" pitchFamily="49" charset="0"/>
            </a:endParaRPr>
          </a:p>
          <a:p>
            <a:pPr marL="355600" marR="0" lvl="0" indent="-342900" algn="l" rtl="0">
              <a:lnSpc>
                <a:spcPct val="100000"/>
              </a:lnSpc>
              <a:spcBef>
                <a:spcPts val="0"/>
              </a:spcBef>
              <a:spcAft>
                <a:spcPts val="0"/>
              </a:spcAft>
              <a:buClr>
                <a:srgbClr val="000000"/>
              </a:buClr>
              <a:buSzPts val="3200"/>
              <a:buFont typeface="Arial"/>
              <a:buChar char="•"/>
            </a:pPr>
            <a:r>
              <a:rPr lang="en-US" sz="2400" b="0" i="0" u="none" strike="noStrike" cap="none" dirty="0" smtClean="0">
                <a:solidFill>
                  <a:srgbClr val="000000"/>
                </a:solidFill>
                <a:latin typeface="Arial"/>
                <a:ea typeface="Arial"/>
                <a:cs typeface="Arial"/>
                <a:sym typeface="Arial"/>
              </a:rPr>
              <a:t>This </a:t>
            </a:r>
            <a:r>
              <a:rPr lang="en-US" sz="2400" b="0" i="0" u="none" strike="noStrike" cap="none" dirty="0">
                <a:solidFill>
                  <a:srgbClr val="000000"/>
                </a:solidFill>
                <a:latin typeface="Arial"/>
                <a:ea typeface="Arial"/>
                <a:cs typeface="Arial"/>
                <a:sym typeface="Arial"/>
              </a:rPr>
              <a:t>correction factor ensures that the estimate is normalized and takes into account the fact that we are using a smaller number of </a:t>
            </a:r>
            <a:r>
              <a:rPr lang="en-US" sz="2400" b="1" i="0" u="none" strike="noStrike" cap="none" dirty="0" err="1">
                <a:solidFill>
                  <a:srgbClr val="000000"/>
                </a:solidFill>
                <a:latin typeface="Arial"/>
                <a:ea typeface="Arial"/>
                <a:cs typeface="Arial"/>
                <a:sym typeface="Arial"/>
              </a:rPr>
              <a:t>θ</a:t>
            </a:r>
            <a:r>
              <a:rPr lang="en-US" sz="2400" b="1" i="0" u="none" strike="noStrike" cap="none" baseline="-25000" dirty="0" err="1">
                <a:solidFill>
                  <a:srgbClr val="000000"/>
                </a:solidFill>
                <a:latin typeface="Arial"/>
                <a:ea typeface="Arial"/>
                <a:cs typeface="Arial"/>
                <a:sym typeface="Arial"/>
              </a:rPr>
              <a:t>t</a:t>
            </a:r>
            <a:r>
              <a:rPr lang="en-US" sz="2400" b="0" i="0" u="none" strike="noStrike" cap="none" dirty="0">
                <a:solidFill>
                  <a:srgbClr val="000000"/>
                </a:solidFill>
                <a:latin typeface="Arial"/>
                <a:ea typeface="Arial"/>
                <a:cs typeface="Arial"/>
                <a:sym typeface="Arial"/>
              </a:rPr>
              <a:t> values during the initial phase of learning. By doing this, we can obtain a more accurate estimate of the parameter during the initial phase of learning.</a:t>
            </a:r>
            <a:endParaRPr dirty="0"/>
          </a:p>
        </p:txBody>
      </p:sp>
      <p:sp>
        <p:nvSpPr>
          <p:cNvPr id="315" name="Google Shape;315;p51"/>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16" name="Google Shape;316;p5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51"/>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21"/>
        <p:cNvGrpSpPr/>
        <p:nvPr/>
      </p:nvGrpSpPr>
      <p:grpSpPr>
        <a:xfrm>
          <a:off x="0" y="0"/>
          <a:ext cx="0" cy="0"/>
          <a:chOff x="0" y="0"/>
          <a:chExt cx="0" cy="0"/>
        </a:xfrm>
      </p:grpSpPr>
      <p:sp>
        <p:nvSpPr>
          <p:cNvPr id="322" name="Google Shape;322;p52"/>
          <p:cNvSpPr txBox="1"/>
          <p:nvPr/>
        </p:nvSpPr>
        <p:spPr>
          <a:xfrm>
            <a:off x="261620" y="139696"/>
            <a:ext cx="10472854" cy="136704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b="0" i="0" u="none" strike="noStrike" cap="none">
                <a:solidFill>
                  <a:srgbClr val="000000"/>
                </a:solidFill>
                <a:latin typeface="Arial"/>
                <a:ea typeface="Arial"/>
                <a:cs typeface="Arial"/>
                <a:sym typeface="Arial"/>
              </a:rPr>
              <a:t>Bias correction in exponentially</a:t>
            </a:r>
            <a:endParaRPr/>
          </a:p>
          <a:p>
            <a:pPr marL="12700" marR="0" lvl="0" indent="0" algn="l" rtl="0">
              <a:lnSpc>
                <a:spcPct val="100000"/>
              </a:lnSpc>
              <a:spcBef>
                <a:spcPts val="0"/>
              </a:spcBef>
              <a:spcAft>
                <a:spcPts val="0"/>
              </a:spcAft>
              <a:buNone/>
            </a:pPr>
            <a:r>
              <a:rPr lang="en-US" sz="4400" b="0" i="0" u="none" strike="noStrike" cap="none">
                <a:solidFill>
                  <a:srgbClr val="000000"/>
                </a:solidFill>
                <a:latin typeface="Arial"/>
                <a:ea typeface="Arial"/>
                <a:cs typeface="Arial"/>
                <a:sym typeface="Arial"/>
              </a:rPr>
              <a:t>weighted average</a:t>
            </a:r>
            <a:endParaRPr/>
          </a:p>
        </p:txBody>
      </p:sp>
      <p:sp>
        <p:nvSpPr>
          <p:cNvPr id="323" name="Google Shape;323;p52"/>
          <p:cNvSpPr txBox="1"/>
          <p:nvPr/>
        </p:nvSpPr>
        <p:spPr>
          <a:xfrm>
            <a:off x="261620" y="1793376"/>
            <a:ext cx="11804650" cy="1859483"/>
          </a:xfrm>
          <a:prstGeom prst="rect">
            <a:avLst/>
          </a:prstGeom>
          <a:noFill/>
          <a:ln>
            <a:noFill/>
          </a:ln>
        </p:spPr>
        <p:txBody>
          <a:bodyPr spcFirstLastPara="1" wrap="square" lIns="0" tIns="12700" rIns="0" bIns="0" anchor="t" anchorCtr="0">
            <a:spAutoFit/>
          </a:bodyPr>
          <a:lstStyle/>
          <a:p>
            <a:pPr marL="355600" lvl="0" indent="-342900">
              <a:buSzPts val="3200"/>
              <a:buFont typeface="Arial"/>
              <a:buChar char="•"/>
            </a:pPr>
            <a:r>
              <a:rPr lang="en-US" sz="2400" dirty="0"/>
              <a:t>Bias correction in machine learning isn't always applied due to computational costs, and some initial bias may be acceptable. However, when early-phase accuracy is crucial, bias correction becomes valuable. </a:t>
            </a:r>
            <a:endParaRPr lang="en-US" sz="2400" dirty="0" smtClean="0"/>
          </a:p>
          <a:p>
            <a:pPr marL="355600" lvl="0" indent="-342900">
              <a:buSzPts val="3200"/>
              <a:buFont typeface="Arial"/>
              <a:buChar char="•"/>
            </a:pPr>
            <a:r>
              <a:rPr lang="en-US" sz="2400" dirty="0" smtClean="0"/>
              <a:t>These </a:t>
            </a:r>
            <a:r>
              <a:rPr lang="en-US" sz="2400" dirty="0"/>
              <a:t>concepts are essential for optimizing neural network training and enhancing model accuracy and efficiency.</a:t>
            </a:r>
            <a:endParaRPr dirty="0"/>
          </a:p>
        </p:txBody>
      </p:sp>
      <p:sp>
        <p:nvSpPr>
          <p:cNvPr id="324" name="Google Shape;324;p52"/>
          <p:cNvSpPr/>
          <p:nvPr/>
        </p:nvSpPr>
        <p:spPr>
          <a:xfrm>
            <a:off x="12109504" y="4896172"/>
            <a:ext cx="19685" cy="0"/>
          </a:xfrm>
          <a:custGeom>
            <a:avLst/>
            <a:gdLst/>
            <a:ahLst/>
            <a:cxnLst/>
            <a:rect l="l" t="t" r="r" b="b"/>
            <a:pathLst>
              <a:path w="19684" h="120000" extrusionOk="0">
                <a:moveTo>
                  <a:pt x="19080" y="0"/>
                </a:moveTo>
                <a:lnTo>
                  <a:pt x="6480" y="0"/>
                </a:lnTo>
                <a:lnTo>
                  <a:pt x="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25" name="Google Shape;325;p5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26" name="Google Shape;326;p52"/>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38"/>
        <p:cNvGrpSpPr/>
        <p:nvPr/>
      </p:nvGrpSpPr>
      <p:grpSpPr>
        <a:xfrm>
          <a:off x="0" y="0"/>
          <a:ext cx="0" cy="0"/>
          <a:chOff x="0" y="0"/>
          <a:chExt cx="0" cy="0"/>
        </a:xfrm>
      </p:grpSpPr>
      <p:sp>
        <p:nvSpPr>
          <p:cNvPr id="339" name="Google Shape;339;p17"/>
          <p:cNvSpPr txBox="1">
            <a:spLocks noGrp="1"/>
          </p:cNvSpPr>
          <p:nvPr>
            <p:ph type="title"/>
          </p:nvPr>
        </p:nvSpPr>
        <p:spPr>
          <a:xfrm>
            <a:off x="1742100" y="1265775"/>
            <a:ext cx="9327300" cy="2040300"/>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a:t>Optimization Algorithms</a:t>
            </a:r>
            <a:endParaRPr/>
          </a:p>
        </p:txBody>
      </p:sp>
      <p:sp>
        <p:nvSpPr>
          <p:cNvPr id="340" name="Google Shape;340;p17"/>
          <p:cNvSpPr txBox="1"/>
          <p:nvPr/>
        </p:nvSpPr>
        <p:spPr>
          <a:xfrm>
            <a:off x="5015966" y="3704166"/>
            <a:ext cx="6908799" cy="2009125"/>
          </a:xfrm>
          <a:prstGeom prst="rect">
            <a:avLst/>
          </a:prstGeom>
          <a:noFill/>
          <a:ln>
            <a:noFill/>
          </a:ln>
        </p:spPr>
        <p:txBody>
          <a:bodyPr spcFirstLastPara="1" wrap="square" lIns="0" tIns="31100" rIns="0" bIns="0" anchor="t" anchorCtr="0">
            <a:spAutoFit/>
          </a:bodyPr>
          <a:lstStyle/>
          <a:p>
            <a:pPr marL="64769" marR="5080" lvl="0" indent="-52705" algn="ctr" rtl="0">
              <a:lnSpc>
                <a:spcPct val="119242"/>
              </a:lnSpc>
              <a:spcBef>
                <a:spcPts val="0"/>
              </a:spcBef>
              <a:spcAft>
                <a:spcPts val="0"/>
              </a:spcAft>
              <a:buClr>
                <a:srgbClr val="000000"/>
              </a:buClr>
              <a:buSzPts val="6600"/>
              <a:buFont typeface="Arial"/>
              <a:buNone/>
            </a:pPr>
            <a:r>
              <a:rPr lang="en-US" sz="5400" b="0" i="0" u="none" strike="noStrike" cap="none" dirty="0">
                <a:solidFill>
                  <a:srgbClr val="000000"/>
                </a:solidFill>
                <a:latin typeface="Calibri"/>
                <a:ea typeface="Calibri"/>
                <a:cs typeface="Calibri"/>
                <a:sym typeface="Calibri"/>
              </a:rPr>
              <a:t>Gradient descent with momentum</a:t>
            </a:r>
            <a:endParaRPr sz="5400" b="0" i="0" u="none" strike="noStrike" cap="none" dirty="0">
              <a:solidFill>
                <a:srgbClr val="000000"/>
              </a:solidFill>
              <a:latin typeface="Calibri"/>
              <a:ea typeface="Calibri"/>
              <a:cs typeface="Calibri"/>
              <a:sym typeface="Calibri"/>
            </a:endParaRPr>
          </a:p>
        </p:txBody>
      </p:sp>
      <p:sp>
        <p:nvSpPr>
          <p:cNvPr id="341" name="Google Shape;341;p17"/>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42" name="Google Shape;342;p1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43" name="Google Shape;343;p17"/>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Gradient descent with momentum</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36</a:t>
            </a:fld>
            <a:endParaRPr/>
          </a:p>
        </p:txBody>
      </p:sp>
      <p:sp>
        <p:nvSpPr>
          <p:cNvPr id="2" name="TextBox 1"/>
          <p:cNvSpPr txBox="1"/>
          <p:nvPr/>
        </p:nvSpPr>
        <p:spPr>
          <a:xfrm>
            <a:off x="360485" y="1248508"/>
            <a:ext cx="11377246"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t>An </a:t>
            </a:r>
            <a:r>
              <a:rPr lang="en-US" sz="2400" dirty="0"/>
              <a:t>algorithm called </a:t>
            </a:r>
            <a:r>
              <a:rPr lang="en-US" sz="2400" b="1" dirty="0"/>
              <a:t>momentum</a:t>
            </a:r>
            <a:r>
              <a:rPr lang="en-US" sz="2400" dirty="0"/>
              <a:t>, or </a:t>
            </a:r>
            <a:r>
              <a:rPr lang="en-US" sz="2400" b="1" dirty="0"/>
              <a:t>gradient descent with momentum</a:t>
            </a:r>
            <a:r>
              <a:rPr lang="en-US" sz="2400" dirty="0"/>
              <a:t> that almost always works faster than the standard gradient descent algorithm</a:t>
            </a:r>
            <a:r>
              <a:rPr lang="en-US" sz="2400" dirty="0" smtClean="0"/>
              <a:t>.</a:t>
            </a:r>
          </a:p>
          <a:p>
            <a:pPr marL="285750" indent="-285750">
              <a:buFont typeface="Arial" panose="020B0604020202020204" pitchFamily="34" charset="0"/>
              <a:buChar char="•"/>
            </a:pPr>
            <a:r>
              <a:rPr lang="en-US" sz="2400" dirty="0"/>
              <a:t>The underlying idea of gradient descent with momentum is to calculate the exponential weighted average of gradients and use them to update weights. Suppose we have a cost function whose contours look like this</a:t>
            </a:r>
            <a:r>
              <a:rPr lang="en-US" sz="2400" dirty="0" smtClean="0"/>
              <a: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smtClean="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smtClean="0"/>
          </a:p>
          <a:p>
            <a:pPr marL="285750" indent="-285750">
              <a:buFont typeface="Arial" panose="020B0604020202020204" pitchFamily="34" charset="0"/>
              <a:buChar char="•"/>
            </a:pPr>
            <a:r>
              <a:rPr lang="en-US" sz="2400" dirty="0"/>
              <a:t>The red dot is the global minima, and we want to reach that point. Using gradient descent, the updates will look like:</a:t>
            </a:r>
          </a:p>
        </p:txBody>
      </p:sp>
      <p:pic>
        <p:nvPicPr>
          <p:cNvPr id="1026" name="Picture 2" descr="https://cdn.analyticsvidhya.com/wp-content/uploads/2018/11/Screenshot-from-2018-11-03-13-36-1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0513" y="3187500"/>
            <a:ext cx="6991350" cy="12001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cdn.analyticsvidhya.com/wp-content/uploads/2018/11/Screenshot-from-2018-11-03-13-37-3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3838" y="5316390"/>
            <a:ext cx="7058025" cy="120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645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Gradient descent with momentum</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37</a:t>
            </a:fld>
            <a:endParaRPr/>
          </a:p>
        </p:txBody>
      </p:sp>
      <p:sp>
        <p:nvSpPr>
          <p:cNvPr id="2" name="TextBox 1"/>
          <p:cNvSpPr txBox="1"/>
          <p:nvPr/>
        </p:nvSpPr>
        <p:spPr>
          <a:xfrm>
            <a:off x="360485" y="1248508"/>
            <a:ext cx="11377246"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One more way could be to use a larger learning rate. But that could result in large upgrade steps, and we might not reach global minima. Additionally, too small a learning rate makes the gradient descent slower. We want a slower learning in the vertical direction and a faster learning in the horizontal direction which will help us to reach the global minima much faster</a:t>
            </a:r>
            <a:r>
              <a:rPr lang="en-US" sz="2400" dirty="0" smtClean="0"/>
              <a:t>.</a:t>
            </a:r>
          </a:p>
          <a:p>
            <a:pPr marL="285750" indent="-285750">
              <a:buFont typeface="Arial" panose="020B0604020202020204" pitchFamily="34" charset="0"/>
              <a:buChar char="•"/>
            </a:pPr>
            <a:r>
              <a:rPr lang="en-US" sz="2400" dirty="0"/>
              <a:t>Let’s see how we can achieve it using momentum:</a:t>
            </a:r>
          </a:p>
        </p:txBody>
      </p:sp>
      <p:pic>
        <p:nvPicPr>
          <p:cNvPr id="6" name="Picture 5"/>
          <p:cNvPicPr>
            <a:picLocks noChangeAspect="1"/>
          </p:cNvPicPr>
          <p:nvPr/>
        </p:nvPicPr>
        <p:blipFill>
          <a:blip r:embed="rId4"/>
          <a:stretch>
            <a:fillRect/>
          </a:stretch>
        </p:blipFill>
        <p:spPr>
          <a:xfrm>
            <a:off x="3089762" y="3631372"/>
            <a:ext cx="6618376" cy="2478595"/>
          </a:xfrm>
          <a:prstGeom prst="rect">
            <a:avLst/>
          </a:prstGeom>
        </p:spPr>
      </p:pic>
    </p:spTree>
    <p:extLst>
      <p:ext uri="{BB962C8B-B14F-4D97-AF65-F5344CB8AC3E}">
        <p14:creationId xmlns:p14="http://schemas.microsoft.com/office/powerpoint/2010/main" val="4244217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Gradient descent with momentum</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38</a:t>
            </a:fld>
            <a:endParaRPr/>
          </a:p>
        </p:txBody>
      </p:sp>
      <p:sp>
        <p:nvSpPr>
          <p:cNvPr id="2" name="TextBox 1"/>
          <p:cNvSpPr txBox="1"/>
          <p:nvPr/>
        </p:nvSpPr>
        <p:spPr>
          <a:xfrm>
            <a:off x="369278" y="856357"/>
            <a:ext cx="11377246"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err="1"/>
              <a:t>hyperparameters</a:t>
            </a:r>
            <a:r>
              <a:rPr lang="en-US" sz="2400" dirty="0"/>
              <a:t> α and β in the given equation control momentum and friction, respectively, in the gradient descent algorithm. The terms </a:t>
            </a:r>
            <a:r>
              <a:rPr lang="en-US" sz="2400" dirty="0" err="1"/>
              <a:t>dW</a:t>
            </a:r>
            <a:r>
              <a:rPr lang="en-US" sz="2400" dirty="0"/>
              <a:t> and </a:t>
            </a:r>
            <a:r>
              <a:rPr lang="en-US" sz="2400" dirty="0" err="1"/>
              <a:t>db</a:t>
            </a:r>
            <a:r>
              <a:rPr lang="en-US" sz="2400" dirty="0"/>
              <a:t> contribute momentum, while </a:t>
            </a:r>
            <a:r>
              <a:rPr lang="en-US" sz="2400" dirty="0" err="1" smtClean="0"/>
              <a:t>V</a:t>
            </a:r>
            <a:r>
              <a:rPr lang="en-US" sz="2400" baseline="-25000" dirty="0" err="1" smtClean="0"/>
              <a:t>dw</a:t>
            </a:r>
            <a:r>
              <a:rPr lang="en-US" sz="2400" dirty="0" smtClean="0"/>
              <a:t> </a:t>
            </a:r>
            <a:r>
              <a:rPr lang="en-US" sz="2400" dirty="0"/>
              <a:t>and </a:t>
            </a:r>
            <a:r>
              <a:rPr lang="en-US" sz="2400" dirty="0" err="1" smtClean="0"/>
              <a:t>V</a:t>
            </a:r>
            <a:r>
              <a:rPr lang="en-US" sz="2400" baseline="-25000" dirty="0" err="1" smtClean="0"/>
              <a:t>db</a:t>
            </a:r>
            <a:r>
              <a:rPr lang="en-US" sz="2400" dirty="0" smtClean="0"/>
              <a:t> </a:t>
            </a:r>
            <a:r>
              <a:rPr lang="en-US" sz="2400" dirty="0"/>
              <a:t>represent velocity. β acts as friction, preventing excessive acceleration. </a:t>
            </a:r>
            <a:endParaRPr lang="en-US" sz="2400" dirty="0" smtClean="0"/>
          </a:p>
          <a:p>
            <a:pPr marL="342900" indent="-342900">
              <a:buFont typeface="Arial" panose="020B0604020202020204" pitchFamily="34" charset="0"/>
              <a:buChar char="•"/>
            </a:pPr>
            <a:r>
              <a:rPr lang="en-US" sz="2400" dirty="0" smtClean="0"/>
              <a:t>The </a:t>
            </a:r>
            <a:r>
              <a:rPr lang="en-US" sz="2400" dirty="0"/>
              <a:t>algorithm ensures that steps are smaller oscillations in the vertical direction, emphasizing quick movement horizontally. </a:t>
            </a:r>
            <a:endParaRPr lang="en-US" sz="2400" dirty="0" smtClean="0"/>
          </a:p>
          <a:p>
            <a:pPr marL="342900" indent="-342900">
              <a:buFont typeface="Arial" panose="020B0604020202020204" pitchFamily="34" charset="0"/>
              <a:buChar char="•"/>
            </a:pPr>
            <a:r>
              <a:rPr lang="en-US" sz="2400" dirty="0" smtClean="0"/>
              <a:t>The </a:t>
            </a:r>
            <a:r>
              <a:rPr lang="en-US" sz="2400" dirty="0"/>
              <a:t>terms (1−β) resemble acceleration, and β resembles velocity on a specific point. </a:t>
            </a:r>
            <a:endParaRPr lang="en-US" sz="2400" dirty="0" smtClean="0"/>
          </a:p>
          <a:p>
            <a:pPr marL="342900" indent="-342900">
              <a:buFont typeface="Arial" panose="020B0604020202020204" pitchFamily="34" charset="0"/>
              <a:buChar char="•"/>
            </a:pPr>
            <a:r>
              <a:rPr lang="en-US" sz="2400" dirty="0" smtClean="0"/>
              <a:t>While </a:t>
            </a:r>
            <a:r>
              <a:rPr lang="en-US" sz="2400" dirty="0"/>
              <a:t>bias correction can be applied, its impact diminishes quickly, making it less practical. </a:t>
            </a:r>
            <a:endParaRPr lang="en-US" sz="2400" dirty="0" smtClean="0"/>
          </a:p>
          <a:p>
            <a:pPr marL="342900" indent="-342900">
              <a:buFont typeface="Arial" panose="020B0604020202020204" pitchFamily="34" charset="0"/>
              <a:buChar char="•"/>
            </a:pPr>
            <a:r>
              <a:rPr lang="en-US" sz="2400" dirty="0" smtClean="0"/>
              <a:t>β </a:t>
            </a:r>
            <a:r>
              <a:rPr lang="en-US" sz="2400" dirty="0"/>
              <a:t>becomes a new </a:t>
            </a:r>
            <a:r>
              <a:rPr lang="en-US" sz="2400" dirty="0" err="1"/>
              <a:t>hyperparameter</a:t>
            </a:r>
            <a:r>
              <a:rPr lang="en-US" sz="2400" dirty="0"/>
              <a:t> influencing the learning rate α.</a:t>
            </a:r>
            <a:endParaRPr lang="en-US" sz="2400" dirty="0"/>
          </a:p>
        </p:txBody>
      </p:sp>
    </p:spTree>
    <p:extLst>
      <p:ext uri="{BB962C8B-B14F-4D97-AF65-F5344CB8AC3E}">
        <p14:creationId xmlns:p14="http://schemas.microsoft.com/office/powerpoint/2010/main" val="40362359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81"/>
        <p:cNvGrpSpPr/>
        <p:nvPr/>
      </p:nvGrpSpPr>
      <p:grpSpPr>
        <a:xfrm>
          <a:off x="0" y="0"/>
          <a:ext cx="0" cy="0"/>
          <a:chOff x="0" y="0"/>
          <a:chExt cx="0" cy="0"/>
        </a:xfrm>
      </p:grpSpPr>
      <p:sp>
        <p:nvSpPr>
          <p:cNvPr id="382" name="Google Shape;382;p19"/>
          <p:cNvSpPr txBox="1">
            <a:spLocks noGrp="1"/>
          </p:cNvSpPr>
          <p:nvPr>
            <p:ph type="title"/>
          </p:nvPr>
        </p:nvSpPr>
        <p:spPr>
          <a:xfrm>
            <a:off x="1742100" y="1265775"/>
            <a:ext cx="9327300" cy="2040300"/>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a:t>Optimization Algorithms</a:t>
            </a:r>
            <a:endParaRPr/>
          </a:p>
        </p:txBody>
      </p:sp>
      <p:sp>
        <p:nvSpPr>
          <p:cNvPr id="383" name="Google Shape;383;p19"/>
          <p:cNvSpPr txBox="1"/>
          <p:nvPr/>
        </p:nvSpPr>
        <p:spPr>
          <a:xfrm>
            <a:off x="6879069" y="3704166"/>
            <a:ext cx="3183900" cy="8439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6600"/>
              <a:buFont typeface="Arial"/>
              <a:buNone/>
            </a:pPr>
            <a:r>
              <a:rPr lang="en-US" sz="5400" b="0" i="0" u="none" strike="noStrike" cap="none" dirty="0" err="1">
                <a:solidFill>
                  <a:srgbClr val="000000"/>
                </a:solidFill>
                <a:latin typeface="Calibri"/>
                <a:ea typeface="Calibri"/>
                <a:cs typeface="Calibri"/>
                <a:sym typeface="Calibri"/>
              </a:rPr>
              <a:t>RMSprop</a:t>
            </a:r>
            <a:endParaRPr sz="5400" b="0" i="0" u="none" strike="noStrike" cap="none" dirty="0">
              <a:solidFill>
                <a:srgbClr val="000000"/>
              </a:solidFill>
              <a:latin typeface="Calibri"/>
              <a:ea typeface="Calibri"/>
              <a:cs typeface="Calibri"/>
              <a:sym typeface="Calibri"/>
            </a:endParaRPr>
          </a:p>
        </p:txBody>
      </p:sp>
      <p:sp>
        <p:nvSpPr>
          <p:cNvPr id="384" name="Google Shape;384;p19"/>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85" name="Google Shape;385;p19"/>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86" name="Google Shape;386;p19"/>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1367041"/>
          </a:xfrm>
          <a:prstGeom prst="rect">
            <a:avLst/>
          </a:prstGeom>
          <a:noFill/>
          <a:ln>
            <a:noFill/>
          </a:ln>
        </p:spPr>
        <p:txBody>
          <a:bodyPr spcFirstLastPara="1" wrap="square" lIns="0" tIns="12700" rIns="0" bIns="0" anchor="t" anchorCtr="0">
            <a:spAutoFit/>
          </a:bodyPr>
          <a:lstStyle/>
          <a:p>
            <a:pPr marL="12700" lvl="0"/>
            <a:r>
              <a:rPr lang="en-US" sz="4400" dirty="0" err="1" smtClean="0">
                <a:latin typeface="+mj-lt"/>
                <a:ea typeface="Cambria"/>
                <a:cs typeface="Cambria"/>
                <a:sym typeface="Cambria"/>
              </a:rPr>
              <a:t>RMSprop</a:t>
            </a:r>
            <a:r>
              <a:rPr lang="en-US" sz="4400" dirty="0">
                <a:latin typeface="+mj-lt"/>
                <a:ea typeface="Cambria"/>
                <a:cs typeface="Cambria"/>
                <a:sym typeface="Cambria"/>
              </a:rPr>
              <a:t> (Root Means Square Propagation)</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40</a:t>
            </a:fld>
            <a:endParaRPr/>
          </a:p>
        </p:txBody>
      </p:sp>
      <p:sp>
        <p:nvSpPr>
          <p:cNvPr id="2" name="TextBox 1"/>
          <p:cNvSpPr txBox="1"/>
          <p:nvPr/>
        </p:nvSpPr>
        <p:spPr>
          <a:xfrm>
            <a:off x="304799" y="1652954"/>
            <a:ext cx="11377246"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err="1" smtClean="0"/>
              <a:t>RMSprop</a:t>
            </a:r>
            <a:r>
              <a:rPr lang="en-US" sz="2400" dirty="0" smtClean="0"/>
              <a:t> </a:t>
            </a:r>
            <a:r>
              <a:rPr lang="en-US" sz="2400" dirty="0"/>
              <a:t>is an optimization algorithm that can speed up gradient descent. It works by keeping an exponentially weighted average of the squares of the derivatives for each parameter. This average is then used to adjust the learning rate for each parameter during the update step</a:t>
            </a:r>
            <a:r>
              <a:rPr lang="en-US" sz="2400" dirty="0" smtClean="0"/>
              <a:t>.</a:t>
            </a:r>
          </a:p>
          <a:p>
            <a:pPr marL="285750" indent="-285750">
              <a:buFont typeface="Arial" panose="020B0604020202020204" pitchFamily="34" charset="0"/>
              <a:buChar char="•"/>
            </a:pPr>
            <a:endParaRPr lang="en-US" sz="2400" dirty="0" smtClean="0"/>
          </a:p>
          <a:p>
            <a:pPr marL="285750" indent="-285750">
              <a:buFont typeface="Arial" panose="020B0604020202020204" pitchFamily="34" charset="0"/>
              <a:buChar char="•"/>
            </a:pPr>
            <a:r>
              <a:rPr lang="en-US" sz="2400" dirty="0" err="1"/>
              <a:t>RMSprop</a:t>
            </a:r>
            <a:r>
              <a:rPr lang="en-US" sz="2400" dirty="0"/>
              <a:t> is particularly effective at reducing oscillations in the vertical direction, where the function is sloped more steeply. This is achieved by dividing the update for each parameter by a larger number in the vertical direction than in the horizontal direction</a:t>
            </a:r>
            <a:r>
              <a:rPr lang="en-US" sz="2400" dirty="0" smtClean="0"/>
              <a:t>.</a:t>
            </a:r>
          </a:p>
        </p:txBody>
      </p:sp>
    </p:spTree>
    <p:extLst>
      <p:ext uri="{BB962C8B-B14F-4D97-AF65-F5344CB8AC3E}">
        <p14:creationId xmlns:p14="http://schemas.microsoft.com/office/powerpoint/2010/main" val="26475764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RMSprop</a:t>
            </a:r>
            <a:endParaRPr lang="en-US" sz="4400" dirty="0">
              <a:latin typeface="+mj-lt"/>
              <a:ea typeface="Cambria"/>
              <a:cs typeface="Cambria"/>
              <a:sym typeface="Cambria"/>
            </a:endParaRP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41</a:t>
            </a:fld>
            <a:endParaRPr/>
          </a:p>
        </p:txBody>
      </p:sp>
      <p:pic>
        <p:nvPicPr>
          <p:cNvPr id="2" name="Picture 1"/>
          <p:cNvPicPr>
            <a:picLocks noChangeAspect="1"/>
          </p:cNvPicPr>
          <p:nvPr/>
        </p:nvPicPr>
        <p:blipFill>
          <a:blip r:embed="rId4"/>
          <a:stretch>
            <a:fillRect/>
          </a:stretch>
        </p:blipFill>
        <p:spPr>
          <a:xfrm>
            <a:off x="1615219" y="920067"/>
            <a:ext cx="7994773" cy="3730894"/>
          </a:xfrm>
          <a:prstGeom prst="rect">
            <a:avLst/>
          </a:prstGeom>
        </p:spPr>
      </p:pic>
      <p:sp>
        <p:nvSpPr>
          <p:cNvPr id="4" name="TextBox 3"/>
          <p:cNvSpPr txBox="1"/>
          <p:nvPr/>
        </p:nvSpPr>
        <p:spPr>
          <a:xfrm>
            <a:off x="404446" y="4774613"/>
            <a:ext cx="11438792"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t>Intuition is that in dimensions where you’re getting these oscillations, you end up computing a larger sum. A weighted average for these squares and derivatives, and so you end up dumping out the directions in which there are these oscillations.</a:t>
            </a:r>
          </a:p>
          <a:p>
            <a:pPr marL="342900" indent="-342900">
              <a:buFont typeface="Arial" panose="020B0604020202020204" pitchFamily="34" charset="0"/>
              <a:buChar char="•"/>
            </a:pPr>
            <a:r>
              <a:rPr lang="en-US" sz="2400" dirty="0"/>
              <a:t>The </a:t>
            </a:r>
            <a:r>
              <a:rPr lang="en-US" sz="2400" dirty="0" smtClean="0"/>
              <a:t>ε is </a:t>
            </a:r>
            <a:r>
              <a:rPr lang="en-US" sz="2400" dirty="0"/>
              <a:t>present in the denominator to avoid division by 0</a:t>
            </a:r>
          </a:p>
        </p:txBody>
      </p:sp>
    </p:spTree>
    <p:extLst>
      <p:ext uri="{BB962C8B-B14F-4D97-AF65-F5344CB8AC3E}">
        <p14:creationId xmlns:p14="http://schemas.microsoft.com/office/powerpoint/2010/main" val="38274627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RMSprop</a:t>
            </a:r>
            <a:endParaRPr lang="en-US" sz="4400" dirty="0">
              <a:latin typeface="+mj-lt"/>
              <a:ea typeface="Cambria"/>
              <a:cs typeface="Cambria"/>
              <a:sym typeface="Cambria"/>
            </a:endParaRP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42</a:t>
            </a:fld>
            <a:endParaRPr/>
          </a:p>
        </p:txBody>
      </p:sp>
      <p:sp>
        <p:nvSpPr>
          <p:cNvPr id="2" name="TextBox 1"/>
          <p:cNvSpPr txBox="1"/>
          <p:nvPr/>
        </p:nvSpPr>
        <p:spPr>
          <a:xfrm>
            <a:off x="360485" y="1248508"/>
            <a:ext cx="11377246"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t>In </a:t>
            </a:r>
            <a:r>
              <a:rPr lang="en-US" sz="2400" dirty="0"/>
              <a:t>practice, </a:t>
            </a:r>
            <a:r>
              <a:rPr lang="en-US" sz="2400" dirty="0" err="1"/>
              <a:t>RMSprop</a:t>
            </a:r>
            <a:r>
              <a:rPr lang="en-US" sz="2400" dirty="0"/>
              <a:t> is used in high-dimensional parameter spaces, where the oscillations may be present in a subset of parameters. By taking the squared derivatives of these parameters, </a:t>
            </a:r>
            <a:r>
              <a:rPr lang="en-US" sz="2400" dirty="0" err="1"/>
              <a:t>RMSprop</a:t>
            </a:r>
            <a:r>
              <a:rPr lang="en-US" sz="2400" dirty="0"/>
              <a:t> can dampen the oscillations and speed up the learning process</a:t>
            </a:r>
            <a:r>
              <a:rPr lang="en-US" sz="2400" dirty="0" smtClean="0"/>
              <a:t>.</a:t>
            </a:r>
          </a:p>
          <a:p>
            <a:pPr marL="285750" indent="-285750">
              <a:buFont typeface="Arial" panose="020B0604020202020204" pitchFamily="34" charset="0"/>
              <a:buChar char="•"/>
            </a:pPr>
            <a:endParaRPr lang="en-US" sz="2400" dirty="0" smtClean="0"/>
          </a:p>
          <a:p>
            <a:pPr marL="285750" indent="-285750">
              <a:buFont typeface="Arial" panose="020B0604020202020204" pitchFamily="34" charset="0"/>
              <a:buChar char="•"/>
            </a:pPr>
            <a:r>
              <a:rPr lang="en-US" sz="2400" dirty="0"/>
              <a:t>To ensure numerical stability, a very small epsilon value is added to the denominator to prevent division by zero or very small numbers.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RMSprop</a:t>
            </a:r>
            <a:r>
              <a:rPr lang="en-US" sz="2400" dirty="0"/>
              <a:t> was first introduced in a Coursera course taught by Jeff Hinton and has since become a widely used optimization algorithm in deep learning.</a:t>
            </a:r>
          </a:p>
        </p:txBody>
      </p:sp>
    </p:spTree>
    <p:extLst>
      <p:ext uri="{BB962C8B-B14F-4D97-AF65-F5344CB8AC3E}">
        <p14:creationId xmlns:p14="http://schemas.microsoft.com/office/powerpoint/2010/main" val="41229558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398"/>
        <p:cNvGrpSpPr/>
        <p:nvPr/>
      </p:nvGrpSpPr>
      <p:grpSpPr>
        <a:xfrm>
          <a:off x="0" y="0"/>
          <a:ext cx="0" cy="0"/>
          <a:chOff x="0" y="0"/>
          <a:chExt cx="0" cy="0"/>
        </a:xfrm>
      </p:grpSpPr>
      <p:sp>
        <p:nvSpPr>
          <p:cNvPr id="399" name="Google Shape;399;p21"/>
          <p:cNvSpPr txBox="1">
            <a:spLocks noGrp="1"/>
          </p:cNvSpPr>
          <p:nvPr>
            <p:ph type="title"/>
          </p:nvPr>
        </p:nvSpPr>
        <p:spPr>
          <a:xfrm>
            <a:off x="1742100" y="1265775"/>
            <a:ext cx="9244500" cy="2124413"/>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dirty="0">
                <a:latin typeface="+mj-lt"/>
              </a:rPr>
              <a:t>Optimization Algorithms</a:t>
            </a:r>
            <a:endParaRPr dirty="0">
              <a:latin typeface="+mj-lt"/>
            </a:endParaRPr>
          </a:p>
        </p:txBody>
      </p:sp>
      <p:sp>
        <p:nvSpPr>
          <p:cNvPr id="400" name="Google Shape;400;p21"/>
          <p:cNvSpPr txBox="1"/>
          <p:nvPr/>
        </p:nvSpPr>
        <p:spPr>
          <a:xfrm>
            <a:off x="5225250" y="3704166"/>
            <a:ext cx="6494700" cy="2009125"/>
          </a:xfrm>
          <a:prstGeom prst="rect">
            <a:avLst/>
          </a:prstGeom>
          <a:noFill/>
          <a:ln>
            <a:noFill/>
          </a:ln>
        </p:spPr>
        <p:txBody>
          <a:bodyPr spcFirstLastPara="1" wrap="square" lIns="0" tIns="31100" rIns="0" bIns="0" anchor="t" anchorCtr="0">
            <a:spAutoFit/>
          </a:bodyPr>
          <a:lstStyle/>
          <a:p>
            <a:pPr marL="1595120" marR="5080" lvl="0" indent="-1583055" algn="l" rtl="0">
              <a:lnSpc>
                <a:spcPct val="119242"/>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Adam optimization algorithm</a:t>
            </a:r>
            <a:endParaRPr sz="5400" b="0" i="0" u="none" strike="noStrike" cap="none" dirty="0">
              <a:solidFill>
                <a:srgbClr val="000000"/>
              </a:solidFill>
              <a:latin typeface="+mj-lt"/>
              <a:ea typeface="Calibri"/>
              <a:cs typeface="Calibri"/>
              <a:sym typeface="Calibri"/>
            </a:endParaRPr>
          </a:p>
        </p:txBody>
      </p:sp>
      <p:sp>
        <p:nvSpPr>
          <p:cNvPr id="401" name="Google Shape;401;p21"/>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02" name="Google Shape;402;p2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403" name="Google Shape;403;p21"/>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Adam optimization algorithm</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44</a:t>
            </a:fld>
            <a:endParaRPr/>
          </a:p>
        </p:txBody>
      </p:sp>
      <p:sp>
        <p:nvSpPr>
          <p:cNvPr id="2" name="TextBox 1"/>
          <p:cNvSpPr txBox="1"/>
          <p:nvPr/>
        </p:nvSpPr>
        <p:spPr>
          <a:xfrm>
            <a:off x="360485" y="1248508"/>
            <a:ext cx="11377246"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field of deep learning has seen many optimization algorithms proposed over time, but few have been shown to work well across a wide range of neural networks. Gradient descent with momentum has been a popular and effective algorithm, and </a:t>
            </a:r>
            <a:r>
              <a:rPr lang="en-US" sz="2400" dirty="0" err="1"/>
              <a:t>RMSprop</a:t>
            </a:r>
            <a:r>
              <a:rPr lang="en-US" sz="2400" dirty="0"/>
              <a:t> and Adam have been two algorithms that have also been shown to work well across a wide range of deep learning architectures</a:t>
            </a:r>
            <a:r>
              <a:rPr lang="en-US" sz="2400" dirty="0" smtClean="0"/>
              <a:t>.</a:t>
            </a:r>
          </a:p>
          <a:p>
            <a:pPr marL="285750" indent="-285750">
              <a:buFont typeface="Arial" panose="020B0604020202020204" pitchFamily="34" charset="0"/>
              <a:buChar char="•"/>
            </a:pPr>
            <a:endParaRPr lang="en-US" sz="2400" dirty="0" smtClean="0"/>
          </a:p>
          <a:p>
            <a:pPr marL="285750" indent="-285750">
              <a:buFont typeface="Arial" panose="020B0604020202020204" pitchFamily="34" charset="0"/>
              <a:buChar char="•"/>
            </a:pPr>
            <a:r>
              <a:rPr lang="en-US" sz="2400" dirty="0"/>
              <a:t>Adam (stands for </a:t>
            </a:r>
            <a:r>
              <a:rPr lang="en-US" sz="2400" dirty="0" smtClean="0"/>
              <a:t>Adaptive Moment Estimation</a:t>
            </a:r>
            <a:r>
              <a:rPr lang="en-US" sz="2400" dirty="0"/>
              <a:t>) is an optimization algorithm that combines the effect of gradient descent with momentum and gradient descent with </a:t>
            </a:r>
            <a:r>
              <a:rPr lang="en-US" sz="2400" dirty="0" err="1"/>
              <a:t>RMSprop</a:t>
            </a:r>
            <a:r>
              <a:rPr lang="en-US" sz="2400" dirty="0"/>
              <a:t>. The algorithm has several </a:t>
            </a:r>
            <a:r>
              <a:rPr lang="en-US" sz="2400" dirty="0" err="1"/>
              <a:t>hyperparameters</a:t>
            </a:r>
            <a:r>
              <a:rPr lang="en-US" sz="2400" dirty="0"/>
              <a:t>, including the learning rate </a:t>
            </a:r>
            <a:r>
              <a:rPr lang="el-GR" sz="2400" dirty="0"/>
              <a:t>α</a:t>
            </a:r>
            <a:r>
              <a:rPr lang="en-US" sz="2400" dirty="0" smtClean="0"/>
              <a:t>, </a:t>
            </a:r>
            <a:r>
              <a:rPr lang="el-GR" sz="2400" dirty="0" smtClean="0"/>
              <a:t>β</a:t>
            </a:r>
            <a:r>
              <a:rPr lang="en-US" sz="2400" baseline="-25000" dirty="0" smtClean="0"/>
              <a:t>1</a:t>
            </a:r>
            <a:r>
              <a:rPr lang="en-US" sz="2400" dirty="0" smtClean="0"/>
              <a:t>, </a:t>
            </a:r>
            <a:r>
              <a:rPr lang="el-GR" sz="2400" dirty="0" smtClean="0"/>
              <a:t>β</a:t>
            </a:r>
            <a:r>
              <a:rPr lang="en-US" sz="2400" baseline="-25000" dirty="0" smtClean="0"/>
              <a:t>2</a:t>
            </a:r>
            <a:r>
              <a:rPr lang="en-US" sz="2400" dirty="0" smtClean="0"/>
              <a:t>, </a:t>
            </a:r>
            <a:r>
              <a:rPr lang="en-US" sz="2400" dirty="0"/>
              <a:t>and epsilon. The default values for </a:t>
            </a:r>
            <a:r>
              <a:rPr lang="el-GR" sz="2400" dirty="0"/>
              <a:t>β</a:t>
            </a:r>
            <a:r>
              <a:rPr lang="en-US" sz="2400" baseline="-25000" dirty="0"/>
              <a:t>1</a:t>
            </a:r>
            <a:r>
              <a:rPr lang="en-US" sz="2400" dirty="0" smtClean="0"/>
              <a:t> </a:t>
            </a:r>
            <a:r>
              <a:rPr lang="en-US" sz="2400" dirty="0"/>
              <a:t>and </a:t>
            </a:r>
            <a:r>
              <a:rPr lang="el-GR" sz="2400" dirty="0" smtClean="0"/>
              <a:t>β</a:t>
            </a:r>
            <a:r>
              <a:rPr lang="en-US" sz="2400" baseline="-25000" dirty="0" smtClean="0"/>
              <a:t>2</a:t>
            </a:r>
            <a:r>
              <a:rPr lang="en-US" sz="2400" dirty="0" smtClean="0"/>
              <a:t> </a:t>
            </a:r>
            <a:r>
              <a:rPr lang="en-US" sz="2400" dirty="0"/>
              <a:t>are 0.9 and 0.999, respectively, and the recommended value for </a:t>
            </a:r>
            <a:r>
              <a:rPr lang="el-GR" sz="2400" dirty="0"/>
              <a:t>ϵ</a:t>
            </a:r>
            <a:r>
              <a:rPr lang="en-US" sz="2400" dirty="0" smtClean="0"/>
              <a:t> </a:t>
            </a:r>
            <a:r>
              <a:rPr lang="en-US" sz="2400" dirty="0"/>
              <a:t>is </a:t>
            </a:r>
            <a:r>
              <a:rPr lang="en-US" sz="2400" dirty="0" smtClean="0"/>
              <a:t>10</a:t>
            </a:r>
            <a:r>
              <a:rPr lang="en-US" sz="2400" baseline="30000" dirty="0" smtClean="0"/>
              <a:t>-8</a:t>
            </a:r>
            <a:r>
              <a:rPr lang="en-US" sz="2400" dirty="0" smtClean="0"/>
              <a:t>.</a:t>
            </a:r>
            <a:endParaRPr lang="en-US" sz="2400" dirty="0"/>
          </a:p>
        </p:txBody>
      </p:sp>
    </p:spTree>
    <p:extLst>
      <p:ext uri="{BB962C8B-B14F-4D97-AF65-F5344CB8AC3E}">
        <p14:creationId xmlns:p14="http://schemas.microsoft.com/office/powerpoint/2010/main" val="25264145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407"/>
        <p:cNvGrpSpPr/>
        <p:nvPr/>
      </p:nvGrpSpPr>
      <p:grpSpPr>
        <a:xfrm>
          <a:off x="0" y="0"/>
          <a:ext cx="0" cy="0"/>
          <a:chOff x="0" y="0"/>
          <a:chExt cx="0" cy="0"/>
        </a:xfrm>
      </p:grpSpPr>
      <p:sp>
        <p:nvSpPr>
          <p:cNvPr id="408" name="Google Shape;408;p22"/>
          <p:cNvSpPr txBox="1">
            <a:spLocks noGrp="1"/>
          </p:cNvSpPr>
          <p:nvPr>
            <p:ph type="title"/>
          </p:nvPr>
        </p:nvSpPr>
        <p:spPr>
          <a:xfrm>
            <a:off x="279902" y="100454"/>
            <a:ext cx="767397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Cambria"/>
                <a:ea typeface="Cambria"/>
                <a:cs typeface="Cambria"/>
                <a:sym typeface="Cambria"/>
              </a:rPr>
              <a:t>Adam optimization algorithm</a:t>
            </a:r>
            <a:endParaRPr sz="4400" dirty="0">
              <a:latin typeface="Cambria"/>
              <a:ea typeface="Cambria"/>
              <a:cs typeface="Cambria"/>
              <a:sym typeface="Cambria"/>
            </a:endParaRPr>
          </a:p>
        </p:txBody>
      </p:sp>
      <p:pic>
        <p:nvPicPr>
          <p:cNvPr id="410" name="Google Shape;410;p2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411" name="Google Shape;411;p22"/>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45</a:t>
            </a:fld>
            <a:endParaRPr/>
          </a:p>
        </p:txBody>
      </p:sp>
      <p:pic>
        <p:nvPicPr>
          <p:cNvPr id="3" name="Picture 2"/>
          <p:cNvPicPr>
            <a:picLocks noChangeAspect="1"/>
          </p:cNvPicPr>
          <p:nvPr/>
        </p:nvPicPr>
        <p:blipFill>
          <a:blip r:embed="rId4"/>
          <a:stretch>
            <a:fillRect/>
          </a:stretch>
        </p:blipFill>
        <p:spPr>
          <a:xfrm>
            <a:off x="2797053" y="896347"/>
            <a:ext cx="7149246" cy="5758793"/>
          </a:xfrm>
          <a:prstGeom prst="rect">
            <a:avLst/>
          </a:prstGeom>
        </p:spPr>
      </p:pic>
    </p:spTree>
    <p:extLst>
      <p:ext uri="{BB962C8B-B14F-4D97-AF65-F5344CB8AC3E}">
        <p14:creationId xmlns:p14="http://schemas.microsoft.com/office/powerpoint/2010/main" val="3162027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415"/>
        <p:cNvGrpSpPr/>
        <p:nvPr/>
      </p:nvGrpSpPr>
      <p:grpSpPr>
        <a:xfrm>
          <a:off x="0" y="0"/>
          <a:ext cx="0" cy="0"/>
          <a:chOff x="0" y="0"/>
          <a:chExt cx="0" cy="0"/>
        </a:xfrm>
      </p:grpSpPr>
      <p:sp>
        <p:nvSpPr>
          <p:cNvPr id="416" name="Google Shape;416;p23"/>
          <p:cNvSpPr txBox="1">
            <a:spLocks noGrp="1"/>
          </p:cNvSpPr>
          <p:nvPr>
            <p:ph type="title"/>
          </p:nvPr>
        </p:nvSpPr>
        <p:spPr>
          <a:xfrm>
            <a:off x="246122" y="173563"/>
            <a:ext cx="64903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err="1" smtClean="0">
                <a:latin typeface="Cambria"/>
                <a:ea typeface="Cambria"/>
                <a:cs typeface="Cambria"/>
                <a:sym typeface="Cambria"/>
              </a:rPr>
              <a:t>Hyperparameters</a:t>
            </a:r>
            <a:endParaRPr sz="4400" dirty="0">
              <a:latin typeface="Cambria"/>
              <a:ea typeface="Cambria"/>
              <a:cs typeface="Cambria"/>
              <a:sym typeface="Cambria"/>
            </a:endParaRPr>
          </a:p>
        </p:txBody>
      </p:sp>
      <p:pic>
        <p:nvPicPr>
          <p:cNvPr id="419" name="Google Shape;419;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420" name="Google Shape;420;p23"/>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46</a:t>
            </a:fld>
            <a:endParaRPr/>
          </a:p>
        </p:txBody>
      </p:sp>
      <p:sp>
        <p:nvSpPr>
          <p:cNvPr id="3" name="TextBox 2"/>
          <p:cNvSpPr txBox="1"/>
          <p:nvPr/>
        </p:nvSpPr>
        <p:spPr>
          <a:xfrm>
            <a:off x="334108" y="1213338"/>
            <a:ext cx="11614638" cy="2800767"/>
          </a:xfrm>
          <a:prstGeom prst="rect">
            <a:avLst/>
          </a:prstGeom>
          <a:noFill/>
        </p:spPr>
        <p:txBody>
          <a:bodyPr wrap="square" rtlCol="0">
            <a:spAutoFit/>
          </a:bodyPr>
          <a:lstStyle/>
          <a:p>
            <a:r>
              <a:rPr lang="en-US" sz="2400" dirty="0"/>
              <a:t>There are a range of </a:t>
            </a:r>
            <a:r>
              <a:rPr lang="en-US" sz="2400" dirty="0" err="1"/>
              <a:t>hyperparameters</a:t>
            </a:r>
            <a:r>
              <a:rPr lang="en-US" sz="2400" dirty="0"/>
              <a:t> used in Adam and some of the common ones are</a:t>
            </a:r>
            <a:r>
              <a:rPr lang="en-US" sz="2400" dirty="0" smtClean="0"/>
              <a:t>:</a:t>
            </a:r>
            <a:endParaRPr lang="en-US" dirty="0"/>
          </a:p>
          <a:p>
            <a:pPr marL="342900" indent="-342900">
              <a:buFont typeface="Arial" panose="020B0604020202020204" pitchFamily="34" charset="0"/>
              <a:buChar char="•"/>
            </a:pPr>
            <a:r>
              <a:rPr lang="en-US" sz="2000" dirty="0"/>
              <a:t>Learning rate α: needs to be tuned</a:t>
            </a:r>
          </a:p>
          <a:p>
            <a:pPr marL="342900" indent="-342900">
              <a:buFont typeface="Arial" panose="020B0604020202020204" pitchFamily="34" charset="0"/>
              <a:buChar char="•"/>
            </a:pPr>
            <a:r>
              <a:rPr lang="en-US" sz="2000" dirty="0"/>
              <a:t>Momentum term β1: common choice is 0.9</a:t>
            </a:r>
          </a:p>
          <a:p>
            <a:pPr marL="342900" indent="-342900">
              <a:buFont typeface="Arial" panose="020B0604020202020204" pitchFamily="34" charset="0"/>
              <a:buChar char="•"/>
            </a:pPr>
            <a:r>
              <a:rPr lang="en-US" sz="2000" dirty="0" err="1"/>
              <a:t>RMSprop</a:t>
            </a:r>
            <a:r>
              <a:rPr lang="en-US" sz="2000" dirty="0"/>
              <a:t> term β2: common choice is 0.999</a:t>
            </a:r>
          </a:p>
          <a:p>
            <a:pPr marL="342900" indent="-342900">
              <a:buFont typeface="Arial" panose="020B0604020202020204" pitchFamily="34" charset="0"/>
              <a:buChar char="•"/>
            </a:pPr>
            <a:r>
              <a:rPr lang="en-US" sz="2000" dirty="0"/>
              <a:t>ε: </a:t>
            </a:r>
            <a:r>
              <a:rPr lang="en-US" sz="2000" dirty="0" smtClean="0"/>
              <a:t>10</a:t>
            </a:r>
            <a:r>
              <a:rPr lang="en-US" sz="2000" baseline="30000" dirty="0" smtClean="0"/>
              <a:t>-8</a:t>
            </a:r>
            <a:endParaRPr lang="en-US" sz="2000" dirty="0"/>
          </a:p>
          <a:p>
            <a:r>
              <a:rPr lang="en-US" sz="2400" dirty="0"/>
              <a:t>Adam helps to train a neural network model much more quickly than the techniques we have seen earlier.</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415"/>
        <p:cNvGrpSpPr/>
        <p:nvPr/>
      </p:nvGrpSpPr>
      <p:grpSpPr>
        <a:xfrm>
          <a:off x="0" y="0"/>
          <a:ext cx="0" cy="0"/>
          <a:chOff x="0" y="0"/>
          <a:chExt cx="0" cy="0"/>
        </a:xfrm>
      </p:grpSpPr>
      <p:sp>
        <p:nvSpPr>
          <p:cNvPr id="416" name="Google Shape;416;p23"/>
          <p:cNvSpPr txBox="1">
            <a:spLocks noGrp="1"/>
          </p:cNvSpPr>
          <p:nvPr>
            <p:ph type="title"/>
          </p:nvPr>
        </p:nvSpPr>
        <p:spPr>
          <a:xfrm>
            <a:off x="246122" y="173563"/>
            <a:ext cx="64903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err="1" smtClean="0">
                <a:latin typeface="Cambria"/>
                <a:ea typeface="Cambria"/>
                <a:cs typeface="Cambria"/>
                <a:sym typeface="Cambria"/>
              </a:rPr>
              <a:t>Hyperparameters</a:t>
            </a:r>
            <a:endParaRPr sz="4400" dirty="0">
              <a:latin typeface="Cambria"/>
              <a:ea typeface="Cambria"/>
              <a:cs typeface="Cambria"/>
              <a:sym typeface="Cambria"/>
            </a:endParaRPr>
          </a:p>
        </p:txBody>
      </p:sp>
      <p:sp>
        <p:nvSpPr>
          <p:cNvPr id="418" name="Google Shape;418;p23"/>
          <p:cNvSpPr txBox="1"/>
          <p:nvPr/>
        </p:nvSpPr>
        <p:spPr>
          <a:xfrm>
            <a:off x="9507588" y="4461805"/>
            <a:ext cx="16548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Adam </a:t>
            </a:r>
            <a:r>
              <a:rPr lang="en-US" sz="2400" b="0" i="0" u="none" strike="noStrike" cap="none" dirty="0" smtClean="0">
                <a:solidFill>
                  <a:srgbClr val="000000"/>
                </a:solidFill>
                <a:latin typeface="Calibri"/>
                <a:ea typeface="Calibri"/>
                <a:cs typeface="Calibri"/>
                <a:sym typeface="Calibri"/>
              </a:rPr>
              <a:t>Cotes</a:t>
            </a:r>
            <a:endParaRPr sz="2400" b="0" i="0" u="none" strike="noStrike" cap="none" dirty="0">
              <a:solidFill>
                <a:srgbClr val="000000"/>
              </a:solidFill>
              <a:latin typeface="Calibri"/>
              <a:ea typeface="Calibri"/>
              <a:cs typeface="Calibri"/>
              <a:sym typeface="Calibri"/>
            </a:endParaRPr>
          </a:p>
        </p:txBody>
      </p:sp>
      <p:pic>
        <p:nvPicPr>
          <p:cNvPr id="419" name="Google Shape;419;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420" name="Google Shape;420;p23"/>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47</a:t>
            </a:fld>
            <a:endParaRPr/>
          </a:p>
        </p:txBody>
      </p:sp>
      <p:pic>
        <p:nvPicPr>
          <p:cNvPr id="421" name="Google Shape;421;p23"/>
          <p:cNvPicPr preferRelativeResize="0"/>
          <p:nvPr/>
        </p:nvPicPr>
        <p:blipFill rotWithShape="1">
          <a:blip r:embed="rId4">
            <a:alphaModFix/>
          </a:blip>
          <a:srcRect/>
          <a:stretch/>
        </p:blipFill>
        <p:spPr>
          <a:xfrm>
            <a:off x="722317" y="1545825"/>
            <a:ext cx="4324467" cy="2716958"/>
          </a:xfrm>
          <a:prstGeom prst="rect">
            <a:avLst/>
          </a:prstGeom>
          <a:noFill/>
          <a:ln>
            <a:noFill/>
          </a:ln>
        </p:spPr>
      </p:pic>
    </p:spTree>
    <p:extLst>
      <p:ext uri="{BB962C8B-B14F-4D97-AF65-F5344CB8AC3E}">
        <p14:creationId xmlns:p14="http://schemas.microsoft.com/office/powerpoint/2010/main" val="386587727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Adam optimization algorithm</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48</a:t>
            </a:fld>
            <a:endParaRPr/>
          </a:p>
        </p:txBody>
      </p:sp>
      <p:sp>
        <p:nvSpPr>
          <p:cNvPr id="2" name="TextBox 1"/>
          <p:cNvSpPr txBox="1"/>
          <p:nvPr/>
        </p:nvSpPr>
        <p:spPr>
          <a:xfrm>
            <a:off x="360485" y="1248508"/>
            <a:ext cx="11377246" cy="3416320"/>
          </a:xfrm>
          <a:prstGeom prst="rect">
            <a:avLst/>
          </a:prstGeom>
          <a:noFill/>
        </p:spPr>
        <p:txBody>
          <a:bodyPr wrap="square" rtlCol="0">
            <a:spAutoFit/>
          </a:bodyPr>
          <a:lstStyle/>
          <a:p>
            <a:pPr marL="285750" indent="-285750">
              <a:buFont typeface="Arial" panose="020B0604020202020204" pitchFamily="34" charset="0"/>
              <a:buChar char="•"/>
            </a:pPr>
            <a:r>
              <a:rPr lang="el-GR" sz="2400" dirty="0"/>
              <a:t>β</a:t>
            </a:r>
            <a:r>
              <a:rPr lang="en-US" sz="2400" baseline="-25000" dirty="0"/>
              <a:t>1</a:t>
            </a:r>
            <a:r>
              <a:rPr lang="en-US" sz="2400" dirty="0" smtClean="0"/>
              <a:t> </a:t>
            </a:r>
            <a:r>
              <a:rPr lang="en-US" sz="2400" dirty="0"/>
              <a:t>is used to compute the mean of the derivatives (called the first moment) and </a:t>
            </a:r>
            <a:r>
              <a:rPr lang="el-GR" sz="2400" dirty="0" smtClean="0"/>
              <a:t>β</a:t>
            </a:r>
            <a:r>
              <a:rPr lang="en-US" sz="2400" baseline="-25000" dirty="0" smtClean="0"/>
              <a:t>2</a:t>
            </a:r>
            <a:r>
              <a:rPr lang="en-US" sz="2400" dirty="0" smtClean="0"/>
              <a:t> </a:t>
            </a:r>
            <a:r>
              <a:rPr lang="en-US" sz="2400" dirty="0"/>
              <a:t>is used to compute the exponentially weighted average of the squares (called the second moment). The bias correction is also implemented in Adam to improve numerical stability.</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Hyperparameter</a:t>
            </a:r>
            <a:r>
              <a:rPr lang="en-US" sz="2400" dirty="0"/>
              <a:t> tuning is an important step in optimizing the performance of deep learning models. In practice, it is common to use default values for </a:t>
            </a:r>
            <a:r>
              <a:rPr lang="el-GR" sz="2400" dirty="0"/>
              <a:t>β</a:t>
            </a:r>
            <a:r>
              <a:rPr lang="en-US" sz="2400" baseline="-25000" dirty="0"/>
              <a:t>1</a:t>
            </a:r>
            <a:r>
              <a:rPr lang="en-US" sz="2400" dirty="0" smtClean="0"/>
              <a:t>, </a:t>
            </a:r>
            <a:r>
              <a:rPr lang="el-GR" sz="2400" dirty="0" smtClean="0"/>
              <a:t>β</a:t>
            </a:r>
            <a:r>
              <a:rPr lang="en-US" sz="2400" baseline="-25000" dirty="0" smtClean="0"/>
              <a:t>2</a:t>
            </a:r>
            <a:r>
              <a:rPr lang="en-US" sz="2400" dirty="0" smtClean="0"/>
              <a:t>, </a:t>
            </a:r>
            <a:r>
              <a:rPr lang="en-US" sz="2400" dirty="0"/>
              <a:t>and </a:t>
            </a:r>
            <a:r>
              <a:rPr lang="el-GR" sz="2400" dirty="0"/>
              <a:t>ϵ</a:t>
            </a:r>
            <a:r>
              <a:rPr lang="en-US" sz="2400" dirty="0" smtClean="0"/>
              <a:t>, </a:t>
            </a:r>
            <a:r>
              <a:rPr lang="en-US" sz="2400" dirty="0"/>
              <a:t>and to tune the learning rate </a:t>
            </a:r>
            <a:r>
              <a:rPr lang="el-GR" sz="2400" dirty="0"/>
              <a:t>α</a:t>
            </a:r>
            <a:r>
              <a:rPr lang="en-US" sz="2400" dirty="0" smtClean="0"/>
              <a:t> </a:t>
            </a:r>
            <a:r>
              <a:rPr lang="en-US" sz="2400" dirty="0"/>
              <a:t>by trying a range of values to see what works best.</a:t>
            </a:r>
          </a:p>
        </p:txBody>
      </p:sp>
    </p:spTree>
    <p:extLst>
      <p:ext uri="{BB962C8B-B14F-4D97-AF65-F5344CB8AC3E}">
        <p14:creationId xmlns:p14="http://schemas.microsoft.com/office/powerpoint/2010/main" val="16378794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425"/>
        <p:cNvGrpSpPr/>
        <p:nvPr/>
      </p:nvGrpSpPr>
      <p:grpSpPr>
        <a:xfrm>
          <a:off x="0" y="0"/>
          <a:ext cx="0" cy="0"/>
          <a:chOff x="0" y="0"/>
          <a:chExt cx="0" cy="0"/>
        </a:xfrm>
      </p:grpSpPr>
      <p:sp>
        <p:nvSpPr>
          <p:cNvPr id="426" name="Google Shape;426;p24"/>
          <p:cNvSpPr txBox="1">
            <a:spLocks noGrp="1"/>
          </p:cNvSpPr>
          <p:nvPr>
            <p:ph type="title"/>
          </p:nvPr>
        </p:nvSpPr>
        <p:spPr>
          <a:xfrm>
            <a:off x="1742100" y="1265775"/>
            <a:ext cx="9037500" cy="2124413"/>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dirty="0">
                <a:latin typeface="+mj-lt"/>
              </a:rPr>
              <a:t>Optimization Algorithms</a:t>
            </a:r>
            <a:endParaRPr dirty="0">
              <a:latin typeface="+mj-lt"/>
            </a:endParaRPr>
          </a:p>
        </p:txBody>
      </p:sp>
      <p:sp>
        <p:nvSpPr>
          <p:cNvPr id="427" name="Google Shape;427;p24"/>
          <p:cNvSpPr txBox="1"/>
          <p:nvPr/>
        </p:nvSpPr>
        <p:spPr>
          <a:xfrm>
            <a:off x="5015966" y="3662766"/>
            <a:ext cx="6908799" cy="1020264"/>
          </a:xfrm>
          <a:prstGeom prst="rect">
            <a:avLst/>
          </a:prstGeom>
          <a:noFill/>
          <a:ln>
            <a:noFill/>
          </a:ln>
        </p:spPr>
        <p:txBody>
          <a:bodyPr spcFirstLastPara="1" wrap="square" lIns="0" tIns="31100" rIns="0" bIns="0" anchor="t" anchorCtr="0">
            <a:spAutoFit/>
          </a:bodyPr>
          <a:lstStyle/>
          <a:p>
            <a:pPr marL="1266190" marR="5080" lvl="0" indent="-1254125" algn="l" rtl="0">
              <a:lnSpc>
                <a:spcPct val="119242"/>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Learning rate decay</a:t>
            </a:r>
            <a:endParaRPr sz="5400" b="0" i="0" u="none" strike="noStrike" cap="none" dirty="0">
              <a:solidFill>
                <a:srgbClr val="000000"/>
              </a:solidFill>
              <a:latin typeface="+mj-lt"/>
              <a:ea typeface="Calibri"/>
              <a:cs typeface="Calibri"/>
              <a:sym typeface="Calibri"/>
            </a:endParaRPr>
          </a:p>
        </p:txBody>
      </p:sp>
      <p:sp>
        <p:nvSpPr>
          <p:cNvPr id="428" name="Google Shape;428;p24"/>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29" name="Google Shape;429;p2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430" name="Google Shape;430;p24"/>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Learning rate decay</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50</a:t>
            </a:fld>
            <a:endParaRPr/>
          </a:p>
        </p:txBody>
      </p:sp>
      <p:sp>
        <p:nvSpPr>
          <p:cNvPr id="2" name="TextBox 1"/>
          <p:cNvSpPr txBox="1"/>
          <p:nvPr/>
        </p:nvSpPr>
        <p:spPr>
          <a:xfrm>
            <a:off x="360485" y="1248508"/>
            <a:ext cx="11377246"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Learning rate decay is a technique used to gradually reduce the learning rate </a:t>
            </a:r>
            <a:r>
              <a:rPr lang="el-GR" sz="2400" dirty="0"/>
              <a:t>α</a:t>
            </a:r>
            <a:r>
              <a:rPr lang="en-US" sz="2400" dirty="0" smtClean="0"/>
              <a:t> </a:t>
            </a:r>
            <a:r>
              <a:rPr lang="en-US" sz="2400" dirty="0"/>
              <a:t>over time during the training process of a neural network. </a:t>
            </a:r>
            <a:endParaRPr lang="en-US" sz="2400" dirty="0" smtClean="0"/>
          </a:p>
          <a:p>
            <a:pPr marL="285750" indent="-285750">
              <a:buFont typeface="Arial" panose="020B0604020202020204" pitchFamily="34" charset="0"/>
              <a:buChar char="•"/>
            </a:pPr>
            <a:r>
              <a:rPr lang="en-US" sz="2400" dirty="0" smtClean="0"/>
              <a:t>The </a:t>
            </a:r>
            <a:r>
              <a:rPr lang="en-US" sz="2400" dirty="0"/>
              <a:t>intuition behind this technique is that as learning approaches convergence, having a slower learning rate allows for smaller and more precise steps towards the minimum instead of oscillating around it. </a:t>
            </a:r>
            <a:endParaRPr lang="en-US" sz="2400" dirty="0" smtClean="0"/>
          </a:p>
          <a:p>
            <a:pPr marL="285750" indent="-285750">
              <a:buFont typeface="Arial" panose="020B0604020202020204" pitchFamily="34" charset="0"/>
              <a:buChar char="•"/>
            </a:pPr>
            <a:r>
              <a:rPr lang="en-US" sz="2400" dirty="0"/>
              <a:t>Initially, when the learning rate is not very small, training will be faster. If we slowly reduce the learning rate, there is a higher chance of coming close to the global minima</a:t>
            </a:r>
            <a:r>
              <a:rPr lang="en-US" sz="2400" dirty="0" smtClean="0"/>
              <a:t>.</a:t>
            </a:r>
            <a:endParaRPr lang="en-US" sz="2400" dirty="0"/>
          </a:p>
          <a:p>
            <a:pPr marL="285750" indent="-285750">
              <a:buFont typeface="Arial" panose="020B0604020202020204" pitchFamily="34" charset="0"/>
              <a:buChar char="•"/>
            </a:pPr>
            <a:r>
              <a:rPr lang="en-US" sz="2400" dirty="0"/>
              <a:t>Learning rate decay can be given as:</a:t>
            </a:r>
          </a:p>
          <a:p>
            <a:r>
              <a:rPr lang="en-US" sz="2400" dirty="0" smtClean="0"/>
              <a:t>	α </a:t>
            </a:r>
            <a:r>
              <a:rPr lang="en-US" sz="2400" dirty="0"/>
              <a:t>= [1 / (1 + </a:t>
            </a:r>
            <a:r>
              <a:rPr lang="en-US" sz="2400" dirty="0" err="1"/>
              <a:t>decay_rate</a:t>
            </a:r>
            <a:r>
              <a:rPr lang="en-US" sz="2400" dirty="0"/>
              <a:t> * </a:t>
            </a:r>
            <a:r>
              <a:rPr lang="en-US" sz="2400" dirty="0" err="1"/>
              <a:t>epoch_number</a:t>
            </a:r>
            <a:r>
              <a:rPr lang="en-US" sz="2400" dirty="0"/>
              <a:t>)] * </a:t>
            </a:r>
            <a:r>
              <a:rPr lang="en-US" sz="2400" dirty="0" smtClean="0"/>
              <a:t>α</a:t>
            </a:r>
            <a:r>
              <a:rPr lang="en-US" sz="2400" baseline="-25000" dirty="0" smtClean="0"/>
              <a:t>0</a:t>
            </a:r>
            <a:endParaRPr lang="en-US" sz="2400" dirty="0" smtClean="0"/>
          </a:p>
          <a:p>
            <a:r>
              <a:rPr lang="en-US" sz="2400" dirty="0" smtClean="0"/>
              <a:t>The </a:t>
            </a:r>
            <a:r>
              <a:rPr lang="en-US" sz="2400" i="1" dirty="0"/>
              <a:t>decay rate</a:t>
            </a:r>
            <a:r>
              <a:rPr lang="en-US" sz="2400" dirty="0"/>
              <a:t> becomes another </a:t>
            </a:r>
            <a:r>
              <a:rPr lang="en-US" sz="2400" dirty="0" err="1"/>
              <a:t>hyperparameter</a:t>
            </a:r>
            <a:r>
              <a:rPr lang="en-US" sz="2400" dirty="0"/>
              <a:t> that you may need to tune. There are several other ways to implement learning rate decay, such as exponential decay or discrete staircase.</a:t>
            </a:r>
          </a:p>
        </p:txBody>
      </p:sp>
    </p:spTree>
    <p:extLst>
      <p:ext uri="{BB962C8B-B14F-4D97-AF65-F5344CB8AC3E}">
        <p14:creationId xmlns:p14="http://schemas.microsoft.com/office/powerpoint/2010/main" val="203941545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Learning rate decay</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51</a:t>
            </a:fld>
            <a:endParaRPr/>
          </a:p>
        </p:txBody>
      </p:sp>
      <p:sp>
        <p:nvSpPr>
          <p:cNvPr id="2" name="TextBox 1"/>
          <p:cNvSpPr txBox="1"/>
          <p:nvPr/>
        </p:nvSpPr>
        <p:spPr>
          <a:xfrm>
            <a:off x="360485" y="1248508"/>
            <a:ext cx="11377246" cy="2308324"/>
          </a:xfrm>
          <a:prstGeom prst="rect">
            <a:avLst/>
          </a:prstGeom>
          <a:noFill/>
        </p:spPr>
        <p:txBody>
          <a:bodyPr wrap="square" rtlCol="0">
            <a:spAutoFit/>
          </a:bodyPr>
          <a:lstStyle/>
          <a:p>
            <a:r>
              <a:rPr lang="en-US" sz="2400" dirty="0"/>
              <a:t>Let’s understand it with an example. Consider</a:t>
            </a:r>
            <a:r>
              <a:rPr lang="en-US" sz="2400" dirty="0" smtClean="0"/>
              <a:t>:</a:t>
            </a:r>
            <a:endParaRPr lang="en-US" sz="2400" dirty="0"/>
          </a:p>
          <a:p>
            <a:pPr marL="285750" indent="-285750">
              <a:buFont typeface="Arial" panose="020B0604020202020204" pitchFamily="34" charset="0"/>
              <a:buChar char="•"/>
            </a:pPr>
            <a:r>
              <a:rPr lang="en-US" sz="2000" dirty="0"/>
              <a:t>α0 = 0.2</a:t>
            </a:r>
          </a:p>
          <a:p>
            <a:pPr marL="285750" indent="-285750">
              <a:buFont typeface="Arial" panose="020B0604020202020204" pitchFamily="34" charset="0"/>
              <a:buChar char="•"/>
            </a:pPr>
            <a:r>
              <a:rPr lang="en-US" sz="2000" dirty="0" err="1"/>
              <a:t>decay_rate</a:t>
            </a:r>
            <a:r>
              <a:rPr lang="en-US" sz="2000" dirty="0"/>
              <a:t> = 1</a:t>
            </a:r>
          </a:p>
          <a:p>
            <a:r>
              <a:rPr lang="en-US" sz="2000" dirty="0" smtClean="0"/>
              <a:t>α</a:t>
            </a:r>
            <a:r>
              <a:rPr lang="en-US" sz="2000" baseline="-25000" dirty="0" smtClean="0"/>
              <a:t>1</a:t>
            </a:r>
            <a:r>
              <a:rPr lang="en-US" sz="2000" dirty="0" smtClean="0"/>
              <a:t> = [1</a:t>
            </a:r>
            <a:r>
              <a:rPr lang="en-US" sz="2000" dirty="0"/>
              <a:t>/(1+1)]*0.2 = 0.1</a:t>
            </a:r>
          </a:p>
          <a:p>
            <a:r>
              <a:rPr lang="en-US" sz="2000" dirty="0" smtClean="0"/>
              <a:t>α</a:t>
            </a:r>
            <a:r>
              <a:rPr lang="en-US" sz="2000" baseline="-25000" dirty="0" smtClean="0"/>
              <a:t>2 </a:t>
            </a:r>
            <a:r>
              <a:rPr lang="en-US" sz="2000" dirty="0" smtClean="0"/>
              <a:t>= [</a:t>
            </a:r>
            <a:r>
              <a:rPr lang="en-US" sz="2000" dirty="0"/>
              <a:t>1/(1+2)]*0.2 = 0.067</a:t>
            </a:r>
          </a:p>
          <a:p>
            <a:r>
              <a:rPr lang="en-US" sz="2000" dirty="0" smtClean="0"/>
              <a:t>α</a:t>
            </a:r>
            <a:r>
              <a:rPr lang="en-US" sz="2000" baseline="-25000" dirty="0" smtClean="0"/>
              <a:t>3 </a:t>
            </a:r>
            <a:r>
              <a:rPr lang="en-US" sz="2000" dirty="0" smtClean="0"/>
              <a:t>= 0.05</a:t>
            </a:r>
            <a:endParaRPr lang="en-US" sz="2000" dirty="0"/>
          </a:p>
          <a:p>
            <a:r>
              <a:rPr lang="en-US" sz="2000" dirty="0" smtClean="0"/>
              <a:t>α</a:t>
            </a:r>
            <a:r>
              <a:rPr lang="en-US" sz="2000" baseline="-25000" dirty="0" smtClean="0"/>
              <a:t>4 </a:t>
            </a:r>
            <a:r>
              <a:rPr lang="en-US" sz="2000" dirty="0" smtClean="0"/>
              <a:t>= 0.04</a:t>
            </a:r>
            <a:endParaRPr lang="en-US" sz="2000" dirty="0"/>
          </a:p>
        </p:txBody>
      </p:sp>
    </p:spTree>
    <p:extLst>
      <p:ext uri="{BB962C8B-B14F-4D97-AF65-F5344CB8AC3E}">
        <p14:creationId xmlns:p14="http://schemas.microsoft.com/office/powerpoint/2010/main" val="225249296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Learning rate decay</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52</a:t>
            </a:fld>
            <a:endParaRPr/>
          </a:p>
        </p:txBody>
      </p:sp>
      <p:sp>
        <p:nvSpPr>
          <p:cNvPr id="2" name="TextBox 1"/>
          <p:cNvSpPr txBox="1"/>
          <p:nvPr/>
        </p:nvSpPr>
        <p:spPr>
          <a:xfrm>
            <a:off x="360485" y="1248508"/>
            <a:ext cx="11377246" cy="3354765"/>
          </a:xfrm>
          <a:prstGeom prst="rect">
            <a:avLst/>
          </a:prstGeom>
          <a:noFill/>
        </p:spPr>
        <p:txBody>
          <a:bodyPr wrap="square" rtlCol="0">
            <a:spAutoFit/>
          </a:bodyPr>
          <a:lstStyle/>
          <a:p>
            <a:r>
              <a:rPr lang="en-US" sz="2400" dirty="0"/>
              <a:t>This is how, after each epoch, there is a decay in the learning rate which helps us reach the global minima much more quickly. There are a few more learning rate decay methods</a:t>
            </a:r>
            <a:r>
              <a:rPr lang="en-US" sz="2400" dirty="0" smtClean="0"/>
              <a:t>:</a:t>
            </a:r>
          </a:p>
          <a:p>
            <a:endParaRPr lang="en-US" sz="2400" dirty="0"/>
          </a:p>
          <a:p>
            <a:endParaRPr lang="en-US" sz="2400" dirty="0" smtClean="0"/>
          </a:p>
          <a:p>
            <a:endParaRPr lang="en-US" sz="2400" dirty="0"/>
          </a:p>
          <a:p>
            <a:endParaRPr lang="en-US" sz="2400" dirty="0" smtClean="0"/>
          </a:p>
          <a:p>
            <a:endParaRPr lang="en-US" sz="2000" dirty="0" smtClean="0"/>
          </a:p>
          <a:p>
            <a:r>
              <a:rPr lang="en-US" sz="2400" dirty="0" smtClean="0"/>
              <a:t>Here</a:t>
            </a:r>
            <a:r>
              <a:rPr lang="en-US" sz="2400" dirty="0"/>
              <a:t>, t is the mini-batch number</a:t>
            </a:r>
            <a:r>
              <a:rPr lang="en-US" sz="2400" dirty="0" smtClean="0"/>
              <a:t>.</a:t>
            </a:r>
            <a:endParaRPr lang="en-US" sz="2400" dirty="0"/>
          </a:p>
        </p:txBody>
      </p:sp>
      <p:pic>
        <p:nvPicPr>
          <p:cNvPr id="3" name="Picture 2"/>
          <p:cNvPicPr>
            <a:picLocks noChangeAspect="1"/>
          </p:cNvPicPr>
          <p:nvPr/>
        </p:nvPicPr>
        <p:blipFill>
          <a:blip r:embed="rId4"/>
          <a:stretch>
            <a:fillRect/>
          </a:stretch>
        </p:blipFill>
        <p:spPr>
          <a:xfrm>
            <a:off x="2378349" y="2516268"/>
            <a:ext cx="6282571" cy="1528193"/>
          </a:xfrm>
          <a:prstGeom prst="rect">
            <a:avLst/>
          </a:prstGeom>
        </p:spPr>
      </p:pic>
    </p:spTree>
    <p:extLst>
      <p:ext uri="{BB962C8B-B14F-4D97-AF65-F5344CB8AC3E}">
        <p14:creationId xmlns:p14="http://schemas.microsoft.com/office/powerpoint/2010/main" val="42028751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Learning rate decay</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53</a:t>
            </a:fld>
            <a:endParaRPr/>
          </a:p>
        </p:txBody>
      </p:sp>
      <p:sp>
        <p:nvSpPr>
          <p:cNvPr id="2" name="TextBox 1"/>
          <p:cNvSpPr txBox="1"/>
          <p:nvPr/>
        </p:nvSpPr>
        <p:spPr>
          <a:xfrm>
            <a:off x="360485" y="1248508"/>
            <a:ext cx="11377246"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While learning rate decay isn't always essential and should be a secondary consideration among </a:t>
            </a:r>
            <a:r>
              <a:rPr lang="en-US" sz="2400" dirty="0" err="1"/>
              <a:t>hyperparameters</a:t>
            </a:r>
            <a:r>
              <a:rPr lang="en-US" sz="2400" dirty="0"/>
              <a:t>, setting a well-tuned fixed value for Alpha can significantly impact training. Learning rate decay may aid training speed in certain scenarios. </a:t>
            </a:r>
            <a:endParaRPr lang="en-US" sz="2400" dirty="0" smtClean="0"/>
          </a:p>
          <a:p>
            <a:pPr marL="285750" indent="-285750">
              <a:buFont typeface="Arial" panose="020B0604020202020204" pitchFamily="34" charset="0"/>
              <a:buChar char="•"/>
            </a:pPr>
            <a:r>
              <a:rPr lang="en-US" sz="2400" dirty="0" smtClean="0"/>
              <a:t>In </a:t>
            </a:r>
            <a:r>
              <a:rPr lang="en-US" sz="2400" dirty="0"/>
              <a:t>neural network training, optimization algorithms strive to find a global minimum but may encounter challenges like local optima or saddle points. Recognizing these optimization issues enhances intuition about the training process.</a:t>
            </a:r>
            <a:endParaRPr lang="en-US" sz="2400" dirty="0"/>
          </a:p>
        </p:txBody>
      </p:sp>
    </p:spTree>
    <p:extLst>
      <p:ext uri="{BB962C8B-B14F-4D97-AF65-F5344CB8AC3E}">
        <p14:creationId xmlns:p14="http://schemas.microsoft.com/office/powerpoint/2010/main" val="323947235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450"/>
        <p:cNvGrpSpPr/>
        <p:nvPr/>
      </p:nvGrpSpPr>
      <p:grpSpPr>
        <a:xfrm>
          <a:off x="0" y="0"/>
          <a:ext cx="0" cy="0"/>
          <a:chOff x="0" y="0"/>
          <a:chExt cx="0" cy="0"/>
        </a:xfrm>
      </p:grpSpPr>
      <p:sp>
        <p:nvSpPr>
          <p:cNvPr id="451" name="Google Shape;451;p27"/>
          <p:cNvSpPr txBox="1">
            <a:spLocks noGrp="1"/>
          </p:cNvSpPr>
          <p:nvPr>
            <p:ph type="title"/>
          </p:nvPr>
        </p:nvSpPr>
        <p:spPr>
          <a:xfrm>
            <a:off x="1742100" y="1265775"/>
            <a:ext cx="9437700" cy="2124413"/>
          </a:xfrm>
          <a:prstGeom prst="rect">
            <a:avLst/>
          </a:prstGeom>
          <a:noFill/>
          <a:ln>
            <a:noFill/>
          </a:ln>
        </p:spPr>
        <p:txBody>
          <a:bodyPr spcFirstLastPara="1" wrap="square" lIns="0" tIns="110475" rIns="0" bIns="0" anchor="t" anchorCtr="0">
            <a:spAutoFit/>
          </a:bodyPr>
          <a:lstStyle/>
          <a:p>
            <a:pPr marL="5066665" marR="5080" lvl="0" indent="-303530" algn="l" rtl="0">
              <a:lnSpc>
                <a:spcPct val="108833"/>
              </a:lnSpc>
              <a:spcBef>
                <a:spcPts val="0"/>
              </a:spcBef>
              <a:spcAft>
                <a:spcPts val="0"/>
              </a:spcAft>
              <a:buSzPts val="1400"/>
              <a:buNone/>
            </a:pPr>
            <a:r>
              <a:rPr lang="en-US" dirty="0">
                <a:latin typeface="+mj-lt"/>
              </a:rPr>
              <a:t>Optimization Algorithms</a:t>
            </a:r>
            <a:endParaRPr dirty="0">
              <a:latin typeface="+mj-lt"/>
            </a:endParaRPr>
          </a:p>
        </p:txBody>
      </p:sp>
      <p:sp>
        <p:nvSpPr>
          <p:cNvPr id="452" name="Google Shape;452;p27"/>
          <p:cNvSpPr txBox="1"/>
          <p:nvPr/>
        </p:nvSpPr>
        <p:spPr>
          <a:xfrm>
            <a:off x="5847994" y="3704166"/>
            <a:ext cx="5244600" cy="2009125"/>
          </a:xfrm>
          <a:prstGeom prst="rect">
            <a:avLst/>
          </a:prstGeom>
          <a:noFill/>
          <a:ln>
            <a:noFill/>
          </a:ln>
        </p:spPr>
        <p:txBody>
          <a:bodyPr spcFirstLastPara="1" wrap="square" lIns="0" tIns="31100" rIns="0" bIns="0" anchor="t" anchorCtr="0">
            <a:spAutoFit/>
          </a:bodyPr>
          <a:lstStyle/>
          <a:p>
            <a:pPr marL="529590" marR="5080" lvl="0" indent="-516890" algn="l" rtl="0">
              <a:lnSpc>
                <a:spcPct val="119242"/>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The problem of local optima</a:t>
            </a:r>
            <a:endParaRPr sz="5400" b="0" i="0" u="none" strike="noStrike" cap="none" dirty="0">
              <a:solidFill>
                <a:srgbClr val="000000"/>
              </a:solidFill>
              <a:latin typeface="+mj-lt"/>
              <a:ea typeface="Calibri"/>
              <a:cs typeface="Calibri"/>
              <a:sym typeface="Calibri"/>
            </a:endParaRPr>
          </a:p>
        </p:txBody>
      </p:sp>
      <p:sp>
        <p:nvSpPr>
          <p:cNvPr id="453" name="Google Shape;453;p27"/>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54" name="Google Shape;454;p2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455" name="Google Shape;455;p27"/>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The problem of local optima</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55</a:t>
            </a:fld>
            <a:endParaRPr/>
          </a:p>
        </p:txBody>
      </p:sp>
      <p:sp>
        <p:nvSpPr>
          <p:cNvPr id="2" name="TextBox 1"/>
          <p:cNvSpPr txBox="1"/>
          <p:nvPr/>
        </p:nvSpPr>
        <p:spPr>
          <a:xfrm>
            <a:off x="360485" y="1248508"/>
            <a:ext cx="11377246" cy="3416320"/>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In the early days of deep learning, people used to worry a lot about the optimization algorithm getting stuck in bad local optima. However, as the theory of deep learning has advanced, our understanding of local optima has also changed. </a:t>
            </a:r>
            <a:endParaRPr lang="en-US" sz="2400" dirty="0" smtClean="0"/>
          </a:p>
          <a:p>
            <a:pPr marL="285750" indent="-285750">
              <a:buFont typeface="Arial" panose="020B0604020202020204" pitchFamily="34" charset="0"/>
              <a:buChar char="•"/>
            </a:pPr>
            <a:r>
              <a:rPr lang="en-US" sz="2400" dirty="0" smtClean="0"/>
              <a:t>It </a:t>
            </a:r>
            <a:r>
              <a:rPr lang="en-US" sz="2400" dirty="0"/>
              <a:t>turns out that most points of zero gradient in a cost function are not local optima but saddle points. In a very high-dimensional space, for a point to be a local optima, all directions must look like a convex light function or a concave light function, which is very unlikely. </a:t>
            </a:r>
            <a:endParaRPr lang="en-US" sz="2400" dirty="0" smtClean="0"/>
          </a:p>
        </p:txBody>
      </p:sp>
    </p:spTree>
    <p:extLst>
      <p:ext uri="{BB962C8B-B14F-4D97-AF65-F5344CB8AC3E}">
        <p14:creationId xmlns:p14="http://schemas.microsoft.com/office/powerpoint/2010/main" val="159816613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459"/>
        <p:cNvGrpSpPr/>
        <p:nvPr/>
      </p:nvGrpSpPr>
      <p:grpSpPr>
        <a:xfrm>
          <a:off x="0" y="0"/>
          <a:ext cx="0" cy="0"/>
          <a:chOff x="0" y="0"/>
          <a:chExt cx="0" cy="0"/>
        </a:xfrm>
      </p:grpSpPr>
      <p:grpSp>
        <p:nvGrpSpPr>
          <p:cNvPr id="460" name="Google Shape;460;p28"/>
          <p:cNvGrpSpPr/>
          <p:nvPr/>
        </p:nvGrpSpPr>
        <p:grpSpPr>
          <a:xfrm>
            <a:off x="1016001" y="1620836"/>
            <a:ext cx="4555070" cy="3616325"/>
            <a:chOff x="701868" y="1539442"/>
            <a:chExt cx="4555070" cy="3616325"/>
          </a:xfrm>
        </p:grpSpPr>
        <p:pic>
          <p:nvPicPr>
            <p:cNvPr id="461" name="Google Shape;461;p28"/>
            <p:cNvPicPr preferRelativeResize="0"/>
            <p:nvPr/>
          </p:nvPicPr>
          <p:blipFill rotWithShape="1">
            <a:blip r:embed="rId3">
              <a:alphaModFix/>
            </a:blip>
            <a:srcRect/>
            <a:stretch/>
          </p:blipFill>
          <p:spPr>
            <a:xfrm>
              <a:off x="701868" y="2302928"/>
              <a:ext cx="4555070" cy="2387599"/>
            </a:xfrm>
            <a:prstGeom prst="rect">
              <a:avLst/>
            </a:prstGeom>
            <a:noFill/>
            <a:ln>
              <a:noFill/>
            </a:ln>
          </p:spPr>
        </p:pic>
        <p:sp>
          <p:nvSpPr>
            <p:cNvPr id="462" name="Google Shape;462;p28"/>
            <p:cNvSpPr/>
            <p:nvPr/>
          </p:nvSpPr>
          <p:spPr>
            <a:xfrm>
              <a:off x="1371155" y="1539442"/>
              <a:ext cx="3737610" cy="3616325"/>
            </a:xfrm>
            <a:custGeom>
              <a:avLst/>
              <a:gdLst/>
              <a:ahLst/>
              <a:cxnLst/>
              <a:rect l="l" t="t" r="r" b="b"/>
              <a:pathLst>
                <a:path w="3737610" h="3616325" extrusionOk="0">
                  <a:moveTo>
                    <a:pt x="3737559" y="2878594"/>
                  </a:moveTo>
                  <a:lnTo>
                    <a:pt x="3717150" y="2861995"/>
                  </a:lnTo>
                  <a:lnTo>
                    <a:pt x="3627412" y="2788996"/>
                  </a:lnTo>
                  <a:lnTo>
                    <a:pt x="3615436" y="2842717"/>
                  </a:lnTo>
                  <a:lnTo>
                    <a:pt x="1486395" y="2368346"/>
                  </a:lnTo>
                  <a:lnTo>
                    <a:pt x="1486395" y="127000"/>
                  </a:lnTo>
                  <a:lnTo>
                    <a:pt x="1541424" y="127000"/>
                  </a:lnTo>
                  <a:lnTo>
                    <a:pt x="1535074" y="114300"/>
                  </a:lnTo>
                  <a:lnTo>
                    <a:pt x="1477924" y="0"/>
                  </a:lnTo>
                  <a:lnTo>
                    <a:pt x="1414424" y="127000"/>
                  </a:lnTo>
                  <a:lnTo>
                    <a:pt x="1469453" y="127000"/>
                  </a:lnTo>
                  <a:lnTo>
                    <a:pt x="1469453" y="2371166"/>
                  </a:lnTo>
                  <a:lnTo>
                    <a:pt x="91808" y="3527869"/>
                  </a:lnTo>
                  <a:lnTo>
                    <a:pt x="56426" y="3485718"/>
                  </a:lnTo>
                  <a:lnTo>
                    <a:pt x="0" y="3616007"/>
                  </a:lnTo>
                  <a:lnTo>
                    <a:pt x="138087" y="3582974"/>
                  </a:lnTo>
                  <a:lnTo>
                    <a:pt x="109550" y="3548989"/>
                  </a:lnTo>
                  <a:lnTo>
                    <a:pt x="102692" y="3540836"/>
                  </a:lnTo>
                  <a:lnTo>
                    <a:pt x="1480146" y="2384310"/>
                  </a:lnTo>
                  <a:lnTo>
                    <a:pt x="3611753" y="2859240"/>
                  </a:lnTo>
                  <a:lnTo>
                    <a:pt x="3599789" y="2912948"/>
                  </a:lnTo>
                  <a:lnTo>
                    <a:pt x="3737559" y="287859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63" name="Google Shape;463;p28"/>
          <p:cNvSpPr txBox="1">
            <a:spLocks noGrp="1"/>
          </p:cNvSpPr>
          <p:nvPr>
            <p:ph type="title"/>
          </p:nvPr>
        </p:nvSpPr>
        <p:spPr>
          <a:xfrm>
            <a:off x="246122" y="173563"/>
            <a:ext cx="84416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Local optima in neural networks</a:t>
            </a:r>
            <a:endParaRPr sz="4400">
              <a:latin typeface="Cambria"/>
              <a:ea typeface="Cambria"/>
              <a:cs typeface="Cambria"/>
              <a:sym typeface="Cambria"/>
            </a:endParaRPr>
          </a:p>
        </p:txBody>
      </p:sp>
      <p:grpSp>
        <p:nvGrpSpPr>
          <p:cNvPr id="464" name="Google Shape;464;p28"/>
          <p:cNvGrpSpPr/>
          <p:nvPr/>
        </p:nvGrpSpPr>
        <p:grpSpPr>
          <a:xfrm>
            <a:off x="6934200" y="1480499"/>
            <a:ext cx="4792020" cy="3896995"/>
            <a:chOff x="6764866" y="1383956"/>
            <a:chExt cx="4792020" cy="3896995"/>
          </a:xfrm>
        </p:grpSpPr>
        <p:pic>
          <p:nvPicPr>
            <p:cNvPr id="465" name="Google Shape;465;p28"/>
            <p:cNvPicPr preferRelativeResize="0"/>
            <p:nvPr/>
          </p:nvPicPr>
          <p:blipFill rotWithShape="1">
            <a:blip r:embed="rId4">
              <a:alphaModFix/>
            </a:blip>
            <a:srcRect/>
            <a:stretch/>
          </p:blipFill>
          <p:spPr>
            <a:xfrm>
              <a:off x="6764866" y="2167466"/>
              <a:ext cx="4411133" cy="2565396"/>
            </a:xfrm>
            <a:prstGeom prst="rect">
              <a:avLst/>
            </a:prstGeom>
            <a:noFill/>
            <a:ln>
              <a:noFill/>
            </a:ln>
          </p:spPr>
        </p:pic>
        <p:sp>
          <p:nvSpPr>
            <p:cNvPr id="466" name="Google Shape;466;p28"/>
            <p:cNvSpPr/>
            <p:nvPr/>
          </p:nvSpPr>
          <p:spPr>
            <a:xfrm>
              <a:off x="7194436" y="1383956"/>
              <a:ext cx="4362450" cy="3896995"/>
            </a:xfrm>
            <a:custGeom>
              <a:avLst/>
              <a:gdLst/>
              <a:ahLst/>
              <a:cxnLst/>
              <a:rect l="l" t="t" r="r" b="b"/>
              <a:pathLst>
                <a:path w="4362450" h="3896995" extrusionOk="0">
                  <a:moveTo>
                    <a:pt x="4362069" y="3102038"/>
                  </a:moveTo>
                  <a:lnTo>
                    <a:pt x="4343336" y="3087306"/>
                  </a:lnTo>
                  <a:lnTo>
                    <a:pt x="4250474" y="3014256"/>
                  </a:lnTo>
                  <a:lnTo>
                    <a:pt x="4239374" y="3068167"/>
                  </a:lnTo>
                  <a:lnTo>
                    <a:pt x="1733346" y="2552598"/>
                  </a:lnTo>
                  <a:lnTo>
                    <a:pt x="1733346" y="127000"/>
                  </a:lnTo>
                  <a:lnTo>
                    <a:pt x="1788375" y="127000"/>
                  </a:lnTo>
                  <a:lnTo>
                    <a:pt x="1782025" y="114300"/>
                  </a:lnTo>
                  <a:lnTo>
                    <a:pt x="1724875" y="0"/>
                  </a:lnTo>
                  <a:lnTo>
                    <a:pt x="1661375" y="127000"/>
                  </a:lnTo>
                  <a:lnTo>
                    <a:pt x="1716405" y="127000"/>
                  </a:lnTo>
                  <a:lnTo>
                    <a:pt x="1716405" y="2555367"/>
                  </a:lnTo>
                  <a:lnTo>
                    <a:pt x="95173" y="3812209"/>
                  </a:lnTo>
                  <a:lnTo>
                    <a:pt x="61468" y="3768712"/>
                  </a:lnTo>
                  <a:lnTo>
                    <a:pt x="0" y="3896703"/>
                  </a:lnTo>
                  <a:lnTo>
                    <a:pt x="139280" y="3869080"/>
                  </a:lnTo>
                  <a:lnTo>
                    <a:pt x="111582" y="3833368"/>
                  </a:lnTo>
                  <a:lnTo>
                    <a:pt x="105549" y="3825595"/>
                  </a:lnTo>
                  <a:lnTo>
                    <a:pt x="1726984" y="2568575"/>
                  </a:lnTo>
                  <a:lnTo>
                    <a:pt x="4235970" y="3084753"/>
                  </a:lnTo>
                  <a:lnTo>
                    <a:pt x="4224883" y="3138652"/>
                  </a:lnTo>
                  <a:lnTo>
                    <a:pt x="4362069" y="310203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67" name="Google Shape;467;p28"/>
            <p:cNvSpPr/>
            <p:nvPr/>
          </p:nvSpPr>
          <p:spPr>
            <a:xfrm>
              <a:off x="7004336" y="2254488"/>
              <a:ext cx="6350" cy="19685"/>
            </a:xfrm>
            <a:custGeom>
              <a:avLst/>
              <a:gdLst/>
              <a:ahLst/>
              <a:cxnLst/>
              <a:rect l="l" t="t" r="r" b="b"/>
              <a:pathLst>
                <a:path w="6350" h="19685" extrusionOk="0">
                  <a:moveTo>
                    <a:pt x="0" y="0"/>
                  </a:moveTo>
                  <a:lnTo>
                    <a:pt x="0" y="6120"/>
                  </a:lnTo>
                  <a:lnTo>
                    <a:pt x="6120" y="6120"/>
                  </a:lnTo>
                  <a:lnTo>
                    <a:pt x="6120" y="12600"/>
                  </a:lnTo>
                  <a:lnTo>
                    <a:pt x="6120" y="19080"/>
                  </a:lnTo>
                  <a:lnTo>
                    <a:pt x="0" y="19080"/>
                  </a:lnTo>
                </a:path>
              </a:pathLst>
            </a:custGeom>
            <a:noFill/>
            <a:ln w="19050" cap="flat" cmpd="sng">
              <a:solidFill>
                <a:srgbClr val="7030A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468" name="Google Shape;468;p28"/>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469" name="Google Shape;469;p28"/>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16"/>
          <p:cNvSpPr txBox="1">
            <a:spLocks noGrp="1"/>
          </p:cNvSpPr>
          <p:nvPr>
            <p:ph type="title"/>
          </p:nvPr>
        </p:nvSpPr>
        <p:spPr>
          <a:xfrm>
            <a:off x="304799" y="11960"/>
            <a:ext cx="1042967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The problem of local optima</a:t>
            </a:r>
          </a:p>
        </p:txBody>
      </p:sp>
      <p:pic>
        <p:nvPicPr>
          <p:cNvPr id="333" name="Google Shape;333;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34" name="Google Shape;334;p16"/>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57</a:t>
            </a:fld>
            <a:endParaRPr/>
          </a:p>
        </p:txBody>
      </p:sp>
      <p:sp>
        <p:nvSpPr>
          <p:cNvPr id="2" name="TextBox 1"/>
          <p:cNvSpPr txBox="1"/>
          <p:nvPr/>
        </p:nvSpPr>
        <p:spPr>
          <a:xfrm>
            <a:off x="360485" y="1248508"/>
            <a:ext cx="11377246"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Saddle points, where the gradient is zero in various directions, and plateaus, where the derivative remains near zero, are common challenges in optimization. These hinder learning, especially on plateaus, causing slow convergence. </a:t>
            </a:r>
            <a:endParaRPr lang="en-US" sz="2400" dirty="0" smtClean="0"/>
          </a:p>
          <a:p>
            <a:pPr marL="285750" indent="-285750">
              <a:buFont typeface="Arial" panose="020B0604020202020204" pitchFamily="34" charset="0"/>
              <a:buChar char="•"/>
            </a:pPr>
            <a:r>
              <a:rPr lang="en-US" sz="2400" dirty="0" smtClean="0"/>
              <a:t>Algorithms </a:t>
            </a:r>
            <a:r>
              <a:rPr lang="en-US" sz="2400" dirty="0"/>
              <a:t>like momentum, </a:t>
            </a:r>
            <a:r>
              <a:rPr lang="en-US" sz="2400" dirty="0" err="1"/>
              <a:t>RMSProp</a:t>
            </a:r>
            <a:r>
              <a:rPr lang="en-US" sz="2400" dirty="0"/>
              <a:t>, or Adam are beneficial in such scenarios. Due to the high-dimensional nature of neural network optimization, traditional intuition from low-dimensional spaces doesn't directly apply, and our understanding is still evolving.</a:t>
            </a:r>
            <a:endParaRPr lang="en-US" sz="2400" dirty="0"/>
          </a:p>
        </p:txBody>
      </p:sp>
    </p:spTree>
    <p:extLst>
      <p:ext uri="{BB962C8B-B14F-4D97-AF65-F5344CB8AC3E}">
        <p14:creationId xmlns:p14="http://schemas.microsoft.com/office/powerpoint/2010/main" val="21030209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473"/>
        <p:cNvGrpSpPr/>
        <p:nvPr/>
      </p:nvGrpSpPr>
      <p:grpSpPr>
        <a:xfrm>
          <a:off x="0" y="0"/>
          <a:ext cx="0" cy="0"/>
          <a:chOff x="0" y="0"/>
          <a:chExt cx="0" cy="0"/>
        </a:xfrm>
      </p:grpSpPr>
      <p:sp>
        <p:nvSpPr>
          <p:cNvPr id="474" name="Google Shape;474;p29"/>
          <p:cNvSpPr txBox="1">
            <a:spLocks noGrp="1"/>
          </p:cNvSpPr>
          <p:nvPr>
            <p:ph type="title"/>
          </p:nvPr>
        </p:nvSpPr>
        <p:spPr>
          <a:xfrm>
            <a:off x="156544" y="55029"/>
            <a:ext cx="518096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Cambria"/>
                <a:ea typeface="Cambria"/>
                <a:cs typeface="Cambria"/>
                <a:sym typeface="Cambria"/>
              </a:rPr>
              <a:t>Problem of plateaus</a:t>
            </a:r>
            <a:endParaRPr sz="4400">
              <a:latin typeface="Cambria"/>
              <a:ea typeface="Cambria"/>
              <a:cs typeface="Cambria"/>
              <a:sym typeface="Cambria"/>
            </a:endParaRPr>
          </a:p>
        </p:txBody>
      </p:sp>
      <p:grpSp>
        <p:nvGrpSpPr>
          <p:cNvPr id="475" name="Google Shape;475;p29"/>
          <p:cNvGrpSpPr/>
          <p:nvPr/>
        </p:nvGrpSpPr>
        <p:grpSpPr>
          <a:xfrm>
            <a:off x="1143000" y="1124164"/>
            <a:ext cx="10524070" cy="3708400"/>
            <a:chOff x="719667" y="1151470"/>
            <a:chExt cx="10524070" cy="3708400"/>
          </a:xfrm>
        </p:grpSpPr>
        <p:pic>
          <p:nvPicPr>
            <p:cNvPr id="476" name="Google Shape;476;p29"/>
            <p:cNvPicPr preferRelativeResize="0"/>
            <p:nvPr/>
          </p:nvPicPr>
          <p:blipFill rotWithShape="1">
            <a:blip r:embed="rId3">
              <a:alphaModFix/>
            </a:blip>
            <a:srcRect/>
            <a:stretch/>
          </p:blipFill>
          <p:spPr>
            <a:xfrm>
              <a:off x="2556929" y="1413941"/>
              <a:ext cx="2421470" cy="3445929"/>
            </a:xfrm>
            <a:prstGeom prst="rect">
              <a:avLst/>
            </a:prstGeom>
            <a:noFill/>
            <a:ln>
              <a:noFill/>
            </a:ln>
          </p:spPr>
        </p:pic>
        <p:pic>
          <p:nvPicPr>
            <p:cNvPr id="477" name="Google Shape;477;p29"/>
            <p:cNvPicPr preferRelativeResize="0"/>
            <p:nvPr/>
          </p:nvPicPr>
          <p:blipFill rotWithShape="1">
            <a:blip r:embed="rId4">
              <a:alphaModFix/>
            </a:blip>
            <a:srcRect/>
            <a:stretch/>
          </p:blipFill>
          <p:spPr>
            <a:xfrm>
              <a:off x="8102600" y="2421462"/>
              <a:ext cx="2302933" cy="1066799"/>
            </a:xfrm>
            <a:prstGeom prst="rect">
              <a:avLst/>
            </a:prstGeom>
            <a:noFill/>
            <a:ln>
              <a:noFill/>
            </a:ln>
          </p:spPr>
        </p:pic>
        <p:pic>
          <p:nvPicPr>
            <p:cNvPr id="478" name="Google Shape;478;p29"/>
            <p:cNvPicPr preferRelativeResize="0"/>
            <p:nvPr/>
          </p:nvPicPr>
          <p:blipFill rotWithShape="1">
            <a:blip r:embed="rId5">
              <a:alphaModFix/>
            </a:blip>
            <a:srcRect/>
            <a:stretch/>
          </p:blipFill>
          <p:spPr>
            <a:xfrm>
              <a:off x="719667" y="1151470"/>
              <a:ext cx="10524070" cy="2683929"/>
            </a:xfrm>
            <a:prstGeom prst="rect">
              <a:avLst/>
            </a:prstGeom>
            <a:noFill/>
            <a:ln>
              <a:noFill/>
            </a:ln>
          </p:spPr>
        </p:pic>
      </p:grpSp>
      <p:sp>
        <p:nvSpPr>
          <p:cNvPr id="479" name="Google Shape;479;p29"/>
          <p:cNvSpPr txBox="1"/>
          <p:nvPr/>
        </p:nvSpPr>
        <p:spPr>
          <a:xfrm>
            <a:off x="1011116" y="4564174"/>
            <a:ext cx="10190285" cy="883919"/>
          </a:xfrm>
          <a:prstGeom prst="rect">
            <a:avLst/>
          </a:prstGeom>
          <a:noFill/>
          <a:ln>
            <a:noFill/>
          </a:ln>
        </p:spPr>
        <p:txBody>
          <a:bodyPr spcFirstLastPara="1" wrap="square" lIns="0" tIns="12700" rIns="0" bIns="0" anchor="t" anchorCtr="0">
            <a:spAutoFit/>
          </a:bodyPr>
          <a:lstStyle/>
          <a:p>
            <a:pPr marL="298450" marR="0" lvl="0" indent="-286385" algn="l" rtl="0">
              <a:lnSpc>
                <a:spcPct val="100000"/>
              </a:lnSpc>
              <a:spcBef>
                <a:spcPts val="0"/>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Unlikely to get stuck in a bad local optima</a:t>
            </a:r>
            <a:endParaRPr sz="2800" b="0" i="0" u="none" strike="noStrike" cap="none" dirty="0">
              <a:solidFill>
                <a:srgbClr val="000000"/>
              </a:solidFill>
              <a:latin typeface="+mn-lt"/>
              <a:ea typeface="Cambria"/>
              <a:cs typeface="Cambria"/>
              <a:sym typeface="Cambria"/>
            </a:endParaRPr>
          </a:p>
          <a:p>
            <a:pPr marL="298450" marR="0" lvl="0" indent="-286385" algn="l" rtl="0">
              <a:lnSpc>
                <a:spcPct val="100000"/>
              </a:lnSpc>
              <a:spcBef>
                <a:spcPts val="40"/>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Plateaus can make learning slow</a:t>
            </a:r>
            <a:endParaRPr sz="2800" b="0" i="0" u="none" strike="noStrike" cap="none" dirty="0">
              <a:solidFill>
                <a:srgbClr val="000000"/>
              </a:solidFill>
              <a:latin typeface="+mn-lt"/>
              <a:ea typeface="Cambria"/>
              <a:cs typeface="Cambria"/>
              <a:sym typeface="Cambria"/>
            </a:endParaRPr>
          </a:p>
        </p:txBody>
      </p:sp>
      <p:sp>
        <p:nvSpPr>
          <p:cNvPr id="480" name="Google Shape;480;p29"/>
          <p:cNvSpPr/>
          <p:nvPr/>
        </p:nvSpPr>
        <p:spPr>
          <a:xfrm>
            <a:off x="3340250" y="755806"/>
            <a:ext cx="1562100" cy="45085"/>
          </a:xfrm>
          <a:custGeom>
            <a:avLst/>
            <a:gdLst/>
            <a:ahLst/>
            <a:cxnLst/>
            <a:rect l="l" t="t" r="r" b="b"/>
            <a:pathLst>
              <a:path w="1562100" h="45084" extrusionOk="0">
                <a:moveTo>
                  <a:pt x="0" y="0"/>
                </a:moveTo>
                <a:lnTo>
                  <a:pt x="0" y="0"/>
                </a:lnTo>
                <a:lnTo>
                  <a:pt x="298440" y="0"/>
                </a:lnTo>
                <a:lnTo>
                  <a:pt x="355680" y="6480"/>
                </a:lnTo>
                <a:lnTo>
                  <a:pt x="476280" y="12600"/>
                </a:lnTo>
                <a:lnTo>
                  <a:pt x="539640" y="19080"/>
                </a:lnTo>
                <a:lnTo>
                  <a:pt x="679321" y="25560"/>
                </a:lnTo>
                <a:lnTo>
                  <a:pt x="749161" y="31680"/>
                </a:lnTo>
                <a:lnTo>
                  <a:pt x="895321" y="38160"/>
                </a:lnTo>
                <a:lnTo>
                  <a:pt x="971641" y="38160"/>
                </a:lnTo>
                <a:lnTo>
                  <a:pt x="1111321" y="44640"/>
                </a:lnTo>
                <a:lnTo>
                  <a:pt x="1181161" y="44640"/>
                </a:lnTo>
                <a:lnTo>
                  <a:pt x="1314361" y="38160"/>
                </a:lnTo>
                <a:lnTo>
                  <a:pt x="1371602" y="38160"/>
                </a:lnTo>
                <a:lnTo>
                  <a:pt x="1467002" y="31680"/>
                </a:lnTo>
                <a:lnTo>
                  <a:pt x="1498682" y="25560"/>
                </a:lnTo>
                <a:lnTo>
                  <a:pt x="1542962" y="25560"/>
                </a:lnTo>
                <a:lnTo>
                  <a:pt x="1555922" y="25560"/>
                </a:lnTo>
                <a:lnTo>
                  <a:pt x="1562042" y="25560"/>
                </a:lnTo>
              </a:path>
            </a:pathLst>
          </a:custGeom>
          <a:noFill/>
          <a:ln w="19050" cap="flat" cmpd="sng">
            <a:solidFill>
              <a:srgbClr val="00B0F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81" name="Google Shape;481;p29"/>
          <p:cNvPicPr preferRelativeResize="0"/>
          <p:nvPr/>
        </p:nvPicPr>
        <p:blipFill rotWithShape="1">
          <a:blip r:embed="rId6">
            <a:alphaModFix/>
          </a:blip>
          <a:srcRect/>
          <a:stretch/>
        </p:blipFill>
        <p:spPr>
          <a:xfrm>
            <a:off x="3318127" y="674975"/>
            <a:ext cx="1897544" cy="175275"/>
          </a:xfrm>
          <a:prstGeom prst="rect">
            <a:avLst/>
          </a:prstGeom>
          <a:noFill/>
          <a:ln>
            <a:noFill/>
          </a:ln>
        </p:spPr>
      </p:pic>
      <p:pic>
        <p:nvPicPr>
          <p:cNvPr id="482" name="Google Shape;482;p29"/>
          <p:cNvPicPr preferRelativeResize="0"/>
          <p:nvPr/>
        </p:nvPicPr>
        <p:blipFill rotWithShape="1">
          <a:blip r:embed="rId7">
            <a:alphaModFix/>
          </a:blip>
          <a:srcRect/>
          <a:stretch/>
        </p:blipFill>
        <p:spPr>
          <a:xfrm>
            <a:off x="10734473" y="0"/>
            <a:ext cx="1448025" cy="796414"/>
          </a:xfrm>
          <a:prstGeom prst="rect">
            <a:avLst/>
          </a:prstGeom>
          <a:noFill/>
          <a:ln>
            <a:noFill/>
          </a:ln>
        </p:spPr>
      </p:pic>
      <p:sp>
        <p:nvSpPr>
          <p:cNvPr id="483" name="Google Shape;483;p29"/>
          <p:cNvSpPr txBox="1">
            <a:spLocks noGrp="1"/>
          </p:cNvSpPr>
          <p:nvPr>
            <p:ph type="sldNum" idx="12"/>
          </p:nvPr>
        </p:nvSpPr>
        <p:spPr>
          <a:xfrm>
            <a:off x="8778240" y="6377940"/>
            <a:ext cx="2804100" cy="2772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 name="Google Shape;49;g2019cdaf7c5_1_4"/>
          <p:cNvSpPr txBox="1">
            <a:spLocks/>
          </p:cNvSpPr>
          <p:nvPr/>
        </p:nvSpPr>
        <p:spPr>
          <a:xfrm>
            <a:off x="1055570" y="1340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lvl="0" indent="-97155" algn="ctr" defTabSz="914400" rtl="0" eaLnBrk="1" fontAlgn="auto" latinLnBrk="0" hangingPunct="1">
              <a:lnSpc>
                <a:spcPct val="108333"/>
              </a:lnSpc>
              <a:spcBef>
                <a:spcPts val="0"/>
              </a:spcBef>
              <a:spcAft>
                <a:spcPts val="0"/>
              </a:spcAft>
              <a:buClr>
                <a:srgbClr val="000000"/>
              </a:buClr>
              <a:buSzPts val="1400"/>
              <a:buFont typeface="Arial"/>
              <a:buNone/>
              <a:tabLst/>
              <a:defRPr/>
            </a:pPr>
            <a:r>
              <a:rPr kumimoji="0" lang="en-US" sz="4400" b="0" i="0" u="none" strike="noStrike" kern="0" cap="none" spc="0" normalizeH="0" baseline="0" noProof="0" dirty="0" smtClean="0">
                <a:ln>
                  <a:noFill/>
                </a:ln>
                <a:solidFill>
                  <a:srgbClr val="000000"/>
                </a:solidFill>
                <a:effectLst/>
                <a:uLnTx/>
                <a:uFillTx/>
                <a:latin typeface="Arial"/>
                <a:cs typeface="Calibri"/>
                <a:sym typeface="Trebuchet MS"/>
              </a:rPr>
              <a:t>Summarization</a:t>
            </a:r>
            <a:endParaRPr kumimoji="0" lang="en-US" sz="4400" b="0" i="0" u="none" strike="noStrike" kern="0" cap="none" spc="0" normalizeH="0" baseline="0" noProof="0" dirty="0">
              <a:ln>
                <a:noFill/>
              </a:ln>
              <a:solidFill>
                <a:srgbClr val="000000"/>
              </a:solidFill>
              <a:effectLst/>
              <a:uLnTx/>
              <a:uFillTx/>
              <a:latin typeface="Arial"/>
              <a:cs typeface="Calibri"/>
              <a:sym typeface="Calibri"/>
            </a:endParaRPr>
          </a:p>
        </p:txBody>
      </p:sp>
      <p:sp>
        <p:nvSpPr>
          <p:cNvPr id="8" name="Google Shape;316;p36"/>
          <p:cNvSpPr txBox="1"/>
          <p:nvPr/>
        </p:nvSpPr>
        <p:spPr>
          <a:xfrm>
            <a:off x="342900" y="1076048"/>
            <a:ext cx="11614637" cy="5656341"/>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Mini-batch gradient descent divides training data into mini-batches for efficient updates.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Exponentially </a:t>
            </a:r>
            <a:r>
              <a:rPr lang="en-US" sz="2400" dirty="0">
                <a:ea typeface="Century Schoolbook"/>
                <a:cs typeface="Century Schoolbook"/>
                <a:sym typeface="Century Schoolbook"/>
              </a:rPr>
              <a:t>weighted averages smooth noisy data by assigning more weight to recent observations.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Bias </a:t>
            </a:r>
            <a:r>
              <a:rPr lang="en-US" sz="2400" dirty="0">
                <a:ea typeface="Century Schoolbook"/>
                <a:cs typeface="Century Schoolbook"/>
                <a:sym typeface="Century Schoolbook"/>
              </a:rPr>
              <a:t>correction improves the accuracy of early moving averages.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Gradient </a:t>
            </a:r>
            <a:r>
              <a:rPr lang="en-US" sz="2400" dirty="0">
                <a:ea typeface="Century Schoolbook"/>
                <a:cs typeface="Century Schoolbook"/>
                <a:sym typeface="Century Schoolbook"/>
              </a:rPr>
              <a:t>descent with momentum adds a fraction of the previous update to the current gradient, aiding optimization in flatter regions.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RMSprop</a:t>
            </a:r>
            <a:r>
              <a:rPr lang="en-US" sz="2400" dirty="0" smtClean="0">
                <a:ea typeface="Century Schoolbook"/>
                <a:cs typeface="Century Schoolbook"/>
                <a:sym typeface="Century Schoolbook"/>
              </a:rPr>
              <a:t> </a:t>
            </a:r>
            <a:r>
              <a:rPr lang="en-US" sz="2400" dirty="0">
                <a:ea typeface="Century Schoolbook"/>
                <a:cs typeface="Century Schoolbook"/>
                <a:sym typeface="Century Schoolbook"/>
              </a:rPr>
              <a:t>adjusts learning rates for each parameter to handle varying </a:t>
            </a:r>
            <a:r>
              <a:rPr lang="en-US" sz="2400" dirty="0" smtClean="0">
                <a:ea typeface="Century Schoolbook"/>
                <a:cs typeface="Century Schoolbook"/>
                <a:sym typeface="Century Schoolbook"/>
              </a:rPr>
              <a:t>gradients.</a:t>
            </a: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The </a:t>
            </a:r>
            <a:r>
              <a:rPr lang="en-US" sz="2400" dirty="0">
                <a:ea typeface="Century Schoolbook"/>
                <a:cs typeface="Century Schoolbook"/>
                <a:sym typeface="Century Schoolbook"/>
              </a:rPr>
              <a:t>Adam optimization algorithm combines </a:t>
            </a:r>
            <a:r>
              <a:rPr lang="en-US" sz="2400" dirty="0" err="1">
                <a:ea typeface="Century Schoolbook"/>
                <a:cs typeface="Century Schoolbook"/>
                <a:sym typeface="Century Schoolbook"/>
              </a:rPr>
              <a:t>RMSprop</a:t>
            </a:r>
            <a:r>
              <a:rPr lang="en-US" sz="2400" dirty="0">
                <a:ea typeface="Century Schoolbook"/>
                <a:cs typeface="Century Schoolbook"/>
                <a:sym typeface="Century Schoolbook"/>
              </a:rPr>
              <a:t> and momentum for efficient and adaptive updates.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Learning </a:t>
            </a:r>
            <a:r>
              <a:rPr lang="en-US" sz="2400" dirty="0">
                <a:ea typeface="Century Schoolbook"/>
                <a:cs typeface="Century Schoolbook"/>
                <a:sym typeface="Century Schoolbook"/>
              </a:rPr>
              <a:t>rate decay reduces the learning rate over time for refined updates.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smtClean="0">
                <a:ea typeface="Century Schoolbook"/>
                <a:cs typeface="Century Schoolbook"/>
                <a:sym typeface="Century Schoolbook"/>
              </a:rPr>
              <a:t>Local </a:t>
            </a:r>
            <a:r>
              <a:rPr lang="en-US" sz="2400" dirty="0">
                <a:ea typeface="Century Schoolbook"/>
                <a:cs typeface="Century Schoolbook"/>
                <a:sym typeface="Century Schoolbook"/>
              </a:rPr>
              <a:t>optima, suboptimal solutions during optimization, are addressed by modern techniques like stochastic gradient descent</a:t>
            </a:r>
            <a:r>
              <a:rPr lang="en-US" sz="2400">
                <a:ea typeface="Century Schoolbook"/>
                <a:cs typeface="Century Schoolbook"/>
                <a:sym typeface="Century Schoolbook"/>
              </a:rPr>
              <a:t>. </a:t>
            </a:r>
            <a:endParaRPr lang="en-US" sz="240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smtClean="0">
                <a:ea typeface="Century Schoolbook"/>
                <a:cs typeface="Century Schoolbook"/>
                <a:sym typeface="Century Schoolbook"/>
              </a:rPr>
              <a:t>Understanding </a:t>
            </a:r>
            <a:r>
              <a:rPr lang="en-US" sz="2400" dirty="0">
                <a:ea typeface="Century Schoolbook"/>
                <a:cs typeface="Century Schoolbook"/>
                <a:sym typeface="Century Schoolbook"/>
              </a:rPr>
              <a:t>these topics is crucial for effective neural network training and optimization</a:t>
            </a:r>
            <a:r>
              <a:rPr lang="en-US" sz="2400" dirty="0" smtClean="0">
                <a:ea typeface="Century Schoolbook"/>
                <a:cs typeface="Century Schoolbook"/>
                <a:sym typeface="Century Schoolbook"/>
              </a:rPr>
              <a:t>.</a:t>
            </a:r>
            <a:endParaRPr lang="en-US" sz="2400" dirty="0">
              <a:ea typeface="Century Schoolbook"/>
              <a:cs typeface="Century Schoolbook"/>
              <a:sym typeface="Century Schoolbook"/>
            </a:endParaRPr>
          </a:p>
        </p:txBody>
      </p:sp>
    </p:spTree>
    <p:extLst>
      <p:ext uri="{BB962C8B-B14F-4D97-AF65-F5344CB8AC3E}">
        <p14:creationId xmlns:p14="http://schemas.microsoft.com/office/powerpoint/2010/main" val="5354880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1379</TotalTime>
  <Words>4617</Words>
  <Application>Microsoft Office PowerPoint</Application>
  <PresentationFormat>Widescreen</PresentationFormat>
  <Paragraphs>425</Paragraphs>
  <Slides>59</Slides>
  <Notes>59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Roboto</vt:lpstr>
      <vt:lpstr>Century Schoolbook</vt:lpstr>
      <vt:lpstr>Trebuchet MS</vt:lpstr>
      <vt:lpstr>Calibri</vt:lpstr>
      <vt:lpstr>Cambria</vt:lpstr>
      <vt:lpstr>Cambria Math</vt:lpstr>
      <vt:lpstr>Arial</vt:lpstr>
      <vt:lpstr>Cascadia Code Light</vt:lpstr>
      <vt:lpstr>Office Theme</vt:lpstr>
      <vt:lpstr>Optimization Algorithms </vt:lpstr>
      <vt:lpstr>Optimization Algorithms </vt:lpstr>
      <vt:lpstr>Optimization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Optimization Algorithms</vt:lpstr>
      <vt:lpstr>Training with mini batch gradient descent</vt:lpstr>
      <vt:lpstr>Choosing your mini-batch size</vt:lpstr>
      <vt:lpstr>Choosing your mini-batch size</vt:lpstr>
      <vt:lpstr>Optimization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Optimization Algorithms</vt:lpstr>
      <vt:lpstr>Exponentially weighted averages (EWA)</vt:lpstr>
      <vt:lpstr>PowerPoint Presentation</vt:lpstr>
      <vt:lpstr>Optimization Algorithms</vt:lpstr>
      <vt:lpstr>PowerPoint Presentation</vt:lpstr>
      <vt:lpstr>PowerPoint Presentation</vt:lpstr>
      <vt:lpstr>PowerPoint Presentation</vt:lpstr>
      <vt:lpstr>Optimization Algorithms</vt:lpstr>
      <vt:lpstr>Gradient descent with momentum</vt:lpstr>
      <vt:lpstr>Gradient descent with momentum</vt:lpstr>
      <vt:lpstr>Gradient descent with momentum</vt:lpstr>
      <vt:lpstr>Optimization Algorithms</vt:lpstr>
      <vt:lpstr>RMSprop (Root Means Square Propagation)</vt:lpstr>
      <vt:lpstr>RMSprop</vt:lpstr>
      <vt:lpstr>RMSprop</vt:lpstr>
      <vt:lpstr>Optimization Algorithms</vt:lpstr>
      <vt:lpstr>Adam optimization algorithm</vt:lpstr>
      <vt:lpstr>Adam optimization algorithm</vt:lpstr>
      <vt:lpstr>Hyperparameters</vt:lpstr>
      <vt:lpstr>Hyperparameters</vt:lpstr>
      <vt:lpstr>Adam optimization algorithm</vt:lpstr>
      <vt:lpstr>Optimization Algorithms</vt:lpstr>
      <vt:lpstr>Learning rate decay</vt:lpstr>
      <vt:lpstr>Learning rate decay</vt:lpstr>
      <vt:lpstr>Learning rate decay</vt:lpstr>
      <vt:lpstr>Learning rate decay</vt:lpstr>
      <vt:lpstr>Optimization Algorithms</vt:lpstr>
      <vt:lpstr>The problem of local optima</vt:lpstr>
      <vt:lpstr>Local optima in neural networks</vt:lpstr>
      <vt:lpstr>The problem of local optima</vt:lpstr>
      <vt:lpstr>Problem of plateaus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Optimization Algorithms </dc:title>
  <cp:lastModifiedBy>Phạm Trọng Nghĩa</cp:lastModifiedBy>
  <cp:revision>90</cp:revision>
  <dcterms:created xsi:type="dcterms:W3CDTF">2023-02-01T01:39:37Z</dcterms:created>
  <dcterms:modified xsi:type="dcterms:W3CDTF">2023-12-14T10:08:05Z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2021-09-01T00:00:00Z</vt:filetime>
  </property>
  <property fmtid="{D5CDD505-2E9C-101B-9397-08002B2CF9AE}" pid="3" name="LastSaved">
    <vt:filetime>2023-02-01T00:00:00Z</vt:filetime>
  </property>
</Properties>
</file>