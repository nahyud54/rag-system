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comments/modernComment_100_0.xml" ContentType="application/vnd.ms-powerpoint.comments+xml"/>
  <Override PartName="/ppt/comments/modernComment_103_0.xml" ContentType="application/vnd.ms-powerpoint.comments+xml"/>
  <Override PartName="/ppt/comments/modernComment_128_63BF41EA.xml" ContentType="application/vnd.ms-powerpoint.comments+xml"/>
  <Override PartName="/ppt/comments/modernComment_12D_A216C88E.xml" ContentType="application/vnd.ms-powerpoint.comments+xml"/>
  <Override PartName="/ppt/comments/modernComment_12F_DC21FDAE.xml" ContentType="application/vnd.ms-powerpoint.comments+xml"/>
  <Override PartName="/ppt/comments/modernComment_130_6A688700.xml" ContentType="application/vnd.ms-powerpoint.comments+xml"/>
  <Override PartName="/ppt/comments/modernComment_137_58F04459.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8"/>
  </p:notesMasterIdLst>
  <p:sldIdLst>
    <p:sldId id="256" r:id="rId2"/>
    <p:sldId id="345" r:id="rId3"/>
    <p:sldId id="344" r:id="rId4"/>
    <p:sldId id="325" r:id="rId5"/>
    <p:sldId id="326" r:id="rId6"/>
    <p:sldId id="350" r:id="rId7"/>
    <p:sldId id="332" r:id="rId8"/>
    <p:sldId id="331" r:id="rId9"/>
    <p:sldId id="329" r:id="rId10"/>
    <p:sldId id="257" r:id="rId11"/>
    <p:sldId id="324" r:id="rId12"/>
    <p:sldId id="294" r:id="rId13"/>
    <p:sldId id="259" r:id="rId14"/>
    <p:sldId id="353" r:id="rId15"/>
    <p:sldId id="354" r:id="rId16"/>
    <p:sldId id="355" r:id="rId17"/>
    <p:sldId id="260" r:id="rId18"/>
    <p:sldId id="296" r:id="rId19"/>
    <p:sldId id="356" r:id="rId20"/>
    <p:sldId id="357" r:id="rId21"/>
    <p:sldId id="358" r:id="rId22"/>
    <p:sldId id="333" r:id="rId23"/>
    <p:sldId id="316" r:id="rId24"/>
    <p:sldId id="262" r:id="rId25"/>
    <p:sldId id="264" r:id="rId26"/>
    <p:sldId id="297" r:id="rId27"/>
    <p:sldId id="369" r:id="rId28"/>
    <p:sldId id="368" r:id="rId29"/>
    <p:sldId id="267" r:id="rId30"/>
    <p:sldId id="298" r:id="rId31"/>
    <p:sldId id="268" r:id="rId32"/>
    <p:sldId id="299" r:id="rId33"/>
    <p:sldId id="335" r:id="rId34"/>
    <p:sldId id="349" r:id="rId35"/>
    <p:sldId id="336" r:id="rId36"/>
    <p:sldId id="367" r:id="rId37"/>
    <p:sldId id="271" r:id="rId38"/>
    <p:sldId id="301" r:id="rId39"/>
    <p:sldId id="315" r:id="rId40"/>
    <p:sldId id="302" r:id="rId41"/>
    <p:sldId id="274" r:id="rId42"/>
    <p:sldId id="303" r:id="rId43"/>
    <p:sldId id="275" r:id="rId44"/>
    <p:sldId id="348" r:id="rId45"/>
    <p:sldId id="359" r:id="rId46"/>
    <p:sldId id="317" r:id="rId47"/>
    <p:sldId id="360" r:id="rId48"/>
    <p:sldId id="318" r:id="rId49"/>
    <p:sldId id="304" r:id="rId50"/>
    <p:sldId id="322" r:id="rId51"/>
    <p:sldId id="347" r:id="rId52"/>
    <p:sldId id="277" r:id="rId53"/>
    <p:sldId id="305" r:id="rId54"/>
    <p:sldId id="278" r:id="rId55"/>
    <p:sldId id="362" r:id="rId56"/>
    <p:sldId id="363" r:id="rId57"/>
    <p:sldId id="364" r:id="rId58"/>
    <p:sldId id="365" r:id="rId59"/>
    <p:sldId id="279" r:id="rId60"/>
    <p:sldId id="366" r:id="rId61"/>
    <p:sldId id="281" r:id="rId62"/>
    <p:sldId id="307" r:id="rId63"/>
    <p:sldId id="282" r:id="rId64"/>
    <p:sldId id="283" r:id="rId65"/>
    <p:sldId id="284" r:id="rId66"/>
    <p:sldId id="309" r:id="rId67"/>
    <p:sldId id="330" r:id="rId68"/>
    <p:sldId id="323" r:id="rId69"/>
    <p:sldId id="341" r:id="rId70"/>
    <p:sldId id="287" r:id="rId71"/>
    <p:sldId id="342" r:id="rId72"/>
    <p:sldId id="343" r:id="rId73"/>
    <p:sldId id="288" r:id="rId74"/>
    <p:sldId id="311" r:id="rId75"/>
    <p:sldId id="290" r:id="rId76"/>
    <p:sldId id="337" r:id="rId77"/>
  </p:sldIdLst>
  <p:sldSz cx="12192000" cy="7772400"/>
  <p:notesSz cx="12192000" cy="7772400"/>
  <p:embeddedFontLst>
    <p:embeddedFont>
      <p:font typeface="Trebuchet MS" panose="020B0603020202020204" pitchFamily="34" charset="0"/>
      <p:regular r:id="rId79"/>
      <p:bold r:id="rId80"/>
      <p:italic r:id="rId81"/>
      <p:boldItalic r:id="rId82"/>
    </p:embeddedFont>
    <p:embeddedFont>
      <p:font typeface="Century Schoolbook" panose="02040604050505020304" pitchFamily="18" charset="0"/>
      <p:regular r:id="rId83"/>
      <p:bold r:id="rId84"/>
      <p:italic r:id="rId85"/>
      <p:boldItalic r:id="rId86"/>
    </p:embeddedFont>
    <p:embeddedFont>
      <p:font typeface="Roboto" panose="020B0604020202020204" charset="0"/>
      <p:regular r:id="rId87"/>
      <p:bold r:id="rId88"/>
      <p:italic r:id="rId89"/>
      <p:boldItalic r:id="rId90"/>
    </p:embeddedFont>
    <p:embeddedFont>
      <p:font typeface="Cambria" panose="02040503050406030204" pitchFamily="18" charset="0"/>
      <p:regular r:id="rId91"/>
      <p:bold r:id="rId92"/>
      <p:italic r:id="rId93"/>
      <p:boldItalic r:id="rId94"/>
    </p:embeddedFont>
    <p:embeddedFont>
      <p:font typeface="Calibri" panose="020F0502020204030204" pitchFamily="34" charset="0"/>
      <p:regular r:id="rId95"/>
      <p:bold r:id="rId96"/>
      <p:italic r:id="rId97"/>
      <p:boldItalic r:id="rId98"/>
    </p:embeddedFont>
    <p:embeddedFont>
      <p:font typeface="Cambria Math" panose="02040503050406030204" pitchFamily="18" charset="0"/>
      <p:regular r:id="rId9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2" roundtripDataSignature="AMtx7mgKmHgtbdgSaHaOrJTPSyULX3tX0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615FEF-C003-BDE4-A30D-DBA9560B8F91}" name="Phan Thi Thu Hong (FE FPTU DN)" initials="PD" userId="S::hongptt11@fe.edu.vn::4d36b424-e1a9-4834-b8a6-b266a7cdd1c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76622D-E48A-F887-95B3-430C38A42C4B}" v="10" dt="2023-05-03T10:32:07.039"/>
  </p1510:revLst>
</p1510:revInfo>
</file>

<file path=ppt/tableStyles.xml><?xml version="1.0" encoding="utf-8"?>
<a:tblStyleLst xmlns:a="http://schemas.openxmlformats.org/drawingml/2006/main" def="{584F781A-C61E-4C5B-897C-18CB087A12A5}">
  <a:tblStyle styleId="{584F781A-C61E-4C5B-897C-18CB087A12A5}"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698" autoAdjust="0"/>
  </p:normalViewPr>
  <p:slideViewPr>
    <p:cSldViewPr snapToGrid="0">
      <p:cViewPr varScale="1">
        <p:scale>
          <a:sx n="81" d="100"/>
          <a:sy n="81" d="100"/>
        </p:scale>
        <p:origin x="1716" y="9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6.fntdata"/><Relationship Id="rId89" Type="http://schemas.openxmlformats.org/officeDocument/2006/relationships/font" Target="fonts/font11.fntdata"/><Relationship Id="rId16" Type="http://schemas.openxmlformats.org/officeDocument/2006/relationships/slide" Target="slides/slide15.xml"/><Relationship Id="rId107" Type="http://schemas.microsoft.com/office/2016/11/relationships/changesInfo" Target="changesInfos/changesInfo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1.fntdata"/><Relationship Id="rId102" Type="http://customschemas.google.com/relationships/presentationmetadata" Target="metadata"/><Relationship Id="rId5" Type="http://schemas.openxmlformats.org/officeDocument/2006/relationships/slide" Target="slides/slide4.xml"/><Relationship Id="rId90" Type="http://schemas.openxmlformats.org/officeDocument/2006/relationships/font" Target="fonts/font12.fntdata"/><Relationship Id="rId95" Type="http://schemas.openxmlformats.org/officeDocument/2006/relationships/font" Target="fonts/font17.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font" Target="fonts/font2.fntdata"/><Relationship Id="rId85" Type="http://schemas.openxmlformats.org/officeDocument/2006/relationships/font" Target="fonts/font7.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108"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5.fntdata"/><Relationship Id="rId88" Type="http://schemas.openxmlformats.org/officeDocument/2006/relationships/font" Target="fonts/font10.fntdata"/><Relationship Id="rId91" Type="http://schemas.openxmlformats.org/officeDocument/2006/relationships/font" Target="fonts/font13.fntdata"/><Relationship Id="rId96"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font" Target="fonts/font3.fntdata"/><Relationship Id="rId86" Type="http://schemas.openxmlformats.org/officeDocument/2006/relationships/font" Target="fonts/font8.fntdata"/><Relationship Id="rId94" Type="http://schemas.openxmlformats.org/officeDocument/2006/relationships/font" Target="fonts/font16.fntdata"/><Relationship Id="rId99" Type="http://schemas.openxmlformats.org/officeDocument/2006/relationships/font" Target="fonts/font21.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microsoft.com/office/2018/10/relationships/authors" Target="author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9.fntdata"/><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4.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9.fntdata"/><Relationship Id="rId61" Type="http://schemas.openxmlformats.org/officeDocument/2006/relationships/slide" Target="slides/slide60.xml"/><Relationship Id="rId82"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5.fntdata"/><Relationship Id="rId98" Type="http://schemas.openxmlformats.org/officeDocument/2006/relationships/font" Target="fonts/font20.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an Thi Thu Hong (FE FPTU DN)" userId="S::hongptt11@fe.edu.vn::4d36b424-e1a9-4834-b8a6-b266a7cdd1c0" providerId="AD" clId="Web-{9B76622D-E48A-F887-95B3-430C38A42C4B}"/>
    <pc:docChg chg="mod">
      <pc:chgData name="Phan Thi Thu Hong (FE FPTU DN)" userId="S::hongptt11@fe.edu.vn::4d36b424-e1a9-4834-b8a6-b266a7cdd1c0" providerId="AD" clId="Web-{9B76622D-E48A-F887-95B3-430C38A42C4B}" dt="2023-05-03T10:32:07.039" v="9"/>
      <pc:docMkLst>
        <pc:docMk/>
      </pc:docMkLst>
      <pc:sldChg chg="addCm">
        <pc:chgData name="Phan Thi Thu Hong (FE FPTU DN)" userId="S::hongptt11@fe.edu.vn::4d36b424-e1a9-4834-b8a6-b266a7cdd1c0" providerId="AD" clId="Web-{9B76622D-E48A-F887-95B3-430C38A42C4B}" dt="2023-05-03T10:32:07.039" v="9"/>
        <pc:sldMkLst>
          <pc:docMk/>
          <pc:sldMk cId="0" sldId="256"/>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9B76622D-E48A-F887-95B3-430C38A42C4B}" dt="2023-05-03T10:32:07.039" v="9"/>
              <pc2:cmMkLst xmlns:pc2="http://schemas.microsoft.com/office/powerpoint/2019/9/main/command">
                <pc:docMk/>
                <pc:sldMk cId="0" sldId="256"/>
                <pc2:cmMk id="{D76E273A-B7BA-4C0F-B51D-D7F94D8C9311}"/>
              </pc2:cmMkLst>
            </pc226:cmChg>
          </p:ext>
        </pc:extLst>
      </pc:sldChg>
      <pc:sldChg chg="addCm">
        <pc:chgData name="Phan Thi Thu Hong (FE FPTU DN)" userId="S::hongptt11@fe.edu.vn::4d36b424-e1a9-4834-b8a6-b266a7cdd1c0" providerId="AD" clId="Web-{9B76622D-E48A-F887-95B3-430C38A42C4B}" dt="2023-05-03T02:15:21.073" v="1"/>
        <pc:sldMkLst>
          <pc:docMk/>
          <pc:sldMk cId="0" sldId="258"/>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9B76622D-E48A-F887-95B3-430C38A42C4B}" dt="2023-05-03T02:15:21.073" v="1"/>
              <pc2:cmMkLst xmlns:pc2="http://schemas.microsoft.com/office/powerpoint/2019/9/main/command">
                <pc:docMk/>
                <pc:sldMk cId="0" sldId="258"/>
                <pc2:cmMk id="{F29C2F98-1C14-4CEC-B2EA-D243EE326398}"/>
              </pc2:cmMkLst>
            </pc226:cmChg>
          </p:ext>
        </pc:extLst>
      </pc:sldChg>
      <pc:sldChg chg="addCm modCm">
        <pc:chgData name="Phan Thi Thu Hong (FE FPTU DN)" userId="S::hongptt11@fe.edu.vn::4d36b424-e1a9-4834-b8a6-b266a7cdd1c0" providerId="AD" clId="Web-{9B76622D-E48A-F887-95B3-430C38A42C4B}" dt="2023-05-03T02:18:16.563" v="3"/>
        <pc:sldMkLst>
          <pc:docMk/>
          <pc:sldMk cId="0" sldId="259"/>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9B76622D-E48A-F887-95B3-430C38A42C4B}" dt="2023-05-03T02:18:16.563" v="3"/>
              <pc2:cmMkLst xmlns:pc2="http://schemas.microsoft.com/office/powerpoint/2019/9/main/command">
                <pc:docMk/>
                <pc:sldMk cId="0" sldId="259"/>
                <pc2:cmMk id="{033FCE7F-1715-430B-B88C-5D29FC2ABEEE}"/>
              </pc2:cmMkLst>
              <pc226:cmRplyChg chg="add">
                <pc226:chgData name="Phan Thi Thu Hong (FE FPTU DN)" userId="S::hongptt11@fe.edu.vn::4d36b424-e1a9-4834-b8a6-b266a7cdd1c0" providerId="AD" clId="Web-{9B76622D-E48A-F887-95B3-430C38A42C4B}" dt="2023-05-03T02:18:16.563" v="3"/>
                <pc2:cmRplyMkLst xmlns:pc2="http://schemas.microsoft.com/office/powerpoint/2019/9/main/command">
                  <pc:docMk/>
                  <pc:sldMk cId="0" sldId="259"/>
                  <pc2:cmMk id="{033FCE7F-1715-430B-B88C-5D29FC2ABEEE}"/>
                  <pc2:cmRplyMk id="{9364155B-E441-41EC-9372-C663E4C694BF}"/>
                </pc2:cmRplyMkLst>
              </pc226:cmRplyChg>
            </pc226:cmChg>
          </p:ext>
        </pc:extLst>
      </pc:sldChg>
      <pc:sldChg chg="addCm">
        <pc:chgData name="Phan Thi Thu Hong (FE FPTU DN)" userId="S::hongptt11@fe.edu.vn::4d36b424-e1a9-4834-b8a6-b266a7cdd1c0" providerId="AD" clId="Web-{9B76622D-E48A-F887-95B3-430C38A42C4B}" dt="2023-05-03T02:19:19.174" v="4"/>
        <pc:sldMkLst>
          <pc:docMk/>
          <pc:sldMk cId="1673478634" sldId="296"/>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9B76622D-E48A-F887-95B3-430C38A42C4B}" dt="2023-05-03T02:19:19.174" v="4"/>
              <pc2:cmMkLst xmlns:pc2="http://schemas.microsoft.com/office/powerpoint/2019/9/main/command">
                <pc:docMk/>
                <pc:sldMk cId="1673478634" sldId="296"/>
                <pc2:cmMk id="{09173C9A-C443-44D3-9859-03AFD0059B83}"/>
              </pc2:cmMkLst>
            </pc226:cmChg>
          </p:ext>
        </pc:extLst>
      </pc:sldChg>
      <pc:sldChg chg="addCm">
        <pc:chgData name="Phan Thi Thu Hong (FE FPTU DN)" userId="S::hongptt11@fe.edu.vn::4d36b424-e1a9-4834-b8a6-b266a7cdd1c0" providerId="AD" clId="Web-{9B76622D-E48A-F887-95B3-430C38A42C4B}" dt="2023-05-03T03:13:25.278" v="5"/>
        <pc:sldMkLst>
          <pc:docMk/>
          <pc:sldMk cId="2719402126" sldId="301"/>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9B76622D-E48A-F887-95B3-430C38A42C4B}" dt="2023-05-03T03:13:25.278" v="5"/>
              <pc2:cmMkLst xmlns:pc2="http://schemas.microsoft.com/office/powerpoint/2019/9/main/command">
                <pc:docMk/>
                <pc:sldMk cId="2719402126" sldId="301"/>
                <pc2:cmMk id="{77632214-3D94-43A4-B9AB-63428E5FE6F9}"/>
              </pc2:cmMkLst>
            </pc226:cmChg>
          </p:ext>
        </pc:extLst>
      </pc:sldChg>
      <pc:sldChg chg="addCm">
        <pc:chgData name="Phan Thi Thu Hong (FE FPTU DN)" userId="S::hongptt11@fe.edu.vn::4d36b424-e1a9-4834-b8a6-b266a7cdd1c0" providerId="AD" clId="Web-{9B76622D-E48A-F887-95B3-430C38A42C4B}" dt="2023-05-03T03:17:41.536" v="6"/>
        <pc:sldMkLst>
          <pc:docMk/>
          <pc:sldMk cId="3693215150" sldId="303"/>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9B76622D-E48A-F887-95B3-430C38A42C4B}" dt="2023-05-03T03:17:41.536" v="6"/>
              <pc2:cmMkLst xmlns:pc2="http://schemas.microsoft.com/office/powerpoint/2019/9/main/command">
                <pc:docMk/>
                <pc:sldMk cId="3693215150" sldId="303"/>
                <pc2:cmMk id="{935235E2-DD51-4F5F-8520-4E698DEC7571}"/>
              </pc2:cmMkLst>
            </pc226:cmChg>
          </p:ext>
        </pc:extLst>
      </pc:sldChg>
      <pc:sldChg chg="addCm">
        <pc:chgData name="Phan Thi Thu Hong (FE FPTU DN)" userId="S::hongptt11@fe.edu.vn::4d36b424-e1a9-4834-b8a6-b266a7cdd1c0" providerId="AD" clId="Web-{9B76622D-E48A-F887-95B3-430C38A42C4B}" dt="2023-05-03T03:19:15.585" v="7"/>
        <pc:sldMkLst>
          <pc:docMk/>
          <pc:sldMk cId="1785235200" sldId="304"/>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9B76622D-E48A-F887-95B3-430C38A42C4B}" dt="2023-05-03T03:19:15.585" v="7"/>
              <pc2:cmMkLst xmlns:pc2="http://schemas.microsoft.com/office/powerpoint/2019/9/main/command">
                <pc:docMk/>
                <pc:sldMk cId="1785235200" sldId="304"/>
                <pc2:cmMk id="{220B8B8E-A95E-443E-9287-6F5429A71648}"/>
              </pc2:cmMkLst>
            </pc226:cmChg>
          </p:ext>
        </pc:extLst>
      </pc:sldChg>
      <pc:sldChg chg="addCm">
        <pc:chgData name="Phan Thi Thu Hong (FE FPTU DN)" userId="S::hongptt11@fe.edu.vn::4d36b424-e1a9-4834-b8a6-b266a7cdd1c0" providerId="AD" clId="Web-{9B76622D-E48A-F887-95B3-430C38A42C4B}" dt="2023-05-03T09:07:21.746" v="8"/>
        <pc:sldMkLst>
          <pc:docMk/>
          <pc:sldMk cId="1492141145" sldId="311"/>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9B76622D-E48A-F887-95B3-430C38A42C4B}" dt="2023-05-03T09:07:21.746" v="8"/>
              <pc2:cmMkLst xmlns:pc2="http://schemas.microsoft.com/office/powerpoint/2019/9/main/command">
                <pc:docMk/>
                <pc:sldMk cId="1492141145" sldId="311"/>
                <pc2:cmMk id="{62243D65-6182-47E7-BA37-6A57A777B9EF}"/>
              </pc2:cmMkLst>
            </pc226:cmChg>
          </p:ext>
        </pc:extLst>
      </pc:sldChg>
    </pc:docChg>
  </pc:docChgLst>
</pc:chgInfo>
</file>

<file path=ppt/comments/modernComment_12D_A216C88E.xml><?xml version="1.0" encoding="utf-8"?>
<p188:cmLst xmlns:a="http://schemas.openxmlformats.org/drawingml/2006/main" xmlns:r="http://schemas.openxmlformats.org/officeDocument/2006/relationships" xmlns:p188="http://schemas.microsoft.com/office/powerpoint/2018/8/main">
  <p188:cm id="{77632214-3D94-43A4-B9AB-63428E5FE6F9}" authorId="{F2615FEF-C003-BDE4-A30D-DBA9560B8F91}" created="2023-05-03T03:13:25.278">
    <ac:txMkLst xmlns:ac="http://schemas.microsoft.com/office/drawing/2013/main/command">
      <pc:docMk xmlns:pc="http://schemas.microsoft.com/office/powerpoint/2013/main/command"/>
      <pc:sldMk xmlns:pc="http://schemas.microsoft.com/office/powerpoint/2013/main/command" cId="2719402126" sldId="301"/>
      <ac:spMk id="2" creationId="{51861CD1-0C76-73F6-3768-2FEBDF56A522}"/>
      <ac:txMk cp="0" len="408">
        <ac:context len="883" hash="639618802"/>
      </ac:txMk>
    </ac:txMkLst>
    <p188:pos x="10164121" y="1841156"/>
    <p188:txBody>
      <a:bodyPr/>
      <a:lstStyle/>
      <a:p>
        <a:r>
          <a:rPr lang="vi-VN"/>
          <a:t>[@Nguyen Dinh Chi (FE Ban NCPT)] [@Ngo Dang Ha An (FE FPTU HCM)] cái này nên để giảng thôi ạ</a:t>
        </a:r>
      </a:p>
    </p188:txBody>
  </p188:cm>
</p188:cmLst>
</file>

<file path=ppt/comments/modernComment_12F_DC21FDAE.xml><?xml version="1.0" encoding="utf-8"?>
<p188:cmLst xmlns:a="http://schemas.openxmlformats.org/drawingml/2006/main" xmlns:r="http://schemas.openxmlformats.org/officeDocument/2006/relationships" xmlns:p188="http://schemas.microsoft.com/office/powerpoint/2018/8/main">
  <p188:cm id="{935235E2-DD51-4F5F-8520-4E698DEC7571}" authorId="{F2615FEF-C003-BDE4-A30D-DBA9560B8F91}" created="2023-05-03T03:17:41.536">
    <pc:sldMkLst xmlns:pc="http://schemas.microsoft.com/office/powerpoint/2013/main/command">
      <pc:docMk/>
      <pc:sldMk cId="3693215150" sldId="303"/>
    </pc:sldMkLst>
    <p188:txBody>
      <a:bodyPr/>
      <a:lstStyle/>
      <a:p>
        <a:r>
          <a:rPr lang="vi-VN"/>
          <a:t>[@Nguyen Dinh Chi (FE Ban NCPT)] [@Ngo Dang Ha An (FE FPTU HCM)] Tóm tắt lại ý chính thôi anh, đọc như này ngại quá</a:t>
        </a:r>
      </a:p>
    </p188:txBody>
  </p188:cm>
</p188:cmLst>
</file>

<file path=ppt/comments/modernComment_100_0.xml><?xml version="1.0" encoding="utf-8"?>
<p188:cmLst xmlns:a="http://schemas.openxmlformats.org/drawingml/2006/main" xmlns:r="http://schemas.openxmlformats.org/officeDocument/2006/relationships" xmlns:p188="http://schemas.microsoft.com/office/powerpoint/2018/8/main">
  <p188:cm id="{D76E273A-B7BA-4C0F-B51D-D7F94D8C9311}" authorId="{F2615FEF-C003-BDE4-A30D-DBA9560B8F91}" created="2023-05-03T10:32:07.039">
    <pc:sldMkLst xmlns:pc="http://schemas.microsoft.com/office/powerpoint/2013/main/command">
      <pc:docMk/>
      <pc:sldMk cId="0" sldId="256"/>
    </pc:sldMkLst>
    <p188:txBody>
      <a:bodyPr/>
      <a:lstStyle/>
      <a:p>
        <a:r>
          <a:rPr lang="vi-VN"/>
          <a:t>[@Ngo Dang Ha An (FE FPTU HCM)] [@Nguyen Dinh Chi (FE Ban NCPT)] Về cơ bản thì toàn bộ nội dung của phần này đã cover nội dung về CNN. Tuy nhiên em thấy cần trình bày lại: thay các đoạn thành các câu ngắn gọn đủ ý, và đổi lại trật tự các phần, ví dụ phần why CNN có thể đưa lên đầu, nói motivation trước khi đưa CV vào</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033FCE7F-1715-430B-B88C-5D29FC2ABEEE}" authorId="{F2615FEF-C003-BDE4-A30D-DBA9560B8F91}" created="2023-05-03T02:16:59.123">
    <pc:sldMkLst xmlns:pc="http://schemas.microsoft.com/office/powerpoint/2013/main/command">
      <pc:docMk/>
      <pc:sldMk cId="0" sldId="259"/>
    </pc:sldMkLst>
    <p188:replyLst>
      <p188:reply id="{9364155B-E441-41EC-9372-C663E4C694BF}" authorId="{F2615FEF-C003-BDE4-A30D-DBA9560B8F91}" created="2023-05-03T02:18:16.563">
        <p188:txBody>
          <a:bodyPr/>
          <a:lstStyle/>
          <a:p>
            <a:r>
              <a:rPr lang="vi-VN"/>
              <a:t>Nên sắp xếp lại trình tự slide: Vấn đề là nếu dùng ANN thì có vấn đề gì? CCN ra đời sẽ giải quyết được drawback của ANN như thế nào</a:t>
            </a:r>
          </a:p>
        </p188:txBody>
      </p188:reply>
    </p188:replyLst>
    <p188:txBody>
      <a:bodyPr/>
      <a:lstStyle/>
      <a:p>
        <a:r>
          <a:rPr lang="vi-VN"/>
          <a:t>[@Ngo Dang Ha An (FE FPTU HCM)] [@Nguyen Dinh Chi (FE Ban NCPT)]  Phần này giải thích vì sao CNN ra đời, và CNN được áp dụng chủ yếu vào lĩnh vực xử lý ảnh =&gt; Computer vision phát triển nhờ CNN</a:t>
        </a:r>
      </a:p>
    </p188:txBody>
  </p188:cm>
</p188:cmLst>
</file>

<file path=ppt/comments/modernComment_128_63BF41EA.xml><?xml version="1.0" encoding="utf-8"?>
<p188:cmLst xmlns:a="http://schemas.openxmlformats.org/drawingml/2006/main" xmlns:r="http://schemas.openxmlformats.org/officeDocument/2006/relationships" xmlns:p188="http://schemas.microsoft.com/office/powerpoint/2018/8/main">
  <p188:cm id="{09173C9A-C443-44D3-9859-03AFD0059B83}" authorId="{F2615FEF-C003-BDE4-A30D-DBA9560B8F91}" created="2023-05-03T02:19:19.174">
    <pc:sldMkLst xmlns:pc="http://schemas.microsoft.com/office/powerpoint/2013/main/command">
      <pc:docMk/>
      <pc:sldMk cId="1673478634" sldId="296"/>
    </pc:sldMkLst>
    <p188:txBody>
      <a:bodyPr/>
      <a:lstStyle/>
      <a:p>
        <a:r>
          <a:rPr lang="vi-VN"/>
          <a:t>[@Nguyen Dinh Chi (FE Ban NCPT)] [@Ngo Dang Ha An (FE FPTU HCM)]  tóm tắt lại phần này, nhiều chữ quá ạ!</a:t>
        </a:r>
      </a:p>
    </p188:txBody>
  </p188:cm>
</p188:cmLst>
</file>

<file path=ppt/comments/modernComment_130_6A688700.xml><?xml version="1.0" encoding="utf-8"?>
<p188:cmLst xmlns:a="http://schemas.openxmlformats.org/drawingml/2006/main" xmlns:r="http://schemas.openxmlformats.org/officeDocument/2006/relationships" xmlns:p188="http://schemas.microsoft.com/office/powerpoint/2018/8/main">
  <p188:cm id="{220B8B8E-A95E-443E-9287-6F5429A71648}" authorId="{F2615FEF-C003-BDE4-A30D-DBA9560B8F91}" created="2023-05-03T03:19:15.585">
    <pc:sldMkLst xmlns:pc="http://schemas.microsoft.com/office/powerpoint/2013/main/command">
      <pc:docMk/>
      <pc:sldMk cId="1785235200" sldId="304"/>
    </pc:sldMkLst>
    <p188:txBody>
      <a:bodyPr/>
      <a:lstStyle/>
      <a:p>
        <a:r>
          <a:rPr lang="vi-VN"/>
          <a:t>[@Ngo Dang Ha An (FE FPTU HCM)] [@Nguyen Dinh Chi (FE Ban NCPT)] thay bằng hình ảnh sẽ trực quan hơn, để phần này xuống comment</a:t>
        </a:r>
      </a:p>
    </p188:txBody>
  </p188:cm>
</p188:cmLst>
</file>

<file path=ppt/comments/modernComment_137_58F04459.xml><?xml version="1.0" encoding="utf-8"?>
<p188:cmLst xmlns:a="http://schemas.openxmlformats.org/drawingml/2006/main" xmlns:r="http://schemas.openxmlformats.org/officeDocument/2006/relationships" xmlns:p188="http://schemas.microsoft.com/office/powerpoint/2018/8/main">
  <p188:cm id="{62243D65-6182-47E7-BA37-6A57A777B9EF}" authorId="{F2615FEF-C003-BDE4-A30D-DBA9560B8F91}" created="2023-05-03T09:07:21.746">
    <pc:sldMkLst xmlns:pc="http://schemas.microsoft.com/office/powerpoint/2013/main/command">
      <pc:docMk/>
      <pc:sldMk cId="1492141145" sldId="311"/>
    </pc:sldMkLst>
    <p188:txBody>
      <a:bodyPr/>
      <a:lstStyle/>
      <a:p>
        <a:r>
          <a:rPr lang="vi-VN"/>
          <a:t>[@Ngo Dang Ha An (FE FPTU HCM)] [@Nguyen Dinh Chi (FE Ban NCPT)] nên trình bày lại dưới dạng bảng sẽ dễ nhìn hơn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82925"/>
            <a:ext cx="8128400"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g21ca0cebfd7_0_0: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 name="Google Shape;41;g21ca0cebfd7_0_0:notes"/>
          <p:cNvSpPr txBox="1">
            <a:spLocks noGrp="1"/>
          </p:cNvSpPr>
          <p:nvPr>
            <p:ph type="body" idx="1"/>
          </p:nvPr>
        </p:nvSpPr>
        <p:spPr>
          <a:xfrm>
            <a:off x="1219200" y="3691875"/>
            <a:ext cx="9753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g21ca0cebfd7_0_0: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 name="Google Shape;41;g21ca0cebfd7_0_0:notes"/>
          <p:cNvSpPr txBox="1">
            <a:spLocks noGrp="1"/>
          </p:cNvSpPr>
          <p:nvPr>
            <p:ph type="body" idx="1"/>
          </p:nvPr>
        </p:nvSpPr>
        <p:spPr>
          <a:xfrm>
            <a:off x="1219200" y="3691875"/>
            <a:ext cx="9753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8968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g21ca0cebfd7_0_0: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 name="Google Shape;41;g21ca0cebfd7_0_0:notes"/>
          <p:cNvSpPr txBox="1">
            <a:spLocks noGrp="1"/>
          </p:cNvSpPr>
          <p:nvPr>
            <p:ph type="body" idx="1"/>
          </p:nvPr>
        </p:nvSpPr>
        <p:spPr>
          <a:xfrm>
            <a:off x="1219200" y="3691875"/>
            <a:ext cx="9753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6280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36: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9" name="Google Shape;459;p36: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0308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r>
              <a:rPr lang="en-US" sz="1200" dirty="0" smtClean="0"/>
              <a:t>Regular Neural Nets don’t scale well to full images:</a:t>
            </a:r>
          </a:p>
          <a:p>
            <a:pPr marL="158750" indent="0">
              <a:buNone/>
            </a:pPr>
            <a:r>
              <a:rPr lang="en-US" sz="1100" dirty="0" smtClean="0"/>
              <a:t>	In MNIST (</a:t>
            </a:r>
            <a:r>
              <a:rPr lang="en-US" sz="1100" b="1" dirty="0" smtClean="0"/>
              <a:t>M</a:t>
            </a:r>
            <a:r>
              <a:rPr lang="en-US" sz="1100" dirty="0" smtClean="0"/>
              <a:t>odified </a:t>
            </a:r>
            <a:r>
              <a:rPr lang="en-US" sz="1100" b="1" dirty="0" smtClean="0"/>
              <a:t>N</a:t>
            </a:r>
            <a:r>
              <a:rPr lang="en-US" sz="1100" dirty="0" smtClean="0"/>
              <a:t>ational </a:t>
            </a:r>
            <a:r>
              <a:rPr lang="en-US" sz="1100" b="1" dirty="0" smtClean="0"/>
              <a:t>I</a:t>
            </a:r>
            <a:r>
              <a:rPr lang="en-US" sz="1100" dirty="0" smtClean="0"/>
              <a:t>nstitute of </a:t>
            </a:r>
            <a:r>
              <a:rPr lang="en-US" sz="1100" b="1" dirty="0" smtClean="0"/>
              <a:t>S</a:t>
            </a:r>
            <a:r>
              <a:rPr lang="en-US" sz="1100" dirty="0" smtClean="0"/>
              <a:t>tandards and </a:t>
            </a:r>
            <a:r>
              <a:rPr lang="en-US" sz="1100" b="1" dirty="0" smtClean="0"/>
              <a:t>T</a:t>
            </a:r>
            <a:r>
              <a:rPr lang="en-US" sz="1100" dirty="0" smtClean="0"/>
              <a:t>echnology database) dataset, images are only of size 28x28x1 (28 wide, 28 high, 1 color channels), so a single fully-connected neuron in a first hidden layer of a regular 	Neural Network would have 28x28x1 = 786 weights. This amount still seems manageable</a:t>
            </a:r>
            <a:r>
              <a:rPr lang="en-US" sz="1400" dirty="0" smtClean="0"/>
              <a:t>,</a:t>
            </a:r>
          </a:p>
          <a:p>
            <a:pPr marL="158750" indent="0">
              <a:buNone/>
            </a:pPr>
            <a:r>
              <a:rPr lang="en-US" sz="1400" dirty="0" smtClean="0"/>
              <a:t>But what if we move to larger images.</a:t>
            </a:r>
          </a:p>
          <a:p>
            <a:pPr marL="158750" indent="0">
              <a:buNone/>
            </a:pPr>
            <a:r>
              <a:rPr lang="en-US" sz="1100" dirty="0" smtClean="0"/>
              <a:t>	For example, an image of more respectable size, e.g. 200x200x3, would lead to neurons that have 200x200x3 = 120,000 weights. Moreover, we would almost certainly want to have several such neurons, so the parameters would 	add up quickly! Clearly, this full connectivity is wasteful and the huge number of parameters would quickly lead to overfitting.</a:t>
            </a:r>
            <a:endParaRPr lang="en-US" sz="1100"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2263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457200" indent="-298450"/>
            <a:r>
              <a:rPr lang="en-US" sz="1100" b="1" dirty="0" smtClean="0"/>
              <a:t>Parameter sharing</a:t>
            </a:r>
            <a:r>
              <a:rPr lang="en-US" sz="1100" dirty="0" smtClean="0"/>
              <a:t> </a:t>
            </a:r>
            <a:r>
              <a:rPr lang="en-US" sz="1100" b="0" i="0" u="none" strike="noStrike" cap="none" dirty="0" smtClean="0">
                <a:solidFill>
                  <a:srgbClr val="000000"/>
                </a:solidFill>
                <a:effectLst/>
                <a:latin typeface="Arial"/>
                <a:ea typeface="Arial"/>
                <a:cs typeface="Arial"/>
                <a:sym typeface="Arial"/>
              </a:rPr>
              <a:t>A feature detector that is useful in one part of the image is probably useful in another part of the </a:t>
            </a:r>
            <a:r>
              <a:rPr lang="en-US" sz="1100" b="0" i="0" u="none" strike="noStrike" cap="none" dirty="0" err="1" smtClean="0">
                <a:solidFill>
                  <a:srgbClr val="000000"/>
                </a:solidFill>
                <a:effectLst/>
                <a:latin typeface="Arial"/>
                <a:ea typeface="Arial"/>
                <a:cs typeface="Arial"/>
                <a:sym typeface="Arial"/>
              </a:rPr>
              <a:t>image.Thus</a:t>
            </a:r>
            <a:r>
              <a:rPr lang="en-US" sz="1100" b="0" i="0" u="none" strike="noStrike" cap="none" dirty="0" smtClean="0">
                <a:solidFill>
                  <a:srgbClr val="000000"/>
                </a:solidFill>
                <a:effectLst/>
                <a:latin typeface="Arial"/>
                <a:ea typeface="Arial"/>
                <a:cs typeface="Arial"/>
                <a:sym typeface="Arial"/>
              </a:rPr>
              <a:t> CNN are good in capturing translation invariance.</a:t>
            </a:r>
          </a:p>
          <a:p>
            <a:r>
              <a:rPr lang="en-US" sz="1100" b="1" i="0" u="none" strike="noStrike" cap="none" dirty="0" smtClean="0">
                <a:solidFill>
                  <a:srgbClr val="000000"/>
                </a:solidFill>
                <a:effectLst/>
                <a:latin typeface="Arial"/>
                <a:ea typeface="Arial"/>
                <a:cs typeface="Arial"/>
                <a:sym typeface="Arial"/>
              </a:rPr>
              <a:t>Sparsity of connections</a:t>
            </a:r>
            <a:r>
              <a:rPr lang="en-US" sz="1100" b="0" i="0" u="none" strike="noStrike" cap="none" dirty="0" smtClean="0">
                <a:solidFill>
                  <a:srgbClr val="000000"/>
                </a:solidFill>
                <a:effectLst/>
                <a:latin typeface="Arial"/>
                <a:ea typeface="Arial"/>
                <a:cs typeface="Arial"/>
                <a:sym typeface="Arial"/>
              </a:rPr>
              <a:t> In each </a:t>
            </a:r>
            <a:r>
              <a:rPr lang="en-US" sz="1100" b="0" i="0" u="none" strike="noStrike" cap="none" dirty="0" err="1" smtClean="0">
                <a:solidFill>
                  <a:srgbClr val="000000"/>
                </a:solidFill>
                <a:effectLst/>
                <a:latin typeface="Arial"/>
                <a:ea typeface="Arial"/>
                <a:cs typeface="Arial"/>
                <a:sym typeface="Arial"/>
              </a:rPr>
              <a:t>layer,each</a:t>
            </a:r>
            <a:r>
              <a:rPr lang="en-US" sz="1100" b="0" i="0" u="none" strike="noStrike" cap="none" dirty="0" smtClean="0">
                <a:solidFill>
                  <a:srgbClr val="000000"/>
                </a:solidFill>
                <a:effectLst/>
                <a:latin typeface="Arial"/>
                <a:ea typeface="Arial"/>
                <a:cs typeface="Arial"/>
                <a:sym typeface="Arial"/>
              </a:rPr>
              <a:t> output value depends only on a small number of </a:t>
            </a:r>
            <a:r>
              <a:rPr lang="en-US" sz="1100" b="0" i="0" u="none" strike="noStrike" cap="none" dirty="0" err="1" smtClean="0">
                <a:solidFill>
                  <a:srgbClr val="000000"/>
                </a:solidFill>
                <a:effectLst/>
                <a:latin typeface="Arial"/>
                <a:ea typeface="Arial"/>
                <a:cs typeface="Arial"/>
                <a:sym typeface="Arial"/>
              </a:rPr>
              <a:t>inputs.This</a:t>
            </a:r>
            <a:r>
              <a:rPr lang="en-US" sz="1100" b="0" i="0" u="none" strike="noStrike" cap="none" dirty="0" smtClean="0">
                <a:solidFill>
                  <a:srgbClr val="000000"/>
                </a:solidFill>
                <a:effectLst/>
                <a:latin typeface="Arial"/>
                <a:ea typeface="Arial"/>
                <a:cs typeface="Arial"/>
                <a:sym typeface="Arial"/>
              </a:rPr>
              <a:t> makes CNN networks easy to train on smaller training datasets and is less prone to overfitting.</a:t>
            </a:r>
          </a:p>
          <a:p>
            <a:r>
              <a:rPr lang="en-US" sz="1100" b="1" i="0" u="none" strike="noStrike" cap="none" dirty="0" smtClean="0">
                <a:solidFill>
                  <a:srgbClr val="000000"/>
                </a:solidFill>
                <a:effectLst/>
                <a:latin typeface="Arial"/>
                <a:ea typeface="Arial"/>
                <a:cs typeface="Arial"/>
                <a:sym typeface="Arial"/>
              </a:rPr>
              <a:t>2.3D volumes of neurons.</a:t>
            </a:r>
            <a:r>
              <a:rPr lang="en-US" sz="1100" b="0" i="0" u="none" strike="noStrike" cap="none" dirty="0" smtClean="0">
                <a:solidFill>
                  <a:srgbClr val="000000"/>
                </a:solidFill>
                <a:effectLst/>
                <a:latin typeface="Arial"/>
                <a:ea typeface="Arial"/>
                <a:cs typeface="Arial"/>
                <a:sym typeface="Arial"/>
              </a:rPr>
              <a:t> Convolutional Neural Networks take advantage of the fact that the input consists of images and they constrain the architecture in a more sensible way. In particular, unlike a regular Neural Network, the layers of a </a:t>
            </a:r>
            <a:r>
              <a:rPr lang="en-US" sz="1100" b="0" i="0" u="none" strike="noStrike" cap="none" dirty="0" err="1" smtClean="0">
                <a:solidFill>
                  <a:srgbClr val="000000"/>
                </a:solidFill>
                <a:effectLst/>
                <a:latin typeface="Arial"/>
                <a:ea typeface="Arial"/>
                <a:cs typeface="Arial"/>
                <a:sym typeface="Arial"/>
              </a:rPr>
              <a:t>ConvNet</a:t>
            </a:r>
            <a:r>
              <a:rPr lang="en-US" sz="1100" b="0" i="0" u="none" strike="noStrike" cap="none" dirty="0" smtClean="0">
                <a:solidFill>
                  <a:srgbClr val="000000"/>
                </a:solidFill>
                <a:effectLst/>
                <a:latin typeface="Arial"/>
                <a:ea typeface="Arial"/>
                <a:cs typeface="Arial"/>
                <a:sym typeface="Arial"/>
              </a:rPr>
              <a:t> have neurons arranged in 3 dimensions: width, height, depth.</a:t>
            </a:r>
            <a:endParaRPr lang="en-US" sz="1100" b="0" i="0" u="none" strike="noStrike" cap="none" dirty="0">
              <a:solidFill>
                <a:srgbClr val="000000"/>
              </a:solidFill>
              <a:effectLst/>
              <a:latin typeface="Arial"/>
              <a:ea typeface="Arial"/>
              <a:cs typeface="Arial"/>
              <a:sym typeface="Arial"/>
            </a:endParaRPr>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47551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7: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p37: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8557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7: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p37: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5056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38: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0" name="Google Shape;480;p3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8813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2: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 name="Google Shape;48;p2: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smtClean="0"/>
              <a:t>Some of the computer vision problems studied in this module include image classification, object detection, and neural style transfer. One of the challenges of computer vision problems is that the inputs can get really big. 64 by 64 images are relatively small and have 12,288 input features, but larger images with 3 million input features are not uncommon, and the number of parameters required to process those images with a standard fully connected network is often </a:t>
            </a:r>
            <a:r>
              <a:rPr lang="en-GB" sz="1100" dirty="0" err="1" smtClean="0"/>
              <a:t>infeasibly</a:t>
            </a:r>
            <a:r>
              <a:rPr lang="en-GB" sz="1100" dirty="0" smtClean="0"/>
              <a:t> large.</a:t>
            </a:r>
          </a:p>
          <a:p>
            <a:pPr marL="285750" indent="-285750">
              <a:buFont typeface="Arial" panose="020B0604020202020204" pitchFamily="34" charset="0"/>
              <a:buChar char="•"/>
            </a:pPr>
            <a:r>
              <a:rPr lang="en-GB" sz="1100" dirty="0" smtClean="0"/>
              <a:t>To address this issue, convolutional neural networks are introduced. Convolutional networks use convolutions, a fundamental building block that is better suited to processing large images. The example of edge detection will be used to illustrates for convolutions using.</a:t>
            </a:r>
            <a:endParaRPr lang="en-US" sz="1100" dirty="0" smtClean="0"/>
          </a:p>
          <a:p>
            <a:pPr marL="0" lvl="0" indent="0" algn="l" rtl="0">
              <a:spcBef>
                <a:spcPts val="0"/>
              </a:spcBef>
              <a:spcAft>
                <a:spcPts val="0"/>
              </a:spcAft>
              <a:buNone/>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8071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7135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4: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 name="Google Shape;72;p4: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60855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8397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66649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5: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21095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07522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22187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25582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98201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smtClean="0"/>
              <a:t>The convolution operation is an essential operation in convolutional neural networks (CNNs) used for tasks like image classification, object detection, and segmentation. It involves convolving a filter (also called a kernel) with an input image to produce a feature map. The filter is a small matrix of numbers that is designed to detect specific features in the input image, such as edges, corners, or blobs.</a:t>
            </a:r>
          </a:p>
          <a:p>
            <a:pPr marL="285750" indent="-285750">
              <a:buFont typeface="Arial" panose="020B0604020202020204" pitchFamily="34" charset="0"/>
              <a:buChar char="•"/>
            </a:pPr>
            <a:r>
              <a:rPr lang="en-GB" sz="1100" dirty="0" smtClean="0"/>
              <a:t>In the example given, the goal is to detect vertical edges in a grayscale 6 by 6 image. A 3 by 3 filter is constructed with weights of 1, 1, 1, 0, 0, 0, -1, -1, -1. The filter is convolved with the input image using element-wise multiplication and addition, producing a 4 by 4 feature map. The values in the feature map correspond to the strength of vertical edges detected at different locations in the input image. The process is repeated with different filters to detect other features like horizontal edges, corners, and blobs.</a:t>
            </a:r>
          </a:p>
          <a:p>
            <a:pPr marL="285750" indent="-285750">
              <a:buFont typeface="Arial" panose="020B0604020202020204" pitchFamily="34" charset="0"/>
              <a:buChar char="•"/>
            </a:pPr>
            <a:r>
              <a:rPr lang="en-GB" sz="1100" dirty="0" smtClean="0"/>
              <a:t>The convolution operation is a computationally efficient way of detecting features in images, and it is used extensively in CNNs. The resulting feature maps can be used as inputs to subsequent layers of the network for further processing and feature extraction.</a:t>
            </a:r>
            <a:endParaRPr lang="en-US" sz="1100" dirty="0" smtClean="0"/>
          </a:p>
          <a:p>
            <a:pPr marL="0" lvl="0" indent="0" algn="l" rtl="0">
              <a:spcBef>
                <a:spcPts val="0"/>
              </a:spcBef>
              <a:spcAft>
                <a:spcPts val="0"/>
              </a:spcAft>
              <a:buNone/>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71620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7: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7: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9: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9: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86755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0: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smtClean="0">
                <a:solidFill>
                  <a:srgbClr val="000000"/>
                </a:solidFill>
                <a:effectLst/>
                <a:latin typeface="Arial"/>
                <a:ea typeface="Arial"/>
                <a:cs typeface="Arial"/>
                <a:sym typeface="Arial"/>
              </a:rPr>
              <a:t>For example, in the figure above, applying the convolution operator between the 3×33×3 filter (center) and the blue region of the original image (left) gives rise to the element in the new image in blue box (right), whose value can be calculated as the sum of the resulting element-wise product between the 2 matrices:0=10×1+10×0+10×(−1)+10×1+10×0+10×(−1)+10×1+10×0+10×(−1)</a:t>
            </a:r>
            <a:endParaRPr dirty="0"/>
          </a:p>
        </p:txBody>
      </p:sp>
      <p:sp>
        <p:nvSpPr>
          <p:cNvPr id="170" name="Google Shape;170;p10: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39567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1: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smtClean="0">
                <a:solidFill>
                  <a:srgbClr val="000000"/>
                </a:solidFill>
                <a:effectLst/>
                <a:latin typeface="Arial"/>
                <a:ea typeface="Arial"/>
                <a:cs typeface="Arial"/>
                <a:sym typeface="Arial"/>
              </a:rPr>
              <a:t>Another example is shown above with a horizontal edge detector with a slightly more complicated image. The non-zero band in the middle reveals the horizontal edge in the center of the original image but also discovers the change from bright to dark (left side) and dark to bright (right side).</a:t>
            </a:r>
            <a:endParaRPr dirty="0"/>
          </a:p>
        </p:txBody>
      </p:sp>
      <p:sp>
        <p:nvSpPr>
          <p:cNvPr id="235" name="Google Shape;235;p1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20700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2: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And with the rise of deep learning, one of the things we learned is that when you really want to detect edges in some complicated image, maybe you don't need to have computer vision researchers handpick these nine numbers. Maybe you can just learn </a:t>
            </a:r>
            <a:r>
              <a:rPr lang="en-US" smtClean="0"/>
              <a:t>them and treat </a:t>
            </a:r>
            <a:r>
              <a:rPr lang="en-US" dirty="0" smtClean="0"/>
              <a:t>the nine numbers of this matrix as parameters, which you can then learn using back propagation. And the goal is to learn nine parameters so that when you take the image, the six by six image, and convolve it with your three by three filter, that this gives you a good edge detector</a:t>
            </a:r>
            <a:endParaRPr dirty="0"/>
          </a:p>
        </p:txBody>
      </p:sp>
      <p:sp>
        <p:nvSpPr>
          <p:cNvPr id="250" name="Google Shape;250;p12: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28543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1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smtClean="0"/>
              <a:t>Padding is a modification to the basic convolutional operation that is necessary when building deep neural networks. The basic convolutional operation involves convolving an input image with a filter, resulting in an output with smaller dimensions. </a:t>
            </a:r>
          </a:p>
          <a:p>
            <a:pPr marL="285750" indent="-285750">
              <a:buFont typeface="Arial" panose="020B0604020202020204" pitchFamily="34" charset="0"/>
              <a:buChar char="•"/>
            </a:pPr>
            <a:r>
              <a:rPr lang="en-GB" sz="1100" dirty="0" smtClean="0"/>
              <a:t>However, this creates two problems:</a:t>
            </a:r>
          </a:p>
          <a:p>
            <a:r>
              <a:rPr lang="en-GB" sz="1100" dirty="0" smtClean="0"/>
              <a:t>	- Firstly, if you apply convolutional operators repeatedly, the image shrinks in 	size every time, eventually resulting in a very small image.</a:t>
            </a:r>
          </a:p>
          <a:p>
            <a:r>
              <a:rPr lang="en-GB" sz="1100" dirty="0" smtClean="0"/>
              <a:t>	- Secondly, pixels on the edges of the image are touched by fewer filters, 	leading to the loss of important information near the edges.</a:t>
            </a:r>
          </a:p>
          <a:p>
            <a:pPr marL="285750" indent="-285750">
              <a:buFont typeface="Arial" panose="020B0604020202020204" pitchFamily="34" charset="0"/>
              <a:buChar char="•"/>
            </a:pPr>
            <a:r>
              <a:rPr lang="en-GB" sz="1100" dirty="0" smtClean="0"/>
              <a:t>Padding solves both these problems by adding a border of zeros to the edges of the input image before convolution. This increases the size of the input image and ensures that pixels on the edges are touched by more filters. By convention, the padding is specified as the number of pixels added to each edge of the input image, and the amount of padding is denoted as 'p'.</a:t>
            </a:r>
            <a:endParaRPr lang="en-US" sz="1100" dirty="0" smtClean="0"/>
          </a:p>
          <a:p>
            <a:pPr marL="285750" indent="-285750">
              <a:buFont typeface="Arial" panose="020B0604020202020204" pitchFamily="34" charset="0"/>
              <a:buChar char="•"/>
            </a:pPr>
            <a:r>
              <a:rPr lang="en-GB" sz="1100" dirty="0" smtClean="0"/>
              <a:t>There are two common choices of padding: </a:t>
            </a:r>
          </a:p>
          <a:p>
            <a:r>
              <a:rPr lang="en-GB" sz="1100" dirty="0" smtClean="0"/>
              <a:t>	- Valid convolution and same convolution. In a valid convolution, no padding is 	added to the image, and the resulting output has smaller dimensions than the 	input.</a:t>
            </a:r>
          </a:p>
          <a:p>
            <a:r>
              <a:rPr lang="en-GB" sz="1100" dirty="0" smtClean="0"/>
              <a:t>	- In contrast, in a same convolution, the padding is added such that the output 	has the same dimensions as the input. For a filter of size f, the amount of 	padding required for same convolution is p = (f-1)/2 when f is odd. In computer 	vision, odd-sized filters are usually preferred to ensure a natural padding 	region with the same dimension all around and to have a central pixel for 	position reference.</a:t>
            </a:r>
          </a:p>
          <a:p>
            <a:pPr marL="285750" indent="-285750">
              <a:buFont typeface="Arial" panose="020B0604020202020204" pitchFamily="34" charset="0"/>
              <a:buChar char="•"/>
            </a:pPr>
            <a:r>
              <a:rPr lang="en-GB" sz="1100" dirty="0" smtClean="0"/>
              <a:t>In summary, padding is used to prevent the shrinking of the image size and to preserve important information near the edges of the image. By specifying the amount of padding or choosing between valid and same convolutions, you can control the output size of the convolution operation.</a:t>
            </a:r>
            <a:endParaRPr lang="en-US" sz="1100" dirty="0" smtClean="0"/>
          </a:p>
          <a:p>
            <a:pPr marL="171450" lvl="0" indent="-171450" algn="l" rtl="0">
              <a:spcBef>
                <a:spcPts val="0"/>
              </a:spcBef>
              <a:spcAft>
                <a:spcPts val="0"/>
              </a:spcAft>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4694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2400" dirty="0" smtClean="0"/>
              <a:t>There are two common choices of padding: </a:t>
            </a:r>
            <a:r>
              <a:rPr lang="en-US" sz="2400" b="1" dirty="0" smtClean="0"/>
              <a:t>valid convolution</a:t>
            </a:r>
            <a:r>
              <a:rPr lang="en-US" sz="2400" dirty="0" smtClean="0"/>
              <a:t> and </a:t>
            </a:r>
            <a:r>
              <a:rPr lang="en-US" sz="2400" b="1" dirty="0" smtClean="0"/>
              <a:t>same convolution:</a:t>
            </a:r>
            <a:endParaRPr lang="en-US" sz="2400" dirty="0" smtClean="0"/>
          </a:p>
          <a:p>
            <a:r>
              <a:rPr lang="en-US" sz="2000" dirty="0" smtClean="0"/>
              <a:t>	- Same convolution (also called "same" padding): In zero padding, extra rows and columns of 	zeros are added around the input image before applying the convolution. This ensures that 	the spatial dimensions of the output feature map are the same as those of the input image, 	assuming a stride of 1. Zero padding helps to retain more spatial information from the original 	image and prevents excessive reduction in feature map size.</a:t>
            </a:r>
          </a:p>
          <a:p>
            <a:pPr lvl="2"/>
            <a:r>
              <a:rPr lang="en-US" sz="2000" dirty="0" smtClean="0"/>
              <a:t>	- Valid convolution (also called "no padding" or "valid" convolution): In valid padding, no 	padding is added to the input image. As a result, the convolutional operation only takes place 	where the filter can fully overlap with the input image. This typically results in a smaller output 	feature 	map compared to the input.</a:t>
            </a:r>
            <a:endParaRPr lang="en-US" sz="2000"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78271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2400" dirty="0" smtClean="0"/>
              <a:t>There are two common choices of padding: </a:t>
            </a:r>
            <a:r>
              <a:rPr lang="en-US" sz="2400" b="1" dirty="0" smtClean="0"/>
              <a:t>valid convolution</a:t>
            </a:r>
            <a:r>
              <a:rPr lang="en-US" sz="2400" dirty="0" smtClean="0"/>
              <a:t> and </a:t>
            </a:r>
            <a:r>
              <a:rPr lang="en-US" sz="2400" b="1" dirty="0" smtClean="0"/>
              <a:t>same convolution:</a:t>
            </a:r>
            <a:endParaRPr lang="en-US" sz="2400" dirty="0" smtClean="0"/>
          </a:p>
          <a:p>
            <a:r>
              <a:rPr lang="en-US" sz="2000" dirty="0" smtClean="0"/>
              <a:t>	- Same convolution (also called "same" padding): In zero padding, extra rows and columns of 	zeros are added around the input image before applying the convolution. This ensures that 	the spatial dimensions of the output feature map are the same as those of the input image, 	assuming a stride of 1. Zero padding helps to retain more spatial information from the original 	image and prevents excessive reduction in feature map size.</a:t>
            </a:r>
          </a:p>
          <a:p>
            <a:pPr lvl="2"/>
            <a:r>
              <a:rPr lang="en-US" sz="2000" dirty="0" smtClean="0"/>
              <a:t>	- Valid convolution (also called "no padding" or "valid" convolution): In valid padding, no 	padding is added to the input image. As a result, the convolutional operation only takes place 	where the filter can fully overlap with the input image. This typically results in a smaller output 	feature 	map compared to the input.</a:t>
            </a:r>
          </a:p>
          <a:p>
            <a:pPr marL="342900" indent="-342900">
              <a:buFont typeface="Arial" panose="020B0604020202020204" pitchFamily="34" charset="0"/>
              <a:buChar char="•"/>
            </a:pPr>
            <a:endParaRPr lang="en-US" sz="2000"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9359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4: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0" name="Google Shape;270;p14: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08759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4: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0" name="Google Shape;270;p14: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62096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6: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p16: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US" sz="1100" dirty="0" err="1" smtClean="0"/>
              <a:t>Strided</a:t>
            </a:r>
            <a:r>
              <a:rPr lang="en-US" sz="1100" dirty="0" smtClean="0"/>
              <a:t> convolutions are a technique used in convolutional neural networks (CNNs) to control the spatial dimensions of the output feature maps by adjusting the step size at which the convolutional filter moves across the input image.</a:t>
            </a:r>
          </a:p>
          <a:p>
            <a:pPr marL="285750" indent="-285750">
              <a:buFont typeface="Arial" panose="020B0604020202020204" pitchFamily="34" charset="0"/>
              <a:buChar char="•"/>
            </a:pPr>
            <a:r>
              <a:rPr lang="en-US" sz="1100" dirty="0" smtClean="0"/>
              <a:t>In traditional convolutions, a filter typically moves one pixel at a time, which results in output feature maps with similar spatial dimensions as the input. </a:t>
            </a:r>
            <a:r>
              <a:rPr lang="en-US" sz="1100" dirty="0" err="1" smtClean="0"/>
              <a:t>Strided</a:t>
            </a:r>
            <a:r>
              <a:rPr lang="en-US" sz="1100" dirty="0" smtClean="0"/>
              <a:t> convolutions, however, allow the filter to move multiple pixels at a time, resulting in a reduction of the spatial dimensions of the output feature maps.</a:t>
            </a:r>
          </a:p>
          <a:p>
            <a:pPr marL="285750" indent="-285750">
              <a:buFont typeface="Arial" panose="020B0604020202020204" pitchFamily="34" charset="0"/>
              <a:buChar char="•"/>
            </a:pPr>
            <a:r>
              <a:rPr lang="en-GB" sz="1100" dirty="0" smtClean="0"/>
              <a:t>In a stride convolution, the filter is applied to the input image with a specific stride value, skipping over certain input values in the process. The output size of the convolution is then determined according to the formula:</a:t>
            </a:r>
          </a:p>
          <a:p>
            <a:r>
              <a:rPr lang="en-GB" sz="1100" dirty="0" smtClean="0"/>
              <a:t>		</a:t>
            </a:r>
            <a:r>
              <a:rPr lang="en-GB" sz="1100" b="1" dirty="0" smtClean="0"/>
              <a:t>Output size = (input size + 2 * padding size - filter size) / stride + 1</a:t>
            </a:r>
          </a:p>
          <a:p>
            <a:r>
              <a:rPr lang="en-GB" sz="1100" dirty="0" smtClean="0"/>
              <a:t>	If the result of this formula is not an integer, the output size is rounded 		down to the nearest integer.</a:t>
            </a:r>
          </a:p>
          <a:p>
            <a:r>
              <a:rPr lang="en-GB" sz="1100" dirty="0" smtClean="0"/>
              <a:t>	</a:t>
            </a:r>
            <a:r>
              <a:rPr lang="en-US" sz="1100" dirty="0" smtClean="0"/>
              <a:t>For example, if an image is 100×100, a filter is 6×6, the padding is 7, and the stride is 4, the result of convolution will be (100 – 6 + (2)(7)) / 4 + 1 = 28×28.</a:t>
            </a:r>
          </a:p>
          <a:p>
            <a:pPr marL="0" lvl="0" indent="0" algn="l" rtl="0">
              <a:spcBef>
                <a:spcPts val="0"/>
              </a:spcBef>
              <a:spcAft>
                <a:spcPts val="0"/>
              </a:spcAft>
              <a:buNone/>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31116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7: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17: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16230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smtClean="0"/>
              <a:t>One key difference between stride convolutions and regular convolutions is that the former involves skipping over certain input values during the convolution operation, while the latter does not. This can lead to more efficient and faster computation in some cases.</a:t>
            </a:r>
          </a:p>
          <a:p>
            <a:pPr marL="285750" indent="-285750">
              <a:buFont typeface="Arial" panose="020B0604020202020204" pitchFamily="34" charset="0"/>
              <a:buChar char="•"/>
            </a:pPr>
            <a:r>
              <a:rPr lang="en-GB" sz="1100" dirty="0" smtClean="0"/>
              <a:t>It's also worth noting that there is some inconsistency in the terminology used for convolution operations in different fields, such as signal processing and mathematics. In some cases, what is referred to as a convolution operation in the context of CNNs may actually be a cross-correlation operation, which involves flipping the filter before applying it to the input image. However, in practice, this distinction doesn't usually matter much for CNN implementation or understanding.</a:t>
            </a:r>
            <a:endParaRPr lang="en-US" sz="1100" dirty="0" smtClean="0"/>
          </a:p>
          <a:p>
            <a:pPr marL="0" lvl="0" indent="0" algn="l" rtl="0">
              <a:spcBef>
                <a:spcPts val="0"/>
              </a:spcBef>
              <a:spcAft>
                <a:spcPts val="0"/>
              </a:spcAft>
              <a:buNone/>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3684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9: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5" name="Google Shape;325;p19: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smtClean="0"/>
              <a:t>In this explanation, we are discussing how to implement convolutions over 3D volumes, specifically for RGB images. An RGB image can be thought of as a stack of three 2D images, where each corresponds to a </a:t>
            </a:r>
            <a:r>
              <a:rPr lang="en-GB" sz="1100" dirty="0" err="1" smtClean="0"/>
              <a:t>color</a:t>
            </a:r>
            <a:r>
              <a:rPr lang="en-GB" sz="1100" dirty="0" smtClean="0"/>
              <a:t> channel (red, green, blue). To detect features in such an image, we can use a 3D filter that has a height, width, and depth (matching the image's height, width, and number of </a:t>
            </a:r>
            <a:r>
              <a:rPr lang="en-GB" sz="1100" dirty="0" err="1" smtClean="0"/>
              <a:t>color</a:t>
            </a:r>
            <a:r>
              <a:rPr lang="en-GB" sz="1100" dirty="0" smtClean="0"/>
              <a:t> channels). We can slide this filter over the image and compute the output using the dot product between the filter and the corresponding portion of the image. By convolving a 6x6x3 image with a 3x3x3 filter, we get a 4x4x1 output.</a:t>
            </a:r>
          </a:p>
          <a:p>
            <a:pPr marL="285750" indent="-285750">
              <a:buFont typeface="Arial" panose="020B0604020202020204" pitchFamily="34" charset="0"/>
              <a:buChar char="•"/>
            </a:pPr>
            <a:r>
              <a:rPr lang="en-GB" sz="1100" dirty="0" smtClean="0"/>
              <a:t>By using different filters, we can detect different features in the image. For example, a filter that detects vertical edges in the red channel could have weights of 1, 1, 1, -1, -1, -1, 0, 0, 0, for the red, green, and blue channels, respectively. By using multiple filters, we can detect multiple features simultaneously. The output of each filter is stacked together to form a 3D volume, where the number of channels equals the number of filters used.</a:t>
            </a:r>
            <a:endParaRPr lang="en-US" sz="1100" dirty="0" smtClean="0"/>
          </a:p>
          <a:p>
            <a:pPr marL="0" lvl="0" indent="0" algn="l" rtl="0">
              <a:spcBef>
                <a:spcPts val="0"/>
              </a:spcBef>
              <a:spcAft>
                <a:spcPts val="0"/>
              </a:spcAft>
              <a:buNone/>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12584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0: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smtClean="0">
                <a:solidFill>
                  <a:srgbClr val="000000"/>
                </a:solidFill>
                <a:effectLst/>
                <a:latin typeface="Arial"/>
                <a:ea typeface="Arial"/>
                <a:cs typeface="Arial"/>
                <a:sym typeface="Arial"/>
              </a:rPr>
              <a:t>Here we can see the 6x6x3</a:t>
            </a:r>
            <a:r>
              <a:rPr lang="en-US" sz="1100" b="0" i="0" u="none" strike="noStrike" cap="none" baseline="0" dirty="0" smtClean="0">
                <a:solidFill>
                  <a:srgbClr val="000000"/>
                </a:solidFill>
                <a:effectLst/>
                <a:latin typeface="Arial"/>
                <a:ea typeface="Arial"/>
                <a:cs typeface="Arial"/>
                <a:sym typeface="Arial"/>
              </a:rPr>
              <a:t> </a:t>
            </a:r>
            <a:r>
              <a:rPr lang="en-US" sz="1100" b="0" i="0" u="none" strike="noStrike" cap="none" dirty="0" smtClean="0">
                <a:solidFill>
                  <a:srgbClr val="000000"/>
                </a:solidFill>
                <a:effectLst/>
                <a:latin typeface="Arial"/>
                <a:ea typeface="Arial"/>
                <a:cs typeface="Arial"/>
                <a:sym typeface="Arial"/>
              </a:rPr>
              <a:t>image and the 3x3x3</a:t>
            </a:r>
            <a:r>
              <a:rPr lang="en-US" sz="1100" b="0" i="0" u="none" strike="noStrike" cap="none" baseline="0" dirty="0" smtClean="0">
                <a:solidFill>
                  <a:srgbClr val="000000"/>
                </a:solidFill>
                <a:effectLst/>
                <a:latin typeface="Arial"/>
                <a:ea typeface="Arial"/>
                <a:cs typeface="Arial"/>
                <a:sym typeface="Arial"/>
              </a:rPr>
              <a:t> </a:t>
            </a:r>
            <a:r>
              <a:rPr lang="en-US" sz="1100" b="0" i="0" u="none" strike="noStrike" cap="none" dirty="0" smtClean="0">
                <a:solidFill>
                  <a:srgbClr val="000000"/>
                </a:solidFill>
                <a:effectLst/>
                <a:latin typeface="Arial"/>
                <a:ea typeface="Arial"/>
                <a:cs typeface="Arial"/>
                <a:sym typeface="Arial"/>
              </a:rPr>
              <a:t>filter. The last number is the number of channels and it matches between the image and the filter. To simplify the drawing the 3x3x3 filter, we can draw it as a stack of three matrices. Sometimes, the filter is drawn as a three-dimensional cube as we can see in the image below.</a:t>
            </a:r>
          </a:p>
          <a:p>
            <a:pPr marL="0" lvl="0" indent="0" algn="l" rtl="0">
              <a:spcBef>
                <a:spcPts val="0"/>
              </a:spcBef>
              <a:spcAft>
                <a:spcPts val="0"/>
              </a:spcAft>
              <a:buNone/>
            </a:pPr>
            <a:r>
              <a:rPr lang="en-US" sz="1100" b="0" i="0" u="none" strike="noStrike" cap="none" dirty="0" smtClean="0">
                <a:solidFill>
                  <a:srgbClr val="000000"/>
                </a:solidFill>
                <a:effectLst/>
                <a:latin typeface="Arial"/>
                <a:ea typeface="Arial"/>
                <a:cs typeface="Arial"/>
                <a:sym typeface="Arial"/>
              </a:rPr>
              <a:t>To compute the output of this convolution operation, we take the 3x3x3 filter and first place it in that most upper left position. Notice that 3x3x3 filter has 27 numbers. We take each of these 27  numbers and multiply them with the corresponding numbers from the red, green and blue channel. So, take the first nine numbers from red channel, then the three beneath it for the green channel, then three beneath it from the blue channel and multiply them with the corresponding 27 numbers covered by this yellow cube. Then, we add up all those numbers and this gives us the first number in the output. To compute the next output we take this cube and slide it over by one. Again we do the twenty-seven multiplications sum up 27 numbers and that gives us the next output.</a:t>
            </a:r>
            <a:endParaRPr dirty="0"/>
          </a:p>
        </p:txBody>
      </p:sp>
      <p:sp>
        <p:nvSpPr>
          <p:cNvPr id="333" name="Google Shape;333;p20: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smtClean="0"/>
              <a:t>In this explanation, we are discussing how to implement convolutions over 3D volumes, specifically for RGB images. An RGB image can be thought of as a stack of three 2D images, where each corresponds to a </a:t>
            </a:r>
            <a:r>
              <a:rPr lang="en-GB" sz="1100" dirty="0" err="1" smtClean="0"/>
              <a:t>color</a:t>
            </a:r>
            <a:r>
              <a:rPr lang="en-GB" sz="1100" dirty="0" smtClean="0"/>
              <a:t> channel (red, green, blue). To detect features in such an image, we can use a 3D filter that has a height, width, and depth (matching the image's height, width, and number of </a:t>
            </a:r>
            <a:r>
              <a:rPr lang="en-GB" sz="1100" dirty="0" err="1" smtClean="0"/>
              <a:t>color</a:t>
            </a:r>
            <a:r>
              <a:rPr lang="en-GB" sz="1100" dirty="0" smtClean="0"/>
              <a:t> channels). We can slide this filter over the image and compute the output using the dot product between the filter and the corresponding portion of the image. By convolving a 6x6x3 image with a 3x3x3 filter, we get a 4x4x1 output.</a:t>
            </a:r>
          </a:p>
          <a:p>
            <a:pPr marL="285750" indent="-285750">
              <a:buFont typeface="Arial" panose="020B0604020202020204" pitchFamily="34" charset="0"/>
              <a:buChar char="•"/>
            </a:pPr>
            <a:r>
              <a:rPr lang="en-GB" sz="1100" dirty="0" smtClean="0"/>
              <a:t>By using different filters, we can detect different features in the image. For example, a filter that detects vertical edges in the red channel could have weights of 1, 1, 1, -1, -1, -1, 0, 0, 0, for the red, green, and blue channels, respectively. By using multiple filters, we can detect multiple features simultaneously. The output of each filter is stacked together to form a 3D volume, where the number of channels equals the number of filters used.</a:t>
            </a:r>
            <a:endParaRPr lang="en-US" sz="1100" dirty="0" smtClean="0"/>
          </a:p>
          <a:p>
            <a:pPr marL="0" lvl="0" indent="0" algn="l" rtl="0">
              <a:spcBef>
                <a:spcPts val="0"/>
              </a:spcBef>
              <a:spcAft>
                <a:spcPts val="0"/>
              </a:spcAft>
              <a:buNone/>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33921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0: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smtClean="0">
                <a:solidFill>
                  <a:srgbClr val="000000"/>
                </a:solidFill>
                <a:effectLst/>
                <a:latin typeface="Arial"/>
                <a:ea typeface="Arial"/>
                <a:cs typeface="Arial"/>
                <a:sym typeface="Arial"/>
              </a:rPr>
              <a:t>Here we can see the 6x6x3</a:t>
            </a:r>
            <a:r>
              <a:rPr lang="en-US" sz="1100" b="0" i="0" u="none" strike="noStrike" cap="none" baseline="0" dirty="0" smtClean="0">
                <a:solidFill>
                  <a:srgbClr val="000000"/>
                </a:solidFill>
                <a:effectLst/>
                <a:latin typeface="Arial"/>
                <a:ea typeface="Arial"/>
                <a:cs typeface="Arial"/>
                <a:sym typeface="Arial"/>
              </a:rPr>
              <a:t> </a:t>
            </a:r>
            <a:r>
              <a:rPr lang="en-US" sz="1100" b="0" i="0" u="none" strike="noStrike" cap="none" dirty="0" smtClean="0">
                <a:solidFill>
                  <a:srgbClr val="000000"/>
                </a:solidFill>
                <a:effectLst/>
                <a:latin typeface="Arial"/>
                <a:ea typeface="Arial"/>
                <a:cs typeface="Arial"/>
                <a:sym typeface="Arial"/>
              </a:rPr>
              <a:t>image and the 3x3x3</a:t>
            </a:r>
            <a:r>
              <a:rPr lang="en-US" sz="1100" b="0" i="0" u="none" strike="noStrike" cap="none" baseline="0" dirty="0" smtClean="0">
                <a:solidFill>
                  <a:srgbClr val="000000"/>
                </a:solidFill>
                <a:effectLst/>
                <a:latin typeface="Arial"/>
                <a:ea typeface="Arial"/>
                <a:cs typeface="Arial"/>
                <a:sym typeface="Arial"/>
              </a:rPr>
              <a:t> </a:t>
            </a:r>
            <a:r>
              <a:rPr lang="en-US" sz="1100" b="0" i="0" u="none" strike="noStrike" cap="none" dirty="0" smtClean="0">
                <a:solidFill>
                  <a:srgbClr val="000000"/>
                </a:solidFill>
                <a:effectLst/>
                <a:latin typeface="Arial"/>
                <a:ea typeface="Arial"/>
                <a:cs typeface="Arial"/>
                <a:sym typeface="Arial"/>
              </a:rPr>
              <a:t>filter. The last number is the number of channels and it matches between the image and the filter. To simplify the drawing the 3x3x3 filter, we can draw it as a stack of three matrices. Sometimes, the filter is drawn as a three-dimensional cube as we can see in the image below.</a:t>
            </a:r>
            <a:endParaRPr dirty="0"/>
          </a:p>
        </p:txBody>
      </p:sp>
      <p:sp>
        <p:nvSpPr>
          <p:cNvPr id="333" name="Google Shape;333;p20: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52948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1: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2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83886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1: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2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10276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1: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2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19825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9455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1: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r>
              <a:rPr lang="en-US" sz="1100" b="0" i="0" u="none" strike="noStrike" cap="none" dirty="0" smtClean="0">
                <a:solidFill>
                  <a:srgbClr val="000000"/>
                </a:solidFill>
                <a:effectLst/>
                <a:latin typeface="Arial"/>
                <a:ea typeface="Arial"/>
                <a:cs typeface="Arial"/>
                <a:sym typeface="Arial"/>
              </a:rPr>
              <a:t>We can add a new second filter denoted by orange color, which could be a horizontal edge detector. Convolving an image with the filters gives us different 4x4 outputs. These two 4x4 outputs, can be stacked together obtaining a 4x4x2  output volume. The volume can be drawn this as a box of a 4x4x2 volume, where 2 denotes the fact that we used two different filters.</a:t>
            </a:r>
          </a:p>
          <a:p>
            <a:pPr marL="0" lvl="0" indent="0" algn="l" rtl="0">
              <a:spcBef>
                <a:spcPts val="0"/>
              </a:spcBef>
              <a:spcAft>
                <a:spcPts val="0"/>
              </a:spcAft>
              <a:buNone/>
            </a:pPr>
            <a:endParaRPr dirty="0"/>
          </a:p>
        </p:txBody>
      </p:sp>
      <p:sp>
        <p:nvSpPr>
          <p:cNvPr id="340" name="Google Shape;340;p2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724793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1: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2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43355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22: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7" name="Google Shape;347;p22: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smtClean="0"/>
              <a:t>This section explains how to build a single layer of a convolutional neural network (CNN) by convolving a 3D volume with different filters and applying biases and non-</a:t>
            </a:r>
            <a:r>
              <a:rPr lang="en-GB" sz="1100" dirty="0" err="1" smtClean="0"/>
              <a:t>linearities</a:t>
            </a:r>
            <a:r>
              <a:rPr lang="en-GB" sz="1100" dirty="0" smtClean="0"/>
              <a:t>. The output of this layer is a 4x4 output, which is then stacked to form a 4x4x2 output volume. This computation from a 6x6x3 input to a 4x4x2 output is considered one layer of a CNN.</a:t>
            </a:r>
          </a:p>
          <a:p>
            <a:pPr marL="285750" indent="-285750">
              <a:buFont typeface="Arial" panose="020B0604020202020204" pitchFamily="34" charset="0"/>
              <a:buChar char="•"/>
            </a:pPr>
            <a:r>
              <a:rPr lang="en-GB" sz="1100" dirty="0" smtClean="0"/>
              <a:t>The section also explains the notation used to describe one layer of a CNN. The notation includes f[l] for the filter size, p[l] for the padding, s[l] for the stride, and </a:t>
            </a:r>
            <a:r>
              <a:rPr lang="en-GB" sz="1100" dirty="0" err="1" smtClean="0"/>
              <a:t>nc</a:t>
            </a:r>
            <a:r>
              <a:rPr lang="en-GB" sz="1100" dirty="0" smtClean="0"/>
              <a:t>[l] for the number of channels. The size of the volume in layer l is </a:t>
            </a:r>
            <a:r>
              <a:rPr lang="en-GB" sz="1100" dirty="0" err="1" smtClean="0"/>
              <a:t>nh</a:t>
            </a:r>
            <a:r>
              <a:rPr lang="en-GB" sz="1100" dirty="0" smtClean="0"/>
              <a:t> by </a:t>
            </a:r>
            <a:r>
              <a:rPr lang="en-GB" sz="1100" dirty="0" err="1" smtClean="0"/>
              <a:t>nw</a:t>
            </a:r>
            <a:r>
              <a:rPr lang="en-GB" sz="1100" dirty="0" smtClean="0"/>
              <a:t> by </a:t>
            </a:r>
            <a:r>
              <a:rPr lang="en-GB" sz="1100" dirty="0" err="1" smtClean="0"/>
              <a:t>nc</a:t>
            </a:r>
            <a:r>
              <a:rPr lang="en-GB" sz="1100" dirty="0" smtClean="0"/>
              <a:t> with superscript squared bracket l. The output volume size is given by n+2p-f/s+1, where n is the height/width of the input, p is the padding, f is the filter size, and s is the stride. The output of the layer is denoted as Al and will have the dimensions of </a:t>
            </a:r>
            <a:r>
              <a:rPr lang="en-GB" sz="1100" dirty="0" err="1" smtClean="0"/>
              <a:t>nHl</a:t>
            </a:r>
            <a:r>
              <a:rPr lang="en-GB" sz="1100" dirty="0" smtClean="0"/>
              <a:t> by </a:t>
            </a:r>
            <a:r>
              <a:rPr lang="en-GB" sz="1100" dirty="0" err="1" smtClean="0"/>
              <a:t>nwl</a:t>
            </a:r>
            <a:r>
              <a:rPr lang="en-GB" sz="1100" dirty="0" smtClean="0"/>
              <a:t> by </a:t>
            </a:r>
            <a:r>
              <a:rPr lang="en-GB" sz="1100" dirty="0" err="1" smtClean="0"/>
              <a:t>ncl</a:t>
            </a:r>
            <a:r>
              <a:rPr lang="en-GB" sz="1100" dirty="0" smtClean="0"/>
              <a:t>. The weights or parameters will be f[l] by f[l] by </a:t>
            </a:r>
            <a:r>
              <a:rPr lang="en-GB" sz="1100" dirty="0" err="1" smtClean="0"/>
              <a:t>nc</a:t>
            </a:r>
            <a:r>
              <a:rPr lang="en-GB" sz="1100" dirty="0" smtClean="0"/>
              <a:t>[l-1] times the total number of filters, and the biases will have one real number for each filter.</a:t>
            </a:r>
            <a:endParaRPr lang="en-US" sz="1100" dirty="0" smtClean="0"/>
          </a:p>
          <a:p>
            <a:pPr marL="285750" indent="-285750">
              <a:buFont typeface="Arial" panose="020B0604020202020204" pitchFamily="34" charset="0"/>
              <a:buChar char="•"/>
            </a:pPr>
            <a:r>
              <a:rPr lang="en-GB" sz="1100" dirty="0" smtClean="0"/>
              <a:t>There is no universal convention about the ordering of height, width, and channel in the deep learning literature, but the video uses the convention of listing height and width first and then the number of channels last. </a:t>
            </a:r>
          </a:p>
          <a:p>
            <a:pPr marL="285750" indent="-285750">
              <a:buFont typeface="Arial" panose="020B0604020202020204" pitchFamily="34" charset="0"/>
              <a:buChar char="•"/>
            </a:pPr>
            <a:r>
              <a:rPr lang="en-GB" sz="1100" dirty="0" smtClean="0"/>
              <a:t>Understanding one layer of a CNN is crucial for building a deeper CNN, and through exercises, viewers can become more familiar with the notation used.</a:t>
            </a:r>
            <a:endParaRPr lang="en-US" sz="1100" dirty="0" smtClean="0"/>
          </a:p>
          <a:p>
            <a:pPr marL="171450" lvl="0" indent="-171450" algn="l" rtl="0">
              <a:spcBef>
                <a:spcPts val="0"/>
              </a:spcBef>
              <a:spcAft>
                <a:spcPts val="0"/>
              </a:spcAft>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27394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p2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p2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054737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p2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299710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p2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850954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r>
              <a:rPr lang="en-US" sz="1100" b="1" i="0" u="none" strike="noStrike" cap="none" dirty="0" smtClean="0">
                <a:solidFill>
                  <a:srgbClr val="000000"/>
                </a:solidFill>
                <a:effectLst/>
                <a:latin typeface="Arial"/>
                <a:ea typeface="Arial"/>
                <a:cs typeface="Arial"/>
                <a:sym typeface="Arial"/>
              </a:rPr>
              <a:t>Now we will compare terms used in Neural Networks with the one that we use in Convolutional Neural Networks.</a:t>
            </a:r>
            <a:endParaRPr lang="en-US" sz="1100" b="0" i="0" u="none" strike="noStrike" cap="none" dirty="0" smtClean="0">
              <a:solidFill>
                <a:srgbClr val="000000"/>
              </a:solidFill>
              <a:effectLst/>
              <a:latin typeface="Arial"/>
              <a:ea typeface="Arial"/>
              <a:cs typeface="Arial"/>
              <a:sym typeface="Arial"/>
            </a:endParaRPr>
          </a:p>
          <a:p>
            <a:pPr marL="158750" indent="0">
              <a:buNone/>
            </a:pPr>
            <a:r>
              <a:rPr lang="en-US" sz="1100" b="0" i="0" u="none" strike="noStrike" cap="none" dirty="0" smtClean="0">
                <a:solidFill>
                  <a:srgbClr val="000000"/>
                </a:solidFill>
                <a:effectLst/>
                <a:latin typeface="Arial"/>
                <a:ea typeface="Arial"/>
                <a:cs typeface="Arial"/>
                <a:sym typeface="Arial"/>
              </a:rPr>
              <a:t>Using the analogy from neural networks, our input here is this \(6\times 6 \times 3\) volume and these convolutional filters are like \(W^{[1]} \). </a:t>
            </a:r>
          </a:p>
          <a:p>
            <a:pPr marL="158750" indent="0">
              <a:buNone/>
            </a:pPr>
            <a:r>
              <a:rPr lang="en-US" sz="1100" b="0" i="0" u="none" strike="noStrike" cap="none" dirty="0" smtClean="0">
                <a:solidFill>
                  <a:srgbClr val="000000"/>
                </a:solidFill>
                <a:effectLst/>
                <a:latin typeface="Arial"/>
                <a:ea typeface="Arial"/>
                <a:cs typeface="Arial"/>
                <a:sym typeface="Arial"/>
              </a:rPr>
              <a:t>During the convolution operation we’re taking these \(27 \) numbers, or really \(27 \times 2 \) because we have two filters. We’re creating all of these numbers and multiplying them so we’re really computing a linear function to get this \( 4 \) \(\times \) \( 4 \) . </a:t>
            </a:r>
          </a:p>
          <a:p>
            <a:pPr marL="158750" indent="0">
              <a:buNone/>
            </a:pPr>
            <a:r>
              <a:rPr lang="en-US" sz="1100" b="0" i="0" u="none" strike="noStrike" cap="none" dirty="0" smtClean="0">
                <a:solidFill>
                  <a:srgbClr val="000000"/>
                </a:solidFill>
                <a:effectLst/>
                <a:latin typeface="Arial"/>
                <a:ea typeface="Arial"/>
                <a:cs typeface="Arial"/>
                <a:sym typeface="Arial"/>
              </a:rPr>
              <a:t>In addition we also add bias, before applying activation function. This plays a role similar to \(Z \), and then finally by applying the non-linearity, this output becomes our activation at the next layer. This is how we go from \(a^{\left [ 0 \right ]} \) to \(a^{\left [ 1 \right ]} \). So, the convolution is really:</a:t>
            </a:r>
          </a:p>
          <a:p>
            <a:pPr marL="158750" indent="0">
              <a:buNone/>
            </a:pPr>
            <a:r>
              <a:rPr lang="en-US" sz="1100" b="0" i="0" u="none" strike="noStrike" cap="none" dirty="0" smtClean="0">
                <a:solidFill>
                  <a:srgbClr val="000000"/>
                </a:solidFill>
                <a:effectLst/>
                <a:latin typeface="Arial"/>
                <a:ea typeface="Arial"/>
                <a:cs typeface="Arial"/>
                <a:sym typeface="Arial"/>
              </a:rPr>
              <a:t>apply the linear operation </a:t>
            </a:r>
          </a:p>
          <a:p>
            <a:pPr marL="158750" indent="0">
              <a:buNone/>
            </a:pPr>
            <a:r>
              <a:rPr lang="en-US" sz="1100" b="0" i="0" u="none" strike="noStrike" cap="none" dirty="0" smtClean="0">
                <a:solidFill>
                  <a:srgbClr val="000000"/>
                </a:solidFill>
                <a:effectLst/>
                <a:latin typeface="Arial"/>
                <a:ea typeface="Arial"/>
                <a:cs typeface="Arial"/>
                <a:sym typeface="Arial"/>
              </a:rPr>
              <a:t>add the biases and</a:t>
            </a:r>
          </a:p>
          <a:p>
            <a:pPr marL="158750" indent="0">
              <a:buNone/>
            </a:pPr>
            <a:r>
              <a:rPr lang="en-US" sz="1100" b="0" i="0" u="none" strike="noStrike" cap="none" dirty="0" smtClean="0">
                <a:solidFill>
                  <a:srgbClr val="000000"/>
                </a:solidFill>
                <a:effectLst/>
                <a:latin typeface="Arial"/>
                <a:ea typeface="Arial"/>
                <a:cs typeface="Arial"/>
                <a:sym typeface="Arial"/>
              </a:rPr>
              <a:t>apply \(</a:t>
            </a:r>
            <a:r>
              <a:rPr lang="en-US" sz="1100" b="0" i="0" u="none" strike="noStrike" cap="none" dirty="0" err="1" smtClean="0">
                <a:solidFill>
                  <a:srgbClr val="000000"/>
                </a:solidFill>
                <a:effectLst/>
                <a:latin typeface="Arial"/>
                <a:ea typeface="Arial"/>
                <a:cs typeface="Arial"/>
                <a:sym typeface="Arial"/>
              </a:rPr>
              <a:t>ReLU</a:t>
            </a:r>
            <a:r>
              <a:rPr lang="en-US" sz="1100" b="0" i="0" u="none" strike="noStrike" cap="none" dirty="0" smtClean="0">
                <a:solidFill>
                  <a:srgbClr val="000000"/>
                </a:solidFill>
                <a:effectLst/>
                <a:latin typeface="Arial"/>
                <a:ea typeface="Arial"/>
                <a:cs typeface="Arial"/>
                <a:sym typeface="Arial"/>
              </a:rPr>
              <a:t> \)</a:t>
            </a:r>
          </a:p>
          <a:p>
            <a:pPr marL="158750" indent="0">
              <a:buNone/>
            </a:pPr>
            <a:r>
              <a:rPr lang="en-US" sz="1100" b="0" i="0" u="none" strike="noStrike" cap="none" dirty="0" smtClean="0">
                <a:solidFill>
                  <a:srgbClr val="000000"/>
                </a:solidFill>
                <a:effectLst/>
                <a:latin typeface="Arial"/>
                <a:ea typeface="Arial"/>
                <a:cs typeface="Arial"/>
                <a:sym typeface="Arial"/>
              </a:rPr>
              <a:t>We’ve gone from a \(6 \times 6 \times 3 \) dimensional \(a^{\left [ 0 \right ]} \) through one layer of a neural network to a \(4 \times 4 \times 2 \) dimensional \(a^{\left [ 1 \right ]} \). So, \(6 \times 6 \times 3 \) has gone to \(4\times4\times2 \) and that’s one layer of a convolutional net. In this example we had two filters involved which is why we end up with \(4 \times 4 \times 2 \) output. If we had \(10 \) filters instead of \(2 \) then would have we wound obtain a \(4\times 4\times 10 \) dimensional output volume. That is we’d be taking \(10 \) of these maps instead of \(2 \) of them, and stacking them up to form a \(4\times 4\times 10 \) output volume, and that’s how \(a^{\left [ 1 \right ]} \) would be obtained.</a:t>
            </a:r>
          </a:p>
          <a:p>
            <a:pPr marL="0" lvl="0" indent="0" algn="l" rtl="0">
              <a:spcBef>
                <a:spcPts val="0"/>
              </a:spcBef>
              <a:spcAft>
                <a:spcPts val="0"/>
              </a:spcAft>
              <a:buNone/>
            </a:pPr>
            <a:endParaRPr dirty="0"/>
          </a:p>
        </p:txBody>
      </p:sp>
      <p:sp>
        <p:nvSpPr>
          <p:cNvPr id="355" name="Google Shape;355;p2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60604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4: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smtClean="0">
                <a:solidFill>
                  <a:srgbClr val="000000"/>
                </a:solidFill>
                <a:effectLst/>
                <a:latin typeface="Arial"/>
                <a:ea typeface="Arial"/>
                <a:cs typeface="Arial"/>
                <a:sym typeface="Arial"/>
              </a:rPr>
              <a:t>In each filter, there is a \(3 \times 3 \times 3 \) volume so each filter has \(27 \) parameters to be learned. Then, we added  the bias,  parameter \(b \), so this gives us \(28 \) parameters. Previously we had two filters, but now if we imagine that we actually have ten of these filters, then we have \(28 \times 10 \) so that would be \(280 \) parameters. Nice point about this is that no matter how big the input images are the number of parameters will remain fixed. The input image could be \(1000 \times 1000 \) or \(5000 \times 5000\), but the number of parameters we have remains \(280 \). We can use these ten filters to detect features: vertical edges, horizontal edges, maybe other features anywhere even in the very large image with just a very small number of parameters. This is really one property of convolutional neural nets that makes them less prone to overfitting. So, once we learn ten feature detectors that work, we could apply this even to very large images and the number of parameters also remains fixed and relatively small as \(280 \) in this example.</a:t>
            </a:r>
            <a:endParaRPr dirty="0"/>
          </a:p>
        </p:txBody>
      </p:sp>
      <p:sp>
        <p:nvSpPr>
          <p:cNvPr id="362" name="Google Shape;362;p24: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4: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smtClean="0">
                <a:solidFill>
                  <a:srgbClr val="000000"/>
                </a:solidFill>
                <a:effectLst/>
                <a:latin typeface="Arial"/>
                <a:ea typeface="Arial"/>
                <a:cs typeface="Arial"/>
                <a:sym typeface="Arial"/>
              </a:rPr>
              <a:t>In each filter, there is a \(3 \times 3 \times 3 \) volume so each filter has \(27 \) parameters to be learned. Then, we added  the bias,  parameter \(b \), so this gives us \(28 \) parameters. Previously we had two filters, but now if we imagine that we actually have ten of these filters, then we have \(28 \times 10 \) so that would be \(280 \) parameters. Nice point about this is that no matter how big the input images are the number of parameters will remain fixed. The input image could be \(1000 \times 1000 \) or \(5000 \times 5000\), but the number of parameters we have remains \(280 \). We can use these ten filters to detect features: vertical edges, horizontal edges, maybe other features anywhere even in the very large image with just a very small number of parameters. This is really one property of convolutional neural nets that makes them less prone to overfitting. So, once we learn ten feature detectors that work, we could apply this even to very large images and the number of parameters also remains fixed and relatively small as \(280 \) in this example.</a:t>
            </a:r>
            <a:endParaRPr dirty="0"/>
          </a:p>
        </p:txBody>
      </p:sp>
      <p:sp>
        <p:nvSpPr>
          <p:cNvPr id="362" name="Google Shape;362;p24: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95584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6: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p26: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63747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27: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p27: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28: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smtClean="0"/>
              <a:t>There are three common types of layers in a </a:t>
            </a:r>
            <a:r>
              <a:rPr lang="en-GB" sz="1100" dirty="0" err="1" smtClean="0"/>
              <a:t>ConvNet</a:t>
            </a:r>
            <a:r>
              <a:rPr lang="en-GB" sz="1100" dirty="0" smtClean="0"/>
              <a:t>: convolutional layer, pooling layer, and fully connected layer. In this example, only convolutional layers are used, but in typical </a:t>
            </a:r>
            <a:r>
              <a:rPr lang="en-GB" sz="1100" dirty="0" err="1" smtClean="0"/>
              <a:t>ConvNets</a:t>
            </a:r>
            <a:r>
              <a:rPr lang="en-GB" sz="1100" dirty="0" smtClean="0"/>
              <a:t>, pooling and fully connected layers are also included.</a:t>
            </a:r>
          </a:p>
          <a:p>
            <a:pPr marL="285750" indent="-285750">
              <a:buFont typeface="Arial" panose="020B0604020202020204" pitchFamily="34" charset="0"/>
              <a:buChar char="•"/>
            </a:pPr>
            <a:r>
              <a:rPr lang="en-GB" sz="1100" dirty="0" smtClean="0"/>
              <a:t>Pooling layers and fully connected layers are simpler to define than convolutional layers and will be covered in the next couple of section.</a:t>
            </a:r>
          </a:p>
          <a:p>
            <a:pPr marL="285750" indent="-285750">
              <a:buFont typeface="Arial" panose="020B0604020202020204" pitchFamily="34" charset="0"/>
              <a:buChar char="•"/>
            </a:pPr>
            <a:r>
              <a:rPr lang="en-GB" sz="1100" dirty="0" smtClean="0"/>
              <a:t>As you go deeper in a neural network, typically you start off with larger images, and the height and width gradually trend down as you go deeper in the neural network. Meanwhile, the number of channels generally increases. More guidelines will be provided on how to design the parameters of a </a:t>
            </a:r>
            <a:r>
              <a:rPr lang="en-GB" sz="1100" dirty="0" err="1" smtClean="0"/>
              <a:t>ConvNet</a:t>
            </a:r>
            <a:r>
              <a:rPr lang="en-GB" sz="1100" dirty="0" smtClean="0"/>
              <a:t> in later sections.</a:t>
            </a:r>
          </a:p>
          <a:p>
            <a:pPr marL="285750" indent="-285750">
              <a:buFont typeface="Arial" panose="020B0604020202020204" pitchFamily="34" charset="0"/>
              <a:buChar char="•"/>
            </a:pPr>
            <a:r>
              <a:rPr lang="en-GB" sz="1100" dirty="0" smtClean="0"/>
              <a:t>Training a </a:t>
            </a:r>
            <a:r>
              <a:rPr lang="en-GB" sz="1100" dirty="0" err="1" smtClean="0"/>
              <a:t>ConvNet</a:t>
            </a:r>
            <a:r>
              <a:rPr lang="en-GB" sz="1100" dirty="0" smtClean="0"/>
              <a:t> involves using backpropagation, which the viewers are already familiar with. The next section will cover how to implement a pooling layer for a </a:t>
            </a:r>
            <a:r>
              <a:rPr lang="en-GB" sz="1100" dirty="0" err="1" smtClean="0"/>
              <a:t>ConvNet</a:t>
            </a:r>
            <a:r>
              <a:rPr lang="en-GB" sz="1100" dirty="0" smtClean="0"/>
              <a:t>.</a:t>
            </a:r>
            <a:endParaRPr lang="en-US" sz="1100" dirty="0" smtClean="0"/>
          </a:p>
          <a:p>
            <a:pPr marL="0" lvl="0" indent="0" algn="l" rtl="0">
              <a:spcBef>
                <a:spcPts val="0"/>
              </a:spcBef>
              <a:spcAft>
                <a:spcPts val="0"/>
              </a:spcAft>
              <a:buNone/>
            </a:pPr>
            <a:endParaRPr dirty="0"/>
          </a:p>
        </p:txBody>
      </p:sp>
      <p:sp>
        <p:nvSpPr>
          <p:cNvPr id="394" name="Google Shape;394;p2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29: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p29: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smtClean="0"/>
              <a:t>In Convolutional Neural Networks (</a:t>
            </a:r>
            <a:r>
              <a:rPr lang="en-GB" sz="1100" dirty="0" err="1" smtClean="0"/>
              <a:t>ConvNets</a:t>
            </a:r>
            <a:r>
              <a:rPr lang="en-GB" sz="1100" dirty="0" smtClean="0"/>
              <a:t>), pooling layers are often used in addition to convolutional layers. The purpose of pooling layers is to reduce the size of the representation, which can speed up computation and make some of the features more robust.</a:t>
            </a:r>
          </a:p>
          <a:p>
            <a:pPr marL="285750" indent="-285750">
              <a:buFont typeface="Arial" panose="020B0604020202020204" pitchFamily="34" charset="0"/>
              <a:buChar char="•"/>
            </a:pPr>
            <a:r>
              <a:rPr lang="en-GB" sz="1100" dirty="0" smtClean="0"/>
              <a:t>One common type of pooling is max pooling, where the input is divided into non-overlapping regions, and the maximum value of each region is taken to form the output. For example, a 4x4 input can be divided into four 2x2 regions, and the maximum value of each region is computed to form a 2x2 output.</a:t>
            </a:r>
          </a:p>
          <a:p>
            <a:pPr marL="285750" indent="-285750">
              <a:buFont typeface="Arial" panose="020B0604020202020204" pitchFamily="34" charset="0"/>
              <a:buChar char="•"/>
            </a:pPr>
            <a:r>
              <a:rPr lang="en-GB" sz="1100" dirty="0" smtClean="0"/>
              <a:t>The </a:t>
            </a:r>
            <a:r>
              <a:rPr lang="en-GB" sz="1100" dirty="0" err="1" smtClean="0"/>
              <a:t>hyperparameters</a:t>
            </a:r>
            <a:r>
              <a:rPr lang="en-GB" sz="1100" dirty="0" smtClean="0"/>
              <a:t> of max pooling are the filter size (f) and the stride (s). The filter size determines the size of the regions that are pooled, and the stride determines the step size when moving to the next region. Max pooling has no parameters to learn, and the computation is fixed once the </a:t>
            </a:r>
            <a:r>
              <a:rPr lang="en-GB" sz="1100" dirty="0" err="1" smtClean="0"/>
              <a:t>hyperparameters</a:t>
            </a:r>
            <a:r>
              <a:rPr lang="en-GB" sz="1100" dirty="0" smtClean="0"/>
              <a:t> are set.</a:t>
            </a:r>
            <a:endParaRPr lang="en-US" sz="1100" dirty="0" smtClean="0"/>
          </a:p>
          <a:p>
            <a:pPr marL="285750" indent="-285750">
              <a:buFont typeface="Arial" panose="020B0604020202020204" pitchFamily="34" charset="0"/>
              <a:buChar char="•"/>
            </a:pPr>
            <a:r>
              <a:rPr lang="en-GB" sz="1100" dirty="0" smtClean="0"/>
              <a:t>The intuition behind max pooling is that it preserves features that are detected anywhere in the input, while discarding features that are not detected in any region. However, the main reason why max pooling is used is because it has been found to work well in practice, and the exact reason behind its effectiveness is still not fully understood.</a:t>
            </a:r>
          </a:p>
          <a:p>
            <a:pPr marL="285750" indent="-285750">
              <a:buFont typeface="Arial" panose="020B0604020202020204" pitchFamily="34" charset="0"/>
              <a:buChar char="•"/>
            </a:pPr>
            <a:r>
              <a:rPr lang="en-GB" sz="1100" dirty="0" smtClean="0"/>
              <a:t>In addition to max pooling, another type of pooling is average pooling, where the average value of each region is taken to form the output. However, max pooling is used much more often in </a:t>
            </a:r>
            <a:r>
              <a:rPr lang="en-GB" sz="1100" dirty="0" err="1" smtClean="0"/>
              <a:t>ConvNets</a:t>
            </a:r>
            <a:r>
              <a:rPr lang="en-GB" sz="1100" dirty="0" smtClean="0"/>
              <a:t>, except for some cases where average pooling is used to collapse the representation.</a:t>
            </a:r>
          </a:p>
          <a:p>
            <a:pPr marL="285750" indent="-285750">
              <a:buFont typeface="Arial" panose="020B0604020202020204" pitchFamily="34" charset="0"/>
              <a:buChar char="•"/>
            </a:pPr>
            <a:r>
              <a:rPr lang="en-GB" sz="1100" dirty="0" smtClean="0"/>
              <a:t>The </a:t>
            </a:r>
            <a:r>
              <a:rPr lang="en-GB" sz="1100" dirty="0" err="1" smtClean="0"/>
              <a:t>hyperparameters</a:t>
            </a:r>
            <a:r>
              <a:rPr lang="en-GB" sz="1100" dirty="0" smtClean="0"/>
              <a:t> for pooling are f and s, and common choices of parameters might be f=2 and s=2, which roughly shrinks the height and width of the representation by a factor of 2. There are no parameters to learn in pooling layers, and the input and output sizes are determined by the </a:t>
            </a:r>
            <a:r>
              <a:rPr lang="en-GB" sz="1100" dirty="0" err="1" smtClean="0"/>
              <a:t>hyperparameters</a:t>
            </a:r>
            <a:r>
              <a:rPr lang="en-GB" sz="1100" dirty="0" smtClean="0"/>
              <a:t> and the number of input channels.</a:t>
            </a:r>
          </a:p>
          <a:p>
            <a:pPr marL="285750" indent="-285750">
              <a:buFont typeface="Arial" panose="020B0604020202020204" pitchFamily="34" charset="0"/>
              <a:buChar char="•"/>
            </a:pPr>
            <a:r>
              <a:rPr lang="en-GB" sz="1100" dirty="0" smtClean="0"/>
              <a:t>Pooling layers are often used in conjunction with convolutional layers, and in the next video, a more complex example of a </a:t>
            </a:r>
            <a:r>
              <a:rPr lang="en-GB" sz="1100" dirty="0" err="1" smtClean="0"/>
              <a:t>ConvNet</a:t>
            </a:r>
            <a:r>
              <a:rPr lang="en-GB" sz="1100" dirty="0" smtClean="0"/>
              <a:t> will be introduced, which will also allow for the introduction of fully connected layers.</a:t>
            </a:r>
            <a:endParaRPr lang="en-US" sz="1100" dirty="0" smtClean="0"/>
          </a:p>
          <a:p>
            <a:pPr marL="171450" lvl="0" indent="-171450" algn="l" rtl="0">
              <a:spcBef>
                <a:spcPts val="0"/>
              </a:spcBef>
              <a:spcAft>
                <a:spcPts val="0"/>
              </a:spcAft>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305350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30: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0" name="Google Shape;410;p30: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285788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31: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8" name="Google Shape;418;p3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33631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30: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0" name="Google Shape;410;p30: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189061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32: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5" name="Google Shape;425;p32: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32: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469900" lvl="0" indent="-457200">
              <a:buFont typeface="Arial" panose="020B0604020202020204" pitchFamily="34" charset="0"/>
              <a:buChar char="•"/>
            </a:pPr>
            <a:r>
              <a:rPr lang="en-US" sz="1100" b="1" i="0" u="none" strike="noStrike" cap="none" dirty="0" smtClean="0">
                <a:solidFill>
                  <a:srgbClr val="000000"/>
                </a:solidFill>
                <a:latin typeface="Arial"/>
                <a:ea typeface="Cambria"/>
                <a:cs typeface="Cambria"/>
                <a:sym typeface="Cambria"/>
              </a:rPr>
              <a:t>Dimensionality reduction</a:t>
            </a:r>
            <a:r>
              <a:rPr lang="en-US" sz="1100" b="0" i="0" u="none" strike="noStrike" cap="none" dirty="0" smtClean="0">
                <a:solidFill>
                  <a:srgbClr val="000000"/>
                </a:solidFill>
                <a:latin typeface="Arial"/>
                <a:ea typeface="Cambria"/>
                <a:cs typeface="Cambria"/>
                <a:sym typeface="Cambria"/>
              </a:rPr>
              <a:t>: The main advantage of pooling layers is that they help in reducing the spatial dimensions of the feature maps. This reduces the computational cost and also helps in avoiding overfitting by reducing the number of parameters in the model.</a:t>
            </a:r>
          </a:p>
          <a:p>
            <a:pPr marL="469900" lvl="0" indent="-457200">
              <a:buFont typeface="Arial" panose="020B0604020202020204" pitchFamily="34" charset="0"/>
              <a:buChar char="•"/>
            </a:pPr>
            <a:r>
              <a:rPr lang="en-US" sz="1100" b="1" i="0" u="none" strike="noStrike" cap="none" dirty="0" smtClean="0">
                <a:solidFill>
                  <a:srgbClr val="000000"/>
                </a:solidFill>
                <a:latin typeface="Arial"/>
                <a:ea typeface="Cambria"/>
                <a:cs typeface="Cambria"/>
                <a:sym typeface="Cambria"/>
              </a:rPr>
              <a:t>Translation invariance</a:t>
            </a:r>
            <a:r>
              <a:rPr lang="en-US" sz="1100" b="0" i="0" u="none" strike="noStrike" cap="none" dirty="0" smtClean="0">
                <a:solidFill>
                  <a:srgbClr val="000000"/>
                </a:solidFill>
                <a:latin typeface="Arial"/>
                <a:ea typeface="Cambria"/>
                <a:cs typeface="Cambria"/>
                <a:sym typeface="Cambria"/>
              </a:rPr>
              <a:t>: Pooling layers are also useful in achieving translation invariance in the feature maps. This means that the position of an object in the image does not affect the classification result, as the same features are detected regardless of the position of the object.</a:t>
            </a:r>
          </a:p>
          <a:p>
            <a:pPr marL="469900" lvl="0" indent="-457200">
              <a:buFont typeface="Arial" panose="020B0604020202020204" pitchFamily="34" charset="0"/>
              <a:buChar char="•"/>
            </a:pPr>
            <a:r>
              <a:rPr lang="en-US" sz="1100" b="1" i="0" u="none" strike="noStrike" cap="none" dirty="0" smtClean="0">
                <a:solidFill>
                  <a:srgbClr val="000000"/>
                </a:solidFill>
                <a:latin typeface="Arial"/>
                <a:ea typeface="Cambria"/>
                <a:cs typeface="Cambria"/>
                <a:sym typeface="Cambria"/>
              </a:rPr>
              <a:t>Feature selection</a:t>
            </a:r>
            <a:r>
              <a:rPr lang="en-US" sz="1100" b="0" i="0" u="none" strike="noStrike" cap="none" dirty="0" smtClean="0">
                <a:solidFill>
                  <a:srgbClr val="000000"/>
                </a:solidFill>
                <a:latin typeface="Arial"/>
                <a:ea typeface="Cambria"/>
                <a:cs typeface="Cambria"/>
                <a:sym typeface="Cambria"/>
              </a:rPr>
              <a:t>: Pooling layers can also help in selecting the most important features from the input, as max pooling selects the most salient features and average pooling preserves more information.</a:t>
            </a:r>
          </a:p>
          <a:p>
            <a:pPr marL="0" lvl="0" indent="0" algn="l" rtl="0">
              <a:spcBef>
                <a:spcPts val="0"/>
              </a:spcBef>
              <a:spcAft>
                <a:spcPts val="0"/>
              </a:spcAft>
              <a:buNone/>
            </a:pPr>
            <a:endParaRPr dirty="0"/>
          </a:p>
        </p:txBody>
      </p:sp>
      <p:sp>
        <p:nvSpPr>
          <p:cNvPr id="425" name="Google Shape;425;p32: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058971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32: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469900" lvl="0" indent="-457200">
              <a:buFont typeface="Arial" panose="020B0604020202020204" pitchFamily="34" charset="0"/>
              <a:buChar char="•"/>
            </a:pPr>
            <a:r>
              <a:rPr lang="en-US" sz="1100" b="1" i="0" u="none" strike="noStrike" cap="none" dirty="0" smtClean="0">
                <a:solidFill>
                  <a:srgbClr val="000000"/>
                </a:solidFill>
                <a:latin typeface="Arial"/>
                <a:ea typeface="Cambria"/>
                <a:cs typeface="Cambria"/>
                <a:sym typeface="Cambria"/>
              </a:rPr>
              <a:t>Information loss</a:t>
            </a:r>
            <a:r>
              <a:rPr lang="en-US" sz="1100" b="0" i="0" u="none" strike="noStrike" cap="none" dirty="0" smtClean="0">
                <a:solidFill>
                  <a:srgbClr val="000000"/>
                </a:solidFill>
                <a:latin typeface="Arial"/>
                <a:ea typeface="Cambria"/>
                <a:cs typeface="Cambria"/>
                <a:sym typeface="Cambria"/>
              </a:rPr>
              <a:t>: One of the main disadvantages of pooling layers is that they discard some information from the input feature maps, which can be important for the final classification or regression task.</a:t>
            </a:r>
          </a:p>
          <a:p>
            <a:pPr marL="469900" lvl="0" indent="-457200">
              <a:buFont typeface="Arial" panose="020B0604020202020204" pitchFamily="34" charset="0"/>
              <a:buChar char="•"/>
            </a:pPr>
            <a:r>
              <a:rPr lang="en-US" sz="1100" b="1" i="0" u="none" strike="noStrike" cap="none" dirty="0" smtClean="0">
                <a:solidFill>
                  <a:srgbClr val="000000"/>
                </a:solidFill>
                <a:latin typeface="Arial"/>
                <a:ea typeface="Cambria"/>
                <a:cs typeface="Cambria"/>
                <a:sym typeface="Cambria"/>
              </a:rPr>
              <a:t>Over-smoothing</a:t>
            </a:r>
            <a:r>
              <a:rPr lang="en-US" sz="1100" b="0" i="0" u="none" strike="noStrike" cap="none" dirty="0" smtClean="0">
                <a:solidFill>
                  <a:srgbClr val="000000"/>
                </a:solidFill>
                <a:latin typeface="Arial"/>
                <a:ea typeface="Cambria"/>
                <a:cs typeface="Cambria"/>
                <a:sym typeface="Cambria"/>
              </a:rPr>
              <a:t>: Pooling layers can also cause over-smoothing of the feature maps, which can result in the loss of some fine-grained details that are important for the final classification or regression task.</a:t>
            </a:r>
          </a:p>
          <a:p>
            <a:pPr marL="469900" lvl="0" indent="-457200">
              <a:buFont typeface="Arial" panose="020B0604020202020204" pitchFamily="34" charset="0"/>
              <a:buChar char="•"/>
            </a:pPr>
            <a:r>
              <a:rPr lang="en-US" sz="1100" b="1" i="0" u="none" strike="noStrike" cap="none" dirty="0" err="1" smtClean="0">
                <a:solidFill>
                  <a:srgbClr val="000000"/>
                </a:solidFill>
                <a:latin typeface="Arial"/>
                <a:ea typeface="Cambria"/>
                <a:cs typeface="Cambria"/>
                <a:sym typeface="Cambria"/>
              </a:rPr>
              <a:t>Hyperparameter</a:t>
            </a:r>
            <a:r>
              <a:rPr lang="en-US" sz="1100" b="1" i="0" u="none" strike="noStrike" cap="none" dirty="0" smtClean="0">
                <a:solidFill>
                  <a:srgbClr val="000000"/>
                </a:solidFill>
                <a:latin typeface="Arial"/>
                <a:ea typeface="Cambria"/>
                <a:cs typeface="Cambria"/>
                <a:sym typeface="Cambria"/>
              </a:rPr>
              <a:t> tuning</a:t>
            </a:r>
            <a:r>
              <a:rPr lang="en-US" sz="1100" b="0" i="0" u="none" strike="noStrike" cap="none" dirty="0" smtClean="0">
                <a:solidFill>
                  <a:srgbClr val="000000"/>
                </a:solidFill>
                <a:latin typeface="Arial"/>
                <a:ea typeface="Cambria"/>
                <a:cs typeface="Cambria"/>
                <a:sym typeface="Cambria"/>
              </a:rPr>
              <a:t>: Pooling layers also introduce </a:t>
            </a:r>
            <a:r>
              <a:rPr lang="en-US" sz="1100" b="0" i="0" u="none" strike="noStrike" cap="none" dirty="0" err="1" smtClean="0">
                <a:solidFill>
                  <a:srgbClr val="000000"/>
                </a:solidFill>
                <a:latin typeface="Arial"/>
                <a:ea typeface="Cambria"/>
                <a:cs typeface="Cambria"/>
                <a:sym typeface="Cambria"/>
              </a:rPr>
              <a:t>hyperparameters</a:t>
            </a:r>
            <a:r>
              <a:rPr lang="en-US" sz="1100" b="0" i="0" u="none" strike="noStrike" cap="none" dirty="0" smtClean="0">
                <a:solidFill>
                  <a:srgbClr val="000000"/>
                </a:solidFill>
                <a:latin typeface="Arial"/>
                <a:ea typeface="Cambria"/>
                <a:cs typeface="Cambria"/>
                <a:sym typeface="Cambria"/>
              </a:rPr>
              <a:t> such as the size of the pooling regions and the stride, which need to be tuned in order to achieve optimal performance. This can be time-consuming and requires some expertise in model building.</a:t>
            </a:r>
          </a:p>
          <a:p>
            <a:pPr marL="0" lvl="0" indent="0" algn="l" rtl="0">
              <a:spcBef>
                <a:spcPts val="0"/>
              </a:spcBef>
              <a:spcAft>
                <a:spcPts val="0"/>
              </a:spcAft>
              <a:buNone/>
            </a:pPr>
            <a:endParaRPr dirty="0"/>
          </a:p>
        </p:txBody>
      </p:sp>
      <p:sp>
        <p:nvSpPr>
          <p:cNvPr id="425" name="Google Shape;425;p32: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754380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4" name="Google Shape;434;p3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smtClean="0"/>
              <a:t>Consider an example of building a convolutional neural network (CNN) for handwritten digit recognition. The input image is 32x32x3, and the CNN consists of several layers, including convolutions, pooling, and fully connected layers.</a:t>
            </a:r>
          </a:p>
          <a:p>
            <a:pPr marL="285750" indent="-285750">
              <a:buFont typeface="Arial" panose="020B0604020202020204" pitchFamily="34" charset="0"/>
              <a:buChar char="•"/>
            </a:pPr>
            <a:r>
              <a:rPr lang="en-GB" sz="1100" dirty="0" smtClean="0"/>
              <a:t>The first layer uses a 5x5 filter with a stride of 1 and no padding, and with 6 filters applied, it produces an output of 28x28x6. This layer is followed by a pooling layer with f=2 and s=2, reducing the output size to 14x14x6. </a:t>
            </a:r>
          </a:p>
          <a:p>
            <a:pPr marL="285750" indent="-285750">
              <a:buFont typeface="Arial" panose="020B0604020202020204" pitchFamily="34" charset="0"/>
              <a:buChar char="•"/>
            </a:pPr>
            <a:r>
              <a:rPr lang="en-GB" sz="1100" dirty="0" smtClean="0"/>
              <a:t>The next layer is another convolutional layer with a 5x5 filter and 10 filters applied, producing a 10x10x10 output, followed by another pooling layer with f=2 and s=2, reducing the output size to 5x5x16.</a:t>
            </a:r>
          </a:p>
          <a:p>
            <a:pPr marL="285750" indent="-285750">
              <a:buFont typeface="Arial" panose="020B0604020202020204" pitchFamily="34" charset="0"/>
              <a:buChar char="•"/>
            </a:pPr>
            <a:r>
              <a:rPr lang="en-GB" sz="1100" dirty="0" smtClean="0"/>
              <a:t>The output is then flattened into a 400x1 vector and passed through two fully connected layers with 120 and 84 units, respectively, before being fed into a </a:t>
            </a:r>
            <a:r>
              <a:rPr lang="en-GB" sz="1100" dirty="0" err="1" smtClean="0"/>
              <a:t>softmax</a:t>
            </a:r>
            <a:r>
              <a:rPr lang="en-GB" sz="1100" dirty="0" smtClean="0"/>
              <a:t> unit with 10 outputs for the digit recognition task.</a:t>
            </a:r>
            <a:endParaRPr lang="en-US" sz="1100" dirty="0" smtClean="0"/>
          </a:p>
          <a:p>
            <a:pPr marL="0" lvl="0" indent="0" algn="l" rtl="0">
              <a:spcBef>
                <a:spcPts val="0"/>
              </a:spcBef>
              <a:spcAft>
                <a:spcPts val="0"/>
              </a:spcAft>
              <a:buNone/>
            </a:pPr>
            <a:endParaRPr dirty="0"/>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712640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35:notes"/>
          <p:cNvSpPr txBox="1">
            <a:spLocks noGrp="1"/>
          </p:cNvSpPr>
          <p:nvPr>
            <p:ph type="body" idx="1"/>
          </p:nvPr>
        </p:nvSpPr>
        <p:spPr>
          <a:xfrm>
            <a:off x="1219200" y="3691875"/>
            <a:ext cx="97536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51" name="Google Shape;451;p3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3:notes"/>
          <p:cNvSpPr>
            <a:spLocks noGrp="1" noRot="1" noChangeAspect="1"/>
          </p:cNvSpPr>
          <p:nvPr>
            <p:ph type="sldImg" idx="2"/>
          </p:nvPr>
        </p:nvSpPr>
        <p:spPr>
          <a:xfrm>
            <a:off x="4279900" y="857250"/>
            <a:ext cx="36322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4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Why Convolutional Neural Networks (CNNs)?</a:t>
            </a:r>
          </a:p>
          <a:p>
            <a:pPr marL="12700" marR="5080" lvl="1">
              <a:lnSpc>
                <a:spcPct val="101800"/>
              </a:lnSpc>
              <a:buSzPts val="2400"/>
            </a:pPr>
            <a:r>
              <a:rPr lang="en-US" sz="2000" dirty="0" smtClean="0">
                <a:ea typeface="Century Schoolbook"/>
                <a:cs typeface="Century Schoolbook"/>
                <a:sym typeface="Century Schoolbook"/>
              </a:rPr>
              <a:t>	CNNs are designed to process grid-like data, making them ideal for tasks like image and video 	recognition due to their ability to automatically learn spatial hierarchies of features.</a:t>
            </a: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Computer Vision:</a:t>
            </a:r>
          </a:p>
          <a:p>
            <a:pPr marL="12700" marR="5080">
              <a:lnSpc>
                <a:spcPct val="101800"/>
              </a:lnSpc>
              <a:buSzPts val="2400"/>
            </a:pPr>
            <a:r>
              <a:rPr lang="en-US" sz="2400" dirty="0" smtClean="0">
                <a:ea typeface="Century Schoolbook"/>
                <a:cs typeface="Century Schoolbook"/>
                <a:sym typeface="Century Schoolbook"/>
              </a:rPr>
              <a:t>	</a:t>
            </a:r>
            <a:r>
              <a:rPr lang="en-US" sz="2000" dirty="0" smtClean="0">
                <a:ea typeface="Century Schoolbook"/>
                <a:cs typeface="Century Schoolbook"/>
                <a:sym typeface="Century Schoolbook"/>
              </a:rPr>
              <a:t>The field of computer science that enables machines to interpret and make decisions 	based on visual data, often involving techniques like image recognition and object 	detection.</a:t>
            </a: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Edge Detection Example:</a:t>
            </a:r>
          </a:p>
          <a:p>
            <a:pPr marL="12700" marR="5080" lvl="1">
              <a:lnSpc>
                <a:spcPct val="101800"/>
              </a:lnSpc>
              <a:buSzPts val="2400"/>
            </a:pPr>
            <a:r>
              <a:rPr lang="en-US" sz="2400" dirty="0" smtClean="0">
                <a:ea typeface="Century Schoolbook"/>
                <a:cs typeface="Century Schoolbook"/>
                <a:sym typeface="Century Schoolbook"/>
              </a:rPr>
              <a:t>	</a:t>
            </a:r>
            <a:r>
              <a:rPr lang="en-US" sz="2000" dirty="0" smtClean="0">
                <a:ea typeface="Century Schoolbook"/>
                <a:cs typeface="Century Schoolbook"/>
                <a:sym typeface="Century Schoolbook"/>
              </a:rPr>
              <a:t>Edge detection is a fundamental image processing technique that identifies boundaries 	within images, highlighting where different objects or textures meet.</a:t>
            </a: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More Edge Detection:</a:t>
            </a:r>
          </a:p>
          <a:p>
            <a:pPr marL="12700" marR="5080">
              <a:lnSpc>
                <a:spcPct val="101800"/>
              </a:lnSpc>
              <a:buSzPts val="2400"/>
            </a:pPr>
            <a:r>
              <a:rPr lang="en-US" sz="2400" dirty="0" smtClean="0">
                <a:ea typeface="Century Schoolbook"/>
                <a:cs typeface="Century Schoolbook"/>
                <a:sym typeface="Century Schoolbook"/>
              </a:rPr>
              <a:t>	</a:t>
            </a:r>
            <a:r>
              <a:rPr lang="en-US" sz="2000" dirty="0" smtClean="0">
                <a:ea typeface="Century Schoolbook"/>
                <a:cs typeface="Century Schoolbook"/>
                <a:sym typeface="Century Schoolbook"/>
              </a:rPr>
              <a:t>Various algorithms, like the Sobel operator or Canny edge detector, can enhance edge 	detection by refining the edges and reducing noise.</a:t>
            </a: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Padding</a:t>
            </a:r>
            <a:r>
              <a:rPr lang="en-US" sz="2000" dirty="0" smtClean="0">
                <a:ea typeface="Century Schoolbook"/>
                <a:cs typeface="Century Schoolbook"/>
                <a:sym typeface="Century Schoolbook"/>
              </a:rPr>
              <a:t>:</a:t>
            </a:r>
          </a:p>
          <a:p>
            <a:pPr marL="12700" marR="5080">
              <a:lnSpc>
                <a:spcPct val="101800"/>
              </a:lnSpc>
              <a:buSzPts val="2400"/>
            </a:pPr>
            <a:r>
              <a:rPr lang="en-US" sz="2000" dirty="0" smtClean="0">
                <a:ea typeface="Century Schoolbook"/>
                <a:cs typeface="Century Schoolbook"/>
                <a:sym typeface="Century Schoolbook"/>
              </a:rPr>
              <a:t>	Padding involves adding extra border pixels around an image, which is particularly useful in 	CNNs to preserve spatial dimensions and information at the borders during convolutions.</a:t>
            </a:r>
          </a:p>
          <a:p>
            <a:pPr marL="355600" marR="5080" indent="-342900">
              <a:lnSpc>
                <a:spcPct val="101800"/>
              </a:lnSpc>
              <a:buSzPts val="2400"/>
              <a:buFont typeface="Arial" panose="020B0604020202020204" pitchFamily="34" charset="0"/>
              <a:buChar char="•"/>
            </a:pPr>
            <a:r>
              <a:rPr lang="en-US" sz="2400" dirty="0" err="1" smtClean="0">
                <a:ea typeface="Century Schoolbook"/>
                <a:cs typeface="Century Schoolbook"/>
                <a:sym typeface="Century Schoolbook"/>
              </a:rPr>
              <a:t>Strided</a:t>
            </a:r>
            <a:r>
              <a:rPr lang="en-US" sz="2400" dirty="0" smtClean="0">
                <a:ea typeface="Century Schoolbook"/>
                <a:cs typeface="Century Schoolbook"/>
                <a:sym typeface="Century Schoolbook"/>
              </a:rPr>
              <a:t> Convolutions:</a:t>
            </a:r>
          </a:p>
          <a:p>
            <a:pPr marL="12700" marR="5080">
              <a:lnSpc>
                <a:spcPct val="101800"/>
              </a:lnSpc>
              <a:buSzPts val="2400"/>
            </a:pPr>
            <a:r>
              <a:rPr lang="en-US" sz="2000" dirty="0" smtClean="0">
                <a:ea typeface="Century Schoolbook"/>
                <a:cs typeface="Century Schoolbook"/>
                <a:sym typeface="Century Schoolbook"/>
              </a:rPr>
              <a:t>	</a:t>
            </a:r>
            <a:r>
              <a:rPr lang="en-US" sz="2000" dirty="0" err="1" smtClean="0">
                <a:ea typeface="Century Schoolbook"/>
                <a:cs typeface="Century Schoolbook"/>
                <a:sym typeface="Century Schoolbook"/>
              </a:rPr>
              <a:t>Strided</a:t>
            </a:r>
            <a:r>
              <a:rPr lang="en-US" sz="2000" dirty="0" smtClean="0">
                <a:ea typeface="Century Schoolbook"/>
                <a:cs typeface="Century Schoolbook"/>
                <a:sym typeface="Century Schoolbook"/>
              </a:rPr>
              <a:t> convolutions involve skipping pixels during the convolution operation, effectively 	reducing the spatial dimensions of the output volume.</a:t>
            </a: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Convolutions Over Volumes:</a:t>
            </a:r>
          </a:p>
          <a:p>
            <a:pPr marL="12700" marR="5080">
              <a:lnSpc>
                <a:spcPct val="101800"/>
              </a:lnSpc>
              <a:buSzPts val="2400"/>
            </a:pPr>
            <a:r>
              <a:rPr lang="en-US" sz="2000" dirty="0" smtClean="0">
                <a:ea typeface="Century Schoolbook"/>
                <a:cs typeface="Century Schoolbook"/>
                <a:sym typeface="Century Schoolbook"/>
              </a:rPr>
              <a:t>	CNNs can handle multi-dimensional data, such as RGB images (3D volumes), by applying 	convolutions across all dimensions.</a:t>
            </a: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One Layer of a Convolutional Network:</a:t>
            </a:r>
          </a:p>
          <a:p>
            <a:pPr marL="12700" marR="5080">
              <a:lnSpc>
                <a:spcPct val="101800"/>
              </a:lnSpc>
              <a:buSzPts val="2400"/>
            </a:pPr>
            <a:r>
              <a:rPr lang="en-US" sz="2000" dirty="0" smtClean="0">
                <a:ea typeface="Century Schoolbook"/>
                <a:cs typeface="Century Schoolbook"/>
                <a:sym typeface="Century Schoolbook"/>
              </a:rPr>
              <a:t>	Describes a single layer in a CNN, which consists of multiple filters applying convolutions to the 	input data, followed by activation functions like </a:t>
            </a:r>
            <a:r>
              <a:rPr lang="en-US" sz="2000" dirty="0" err="1" smtClean="0">
                <a:ea typeface="Century Schoolbook"/>
                <a:cs typeface="Century Schoolbook"/>
                <a:sym typeface="Century Schoolbook"/>
              </a:rPr>
              <a:t>ReLU</a:t>
            </a:r>
            <a:r>
              <a:rPr lang="en-US" sz="2000" dirty="0" smtClean="0">
                <a:ea typeface="Century Schoolbook"/>
                <a:cs typeface="Century Schoolbook"/>
                <a:sym typeface="Century Schoolbook"/>
              </a:rPr>
              <a:t>.</a:t>
            </a: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A Simple Convolutional Network Example:</a:t>
            </a:r>
          </a:p>
          <a:p>
            <a:pPr marL="12700" marR="5080">
              <a:lnSpc>
                <a:spcPct val="101800"/>
              </a:lnSpc>
              <a:buSzPts val="2400"/>
            </a:pPr>
            <a:r>
              <a:rPr lang="en-US" sz="2000" dirty="0" smtClean="0">
                <a:ea typeface="Century Schoolbook"/>
                <a:cs typeface="Century Schoolbook"/>
                <a:sym typeface="Century Schoolbook"/>
              </a:rPr>
              <a:t>	Illustrates the structure of a basic CNN, typically consisting of convolutional layers, activation 	functions, pooling layers, and fully connected layers for classification tasks.</a:t>
            </a: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Pooling Layers:</a:t>
            </a:r>
          </a:p>
          <a:p>
            <a:pPr marL="12700" marR="5080">
              <a:lnSpc>
                <a:spcPct val="101800"/>
              </a:lnSpc>
              <a:buSzPts val="2400"/>
            </a:pPr>
            <a:r>
              <a:rPr lang="en-US" sz="2000" dirty="0" smtClean="0">
                <a:ea typeface="Century Schoolbook"/>
                <a:cs typeface="Century Schoolbook"/>
                <a:sym typeface="Century Schoolbook"/>
              </a:rPr>
              <a:t>	Pooling layers reduce the spatial dimensions of the input volume, retaining the most important 	information and reducing computation in the network.</a:t>
            </a: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Convolutional Neural Network Example:</a:t>
            </a:r>
          </a:p>
          <a:p>
            <a:pPr marL="12700" marR="5080" lvl="1">
              <a:lnSpc>
                <a:spcPct val="101800"/>
              </a:lnSpc>
              <a:buSzPts val="2400"/>
            </a:pPr>
            <a:r>
              <a:rPr lang="en-US" sz="2000" dirty="0" smtClean="0">
                <a:ea typeface="Century Schoolbook"/>
                <a:cs typeface="Century Schoolbook"/>
                <a:sym typeface="Century Schoolbook"/>
              </a:rPr>
              <a:t>	Provides an overview of a complete CNN, showing how multiple convolutional and pooling 	layers, along with fully connected layers, form a deep learning architecture for tasks like image 	classification.</a:t>
            </a:r>
          </a:p>
          <a:p>
            <a:pPr marL="0" lvl="0" indent="0" algn="l" rtl="0">
              <a:lnSpc>
                <a:spcPct val="100000"/>
              </a:lnSpc>
              <a:spcBef>
                <a:spcPts val="0"/>
              </a:spcBef>
              <a:spcAft>
                <a:spcPts val="0"/>
              </a:spcAft>
              <a:buSzPts val="1400"/>
              <a:buNone/>
            </a:pPr>
            <a:endParaRPr dirty="0"/>
          </a:p>
        </p:txBody>
      </p:sp>
      <p:sp>
        <p:nvSpPr>
          <p:cNvPr id="445" name="Google Shape;445;p43: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76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100664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40"/>
          <p:cNvSpPr txBox="1">
            <a:spLocks noGrp="1"/>
          </p:cNvSpPr>
          <p:nvPr>
            <p:ph type="title"/>
          </p:nvPr>
        </p:nvSpPr>
        <p:spPr>
          <a:xfrm>
            <a:off x="261620" y="139700"/>
            <a:ext cx="11668759" cy="299402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0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40"/>
          <p:cNvSpPr txBox="1">
            <a:spLocks noGrp="1"/>
          </p:cNvSpPr>
          <p:nvPr>
            <p:ph type="body" idx="1"/>
          </p:nvPr>
        </p:nvSpPr>
        <p:spPr>
          <a:xfrm>
            <a:off x="1329829" y="1158887"/>
            <a:ext cx="9532340" cy="17653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6000" b="0" i="0">
                <a:solidFill>
                  <a:schemeClr val="dk1"/>
                </a:solidFill>
                <a:latin typeface="Calibri"/>
                <a:ea typeface="Calibri"/>
                <a:cs typeface="Calibri"/>
                <a:sym typeface="Calibri"/>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4" name="Google Shape;14;p40"/>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40"/>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40"/>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7"/>
        <p:cNvGrpSpPr/>
        <p:nvPr/>
      </p:nvGrpSpPr>
      <p:grpSpPr>
        <a:xfrm>
          <a:off x="0" y="0"/>
          <a:ext cx="0" cy="0"/>
          <a:chOff x="0" y="0"/>
          <a:chExt cx="0" cy="0"/>
        </a:xfrm>
      </p:grpSpPr>
      <p:sp>
        <p:nvSpPr>
          <p:cNvPr id="18" name="Google Shape;18;p41"/>
          <p:cNvSpPr txBox="1">
            <a:spLocks noGrp="1"/>
          </p:cNvSpPr>
          <p:nvPr>
            <p:ph type="title"/>
          </p:nvPr>
        </p:nvSpPr>
        <p:spPr>
          <a:xfrm>
            <a:off x="261620" y="139700"/>
            <a:ext cx="11668759" cy="299402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0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4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4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2"/>
        <p:cNvGrpSpPr/>
        <p:nvPr/>
      </p:nvGrpSpPr>
      <p:grpSpPr>
        <a:xfrm>
          <a:off x="0" y="0"/>
          <a:ext cx="0" cy="0"/>
          <a:chOff x="0" y="0"/>
          <a:chExt cx="0" cy="0"/>
        </a:xfrm>
      </p:grpSpPr>
      <p:sp>
        <p:nvSpPr>
          <p:cNvPr id="23" name="Google Shape;23;p42"/>
          <p:cNvSpPr txBox="1">
            <a:spLocks noGrp="1"/>
          </p:cNvSpPr>
          <p:nvPr>
            <p:ph type="ctrTitle"/>
          </p:nvPr>
        </p:nvSpPr>
        <p:spPr>
          <a:xfrm>
            <a:off x="261620" y="139700"/>
            <a:ext cx="11668759" cy="6959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b="0" i="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2"/>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43"/>
          <p:cNvSpPr txBox="1">
            <a:spLocks noGrp="1"/>
          </p:cNvSpPr>
          <p:nvPr>
            <p:ph type="title"/>
          </p:nvPr>
        </p:nvSpPr>
        <p:spPr>
          <a:xfrm>
            <a:off x="261620" y="139700"/>
            <a:ext cx="11668759" cy="299402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0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3"/>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43"/>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4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4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4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5"/>
        <p:cNvGrpSpPr/>
        <p:nvPr/>
      </p:nvGrpSpPr>
      <p:grpSpPr>
        <a:xfrm>
          <a:off x="0" y="0"/>
          <a:ext cx="0" cy="0"/>
          <a:chOff x="0" y="0"/>
          <a:chExt cx="0" cy="0"/>
        </a:xfrm>
      </p:grpSpPr>
      <p:sp>
        <p:nvSpPr>
          <p:cNvPr id="36" name="Google Shape;36;p4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4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4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9"/>
          <p:cNvSpPr txBox="1">
            <a:spLocks noGrp="1"/>
          </p:cNvSpPr>
          <p:nvPr>
            <p:ph type="title"/>
          </p:nvPr>
        </p:nvSpPr>
        <p:spPr>
          <a:xfrm>
            <a:off x="261620" y="139700"/>
            <a:ext cx="11668759" cy="299402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9"/>
          <p:cNvSpPr txBox="1">
            <a:spLocks noGrp="1"/>
          </p:cNvSpPr>
          <p:nvPr>
            <p:ph type="body" idx="1"/>
          </p:nvPr>
        </p:nvSpPr>
        <p:spPr>
          <a:xfrm>
            <a:off x="1329829" y="1158887"/>
            <a:ext cx="9532340" cy="17653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8" name="Google Shape;8;p39"/>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39"/>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39"/>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18/10/relationships/comments" Target="../comments/modernComment_100_0.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18/10/relationships/comments" Target="../comments/modernComment_100_0.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microsoft.com/office/2018/10/relationships/comments" Target="../comments/modernComment_100_0.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2.png"/><Relationship Id="rId10" Type="http://schemas.microsoft.com/office/2018/10/relationships/comments" Target="../comments/modernComment_103_0.xml"/><Relationship Id="rId4" Type="http://schemas.openxmlformats.org/officeDocument/2006/relationships/image" Target="../media/image7.jp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18/10/relationships/comments" Target="../comments/modernComment_128_63BF41EA.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18/10/relationships/comments" Target="../comments/modernComment_128_63BF41EA.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microsoft.com/office/2018/10/relationships/comments" Target="../comments/modernComment_128_63BF41EA.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microsoft.com/office/2018/10/relationships/comments" Target="../comments/modernComment_12D_A216C88E.xml"/><Relationship Id="rId4" Type="http://schemas.openxmlformats.org/officeDocument/2006/relationships/image" Target="../media/image310.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32.jpe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microsoft.com/office/2018/10/relationships/comments" Target="../comments/modernComment_12F_DC21FDAE.xml"/><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microsoft.com/office/2018/10/relationships/comments" Target="../comments/modernComment_12F_DC21FDAE.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microsoft.com/office/2018/10/relationships/comments" Target="../comments/modernComment_130_6A688700.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7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1.xml"/><Relationship Id="rId5" Type="http://schemas.microsoft.com/office/2018/10/relationships/comments" Target="../comments/modernComment_137_58F04459.xml"/><Relationship Id="rId4" Type="http://schemas.openxmlformats.org/officeDocument/2006/relationships/image" Target="../media/image52.png"/></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g21ca0cebfd7_0_0"/>
          <p:cNvSpPr txBox="1">
            <a:spLocks noGrp="1"/>
          </p:cNvSpPr>
          <p:nvPr>
            <p:ph type="title"/>
          </p:nvPr>
        </p:nvSpPr>
        <p:spPr>
          <a:xfrm>
            <a:off x="261620" y="139700"/>
            <a:ext cx="11668800" cy="1061829"/>
          </a:xfrm>
          <a:prstGeom prst="rect">
            <a:avLst/>
          </a:prstGeom>
        </p:spPr>
        <p:txBody>
          <a:bodyPr spcFirstLastPara="1" wrap="square" lIns="0" tIns="0" rIns="0" bIns="0" anchor="t" anchorCtr="0">
            <a:spAutoFit/>
          </a:bodyPr>
          <a:lstStyle/>
          <a:p>
            <a:pPr marL="0" lvl="0" indent="0" algn="ctr" rtl="0">
              <a:lnSpc>
                <a:spcPct val="115000"/>
              </a:lnSpc>
              <a:spcBef>
                <a:spcPts val="0"/>
              </a:spcBef>
              <a:spcAft>
                <a:spcPts val="0"/>
              </a:spcAft>
              <a:buClr>
                <a:schemeClr val="dk1"/>
              </a:buClr>
              <a:buSzPts val="1100"/>
              <a:buFont typeface="Arial"/>
              <a:buNone/>
            </a:pPr>
            <a:r>
              <a:rPr lang="en-US" dirty="0">
                <a:solidFill>
                  <a:srgbClr val="0F0F0F"/>
                </a:solidFill>
                <a:highlight>
                  <a:srgbClr val="FFFFFF"/>
                </a:highlight>
                <a:latin typeface="+mj-lt"/>
                <a:ea typeface="Roboto"/>
                <a:cs typeface="Roboto"/>
                <a:sym typeface="Roboto"/>
              </a:rPr>
              <a:t>Convolutional Neural </a:t>
            </a:r>
            <a:r>
              <a:rPr lang="en-US" dirty="0" smtClean="0">
                <a:solidFill>
                  <a:srgbClr val="0F0F0F"/>
                </a:solidFill>
                <a:highlight>
                  <a:srgbClr val="FFFFFF"/>
                </a:highlight>
                <a:latin typeface="+mj-lt"/>
                <a:ea typeface="Roboto"/>
                <a:cs typeface="Roboto"/>
                <a:sym typeface="Roboto"/>
              </a:rPr>
              <a:t>Networks</a:t>
            </a:r>
            <a:endParaRPr dirty="0">
              <a:solidFill>
                <a:srgbClr val="0F0F0F"/>
              </a:solidFill>
              <a:highlight>
                <a:srgbClr val="FFFFFF"/>
              </a:highlight>
              <a:latin typeface="+mj-lt"/>
              <a:ea typeface="Roboto"/>
              <a:cs typeface="Roboto"/>
              <a:sym typeface="Roboto"/>
            </a:endParaRPr>
          </a:p>
        </p:txBody>
      </p:sp>
      <p:sp>
        <p:nvSpPr>
          <p:cNvPr id="44" name="Google Shape;44;g21ca0cebfd7_0_0"/>
          <p:cNvSpPr txBox="1">
            <a:spLocks noGrp="1"/>
          </p:cNvSpPr>
          <p:nvPr>
            <p:ph type="body" idx="1"/>
          </p:nvPr>
        </p:nvSpPr>
        <p:spPr>
          <a:xfrm>
            <a:off x="4493342" y="1746245"/>
            <a:ext cx="7551174" cy="4979019"/>
          </a:xfrm>
          <a:prstGeom prst="rect">
            <a:avLst/>
          </a:prstGeom>
        </p:spPr>
        <p:txBody>
          <a:bodyPr spcFirstLastPara="1" wrap="square" lIns="0" tIns="0" rIns="0" bIns="0" anchor="t" anchorCtr="0">
            <a:noAutofit/>
          </a:bodyPr>
          <a:lstStyle/>
          <a:p>
            <a:pPr marL="12700" indent="0">
              <a:buClr>
                <a:schemeClr val="dk1"/>
              </a:buClr>
            </a:pPr>
            <a:r>
              <a:rPr lang="en-US" sz="2400" b="1" dirty="0" smtClean="0">
                <a:latin typeface="+mj-lt"/>
              </a:rPr>
              <a:t>Learning Objectives:</a:t>
            </a:r>
          </a:p>
          <a:p>
            <a:pPr marL="355600" indent="-342900">
              <a:buClr>
                <a:schemeClr val="dk1"/>
              </a:buClr>
              <a:buSzPct val="100000"/>
              <a:buFont typeface="Arial" panose="020B0604020202020204" pitchFamily="34" charset="0"/>
              <a:buChar char="•"/>
            </a:pPr>
            <a:r>
              <a:rPr lang="en-US" sz="2400" dirty="0" smtClean="0">
                <a:latin typeface="+mj-lt"/>
              </a:rPr>
              <a:t>Explain </a:t>
            </a:r>
            <a:r>
              <a:rPr lang="en-US" sz="2400" dirty="0">
                <a:latin typeface="+mj-lt"/>
              </a:rPr>
              <a:t>the convolution operation</a:t>
            </a:r>
          </a:p>
          <a:p>
            <a:pPr marL="355600" indent="-342900">
              <a:buClr>
                <a:schemeClr val="dk1"/>
              </a:buClr>
              <a:buSzPct val="100000"/>
              <a:buFont typeface="Arial" panose="020B0604020202020204" pitchFamily="34" charset="0"/>
              <a:buChar char="•"/>
            </a:pPr>
            <a:r>
              <a:rPr lang="en-US" sz="2400" dirty="0">
                <a:latin typeface="+mj-lt"/>
              </a:rPr>
              <a:t>Apply two different types of pooling operations</a:t>
            </a:r>
          </a:p>
          <a:p>
            <a:pPr marL="355600" indent="-342900">
              <a:buClr>
                <a:schemeClr val="dk1"/>
              </a:buClr>
              <a:buSzPct val="100000"/>
              <a:buFont typeface="Arial" panose="020B0604020202020204" pitchFamily="34" charset="0"/>
              <a:buChar char="•"/>
            </a:pPr>
            <a:r>
              <a:rPr lang="en-US" sz="2400" dirty="0">
                <a:latin typeface="+mj-lt"/>
              </a:rPr>
              <a:t>Identify the components used in a convolutional neural network (padding, stride, filter, ...) and their purpose</a:t>
            </a:r>
          </a:p>
          <a:p>
            <a:pPr marL="355600" indent="-342900">
              <a:buClr>
                <a:schemeClr val="dk1"/>
              </a:buClr>
              <a:buSzPct val="100000"/>
              <a:buFont typeface="Arial" panose="020B0604020202020204" pitchFamily="34" charset="0"/>
              <a:buChar char="•"/>
            </a:pPr>
            <a:r>
              <a:rPr lang="en-US" sz="2400" dirty="0">
                <a:latin typeface="+mj-lt"/>
              </a:rPr>
              <a:t>Build a convolutional neural network</a:t>
            </a:r>
          </a:p>
          <a:p>
            <a:pPr marL="355600" indent="-342900">
              <a:buClr>
                <a:schemeClr val="dk1"/>
              </a:buClr>
              <a:buSzPct val="100000"/>
              <a:buFont typeface="Arial" panose="020B0604020202020204" pitchFamily="34" charset="0"/>
              <a:buChar char="•"/>
            </a:pPr>
            <a:r>
              <a:rPr lang="en-US" sz="2400" dirty="0">
                <a:latin typeface="+mj-lt"/>
              </a:rPr>
              <a:t>Implement convolutional and pooling layers in </a:t>
            </a:r>
            <a:r>
              <a:rPr lang="en-US" sz="2400" dirty="0" err="1">
                <a:latin typeface="+mj-lt"/>
              </a:rPr>
              <a:t>numpy</a:t>
            </a:r>
            <a:r>
              <a:rPr lang="en-US" sz="2400" dirty="0">
                <a:latin typeface="+mj-lt"/>
              </a:rPr>
              <a:t>, including forward propagation</a:t>
            </a:r>
          </a:p>
          <a:p>
            <a:pPr marL="355600" indent="-342900">
              <a:buClr>
                <a:schemeClr val="dk1"/>
              </a:buClr>
              <a:buSzPct val="100000"/>
              <a:buFont typeface="Arial" panose="020B0604020202020204" pitchFamily="34" charset="0"/>
              <a:buChar char="•"/>
            </a:pPr>
            <a:r>
              <a:rPr lang="en-US" sz="2400" dirty="0">
                <a:latin typeface="+mj-lt"/>
              </a:rPr>
              <a:t>Implement helper functions to use when implementing a </a:t>
            </a:r>
            <a:r>
              <a:rPr lang="en-US" sz="2400" dirty="0" err="1">
                <a:latin typeface="+mj-lt"/>
              </a:rPr>
              <a:t>TensorFlow</a:t>
            </a:r>
            <a:r>
              <a:rPr lang="en-US" sz="2400" dirty="0">
                <a:latin typeface="+mj-lt"/>
              </a:rPr>
              <a:t> model</a:t>
            </a:r>
          </a:p>
          <a:p>
            <a:pPr marL="355600" indent="-342900">
              <a:buClr>
                <a:schemeClr val="dk1"/>
              </a:buClr>
              <a:buSzPct val="100000"/>
              <a:buFont typeface="Arial" panose="020B0604020202020204" pitchFamily="34" charset="0"/>
              <a:buChar char="•"/>
            </a:pPr>
            <a:r>
              <a:rPr lang="en-US" sz="2400" dirty="0">
                <a:latin typeface="+mj-lt"/>
              </a:rPr>
              <a:t>Create a mood </a:t>
            </a:r>
            <a:r>
              <a:rPr lang="en-US" sz="2400" dirty="0" err="1">
                <a:latin typeface="+mj-lt"/>
              </a:rPr>
              <a:t>classifer</a:t>
            </a:r>
            <a:r>
              <a:rPr lang="en-US" sz="2400" dirty="0">
                <a:latin typeface="+mj-lt"/>
              </a:rPr>
              <a:t> using the TF </a:t>
            </a:r>
            <a:r>
              <a:rPr lang="en-US" sz="2400" dirty="0" err="1">
                <a:latin typeface="+mj-lt"/>
              </a:rPr>
              <a:t>Keras</a:t>
            </a:r>
            <a:r>
              <a:rPr lang="en-US" sz="2400" dirty="0">
                <a:latin typeface="+mj-lt"/>
              </a:rPr>
              <a:t> Sequential </a:t>
            </a:r>
            <a:r>
              <a:rPr lang="en-US" sz="2400" dirty="0" smtClean="0">
                <a:latin typeface="+mj-lt"/>
              </a:rPr>
              <a:t>API</a:t>
            </a:r>
            <a:endParaRPr lang="en-US" sz="2400" dirty="0">
              <a:latin typeface="+mj-lt"/>
            </a:endParaRPr>
          </a:p>
        </p:txBody>
      </p:sp>
      <p:pic>
        <p:nvPicPr>
          <p:cNvPr id="45" name="Google Shape;45;g21ca0cebfd7_0_0"/>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extLst mod="1">
    <p:ext uri="{6950BFC3-D8DA-4A85-94F7-54DA5524770B}">
      <p188:commentRel xmlns="" xmlns:p188="http://schemas.microsoft.com/office/powerpoint/2018/8/main" r:id="rId4"/>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g21ca0cebfd7_0_0"/>
          <p:cNvSpPr txBox="1">
            <a:spLocks noGrp="1"/>
          </p:cNvSpPr>
          <p:nvPr>
            <p:ph type="title"/>
          </p:nvPr>
        </p:nvSpPr>
        <p:spPr>
          <a:xfrm>
            <a:off x="261620" y="139700"/>
            <a:ext cx="11668800" cy="1985700"/>
          </a:xfrm>
          <a:prstGeom prst="rect">
            <a:avLst/>
          </a:prstGeom>
        </p:spPr>
        <p:txBody>
          <a:bodyPr spcFirstLastPara="1" wrap="square" lIns="0" tIns="0" rIns="0" bIns="0" anchor="t" anchorCtr="0">
            <a:spAutoFit/>
          </a:bodyPr>
          <a:lstStyle/>
          <a:p>
            <a:pPr marL="0" lvl="0" indent="0" algn="l" rtl="0">
              <a:lnSpc>
                <a:spcPct val="115000"/>
              </a:lnSpc>
              <a:spcBef>
                <a:spcPts val="0"/>
              </a:spcBef>
              <a:spcAft>
                <a:spcPts val="0"/>
              </a:spcAft>
              <a:buClr>
                <a:schemeClr val="dk1"/>
              </a:buClr>
              <a:buSzPts val="1100"/>
              <a:buFont typeface="Arial"/>
              <a:buNone/>
            </a:pPr>
            <a:r>
              <a:rPr lang="en-US" b="1" dirty="0">
                <a:solidFill>
                  <a:srgbClr val="0F0F0F"/>
                </a:solidFill>
                <a:highlight>
                  <a:srgbClr val="FFFFFF"/>
                </a:highlight>
                <a:latin typeface="+mj-lt"/>
                <a:ea typeface="Roboto"/>
                <a:cs typeface="Roboto"/>
                <a:sym typeface="Roboto"/>
              </a:rPr>
              <a:t>Convolutional Neural Networks</a:t>
            </a:r>
            <a:endParaRPr b="1" dirty="0">
              <a:solidFill>
                <a:srgbClr val="0F0F0F"/>
              </a:solidFill>
              <a:highlight>
                <a:srgbClr val="FFFFFF"/>
              </a:highlight>
              <a:latin typeface="+mj-lt"/>
              <a:ea typeface="Roboto"/>
              <a:cs typeface="Roboto"/>
              <a:sym typeface="Roboto"/>
            </a:endParaRPr>
          </a:p>
          <a:p>
            <a:pPr marL="0" lvl="0" indent="0" algn="l" rtl="0">
              <a:spcBef>
                <a:spcPts val="0"/>
              </a:spcBef>
              <a:spcAft>
                <a:spcPts val="0"/>
              </a:spcAft>
              <a:buNone/>
            </a:pPr>
            <a:endParaRPr dirty="0">
              <a:latin typeface="+mj-lt"/>
            </a:endParaRPr>
          </a:p>
        </p:txBody>
      </p:sp>
      <p:sp>
        <p:nvSpPr>
          <p:cNvPr id="44" name="Google Shape;44;g21ca0cebfd7_0_0"/>
          <p:cNvSpPr txBox="1">
            <a:spLocks noGrp="1"/>
          </p:cNvSpPr>
          <p:nvPr>
            <p:ph type="body" idx="1"/>
          </p:nvPr>
        </p:nvSpPr>
        <p:spPr>
          <a:xfrm>
            <a:off x="4493342" y="1746246"/>
            <a:ext cx="7541342" cy="4113000"/>
          </a:xfrm>
          <a:prstGeom prst="rect">
            <a:avLst/>
          </a:prstGeom>
        </p:spPr>
        <p:txBody>
          <a:bodyPr spcFirstLastPara="1" wrap="square" lIns="0" tIns="0" rIns="0" bIns="0" anchor="t" anchorCtr="0">
            <a:noAutofit/>
          </a:bodyPr>
          <a:lstStyle/>
          <a:p>
            <a:pPr marL="12700" indent="0">
              <a:buClr>
                <a:schemeClr val="dk1"/>
              </a:buClr>
            </a:pPr>
            <a:r>
              <a:rPr lang="en-US" sz="2400" b="1" dirty="0"/>
              <a:t>Learning </a:t>
            </a:r>
            <a:r>
              <a:rPr lang="en-US" sz="2400" b="1" dirty="0" smtClean="0"/>
              <a:t>Objectives:</a:t>
            </a:r>
            <a:endParaRPr lang="en-US" sz="2400" dirty="0" smtClean="0">
              <a:latin typeface="+mj-lt"/>
            </a:endParaRPr>
          </a:p>
          <a:p>
            <a:pPr marL="355600" indent="-342900">
              <a:buClr>
                <a:schemeClr val="dk1"/>
              </a:buClr>
              <a:buFont typeface="Arial" panose="020B0604020202020204" pitchFamily="34" charset="0"/>
              <a:buChar char="•"/>
            </a:pPr>
            <a:r>
              <a:rPr lang="en-US" sz="2400" dirty="0" smtClean="0">
                <a:latin typeface="+mj-lt"/>
              </a:rPr>
              <a:t>Build </a:t>
            </a:r>
            <a:r>
              <a:rPr lang="en-US" sz="2400" dirty="0">
                <a:latin typeface="+mj-lt"/>
              </a:rPr>
              <a:t>a </a:t>
            </a:r>
            <a:r>
              <a:rPr lang="en-US" sz="2400" dirty="0" err="1">
                <a:latin typeface="+mj-lt"/>
              </a:rPr>
              <a:t>ConvNet</a:t>
            </a:r>
            <a:r>
              <a:rPr lang="en-US" sz="2400" dirty="0">
                <a:latin typeface="+mj-lt"/>
              </a:rPr>
              <a:t> to identify sign language digits using the TF </a:t>
            </a:r>
            <a:r>
              <a:rPr lang="en-US" sz="2400" dirty="0" err="1">
                <a:latin typeface="+mj-lt"/>
              </a:rPr>
              <a:t>Keras</a:t>
            </a:r>
            <a:r>
              <a:rPr lang="en-US" sz="2400" dirty="0">
                <a:latin typeface="+mj-lt"/>
              </a:rPr>
              <a:t> Functional API</a:t>
            </a:r>
          </a:p>
          <a:p>
            <a:pPr marL="355600" indent="-342900">
              <a:buClr>
                <a:schemeClr val="dk1"/>
              </a:buClr>
              <a:buFont typeface="Arial" panose="020B0604020202020204" pitchFamily="34" charset="0"/>
              <a:buChar char="•"/>
            </a:pPr>
            <a:r>
              <a:rPr lang="en-US" sz="2400" dirty="0">
                <a:latin typeface="+mj-lt"/>
              </a:rPr>
              <a:t>Build and train a </a:t>
            </a:r>
            <a:r>
              <a:rPr lang="en-US" sz="2400" dirty="0" err="1">
                <a:latin typeface="+mj-lt"/>
              </a:rPr>
              <a:t>ConvNet</a:t>
            </a:r>
            <a:r>
              <a:rPr lang="en-US" sz="2400" dirty="0">
                <a:latin typeface="+mj-lt"/>
              </a:rPr>
              <a:t> in </a:t>
            </a:r>
            <a:r>
              <a:rPr lang="en-US" sz="2400" dirty="0" err="1">
                <a:latin typeface="+mj-lt"/>
              </a:rPr>
              <a:t>TensorFlow</a:t>
            </a:r>
            <a:r>
              <a:rPr lang="en-US" sz="2400" dirty="0">
                <a:latin typeface="+mj-lt"/>
              </a:rPr>
              <a:t> for a binary classification problem</a:t>
            </a:r>
          </a:p>
          <a:p>
            <a:pPr marL="355600" indent="-342900">
              <a:buClr>
                <a:schemeClr val="dk1"/>
              </a:buClr>
              <a:buFont typeface="Arial" panose="020B0604020202020204" pitchFamily="34" charset="0"/>
              <a:buChar char="•"/>
            </a:pPr>
            <a:r>
              <a:rPr lang="en-US" sz="2400" dirty="0">
                <a:latin typeface="+mj-lt"/>
              </a:rPr>
              <a:t>Build and train a </a:t>
            </a:r>
            <a:r>
              <a:rPr lang="en-US" sz="2400" dirty="0" err="1">
                <a:latin typeface="+mj-lt"/>
              </a:rPr>
              <a:t>ConvNet</a:t>
            </a:r>
            <a:r>
              <a:rPr lang="en-US" sz="2400" dirty="0">
                <a:latin typeface="+mj-lt"/>
              </a:rPr>
              <a:t> in </a:t>
            </a:r>
            <a:r>
              <a:rPr lang="en-US" sz="2400" dirty="0" err="1">
                <a:latin typeface="+mj-lt"/>
              </a:rPr>
              <a:t>TensorFlow</a:t>
            </a:r>
            <a:r>
              <a:rPr lang="en-US" sz="2400" dirty="0">
                <a:latin typeface="+mj-lt"/>
              </a:rPr>
              <a:t> for a multiclass classification problem</a:t>
            </a:r>
          </a:p>
          <a:p>
            <a:pPr marL="355600" indent="-342900">
              <a:buClr>
                <a:schemeClr val="dk1"/>
              </a:buClr>
              <a:buFont typeface="Arial" panose="020B0604020202020204" pitchFamily="34" charset="0"/>
              <a:buChar char="•"/>
            </a:pPr>
            <a:r>
              <a:rPr lang="en-US" sz="2400" dirty="0">
                <a:latin typeface="+mj-lt"/>
              </a:rPr>
              <a:t>Explain different use cases for the Sequential and Functional APIs</a:t>
            </a:r>
            <a:endParaRPr sz="2400" dirty="0">
              <a:latin typeface="+mj-lt"/>
            </a:endParaRPr>
          </a:p>
        </p:txBody>
      </p:sp>
      <p:pic>
        <p:nvPicPr>
          <p:cNvPr id="45" name="Google Shape;45;g21ca0cebfd7_0_0"/>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2559888602"/>
      </p:ext>
    </p:extLst>
  </p:cSld>
  <p:clrMapOvr>
    <a:masterClrMapping/>
  </p:clrMapOvr>
  <p:extLst mod="1">
    <p:ext uri="{6950BFC3-D8DA-4A85-94F7-54DA5524770B}">
      <p188:commentRel xmlns="" xmlns:p188="http://schemas.microsoft.com/office/powerpoint/2018/8/main" r:id="rId4"/>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g21ca0cebfd7_0_0"/>
          <p:cNvSpPr txBox="1">
            <a:spLocks noGrp="1"/>
          </p:cNvSpPr>
          <p:nvPr>
            <p:ph type="title"/>
          </p:nvPr>
        </p:nvSpPr>
        <p:spPr>
          <a:xfrm>
            <a:off x="261620" y="139700"/>
            <a:ext cx="11668800" cy="1985700"/>
          </a:xfrm>
          <a:prstGeom prst="rect">
            <a:avLst/>
          </a:prstGeom>
        </p:spPr>
        <p:txBody>
          <a:bodyPr spcFirstLastPara="1" wrap="square" lIns="0" tIns="0" rIns="0" bIns="0" anchor="t" anchorCtr="0">
            <a:spAutoFit/>
          </a:bodyPr>
          <a:lstStyle/>
          <a:p>
            <a:pPr marL="0" lvl="0" indent="0" algn="l" rtl="0">
              <a:lnSpc>
                <a:spcPct val="115000"/>
              </a:lnSpc>
              <a:spcBef>
                <a:spcPts val="0"/>
              </a:spcBef>
              <a:spcAft>
                <a:spcPts val="0"/>
              </a:spcAft>
              <a:buClr>
                <a:schemeClr val="dk1"/>
              </a:buClr>
              <a:buSzPts val="1100"/>
              <a:buFont typeface="Arial"/>
              <a:buNone/>
            </a:pPr>
            <a:r>
              <a:rPr lang="en-US" b="1" dirty="0">
                <a:solidFill>
                  <a:srgbClr val="0F0F0F"/>
                </a:solidFill>
                <a:highlight>
                  <a:srgbClr val="FFFFFF"/>
                </a:highlight>
                <a:latin typeface="+mj-lt"/>
                <a:ea typeface="Roboto"/>
                <a:cs typeface="Roboto"/>
                <a:sym typeface="Roboto"/>
              </a:rPr>
              <a:t>Convolutional Neural Networks</a:t>
            </a:r>
            <a:endParaRPr b="1" dirty="0">
              <a:solidFill>
                <a:srgbClr val="0F0F0F"/>
              </a:solidFill>
              <a:highlight>
                <a:srgbClr val="FFFFFF"/>
              </a:highlight>
              <a:latin typeface="+mj-lt"/>
              <a:ea typeface="Roboto"/>
              <a:cs typeface="Roboto"/>
              <a:sym typeface="Roboto"/>
            </a:endParaRPr>
          </a:p>
          <a:p>
            <a:pPr marL="0" lvl="0" indent="0" algn="l" rtl="0">
              <a:spcBef>
                <a:spcPts val="0"/>
              </a:spcBef>
              <a:spcAft>
                <a:spcPts val="0"/>
              </a:spcAft>
              <a:buNone/>
            </a:pPr>
            <a:endParaRPr dirty="0">
              <a:latin typeface="+mj-lt"/>
            </a:endParaRPr>
          </a:p>
        </p:txBody>
      </p:sp>
      <p:sp>
        <p:nvSpPr>
          <p:cNvPr id="44" name="Google Shape;44;g21ca0cebfd7_0_0"/>
          <p:cNvSpPr txBox="1">
            <a:spLocks noGrp="1"/>
          </p:cNvSpPr>
          <p:nvPr>
            <p:ph type="body" idx="1"/>
          </p:nvPr>
        </p:nvSpPr>
        <p:spPr>
          <a:xfrm>
            <a:off x="5010876" y="2604577"/>
            <a:ext cx="6742200" cy="4113000"/>
          </a:xfrm>
          <a:prstGeom prst="rect">
            <a:avLst/>
          </a:prstGeom>
        </p:spPr>
        <p:txBody>
          <a:bodyPr spcFirstLastPara="1" wrap="square" lIns="0" tIns="0" rIns="0" bIns="0" anchor="t" anchorCtr="0">
            <a:noAutofit/>
          </a:bodyPr>
          <a:lstStyle/>
          <a:p>
            <a:pPr marL="12700" indent="0">
              <a:buClr>
                <a:schemeClr val="dk1"/>
              </a:buClr>
            </a:pPr>
            <a:r>
              <a:rPr lang="en-US" sz="2400" dirty="0" smtClean="0">
                <a:latin typeface="+mj-lt"/>
              </a:rPr>
              <a:t>1 </a:t>
            </a:r>
            <a:r>
              <a:rPr lang="en-US" sz="2400" dirty="0">
                <a:latin typeface="+mj-lt"/>
              </a:rPr>
              <a:t>Why </a:t>
            </a:r>
            <a:r>
              <a:rPr lang="en-US" sz="2400" dirty="0" smtClean="0">
                <a:latin typeface="+mj-lt"/>
              </a:rPr>
              <a:t>Convolutions Neural Networks?</a:t>
            </a:r>
          </a:p>
          <a:p>
            <a:pPr marL="12700" lvl="0" indent="0" algn="l" rtl="0">
              <a:spcBef>
                <a:spcPts val="0"/>
              </a:spcBef>
              <a:spcAft>
                <a:spcPts val="0"/>
              </a:spcAft>
              <a:buClr>
                <a:schemeClr val="dk1"/>
              </a:buClr>
              <a:buFont typeface="Arial"/>
              <a:buNone/>
            </a:pPr>
            <a:r>
              <a:rPr lang="en-US" sz="2400" dirty="0" smtClean="0">
                <a:latin typeface="+mj-lt"/>
              </a:rPr>
              <a:t>2 Computer </a:t>
            </a:r>
            <a:r>
              <a:rPr lang="en-US" sz="2400" dirty="0">
                <a:latin typeface="+mj-lt"/>
              </a:rPr>
              <a:t>vision</a:t>
            </a:r>
            <a:endParaRPr sz="2400" dirty="0">
              <a:latin typeface="+mj-lt"/>
            </a:endParaRPr>
          </a:p>
          <a:p>
            <a:pPr marL="0" lvl="0" indent="0" algn="l" rtl="0">
              <a:spcBef>
                <a:spcPts val="0"/>
              </a:spcBef>
              <a:spcAft>
                <a:spcPts val="0"/>
              </a:spcAft>
              <a:buNone/>
            </a:pPr>
            <a:r>
              <a:rPr lang="en-US" sz="2400" dirty="0">
                <a:latin typeface="+mj-lt"/>
              </a:rPr>
              <a:t>3</a:t>
            </a:r>
            <a:r>
              <a:rPr lang="en-US" sz="2400" dirty="0" smtClean="0">
                <a:latin typeface="+mj-lt"/>
              </a:rPr>
              <a:t> </a:t>
            </a:r>
            <a:r>
              <a:rPr lang="en-US" sz="2400" dirty="0">
                <a:latin typeface="+mj-lt"/>
              </a:rPr>
              <a:t>Edge detection example</a:t>
            </a:r>
            <a:endParaRPr sz="2400" dirty="0">
              <a:latin typeface="+mj-lt"/>
            </a:endParaRPr>
          </a:p>
          <a:p>
            <a:pPr marL="0" lvl="0" indent="0" algn="l" rtl="0">
              <a:spcBef>
                <a:spcPts val="0"/>
              </a:spcBef>
              <a:spcAft>
                <a:spcPts val="0"/>
              </a:spcAft>
              <a:buNone/>
            </a:pPr>
            <a:r>
              <a:rPr lang="en-US" sz="2400" dirty="0">
                <a:latin typeface="+mj-lt"/>
              </a:rPr>
              <a:t>4</a:t>
            </a:r>
            <a:r>
              <a:rPr lang="en-US" sz="2400" dirty="0" smtClean="0">
                <a:latin typeface="+mj-lt"/>
              </a:rPr>
              <a:t> </a:t>
            </a:r>
            <a:r>
              <a:rPr lang="en-US" sz="2400" dirty="0">
                <a:latin typeface="+mj-lt"/>
              </a:rPr>
              <a:t>More edge detection</a:t>
            </a:r>
            <a:endParaRPr sz="2400" dirty="0">
              <a:latin typeface="+mj-lt"/>
            </a:endParaRPr>
          </a:p>
          <a:p>
            <a:pPr marL="0" lvl="0" indent="0" algn="l" rtl="0">
              <a:spcBef>
                <a:spcPts val="0"/>
              </a:spcBef>
              <a:spcAft>
                <a:spcPts val="0"/>
              </a:spcAft>
              <a:buNone/>
            </a:pPr>
            <a:r>
              <a:rPr lang="en-US" sz="2400" dirty="0">
                <a:latin typeface="+mj-lt"/>
              </a:rPr>
              <a:t>5</a:t>
            </a:r>
            <a:r>
              <a:rPr lang="en-US" sz="2400" dirty="0" smtClean="0">
                <a:latin typeface="+mj-lt"/>
              </a:rPr>
              <a:t> </a:t>
            </a:r>
            <a:r>
              <a:rPr lang="en-US" sz="2400" dirty="0">
                <a:latin typeface="+mj-lt"/>
              </a:rPr>
              <a:t>Padding</a:t>
            </a:r>
            <a:endParaRPr sz="2400" dirty="0">
              <a:latin typeface="+mj-lt"/>
            </a:endParaRPr>
          </a:p>
          <a:p>
            <a:pPr marL="0" lvl="0" indent="0" algn="l" rtl="0">
              <a:spcBef>
                <a:spcPts val="0"/>
              </a:spcBef>
              <a:spcAft>
                <a:spcPts val="0"/>
              </a:spcAft>
              <a:buNone/>
            </a:pPr>
            <a:r>
              <a:rPr lang="en-US" sz="2400" dirty="0">
                <a:latin typeface="+mj-lt"/>
              </a:rPr>
              <a:t>6</a:t>
            </a:r>
            <a:r>
              <a:rPr lang="en-US" sz="2400" dirty="0" smtClean="0">
                <a:latin typeface="+mj-lt"/>
              </a:rPr>
              <a:t> </a:t>
            </a:r>
            <a:r>
              <a:rPr lang="en-US" sz="2400" dirty="0" err="1">
                <a:latin typeface="+mj-lt"/>
              </a:rPr>
              <a:t>Strided</a:t>
            </a:r>
            <a:r>
              <a:rPr lang="en-US" sz="2400" dirty="0">
                <a:latin typeface="+mj-lt"/>
              </a:rPr>
              <a:t> convolutions</a:t>
            </a:r>
            <a:endParaRPr sz="2400" dirty="0">
              <a:latin typeface="+mj-lt"/>
            </a:endParaRPr>
          </a:p>
          <a:p>
            <a:pPr marL="0" lvl="0" indent="0" algn="l" rtl="0">
              <a:spcBef>
                <a:spcPts val="0"/>
              </a:spcBef>
              <a:spcAft>
                <a:spcPts val="0"/>
              </a:spcAft>
              <a:buNone/>
            </a:pPr>
            <a:r>
              <a:rPr lang="en-US" sz="2400" dirty="0">
                <a:latin typeface="+mj-lt"/>
              </a:rPr>
              <a:t>7</a:t>
            </a:r>
            <a:r>
              <a:rPr lang="en-US" sz="2400" dirty="0" smtClean="0">
                <a:latin typeface="+mj-lt"/>
              </a:rPr>
              <a:t> </a:t>
            </a:r>
            <a:r>
              <a:rPr lang="en-US" sz="2400" dirty="0">
                <a:latin typeface="+mj-lt"/>
              </a:rPr>
              <a:t>Convolutions over volumes</a:t>
            </a:r>
            <a:endParaRPr sz="2400" dirty="0">
              <a:latin typeface="+mj-lt"/>
            </a:endParaRPr>
          </a:p>
          <a:p>
            <a:pPr marL="0" lvl="0" indent="0" algn="l" rtl="0">
              <a:spcBef>
                <a:spcPts val="0"/>
              </a:spcBef>
              <a:spcAft>
                <a:spcPts val="0"/>
              </a:spcAft>
              <a:buNone/>
            </a:pPr>
            <a:r>
              <a:rPr lang="en-US" sz="2400" dirty="0">
                <a:latin typeface="+mj-lt"/>
              </a:rPr>
              <a:t>8</a:t>
            </a:r>
            <a:r>
              <a:rPr lang="en-US" sz="2400" dirty="0" smtClean="0">
                <a:latin typeface="+mj-lt"/>
              </a:rPr>
              <a:t> </a:t>
            </a:r>
            <a:r>
              <a:rPr lang="en-US" sz="2400" dirty="0">
                <a:latin typeface="+mj-lt"/>
              </a:rPr>
              <a:t>One layer of a convolutional network</a:t>
            </a:r>
            <a:endParaRPr sz="2400" dirty="0">
              <a:latin typeface="+mj-lt"/>
            </a:endParaRPr>
          </a:p>
          <a:p>
            <a:pPr marL="0" lvl="0" indent="0" algn="l" rtl="0">
              <a:spcBef>
                <a:spcPts val="0"/>
              </a:spcBef>
              <a:spcAft>
                <a:spcPts val="0"/>
              </a:spcAft>
              <a:buNone/>
            </a:pPr>
            <a:r>
              <a:rPr lang="en-US" sz="2400" dirty="0">
                <a:latin typeface="+mj-lt"/>
              </a:rPr>
              <a:t>9</a:t>
            </a:r>
            <a:r>
              <a:rPr lang="en-US" sz="2400" dirty="0" smtClean="0">
                <a:latin typeface="+mj-lt"/>
              </a:rPr>
              <a:t> </a:t>
            </a:r>
            <a:r>
              <a:rPr lang="en-US" sz="2400" dirty="0">
                <a:latin typeface="+mj-lt"/>
              </a:rPr>
              <a:t>A simple convolution network example</a:t>
            </a:r>
            <a:endParaRPr sz="2400" dirty="0">
              <a:latin typeface="+mj-lt"/>
            </a:endParaRPr>
          </a:p>
          <a:p>
            <a:pPr marL="0" lvl="0" indent="0" algn="l" rtl="0">
              <a:spcBef>
                <a:spcPts val="0"/>
              </a:spcBef>
              <a:spcAft>
                <a:spcPts val="0"/>
              </a:spcAft>
              <a:buNone/>
            </a:pPr>
            <a:r>
              <a:rPr lang="en-US" sz="2400" dirty="0" smtClean="0">
                <a:latin typeface="+mj-lt"/>
              </a:rPr>
              <a:t>10 </a:t>
            </a:r>
            <a:r>
              <a:rPr lang="en-US" sz="2400" dirty="0">
                <a:latin typeface="+mj-lt"/>
              </a:rPr>
              <a:t>Pooling layers</a:t>
            </a:r>
            <a:endParaRPr sz="2400" dirty="0">
              <a:latin typeface="+mj-lt"/>
            </a:endParaRPr>
          </a:p>
          <a:p>
            <a:pPr marL="0" lvl="0" indent="0" algn="l" rtl="0">
              <a:spcBef>
                <a:spcPts val="0"/>
              </a:spcBef>
              <a:spcAft>
                <a:spcPts val="0"/>
              </a:spcAft>
              <a:buNone/>
            </a:pPr>
            <a:r>
              <a:rPr lang="en-US" sz="2400" dirty="0" smtClean="0">
                <a:latin typeface="+mj-lt"/>
              </a:rPr>
              <a:t>11 Convolutional </a:t>
            </a:r>
            <a:r>
              <a:rPr lang="en-US" sz="2400" dirty="0">
                <a:latin typeface="+mj-lt"/>
              </a:rPr>
              <a:t>neural network example</a:t>
            </a:r>
            <a:endParaRPr sz="2400" dirty="0">
              <a:latin typeface="+mj-lt"/>
            </a:endParaRPr>
          </a:p>
          <a:p>
            <a:pPr marL="0" lvl="0" indent="0" algn="l" rtl="0">
              <a:spcBef>
                <a:spcPts val="0"/>
              </a:spcBef>
              <a:spcAft>
                <a:spcPts val="0"/>
              </a:spcAft>
              <a:buNone/>
            </a:pPr>
            <a:endParaRPr sz="6600" dirty="0">
              <a:latin typeface="+mj-lt"/>
            </a:endParaRPr>
          </a:p>
          <a:p>
            <a:pPr marL="0" lvl="0" indent="0" algn="l" rtl="0">
              <a:spcBef>
                <a:spcPts val="0"/>
              </a:spcBef>
              <a:spcAft>
                <a:spcPts val="0"/>
              </a:spcAft>
              <a:buNone/>
            </a:pPr>
            <a:endParaRPr sz="6600" dirty="0">
              <a:latin typeface="+mj-lt"/>
            </a:endParaRPr>
          </a:p>
          <a:p>
            <a:pPr marL="0" lvl="0" indent="0" algn="l" rtl="0">
              <a:spcBef>
                <a:spcPts val="0"/>
              </a:spcBef>
              <a:spcAft>
                <a:spcPts val="0"/>
              </a:spcAft>
              <a:buNone/>
            </a:pPr>
            <a:endParaRPr sz="6600" dirty="0">
              <a:latin typeface="+mj-lt"/>
            </a:endParaRPr>
          </a:p>
          <a:p>
            <a:pPr marL="0" lvl="0" indent="0" algn="l" rtl="0">
              <a:spcBef>
                <a:spcPts val="0"/>
              </a:spcBef>
              <a:spcAft>
                <a:spcPts val="0"/>
              </a:spcAft>
              <a:buNone/>
            </a:pPr>
            <a:endParaRPr sz="6600" dirty="0">
              <a:latin typeface="+mj-lt"/>
            </a:endParaRPr>
          </a:p>
          <a:p>
            <a:pPr marL="0" lvl="0" indent="0" algn="l" rtl="0">
              <a:spcBef>
                <a:spcPts val="0"/>
              </a:spcBef>
              <a:spcAft>
                <a:spcPts val="0"/>
              </a:spcAft>
              <a:buNone/>
            </a:pPr>
            <a:endParaRPr sz="6600" dirty="0">
              <a:latin typeface="+mj-lt"/>
            </a:endParaRPr>
          </a:p>
          <a:p>
            <a:pPr marL="0" lvl="0" indent="0" algn="l" rtl="0">
              <a:spcBef>
                <a:spcPts val="0"/>
              </a:spcBef>
              <a:spcAft>
                <a:spcPts val="0"/>
              </a:spcAft>
              <a:buNone/>
            </a:pPr>
            <a:endParaRPr dirty="0">
              <a:latin typeface="+mj-lt"/>
            </a:endParaRPr>
          </a:p>
        </p:txBody>
      </p:sp>
      <p:pic>
        <p:nvPicPr>
          <p:cNvPr id="45" name="Google Shape;45;g21ca0cebfd7_0_0"/>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1675710917"/>
      </p:ext>
    </p:extLst>
  </p:cSld>
  <p:clrMapOvr>
    <a:masterClrMapping/>
  </p:clrMapOvr>
  <p:extLst mod="1">
    <p:ext uri="{6950BFC3-D8DA-4A85-94F7-54DA5524770B}">
      <p188:commentRel xmlns="" xmlns:p188="http://schemas.microsoft.com/office/powerpoint/2018/8/main" r:id="rId4"/>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36"/>
          <p:cNvSpPr txBox="1">
            <a:spLocks noGrp="1"/>
          </p:cNvSpPr>
          <p:nvPr>
            <p:ph type="body" idx="1"/>
          </p:nvPr>
        </p:nvSpPr>
        <p:spPr>
          <a:xfrm>
            <a:off x="77995" y="-125945"/>
            <a:ext cx="11332800" cy="3138936"/>
          </a:xfrm>
          <a:prstGeom prst="rect">
            <a:avLst/>
          </a:prstGeom>
          <a:noFill/>
          <a:ln>
            <a:noFill/>
          </a:ln>
        </p:spPr>
        <p:txBody>
          <a:bodyPr spcFirstLastPara="1" wrap="square" lIns="0" tIns="1133475" rIns="0" bIns="0" anchor="t" anchorCtr="0">
            <a:spAutoFit/>
          </a:bodyPr>
          <a:lstStyle/>
          <a:p>
            <a:pPr marL="5466715" marR="5080" lvl="0" indent="454658" algn="l" rtl="0">
              <a:lnSpc>
                <a:spcPct val="108333"/>
              </a:lnSpc>
              <a:spcBef>
                <a:spcPts val="0"/>
              </a:spcBef>
              <a:spcAft>
                <a:spcPts val="0"/>
              </a:spcAft>
              <a:buNone/>
            </a:pPr>
            <a:r>
              <a:rPr lang="en-US" dirty="0">
                <a:latin typeface="+mj-lt"/>
              </a:rPr>
              <a:t>Convolutional Neural Networks</a:t>
            </a:r>
            <a:endParaRPr dirty="0">
              <a:latin typeface="+mj-lt"/>
            </a:endParaRPr>
          </a:p>
        </p:txBody>
      </p:sp>
      <p:sp>
        <p:nvSpPr>
          <p:cNvPr id="462" name="Google Shape;462;p36"/>
          <p:cNvSpPr txBox="1"/>
          <p:nvPr/>
        </p:nvSpPr>
        <p:spPr>
          <a:xfrm>
            <a:off x="4836350" y="3825627"/>
            <a:ext cx="6908800" cy="1674817"/>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5400" dirty="0">
                <a:latin typeface="+mj-lt"/>
                <a:ea typeface="Calibri"/>
                <a:cs typeface="Calibri"/>
                <a:sym typeface="Calibri"/>
              </a:rPr>
              <a:t>Why </a:t>
            </a:r>
            <a:r>
              <a:rPr lang="en-US" sz="5400" dirty="0" smtClean="0">
                <a:latin typeface="+mj-lt"/>
                <a:ea typeface="Calibri"/>
                <a:cs typeface="Calibri"/>
                <a:sym typeface="Calibri"/>
              </a:rPr>
              <a:t>Convolutions Neural Networks?</a:t>
            </a:r>
            <a:endParaRPr sz="5400" dirty="0">
              <a:latin typeface="+mj-lt"/>
              <a:ea typeface="Calibri"/>
              <a:cs typeface="Calibri"/>
              <a:sym typeface="Calibri"/>
            </a:endParaRPr>
          </a:p>
        </p:txBody>
      </p:sp>
      <p:sp>
        <p:nvSpPr>
          <p:cNvPr id="463" name="Google Shape;463;p36"/>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464" name="Google Shape;464;p36"/>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3145279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253724"/>
            <a:ext cx="11677535" cy="2739211"/>
          </a:xfrm>
          <a:prstGeom prst="rect">
            <a:avLst/>
          </a:prstGeom>
          <a:noFill/>
        </p:spPr>
        <p:txBody>
          <a:bodyPr wrap="square" rtlCol="0">
            <a:spAutoFit/>
          </a:bodyPr>
          <a:lstStyle/>
          <a:p>
            <a:r>
              <a:rPr lang="en-US" sz="2800" dirty="0" smtClean="0"/>
              <a:t>1. Regular </a:t>
            </a:r>
            <a:r>
              <a:rPr lang="en-US" sz="2800" dirty="0"/>
              <a:t>Neural Nets struggle with image </a:t>
            </a:r>
            <a:r>
              <a:rPr lang="en-US" sz="2800" dirty="0" smtClean="0"/>
              <a:t>scalability:</a:t>
            </a:r>
            <a:endParaRPr lang="en-US" sz="2800" dirty="0"/>
          </a:p>
          <a:p>
            <a:r>
              <a:rPr lang="en-US" sz="2400" dirty="0" smtClean="0"/>
              <a:t>	In </a:t>
            </a:r>
            <a:r>
              <a:rPr lang="en-US" sz="2400" dirty="0"/>
              <a:t>the MNIST dataset, with 28x28x1 images, a single fully-connected neuron </a:t>
            </a:r>
            <a:r>
              <a:rPr lang="en-US" sz="2400" dirty="0" smtClean="0"/>
              <a:t>	in </a:t>
            </a:r>
            <a:r>
              <a:rPr lang="en-US" sz="2400" dirty="0"/>
              <a:t>the first hidden layer would have 786 weights, which is manageable. </a:t>
            </a:r>
            <a:r>
              <a:rPr lang="en-US" sz="2400" dirty="0" smtClean="0"/>
              <a:t>	However</a:t>
            </a:r>
            <a:r>
              <a:rPr lang="en-US" sz="2400" dirty="0"/>
              <a:t>, for larger images like 200x200x3, a neuron would have 120,000 </a:t>
            </a:r>
            <a:r>
              <a:rPr lang="en-US" sz="2400" dirty="0" smtClean="0"/>
              <a:t>	weights</a:t>
            </a:r>
            <a:r>
              <a:rPr lang="en-US" sz="2400" dirty="0"/>
              <a:t>, and having multiple neurons would lead to a vast number of </a:t>
            </a:r>
            <a:r>
              <a:rPr lang="en-US" sz="2400" dirty="0" smtClean="0"/>
              <a:t>	parameters</a:t>
            </a:r>
            <a:r>
              <a:rPr lang="en-US" sz="2400" dirty="0"/>
              <a:t>, promoting overfitting. This full connectivity becomes impractical </a:t>
            </a:r>
            <a:r>
              <a:rPr lang="en-US" sz="2400" dirty="0" smtClean="0"/>
              <a:t>	and </a:t>
            </a:r>
            <a:r>
              <a:rPr lang="en-US" sz="2400" dirty="0"/>
              <a:t>wasteful.</a:t>
            </a:r>
            <a:endParaRPr lang="en-US" sz="2000" dirty="0"/>
          </a:p>
        </p:txBody>
      </p:sp>
      <p:sp>
        <p:nvSpPr>
          <p:cNvPr id="7" name="Google Shape;58;p3"/>
          <p:cNvSpPr txBox="1">
            <a:spLocks noGrp="1"/>
          </p:cNvSpPr>
          <p:nvPr>
            <p:ph type="title"/>
          </p:nvPr>
        </p:nvSpPr>
        <p:spPr>
          <a:xfrm>
            <a:off x="261620" y="139700"/>
            <a:ext cx="9394444"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smtClean="0">
                <a:latin typeface="+mj-lt"/>
              </a:rPr>
              <a:t>Why Convolutional Neural Networks?</a:t>
            </a:r>
            <a:endParaRPr lang="en-US" sz="4400" dirty="0">
              <a:latin typeface="+mj-lt"/>
              <a:ea typeface="Calibri"/>
              <a:cs typeface="Calibri"/>
              <a:sym typeface="Calibri"/>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2714035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253724"/>
            <a:ext cx="11677535" cy="3539430"/>
          </a:xfrm>
          <a:prstGeom prst="rect">
            <a:avLst/>
          </a:prstGeom>
          <a:noFill/>
        </p:spPr>
        <p:txBody>
          <a:bodyPr wrap="square" rtlCol="0">
            <a:spAutoFit/>
          </a:bodyPr>
          <a:lstStyle/>
          <a:p>
            <a:r>
              <a:rPr lang="en-GB" sz="2800" dirty="0" smtClean="0"/>
              <a:t>2. </a:t>
            </a:r>
            <a:r>
              <a:rPr lang="en-US" sz="2800" dirty="0"/>
              <a:t>The main advantages of convolutional neural networks are </a:t>
            </a:r>
            <a:r>
              <a:rPr lang="en-US" sz="2800" b="1" dirty="0"/>
              <a:t>parameter sharing</a:t>
            </a:r>
            <a:r>
              <a:rPr lang="en-US" sz="2800" dirty="0"/>
              <a:t> and </a:t>
            </a:r>
            <a:r>
              <a:rPr lang="en-US" sz="2800" b="1" dirty="0"/>
              <a:t>sparsity of </a:t>
            </a:r>
            <a:r>
              <a:rPr lang="en-US" sz="2800" b="1" dirty="0" smtClean="0"/>
              <a:t>connections</a:t>
            </a:r>
            <a:r>
              <a:rPr lang="en-US" sz="2800" dirty="0" smtClean="0"/>
              <a:t>:</a:t>
            </a:r>
          </a:p>
          <a:p>
            <a:r>
              <a:rPr lang="en-US" sz="2400" dirty="0"/>
              <a:t>	</a:t>
            </a:r>
            <a:r>
              <a:rPr lang="en-US" sz="2400" dirty="0" smtClean="0"/>
              <a:t>- </a:t>
            </a:r>
            <a:r>
              <a:rPr lang="en-US" sz="2400" b="1" dirty="0" smtClean="0"/>
              <a:t>Parameter </a:t>
            </a:r>
            <a:r>
              <a:rPr lang="en-US" sz="2400" b="1" dirty="0"/>
              <a:t>sharing</a:t>
            </a:r>
            <a:r>
              <a:rPr lang="en-US" sz="2400" dirty="0"/>
              <a:t> allows the reuse of feature detectors across different </a:t>
            </a:r>
            <a:r>
              <a:rPr lang="en-US" sz="2400" dirty="0" smtClean="0"/>
              <a:t>	parts </a:t>
            </a:r>
            <a:r>
              <a:rPr lang="en-US" sz="2400" dirty="0"/>
              <a:t>of the image, reducing the number of parameters needed. </a:t>
            </a:r>
          </a:p>
          <a:p>
            <a:r>
              <a:rPr lang="en-US" sz="2400" dirty="0" smtClean="0"/>
              <a:t>	- </a:t>
            </a:r>
            <a:r>
              <a:rPr lang="en-US" sz="2400" b="1" dirty="0" smtClean="0"/>
              <a:t>Sparsity </a:t>
            </a:r>
            <a:r>
              <a:rPr lang="en-US" sz="2400" b="1" dirty="0"/>
              <a:t>of connections</a:t>
            </a:r>
            <a:r>
              <a:rPr lang="en-US" sz="2400" dirty="0"/>
              <a:t> ensures that each output unit depends on only a </a:t>
            </a:r>
            <a:r>
              <a:rPr lang="en-US" sz="2400" dirty="0" smtClean="0"/>
              <a:t>	subset </a:t>
            </a:r>
            <a:r>
              <a:rPr lang="en-US" sz="2400" dirty="0"/>
              <a:t>of input features, further minimizing the required parameters</a:t>
            </a:r>
            <a:r>
              <a:rPr lang="en-US" sz="2400" dirty="0" smtClean="0"/>
              <a:t>.</a:t>
            </a:r>
          </a:p>
          <a:p>
            <a:r>
              <a:rPr lang="en-US" sz="2400" dirty="0"/>
              <a:t>	- Convolutional Neural </a:t>
            </a:r>
            <a:r>
              <a:rPr lang="en-US" sz="2400" dirty="0" smtClean="0"/>
              <a:t>Networks (</a:t>
            </a:r>
            <a:r>
              <a:rPr lang="en-US" sz="2400" dirty="0" err="1" smtClean="0"/>
              <a:t>ConvNets</a:t>
            </a:r>
            <a:r>
              <a:rPr lang="en-US" sz="2400" dirty="0" smtClean="0"/>
              <a:t>) </a:t>
            </a:r>
            <a:r>
              <a:rPr lang="en-US" sz="2400" dirty="0"/>
              <a:t>leverage the 3D structure of </a:t>
            </a:r>
            <a:r>
              <a:rPr lang="en-US" sz="2400" dirty="0" smtClean="0"/>
              <a:t>	input images</a:t>
            </a:r>
            <a:r>
              <a:rPr lang="en-US" sz="2400" dirty="0"/>
              <a:t>, </a:t>
            </a:r>
            <a:r>
              <a:rPr lang="en-US" sz="2400" dirty="0" smtClean="0"/>
              <a:t>unlike </a:t>
            </a:r>
            <a:r>
              <a:rPr lang="en-US" sz="2400" dirty="0"/>
              <a:t>regular neural networks. In a </a:t>
            </a:r>
            <a:r>
              <a:rPr lang="en-US" sz="2400" dirty="0" err="1"/>
              <a:t>ConvNet</a:t>
            </a:r>
            <a:r>
              <a:rPr lang="en-US" sz="2400" dirty="0"/>
              <a:t>, layers have </a:t>
            </a:r>
            <a:r>
              <a:rPr lang="en-US" sz="2400" dirty="0" smtClean="0"/>
              <a:t>	neurons arranged </a:t>
            </a:r>
            <a:r>
              <a:rPr lang="en-US" sz="2400" dirty="0"/>
              <a:t>in </a:t>
            </a:r>
            <a:r>
              <a:rPr lang="en-US" sz="2400" dirty="0" smtClean="0"/>
              <a:t>three </a:t>
            </a:r>
            <a:r>
              <a:rPr lang="en-US" sz="2400" dirty="0"/>
              <a:t>dimensions: width, height, and depth.</a:t>
            </a:r>
          </a:p>
        </p:txBody>
      </p:sp>
      <p:sp>
        <p:nvSpPr>
          <p:cNvPr id="7" name="Google Shape;58;p3"/>
          <p:cNvSpPr txBox="1">
            <a:spLocks noGrp="1"/>
          </p:cNvSpPr>
          <p:nvPr>
            <p:ph type="title"/>
          </p:nvPr>
        </p:nvSpPr>
        <p:spPr>
          <a:xfrm>
            <a:off x="261620" y="139700"/>
            <a:ext cx="9394444"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smtClean="0">
                <a:latin typeface="+mj-lt"/>
              </a:rPr>
              <a:t>Why Convolutional Neural Networks?</a:t>
            </a:r>
            <a:endParaRPr lang="en-US" sz="4400" dirty="0">
              <a:latin typeface="+mj-lt"/>
              <a:ea typeface="Calibri"/>
              <a:cs typeface="Calibri"/>
              <a:sym typeface="Calibri"/>
            </a:endParaRPr>
          </a:p>
        </p:txBody>
      </p:sp>
      <p:pic>
        <p:nvPicPr>
          <p:cNvPr id="1026" name="Picture 2" descr="https://entiretydotai.github.io/blogs/images/copied_from_nb/images/ffnvscn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737" y="4793154"/>
            <a:ext cx="11163300" cy="280035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4036395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75" name="Google Shape;475;p37"/>
          <p:cNvSpPr txBox="1"/>
          <p:nvPr/>
        </p:nvSpPr>
        <p:spPr>
          <a:xfrm>
            <a:off x="684550" y="1253108"/>
            <a:ext cx="10505440" cy="1373502"/>
          </a:xfrm>
          <a:prstGeom prst="rect">
            <a:avLst/>
          </a:prstGeom>
          <a:noFill/>
          <a:ln>
            <a:noFill/>
          </a:ln>
        </p:spPr>
        <p:txBody>
          <a:bodyPr spcFirstLastPara="1" wrap="square" lIns="0" tIns="5700" rIns="0" bIns="0" anchor="t" anchorCtr="0">
            <a:spAutoFit/>
          </a:bodyPr>
          <a:lstStyle/>
          <a:p>
            <a:pPr marL="22225" marR="109220" lvl="0" indent="0" algn="just" rtl="0">
              <a:lnSpc>
                <a:spcPct val="101400"/>
              </a:lnSpc>
              <a:spcBef>
                <a:spcPts val="0"/>
              </a:spcBef>
              <a:spcAft>
                <a:spcPts val="0"/>
              </a:spcAft>
              <a:buNone/>
            </a:pPr>
            <a:r>
              <a:rPr lang="en-US" sz="3200" b="1" dirty="0">
                <a:latin typeface="+mj-lt"/>
                <a:ea typeface="Cambria"/>
                <a:cs typeface="Cambria"/>
                <a:sym typeface="Cambria"/>
              </a:rPr>
              <a:t>Parameter sharing: </a:t>
            </a:r>
            <a:r>
              <a:rPr lang="en-US" sz="2800" dirty="0">
                <a:latin typeface="+mj-lt"/>
                <a:ea typeface="Cambria"/>
                <a:cs typeface="Cambria"/>
                <a:sym typeface="Cambria"/>
              </a:rPr>
              <a:t>A feature detector (such as a vertical edge detector) that’s useful in one part of the image is probably useful in another part of the image</a:t>
            </a:r>
            <a:r>
              <a:rPr lang="en-US" sz="2800" dirty="0" smtClean="0">
                <a:latin typeface="+mj-lt"/>
                <a:ea typeface="Cambria"/>
                <a:cs typeface="Cambria"/>
                <a:sym typeface="Cambria"/>
              </a:rPr>
              <a:t>.</a:t>
            </a:r>
          </a:p>
        </p:txBody>
      </p:sp>
      <p:pic>
        <p:nvPicPr>
          <p:cNvPr id="477" name="Google Shape;477;p37"/>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12" name="Google Shape;58;p3"/>
          <p:cNvSpPr txBox="1">
            <a:spLocks noGrp="1"/>
          </p:cNvSpPr>
          <p:nvPr>
            <p:ph type="title"/>
          </p:nvPr>
        </p:nvSpPr>
        <p:spPr>
          <a:xfrm>
            <a:off x="261620" y="139700"/>
            <a:ext cx="9394444"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smtClean="0">
                <a:latin typeface="+mj-lt"/>
              </a:rPr>
              <a:t>Why Convolutional Neural Networks?</a:t>
            </a:r>
            <a:endParaRPr lang="en-US" sz="4400" dirty="0">
              <a:latin typeface="+mj-lt"/>
              <a:ea typeface="Calibri"/>
              <a:cs typeface="Calibri"/>
              <a:sym typeface="Calibri"/>
            </a:endParaRPr>
          </a:p>
        </p:txBody>
      </p:sp>
      <p:pic>
        <p:nvPicPr>
          <p:cNvPr id="4" name="Picture 3"/>
          <p:cNvPicPr>
            <a:picLocks noChangeAspect="1"/>
          </p:cNvPicPr>
          <p:nvPr/>
        </p:nvPicPr>
        <p:blipFill>
          <a:blip r:embed="rId4"/>
          <a:stretch>
            <a:fillRect/>
          </a:stretch>
        </p:blipFill>
        <p:spPr>
          <a:xfrm>
            <a:off x="2649537" y="3050086"/>
            <a:ext cx="5448300" cy="2886075"/>
          </a:xfrm>
          <a:prstGeom prst="rect">
            <a:avLst/>
          </a:prstGeom>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2897964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75" name="Google Shape;475;p37"/>
          <p:cNvSpPr txBox="1"/>
          <p:nvPr/>
        </p:nvSpPr>
        <p:spPr>
          <a:xfrm>
            <a:off x="762372" y="1321202"/>
            <a:ext cx="10505440" cy="938319"/>
          </a:xfrm>
          <a:prstGeom prst="rect">
            <a:avLst/>
          </a:prstGeom>
          <a:noFill/>
          <a:ln>
            <a:noFill/>
          </a:ln>
        </p:spPr>
        <p:txBody>
          <a:bodyPr spcFirstLastPara="1" wrap="square" lIns="0" tIns="5700" rIns="0" bIns="0" anchor="t" anchorCtr="0">
            <a:spAutoFit/>
          </a:bodyPr>
          <a:lstStyle/>
          <a:p>
            <a:pPr marL="22225" marR="109220" lvl="0" indent="0" algn="just" rtl="0">
              <a:lnSpc>
                <a:spcPct val="101400"/>
              </a:lnSpc>
              <a:spcBef>
                <a:spcPts val="0"/>
              </a:spcBef>
              <a:spcAft>
                <a:spcPts val="0"/>
              </a:spcAft>
              <a:buNone/>
            </a:pPr>
            <a:r>
              <a:rPr lang="en-US" sz="3200" b="1" dirty="0" smtClean="0">
                <a:latin typeface="+mj-lt"/>
                <a:ea typeface="Cambria"/>
                <a:cs typeface="Cambria"/>
                <a:sym typeface="Cambria"/>
              </a:rPr>
              <a:t>Sparsity </a:t>
            </a:r>
            <a:r>
              <a:rPr lang="en-US" sz="3200" b="1" dirty="0">
                <a:latin typeface="+mj-lt"/>
                <a:ea typeface="Cambria"/>
                <a:cs typeface="Cambria"/>
                <a:sym typeface="Cambria"/>
              </a:rPr>
              <a:t>of connections: </a:t>
            </a:r>
            <a:r>
              <a:rPr lang="en-US" sz="2800" dirty="0">
                <a:latin typeface="+mj-lt"/>
                <a:ea typeface="Cambria"/>
                <a:cs typeface="Cambria"/>
                <a:sym typeface="Cambria"/>
              </a:rPr>
              <a:t>In each layer, each output value depends only on a small number of inputs.</a:t>
            </a:r>
            <a:endParaRPr sz="2800" dirty="0">
              <a:latin typeface="+mj-lt"/>
              <a:ea typeface="Cambria"/>
              <a:cs typeface="Cambria"/>
              <a:sym typeface="Cambria"/>
            </a:endParaRPr>
          </a:p>
        </p:txBody>
      </p:sp>
      <p:pic>
        <p:nvPicPr>
          <p:cNvPr id="477" name="Google Shape;477;p37"/>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12" name="Google Shape;58;p3"/>
          <p:cNvSpPr txBox="1">
            <a:spLocks noGrp="1"/>
          </p:cNvSpPr>
          <p:nvPr>
            <p:ph type="title"/>
          </p:nvPr>
        </p:nvSpPr>
        <p:spPr>
          <a:xfrm>
            <a:off x="261620" y="139700"/>
            <a:ext cx="9394444"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smtClean="0">
                <a:latin typeface="+mj-lt"/>
              </a:rPr>
              <a:t>Why Convolutional Neural Networks?</a:t>
            </a:r>
            <a:endParaRPr lang="en-US" sz="4400" dirty="0">
              <a:latin typeface="+mj-lt"/>
              <a:ea typeface="Calibri"/>
              <a:cs typeface="Calibri"/>
              <a:sym typeface="Calibri"/>
            </a:endParaRPr>
          </a:p>
        </p:txBody>
      </p:sp>
      <p:pic>
        <p:nvPicPr>
          <p:cNvPr id="2" name="Picture 1"/>
          <p:cNvPicPr>
            <a:picLocks noChangeAspect="1"/>
          </p:cNvPicPr>
          <p:nvPr/>
        </p:nvPicPr>
        <p:blipFill>
          <a:blip r:embed="rId4"/>
          <a:stretch>
            <a:fillRect/>
          </a:stretch>
        </p:blipFill>
        <p:spPr>
          <a:xfrm>
            <a:off x="762372" y="2358045"/>
            <a:ext cx="4876800" cy="4943475"/>
          </a:xfrm>
          <a:prstGeom prst="rect">
            <a:avLst/>
          </a:prstGeom>
        </p:spPr>
      </p:pic>
      <p:sp>
        <p:nvSpPr>
          <p:cNvPr id="3" name="TextBox 2"/>
          <p:cNvSpPr txBox="1"/>
          <p:nvPr/>
        </p:nvSpPr>
        <p:spPr>
          <a:xfrm>
            <a:off x="5888633" y="2358045"/>
            <a:ext cx="5930474" cy="4524315"/>
          </a:xfrm>
          <a:prstGeom prst="rect">
            <a:avLst/>
          </a:prstGeom>
          <a:noFill/>
        </p:spPr>
        <p:txBody>
          <a:bodyPr wrap="square" rtlCol="0">
            <a:spAutoFit/>
          </a:bodyPr>
          <a:lstStyle/>
          <a:p>
            <a:r>
              <a:rPr lang="en-US" sz="2400" dirty="0"/>
              <a:t>Highlight one input </a:t>
            </a:r>
            <a:r>
              <a:rPr lang="en-US" sz="2400" dirty="0" smtClean="0"/>
              <a:t>x</a:t>
            </a:r>
            <a:r>
              <a:rPr lang="en-US" sz="2400" baseline="-25000" dirty="0" smtClean="0"/>
              <a:t>3</a:t>
            </a:r>
            <a:r>
              <a:rPr lang="en-US" sz="2400" dirty="0" smtClean="0"/>
              <a:t> and output </a:t>
            </a:r>
            <a:r>
              <a:rPr lang="en-US" sz="2400" dirty="0"/>
              <a:t>units s affected by </a:t>
            </a:r>
            <a:r>
              <a:rPr lang="en-US" sz="2400" dirty="0" smtClean="0"/>
              <a:t>it.</a:t>
            </a:r>
          </a:p>
          <a:p>
            <a:endParaRPr lang="en-US" sz="2400" dirty="0" smtClean="0"/>
          </a:p>
          <a:p>
            <a:r>
              <a:rPr lang="en-US" sz="2400" b="1" dirty="0" smtClean="0"/>
              <a:t>The above </a:t>
            </a:r>
            <a:r>
              <a:rPr lang="en-US" sz="2400" b="1" dirty="0"/>
              <a:t>i</a:t>
            </a:r>
            <a:r>
              <a:rPr lang="en-US" sz="2400" b="1" dirty="0" smtClean="0"/>
              <a:t>mage</a:t>
            </a:r>
            <a:r>
              <a:rPr lang="en-US" sz="2400" dirty="0" smtClean="0"/>
              <a:t>: </a:t>
            </a:r>
            <a:r>
              <a:rPr lang="en-US" sz="2400" dirty="0"/>
              <a:t>when s is formed </a:t>
            </a:r>
            <a:r>
              <a:rPr lang="en-US" sz="2400" dirty="0" smtClean="0"/>
              <a:t>by convolution </a:t>
            </a:r>
            <a:r>
              <a:rPr lang="en-US" sz="2400" dirty="0"/>
              <a:t>with a kernel </a:t>
            </a:r>
            <a:r>
              <a:rPr lang="en-US" sz="2400" dirty="0" smtClean="0"/>
              <a:t>of width </a:t>
            </a:r>
            <a:r>
              <a:rPr lang="en-US" sz="2400" dirty="0"/>
              <a:t>3, only three outputs </a:t>
            </a:r>
            <a:r>
              <a:rPr lang="en-US" sz="2400" dirty="0" smtClean="0"/>
              <a:t>are affected </a:t>
            </a:r>
            <a:r>
              <a:rPr lang="en-US" sz="2400" dirty="0"/>
              <a:t>by </a:t>
            </a:r>
            <a:r>
              <a:rPr lang="en-US" sz="2400" dirty="0" smtClean="0"/>
              <a:t>x</a:t>
            </a:r>
            <a:r>
              <a:rPr lang="en-US" sz="2400" baseline="-25000" dirty="0" smtClean="0"/>
              <a:t>3</a:t>
            </a:r>
            <a:endParaRPr lang="en-US" sz="2400" dirty="0" smtClean="0"/>
          </a:p>
          <a:p>
            <a:endParaRPr lang="en-US" sz="2400" b="1" dirty="0" smtClean="0"/>
          </a:p>
          <a:p>
            <a:endParaRPr lang="en-US" sz="2400" b="1" dirty="0"/>
          </a:p>
          <a:p>
            <a:r>
              <a:rPr lang="en-US" sz="2400" b="1" dirty="0" smtClean="0"/>
              <a:t>The below image</a:t>
            </a:r>
            <a:r>
              <a:rPr lang="en-US" sz="2400" dirty="0" smtClean="0"/>
              <a:t>: </a:t>
            </a:r>
            <a:r>
              <a:rPr lang="en-US" sz="2400" dirty="0"/>
              <a:t>when s is formed </a:t>
            </a:r>
            <a:r>
              <a:rPr lang="en-US" sz="2400" dirty="0" smtClean="0"/>
              <a:t>by matrix </a:t>
            </a:r>
            <a:r>
              <a:rPr lang="en-US" sz="2400" dirty="0"/>
              <a:t>multiplication connectivity</a:t>
            </a:r>
          </a:p>
          <a:p>
            <a:r>
              <a:rPr lang="en-US" sz="2400" dirty="0"/>
              <a:t>is no longer sparse</a:t>
            </a:r>
          </a:p>
          <a:p>
            <a:r>
              <a:rPr lang="en-US" sz="2400" dirty="0" smtClean="0"/>
              <a:t>	– </a:t>
            </a:r>
            <a:r>
              <a:rPr lang="en-US" sz="2000" dirty="0"/>
              <a:t>So all outputs are affected by </a:t>
            </a:r>
            <a:r>
              <a:rPr lang="en-US" sz="2000" dirty="0" smtClean="0"/>
              <a:t>x</a:t>
            </a:r>
            <a:r>
              <a:rPr lang="en-US" sz="2000" baseline="-25000" dirty="0" smtClean="0"/>
              <a:t>3</a:t>
            </a:r>
            <a:endParaRPr lang="en-US"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480599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8"/>
          <p:cNvSpPr txBox="1">
            <a:spLocks noGrp="1"/>
          </p:cNvSpPr>
          <p:nvPr>
            <p:ph type="title"/>
          </p:nvPr>
        </p:nvSpPr>
        <p:spPr>
          <a:xfrm>
            <a:off x="261620" y="139700"/>
            <a:ext cx="48590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endParaRPr sz="4400">
              <a:latin typeface="Cambria"/>
              <a:ea typeface="Cambria"/>
              <a:cs typeface="Cambria"/>
              <a:sym typeface="Cambria"/>
            </a:endParaRPr>
          </a:p>
        </p:txBody>
      </p:sp>
      <p:pic>
        <p:nvPicPr>
          <p:cNvPr id="483" name="Google Shape;483;p38"/>
          <p:cNvPicPr preferRelativeResize="0"/>
          <p:nvPr/>
        </p:nvPicPr>
        <p:blipFill rotWithShape="1">
          <a:blip r:embed="rId3">
            <a:alphaModFix/>
          </a:blip>
          <a:srcRect/>
          <a:stretch/>
        </p:blipFill>
        <p:spPr>
          <a:xfrm>
            <a:off x="0" y="-5575"/>
            <a:ext cx="12225745" cy="6863576"/>
          </a:xfrm>
          <a:prstGeom prst="rect">
            <a:avLst/>
          </a:prstGeom>
          <a:noFill/>
          <a:ln>
            <a:noFill/>
          </a:ln>
        </p:spPr>
      </p:pic>
      <p:pic>
        <p:nvPicPr>
          <p:cNvPr id="484" name="Google Shape;484;p38"/>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2285963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2"/>
          <p:cNvSpPr txBox="1">
            <a:spLocks noGrp="1"/>
          </p:cNvSpPr>
          <p:nvPr>
            <p:ph type="title"/>
          </p:nvPr>
        </p:nvSpPr>
        <p:spPr>
          <a:xfrm>
            <a:off x="0" y="648859"/>
            <a:ext cx="11668759" cy="2994025"/>
          </a:xfrm>
          <a:prstGeom prst="rect">
            <a:avLst/>
          </a:prstGeom>
          <a:noFill/>
          <a:ln>
            <a:noFill/>
          </a:ln>
        </p:spPr>
        <p:txBody>
          <a:bodyPr spcFirstLastPara="1" wrap="square" lIns="0" tIns="942925" rIns="0" bIns="0" anchor="t" anchorCtr="0">
            <a:spAutoFit/>
          </a:bodyPr>
          <a:lstStyle/>
          <a:p>
            <a:pPr marL="5466715" marR="5080" lvl="0" indent="454658" algn="l" rtl="0">
              <a:lnSpc>
                <a:spcPct val="108333"/>
              </a:lnSpc>
              <a:spcBef>
                <a:spcPts val="0"/>
              </a:spcBef>
              <a:spcAft>
                <a:spcPts val="0"/>
              </a:spcAft>
              <a:buNone/>
            </a:pPr>
            <a:r>
              <a:rPr lang="en-US" dirty="0">
                <a:latin typeface="+mj-lt"/>
              </a:rPr>
              <a:t>Convolutional Neural Networks</a:t>
            </a:r>
            <a:endParaRPr dirty="0">
              <a:latin typeface="+mj-lt"/>
            </a:endParaRPr>
          </a:p>
        </p:txBody>
      </p:sp>
      <p:sp>
        <p:nvSpPr>
          <p:cNvPr id="51" name="Google Shape;51;p2"/>
          <p:cNvSpPr txBox="1"/>
          <p:nvPr/>
        </p:nvSpPr>
        <p:spPr>
          <a:xfrm>
            <a:off x="5786947" y="4434442"/>
            <a:ext cx="5007606" cy="84382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5400" dirty="0">
                <a:latin typeface="+mj-lt"/>
                <a:ea typeface="Calibri"/>
                <a:cs typeface="Calibri"/>
                <a:sym typeface="Calibri"/>
              </a:rPr>
              <a:t>Computer vision</a:t>
            </a:r>
            <a:endParaRPr sz="5400" dirty="0">
              <a:latin typeface="+mj-lt"/>
              <a:ea typeface="Calibri"/>
              <a:cs typeface="Calibri"/>
              <a:sym typeface="Calibri"/>
            </a:endParaRPr>
          </a:p>
        </p:txBody>
      </p:sp>
      <p:sp>
        <p:nvSpPr>
          <p:cNvPr id="52" name="Google Shape;52;p2"/>
          <p:cNvSpPr/>
          <p:nvPr/>
        </p:nvSpPr>
        <p:spPr>
          <a:xfrm>
            <a:off x="4836350" y="3836450"/>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53" name="Google Shape;53;p2"/>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mj-lt"/>
                <a:ea typeface="Calibri"/>
                <a:cs typeface="Calibri"/>
                <a:sym typeface="Calibri"/>
              </a:rPr>
              <a:t>Computer vision</a:t>
            </a: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417596"/>
            <a:ext cx="11677535"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smtClean="0"/>
              <a:t>A </a:t>
            </a:r>
            <a:r>
              <a:rPr lang="en-US" sz="2400" dirty="0"/>
              <a:t>major issue arises with large image inputs, containing millions of features, making standard fully connected networks impractical. </a:t>
            </a:r>
            <a:endParaRPr lang="en-US" sz="2400" dirty="0" smtClean="0"/>
          </a:p>
          <a:p>
            <a:pPr marL="285750" indent="-285750">
              <a:buFont typeface="Arial" panose="020B0604020202020204" pitchFamily="34" charset="0"/>
              <a:buChar char="•"/>
            </a:pPr>
            <a:r>
              <a:rPr lang="en-US" sz="2400" dirty="0" smtClean="0"/>
              <a:t>To </a:t>
            </a:r>
            <a:r>
              <a:rPr lang="en-US" sz="2400" dirty="0"/>
              <a:t>overcome this, convolutional neural networks (CNNs) are introduced. CNNs use convolutions, better suited for processing large images. Convolutional networks are illustrated using the example of edge detection.</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2475090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Computer Vision Problems</a:t>
            </a:r>
            <a:endParaRPr sz="4400" dirty="0">
              <a:latin typeface="+mj-lt"/>
              <a:ea typeface="Cambria"/>
              <a:cs typeface="Cambria"/>
              <a:sym typeface="Cambria"/>
            </a:endParaRPr>
          </a:p>
        </p:txBody>
      </p:sp>
      <p:sp>
        <p:nvSpPr>
          <p:cNvPr id="59" name="Google Shape;59;p3"/>
          <p:cNvSpPr txBox="1"/>
          <p:nvPr/>
        </p:nvSpPr>
        <p:spPr>
          <a:xfrm>
            <a:off x="477934" y="1269453"/>
            <a:ext cx="3395979"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a:latin typeface="+mj-lt"/>
                <a:ea typeface="Cambria"/>
                <a:cs typeface="Cambria"/>
                <a:sym typeface="Cambria"/>
              </a:rPr>
              <a:t>Image Classification</a:t>
            </a:r>
            <a:endParaRPr sz="2800">
              <a:latin typeface="+mj-lt"/>
              <a:ea typeface="Cambria"/>
              <a:cs typeface="Cambria"/>
              <a:sym typeface="Cambria"/>
            </a:endParaRPr>
          </a:p>
        </p:txBody>
      </p:sp>
      <p:sp>
        <p:nvSpPr>
          <p:cNvPr id="60" name="Google Shape;60;p3"/>
          <p:cNvSpPr/>
          <p:nvPr/>
        </p:nvSpPr>
        <p:spPr>
          <a:xfrm>
            <a:off x="3379241" y="2572778"/>
            <a:ext cx="1174750" cy="127000"/>
          </a:xfrm>
          <a:custGeom>
            <a:avLst/>
            <a:gdLst/>
            <a:ahLst/>
            <a:cxnLst/>
            <a:rect l="l" t="t" r="r" b="b"/>
            <a:pathLst>
              <a:path w="1174750" h="127000" extrusionOk="0">
                <a:moveTo>
                  <a:pt x="1047610" y="0"/>
                </a:moveTo>
                <a:lnTo>
                  <a:pt x="1047610" y="50800"/>
                </a:lnTo>
                <a:lnTo>
                  <a:pt x="0" y="50800"/>
                </a:lnTo>
                <a:lnTo>
                  <a:pt x="0" y="76200"/>
                </a:lnTo>
                <a:lnTo>
                  <a:pt x="1047610" y="76200"/>
                </a:lnTo>
                <a:lnTo>
                  <a:pt x="1047610" y="127000"/>
                </a:lnTo>
                <a:lnTo>
                  <a:pt x="1174610" y="63500"/>
                </a:lnTo>
                <a:lnTo>
                  <a:pt x="104761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61" name="Google Shape;61;p3"/>
          <p:cNvSpPr txBox="1"/>
          <p:nvPr/>
        </p:nvSpPr>
        <p:spPr>
          <a:xfrm>
            <a:off x="7866862" y="1290027"/>
            <a:ext cx="3649345"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dirty="0">
                <a:latin typeface="+mj-lt"/>
                <a:ea typeface="Cambria"/>
                <a:cs typeface="Cambria"/>
                <a:sym typeface="Cambria"/>
              </a:rPr>
              <a:t>Neural Style Transfer</a:t>
            </a:r>
            <a:endParaRPr sz="2800" dirty="0">
              <a:latin typeface="+mj-lt"/>
              <a:ea typeface="Cambria"/>
              <a:cs typeface="Cambria"/>
              <a:sym typeface="Cambria"/>
            </a:endParaRPr>
          </a:p>
        </p:txBody>
      </p:sp>
      <p:pic>
        <p:nvPicPr>
          <p:cNvPr id="62" name="Google Shape;62;p3"/>
          <p:cNvPicPr preferRelativeResize="0"/>
          <p:nvPr/>
        </p:nvPicPr>
        <p:blipFill rotWithShape="1">
          <a:blip r:embed="rId3">
            <a:alphaModFix/>
          </a:blip>
          <a:srcRect/>
          <a:stretch/>
        </p:blipFill>
        <p:spPr>
          <a:xfrm>
            <a:off x="517105" y="4613470"/>
            <a:ext cx="3606797" cy="2028819"/>
          </a:xfrm>
          <a:prstGeom prst="rect">
            <a:avLst/>
          </a:prstGeom>
          <a:noFill/>
          <a:ln>
            <a:noFill/>
          </a:ln>
        </p:spPr>
      </p:pic>
      <p:pic>
        <p:nvPicPr>
          <p:cNvPr id="63" name="Google Shape;63;p3"/>
          <p:cNvPicPr preferRelativeResize="0"/>
          <p:nvPr/>
        </p:nvPicPr>
        <p:blipFill rotWithShape="1">
          <a:blip r:embed="rId4">
            <a:alphaModFix/>
          </a:blip>
          <a:srcRect/>
          <a:stretch/>
        </p:blipFill>
        <p:spPr>
          <a:xfrm>
            <a:off x="1294041" y="1796542"/>
            <a:ext cx="1798154" cy="1799729"/>
          </a:xfrm>
          <a:prstGeom prst="rect">
            <a:avLst/>
          </a:prstGeom>
          <a:noFill/>
          <a:ln>
            <a:noFill/>
          </a:ln>
        </p:spPr>
      </p:pic>
      <p:sp>
        <p:nvSpPr>
          <p:cNvPr id="64" name="Google Shape;64;p3"/>
          <p:cNvSpPr txBox="1"/>
          <p:nvPr/>
        </p:nvSpPr>
        <p:spPr>
          <a:xfrm>
            <a:off x="840206" y="2407678"/>
            <a:ext cx="5559425" cy="2133918"/>
          </a:xfrm>
          <a:prstGeom prst="rect">
            <a:avLst/>
          </a:prstGeom>
          <a:noFill/>
          <a:ln>
            <a:noFill/>
          </a:ln>
        </p:spPr>
        <p:txBody>
          <a:bodyPr spcFirstLastPara="1" wrap="square" lIns="0" tIns="12700" rIns="0" bIns="0" anchor="t" anchorCtr="0">
            <a:spAutoFit/>
          </a:bodyPr>
          <a:lstStyle/>
          <a:p>
            <a:pPr marL="0" marR="5080" lvl="0" indent="0" algn="r" rtl="0">
              <a:lnSpc>
                <a:spcPct val="100000"/>
              </a:lnSpc>
              <a:spcBef>
                <a:spcPts val="0"/>
              </a:spcBef>
              <a:spcAft>
                <a:spcPts val="0"/>
              </a:spcAft>
              <a:buNone/>
            </a:pPr>
            <a:r>
              <a:rPr lang="en-US" sz="2800">
                <a:latin typeface="+mj-lt"/>
                <a:ea typeface="Cambria"/>
                <a:cs typeface="Cambria"/>
                <a:sym typeface="Cambria"/>
              </a:rPr>
              <a:t>Cat? (0/1)</a:t>
            </a:r>
            <a:endParaRPr sz="2800">
              <a:latin typeface="+mj-lt"/>
              <a:ea typeface="Cambria"/>
              <a:cs typeface="Cambria"/>
              <a:sym typeface="Cambria"/>
            </a:endParaRPr>
          </a:p>
          <a:p>
            <a:pPr marL="0" lvl="0" indent="0" algn="l" rtl="0">
              <a:lnSpc>
                <a:spcPct val="100000"/>
              </a:lnSpc>
              <a:spcBef>
                <a:spcPts val="0"/>
              </a:spcBef>
              <a:spcAft>
                <a:spcPts val="0"/>
              </a:spcAft>
              <a:buNone/>
            </a:pPr>
            <a:endParaRPr sz="3300">
              <a:latin typeface="+mj-lt"/>
              <a:ea typeface="Cambria"/>
              <a:cs typeface="Cambria"/>
              <a:sym typeface="Cambria"/>
            </a:endParaRPr>
          </a:p>
          <a:p>
            <a:pPr marL="0" marR="2852420" lvl="0" indent="0" algn="ctr" rtl="0">
              <a:lnSpc>
                <a:spcPct val="100000"/>
              </a:lnSpc>
              <a:spcBef>
                <a:spcPts val="2125"/>
              </a:spcBef>
              <a:spcAft>
                <a:spcPts val="0"/>
              </a:spcAft>
              <a:buNone/>
            </a:pPr>
            <a:r>
              <a:rPr lang="en-US" sz="1800">
                <a:latin typeface="+mj-lt"/>
                <a:ea typeface="Calibri"/>
                <a:cs typeface="Calibri"/>
                <a:sym typeface="Calibri"/>
              </a:rPr>
              <a:t> 64x64x3               </a:t>
            </a:r>
            <a:endParaRPr sz="1800">
              <a:latin typeface="+mj-lt"/>
              <a:ea typeface="Calibri"/>
              <a:cs typeface="Calibri"/>
              <a:sym typeface="Calibri"/>
            </a:endParaRPr>
          </a:p>
          <a:p>
            <a:pPr marL="0" marR="2873375" lvl="0" indent="0" algn="ctr" rtl="0">
              <a:lnSpc>
                <a:spcPct val="100000"/>
              </a:lnSpc>
              <a:spcBef>
                <a:spcPts val="1550"/>
              </a:spcBef>
              <a:spcAft>
                <a:spcPts val="0"/>
              </a:spcAft>
              <a:buNone/>
            </a:pPr>
            <a:r>
              <a:rPr lang="en-US" sz="2800">
                <a:latin typeface="+mj-lt"/>
                <a:ea typeface="Cambria"/>
                <a:cs typeface="Cambria"/>
                <a:sym typeface="Cambria"/>
              </a:rPr>
              <a:t>Object detection</a:t>
            </a:r>
            <a:endParaRPr sz="2800">
              <a:latin typeface="+mj-lt"/>
              <a:ea typeface="Cambria"/>
              <a:cs typeface="Cambria"/>
              <a:sym typeface="Cambria"/>
            </a:endParaRPr>
          </a:p>
        </p:txBody>
      </p:sp>
      <p:pic>
        <p:nvPicPr>
          <p:cNvPr id="65" name="Google Shape;65;p3"/>
          <p:cNvPicPr preferRelativeResize="0"/>
          <p:nvPr/>
        </p:nvPicPr>
        <p:blipFill rotWithShape="1">
          <a:blip r:embed="rId5">
            <a:alphaModFix/>
          </a:blip>
          <a:srcRect/>
          <a:stretch/>
        </p:blipFill>
        <p:spPr>
          <a:xfrm>
            <a:off x="7359967" y="1991283"/>
            <a:ext cx="2308885" cy="1731670"/>
          </a:xfrm>
          <a:prstGeom prst="rect">
            <a:avLst/>
          </a:prstGeom>
          <a:noFill/>
          <a:ln>
            <a:noFill/>
          </a:ln>
        </p:spPr>
      </p:pic>
      <p:pic>
        <p:nvPicPr>
          <p:cNvPr id="66" name="Google Shape;66;p3"/>
          <p:cNvPicPr preferRelativeResize="0"/>
          <p:nvPr/>
        </p:nvPicPr>
        <p:blipFill rotWithShape="1">
          <a:blip r:embed="rId6">
            <a:alphaModFix/>
          </a:blip>
          <a:srcRect/>
          <a:stretch/>
        </p:blipFill>
        <p:spPr>
          <a:xfrm>
            <a:off x="9757295" y="1991283"/>
            <a:ext cx="2305253" cy="1728939"/>
          </a:xfrm>
          <a:prstGeom prst="rect">
            <a:avLst/>
          </a:prstGeom>
          <a:noFill/>
          <a:ln>
            <a:noFill/>
          </a:ln>
        </p:spPr>
      </p:pic>
      <p:sp>
        <p:nvSpPr>
          <p:cNvPr id="67" name="Google Shape;67;p3"/>
          <p:cNvSpPr/>
          <p:nvPr/>
        </p:nvSpPr>
        <p:spPr>
          <a:xfrm>
            <a:off x="8285314" y="3962367"/>
            <a:ext cx="2846705" cy="340360"/>
          </a:xfrm>
          <a:custGeom>
            <a:avLst/>
            <a:gdLst/>
            <a:ahLst/>
            <a:cxnLst/>
            <a:rect l="l" t="t" r="r" b="b"/>
            <a:pathLst>
              <a:path w="2846704" h="340360" extrusionOk="0">
                <a:moveTo>
                  <a:pt x="2846557" y="0"/>
                </a:moveTo>
                <a:lnTo>
                  <a:pt x="2841354" y="53741"/>
                </a:lnTo>
                <a:lnTo>
                  <a:pt x="2826864" y="100414"/>
                </a:lnTo>
                <a:lnTo>
                  <a:pt x="2804769" y="137220"/>
                </a:lnTo>
                <a:lnTo>
                  <a:pt x="2744489" y="170025"/>
                </a:lnTo>
                <a:lnTo>
                  <a:pt x="1525341" y="170025"/>
                </a:lnTo>
                <a:lnTo>
                  <a:pt x="1493083" y="178693"/>
                </a:lnTo>
                <a:lnTo>
                  <a:pt x="1465065" y="202829"/>
                </a:lnTo>
                <a:lnTo>
                  <a:pt x="1442969" y="239635"/>
                </a:lnTo>
                <a:lnTo>
                  <a:pt x="1428478" y="286308"/>
                </a:lnTo>
                <a:lnTo>
                  <a:pt x="1423273" y="340049"/>
                </a:lnTo>
                <a:lnTo>
                  <a:pt x="1418071" y="286308"/>
                </a:lnTo>
                <a:lnTo>
                  <a:pt x="1403584" y="239635"/>
                </a:lnTo>
                <a:lnTo>
                  <a:pt x="1381492" y="202829"/>
                </a:lnTo>
                <a:lnTo>
                  <a:pt x="1353476" y="178693"/>
                </a:lnTo>
                <a:lnTo>
                  <a:pt x="1321215" y="170025"/>
                </a:lnTo>
                <a:lnTo>
                  <a:pt x="102066" y="170025"/>
                </a:lnTo>
                <a:lnTo>
                  <a:pt x="69805" y="161357"/>
                </a:lnTo>
                <a:lnTo>
                  <a:pt x="41787" y="137220"/>
                </a:lnTo>
                <a:lnTo>
                  <a:pt x="19693" y="100414"/>
                </a:lnTo>
                <a:lnTo>
                  <a:pt x="5203" y="53741"/>
                </a:lnTo>
                <a:lnTo>
                  <a:pt x="0"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68" name="Google Shape;68;p3"/>
          <p:cNvPicPr preferRelativeResize="0"/>
          <p:nvPr/>
        </p:nvPicPr>
        <p:blipFill rotWithShape="1">
          <a:blip r:embed="rId7">
            <a:alphaModFix/>
          </a:blip>
          <a:srcRect/>
          <a:stretch/>
        </p:blipFill>
        <p:spPr>
          <a:xfrm>
            <a:off x="8554872" y="4613465"/>
            <a:ext cx="2308885" cy="1731669"/>
          </a:xfrm>
          <a:prstGeom prst="rect">
            <a:avLst/>
          </a:prstGeom>
          <a:noFill/>
          <a:ln>
            <a:noFill/>
          </a:ln>
        </p:spPr>
      </p:pic>
      <p:pic>
        <p:nvPicPr>
          <p:cNvPr id="69" name="Google Shape;69;p3"/>
          <p:cNvPicPr preferRelativeResize="0"/>
          <p:nvPr/>
        </p:nvPicPr>
        <p:blipFill>
          <a:blip r:embed="rId8">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2016180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73"/>
        <p:cNvGrpSpPr/>
        <p:nvPr/>
      </p:nvGrpSpPr>
      <p:grpSpPr>
        <a:xfrm>
          <a:off x="0" y="0"/>
          <a:ext cx="0" cy="0"/>
          <a:chOff x="0" y="0"/>
          <a:chExt cx="0" cy="0"/>
        </a:xfrm>
      </p:grpSpPr>
      <p:sp>
        <p:nvSpPr>
          <p:cNvPr id="74" name="Google Shape;74;p4"/>
          <p:cNvSpPr txBox="1">
            <a:spLocks noGrp="1"/>
          </p:cNvSpPr>
          <p:nvPr>
            <p:ph type="title"/>
          </p:nvPr>
        </p:nvSpPr>
        <p:spPr>
          <a:xfrm>
            <a:off x="261620" y="139700"/>
            <a:ext cx="808990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Deep Learning on large images</a:t>
            </a:r>
            <a:endParaRPr sz="4400" dirty="0">
              <a:latin typeface="+mj-lt"/>
              <a:ea typeface="Cambria"/>
              <a:cs typeface="Cambria"/>
              <a:sym typeface="Cambria"/>
            </a:endParaRPr>
          </a:p>
        </p:txBody>
      </p:sp>
      <p:sp>
        <p:nvSpPr>
          <p:cNvPr id="75" name="Google Shape;75;p4"/>
          <p:cNvSpPr/>
          <p:nvPr/>
        </p:nvSpPr>
        <p:spPr>
          <a:xfrm>
            <a:off x="3379241" y="2572778"/>
            <a:ext cx="1174750" cy="127000"/>
          </a:xfrm>
          <a:custGeom>
            <a:avLst/>
            <a:gdLst/>
            <a:ahLst/>
            <a:cxnLst/>
            <a:rect l="l" t="t" r="r" b="b"/>
            <a:pathLst>
              <a:path w="1174750" h="127000" extrusionOk="0">
                <a:moveTo>
                  <a:pt x="1047610" y="0"/>
                </a:moveTo>
                <a:lnTo>
                  <a:pt x="1047610" y="50800"/>
                </a:lnTo>
                <a:lnTo>
                  <a:pt x="0" y="50800"/>
                </a:lnTo>
                <a:lnTo>
                  <a:pt x="0" y="76200"/>
                </a:lnTo>
                <a:lnTo>
                  <a:pt x="1047610" y="76200"/>
                </a:lnTo>
                <a:lnTo>
                  <a:pt x="1047610" y="127000"/>
                </a:lnTo>
                <a:lnTo>
                  <a:pt x="1174610" y="63500"/>
                </a:lnTo>
                <a:lnTo>
                  <a:pt x="104761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6" name="Google Shape;76;p4"/>
          <p:cNvSpPr txBox="1"/>
          <p:nvPr/>
        </p:nvSpPr>
        <p:spPr>
          <a:xfrm>
            <a:off x="4791278" y="2407678"/>
            <a:ext cx="1608455"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a:latin typeface="+mj-lt"/>
                <a:ea typeface="Cambria"/>
                <a:cs typeface="Cambria"/>
                <a:sym typeface="Cambria"/>
              </a:rPr>
              <a:t>Cat? (0/1)</a:t>
            </a:r>
            <a:endParaRPr sz="2800">
              <a:latin typeface="+mj-lt"/>
              <a:ea typeface="Cambria"/>
              <a:cs typeface="Cambria"/>
              <a:sym typeface="Cambria"/>
            </a:endParaRPr>
          </a:p>
        </p:txBody>
      </p:sp>
      <p:pic>
        <p:nvPicPr>
          <p:cNvPr id="77" name="Google Shape;77;p4"/>
          <p:cNvPicPr preferRelativeResize="0"/>
          <p:nvPr/>
        </p:nvPicPr>
        <p:blipFill rotWithShape="1">
          <a:blip r:embed="rId3">
            <a:alphaModFix/>
          </a:blip>
          <a:srcRect/>
          <a:stretch/>
        </p:blipFill>
        <p:spPr>
          <a:xfrm>
            <a:off x="1026699" y="4304334"/>
            <a:ext cx="2284749" cy="2284841"/>
          </a:xfrm>
          <a:prstGeom prst="rect">
            <a:avLst/>
          </a:prstGeom>
          <a:noFill/>
          <a:ln>
            <a:noFill/>
          </a:ln>
        </p:spPr>
      </p:pic>
      <p:pic>
        <p:nvPicPr>
          <p:cNvPr id="78" name="Google Shape;78;p4"/>
          <p:cNvPicPr preferRelativeResize="0"/>
          <p:nvPr/>
        </p:nvPicPr>
        <p:blipFill rotWithShape="1">
          <a:blip r:embed="rId4">
            <a:alphaModFix/>
          </a:blip>
          <a:srcRect/>
          <a:stretch/>
        </p:blipFill>
        <p:spPr>
          <a:xfrm>
            <a:off x="1294041" y="1796542"/>
            <a:ext cx="1798154" cy="1799729"/>
          </a:xfrm>
          <a:prstGeom prst="rect">
            <a:avLst/>
          </a:prstGeom>
          <a:noFill/>
          <a:ln>
            <a:noFill/>
          </a:ln>
        </p:spPr>
      </p:pic>
      <p:sp>
        <p:nvSpPr>
          <p:cNvPr id="79" name="Google Shape;79;p4"/>
          <p:cNvSpPr txBox="1"/>
          <p:nvPr/>
        </p:nvSpPr>
        <p:spPr>
          <a:xfrm>
            <a:off x="1294041" y="3596271"/>
            <a:ext cx="1869963" cy="2898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dirty="0" smtClean="0">
                <a:latin typeface="+mj-lt"/>
                <a:ea typeface="Calibri"/>
                <a:cs typeface="Calibri"/>
                <a:sym typeface="Calibri"/>
              </a:rPr>
              <a:t>64x64x3 = 12228</a:t>
            </a:r>
            <a:endParaRPr dirty="0">
              <a:latin typeface="+mj-lt"/>
            </a:endParaRPr>
          </a:p>
        </p:txBody>
      </p:sp>
      <p:pic>
        <p:nvPicPr>
          <p:cNvPr id="83" name="Google Shape;83;p4"/>
          <p:cNvPicPr preferRelativeResize="0"/>
          <p:nvPr/>
        </p:nvPicPr>
        <p:blipFill rotWithShape="1">
          <a:blip r:embed="rId5">
            <a:alphaModFix/>
          </a:blip>
          <a:srcRect/>
          <a:stretch/>
        </p:blipFill>
        <p:spPr>
          <a:xfrm>
            <a:off x="6463961" y="3276600"/>
            <a:ext cx="5105400" cy="3986975"/>
          </a:xfrm>
          <a:prstGeom prst="rect">
            <a:avLst/>
          </a:prstGeom>
          <a:noFill/>
          <a:ln>
            <a:noFill/>
          </a:ln>
        </p:spPr>
      </p:pic>
      <p:pic>
        <p:nvPicPr>
          <p:cNvPr id="84" name="Google Shape;84;p4"/>
          <p:cNvPicPr preferRelativeResize="0"/>
          <p:nvPr/>
        </p:nvPicPr>
        <p:blipFill>
          <a:blip r:embed="rId6">
            <a:alphaModFix/>
          </a:blip>
          <a:stretch>
            <a:fillRect/>
          </a:stretch>
        </p:blipFill>
        <p:spPr>
          <a:xfrm>
            <a:off x="10734473" y="0"/>
            <a:ext cx="1448025" cy="796414"/>
          </a:xfrm>
          <a:prstGeom prst="rect">
            <a:avLst/>
          </a:prstGeom>
          <a:noFill/>
          <a:ln>
            <a:noFill/>
          </a:ln>
        </p:spPr>
      </p:pic>
      <p:sp>
        <p:nvSpPr>
          <p:cNvPr id="13" name="Google Shape;79;p4"/>
          <p:cNvSpPr txBox="1"/>
          <p:nvPr/>
        </p:nvSpPr>
        <p:spPr>
          <a:xfrm>
            <a:off x="916696" y="6646705"/>
            <a:ext cx="3271846" cy="2898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dirty="0" smtClean="0">
                <a:latin typeface="+mj-lt"/>
                <a:ea typeface="Calibri"/>
                <a:cs typeface="Calibri"/>
                <a:sym typeface="Calibri"/>
              </a:rPr>
              <a:t>1000 x 1000 x 3 = 3 M (million)</a:t>
            </a:r>
            <a:endParaRPr dirty="0">
              <a:latin typeface="+mj-lt"/>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cSld>
  <p:clrMapOvr>
    <a:masterClrMapping/>
  </p:clrMapOvr>
  <p:extLst mod="1">
    <p:ext uri="{6950BFC3-D8DA-4A85-94F7-54DA5524770B}">
      <p188:commentRel xmlns="" xmlns:p188="http://schemas.microsoft.com/office/powerpoint/2018/8/main" r:id="rId10"/>
    </p:ext>
  </p:extLs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695960"/>
          </a:xfrm>
          <a:prstGeom prst="rect">
            <a:avLst/>
          </a:prstGeom>
          <a:noFill/>
          <a:ln>
            <a:noFill/>
          </a:ln>
        </p:spPr>
        <p:txBody>
          <a:bodyPr spcFirstLastPara="1" wrap="square" lIns="0" tIns="12700" rIns="0" bIns="0" anchor="t" anchorCtr="0">
            <a:spAutoFit/>
          </a:bodyPr>
          <a:lstStyle/>
          <a:p>
            <a:pPr marL="12700" lvl="0"/>
            <a:r>
              <a:rPr lang="en-US" sz="4400" dirty="0">
                <a:latin typeface="+mj-lt"/>
              </a:rPr>
              <a:t>Convolution</a:t>
            </a:r>
            <a:endParaRPr lang="en-US" sz="4400" dirty="0">
              <a:latin typeface="+mj-lt"/>
              <a:ea typeface="Calibri"/>
              <a:cs typeface="Calibri"/>
              <a:sym typeface="Calibri"/>
            </a:endParaRP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417596"/>
            <a:ext cx="11677535" cy="3539430"/>
          </a:xfrm>
          <a:prstGeom prst="rect">
            <a:avLst/>
          </a:prstGeom>
          <a:noFill/>
        </p:spPr>
        <p:txBody>
          <a:bodyPr wrap="square" rtlCol="0">
            <a:spAutoFit/>
          </a:bodyPr>
          <a:lstStyle/>
          <a:p>
            <a:pPr marL="285750" indent="-285750">
              <a:buFont typeface="Arial" panose="020B0604020202020204" pitchFamily="34" charset="0"/>
              <a:buChar char="•"/>
            </a:pPr>
            <a:r>
              <a:rPr lang="en-US" sz="2400" dirty="0"/>
              <a:t>Convolution is an operation done to extract features from the images as these features will be used by the network to learn about a particular image</a:t>
            </a:r>
            <a:r>
              <a:rPr lang="en-US" sz="2400" dirty="0" smtClean="0"/>
              <a:t>. In </a:t>
            </a:r>
            <a:r>
              <a:rPr lang="en-US" sz="2400" dirty="0"/>
              <a:t>the case of a dog image</a:t>
            </a:r>
            <a:r>
              <a:rPr lang="en-US" sz="2400" dirty="0" smtClean="0"/>
              <a:t>, the </a:t>
            </a:r>
            <a:r>
              <a:rPr lang="en-US" sz="2400" dirty="0"/>
              <a:t>feature could be the shape of a nose or the shape of an eye which will help the network later to identify an image as a dog</a:t>
            </a:r>
            <a:r>
              <a:rPr lang="en-US" sz="2400" dirty="0" smtClean="0"/>
              <a:t>.</a:t>
            </a:r>
          </a:p>
          <a:p>
            <a:pPr marL="285750" indent="-285750">
              <a:buFont typeface="Arial" panose="020B0604020202020204" pitchFamily="34" charset="0"/>
              <a:buChar char="•"/>
            </a:pPr>
            <a:r>
              <a:rPr lang="en-US" sz="2400" dirty="0"/>
              <a:t>Convolution operation is performed with the help of the following three elements</a:t>
            </a:r>
            <a:r>
              <a:rPr lang="en-US" sz="2400" dirty="0" smtClean="0"/>
              <a:t>:</a:t>
            </a:r>
            <a:endParaRPr lang="en-US" sz="2400" dirty="0"/>
          </a:p>
          <a:p>
            <a:r>
              <a:rPr lang="en-US" sz="2400" dirty="0" smtClean="0"/>
              <a:t>	</a:t>
            </a:r>
            <a:r>
              <a:rPr lang="en-US" sz="2000" dirty="0" smtClean="0"/>
              <a:t>1. </a:t>
            </a:r>
            <a:r>
              <a:rPr lang="en-US" sz="2000" b="1" dirty="0" smtClean="0"/>
              <a:t>Input Image</a:t>
            </a:r>
            <a:r>
              <a:rPr lang="en-US" sz="2000" dirty="0" smtClean="0"/>
              <a:t> - </a:t>
            </a:r>
            <a:r>
              <a:rPr lang="en-US" sz="2000" dirty="0"/>
              <a:t>The image to convolve on</a:t>
            </a:r>
          </a:p>
          <a:p>
            <a:r>
              <a:rPr lang="en-US" sz="2000" dirty="0" smtClean="0"/>
              <a:t>	2. </a:t>
            </a:r>
            <a:r>
              <a:rPr lang="en-US" sz="2000" b="1" dirty="0" smtClean="0"/>
              <a:t>Filter/ Feature Detector/Kernel</a:t>
            </a:r>
            <a:r>
              <a:rPr lang="en-US" sz="2000" dirty="0" smtClean="0"/>
              <a:t> - </a:t>
            </a:r>
            <a:r>
              <a:rPr lang="en-US" sz="2000" dirty="0"/>
              <a:t>They are the bunch of numbers in a matrix form intended </a:t>
            </a:r>
            <a:r>
              <a:rPr lang="en-US" sz="2000" dirty="0" smtClean="0"/>
              <a:t>	to </a:t>
            </a:r>
            <a:r>
              <a:rPr lang="en-US" sz="2000" dirty="0"/>
              <a:t>extract features from an </a:t>
            </a:r>
            <a:r>
              <a:rPr lang="en-US" sz="2000" dirty="0" smtClean="0"/>
              <a:t>image. They </a:t>
            </a:r>
            <a:r>
              <a:rPr lang="en-US" sz="2000" dirty="0"/>
              <a:t>can be </a:t>
            </a:r>
            <a:r>
              <a:rPr lang="en-US" sz="2000" dirty="0" smtClean="0"/>
              <a:t>1-dimensional, 2-dimensional </a:t>
            </a:r>
            <a:r>
              <a:rPr lang="en-US" sz="2000" dirty="0"/>
              <a:t>or 3-dimensional</a:t>
            </a:r>
          </a:p>
          <a:p>
            <a:r>
              <a:rPr lang="en-US" sz="2000" dirty="0" smtClean="0"/>
              <a:t>	3. </a:t>
            </a:r>
            <a:r>
              <a:rPr lang="en-US" sz="2000" b="1" dirty="0" smtClean="0"/>
              <a:t>Output</a:t>
            </a:r>
            <a:r>
              <a:rPr lang="en-US" sz="2000" dirty="0" smtClean="0"/>
              <a:t>/ </a:t>
            </a:r>
            <a:r>
              <a:rPr lang="en-US" sz="2000" b="1" dirty="0" smtClean="0"/>
              <a:t>Feature </a:t>
            </a:r>
            <a:r>
              <a:rPr lang="en-US" sz="2000" b="1" dirty="0"/>
              <a:t>Map</a:t>
            </a:r>
            <a:r>
              <a:rPr lang="en-US" sz="2000" b="1" dirty="0" smtClean="0"/>
              <a:t>/ Activation Map</a:t>
            </a:r>
            <a:r>
              <a:rPr lang="en-US" sz="2000" dirty="0" smtClean="0"/>
              <a:t> - </a:t>
            </a:r>
            <a:r>
              <a:rPr lang="en-US" sz="2000" dirty="0"/>
              <a:t>The resultant of the convolution operation </a:t>
            </a:r>
            <a:r>
              <a:rPr lang="en-US" sz="2000" dirty="0" smtClean="0"/>
              <a:t>	performed </a:t>
            </a:r>
            <a:r>
              <a:rPr lang="en-US" sz="2000" dirty="0"/>
              <a:t>between image and feature detector gives a Feature Map.</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1187887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695960"/>
          </a:xfrm>
          <a:prstGeom prst="rect">
            <a:avLst/>
          </a:prstGeom>
          <a:noFill/>
          <a:ln>
            <a:noFill/>
          </a:ln>
        </p:spPr>
        <p:txBody>
          <a:bodyPr spcFirstLastPara="1" wrap="square" lIns="0" tIns="12700" rIns="0" bIns="0" anchor="t" anchorCtr="0">
            <a:spAutoFit/>
          </a:bodyPr>
          <a:lstStyle/>
          <a:p>
            <a:pPr marL="12700" lvl="0"/>
            <a:r>
              <a:rPr lang="en-US" sz="4400" dirty="0">
                <a:latin typeface="+mj-lt"/>
              </a:rPr>
              <a:t>Convolution</a:t>
            </a:r>
            <a:endParaRPr lang="en-US" sz="4400" dirty="0">
              <a:latin typeface="+mj-lt"/>
              <a:ea typeface="Calibri"/>
              <a:cs typeface="Calibri"/>
              <a:sym typeface="Calibri"/>
            </a:endParaRP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pic>
        <p:nvPicPr>
          <p:cNvPr id="3074" name="Picture 2" descr="https://entiretydotai.github.io/blogs/images/copied_from_nb/images/convoluti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965" y="1093066"/>
            <a:ext cx="10477500" cy="4657725"/>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389337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695960"/>
          </a:xfrm>
          <a:prstGeom prst="rect">
            <a:avLst/>
          </a:prstGeom>
          <a:noFill/>
          <a:ln>
            <a:noFill/>
          </a:ln>
        </p:spPr>
        <p:txBody>
          <a:bodyPr spcFirstLastPara="1" wrap="square" lIns="0" tIns="12700" rIns="0" bIns="0" anchor="t" anchorCtr="0">
            <a:spAutoFit/>
          </a:bodyPr>
          <a:lstStyle/>
          <a:p>
            <a:pPr marL="12700" lvl="0"/>
            <a:r>
              <a:rPr lang="en-US" sz="4400" dirty="0">
                <a:latin typeface="+mj-lt"/>
              </a:rPr>
              <a:t>Convolution</a:t>
            </a:r>
            <a:endParaRPr lang="en-US" sz="4400" dirty="0">
              <a:latin typeface="+mj-lt"/>
              <a:ea typeface="Calibri"/>
              <a:cs typeface="Calibri"/>
              <a:sym typeface="Calibri"/>
            </a:endParaRP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pic>
        <p:nvPicPr>
          <p:cNvPr id="4098" name="Picture 2" descr="https://i1.wp.com/timdettmers.com/wp-content/uploads/2015/03/convoluti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1882" y="1986146"/>
            <a:ext cx="7763851" cy="3001489"/>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4287689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88"/>
        <p:cNvGrpSpPr/>
        <p:nvPr/>
      </p:nvGrpSpPr>
      <p:grpSpPr>
        <a:xfrm>
          <a:off x="0" y="0"/>
          <a:ext cx="0" cy="0"/>
          <a:chOff x="0" y="0"/>
          <a:chExt cx="0" cy="0"/>
        </a:xfrm>
      </p:grpSpPr>
      <p:sp>
        <p:nvSpPr>
          <p:cNvPr id="89" name="Google Shape;89;p5"/>
          <p:cNvSpPr txBox="1">
            <a:spLocks noGrp="1"/>
          </p:cNvSpPr>
          <p:nvPr>
            <p:ph type="title"/>
          </p:nvPr>
        </p:nvSpPr>
        <p:spPr>
          <a:xfrm>
            <a:off x="-91671" y="196936"/>
            <a:ext cx="11668759" cy="2994025"/>
          </a:xfrm>
          <a:prstGeom prst="rect">
            <a:avLst/>
          </a:prstGeom>
          <a:noFill/>
          <a:ln>
            <a:noFill/>
          </a:ln>
        </p:spPr>
        <p:txBody>
          <a:bodyPr spcFirstLastPara="1" wrap="square" lIns="0" tIns="942925" rIns="0" bIns="0" anchor="t" anchorCtr="0">
            <a:spAutoFit/>
          </a:bodyPr>
          <a:lstStyle/>
          <a:p>
            <a:pPr marL="5466715" marR="5080" lvl="0" indent="454658" algn="l" rtl="0">
              <a:lnSpc>
                <a:spcPct val="108333"/>
              </a:lnSpc>
              <a:spcBef>
                <a:spcPts val="0"/>
              </a:spcBef>
              <a:spcAft>
                <a:spcPts val="0"/>
              </a:spcAft>
              <a:buNone/>
            </a:pPr>
            <a:r>
              <a:rPr lang="en-US" dirty="0">
                <a:latin typeface="+mj-lt"/>
              </a:rPr>
              <a:t>Convolutional Neural Networks</a:t>
            </a:r>
            <a:endParaRPr dirty="0">
              <a:latin typeface="+mj-lt"/>
            </a:endParaRPr>
          </a:p>
        </p:txBody>
      </p:sp>
      <p:sp>
        <p:nvSpPr>
          <p:cNvPr id="90" name="Google Shape;90;p5"/>
          <p:cNvSpPr txBox="1"/>
          <p:nvPr/>
        </p:nvSpPr>
        <p:spPr>
          <a:xfrm>
            <a:off x="5884253" y="3867114"/>
            <a:ext cx="4812994" cy="2022590"/>
          </a:xfrm>
          <a:prstGeom prst="rect">
            <a:avLst/>
          </a:prstGeom>
          <a:noFill/>
          <a:ln>
            <a:noFill/>
          </a:ln>
        </p:spPr>
        <p:txBody>
          <a:bodyPr spcFirstLastPara="1" wrap="square" lIns="0" tIns="27925" rIns="0" bIns="0" anchor="t" anchorCtr="0">
            <a:spAutoFit/>
          </a:bodyPr>
          <a:lstStyle/>
          <a:p>
            <a:pPr marL="1116965" marR="5080" lvl="0" indent="-1104900" algn="l" rtl="0">
              <a:lnSpc>
                <a:spcPct val="119696"/>
              </a:lnSpc>
              <a:spcBef>
                <a:spcPts val="0"/>
              </a:spcBef>
              <a:spcAft>
                <a:spcPts val="0"/>
              </a:spcAft>
              <a:buNone/>
            </a:pPr>
            <a:r>
              <a:rPr lang="en-US" sz="5400" dirty="0">
                <a:latin typeface="+mj-lt"/>
                <a:ea typeface="Calibri"/>
                <a:cs typeface="Calibri"/>
                <a:sym typeface="Calibri"/>
              </a:rPr>
              <a:t>Edge detection example</a:t>
            </a:r>
            <a:endParaRPr sz="5400" dirty="0">
              <a:latin typeface="+mj-lt"/>
              <a:ea typeface="Calibri"/>
              <a:cs typeface="Calibri"/>
              <a:sym typeface="Calibri"/>
            </a:endParaRPr>
          </a:p>
        </p:txBody>
      </p:sp>
      <p:sp>
        <p:nvSpPr>
          <p:cNvPr id="91" name="Google Shape;91;p5"/>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92" name="Google Shape;92;p5"/>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825354"/>
          </a:xfrm>
          <a:prstGeom prst="rect">
            <a:avLst/>
          </a:prstGeom>
          <a:noFill/>
          <a:ln>
            <a:noFill/>
          </a:ln>
        </p:spPr>
        <p:txBody>
          <a:bodyPr spcFirstLastPara="1" wrap="square" lIns="0" tIns="12700" rIns="0" bIns="0" anchor="t" anchorCtr="0">
            <a:spAutoFit/>
          </a:bodyPr>
          <a:lstStyle/>
          <a:p>
            <a:pPr marL="1116965" marR="5080" lvl="0" indent="-1104900" algn="l" rtl="0">
              <a:lnSpc>
                <a:spcPct val="119696"/>
              </a:lnSpc>
              <a:spcBef>
                <a:spcPts val="0"/>
              </a:spcBef>
              <a:spcAft>
                <a:spcPts val="0"/>
              </a:spcAft>
              <a:buNone/>
            </a:pPr>
            <a:r>
              <a:rPr lang="en-US" sz="4400" dirty="0">
                <a:latin typeface="+mj-lt"/>
                <a:ea typeface="Calibri"/>
                <a:cs typeface="Calibri"/>
                <a:sym typeface="Calibri"/>
              </a:rPr>
              <a:t>Edge detection example</a:t>
            </a: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388918"/>
            <a:ext cx="11677535"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convolution operation is a fundamental part of convolutional neural </a:t>
            </a:r>
            <a:r>
              <a:rPr lang="en-US" sz="2400" dirty="0" smtClean="0"/>
              <a:t>networks.</a:t>
            </a:r>
          </a:p>
          <a:p>
            <a:pPr marL="285750" indent="-285750">
              <a:buFont typeface="Arial" panose="020B0604020202020204" pitchFamily="34" charset="0"/>
              <a:buChar char="•"/>
            </a:pPr>
            <a:r>
              <a:rPr lang="en-US" sz="2400" dirty="0"/>
              <a:t>Early neural network layers can identify edges, while subsequent layers progress to recognizing objects and eventually complete objects like </a:t>
            </a:r>
            <a:r>
              <a:rPr lang="en-US" sz="2400" dirty="0" smtClean="0"/>
              <a:t>faces. </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smtClean="0"/>
              <a:t>Example 1:</a:t>
            </a:r>
          </a:p>
        </p:txBody>
      </p:sp>
      <p:grpSp>
        <p:nvGrpSpPr>
          <p:cNvPr id="3" name="Group 2"/>
          <p:cNvGrpSpPr/>
          <p:nvPr/>
        </p:nvGrpSpPr>
        <p:grpSpPr>
          <a:xfrm>
            <a:off x="1305942" y="3526135"/>
            <a:ext cx="9810076" cy="1413662"/>
            <a:chOff x="1305942" y="3181751"/>
            <a:chExt cx="9810076" cy="1413662"/>
          </a:xfrm>
        </p:grpSpPr>
        <p:pic>
          <p:nvPicPr>
            <p:cNvPr id="5" name="Google Shape;98;p6"/>
            <p:cNvPicPr preferRelativeResize="0"/>
            <p:nvPr/>
          </p:nvPicPr>
          <p:blipFill rotWithShape="1">
            <a:blip r:embed="rId4">
              <a:alphaModFix/>
            </a:blip>
            <a:srcRect/>
            <a:stretch/>
          </p:blipFill>
          <p:spPr>
            <a:xfrm>
              <a:off x="1305942" y="3181751"/>
              <a:ext cx="2168931" cy="1413662"/>
            </a:xfrm>
            <a:prstGeom prst="rect">
              <a:avLst/>
            </a:prstGeom>
            <a:noFill/>
            <a:ln>
              <a:noFill/>
            </a:ln>
          </p:spPr>
        </p:pic>
        <p:pic>
          <p:nvPicPr>
            <p:cNvPr id="6" name="Google Shape;99;p6"/>
            <p:cNvPicPr preferRelativeResize="0"/>
            <p:nvPr/>
          </p:nvPicPr>
          <p:blipFill rotWithShape="1">
            <a:blip r:embed="rId5">
              <a:alphaModFix/>
            </a:blip>
            <a:srcRect/>
            <a:stretch/>
          </p:blipFill>
          <p:spPr>
            <a:xfrm>
              <a:off x="4883023" y="3181751"/>
              <a:ext cx="2356612" cy="1413662"/>
            </a:xfrm>
            <a:prstGeom prst="rect">
              <a:avLst/>
            </a:prstGeom>
            <a:noFill/>
            <a:ln>
              <a:noFill/>
            </a:ln>
          </p:spPr>
        </p:pic>
        <p:pic>
          <p:nvPicPr>
            <p:cNvPr id="7" name="Google Shape;100;p6"/>
            <p:cNvPicPr preferRelativeResize="0"/>
            <p:nvPr/>
          </p:nvPicPr>
          <p:blipFill rotWithShape="1">
            <a:blip r:embed="rId6">
              <a:alphaModFix/>
            </a:blip>
            <a:srcRect/>
            <a:stretch/>
          </p:blipFill>
          <p:spPr>
            <a:xfrm>
              <a:off x="8647773" y="3181751"/>
              <a:ext cx="2468245" cy="1413662"/>
            </a:xfrm>
            <a:prstGeom prst="rect">
              <a:avLst/>
            </a:prstGeom>
            <a:noFill/>
            <a:ln>
              <a:noFill/>
            </a:ln>
          </p:spPr>
        </p:pic>
        <p:sp>
          <p:nvSpPr>
            <p:cNvPr id="8" name="Google Shape;101;p6"/>
            <p:cNvSpPr/>
            <p:nvPr/>
          </p:nvSpPr>
          <p:spPr>
            <a:xfrm>
              <a:off x="3652533" y="3825082"/>
              <a:ext cx="1052830" cy="127000"/>
            </a:xfrm>
            <a:custGeom>
              <a:avLst/>
              <a:gdLst/>
              <a:ahLst/>
              <a:cxnLst/>
              <a:rect l="l" t="t" r="r" b="b"/>
              <a:pathLst>
                <a:path w="1052829" h="127000" extrusionOk="0">
                  <a:moveTo>
                    <a:pt x="925830" y="0"/>
                  </a:moveTo>
                  <a:lnTo>
                    <a:pt x="925830" y="50800"/>
                  </a:lnTo>
                  <a:lnTo>
                    <a:pt x="0" y="50800"/>
                  </a:lnTo>
                  <a:lnTo>
                    <a:pt x="0" y="76200"/>
                  </a:lnTo>
                  <a:lnTo>
                    <a:pt x="925830" y="76200"/>
                  </a:lnTo>
                  <a:lnTo>
                    <a:pt x="925830" y="127000"/>
                  </a:lnTo>
                  <a:lnTo>
                    <a:pt x="1052830" y="63500"/>
                  </a:lnTo>
                  <a:lnTo>
                    <a:pt x="92583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 name="Google Shape;102;p6"/>
            <p:cNvSpPr/>
            <p:nvPr/>
          </p:nvSpPr>
          <p:spPr>
            <a:xfrm>
              <a:off x="7417296" y="3825082"/>
              <a:ext cx="1052830" cy="127000"/>
            </a:xfrm>
            <a:custGeom>
              <a:avLst/>
              <a:gdLst/>
              <a:ahLst/>
              <a:cxnLst/>
              <a:rect l="l" t="t" r="r" b="b"/>
              <a:pathLst>
                <a:path w="1052829" h="127000" extrusionOk="0">
                  <a:moveTo>
                    <a:pt x="925829" y="0"/>
                  </a:moveTo>
                  <a:lnTo>
                    <a:pt x="925829" y="50800"/>
                  </a:lnTo>
                  <a:lnTo>
                    <a:pt x="0" y="50800"/>
                  </a:lnTo>
                  <a:lnTo>
                    <a:pt x="0" y="76200"/>
                  </a:lnTo>
                  <a:lnTo>
                    <a:pt x="925829" y="76200"/>
                  </a:lnTo>
                  <a:lnTo>
                    <a:pt x="925829" y="127000"/>
                  </a:lnTo>
                  <a:lnTo>
                    <a:pt x="1052829" y="63500"/>
                  </a:lnTo>
                  <a:lnTo>
                    <a:pt x="92582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extLst>
      <p:ext uri="{BB962C8B-B14F-4D97-AF65-F5344CB8AC3E}">
        <p14:creationId xmlns:p14="http://schemas.microsoft.com/office/powerpoint/2010/main" val="1673478634"/>
      </p:ext>
    </p:extLst>
  </p:cSld>
  <p:clrMapOvr>
    <a:masterClrMapping/>
  </p:clrMapOvr>
  <p:extLst mod="1">
    <p:ext uri="{6950BFC3-D8DA-4A85-94F7-54DA5524770B}">
      <p188:commentRel xmlns="" xmlns:p188="http://schemas.microsoft.com/office/powerpoint/2018/8/main" r:id="rId7"/>
    </p:ext>
  </p:extLs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695960"/>
          </a:xfrm>
          <a:prstGeom prst="rect">
            <a:avLst/>
          </a:prstGeom>
          <a:noFill/>
          <a:ln>
            <a:noFill/>
          </a:ln>
        </p:spPr>
        <p:txBody>
          <a:bodyPr spcFirstLastPara="1" wrap="square" lIns="0" tIns="12700" rIns="0" bIns="0" anchor="t" anchorCtr="0">
            <a:spAutoFit/>
          </a:bodyPr>
          <a:lstStyle/>
          <a:p>
            <a:pPr marL="12700" lvl="0"/>
            <a:r>
              <a:rPr lang="en-US" sz="4400" dirty="0">
                <a:latin typeface="+mj-lt"/>
              </a:rPr>
              <a:t>Convolution</a:t>
            </a:r>
            <a:endParaRPr lang="en-US" sz="4400" dirty="0">
              <a:latin typeface="+mj-lt"/>
              <a:ea typeface="Calibri"/>
              <a:cs typeface="Calibri"/>
              <a:sym typeface="Calibri"/>
            </a:endParaRP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pic>
        <p:nvPicPr>
          <p:cNvPr id="5122" name="Picture 2" descr="https://entiretydotai.github.io/blogs/images/copied_from_nb/images/feature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370" y="2108880"/>
            <a:ext cx="11964128" cy="46481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1861CD1-0C76-73F6-3768-2FEBDF56A522}"/>
              </a:ext>
            </a:extLst>
          </p:cNvPr>
          <p:cNvSpPr txBox="1"/>
          <p:nvPr/>
        </p:nvSpPr>
        <p:spPr>
          <a:xfrm>
            <a:off x="261620" y="1388918"/>
            <a:ext cx="11677535" cy="461665"/>
          </a:xfrm>
          <a:prstGeom prst="rect">
            <a:avLst/>
          </a:prstGeom>
          <a:noFill/>
        </p:spPr>
        <p:txBody>
          <a:bodyPr wrap="square" rtlCol="0">
            <a:spAutoFit/>
          </a:bodyPr>
          <a:lstStyle/>
          <a:p>
            <a:pPr marL="285750" indent="-285750">
              <a:buFont typeface="Arial" panose="020B0604020202020204" pitchFamily="34" charset="0"/>
              <a:buChar char="•"/>
            </a:pPr>
            <a:r>
              <a:rPr lang="en-US" sz="2400" dirty="0" smtClean="0"/>
              <a:t>Example 2:</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extLst>
      <p:ext uri="{BB962C8B-B14F-4D97-AF65-F5344CB8AC3E}">
        <p14:creationId xmlns:p14="http://schemas.microsoft.com/office/powerpoint/2010/main" val="32501544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695960"/>
          </a:xfrm>
          <a:prstGeom prst="rect">
            <a:avLst/>
          </a:prstGeom>
          <a:noFill/>
          <a:ln>
            <a:noFill/>
          </a:ln>
        </p:spPr>
        <p:txBody>
          <a:bodyPr spcFirstLastPara="1" wrap="square" lIns="0" tIns="12700" rIns="0" bIns="0" anchor="t" anchorCtr="0">
            <a:spAutoFit/>
          </a:bodyPr>
          <a:lstStyle/>
          <a:p>
            <a:pPr marL="12700" lvl="0"/>
            <a:r>
              <a:rPr lang="en-US" sz="4400" dirty="0">
                <a:latin typeface="+mj-lt"/>
              </a:rPr>
              <a:t>Convolution</a:t>
            </a:r>
            <a:endParaRPr lang="en-US" sz="4400" dirty="0">
              <a:latin typeface="+mj-lt"/>
              <a:ea typeface="Calibri"/>
              <a:cs typeface="Calibri"/>
              <a:sym typeface="Calibri"/>
            </a:endParaRP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pic>
        <p:nvPicPr>
          <p:cNvPr id="6146" name="Picture 2" descr="https://entiretydotai.github.io/blogs/images/copied_from_nb/images/feature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620" y="2107850"/>
            <a:ext cx="11684957" cy="4358729"/>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1061535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695960"/>
          </a:xfrm>
          <a:prstGeom prst="rect">
            <a:avLst/>
          </a:prstGeom>
          <a:noFill/>
          <a:ln>
            <a:noFill/>
          </a:ln>
        </p:spPr>
        <p:txBody>
          <a:bodyPr spcFirstLastPara="1" wrap="square" lIns="0" tIns="12700" rIns="0" bIns="0" anchor="t" anchorCtr="0">
            <a:spAutoFit/>
          </a:bodyPr>
          <a:lstStyle/>
          <a:p>
            <a:pPr marL="12700" lvl="0"/>
            <a:r>
              <a:rPr lang="en-US" sz="4400" dirty="0">
                <a:latin typeface="+mj-lt"/>
              </a:rPr>
              <a:t>Convolution</a:t>
            </a:r>
            <a:endParaRPr lang="en-US" sz="4400" dirty="0">
              <a:latin typeface="+mj-lt"/>
              <a:ea typeface="Calibri"/>
              <a:cs typeface="Calibri"/>
              <a:sym typeface="Calibri"/>
            </a:endParaRP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pic>
        <p:nvPicPr>
          <p:cNvPr id="7170" name="Picture 2" descr="https://entiretydotai.github.io/blogs/images/copied_from_nb/images/feature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3516" y="1265108"/>
            <a:ext cx="10236167" cy="6339353"/>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671383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825354"/>
          </a:xfrm>
          <a:prstGeom prst="rect">
            <a:avLst/>
          </a:prstGeom>
          <a:noFill/>
          <a:ln>
            <a:noFill/>
          </a:ln>
        </p:spPr>
        <p:txBody>
          <a:bodyPr spcFirstLastPara="1" wrap="square" lIns="0" tIns="12700" rIns="0" bIns="0" anchor="t" anchorCtr="0">
            <a:spAutoFit/>
          </a:bodyPr>
          <a:lstStyle/>
          <a:p>
            <a:pPr marL="1116965" marR="5080" lvl="0" indent="-1104900" algn="l" rtl="0">
              <a:lnSpc>
                <a:spcPct val="119696"/>
              </a:lnSpc>
              <a:spcBef>
                <a:spcPts val="0"/>
              </a:spcBef>
              <a:spcAft>
                <a:spcPts val="0"/>
              </a:spcAft>
              <a:buNone/>
            </a:pPr>
            <a:r>
              <a:rPr lang="en-US" sz="4400" dirty="0">
                <a:latin typeface="+mj-lt"/>
                <a:ea typeface="Calibri"/>
                <a:cs typeface="Calibri"/>
                <a:sym typeface="Calibri"/>
              </a:rPr>
              <a:t>Edge detection example</a:t>
            </a: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388918"/>
            <a:ext cx="11677535"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T</a:t>
            </a:r>
            <a:r>
              <a:rPr lang="en-US" sz="2400" dirty="0" smtClean="0"/>
              <a:t>o </a:t>
            </a:r>
            <a:r>
              <a:rPr lang="en-US" sz="2400" dirty="0"/>
              <a:t>identify objects in a picture, a computer might start by detecting vertical edges, which correspond to buildings and pedestrians in the given example. Similarly, horizontal edges can be detected, such as the railing line in the image.</a:t>
            </a:r>
          </a:p>
        </p:txBody>
      </p:sp>
      <p:grpSp>
        <p:nvGrpSpPr>
          <p:cNvPr id="3" name="Group 2"/>
          <p:cNvGrpSpPr/>
          <p:nvPr/>
        </p:nvGrpSpPr>
        <p:grpSpPr>
          <a:xfrm>
            <a:off x="3445218" y="3013111"/>
            <a:ext cx="6274841" cy="3519986"/>
            <a:chOff x="3508718" y="3222980"/>
            <a:chExt cx="6274841" cy="3519986"/>
          </a:xfrm>
        </p:grpSpPr>
        <p:sp>
          <p:nvSpPr>
            <p:cNvPr id="5" name="Google Shape;103;p6"/>
            <p:cNvSpPr txBox="1"/>
            <p:nvPr/>
          </p:nvSpPr>
          <p:spPr>
            <a:xfrm>
              <a:off x="7646275" y="4438929"/>
              <a:ext cx="1958975"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mj-lt"/>
                  <a:ea typeface="Cambria"/>
                  <a:cs typeface="Cambria"/>
                  <a:sym typeface="Cambria"/>
                </a:rPr>
                <a:t>vertical edges</a:t>
              </a:r>
              <a:endParaRPr sz="2400">
                <a:latin typeface="+mj-lt"/>
                <a:ea typeface="Cambria"/>
                <a:cs typeface="Cambria"/>
                <a:sym typeface="Cambria"/>
              </a:endParaRPr>
            </a:p>
          </p:txBody>
        </p:sp>
        <p:grpSp>
          <p:nvGrpSpPr>
            <p:cNvPr id="6" name="Google Shape;104;p6"/>
            <p:cNvGrpSpPr/>
            <p:nvPr/>
          </p:nvGrpSpPr>
          <p:grpSpPr>
            <a:xfrm>
              <a:off x="3508718" y="3786479"/>
              <a:ext cx="3897629" cy="1889125"/>
              <a:chOff x="3508718" y="3786479"/>
              <a:chExt cx="3897629" cy="1889125"/>
            </a:xfrm>
          </p:grpSpPr>
          <p:sp>
            <p:nvSpPr>
              <p:cNvPr id="7" name="Google Shape;105;p6"/>
              <p:cNvSpPr/>
              <p:nvPr/>
            </p:nvSpPr>
            <p:spPr>
              <a:xfrm>
                <a:off x="5565483" y="3786479"/>
                <a:ext cx="1840864" cy="1889125"/>
              </a:xfrm>
              <a:custGeom>
                <a:avLst/>
                <a:gdLst/>
                <a:ahLst/>
                <a:cxnLst/>
                <a:rect l="l" t="t" r="r" b="b"/>
                <a:pathLst>
                  <a:path w="1840865" h="1889125" extrusionOk="0">
                    <a:moveTo>
                      <a:pt x="1840268" y="0"/>
                    </a:moveTo>
                    <a:lnTo>
                      <a:pt x="1698294" y="2565"/>
                    </a:lnTo>
                    <a:lnTo>
                      <a:pt x="1721840" y="47586"/>
                    </a:lnTo>
                    <a:lnTo>
                      <a:pt x="0" y="947775"/>
                    </a:lnTo>
                    <a:lnTo>
                      <a:pt x="5880" y="959040"/>
                    </a:lnTo>
                    <a:lnTo>
                      <a:pt x="139" y="970368"/>
                    </a:lnTo>
                    <a:lnTo>
                      <a:pt x="1721243" y="1842427"/>
                    </a:lnTo>
                    <a:lnTo>
                      <a:pt x="1698282" y="1887740"/>
                    </a:lnTo>
                    <a:lnTo>
                      <a:pt x="1840268" y="1888502"/>
                    </a:lnTo>
                    <a:lnTo>
                      <a:pt x="1755686" y="1774456"/>
                    </a:lnTo>
                    <a:lnTo>
                      <a:pt x="1732724" y="1819770"/>
                    </a:lnTo>
                    <a:lnTo>
                      <a:pt x="33642" y="958862"/>
                    </a:lnTo>
                    <a:lnTo>
                      <a:pt x="1733600" y="70091"/>
                    </a:lnTo>
                    <a:lnTo>
                      <a:pt x="1757146" y="115112"/>
                    </a:lnTo>
                    <a:lnTo>
                      <a:pt x="1840268"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8" name="Google Shape;106;p6"/>
              <p:cNvPicPr preferRelativeResize="0"/>
              <p:nvPr/>
            </p:nvPicPr>
            <p:blipFill rotWithShape="1">
              <a:blip r:embed="rId4">
                <a:alphaModFix/>
              </a:blip>
              <a:srcRect/>
              <a:stretch/>
            </p:blipFill>
            <p:spPr>
              <a:xfrm>
                <a:off x="3508718" y="4137152"/>
                <a:ext cx="2062645" cy="1216710"/>
              </a:xfrm>
              <a:prstGeom prst="rect">
                <a:avLst/>
              </a:prstGeom>
              <a:noFill/>
              <a:ln>
                <a:noFill/>
              </a:ln>
            </p:spPr>
          </p:pic>
          <p:sp>
            <p:nvSpPr>
              <p:cNvPr id="9" name="Google Shape;107;p6"/>
              <p:cNvSpPr/>
              <p:nvPr/>
            </p:nvSpPr>
            <p:spPr>
              <a:xfrm>
                <a:off x="3581285" y="4749847"/>
                <a:ext cx="19685" cy="318135"/>
              </a:xfrm>
              <a:custGeom>
                <a:avLst/>
                <a:gdLst/>
                <a:ahLst/>
                <a:cxnLst/>
                <a:rect l="l" t="t" r="r" b="b"/>
                <a:pathLst>
                  <a:path w="19685" h="318135" extrusionOk="0">
                    <a:moveTo>
                      <a:pt x="0" y="6480"/>
                    </a:moveTo>
                    <a:lnTo>
                      <a:pt x="0" y="0"/>
                    </a:lnTo>
                    <a:lnTo>
                      <a:pt x="6480" y="0"/>
                    </a:lnTo>
                    <a:lnTo>
                      <a:pt x="6480" y="6480"/>
                    </a:lnTo>
                    <a:lnTo>
                      <a:pt x="6480" y="12600"/>
                    </a:lnTo>
                    <a:lnTo>
                      <a:pt x="6480" y="203040"/>
                    </a:lnTo>
                    <a:lnTo>
                      <a:pt x="12960" y="247680"/>
                    </a:lnTo>
                    <a:lnTo>
                      <a:pt x="12960" y="285840"/>
                    </a:lnTo>
                    <a:lnTo>
                      <a:pt x="19080" y="311040"/>
                    </a:lnTo>
                    <a:lnTo>
                      <a:pt x="19080" y="317520"/>
                    </a:lnTo>
                  </a:path>
                </a:pathLst>
              </a:custGeom>
              <a:noFill/>
              <a:ln w="190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 name="Google Shape;108;p6"/>
              <p:cNvSpPr/>
              <p:nvPr/>
            </p:nvSpPr>
            <p:spPr>
              <a:xfrm>
                <a:off x="4051446" y="4737247"/>
                <a:ext cx="12700" cy="323850"/>
              </a:xfrm>
              <a:custGeom>
                <a:avLst/>
                <a:gdLst/>
                <a:ahLst/>
                <a:cxnLst/>
                <a:rect l="l" t="t" r="r" b="b"/>
                <a:pathLst>
                  <a:path w="12700" h="323850" extrusionOk="0">
                    <a:moveTo>
                      <a:pt x="0" y="0"/>
                    </a:moveTo>
                    <a:lnTo>
                      <a:pt x="0" y="0"/>
                    </a:lnTo>
                    <a:lnTo>
                      <a:pt x="0" y="298440"/>
                    </a:lnTo>
                    <a:lnTo>
                      <a:pt x="6120" y="317520"/>
                    </a:lnTo>
                    <a:lnTo>
                      <a:pt x="6120" y="323640"/>
                    </a:lnTo>
                    <a:lnTo>
                      <a:pt x="12600" y="323640"/>
                    </a:lnTo>
                  </a:path>
                </a:pathLst>
              </a:custGeom>
              <a:noFill/>
              <a:ln w="190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 name="Google Shape;109;p6"/>
              <p:cNvSpPr/>
              <p:nvPr/>
            </p:nvSpPr>
            <p:spPr>
              <a:xfrm>
                <a:off x="4165566" y="4756327"/>
                <a:ext cx="19685" cy="285750"/>
              </a:xfrm>
              <a:custGeom>
                <a:avLst/>
                <a:gdLst/>
                <a:ahLst/>
                <a:cxnLst/>
                <a:rect l="l" t="t" r="r" b="b"/>
                <a:pathLst>
                  <a:path w="19685" h="285750" extrusionOk="0">
                    <a:moveTo>
                      <a:pt x="0" y="0"/>
                    </a:moveTo>
                    <a:lnTo>
                      <a:pt x="0" y="6120"/>
                    </a:lnTo>
                    <a:lnTo>
                      <a:pt x="0" y="12600"/>
                    </a:lnTo>
                    <a:lnTo>
                      <a:pt x="0" y="50760"/>
                    </a:lnTo>
                    <a:lnTo>
                      <a:pt x="6480" y="101520"/>
                    </a:lnTo>
                    <a:lnTo>
                      <a:pt x="6480" y="164880"/>
                    </a:lnTo>
                    <a:lnTo>
                      <a:pt x="6480" y="222120"/>
                    </a:lnTo>
                    <a:lnTo>
                      <a:pt x="6480" y="260280"/>
                    </a:lnTo>
                    <a:lnTo>
                      <a:pt x="12600" y="279360"/>
                    </a:lnTo>
                    <a:lnTo>
                      <a:pt x="19080" y="285480"/>
                    </a:lnTo>
                  </a:path>
                </a:pathLst>
              </a:custGeom>
              <a:noFill/>
              <a:ln w="190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 name="Google Shape;110;p6"/>
              <p:cNvSpPr/>
              <p:nvPr/>
            </p:nvSpPr>
            <p:spPr>
              <a:xfrm>
                <a:off x="4248006" y="4794127"/>
                <a:ext cx="26034" cy="254635"/>
              </a:xfrm>
              <a:custGeom>
                <a:avLst/>
                <a:gdLst/>
                <a:ahLst/>
                <a:cxnLst/>
                <a:rect l="l" t="t" r="r" b="b"/>
                <a:pathLst>
                  <a:path w="26035" h="254635" extrusionOk="0">
                    <a:moveTo>
                      <a:pt x="0" y="0"/>
                    </a:moveTo>
                    <a:lnTo>
                      <a:pt x="6480" y="0"/>
                    </a:lnTo>
                    <a:lnTo>
                      <a:pt x="6480" y="19080"/>
                    </a:lnTo>
                    <a:lnTo>
                      <a:pt x="6480" y="57240"/>
                    </a:lnTo>
                    <a:lnTo>
                      <a:pt x="6480" y="114480"/>
                    </a:lnTo>
                    <a:lnTo>
                      <a:pt x="12960" y="177840"/>
                    </a:lnTo>
                    <a:lnTo>
                      <a:pt x="12960" y="222480"/>
                    </a:lnTo>
                    <a:lnTo>
                      <a:pt x="19080" y="247680"/>
                    </a:lnTo>
                    <a:lnTo>
                      <a:pt x="25560" y="254160"/>
                    </a:lnTo>
                  </a:path>
                </a:pathLst>
              </a:custGeom>
              <a:noFill/>
              <a:ln w="190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 name="Google Shape;111;p6"/>
              <p:cNvSpPr/>
              <p:nvPr/>
            </p:nvSpPr>
            <p:spPr>
              <a:xfrm>
                <a:off x="4419727" y="4730767"/>
                <a:ext cx="12700" cy="311150"/>
              </a:xfrm>
              <a:custGeom>
                <a:avLst/>
                <a:gdLst/>
                <a:ahLst/>
                <a:cxnLst/>
                <a:rect l="l" t="t" r="r" b="b"/>
                <a:pathLst>
                  <a:path w="12700" h="311150" extrusionOk="0">
                    <a:moveTo>
                      <a:pt x="0" y="0"/>
                    </a:moveTo>
                    <a:lnTo>
                      <a:pt x="0" y="6480"/>
                    </a:lnTo>
                    <a:lnTo>
                      <a:pt x="0" y="19080"/>
                    </a:lnTo>
                    <a:lnTo>
                      <a:pt x="0" y="63360"/>
                    </a:lnTo>
                    <a:lnTo>
                      <a:pt x="0" y="133200"/>
                    </a:lnTo>
                    <a:lnTo>
                      <a:pt x="6120" y="209520"/>
                    </a:lnTo>
                    <a:lnTo>
                      <a:pt x="6120" y="272880"/>
                    </a:lnTo>
                    <a:lnTo>
                      <a:pt x="6120" y="304920"/>
                    </a:lnTo>
                    <a:lnTo>
                      <a:pt x="12600" y="311040"/>
                    </a:lnTo>
                  </a:path>
                </a:pathLst>
              </a:custGeom>
              <a:noFill/>
              <a:ln w="190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4" name="Google Shape;112;p6"/>
              <p:cNvSpPr/>
              <p:nvPr/>
            </p:nvSpPr>
            <p:spPr>
              <a:xfrm>
                <a:off x="4870447" y="4730767"/>
                <a:ext cx="19685" cy="286385"/>
              </a:xfrm>
              <a:custGeom>
                <a:avLst/>
                <a:gdLst/>
                <a:ahLst/>
                <a:cxnLst/>
                <a:rect l="l" t="t" r="r" b="b"/>
                <a:pathLst>
                  <a:path w="19685" h="286385" extrusionOk="0">
                    <a:moveTo>
                      <a:pt x="19080" y="0"/>
                    </a:moveTo>
                    <a:lnTo>
                      <a:pt x="19080" y="19080"/>
                    </a:lnTo>
                    <a:lnTo>
                      <a:pt x="12600" y="76320"/>
                    </a:lnTo>
                    <a:lnTo>
                      <a:pt x="6480" y="152280"/>
                    </a:lnTo>
                    <a:lnTo>
                      <a:pt x="0" y="216000"/>
                    </a:lnTo>
                    <a:lnTo>
                      <a:pt x="6480" y="260280"/>
                    </a:lnTo>
                    <a:lnTo>
                      <a:pt x="12600" y="279360"/>
                    </a:lnTo>
                    <a:lnTo>
                      <a:pt x="12600" y="285840"/>
                    </a:lnTo>
                  </a:path>
                </a:pathLst>
              </a:custGeom>
              <a:noFill/>
              <a:ln w="190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5" name="Google Shape;113;p6"/>
              <p:cNvSpPr/>
              <p:nvPr/>
            </p:nvSpPr>
            <p:spPr>
              <a:xfrm>
                <a:off x="4705207" y="4406766"/>
                <a:ext cx="83185" cy="685800"/>
              </a:xfrm>
              <a:custGeom>
                <a:avLst/>
                <a:gdLst/>
                <a:ahLst/>
                <a:cxnLst/>
                <a:rect l="l" t="t" r="r" b="b"/>
                <a:pathLst>
                  <a:path w="83185" h="685800" extrusionOk="0">
                    <a:moveTo>
                      <a:pt x="0" y="0"/>
                    </a:moveTo>
                    <a:lnTo>
                      <a:pt x="6480" y="0"/>
                    </a:lnTo>
                    <a:lnTo>
                      <a:pt x="12960" y="0"/>
                    </a:lnTo>
                    <a:lnTo>
                      <a:pt x="12960" y="6480"/>
                    </a:lnTo>
                    <a:lnTo>
                      <a:pt x="25560" y="12960"/>
                    </a:lnTo>
                    <a:lnTo>
                      <a:pt x="25560" y="19080"/>
                    </a:lnTo>
                    <a:lnTo>
                      <a:pt x="32040" y="32040"/>
                    </a:lnTo>
                    <a:lnTo>
                      <a:pt x="32040" y="44640"/>
                    </a:lnTo>
                    <a:lnTo>
                      <a:pt x="32040" y="51120"/>
                    </a:lnTo>
                    <a:lnTo>
                      <a:pt x="38160" y="63720"/>
                    </a:lnTo>
                    <a:lnTo>
                      <a:pt x="38160" y="76320"/>
                    </a:lnTo>
                    <a:lnTo>
                      <a:pt x="38160" y="88920"/>
                    </a:lnTo>
                    <a:lnTo>
                      <a:pt x="38160" y="101880"/>
                    </a:lnTo>
                    <a:lnTo>
                      <a:pt x="38160" y="114480"/>
                    </a:lnTo>
                    <a:lnTo>
                      <a:pt x="44640" y="120960"/>
                    </a:lnTo>
                    <a:lnTo>
                      <a:pt x="44640" y="133560"/>
                    </a:lnTo>
                    <a:lnTo>
                      <a:pt x="44640" y="139680"/>
                    </a:lnTo>
                    <a:lnTo>
                      <a:pt x="51120" y="146160"/>
                    </a:lnTo>
                    <a:lnTo>
                      <a:pt x="57240" y="158760"/>
                    </a:lnTo>
                    <a:lnTo>
                      <a:pt x="63720" y="165240"/>
                    </a:lnTo>
                    <a:lnTo>
                      <a:pt x="69840" y="177840"/>
                    </a:lnTo>
                    <a:lnTo>
                      <a:pt x="69840" y="190800"/>
                    </a:lnTo>
                    <a:lnTo>
                      <a:pt x="76320" y="196920"/>
                    </a:lnTo>
                    <a:lnTo>
                      <a:pt x="76320" y="203400"/>
                    </a:lnTo>
                    <a:lnTo>
                      <a:pt x="82800" y="216000"/>
                    </a:lnTo>
                    <a:lnTo>
                      <a:pt x="82800" y="222480"/>
                    </a:lnTo>
                    <a:lnTo>
                      <a:pt x="76320" y="235080"/>
                    </a:lnTo>
                    <a:lnTo>
                      <a:pt x="76320" y="241560"/>
                    </a:lnTo>
                    <a:lnTo>
                      <a:pt x="69840" y="254160"/>
                    </a:lnTo>
                    <a:lnTo>
                      <a:pt x="63720" y="266760"/>
                    </a:lnTo>
                    <a:lnTo>
                      <a:pt x="63720" y="279720"/>
                    </a:lnTo>
                    <a:lnTo>
                      <a:pt x="57240" y="285840"/>
                    </a:lnTo>
                    <a:lnTo>
                      <a:pt x="57240" y="292320"/>
                    </a:lnTo>
                    <a:lnTo>
                      <a:pt x="51120" y="298440"/>
                    </a:lnTo>
                    <a:lnTo>
                      <a:pt x="44640" y="311400"/>
                    </a:lnTo>
                    <a:lnTo>
                      <a:pt x="44640" y="317520"/>
                    </a:lnTo>
                    <a:lnTo>
                      <a:pt x="38160" y="330480"/>
                    </a:lnTo>
                    <a:lnTo>
                      <a:pt x="38160" y="336600"/>
                    </a:lnTo>
                    <a:lnTo>
                      <a:pt x="32040" y="349560"/>
                    </a:lnTo>
                    <a:lnTo>
                      <a:pt x="32040" y="362160"/>
                    </a:lnTo>
                    <a:lnTo>
                      <a:pt x="25560" y="374760"/>
                    </a:lnTo>
                    <a:lnTo>
                      <a:pt x="25560" y="559080"/>
                    </a:lnTo>
                    <a:lnTo>
                      <a:pt x="19080" y="584280"/>
                    </a:lnTo>
                    <a:lnTo>
                      <a:pt x="19080" y="615960"/>
                    </a:lnTo>
                    <a:lnTo>
                      <a:pt x="19080" y="648000"/>
                    </a:lnTo>
                    <a:lnTo>
                      <a:pt x="25560" y="673201"/>
                    </a:lnTo>
                    <a:lnTo>
                      <a:pt x="25560" y="679681"/>
                    </a:lnTo>
                    <a:lnTo>
                      <a:pt x="25560" y="685801"/>
                    </a:lnTo>
                  </a:path>
                </a:pathLst>
              </a:custGeom>
              <a:noFill/>
              <a:ln w="190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6" name="Google Shape;114;p6"/>
              <p:cNvSpPr/>
              <p:nvPr/>
            </p:nvSpPr>
            <p:spPr>
              <a:xfrm>
                <a:off x="3943446" y="4476606"/>
                <a:ext cx="50800" cy="610235"/>
              </a:xfrm>
              <a:custGeom>
                <a:avLst/>
                <a:gdLst/>
                <a:ahLst/>
                <a:cxnLst/>
                <a:rect l="l" t="t" r="r" b="b"/>
                <a:pathLst>
                  <a:path w="50800" h="610235" extrusionOk="0">
                    <a:moveTo>
                      <a:pt x="0" y="0"/>
                    </a:moveTo>
                    <a:lnTo>
                      <a:pt x="0" y="0"/>
                    </a:lnTo>
                    <a:lnTo>
                      <a:pt x="0" y="38160"/>
                    </a:lnTo>
                    <a:lnTo>
                      <a:pt x="6120" y="44640"/>
                    </a:lnTo>
                    <a:lnTo>
                      <a:pt x="6120" y="51120"/>
                    </a:lnTo>
                    <a:lnTo>
                      <a:pt x="12600" y="63720"/>
                    </a:lnTo>
                    <a:lnTo>
                      <a:pt x="19080" y="82800"/>
                    </a:lnTo>
                    <a:lnTo>
                      <a:pt x="19080" y="108000"/>
                    </a:lnTo>
                    <a:lnTo>
                      <a:pt x="25200" y="127080"/>
                    </a:lnTo>
                    <a:lnTo>
                      <a:pt x="38160" y="146160"/>
                    </a:lnTo>
                    <a:lnTo>
                      <a:pt x="44280" y="158760"/>
                    </a:lnTo>
                    <a:lnTo>
                      <a:pt x="44280" y="177840"/>
                    </a:lnTo>
                    <a:lnTo>
                      <a:pt x="50760" y="196920"/>
                    </a:lnTo>
                    <a:lnTo>
                      <a:pt x="50760" y="209880"/>
                    </a:lnTo>
                    <a:lnTo>
                      <a:pt x="50760" y="228600"/>
                    </a:lnTo>
                    <a:lnTo>
                      <a:pt x="50760" y="241560"/>
                    </a:lnTo>
                    <a:lnTo>
                      <a:pt x="50760" y="254160"/>
                    </a:lnTo>
                    <a:lnTo>
                      <a:pt x="50760" y="260640"/>
                    </a:lnTo>
                    <a:lnTo>
                      <a:pt x="44280" y="266760"/>
                    </a:lnTo>
                    <a:lnTo>
                      <a:pt x="44280" y="273240"/>
                    </a:lnTo>
                    <a:lnTo>
                      <a:pt x="38160" y="279720"/>
                    </a:lnTo>
                    <a:lnTo>
                      <a:pt x="31680" y="285840"/>
                    </a:lnTo>
                    <a:lnTo>
                      <a:pt x="25200" y="292320"/>
                    </a:lnTo>
                    <a:lnTo>
                      <a:pt x="19080" y="304920"/>
                    </a:lnTo>
                    <a:lnTo>
                      <a:pt x="19080" y="311400"/>
                    </a:lnTo>
                    <a:lnTo>
                      <a:pt x="19080" y="317520"/>
                    </a:lnTo>
                    <a:lnTo>
                      <a:pt x="19080" y="324000"/>
                    </a:lnTo>
                    <a:lnTo>
                      <a:pt x="12600" y="330480"/>
                    </a:lnTo>
                    <a:lnTo>
                      <a:pt x="12600" y="336600"/>
                    </a:lnTo>
                    <a:lnTo>
                      <a:pt x="12600" y="349560"/>
                    </a:lnTo>
                    <a:lnTo>
                      <a:pt x="6120" y="355680"/>
                    </a:lnTo>
                    <a:lnTo>
                      <a:pt x="6120" y="374760"/>
                    </a:lnTo>
                    <a:lnTo>
                      <a:pt x="6120" y="387360"/>
                    </a:lnTo>
                    <a:lnTo>
                      <a:pt x="6120" y="400320"/>
                    </a:lnTo>
                    <a:lnTo>
                      <a:pt x="6120" y="419400"/>
                    </a:lnTo>
                    <a:lnTo>
                      <a:pt x="12600" y="438480"/>
                    </a:lnTo>
                    <a:lnTo>
                      <a:pt x="19080" y="457200"/>
                    </a:lnTo>
                    <a:lnTo>
                      <a:pt x="19080" y="482760"/>
                    </a:lnTo>
                    <a:lnTo>
                      <a:pt x="25200" y="514440"/>
                    </a:lnTo>
                    <a:lnTo>
                      <a:pt x="25200" y="533520"/>
                    </a:lnTo>
                    <a:lnTo>
                      <a:pt x="31680" y="559080"/>
                    </a:lnTo>
                    <a:lnTo>
                      <a:pt x="31680" y="578160"/>
                    </a:lnTo>
                    <a:lnTo>
                      <a:pt x="31680" y="596880"/>
                    </a:lnTo>
                    <a:lnTo>
                      <a:pt x="38160" y="603360"/>
                    </a:lnTo>
                    <a:lnTo>
                      <a:pt x="38160" y="609840"/>
                    </a:lnTo>
                  </a:path>
                </a:pathLst>
              </a:custGeom>
              <a:noFill/>
              <a:ln w="190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7" name="Google Shape;115;p6"/>
              <p:cNvSpPr/>
              <p:nvPr/>
            </p:nvSpPr>
            <p:spPr>
              <a:xfrm>
                <a:off x="3549605" y="4718167"/>
                <a:ext cx="101600" cy="12700"/>
              </a:xfrm>
              <a:custGeom>
                <a:avLst/>
                <a:gdLst/>
                <a:ahLst/>
                <a:cxnLst/>
                <a:rect l="l" t="t" r="r" b="b"/>
                <a:pathLst>
                  <a:path w="101600" h="12700" extrusionOk="0">
                    <a:moveTo>
                      <a:pt x="0" y="6120"/>
                    </a:moveTo>
                    <a:lnTo>
                      <a:pt x="6480" y="0"/>
                    </a:lnTo>
                    <a:lnTo>
                      <a:pt x="12600" y="0"/>
                    </a:lnTo>
                    <a:lnTo>
                      <a:pt x="12600" y="6120"/>
                    </a:lnTo>
                    <a:lnTo>
                      <a:pt x="19080" y="6120"/>
                    </a:lnTo>
                    <a:lnTo>
                      <a:pt x="25560" y="0"/>
                    </a:lnTo>
                    <a:lnTo>
                      <a:pt x="38160" y="0"/>
                    </a:lnTo>
                    <a:lnTo>
                      <a:pt x="44640" y="0"/>
                    </a:lnTo>
                    <a:lnTo>
                      <a:pt x="57240" y="0"/>
                    </a:lnTo>
                    <a:lnTo>
                      <a:pt x="69840" y="0"/>
                    </a:lnTo>
                    <a:lnTo>
                      <a:pt x="82440" y="0"/>
                    </a:lnTo>
                    <a:lnTo>
                      <a:pt x="95400" y="6120"/>
                    </a:lnTo>
                    <a:lnTo>
                      <a:pt x="95400" y="12600"/>
                    </a:lnTo>
                    <a:lnTo>
                      <a:pt x="101520" y="12600"/>
                    </a:lnTo>
                  </a:path>
                </a:pathLst>
              </a:custGeom>
              <a:noFill/>
              <a:ln w="19050" cap="flat" cmpd="sng">
                <a:solidFill>
                  <a:srgbClr val="00B05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8" name="Google Shape;116;p6"/>
              <p:cNvSpPr/>
              <p:nvPr/>
            </p:nvSpPr>
            <p:spPr>
              <a:xfrm>
                <a:off x="3784686" y="4730767"/>
                <a:ext cx="38735" cy="6985"/>
              </a:xfrm>
              <a:custGeom>
                <a:avLst/>
                <a:gdLst/>
                <a:ahLst/>
                <a:cxnLst/>
                <a:rect l="l" t="t" r="r" b="b"/>
                <a:pathLst>
                  <a:path w="38735" h="6985" extrusionOk="0">
                    <a:moveTo>
                      <a:pt x="0" y="0"/>
                    </a:moveTo>
                    <a:lnTo>
                      <a:pt x="0" y="6480"/>
                    </a:lnTo>
                    <a:lnTo>
                      <a:pt x="12600" y="6480"/>
                    </a:lnTo>
                    <a:lnTo>
                      <a:pt x="25200" y="6480"/>
                    </a:lnTo>
                    <a:lnTo>
                      <a:pt x="38160" y="6480"/>
                    </a:lnTo>
                  </a:path>
                </a:pathLst>
              </a:custGeom>
              <a:noFill/>
              <a:ln w="19050" cap="flat" cmpd="sng">
                <a:solidFill>
                  <a:srgbClr val="00B05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9" name="Google Shape;117;p6"/>
              <p:cNvSpPr/>
              <p:nvPr/>
            </p:nvSpPr>
            <p:spPr>
              <a:xfrm>
                <a:off x="4032366" y="4737247"/>
                <a:ext cx="387985" cy="19685"/>
              </a:xfrm>
              <a:custGeom>
                <a:avLst/>
                <a:gdLst/>
                <a:ahLst/>
                <a:cxnLst/>
                <a:rect l="l" t="t" r="r" b="b"/>
                <a:pathLst>
                  <a:path w="387985" h="19685" extrusionOk="0">
                    <a:moveTo>
                      <a:pt x="0" y="0"/>
                    </a:moveTo>
                    <a:lnTo>
                      <a:pt x="0" y="0"/>
                    </a:lnTo>
                    <a:lnTo>
                      <a:pt x="50760" y="0"/>
                    </a:lnTo>
                    <a:lnTo>
                      <a:pt x="75960" y="6120"/>
                    </a:lnTo>
                    <a:lnTo>
                      <a:pt x="108000" y="6120"/>
                    </a:lnTo>
                    <a:lnTo>
                      <a:pt x="145800" y="6120"/>
                    </a:lnTo>
                    <a:lnTo>
                      <a:pt x="190440" y="6120"/>
                    </a:lnTo>
                    <a:lnTo>
                      <a:pt x="234720" y="12600"/>
                    </a:lnTo>
                    <a:lnTo>
                      <a:pt x="272880" y="12600"/>
                    </a:lnTo>
                    <a:lnTo>
                      <a:pt x="323640" y="19080"/>
                    </a:lnTo>
                    <a:lnTo>
                      <a:pt x="361800" y="19080"/>
                    </a:lnTo>
                    <a:lnTo>
                      <a:pt x="380880" y="19080"/>
                    </a:lnTo>
                    <a:lnTo>
                      <a:pt x="387360" y="19080"/>
                    </a:lnTo>
                    <a:lnTo>
                      <a:pt x="380880" y="19080"/>
                    </a:lnTo>
                    <a:lnTo>
                      <a:pt x="380880" y="12600"/>
                    </a:lnTo>
                  </a:path>
                </a:pathLst>
              </a:custGeom>
              <a:noFill/>
              <a:ln w="19050" cap="flat" cmpd="sng">
                <a:solidFill>
                  <a:srgbClr val="00B05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0" name="Google Shape;118;p6"/>
              <p:cNvSpPr/>
              <p:nvPr/>
            </p:nvSpPr>
            <p:spPr>
              <a:xfrm>
                <a:off x="4597567" y="4724287"/>
                <a:ext cx="63500" cy="13335"/>
              </a:xfrm>
              <a:custGeom>
                <a:avLst/>
                <a:gdLst/>
                <a:ahLst/>
                <a:cxnLst/>
                <a:rect l="l" t="t" r="r" b="b"/>
                <a:pathLst>
                  <a:path w="63500" h="13335" extrusionOk="0">
                    <a:moveTo>
                      <a:pt x="0" y="12960"/>
                    </a:moveTo>
                    <a:lnTo>
                      <a:pt x="6120" y="12960"/>
                    </a:lnTo>
                    <a:lnTo>
                      <a:pt x="12600" y="6480"/>
                    </a:lnTo>
                    <a:lnTo>
                      <a:pt x="37800" y="0"/>
                    </a:lnTo>
                    <a:lnTo>
                      <a:pt x="50760" y="0"/>
                    </a:lnTo>
                    <a:lnTo>
                      <a:pt x="63360" y="0"/>
                    </a:lnTo>
                  </a:path>
                </a:pathLst>
              </a:custGeom>
              <a:noFill/>
              <a:ln w="19050" cap="flat" cmpd="sng">
                <a:solidFill>
                  <a:srgbClr val="00B05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1" name="Google Shape;119;p6"/>
              <p:cNvSpPr/>
              <p:nvPr/>
            </p:nvSpPr>
            <p:spPr>
              <a:xfrm>
                <a:off x="4781527" y="4730767"/>
                <a:ext cx="387985" cy="6985"/>
              </a:xfrm>
              <a:custGeom>
                <a:avLst/>
                <a:gdLst/>
                <a:ahLst/>
                <a:cxnLst/>
                <a:rect l="l" t="t" r="r" b="b"/>
                <a:pathLst>
                  <a:path w="387985" h="6985" extrusionOk="0">
                    <a:moveTo>
                      <a:pt x="12600" y="0"/>
                    </a:moveTo>
                    <a:lnTo>
                      <a:pt x="6480" y="0"/>
                    </a:lnTo>
                    <a:lnTo>
                      <a:pt x="0" y="0"/>
                    </a:lnTo>
                    <a:lnTo>
                      <a:pt x="0" y="6480"/>
                    </a:lnTo>
                    <a:lnTo>
                      <a:pt x="6480" y="6480"/>
                    </a:lnTo>
                    <a:lnTo>
                      <a:pt x="19080" y="6480"/>
                    </a:lnTo>
                    <a:lnTo>
                      <a:pt x="38160" y="6480"/>
                    </a:lnTo>
                    <a:lnTo>
                      <a:pt x="63360" y="6480"/>
                    </a:lnTo>
                    <a:lnTo>
                      <a:pt x="95400" y="0"/>
                    </a:lnTo>
                    <a:lnTo>
                      <a:pt x="387360" y="0"/>
                    </a:lnTo>
                    <a:lnTo>
                      <a:pt x="387360" y="6480"/>
                    </a:lnTo>
                    <a:lnTo>
                      <a:pt x="380880" y="6480"/>
                    </a:lnTo>
                  </a:path>
                </a:pathLst>
              </a:custGeom>
              <a:noFill/>
              <a:ln w="19050" cap="flat" cmpd="sng">
                <a:solidFill>
                  <a:srgbClr val="00B05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2" name="Google Shape;120;p6"/>
              <p:cNvSpPr/>
              <p:nvPr/>
            </p:nvSpPr>
            <p:spPr>
              <a:xfrm>
                <a:off x="5435648" y="4711687"/>
                <a:ext cx="184150" cy="19685"/>
              </a:xfrm>
              <a:custGeom>
                <a:avLst/>
                <a:gdLst/>
                <a:ahLst/>
                <a:cxnLst/>
                <a:rect l="l" t="t" r="r" b="b"/>
                <a:pathLst>
                  <a:path w="184150" h="19685" extrusionOk="0">
                    <a:moveTo>
                      <a:pt x="12600" y="6480"/>
                    </a:moveTo>
                    <a:lnTo>
                      <a:pt x="12600" y="0"/>
                    </a:lnTo>
                    <a:lnTo>
                      <a:pt x="6480" y="0"/>
                    </a:lnTo>
                    <a:lnTo>
                      <a:pt x="0" y="0"/>
                    </a:lnTo>
                    <a:lnTo>
                      <a:pt x="12600" y="0"/>
                    </a:lnTo>
                    <a:lnTo>
                      <a:pt x="44280" y="6480"/>
                    </a:lnTo>
                    <a:lnTo>
                      <a:pt x="95040" y="12600"/>
                    </a:lnTo>
                    <a:lnTo>
                      <a:pt x="152280" y="12600"/>
                    </a:lnTo>
                    <a:lnTo>
                      <a:pt x="183960" y="19080"/>
                    </a:lnTo>
                  </a:path>
                </a:pathLst>
              </a:custGeom>
              <a:noFill/>
              <a:ln w="19050" cap="flat" cmpd="sng">
                <a:solidFill>
                  <a:srgbClr val="00B05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pic>
          <p:nvPicPr>
            <p:cNvPr id="23" name="Google Shape;121;p6"/>
            <p:cNvPicPr preferRelativeResize="0"/>
            <p:nvPr/>
          </p:nvPicPr>
          <p:blipFill rotWithShape="1">
            <a:blip r:embed="rId5">
              <a:alphaModFix/>
            </a:blip>
            <a:srcRect/>
            <a:stretch/>
          </p:blipFill>
          <p:spPr>
            <a:xfrm>
              <a:off x="7537932" y="3222980"/>
              <a:ext cx="2092261" cy="1182928"/>
            </a:xfrm>
            <a:prstGeom prst="rect">
              <a:avLst/>
            </a:prstGeom>
            <a:noFill/>
            <a:ln>
              <a:noFill/>
            </a:ln>
          </p:spPr>
        </p:pic>
        <p:sp>
          <p:nvSpPr>
            <p:cNvPr id="24" name="Google Shape;122;p6"/>
            <p:cNvSpPr txBox="1"/>
            <p:nvPr/>
          </p:nvSpPr>
          <p:spPr>
            <a:xfrm>
              <a:off x="7453109" y="6351806"/>
              <a:ext cx="2330450"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mj-lt"/>
                  <a:ea typeface="Cambria"/>
                  <a:cs typeface="Cambria"/>
                  <a:sym typeface="Cambria"/>
                </a:rPr>
                <a:t>horizontal edges</a:t>
              </a:r>
              <a:endParaRPr sz="2400">
                <a:latin typeface="+mj-lt"/>
                <a:ea typeface="Cambria"/>
                <a:cs typeface="Cambria"/>
                <a:sym typeface="Cambria"/>
              </a:endParaRPr>
            </a:p>
          </p:txBody>
        </p:sp>
        <p:pic>
          <p:nvPicPr>
            <p:cNvPr id="25" name="Google Shape;123;p6"/>
            <p:cNvPicPr preferRelativeResize="0"/>
            <p:nvPr/>
          </p:nvPicPr>
          <p:blipFill rotWithShape="1">
            <a:blip r:embed="rId6">
              <a:alphaModFix/>
            </a:blip>
            <a:srcRect/>
            <a:stretch/>
          </p:blipFill>
          <p:spPr>
            <a:xfrm>
              <a:off x="7567536" y="5102075"/>
              <a:ext cx="2062645" cy="1227795"/>
            </a:xfrm>
            <a:prstGeom prst="rect">
              <a:avLst/>
            </a:prstGeom>
            <a:noFill/>
            <a:ln>
              <a:noFill/>
            </a:ln>
          </p:spPr>
        </p:pic>
      </p:gr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3950751072"/>
      </p:ext>
    </p:extLst>
  </p:cSld>
  <p:clrMapOvr>
    <a:masterClrMapping/>
  </p:clrMapOvr>
  <p:extLst mod="1">
    <p:ext uri="{6950BFC3-D8DA-4A85-94F7-54DA5524770B}">
      <p188:commentRel xmlns="" xmlns:p188="http://schemas.microsoft.com/office/powerpoint/2018/8/main" r:id="rId7"/>
    </p:ext>
  </p:extLs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825354"/>
          </a:xfrm>
          <a:prstGeom prst="rect">
            <a:avLst/>
          </a:prstGeom>
          <a:noFill/>
          <a:ln>
            <a:noFill/>
          </a:ln>
        </p:spPr>
        <p:txBody>
          <a:bodyPr spcFirstLastPara="1" wrap="square" lIns="0" tIns="12700" rIns="0" bIns="0" anchor="t" anchorCtr="0">
            <a:spAutoFit/>
          </a:bodyPr>
          <a:lstStyle/>
          <a:p>
            <a:pPr marL="1116965" marR="5080" lvl="0" indent="-1104900" algn="l" rtl="0">
              <a:lnSpc>
                <a:spcPct val="119696"/>
              </a:lnSpc>
              <a:spcBef>
                <a:spcPts val="0"/>
              </a:spcBef>
              <a:spcAft>
                <a:spcPts val="0"/>
              </a:spcAft>
              <a:buNone/>
            </a:pPr>
            <a:r>
              <a:rPr lang="en-US" sz="4400" dirty="0">
                <a:latin typeface="+mj-lt"/>
                <a:ea typeface="Calibri"/>
                <a:cs typeface="Calibri"/>
                <a:sym typeface="Calibri"/>
              </a:rPr>
              <a:t>Edge detection example</a:t>
            </a: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411040"/>
            <a:ext cx="11677535" cy="2308324"/>
          </a:xfrm>
          <a:prstGeom prst="rect">
            <a:avLst/>
          </a:prstGeom>
          <a:noFill/>
        </p:spPr>
        <p:txBody>
          <a:bodyPr wrap="square" rtlCol="0">
            <a:spAutoFit/>
          </a:bodyPr>
          <a:lstStyle/>
          <a:p>
            <a:pPr marL="285750" indent="-285750">
              <a:buFont typeface="Arial" panose="020B0604020202020204" pitchFamily="34" charset="0"/>
              <a:buChar char="•"/>
            </a:pPr>
            <a:r>
              <a:rPr lang="en-GB" sz="2400" dirty="0" smtClean="0"/>
              <a:t>Consider an example:</a:t>
            </a:r>
          </a:p>
          <a:p>
            <a:r>
              <a:rPr lang="en-GB" sz="2400" dirty="0"/>
              <a:t>	</a:t>
            </a:r>
            <a:r>
              <a:rPr lang="en-GB" sz="2400" dirty="0" smtClean="0"/>
              <a:t>- </a:t>
            </a:r>
            <a:r>
              <a:rPr lang="en-GB" sz="2400" dirty="0"/>
              <a:t>A</a:t>
            </a:r>
            <a:r>
              <a:rPr lang="en-GB" sz="2400" dirty="0" smtClean="0"/>
              <a:t> </a:t>
            </a:r>
            <a:r>
              <a:rPr lang="en-GB" sz="2400" b="1" dirty="0"/>
              <a:t>grayscale </a:t>
            </a:r>
            <a:r>
              <a:rPr lang="en-GB" sz="2400" b="1" dirty="0" smtClean="0"/>
              <a:t>8x8</a:t>
            </a:r>
            <a:r>
              <a:rPr lang="en-GB" sz="2400" dirty="0" smtClean="0"/>
              <a:t> image.</a:t>
            </a:r>
          </a:p>
          <a:p>
            <a:r>
              <a:rPr lang="en-GB" sz="2400" dirty="0"/>
              <a:t>	</a:t>
            </a:r>
            <a:r>
              <a:rPr lang="en-GB" sz="2400" dirty="0" smtClean="0"/>
              <a:t>- A </a:t>
            </a:r>
            <a:r>
              <a:rPr lang="en-GB" sz="2400" b="1" dirty="0" smtClean="0"/>
              <a:t>3x3 </a:t>
            </a:r>
            <a:r>
              <a:rPr lang="en-GB" sz="2400" dirty="0"/>
              <a:t>filter is constructed with weights of </a:t>
            </a:r>
            <a:r>
              <a:rPr lang="en-GB" sz="2400" b="1" dirty="0"/>
              <a:t>1, 1, 1, 0, 0, 0, -1, -1, -1</a:t>
            </a:r>
            <a:r>
              <a:rPr lang="en-GB" sz="2400" dirty="0"/>
              <a:t>. </a:t>
            </a:r>
            <a:endParaRPr lang="en-GB" sz="2400" dirty="0" smtClean="0"/>
          </a:p>
          <a:p>
            <a:r>
              <a:rPr lang="en-GB" sz="2400" dirty="0"/>
              <a:t>	</a:t>
            </a:r>
            <a:r>
              <a:rPr lang="en-GB" sz="2400" dirty="0" smtClean="0"/>
              <a:t>- The filter </a:t>
            </a:r>
            <a:r>
              <a:rPr lang="en-GB" sz="2400" dirty="0"/>
              <a:t>is convolved with the input image </a:t>
            </a:r>
            <a:r>
              <a:rPr lang="en-GB" sz="2400" dirty="0" smtClean="0"/>
              <a:t>producing </a:t>
            </a:r>
            <a:r>
              <a:rPr lang="en-GB" sz="2400" dirty="0"/>
              <a:t>a </a:t>
            </a:r>
            <a:r>
              <a:rPr lang="en-GB" sz="2400" b="1" dirty="0" smtClean="0"/>
              <a:t>6x6</a:t>
            </a:r>
            <a:r>
              <a:rPr lang="en-GB" sz="2400" dirty="0" smtClean="0"/>
              <a:t> </a:t>
            </a:r>
            <a:r>
              <a:rPr lang="en-GB" sz="2400" dirty="0"/>
              <a:t>feature map. </a:t>
            </a:r>
            <a:endParaRPr lang="en-GB" sz="2400" dirty="0" smtClean="0"/>
          </a:p>
          <a:p>
            <a:r>
              <a:rPr lang="en-GB" sz="2400" dirty="0"/>
              <a:t>	</a:t>
            </a:r>
            <a:r>
              <a:rPr lang="en-GB" sz="2400" dirty="0" smtClean="0"/>
              <a:t>- The </a:t>
            </a:r>
            <a:r>
              <a:rPr lang="en-GB" sz="2400" dirty="0"/>
              <a:t>values in the feature map correspond to the strength of vertical edges </a:t>
            </a:r>
            <a:r>
              <a:rPr lang="en-GB" sz="2400" dirty="0" smtClean="0"/>
              <a:t>	detected </a:t>
            </a:r>
            <a:r>
              <a:rPr lang="en-GB" sz="2400" dirty="0"/>
              <a:t>at different locations in the input image</a:t>
            </a:r>
            <a:r>
              <a:rPr lang="en-GB" sz="2400"/>
              <a:t>. </a:t>
            </a:r>
            <a:endParaRPr lang="en-GB" sz="2400" dirty="0" smtClean="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extLst>
      <p:ext uri="{BB962C8B-B14F-4D97-AF65-F5344CB8AC3E}">
        <p14:creationId xmlns:p14="http://schemas.microsoft.com/office/powerpoint/2010/main" val="769712381"/>
      </p:ext>
    </p:extLst>
  </p:cSld>
  <p:clrMapOvr>
    <a:masterClrMapping/>
  </p:clrMapOvr>
  <p:extLst mod="1">
    <p:ext uri="{6950BFC3-D8DA-4A85-94F7-54DA5524770B}">
      <p188:commentRel xmlns="" xmlns:p188="http://schemas.microsoft.com/office/powerpoint/2018/8/main" r:id="rId4"/>
    </p:ext>
  </p:extLst>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128"/>
        <p:cNvGrpSpPr/>
        <p:nvPr/>
      </p:nvGrpSpPr>
      <p:grpSpPr>
        <a:xfrm>
          <a:off x="0" y="0"/>
          <a:ext cx="0" cy="0"/>
          <a:chOff x="0" y="0"/>
          <a:chExt cx="0" cy="0"/>
        </a:xfrm>
      </p:grpSpPr>
      <p:sp>
        <p:nvSpPr>
          <p:cNvPr id="129" name="Google Shape;129;p7"/>
          <p:cNvSpPr txBox="1">
            <a:spLocks noGrp="1"/>
          </p:cNvSpPr>
          <p:nvPr>
            <p:ph type="title"/>
          </p:nvPr>
        </p:nvSpPr>
        <p:spPr>
          <a:xfrm>
            <a:off x="261620" y="139700"/>
            <a:ext cx="593217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Vertical edge detection</a:t>
            </a:r>
            <a:endParaRPr sz="4400" dirty="0">
              <a:latin typeface="+mj-lt"/>
              <a:ea typeface="Cambria"/>
              <a:cs typeface="Cambria"/>
              <a:sym typeface="Cambria"/>
            </a:endParaRPr>
          </a:p>
        </p:txBody>
      </p:sp>
      <p:pic>
        <p:nvPicPr>
          <p:cNvPr id="130" name="Google Shape;130;p7"/>
          <p:cNvPicPr preferRelativeResize="0"/>
          <p:nvPr/>
        </p:nvPicPr>
        <p:blipFill rotWithShape="1">
          <a:blip r:embed="rId3">
            <a:alphaModFix/>
          </a:blip>
          <a:srcRect/>
          <a:stretch/>
        </p:blipFill>
        <p:spPr>
          <a:xfrm>
            <a:off x="457200" y="1600200"/>
            <a:ext cx="10496428" cy="4019667"/>
          </a:xfrm>
          <a:prstGeom prst="rect">
            <a:avLst/>
          </a:prstGeom>
          <a:noFill/>
          <a:ln>
            <a:noFill/>
          </a:ln>
        </p:spPr>
      </p:pic>
      <p:pic>
        <p:nvPicPr>
          <p:cNvPr id="131" name="Google Shape;131;p7"/>
          <p:cNvPicPr preferRelativeResize="0"/>
          <p:nvPr/>
        </p:nvPicPr>
        <p:blipFill rotWithShape="1">
          <a:blip r:embed="rId4">
            <a:alphaModFix/>
          </a:blip>
          <a:srcRect/>
          <a:stretch/>
        </p:blipFill>
        <p:spPr>
          <a:xfrm>
            <a:off x="685800" y="5514329"/>
            <a:ext cx="10820400" cy="2258071"/>
          </a:xfrm>
          <a:prstGeom prst="rect">
            <a:avLst/>
          </a:prstGeom>
          <a:noFill/>
          <a:ln>
            <a:noFill/>
          </a:ln>
        </p:spPr>
      </p:pic>
      <p:pic>
        <p:nvPicPr>
          <p:cNvPr id="132" name="Google Shape;132;p7"/>
          <p:cNvPicPr preferRelativeResize="0"/>
          <p:nvPr/>
        </p:nvPicPr>
        <p:blipFill>
          <a:blip r:embed="rId5">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163"/>
        <p:cNvGrpSpPr/>
        <p:nvPr/>
      </p:nvGrpSpPr>
      <p:grpSpPr>
        <a:xfrm>
          <a:off x="0" y="0"/>
          <a:ext cx="0" cy="0"/>
          <a:chOff x="0" y="0"/>
          <a:chExt cx="0" cy="0"/>
        </a:xfrm>
      </p:grpSpPr>
      <p:sp>
        <p:nvSpPr>
          <p:cNvPr id="164" name="Google Shape;164;p9"/>
          <p:cNvSpPr txBox="1">
            <a:spLocks noGrp="1"/>
          </p:cNvSpPr>
          <p:nvPr>
            <p:ph type="title"/>
          </p:nvPr>
        </p:nvSpPr>
        <p:spPr>
          <a:xfrm>
            <a:off x="0" y="176647"/>
            <a:ext cx="11668759" cy="2994025"/>
          </a:xfrm>
          <a:prstGeom prst="rect">
            <a:avLst/>
          </a:prstGeom>
          <a:noFill/>
          <a:ln>
            <a:noFill/>
          </a:ln>
        </p:spPr>
        <p:txBody>
          <a:bodyPr spcFirstLastPara="1" wrap="square" lIns="0" tIns="942925" rIns="0" bIns="0" anchor="t" anchorCtr="0">
            <a:spAutoFit/>
          </a:bodyPr>
          <a:lstStyle/>
          <a:p>
            <a:pPr marL="5466715" marR="5080" lvl="0" indent="454658" algn="l" rtl="0">
              <a:lnSpc>
                <a:spcPct val="108333"/>
              </a:lnSpc>
              <a:spcBef>
                <a:spcPts val="0"/>
              </a:spcBef>
              <a:spcAft>
                <a:spcPts val="0"/>
              </a:spcAft>
              <a:buNone/>
            </a:pPr>
            <a:r>
              <a:rPr lang="en-US" dirty="0">
                <a:latin typeface="+mj-lt"/>
              </a:rPr>
              <a:t>Convolutional Neural Networks</a:t>
            </a:r>
            <a:endParaRPr dirty="0">
              <a:latin typeface="+mj-lt"/>
            </a:endParaRPr>
          </a:p>
        </p:txBody>
      </p:sp>
      <p:sp>
        <p:nvSpPr>
          <p:cNvPr id="165" name="Google Shape;165;p9"/>
          <p:cNvSpPr txBox="1"/>
          <p:nvPr/>
        </p:nvSpPr>
        <p:spPr>
          <a:xfrm>
            <a:off x="5136302" y="4062847"/>
            <a:ext cx="6308896" cy="1025394"/>
          </a:xfrm>
          <a:prstGeom prst="rect">
            <a:avLst/>
          </a:prstGeom>
          <a:noFill/>
          <a:ln>
            <a:noFill/>
          </a:ln>
        </p:spPr>
        <p:txBody>
          <a:bodyPr spcFirstLastPara="1" wrap="square" lIns="0" tIns="27925" rIns="0" bIns="0" anchor="t" anchorCtr="0">
            <a:spAutoFit/>
          </a:bodyPr>
          <a:lstStyle/>
          <a:p>
            <a:pPr marL="240665" marR="5080" lvl="0" indent="-228600" algn="l" rtl="0">
              <a:lnSpc>
                <a:spcPct val="119696"/>
              </a:lnSpc>
              <a:spcBef>
                <a:spcPts val="0"/>
              </a:spcBef>
              <a:spcAft>
                <a:spcPts val="0"/>
              </a:spcAft>
              <a:buNone/>
            </a:pPr>
            <a:r>
              <a:rPr lang="en-US" sz="5400" dirty="0">
                <a:latin typeface="+mj-lt"/>
                <a:ea typeface="Calibri"/>
                <a:cs typeface="Calibri"/>
                <a:sym typeface="Calibri"/>
              </a:rPr>
              <a:t>More edge detection</a:t>
            </a:r>
            <a:endParaRPr sz="5400" dirty="0">
              <a:latin typeface="+mj-lt"/>
              <a:ea typeface="Calibri"/>
              <a:cs typeface="Calibri"/>
              <a:sym typeface="Calibri"/>
            </a:endParaRPr>
          </a:p>
        </p:txBody>
      </p:sp>
      <p:sp>
        <p:nvSpPr>
          <p:cNvPr id="166" name="Google Shape;166;p9"/>
          <p:cNvSpPr/>
          <p:nvPr/>
        </p:nvSpPr>
        <p:spPr>
          <a:xfrm>
            <a:off x="4836350" y="3587066"/>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67" name="Google Shape;167;p9"/>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825354"/>
          </a:xfrm>
          <a:prstGeom prst="rect">
            <a:avLst/>
          </a:prstGeom>
          <a:noFill/>
          <a:ln>
            <a:noFill/>
          </a:ln>
        </p:spPr>
        <p:txBody>
          <a:bodyPr spcFirstLastPara="1" wrap="square" lIns="0" tIns="12700" rIns="0" bIns="0" anchor="t" anchorCtr="0">
            <a:spAutoFit/>
          </a:bodyPr>
          <a:lstStyle/>
          <a:p>
            <a:pPr marL="240665" marR="5080" lvl="0" indent="-228600" algn="l" rtl="0">
              <a:lnSpc>
                <a:spcPct val="119696"/>
              </a:lnSpc>
              <a:spcBef>
                <a:spcPts val="0"/>
              </a:spcBef>
              <a:spcAft>
                <a:spcPts val="0"/>
              </a:spcAft>
              <a:buNone/>
            </a:pPr>
            <a:r>
              <a:rPr lang="en-US" sz="4400" dirty="0">
                <a:latin typeface="+mj-lt"/>
                <a:ea typeface="Calibri"/>
                <a:cs typeface="Calibri"/>
                <a:sym typeface="Calibri"/>
              </a:rPr>
              <a:t>More edge detection</a:t>
            </a: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263950"/>
            <a:ext cx="11677535" cy="4955203"/>
          </a:xfrm>
          <a:prstGeom prst="rect">
            <a:avLst/>
          </a:prstGeom>
          <a:noFill/>
        </p:spPr>
        <p:txBody>
          <a:bodyPr wrap="square" rtlCol="0">
            <a:spAutoFit/>
          </a:bodyPr>
          <a:lstStyle/>
          <a:p>
            <a:pPr marL="285750" indent="-285750">
              <a:buFont typeface="Arial" panose="020B0604020202020204" pitchFamily="34" charset="0"/>
              <a:buChar char="•"/>
            </a:pPr>
            <a:r>
              <a:rPr lang="en-GB" sz="2400" dirty="0"/>
              <a:t>Convolutional operations and edge detection:</a:t>
            </a:r>
          </a:p>
          <a:p>
            <a:r>
              <a:rPr lang="en-GB" sz="2400" dirty="0"/>
              <a:t>	</a:t>
            </a:r>
            <a:r>
              <a:rPr lang="en-GB" sz="2000" dirty="0"/>
              <a:t>- The vertical edge detection </a:t>
            </a:r>
            <a:r>
              <a:rPr lang="en-GB" sz="2000" dirty="0" smtClean="0"/>
              <a:t>filter detects </a:t>
            </a:r>
            <a:r>
              <a:rPr lang="en-GB" sz="2000" dirty="0"/>
              <a:t>edges where pixels are </a:t>
            </a:r>
            <a:r>
              <a:rPr lang="en-GB" sz="2000" dirty="0" smtClean="0"/>
              <a:t>bright </a:t>
            </a:r>
            <a:r>
              <a:rPr lang="en-GB" sz="2000" dirty="0"/>
              <a:t>on the left and </a:t>
            </a:r>
            <a:r>
              <a:rPr lang="en-GB" sz="2000" dirty="0" smtClean="0"/>
              <a:t>dark 	on </a:t>
            </a:r>
            <a:r>
              <a:rPr lang="en-GB" sz="2000" dirty="0"/>
              <a:t>the right. </a:t>
            </a:r>
          </a:p>
          <a:p>
            <a:r>
              <a:rPr lang="en-GB" sz="2000" dirty="0"/>
              <a:t>	- The same filter can be used to detect horizontal edges, where pixels are </a:t>
            </a:r>
            <a:r>
              <a:rPr lang="en-GB" sz="2000" dirty="0" smtClean="0"/>
              <a:t>bright </a:t>
            </a:r>
            <a:r>
              <a:rPr lang="en-GB" sz="2000" dirty="0"/>
              <a:t>on top </a:t>
            </a:r>
            <a:r>
              <a:rPr lang="en-GB" sz="2000" dirty="0" smtClean="0"/>
              <a:t>and 	dark </a:t>
            </a:r>
            <a:r>
              <a:rPr lang="en-GB" sz="2000" dirty="0"/>
              <a:t>on the bottom.</a:t>
            </a:r>
          </a:p>
          <a:p>
            <a:pPr marL="285750" indent="-285750">
              <a:buFont typeface="Arial" panose="020B0604020202020204" pitchFamily="34" charset="0"/>
              <a:buChar char="•"/>
            </a:pPr>
            <a:r>
              <a:rPr lang="en-GB" sz="2400" dirty="0"/>
              <a:t>The concept of positive and negative edges, which are transitions from light to dark or dark to light, respectively:</a:t>
            </a:r>
            <a:br>
              <a:rPr lang="en-GB" sz="2400" dirty="0"/>
            </a:br>
            <a:r>
              <a:rPr lang="en-GB" sz="2400" dirty="0"/>
              <a:t>	</a:t>
            </a:r>
            <a:r>
              <a:rPr lang="en-GB" sz="2000" dirty="0"/>
              <a:t>- The same vertical edge detection filter behaves differently when applied to </a:t>
            </a:r>
            <a:r>
              <a:rPr lang="en-GB" sz="2000" dirty="0" smtClean="0"/>
              <a:t>an </a:t>
            </a:r>
            <a:r>
              <a:rPr lang="en-GB" sz="2000" dirty="0"/>
              <a:t>image </a:t>
            </a:r>
            <a:r>
              <a:rPr lang="en-GB" sz="2000" dirty="0" smtClean="0"/>
              <a:t>with 	</a:t>
            </a:r>
            <a:r>
              <a:rPr lang="en-GB" sz="2000" dirty="0" err="1" smtClean="0"/>
              <a:t>colors</a:t>
            </a:r>
            <a:r>
              <a:rPr lang="en-GB" sz="2000" dirty="0" smtClean="0"/>
              <a:t> </a:t>
            </a:r>
            <a:r>
              <a:rPr lang="en-GB" sz="2000" dirty="0"/>
              <a:t>flipped, where the darker </a:t>
            </a:r>
            <a:r>
              <a:rPr lang="en-GB" sz="2000" dirty="0" err="1"/>
              <a:t>colors</a:t>
            </a:r>
            <a:r>
              <a:rPr lang="en-GB" sz="2000" dirty="0"/>
              <a:t> are on the left and </a:t>
            </a:r>
            <a:r>
              <a:rPr lang="en-GB" sz="2000" dirty="0" smtClean="0"/>
              <a:t>brighter </a:t>
            </a:r>
            <a:r>
              <a:rPr lang="en-GB" sz="2000" dirty="0" err="1"/>
              <a:t>colors</a:t>
            </a:r>
            <a:r>
              <a:rPr lang="en-GB" sz="2000" dirty="0"/>
              <a:t> are on the </a:t>
            </a:r>
            <a:r>
              <a:rPr lang="en-GB" sz="2000" dirty="0" smtClean="0"/>
              <a:t>right</a:t>
            </a:r>
            <a:r>
              <a:rPr lang="en-GB" sz="2000" dirty="0"/>
              <a:t>. In </a:t>
            </a:r>
            <a:r>
              <a:rPr lang="en-GB" sz="2000" dirty="0" smtClean="0"/>
              <a:t>	this </a:t>
            </a:r>
            <a:r>
              <a:rPr lang="en-GB" sz="2000" dirty="0"/>
              <a:t>case, the filter detects negative edges </a:t>
            </a:r>
            <a:r>
              <a:rPr lang="en-GB" sz="2000" dirty="0" smtClean="0"/>
              <a:t>instead </a:t>
            </a:r>
            <a:r>
              <a:rPr lang="en-GB" sz="2000" dirty="0"/>
              <a:t>of positive edges.</a:t>
            </a:r>
          </a:p>
          <a:p>
            <a:pPr marL="285750" indent="-285750">
              <a:buFont typeface="Arial" panose="020B0604020202020204" pitchFamily="34" charset="0"/>
              <a:buChar char="•"/>
            </a:pPr>
            <a:r>
              <a:rPr lang="en-GB" sz="2400" dirty="0"/>
              <a:t>Other types of edge detection filters, such as the Sobel and </a:t>
            </a:r>
            <a:r>
              <a:rPr lang="en-GB" sz="2400" dirty="0" err="1"/>
              <a:t>Scharr</a:t>
            </a:r>
            <a:r>
              <a:rPr lang="en-GB" sz="2400" dirty="0"/>
              <a:t> filters, which are alternatives to the traditional vertical edge detection filter. These filters have different weightings and properties that make them more robust in detecting edges in certain types of images.</a:t>
            </a:r>
            <a:endParaRPr lang="en-US"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extLst>
      <p:ext uri="{BB962C8B-B14F-4D97-AF65-F5344CB8AC3E}">
        <p14:creationId xmlns:p14="http://schemas.microsoft.com/office/powerpoint/2010/main" val="365038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171"/>
        <p:cNvGrpSpPr/>
        <p:nvPr/>
      </p:nvGrpSpPr>
      <p:grpSpPr>
        <a:xfrm>
          <a:off x="0" y="0"/>
          <a:ext cx="0" cy="0"/>
          <a:chOff x="0" y="0"/>
          <a:chExt cx="0" cy="0"/>
        </a:xfrm>
      </p:grpSpPr>
      <p:sp>
        <p:nvSpPr>
          <p:cNvPr id="172" name="Google Shape;172;p10"/>
          <p:cNvSpPr txBox="1">
            <a:spLocks noGrp="1"/>
          </p:cNvSpPr>
          <p:nvPr>
            <p:ph type="title"/>
          </p:nvPr>
        </p:nvSpPr>
        <p:spPr>
          <a:xfrm>
            <a:off x="261620" y="139700"/>
            <a:ext cx="850963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Vertical edge detection examples</a:t>
            </a:r>
            <a:endParaRPr sz="4400" dirty="0">
              <a:latin typeface="+mj-lt"/>
              <a:ea typeface="Cambria"/>
              <a:cs typeface="Cambria"/>
              <a:sym typeface="Cambria"/>
            </a:endParaRPr>
          </a:p>
        </p:txBody>
      </p:sp>
      <p:pic>
        <p:nvPicPr>
          <p:cNvPr id="232" name="Google Shape;232;p10"/>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pic>
        <p:nvPicPr>
          <p:cNvPr id="4" name="Picture 3"/>
          <p:cNvPicPr>
            <a:picLocks noChangeAspect="1"/>
          </p:cNvPicPr>
          <p:nvPr/>
        </p:nvPicPr>
        <p:blipFill>
          <a:blip r:embed="rId4"/>
          <a:stretch>
            <a:fillRect/>
          </a:stretch>
        </p:blipFill>
        <p:spPr>
          <a:xfrm>
            <a:off x="1340474" y="1790453"/>
            <a:ext cx="9750259" cy="3814700"/>
          </a:xfrm>
          <a:prstGeom prst="rect">
            <a:avLst/>
          </a:prstGeom>
        </p:spPr>
      </p:pic>
    </p:spTree>
    <p:extLst>
      <p:ext uri="{BB962C8B-B14F-4D97-AF65-F5344CB8AC3E}">
        <p14:creationId xmlns:p14="http://schemas.microsoft.com/office/powerpoint/2010/main" val="17093025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236"/>
        <p:cNvGrpSpPr/>
        <p:nvPr/>
      </p:nvGrpSpPr>
      <p:grpSpPr>
        <a:xfrm>
          <a:off x="0" y="0"/>
          <a:ext cx="0" cy="0"/>
          <a:chOff x="0" y="0"/>
          <a:chExt cx="0" cy="0"/>
        </a:xfrm>
      </p:grpSpPr>
      <p:sp>
        <p:nvSpPr>
          <p:cNvPr id="237" name="Google Shape;237;p11"/>
          <p:cNvSpPr txBox="1">
            <a:spLocks noGrp="1"/>
          </p:cNvSpPr>
          <p:nvPr>
            <p:ph type="title"/>
          </p:nvPr>
        </p:nvSpPr>
        <p:spPr>
          <a:xfrm>
            <a:off x="261620" y="139700"/>
            <a:ext cx="1021715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smtClean="0">
                <a:latin typeface="+mj-lt"/>
                <a:ea typeface="Cambria"/>
                <a:cs typeface="Cambria"/>
                <a:sym typeface="Cambria"/>
              </a:rPr>
              <a:t>Horizontal </a:t>
            </a:r>
            <a:r>
              <a:rPr lang="en-US" sz="4400" dirty="0">
                <a:latin typeface="+mj-lt"/>
                <a:ea typeface="Cambria"/>
                <a:cs typeface="Cambria"/>
                <a:sym typeface="Cambria"/>
              </a:rPr>
              <a:t>e</a:t>
            </a:r>
            <a:r>
              <a:rPr lang="en-US" sz="4400" b="0" dirty="0" smtClean="0">
                <a:latin typeface="+mj-lt"/>
                <a:ea typeface="Cambria"/>
                <a:cs typeface="Cambria"/>
                <a:sym typeface="Cambria"/>
              </a:rPr>
              <a:t>dge </a:t>
            </a:r>
            <a:r>
              <a:rPr lang="en-US" sz="4400" dirty="0" smtClean="0">
                <a:latin typeface="+mj-lt"/>
                <a:ea typeface="Cambria"/>
                <a:cs typeface="Cambria"/>
                <a:sym typeface="Cambria"/>
              </a:rPr>
              <a:t>d</a:t>
            </a:r>
            <a:r>
              <a:rPr lang="en-US" sz="4400" b="0" dirty="0" smtClean="0">
                <a:latin typeface="+mj-lt"/>
                <a:ea typeface="Cambria"/>
                <a:cs typeface="Cambria"/>
                <a:sym typeface="Cambria"/>
              </a:rPr>
              <a:t>etection examples</a:t>
            </a:r>
            <a:endParaRPr sz="4400" dirty="0">
              <a:latin typeface="+mj-lt"/>
              <a:ea typeface="Cambria"/>
              <a:cs typeface="Cambria"/>
              <a:sym typeface="Cambria"/>
            </a:endParaRPr>
          </a:p>
        </p:txBody>
      </p:sp>
      <p:pic>
        <p:nvPicPr>
          <p:cNvPr id="247" name="Google Shape;247;p11"/>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pic>
        <p:nvPicPr>
          <p:cNvPr id="3" name="Picture 2"/>
          <p:cNvPicPr>
            <a:picLocks noChangeAspect="1"/>
          </p:cNvPicPr>
          <p:nvPr/>
        </p:nvPicPr>
        <p:blipFill>
          <a:blip r:embed="rId4"/>
          <a:stretch>
            <a:fillRect/>
          </a:stretch>
        </p:blipFill>
        <p:spPr>
          <a:xfrm>
            <a:off x="1378888" y="2053327"/>
            <a:ext cx="9658021" cy="3781671"/>
          </a:xfrm>
          <a:prstGeom prst="rect">
            <a:avLst/>
          </a:prstGeom>
        </p:spPr>
      </p:pic>
    </p:spTree>
    <p:extLst>
      <p:ext uri="{BB962C8B-B14F-4D97-AF65-F5344CB8AC3E}">
        <p14:creationId xmlns:p14="http://schemas.microsoft.com/office/powerpoint/2010/main" val="30094144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251"/>
        <p:cNvGrpSpPr/>
        <p:nvPr/>
      </p:nvGrpSpPr>
      <p:grpSpPr>
        <a:xfrm>
          <a:off x="0" y="0"/>
          <a:ext cx="0" cy="0"/>
          <a:chOff x="0" y="0"/>
          <a:chExt cx="0" cy="0"/>
        </a:xfrm>
      </p:grpSpPr>
      <p:sp>
        <p:nvSpPr>
          <p:cNvPr id="252" name="Google Shape;252;p12"/>
          <p:cNvSpPr txBox="1">
            <a:spLocks noGrp="1"/>
          </p:cNvSpPr>
          <p:nvPr>
            <p:ph type="title"/>
          </p:nvPr>
        </p:nvSpPr>
        <p:spPr>
          <a:xfrm>
            <a:off x="261620" y="139700"/>
            <a:ext cx="635889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Learning to detect edges</a:t>
            </a:r>
            <a:endParaRPr sz="4400" dirty="0">
              <a:latin typeface="+mj-lt"/>
              <a:ea typeface="Cambria"/>
              <a:cs typeface="Cambria"/>
              <a:sym typeface="Cambria"/>
            </a:endParaRPr>
          </a:p>
        </p:txBody>
      </p:sp>
      <p:graphicFrame>
        <p:nvGraphicFramePr>
          <p:cNvPr id="253" name="Google Shape;253;p12"/>
          <p:cNvGraphicFramePr/>
          <p:nvPr/>
        </p:nvGraphicFramePr>
        <p:xfrm>
          <a:off x="5554716" y="4345828"/>
          <a:ext cx="1461150" cy="1494775"/>
        </p:xfrm>
        <a:graphic>
          <a:graphicData uri="http://schemas.openxmlformats.org/drawingml/2006/table">
            <a:tbl>
              <a:tblPr firstRow="1" bandRow="1">
                <a:noFill/>
                <a:tableStyleId>{584F781A-C61E-4C5B-897C-18CB087A12A5}</a:tableStyleId>
              </a:tblPr>
              <a:tblGrid>
                <a:gridCol w="487050">
                  <a:extLst>
                    <a:ext uri="{9D8B030D-6E8A-4147-A177-3AD203B41FA5}">
                      <a16:colId xmlns:a16="http://schemas.microsoft.com/office/drawing/2014/main" val="20000"/>
                    </a:ext>
                  </a:extLst>
                </a:gridCol>
                <a:gridCol w="487050">
                  <a:extLst>
                    <a:ext uri="{9D8B030D-6E8A-4147-A177-3AD203B41FA5}">
                      <a16:colId xmlns:a16="http://schemas.microsoft.com/office/drawing/2014/main" val="20001"/>
                    </a:ext>
                  </a:extLst>
                </a:gridCol>
                <a:gridCol w="487050">
                  <a:extLst>
                    <a:ext uri="{9D8B030D-6E8A-4147-A177-3AD203B41FA5}">
                      <a16:colId xmlns:a16="http://schemas.microsoft.com/office/drawing/2014/main" val="20002"/>
                    </a:ext>
                  </a:extLst>
                </a:gridCol>
              </a:tblGrid>
              <a:tr h="500375">
                <a:tc>
                  <a:txBody>
                    <a:bodyPr/>
                    <a:lstStyle/>
                    <a:p>
                      <a:pPr marL="0" marR="69850" lvl="0" indent="0" algn="r" rtl="0">
                        <a:lnSpc>
                          <a:spcPct val="100000"/>
                        </a:lnSpc>
                        <a:spcBef>
                          <a:spcPts val="0"/>
                        </a:spcBef>
                        <a:spcAft>
                          <a:spcPts val="0"/>
                        </a:spcAft>
                        <a:buNone/>
                      </a:pPr>
                      <a:r>
                        <a:rPr lang="en-US" sz="2400" u="none" strike="noStrike" cap="none">
                          <a:latin typeface="Cambria Math"/>
                          <a:ea typeface="Cambria Math"/>
                          <a:cs typeface="Cambria Math"/>
                          <a:sym typeface="Cambria Math"/>
                        </a:rPr>
                        <a:t>#</a:t>
                      </a:r>
                      <a:r>
                        <a:rPr lang="en-US" sz="2700" u="none" strike="noStrike" cap="none" baseline="-25000">
                          <a:latin typeface="Cambria Math"/>
                          <a:ea typeface="Cambria Math"/>
                          <a:cs typeface="Cambria Math"/>
                          <a:sym typeface="Cambria Math"/>
                        </a:rPr>
                        <a:t>$</a:t>
                      </a:r>
                      <a:endParaRPr sz="2700" u="none" strike="noStrike" cap="none" baseline="-25000">
                        <a:latin typeface="Cambria Math"/>
                        <a:ea typeface="Cambria Math"/>
                        <a:cs typeface="Cambria Math"/>
                        <a:sym typeface="Cambria Math"/>
                      </a:endParaRPr>
                    </a:p>
                  </a:txBody>
                  <a:tcPr marL="0" marR="0" marT="577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B w="12700" cap="flat" cmpd="sng">
                      <a:solidFill>
                        <a:srgbClr val="000000"/>
                      </a:solidFill>
                      <a:prstDash val="solid"/>
                      <a:round/>
                      <a:headEnd type="none" w="sm" len="sm"/>
                      <a:tailEnd type="none" w="sm" len="sm"/>
                    </a:lnB>
                  </a:tcPr>
                </a:tc>
                <a:tc>
                  <a:txBody>
                    <a:bodyPr/>
                    <a:lstStyle/>
                    <a:p>
                      <a:pPr marL="31115" marR="0" lvl="0" indent="0" algn="l" rtl="0">
                        <a:lnSpc>
                          <a:spcPct val="100000"/>
                        </a:lnSpc>
                        <a:spcBef>
                          <a:spcPts val="0"/>
                        </a:spcBef>
                        <a:spcAft>
                          <a:spcPts val="0"/>
                        </a:spcAft>
                        <a:buNone/>
                      </a:pPr>
                      <a:r>
                        <a:rPr lang="en-US" sz="2400" u="none" strike="noStrike" cap="none">
                          <a:latin typeface="Cambria Math"/>
                          <a:ea typeface="Cambria Math"/>
                          <a:cs typeface="Cambria Math"/>
                          <a:sym typeface="Cambria Math"/>
                        </a:rPr>
                        <a:t>#</a:t>
                      </a:r>
                      <a:r>
                        <a:rPr lang="en-US" sz="2700" u="none" strike="noStrike" cap="none" baseline="-25000">
                          <a:latin typeface="Cambria Math"/>
                          <a:ea typeface="Cambria Math"/>
                          <a:cs typeface="Cambria Math"/>
                          <a:sym typeface="Cambria Math"/>
                        </a:rPr>
                        <a:t>%</a:t>
                      </a:r>
                      <a:endParaRPr sz="2700" u="none" strike="noStrike" cap="none" baseline="-25000">
                        <a:latin typeface="Cambria Math"/>
                        <a:ea typeface="Cambria Math"/>
                        <a:cs typeface="Cambria Math"/>
                        <a:sym typeface="Cambria Math"/>
                      </a:endParaRPr>
                    </a:p>
                  </a:txBody>
                  <a:tcPr marL="0" marR="0" marT="577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B w="12700" cap="flat" cmpd="sng">
                      <a:solidFill>
                        <a:srgbClr val="000000"/>
                      </a:solidFill>
                      <a:prstDash val="solid"/>
                      <a:round/>
                      <a:headEnd type="none" w="sm" len="sm"/>
                      <a:tailEnd type="none" w="sm" len="sm"/>
                    </a:lnB>
                  </a:tcPr>
                </a:tc>
                <a:tc>
                  <a:txBody>
                    <a:bodyPr/>
                    <a:lstStyle/>
                    <a:p>
                      <a:pPr marL="31115" marR="0" lvl="0" indent="0" algn="l" rtl="0">
                        <a:lnSpc>
                          <a:spcPct val="100000"/>
                        </a:lnSpc>
                        <a:spcBef>
                          <a:spcPts val="0"/>
                        </a:spcBef>
                        <a:spcAft>
                          <a:spcPts val="0"/>
                        </a:spcAft>
                        <a:buNone/>
                      </a:pPr>
                      <a:r>
                        <a:rPr lang="en-US" sz="2400" u="none" strike="noStrike" cap="none">
                          <a:latin typeface="Cambria Math"/>
                          <a:ea typeface="Cambria Math"/>
                          <a:cs typeface="Cambria Math"/>
                          <a:sym typeface="Cambria Math"/>
                        </a:rPr>
                        <a:t>#</a:t>
                      </a:r>
                      <a:r>
                        <a:rPr lang="en-US" sz="2700" u="none" strike="noStrike" cap="none" baseline="-25000">
                          <a:latin typeface="Cambria Math"/>
                          <a:ea typeface="Cambria Math"/>
                          <a:cs typeface="Cambria Math"/>
                          <a:sym typeface="Cambria Math"/>
                        </a:rPr>
                        <a:t>&amp;</a:t>
                      </a:r>
                      <a:endParaRPr sz="2700" u="none" strike="noStrike" cap="none" baseline="-25000">
                        <a:latin typeface="Cambria Math"/>
                        <a:ea typeface="Cambria Math"/>
                        <a:cs typeface="Cambria Math"/>
                        <a:sym typeface="Cambria Math"/>
                      </a:endParaRPr>
                    </a:p>
                  </a:txBody>
                  <a:tcPr marL="0" marR="0" marT="577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94025">
                <a:tc>
                  <a:txBody>
                    <a:bodyPr/>
                    <a:lstStyle/>
                    <a:p>
                      <a:pPr marL="0" marR="70485" lvl="0" indent="0" algn="r" rtl="0">
                        <a:lnSpc>
                          <a:spcPct val="100000"/>
                        </a:lnSpc>
                        <a:spcBef>
                          <a:spcPts val="0"/>
                        </a:spcBef>
                        <a:spcAft>
                          <a:spcPts val="0"/>
                        </a:spcAft>
                        <a:buNone/>
                      </a:pPr>
                      <a:r>
                        <a:rPr lang="en-US" sz="2400" u="none" strike="noStrike" cap="none">
                          <a:latin typeface="Cambria Math"/>
                          <a:ea typeface="Cambria Math"/>
                          <a:cs typeface="Cambria Math"/>
                          <a:sym typeface="Cambria Math"/>
                        </a:rPr>
                        <a:t>#</a:t>
                      </a:r>
                      <a:r>
                        <a:rPr lang="en-US" sz="2700" u="none" strike="noStrike" cap="none" baseline="-25000">
                          <a:latin typeface="Cambria Math"/>
                          <a:ea typeface="Cambria Math"/>
                          <a:cs typeface="Cambria Math"/>
                          <a:sym typeface="Cambria Math"/>
                        </a:rPr>
                        <a:t>'</a:t>
                      </a:r>
                      <a:endParaRPr sz="2700" u="none" strike="noStrike" cap="none" baseline="-25000">
                        <a:latin typeface="Cambria Math"/>
                        <a:ea typeface="Cambria Math"/>
                        <a:cs typeface="Cambria Math"/>
                        <a:sym typeface="Cambria Math"/>
                      </a:endParaRPr>
                    </a:p>
                  </a:txBody>
                  <a:tcPr marL="0" marR="0" marT="514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1115" marR="0" lvl="0" indent="0" algn="l" rtl="0">
                        <a:lnSpc>
                          <a:spcPct val="100000"/>
                        </a:lnSpc>
                        <a:spcBef>
                          <a:spcPts val="0"/>
                        </a:spcBef>
                        <a:spcAft>
                          <a:spcPts val="0"/>
                        </a:spcAft>
                        <a:buNone/>
                      </a:pPr>
                      <a:r>
                        <a:rPr lang="en-US" sz="2400" u="none" strike="noStrike" cap="none">
                          <a:latin typeface="Cambria Math"/>
                          <a:ea typeface="Cambria Math"/>
                          <a:cs typeface="Cambria Math"/>
                          <a:sym typeface="Cambria Math"/>
                        </a:rPr>
                        <a:t>#</a:t>
                      </a:r>
                      <a:r>
                        <a:rPr lang="en-US" sz="2700" u="none" strike="noStrike" cap="none" baseline="-25000">
                          <a:latin typeface="Cambria Math"/>
                          <a:ea typeface="Cambria Math"/>
                          <a:cs typeface="Cambria Math"/>
                          <a:sym typeface="Cambria Math"/>
                        </a:rPr>
                        <a:t>(</a:t>
                      </a:r>
                      <a:endParaRPr sz="2700" u="none" strike="noStrike" cap="none" baseline="-25000">
                        <a:latin typeface="Cambria Math"/>
                        <a:ea typeface="Cambria Math"/>
                        <a:cs typeface="Cambria Math"/>
                        <a:sym typeface="Cambria Math"/>
                      </a:endParaRPr>
                    </a:p>
                  </a:txBody>
                  <a:tcPr marL="0" marR="0" marT="514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1115" marR="0" lvl="0" indent="0" algn="l" rtl="0">
                        <a:lnSpc>
                          <a:spcPct val="100000"/>
                        </a:lnSpc>
                        <a:spcBef>
                          <a:spcPts val="0"/>
                        </a:spcBef>
                        <a:spcAft>
                          <a:spcPts val="0"/>
                        </a:spcAft>
                        <a:buNone/>
                      </a:pPr>
                      <a:r>
                        <a:rPr lang="en-US" sz="2400" u="none" strike="noStrike" cap="none">
                          <a:latin typeface="Cambria Math"/>
                          <a:ea typeface="Cambria Math"/>
                          <a:cs typeface="Cambria Math"/>
                          <a:sym typeface="Cambria Math"/>
                        </a:rPr>
                        <a:t>#</a:t>
                      </a:r>
                      <a:r>
                        <a:rPr lang="en-US" sz="2700" u="none" strike="noStrike" cap="none" baseline="-25000">
                          <a:latin typeface="Cambria Math"/>
                          <a:ea typeface="Cambria Math"/>
                          <a:cs typeface="Cambria Math"/>
                          <a:sym typeface="Cambria Math"/>
                        </a:rPr>
                        <a:t>)</a:t>
                      </a:r>
                      <a:endParaRPr sz="2700" u="none" strike="noStrike" cap="none" baseline="-25000">
                        <a:latin typeface="Cambria Math"/>
                        <a:ea typeface="Cambria Math"/>
                        <a:cs typeface="Cambria Math"/>
                        <a:sym typeface="Cambria Math"/>
                      </a:endParaRPr>
                    </a:p>
                  </a:txBody>
                  <a:tcPr marL="0" marR="0" marT="514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00375">
                <a:tc>
                  <a:txBody>
                    <a:bodyPr/>
                    <a:lstStyle/>
                    <a:p>
                      <a:pPr marL="0" marR="66040" lvl="0" indent="0" algn="r" rtl="0">
                        <a:lnSpc>
                          <a:spcPct val="100000"/>
                        </a:lnSpc>
                        <a:spcBef>
                          <a:spcPts val="0"/>
                        </a:spcBef>
                        <a:spcAft>
                          <a:spcPts val="0"/>
                        </a:spcAft>
                        <a:buNone/>
                      </a:pPr>
                      <a:r>
                        <a:rPr lang="en-US" sz="2400" u="none" strike="noStrike" cap="none">
                          <a:latin typeface="Cambria Math"/>
                          <a:ea typeface="Cambria Math"/>
                          <a:cs typeface="Cambria Math"/>
                          <a:sym typeface="Cambria Math"/>
                        </a:rPr>
                        <a:t>#</a:t>
                      </a:r>
                      <a:r>
                        <a:rPr lang="en-US" sz="2700" u="none" strike="noStrike" cap="none" baseline="-25000">
                          <a:latin typeface="Cambria Math"/>
                          <a:ea typeface="Cambria Math"/>
                          <a:cs typeface="Cambria Math"/>
                          <a:sym typeface="Cambria Math"/>
                        </a:rPr>
                        <a:t>*</a:t>
                      </a:r>
                      <a:endParaRPr sz="2700" u="none" strike="noStrike" cap="none" baseline="-25000">
                        <a:latin typeface="Cambria Math"/>
                        <a:ea typeface="Cambria Math"/>
                        <a:cs typeface="Cambria Math"/>
                        <a:sym typeface="Cambria Math"/>
                      </a:endParaRPr>
                    </a:p>
                  </a:txBody>
                  <a:tcPr marL="0" marR="0" marT="520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tcPr>
                </a:tc>
                <a:tc>
                  <a:txBody>
                    <a:bodyPr/>
                    <a:lstStyle/>
                    <a:p>
                      <a:pPr marL="31115" marR="0" lvl="0" indent="0" algn="l" rtl="0">
                        <a:lnSpc>
                          <a:spcPct val="100000"/>
                        </a:lnSpc>
                        <a:spcBef>
                          <a:spcPts val="0"/>
                        </a:spcBef>
                        <a:spcAft>
                          <a:spcPts val="0"/>
                        </a:spcAft>
                        <a:buNone/>
                      </a:pPr>
                      <a:r>
                        <a:rPr lang="en-US" sz="2400" u="none" strike="noStrike" cap="none">
                          <a:latin typeface="Cambria Math"/>
                          <a:ea typeface="Cambria Math"/>
                          <a:cs typeface="Cambria Math"/>
                          <a:sym typeface="Cambria Math"/>
                        </a:rPr>
                        <a:t>#</a:t>
                      </a:r>
                      <a:r>
                        <a:rPr lang="en-US" sz="2700" u="none" strike="noStrike" cap="none" baseline="-25000">
                          <a:latin typeface="Cambria Math"/>
                          <a:ea typeface="Cambria Math"/>
                          <a:cs typeface="Cambria Math"/>
                          <a:sym typeface="Cambria Math"/>
                        </a:rPr>
                        <a:t>+</a:t>
                      </a:r>
                      <a:endParaRPr sz="2700" u="none" strike="noStrike" cap="none" baseline="-25000">
                        <a:latin typeface="Cambria Math"/>
                        <a:ea typeface="Cambria Math"/>
                        <a:cs typeface="Cambria Math"/>
                        <a:sym typeface="Cambria Math"/>
                      </a:endParaRPr>
                    </a:p>
                  </a:txBody>
                  <a:tcPr marL="0" marR="0" marT="520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tcPr>
                </a:tc>
                <a:tc>
                  <a:txBody>
                    <a:bodyPr/>
                    <a:lstStyle/>
                    <a:p>
                      <a:pPr marL="34290" marR="0" lvl="0" indent="0" algn="l" rtl="0">
                        <a:lnSpc>
                          <a:spcPct val="100000"/>
                        </a:lnSpc>
                        <a:spcBef>
                          <a:spcPts val="0"/>
                        </a:spcBef>
                        <a:spcAft>
                          <a:spcPts val="0"/>
                        </a:spcAft>
                        <a:buNone/>
                      </a:pPr>
                      <a:r>
                        <a:rPr lang="en-US" sz="2400" u="none" strike="noStrike" cap="none">
                          <a:latin typeface="Cambria Math"/>
                          <a:ea typeface="Cambria Math"/>
                          <a:cs typeface="Cambria Math"/>
                          <a:sym typeface="Cambria Math"/>
                        </a:rPr>
                        <a:t>#</a:t>
                      </a:r>
                      <a:r>
                        <a:rPr lang="en-US" sz="2700" u="none" strike="noStrike" cap="none" baseline="-25000">
                          <a:latin typeface="Cambria Math"/>
                          <a:ea typeface="Cambria Math"/>
                          <a:cs typeface="Cambria Math"/>
                          <a:sym typeface="Cambria Math"/>
                        </a:rPr>
                        <a:t>,</a:t>
                      </a:r>
                      <a:endParaRPr sz="2700" u="none" strike="noStrike" cap="none" baseline="-25000">
                        <a:latin typeface="Cambria Math"/>
                        <a:ea typeface="Cambria Math"/>
                        <a:cs typeface="Cambria Math"/>
                        <a:sym typeface="Cambria Math"/>
                      </a:endParaRPr>
                    </a:p>
                  </a:txBody>
                  <a:tcPr marL="0" marR="0" marT="520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tcPr>
                </a:tc>
                <a:extLst>
                  <a:ext uri="{0D108BD9-81ED-4DB2-BD59-A6C34878D82A}">
                    <a16:rowId xmlns:a16="http://schemas.microsoft.com/office/drawing/2014/main" val="10002"/>
                  </a:ext>
                </a:extLst>
              </a:tr>
            </a:tbl>
          </a:graphicData>
        </a:graphic>
      </p:graphicFrame>
      <p:graphicFrame>
        <p:nvGraphicFramePr>
          <p:cNvPr id="254" name="Google Shape;254;p12"/>
          <p:cNvGraphicFramePr/>
          <p:nvPr/>
        </p:nvGraphicFramePr>
        <p:xfrm>
          <a:off x="9396618" y="4111640"/>
          <a:ext cx="1950700" cy="1950700"/>
        </p:xfrm>
        <a:graphic>
          <a:graphicData uri="http://schemas.openxmlformats.org/drawingml/2006/table">
            <a:tbl>
              <a:tblPr firstRow="1" bandRow="1">
                <a:noFill/>
                <a:tableStyleId>{584F781A-C61E-4C5B-897C-18CB087A12A5}</a:tableStyleId>
              </a:tblPr>
              <a:tblGrid>
                <a:gridCol w="487675">
                  <a:extLst>
                    <a:ext uri="{9D8B030D-6E8A-4147-A177-3AD203B41FA5}">
                      <a16:colId xmlns:a16="http://schemas.microsoft.com/office/drawing/2014/main" val="20000"/>
                    </a:ext>
                  </a:extLst>
                </a:gridCol>
                <a:gridCol w="487675">
                  <a:extLst>
                    <a:ext uri="{9D8B030D-6E8A-4147-A177-3AD203B41FA5}">
                      <a16:colId xmlns:a16="http://schemas.microsoft.com/office/drawing/2014/main" val="20001"/>
                    </a:ext>
                  </a:extLst>
                </a:gridCol>
                <a:gridCol w="487675">
                  <a:extLst>
                    <a:ext uri="{9D8B030D-6E8A-4147-A177-3AD203B41FA5}">
                      <a16:colId xmlns:a16="http://schemas.microsoft.com/office/drawing/2014/main" val="20002"/>
                    </a:ext>
                  </a:extLst>
                </a:gridCol>
                <a:gridCol w="487675">
                  <a:extLst>
                    <a:ext uri="{9D8B030D-6E8A-4147-A177-3AD203B41FA5}">
                      <a16:colId xmlns:a16="http://schemas.microsoft.com/office/drawing/2014/main" val="20003"/>
                    </a:ext>
                  </a:extLst>
                </a:gridCol>
              </a:tblGrid>
              <a:tr h="487675">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87675">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87675">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87675">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255" name="Google Shape;255;p12"/>
          <p:cNvGraphicFramePr/>
          <p:nvPr/>
        </p:nvGraphicFramePr>
        <p:xfrm>
          <a:off x="734943" y="3622437"/>
          <a:ext cx="2926050" cy="2926050"/>
        </p:xfrm>
        <a:graphic>
          <a:graphicData uri="http://schemas.openxmlformats.org/drawingml/2006/table">
            <a:tbl>
              <a:tblPr firstRow="1" bandRow="1">
                <a:noFill/>
                <a:tableStyleId>{584F781A-C61E-4C5B-897C-18CB087A12A5}</a:tableStyleId>
              </a:tblPr>
              <a:tblGrid>
                <a:gridCol w="487675">
                  <a:extLst>
                    <a:ext uri="{9D8B030D-6E8A-4147-A177-3AD203B41FA5}">
                      <a16:colId xmlns:a16="http://schemas.microsoft.com/office/drawing/2014/main" val="20000"/>
                    </a:ext>
                  </a:extLst>
                </a:gridCol>
                <a:gridCol w="487675">
                  <a:extLst>
                    <a:ext uri="{9D8B030D-6E8A-4147-A177-3AD203B41FA5}">
                      <a16:colId xmlns:a16="http://schemas.microsoft.com/office/drawing/2014/main" val="20001"/>
                    </a:ext>
                  </a:extLst>
                </a:gridCol>
                <a:gridCol w="487675">
                  <a:extLst>
                    <a:ext uri="{9D8B030D-6E8A-4147-A177-3AD203B41FA5}">
                      <a16:colId xmlns:a16="http://schemas.microsoft.com/office/drawing/2014/main" val="20002"/>
                    </a:ext>
                  </a:extLst>
                </a:gridCol>
                <a:gridCol w="487675">
                  <a:extLst>
                    <a:ext uri="{9D8B030D-6E8A-4147-A177-3AD203B41FA5}">
                      <a16:colId xmlns:a16="http://schemas.microsoft.com/office/drawing/2014/main" val="20003"/>
                    </a:ext>
                  </a:extLst>
                </a:gridCol>
                <a:gridCol w="487675">
                  <a:extLst>
                    <a:ext uri="{9D8B030D-6E8A-4147-A177-3AD203B41FA5}">
                      <a16:colId xmlns:a16="http://schemas.microsoft.com/office/drawing/2014/main" val="20004"/>
                    </a:ext>
                  </a:extLst>
                </a:gridCol>
                <a:gridCol w="487675">
                  <a:extLst>
                    <a:ext uri="{9D8B030D-6E8A-4147-A177-3AD203B41FA5}">
                      <a16:colId xmlns:a16="http://schemas.microsoft.com/office/drawing/2014/main" val="20005"/>
                    </a:ext>
                  </a:extLst>
                </a:gridCol>
              </a:tblGrid>
              <a:tr h="487675">
                <a:tc>
                  <a:txBody>
                    <a:bodyPr/>
                    <a:lstStyle/>
                    <a:p>
                      <a:pPr marL="63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3</a:t>
                      </a:r>
                      <a:endParaRPr sz="2400" u="none" strike="noStrike" cap="none">
                        <a:latin typeface="Calibri"/>
                        <a:ea typeface="Calibri"/>
                        <a:cs typeface="Calibri"/>
                        <a:sym typeface="Calibri"/>
                      </a:endParaRPr>
                    </a:p>
                  </a:txBody>
                  <a:tcPr marL="0" marR="0" marT="355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0</a:t>
                      </a:r>
                      <a:endParaRPr sz="2400" u="none" strike="noStrike" cap="none">
                        <a:latin typeface="Calibri"/>
                        <a:ea typeface="Calibri"/>
                        <a:cs typeface="Calibri"/>
                        <a:sym typeface="Calibri"/>
                      </a:endParaRPr>
                    </a:p>
                  </a:txBody>
                  <a:tcPr marL="0" marR="0" marT="355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1</a:t>
                      </a:r>
                      <a:endParaRPr sz="2400" u="none" strike="noStrike" cap="none">
                        <a:latin typeface="Calibri"/>
                        <a:ea typeface="Calibri"/>
                        <a:cs typeface="Calibri"/>
                        <a:sym typeface="Calibri"/>
                      </a:endParaRPr>
                    </a:p>
                  </a:txBody>
                  <a:tcPr marL="0" marR="0" marT="355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157480" lvl="0" indent="0" algn="r" rtl="0">
                        <a:lnSpc>
                          <a:spcPct val="100000"/>
                        </a:lnSpc>
                        <a:spcBef>
                          <a:spcPts val="0"/>
                        </a:spcBef>
                        <a:spcAft>
                          <a:spcPts val="0"/>
                        </a:spcAft>
                        <a:buNone/>
                      </a:pPr>
                      <a:r>
                        <a:rPr lang="en-US" sz="2400" u="none" strike="noStrike" cap="none">
                          <a:latin typeface="Calibri"/>
                          <a:ea typeface="Calibri"/>
                          <a:cs typeface="Calibri"/>
                          <a:sym typeface="Calibri"/>
                        </a:rPr>
                        <a:t>2</a:t>
                      </a:r>
                      <a:endParaRPr sz="2400" u="none" strike="noStrike" cap="none">
                        <a:latin typeface="Calibri"/>
                        <a:ea typeface="Calibri"/>
                        <a:cs typeface="Calibri"/>
                        <a:sym typeface="Calibri"/>
                      </a:endParaRPr>
                    </a:p>
                  </a:txBody>
                  <a:tcPr marL="0" marR="0" marT="355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67640" marR="0" lvl="0" indent="0" algn="l" rtl="0">
                        <a:lnSpc>
                          <a:spcPct val="100000"/>
                        </a:lnSpc>
                        <a:spcBef>
                          <a:spcPts val="0"/>
                        </a:spcBef>
                        <a:spcAft>
                          <a:spcPts val="0"/>
                        </a:spcAft>
                        <a:buNone/>
                      </a:pPr>
                      <a:r>
                        <a:rPr lang="en-US" sz="2400" u="none" strike="noStrike" cap="none">
                          <a:latin typeface="Calibri"/>
                          <a:ea typeface="Calibri"/>
                          <a:cs typeface="Calibri"/>
                          <a:sym typeface="Calibri"/>
                        </a:rPr>
                        <a:t>7</a:t>
                      </a:r>
                      <a:endParaRPr sz="2400" u="none" strike="noStrike" cap="none">
                        <a:latin typeface="Calibri"/>
                        <a:ea typeface="Calibri"/>
                        <a:cs typeface="Calibri"/>
                        <a:sym typeface="Calibri"/>
                      </a:endParaRPr>
                    </a:p>
                  </a:txBody>
                  <a:tcPr marL="0" marR="0" marT="355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17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4</a:t>
                      </a:r>
                      <a:endParaRPr sz="2400" u="none" strike="noStrike" cap="none">
                        <a:latin typeface="Calibri"/>
                        <a:ea typeface="Calibri"/>
                        <a:cs typeface="Calibri"/>
                        <a:sym typeface="Calibri"/>
                      </a:endParaRPr>
                    </a:p>
                  </a:txBody>
                  <a:tcPr marL="0" marR="0" marT="355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87675">
                <a:tc>
                  <a:txBody>
                    <a:bodyPr/>
                    <a:lstStyle/>
                    <a:p>
                      <a:pPr marL="63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1</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5</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8</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157480" lvl="0" indent="0" algn="r" rtl="0">
                        <a:lnSpc>
                          <a:spcPct val="100000"/>
                        </a:lnSpc>
                        <a:spcBef>
                          <a:spcPts val="0"/>
                        </a:spcBef>
                        <a:spcAft>
                          <a:spcPts val="0"/>
                        </a:spcAft>
                        <a:buNone/>
                      </a:pPr>
                      <a:r>
                        <a:rPr lang="en-US" sz="2400" u="none" strike="noStrike" cap="none">
                          <a:latin typeface="Calibri"/>
                          <a:ea typeface="Calibri"/>
                          <a:cs typeface="Calibri"/>
                          <a:sym typeface="Calibri"/>
                        </a:rPr>
                        <a:t>9</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67640" marR="0" lvl="0" indent="0" algn="l" rtl="0">
                        <a:lnSpc>
                          <a:spcPct val="100000"/>
                        </a:lnSpc>
                        <a:spcBef>
                          <a:spcPts val="0"/>
                        </a:spcBef>
                        <a:spcAft>
                          <a:spcPts val="0"/>
                        </a:spcAft>
                        <a:buNone/>
                      </a:pPr>
                      <a:r>
                        <a:rPr lang="en-US" sz="2400" u="none" strike="noStrike" cap="none">
                          <a:latin typeface="Calibri"/>
                          <a:ea typeface="Calibri"/>
                          <a:cs typeface="Calibri"/>
                          <a:sym typeface="Calibri"/>
                        </a:rPr>
                        <a:t>3</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17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1</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87675">
                <a:tc>
                  <a:txBody>
                    <a:bodyPr/>
                    <a:lstStyle/>
                    <a:p>
                      <a:pPr marL="63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2</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7</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2</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157480" lvl="0" indent="0" algn="r" rtl="0">
                        <a:lnSpc>
                          <a:spcPct val="100000"/>
                        </a:lnSpc>
                        <a:spcBef>
                          <a:spcPts val="0"/>
                        </a:spcBef>
                        <a:spcAft>
                          <a:spcPts val="0"/>
                        </a:spcAft>
                        <a:buNone/>
                      </a:pPr>
                      <a:r>
                        <a:rPr lang="en-US" sz="2400" u="none" strike="noStrike" cap="none">
                          <a:latin typeface="Calibri"/>
                          <a:ea typeface="Calibri"/>
                          <a:cs typeface="Calibri"/>
                          <a:sym typeface="Calibri"/>
                        </a:rPr>
                        <a:t>5</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67640" marR="0" lvl="0" indent="0" algn="l" rtl="0">
                        <a:lnSpc>
                          <a:spcPct val="100000"/>
                        </a:lnSpc>
                        <a:spcBef>
                          <a:spcPts val="0"/>
                        </a:spcBef>
                        <a:spcAft>
                          <a:spcPts val="0"/>
                        </a:spcAft>
                        <a:buNone/>
                      </a:pPr>
                      <a:r>
                        <a:rPr lang="en-US" sz="2400" u="none" strike="noStrike" cap="none">
                          <a:latin typeface="Calibri"/>
                          <a:ea typeface="Calibri"/>
                          <a:cs typeface="Calibri"/>
                          <a:sym typeface="Calibri"/>
                        </a:rPr>
                        <a:t>1</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17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3</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87675">
                <a:tc>
                  <a:txBody>
                    <a:bodyPr/>
                    <a:lstStyle/>
                    <a:p>
                      <a:pPr marL="63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0</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1</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3</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157480" lvl="0" indent="0" algn="r" rtl="0">
                        <a:lnSpc>
                          <a:spcPct val="100000"/>
                        </a:lnSpc>
                        <a:spcBef>
                          <a:spcPts val="0"/>
                        </a:spcBef>
                        <a:spcAft>
                          <a:spcPts val="0"/>
                        </a:spcAft>
                        <a:buNone/>
                      </a:pPr>
                      <a:r>
                        <a:rPr lang="en-US" sz="2400" u="none" strike="noStrike" cap="none">
                          <a:latin typeface="Calibri"/>
                          <a:ea typeface="Calibri"/>
                          <a:cs typeface="Calibri"/>
                          <a:sym typeface="Calibri"/>
                        </a:rPr>
                        <a:t>1</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67640" marR="0" lvl="0" indent="0" algn="l" rtl="0">
                        <a:lnSpc>
                          <a:spcPct val="100000"/>
                        </a:lnSpc>
                        <a:spcBef>
                          <a:spcPts val="0"/>
                        </a:spcBef>
                        <a:spcAft>
                          <a:spcPts val="0"/>
                        </a:spcAft>
                        <a:buNone/>
                      </a:pPr>
                      <a:r>
                        <a:rPr lang="en-US" sz="2400" u="none" strike="noStrike" cap="none">
                          <a:latin typeface="Calibri"/>
                          <a:ea typeface="Calibri"/>
                          <a:cs typeface="Calibri"/>
                          <a:sym typeface="Calibri"/>
                        </a:rPr>
                        <a:t>7</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17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8</a:t>
                      </a:r>
                      <a:endParaRPr sz="2400" u="none" strike="noStrike" cap="none">
                        <a:latin typeface="Calibri"/>
                        <a:ea typeface="Calibri"/>
                        <a:cs typeface="Calibri"/>
                        <a:sym typeface="Calibri"/>
                      </a:endParaRPr>
                    </a:p>
                  </a:txBody>
                  <a:tcPr marL="0" marR="0" marT="362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87675">
                <a:tc>
                  <a:txBody>
                    <a:bodyPr/>
                    <a:lstStyle/>
                    <a:p>
                      <a:pPr marL="63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4</a:t>
                      </a:r>
                      <a:endParaRPr sz="2400" u="none" strike="noStrike" cap="none">
                        <a:latin typeface="Calibri"/>
                        <a:ea typeface="Calibri"/>
                        <a:cs typeface="Calibri"/>
                        <a:sym typeface="Calibri"/>
                      </a:endParaRPr>
                    </a:p>
                  </a:txBody>
                  <a:tcPr marL="0" marR="0" marT="36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2</a:t>
                      </a:r>
                      <a:endParaRPr sz="2400" u="none" strike="noStrike" cap="none">
                        <a:latin typeface="Calibri"/>
                        <a:ea typeface="Calibri"/>
                        <a:cs typeface="Calibri"/>
                        <a:sym typeface="Calibri"/>
                      </a:endParaRPr>
                    </a:p>
                  </a:txBody>
                  <a:tcPr marL="0" marR="0" marT="36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1</a:t>
                      </a:r>
                      <a:endParaRPr sz="2400" u="none" strike="noStrike" cap="none">
                        <a:latin typeface="Calibri"/>
                        <a:ea typeface="Calibri"/>
                        <a:cs typeface="Calibri"/>
                        <a:sym typeface="Calibri"/>
                      </a:endParaRPr>
                    </a:p>
                  </a:txBody>
                  <a:tcPr marL="0" marR="0" marT="36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157480" lvl="0" indent="0" algn="r" rtl="0">
                        <a:lnSpc>
                          <a:spcPct val="100000"/>
                        </a:lnSpc>
                        <a:spcBef>
                          <a:spcPts val="0"/>
                        </a:spcBef>
                        <a:spcAft>
                          <a:spcPts val="0"/>
                        </a:spcAft>
                        <a:buNone/>
                      </a:pPr>
                      <a:r>
                        <a:rPr lang="en-US" sz="2400" u="none" strike="noStrike" cap="none">
                          <a:latin typeface="Calibri"/>
                          <a:ea typeface="Calibri"/>
                          <a:cs typeface="Calibri"/>
                          <a:sym typeface="Calibri"/>
                        </a:rPr>
                        <a:t>6</a:t>
                      </a:r>
                      <a:endParaRPr sz="2400" u="none" strike="noStrike" cap="none">
                        <a:latin typeface="Calibri"/>
                        <a:ea typeface="Calibri"/>
                        <a:cs typeface="Calibri"/>
                        <a:sym typeface="Calibri"/>
                      </a:endParaRPr>
                    </a:p>
                  </a:txBody>
                  <a:tcPr marL="0" marR="0" marT="36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67640" marR="0" lvl="0" indent="0" algn="l" rtl="0">
                        <a:lnSpc>
                          <a:spcPct val="100000"/>
                        </a:lnSpc>
                        <a:spcBef>
                          <a:spcPts val="0"/>
                        </a:spcBef>
                        <a:spcAft>
                          <a:spcPts val="0"/>
                        </a:spcAft>
                        <a:buNone/>
                      </a:pPr>
                      <a:r>
                        <a:rPr lang="en-US" sz="2400" u="none" strike="noStrike" cap="none">
                          <a:latin typeface="Calibri"/>
                          <a:ea typeface="Calibri"/>
                          <a:cs typeface="Calibri"/>
                          <a:sym typeface="Calibri"/>
                        </a:rPr>
                        <a:t>2</a:t>
                      </a:r>
                      <a:endParaRPr sz="2400" u="none" strike="noStrike" cap="none">
                        <a:latin typeface="Calibri"/>
                        <a:ea typeface="Calibri"/>
                        <a:cs typeface="Calibri"/>
                        <a:sym typeface="Calibri"/>
                      </a:endParaRPr>
                    </a:p>
                  </a:txBody>
                  <a:tcPr marL="0" marR="0" marT="36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17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8</a:t>
                      </a:r>
                      <a:endParaRPr sz="2400" u="none" strike="noStrike" cap="none">
                        <a:latin typeface="Calibri"/>
                        <a:ea typeface="Calibri"/>
                        <a:cs typeface="Calibri"/>
                        <a:sym typeface="Calibri"/>
                      </a:endParaRPr>
                    </a:p>
                  </a:txBody>
                  <a:tcPr marL="0" marR="0" marT="36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87675">
                <a:tc>
                  <a:txBody>
                    <a:bodyPr/>
                    <a:lstStyle/>
                    <a:p>
                      <a:pPr marL="63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2</a:t>
                      </a:r>
                      <a:endParaRPr sz="2400" u="none" strike="noStrike" cap="none">
                        <a:latin typeface="Calibri"/>
                        <a:ea typeface="Calibri"/>
                        <a:cs typeface="Calibri"/>
                        <a:sym typeface="Calibri"/>
                      </a:endParaRPr>
                    </a:p>
                  </a:txBody>
                  <a:tcPr marL="0" marR="0" marT="36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4</a:t>
                      </a:r>
                      <a:endParaRPr sz="2400" u="none" strike="noStrike" cap="none">
                        <a:latin typeface="Calibri"/>
                        <a:ea typeface="Calibri"/>
                        <a:cs typeface="Calibri"/>
                        <a:sym typeface="Calibri"/>
                      </a:endParaRPr>
                    </a:p>
                  </a:txBody>
                  <a:tcPr marL="0" marR="0" marT="36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5</a:t>
                      </a:r>
                      <a:endParaRPr sz="2400" u="none" strike="noStrike" cap="none">
                        <a:latin typeface="Calibri"/>
                        <a:ea typeface="Calibri"/>
                        <a:cs typeface="Calibri"/>
                        <a:sym typeface="Calibri"/>
                      </a:endParaRPr>
                    </a:p>
                  </a:txBody>
                  <a:tcPr marL="0" marR="0" marT="36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157480" lvl="0" indent="0" algn="r" rtl="0">
                        <a:lnSpc>
                          <a:spcPct val="100000"/>
                        </a:lnSpc>
                        <a:spcBef>
                          <a:spcPts val="0"/>
                        </a:spcBef>
                        <a:spcAft>
                          <a:spcPts val="0"/>
                        </a:spcAft>
                        <a:buNone/>
                      </a:pPr>
                      <a:r>
                        <a:rPr lang="en-US" sz="2400" u="none" strike="noStrike" cap="none">
                          <a:latin typeface="Calibri"/>
                          <a:ea typeface="Calibri"/>
                          <a:cs typeface="Calibri"/>
                          <a:sym typeface="Calibri"/>
                        </a:rPr>
                        <a:t>2</a:t>
                      </a:r>
                      <a:endParaRPr sz="2400" u="none" strike="noStrike" cap="none">
                        <a:latin typeface="Calibri"/>
                        <a:ea typeface="Calibri"/>
                        <a:cs typeface="Calibri"/>
                        <a:sym typeface="Calibri"/>
                      </a:endParaRPr>
                    </a:p>
                  </a:txBody>
                  <a:tcPr marL="0" marR="0" marT="36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67640" marR="0" lvl="0" indent="0" algn="l" rtl="0">
                        <a:lnSpc>
                          <a:spcPct val="100000"/>
                        </a:lnSpc>
                        <a:spcBef>
                          <a:spcPts val="0"/>
                        </a:spcBef>
                        <a:spcAft>
                          <a:spcPts val="0"/>
                        </a:spcAft>
                        <a:buNone/>
                      </a:pPr>
                      <a:r>
                        <a:rPr lang="en-US" sz="2400" u="none" strike="noStrike" cap="none">
                          <a:latin typeface="Calibri"/>
                          <a:ea typeface="Calibri"/>
                          <a:cs typeface="Calibri"/>
                          <a:sym typeface="Calibri"/>
                        </a:rPr>
                        <a:t>3</a:t>
                      </a:r>
                      <a:endParaRPr sz="2400" u="none" strike="noStrike" cap="none">
                        <a:latin typeface="Calibri"/>
                        <a:ea typeface="Calibri"/>
                        <a:cs typeface="Calibri"/>
                        <a:sym typeface="Calibri"/>
                      </a:endParaRPr>
                    </a:p>
                  </a:txBody>
                  <a:tcPr marL="0" marR="0" marT="36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175" marR="0" lvl="0" indent="0" algn="ctr" rtl="0">
                        <a:lnSpc>
                          <a:spcPct val="100000"/>
                        </a:lnSpc>
                        <a:spcBef>
                          <a:spcPts val="0"/>
                        </a:spcBef>
                        <a:spcAft>
                          <a:spcPts val="0"/>
                        </a:spcAft>
                        <a:buNone/>
                      </a:pPr>
                      <a:r>
                        <a:rPr lang="en-US" sz="2400" u="none" strike="noStrike" cap="none">
                          <a:latin typeface="Calibri"/>
                          <a:ea typeface="Calibri"/>
                          <a:cs typeface="Calibri"/>
                          <a:sym typeface="Calibri"/>
                        </a:rPr>
                        <a:t>9</a:t>
                      </a:r>
                      <a:endParaRPr sz="2400" u="none" strike="noStrike" cap="none">
                        <a:latin typeface="Calibri"/>
                        <a:ea typeface="Calibri"/>
                        <a:cs typeface="Calibri"/>
                        <a:sym typeface="Calibri"/>
                      </a:endParaRPr>
                    </a:p>
                  </a:txBody>
                  <a:tcPr marL="0" marR="0" marT="36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256" name="Google Shape;256;p12"/>
          <p:cNvGraphicFramePr/>
          <p:nvPr/>
        </p:nvGraphicFramePr>
        <p:xfrm>
          <a:off x="1311379" y="1079312"/>
          <a:ext cx="1773525" cy="1771650"/>
        </p:xfrm>
        <a:graphic>
          <a:graphicData uri="http://schemas.openxmlformats.org/drawingml/2006/table">
            <a:tbl>
              <a:tblPr firstRow="1" bandRow="1">
                <a:noFill/>
                <a:tableStyleId>{584F781A-C61E-4C5B-897C-18CB087A12A5}</a:tableStyleId>
              </a:tblPr>
              <a:tblGrid>
                <a:gridCol w="591175">
                  <a:extLst>
                    <a:ext uri="{9D8B030D-6E8A-4147-A177-3AD203B41FA5}">
                      <a16:colId xmlns:a16="http://schemas.microsoft.com/office/drawing/2014/main" val="20000"/>
                    </a:ext>
                  </a:extLst>
                </a:gridCol>
                <a:gridCol w="591175">
                  <a:extLst>
                    <a:ext uri="{9D8B030D-6E8A-4147-A177-3AD203B41FA5}">
                      <a16:colId xmlns:a16="http://schemas.microsoft.com/office/drawing/2014/main" val="20001"/>
                    </a:ext>
                  </a:extLst>
                </a:gridCol>
                <a:gridCol w="591175">
                  <a:extLst>
                    <a:ext uri="{9D8B030D-6E8A-4147-A177-3AD203B41FA5}">
                      <a16:colId xmlns:a16="http://schemas.microsoft.com/office/drawing/2014/main" val="20002"/>
                    </a:ext>
                  </a:extLst>
                </a:gridCol>
              </a:tblGrid>
              <a:tr h="590550">
                <a:tc>
                  <a:txBody>
                    <a:bodyPr/>
                    <a:lstStyle/>
                    <a:p>
                      <a:pPr marL="0" marR="0" lvl="0" indent="0" algn="ctr" rtl="0">
                        <a:lnSpc>
                          <a:spcPct val="100000"/>
                        </a:lnSpc>
                        <a:spcBef>
                          <a:spcPts val="0"/>
                        </a:spcBef>
                        <a:spcAft>
                          <a:spcPts val="0"/>
                        </a:spcAft>
                        <a:buNone/>
                      </a:pPr>
                      <a:r>
                        <a:rPr lang="en-US" sz="3200" u="none" strike="noStrike" cap="none">
                          <a:latin typeface="Calibri"/>
                          <a:ea typeface="Calibri"/>
                          <a:cs typeface="Calibri"/>
                          <a:sym typeface="Calibri"/>
                        </a:rPr>
                        <a:t>1</a:t>
                      </a:r>
                      <a:endParaRPr sz="3200" u="none" strike="noStrike" cap="none">
                        <a:latin typeface="Calibri"/>
                        <a:ea typeface="Calibri"/>
                        <a:cs typeface="Calibri"/>
                        <a:sym typeface="Calibri"/>
                      </a:endParaRPr>
                    </a:p>
                  </a:txBody>
                  <a:tcPr marL="0" marR="0" marT="203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92405" marR="0" lvl="0" indent="0" algn="l" rtl="0">
                        <a:lnSpc>
                          <a:spcPct val="100000"/>
                        </a:lnSpc>
                        <a:spcBef>
                          <a:spcPts val="0"/>
                        </a:spcBef>
                        <a:spcAft>
                          <a:spcPts val="0"/>
                        </a:spcAft>
                        <a:buNone/>
                      </a:pPr>
                      <a:r>
                        <a:rPr lang="en-US" sz="3200" u="none" strike="noStrike" cap="none">
                          <a:latin typeface="Calibri"/>
                          <a:ea typeface="Calibri"/>
                          <a:cs typeface="Calibri"/>
                          <a:sym typeface="Calibri"/>
                        </a:rPr>
                        <a:t>0</a:t>
                      </a:r>
                      <a:endParaRPr sz="3200" u="none" strike="noStrike" cap="none">
                        <a:latin typeface="Calibri"/>
                        <a:ea typeface="Calibri"/>
                        <a:cs typeface="Calibri"/>
                        <a:sym typeface="Calibri"/>
                      </a:endParaRPr>
                    </a:p>
                  </a:txBody>
                  <a:tcPr marL="0" marR="0" marT="203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3200" u="none" strike="noStrike" cap="none">
                          <a:latin typeface="Calibri"/>
                          <a:ea typeface="Calibri"/>
                          <a:cs typeface="Calibri"/>
                          <a:sym typeface="Calibri"/>
                        </a:rPr>
                        <a:t>-1</a:t>
                      </a:r>
                      <a:endParaRPr sz="3200" u="none" strike="noStrike" cap="none">
                        <a:latin typeface="Calibri"/>
                        <a:ea typeface="Calibri"/>
                        <a:cs typeface="Calibri"/>
                        <a:sym typeface="Calibri"/>
                      </a:endParaRPr>
                    </a:p>
                  </a:txBody>
                  <a:tcPr marL="0" marR="0" marT="203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90550">
                <a:tc>
                  <a:txBody>
                    <a:bodyPr/>
                    <a:lstStyle/>
                    <a:p>
                      <a:pPr marL="0" marR="0" lvl="0" indent="0" algn="ctr" rtl="0">
                        <a:lnSpc>
                          <a:spcPct val="100000"/>
                        </a:lnSpc>
                        <a:spcBef>
                          <a:spcPts val="0"/>
                        </a:spcBef>
                        <a:spcAft>
                          <a:spcPts val="0"/>
                        </a:spcAft>
                        <a:buNone/>
                      </a:pPr>
                      <a:r>
                        <a:rPr lang="en-US" sz="3200" u="none" strike="noStrike" cap="none">
                          <a:latin typeface="Calibri"/>
                          <a:ea typeface="Calibri"/>
                          <a:cs typeface="Calibri"/>
                          <a:sym typeface="Calibri"/>
                        </a:rPr>
                        <a:t>1</a:t>
                      </a:r>
                      <a:endParaRPr sz="3200" u="none" strike="noStrike" cap="none">
                        <a:latin typeface="Calibri"/>
                        <a:ea typeface="Calibri"/>
                        <a:cs typeface="Calibri"/>
                        <a:sym typeface="Calibri"/>
                      </a:endParaRPr>
                    </a:p>
                  </a:txBody>
                  <a:tcPr marL="0" marR="0" marT="203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92405" marR="0" lvl="0" indent="0" algn="l" rtl="0">
                        <a:lnSpc>
                          <a:spcPct val="100000"/>
                        </a:lnSpc>
                        <a:spcBef>
                          <a:spcPts val="0"/>
                        </a:spcBef>
                        <a:spcAft>
                          <a:spcPts val="0"/>
                        </a:spcAft>
                        <a:buNone/>
                      </a:pPr>
                      <a:r>
                        <a:rPr lang="en-US" sz="3200" u="none" strike="noStrike" cap="none">
                          <a:latin typeface="Calibri"/>
                          <a:ea typeface="Calibri"/>
                          <a:cs typeface="Calibri"/>
                          <a:sym typeface="Calibri"/>
                        </a:rPr>
                        <a:t>0</a:t>
                      </a:r>
                      <a:endParaRPr sz="3200" u="none" strike="noStrike" cap="none">
                        <a:latin typeface="Calibri"/>
                        <a:ea typeface="Calibri"/>
                        <a:cs typeface="Calibri"/>
                        <a:sym typeface="Calibri"/>
                      </a:endParaRPr>
                    </a:p>
                  </a:txBody>
                  <a:tcPr marL="0" marR="0" marT="203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3200" u="none" strike="noStrike" cap="none">
                          <a:latin typeface="Calibri"/>
                          <a:ea typeface="Calibri"/>
                          <a:cs typeface="Calibri"/>
                          <a:sym typeface="Calibri"/>
                        </a:rPr>
                        <a:t>-1</a:t>
                      </a:r>
                      <a:endParaRPr sz="3200" u="none" strike="noStrike" cap="none">
                        <a:latin typeface="Calibri"/>
                        <a:ea typeface="Calibri"/>
                        <a:cs typeface="Calibri"/>
                        <a:sym typeface="Calibri"/>
                      </a:endParaRPr>
                    </a:p>
                  </a:txBody>
                  <a:tcPr marL="0" marR="0" marT="203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90550">
                <a:tc>
                  <a:txBody>
                    <a:bodyPr/>
                    <a:lstStyle/>
                    <a:p>
                      <a:pPr marL="0" marR="0" lvl="0" indent="0" algn="ctr" rtl="0">
                        <a:lnSpc>
                          <a:spcPct val="100000"/>
                        </a:lnSpc>
                        <a:spcBef>
                          <a:spcPts val="0"/>
                        </a:spcBef>
                        <a:spcAft>
                          <a:spcPts val="0"/>
                        </a:spcAft>
                        <a:buNone/>
                      </a:pPr>
                      <a:r>
                        <a:rPr lang="en-US" sz="3200" u="none" strike="noStrike" cap="none">
                          <a:latin typeface="Calibri"/>
                          <a:ea typeface="Calibri"/>
                          <a:cs typeface="Calibri"/>
                          <a:sym typeface="Calibri"/>
                        </a:rPr>
                        <a:t>1</a:t>
                      </a:r>
                      <a:endParaRPr sz="3200" u="none" strike="noStrike" cap="none">
                        <a:latin typeface="Calibri"/>
                        <a:ea typeface="Calibri"/>
                        <a:cs typeface="Calibri"/>
                        <a:sym typeface="Calibri"/>
                      </a:endParaRPr>
                    </a:p>
                  </a:txBody>
                  <a:tcPr marL="0" marR="0" marT="209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92405" marR="0" lvl="0" indent="0" algn="l" rtl="0">
                        <a:lnSpc>
                          <a:spcPct val="100000"/>
                        </a:lnSpc>
                        <a:spcBef>
                          <a:spcPts val="0"/>
                        </a:spcBef>
                        <a:spcAft>
                          <a:spcPts val="0"/>
                        </a:spcAft>
                        <a:buNone/>
                      </a:pPr>
                      <a:r>
                        <a:rPr lang="en-US" sz="3200" u="none" strike="noStrike" cap="none">
                          <a:latin typeface="Calibri"/>
                          <a:ea typeface="Calibri"/>
                          <a:cs typeface="Calibri"/>
                          <a:sym typeface="Calibri"/>
                        </a:rPr>
                        <a:t>0</a:t>
                      </a:r>
                      <a:endParaRPr sz="3200" u="none" strike="noStrike" cap="none">
                        <a:latin typeface="Calibri"/>
                        <a:ea typeface="Calibri"/>
                        <a:cs typeface="Calibri"/>
                        <a:sym typeface="Calibri"/>
                      </a:endParaRPr>
                    </a:p>
                  </a:txBody>
                  <a:tcPr marL="0" marR="0" marT="209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3200" u="none" strike="noStrike" cap="none">
                          <a:latin typeface="Calibri"/>
                          <a:ea typeface="Calibri"/>
                          <a:cs typeface="Calibri"/>
                          <a:sym typeface="Calibri"/>
                        </a:rPr>
                        <a:t>-1</a:t>
                      </a:r>
                      <a:endParaRPr sz="3200" u="none" strike="noStrike" cap="none">
                        <a:latin typeface="Calibri"/>
                        <a:ea typeface="Calibri"/>
                        <a:cs typeface="Calibri"/>
                        <a:sym typeface="Calibri"/>
                      </a:endParaRPr>
                    </a:p>
                  </a:txBody>
                  <a:tcPr marL="0" marR="0" marT="209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257" name="Google Shape;257;p12"/>
          <p:cNvPicPr preferRelativeResize="0"/>
          <p:nvPr/>
        </p:nvPicPr>
        <p:blipFill rotWithShape="1">
          <a:blip r:embed="rId3">
            <a:alphaModFix/>
          </a:blip>
          <a:srcRect/>
          <a:stretch/>
        </p:blipFill>
        <p:spPr>
          <a:xfrm>
            <a:off x="5257799" y="1079312"/>
            <a:ext cx="3923331" cy="2044888"/>
          </a:xfrm>
          <a:prstGeom prst="rect">
            <a:avLst/>
          </a:prstGeom>
          <a:noFill/>
          <a:ln>
            <a:noFill/>
          </a:ln>
        </p:spPr>
      </p:pic>
      <p:pic>
        <p:nvPicPr>
          <p:cNvPr id="258" name="Google Shape;258;p12"/>
          <p:cNvPicPr preferRelativeResize="0"/>
          <p:nvPr/>
        </p:nvPicPr>
        <p:blipFill rotWithShape="1">
          <a:blip r:embed="rId4">
            <a:alphaModFix/>
          </a:blip>
          <a:srcRect/>
          <a:stretch/>
        </p:blipFill>
        <p:spPr>
          <a:xfrm>
            <a:off x="4648200" y="3962400"/>
            <a:ext cx="3648730" cy="2436877"/>
          </a:xfrm>
          <a:prstGeom prst="rect">
            <a:avLst/>
          </a:prstGeom>
          <a:noFill/>
          <a:ln>
            <a:noFill/>
          </a:ln>
        </p:spPr>
      </p:pic>
      <p:pic>
        <p:nvPicPr>
          <p:cNvPr id="259" name="Google Shape;259;p12"/>
          <p:cNvPicPr preferRelativeResize="0"/>
          <p:nvPr/>
        </p:nvPicPr>
        <p:blipFill>
          <a:blip r:embed="rId5">
            <a:alphaModFix/>
          </a:blip>
          <a:stretch>
            <a:fillRect/>
          </a:stretch>
        </p:blipFill>
        <p:spPr>
          <a:xfrm>
            <a:off x="10734473" y="0"/>
            <a:ext cx="1448025" cy="796414"/>
          </a:xfrm>
          <a:prstGeom prst="rect">
            <a:avLst/>
          </a:prstGeom>
          <a:noFill/>
          <a:ln>
            <a:noFill/>
          </a:ln>
        </p:spPr>
      </p:pic>
      <p:sp>
        <p:nvSpPr>
          <p:cNvPr id="2" name="TextBox 1"/>
          <p:cNvSpPr txBox="1"/>
          <p:nvPr/>
        </p:nvSpPr>
        <p:spPr>
          <a:xfrm>
            <a:off x="634172" y="2850634"/>
            <a:ext cx="3480628" cy="400110"/>
          </a:xfrm>
          <a:prstGeom prst="rect">
            <a:avLst/>
          </a:prstGeom>
          <a:noFill/>
        </p:spPr>
        <p:txBody>
          <a:bodyPr wrap="square" rtlCol="0">
            <a:spAutoFit/>
          </a:bodyPr>
          <a:lstStyle/>
          <a:p>
            <a:r>
              <a:rPr lang="en-GB" sz="2000" dirty="0" smtClean="0"/>
              <a:t>Traditional </a:t>
            </a:r>
            <a:r>
              <a:rPr lang="en-GB" sz="2000" dirty="0"/>
              <a:t>vertical edge </a:t>
            </a:r>
            <a:r>
              <a:rPr lang="en-GB" sz="2000" dirty="0" smtClean="0"/>
              <a:t>filter</a:t>
            </a:r>
            <a:endParaRPr lang="en-US" sz="20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825354"/>
          </a:xfrm>
          <a:prstGeom prst="rect">
            <a:avLst/>
          </a:prstGeom>
          <a:noFill/>
          <a:ln>
            <a:noFill/>
          </a:ln>
        </p:spPr>
        <p:txBody>
          <a:bodyPr spcFirstLastPara="1" wrap="square" lIns="0" tIns="12700" rIns="0" bIns="0" anchor="t" anchorCtr="0">
            <a:spAutoFit/>
          </a:bodyPr>
          <a:lstStyle/>
          <a:p>
            <a:pPr marL="240665" marR="5080" lvl="0" indent="-228600" algn="l" rtl="0">
              <a:lnSpc>
                <a:spcPct val="119696"/>
              </a:lnSpc>
              <a:spcBef>
                <a:spcPts val="0"/>
              </a:spcBef>
              <a:spcAft>
                <a:spcPts val="0"/>
              </a:spcAft>
              <a:buNone/>
            </a:pPr>
            <a:r>
              <a:rPr lang="en-US" sz="4400" dirty="0">
                <a:latin typeface="+mj-lt"/>
                <a:ea typeface="Calibri"/>
                <a:cs typeface="Calibri"/>
                <a:sym typeface="Calibri"/>
              </a:rPr>
              <a:t>More edge detection</a:t>
            </a: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459022"/>
            <a:ext cx="11677535" cy="3416320"/>
          </a:xfrm>
          <a:prstGeom prst="rect">
            <a:avLst/>
          </a:prstGeom>
          <a:noFill/>
        </p:spPr>
        <p:txBody>
          <a:bodyPr wrap="square" rtlCol="0">
            <a:spAutoFit/>
          </a:bodyPr>
          <a:lstStyle/>
          <a:p>
            <a:pPr marL="285750" indent="-285750">
              <a:buFont typeface="Arial" panose="020B0604020202020204" pitchFamily="34" charset="0"/>
              <a:buChar char="•"/>
            </a:pPr>
            <a:r>
              <a:rPr lang="en-GB" sz="2400" dirty="0"/>
              <a:t>Using backpropagation to learn the values of the filter weights automatically:</a:t>
            </a:r>
          </a:p>
          <a:p>
            <a:r>
              <a:rPr lang="en-GB" sz="2400" dirty="0"/>
              <a:t>	</a:t>
            </a:r>
            <a:r>
              <a:rPr lang="en-GB" sz="2000" dirty="0"/>
              <a:t>- Rather than hand-coding the filter values, a neural network can learn them </a:t>
            </a:r>
            <a:r>
              <a:rPr lang="en-GB" sz="2000" dirty="0" smtClean="0"/>
              <a:t>by </a:t>
            </a:r>
            <a:r>
              <a:rPr lang="en-GB" sz="2000" dirty="0"/>
              <a:t>adjusting the </a:t>
            </a:r>
            <a:r>
              <a:rPr lang="en-GB" sz="2000" dirty="0" smtClean="0"/>
              <a:t>	weights </a:t>
            </a:r>
            <a:r>
              <a:rPr lang="en-GB" sz="2000" dirty="0"/>
              <a:t>during training. This allows the network to learn edge </a:t>
            </a:r>
            <a:r>
              <a:rPr lang="en-GB" sz="2000" dirty="0" smtClean="0"/>
              <a:t>detection </a:t>
            </a:r>
            <a:r>
              <a:rPr lang="en-GB" sz="2000" dirty="0"/>
              <a:t>filters that are more </a:t>
            </a:r>
            <a:r>
              <a:rPr lang="en-GB" sz="2000" dirty="0" smtClean="0"/>
              <a:t>	effective </a:t>
            </a:r>
            <a:r>
              <a:rPr lang="en-GB" sz="2000" dirty="0"/>
              <a:t>and efficient than hand-coded filters.</a:t>
            </a:r>
          </a:p>
          <a:p>
            <a:pPr marL="285750" indent="-285750">
              <a:buFont typeface="Arial" panose="020B0604020202020204" pitchFamily="34" charset="0"/>
              <a:buChar char="•"/>
            </a:pPr>
            <a:r>
              <a:rPr lang="en-GB" sz="2400" dirty="0"/>
              <a:t>Padding and stride, which are variations on the basic convolution operation:</a:t>
            </a:r>
          </a:p>
          <a:p>
            <a:r>
              <a:rPr lang="en-GB" sz="2400" dirty="0"/>
              <a:t>	</a:t>
            </a:r>
            <a:r>
              <a:rPr lang="en-GB" sz="2000" dirty="0"/>
              <a:t>- Padding involves adding additional pixels around the edge of an image to </a:t>
            </a:r>
            <a:r>
              <a:rPr lang="en-GB" sz="2000" dirty="0" smtClean="0"/>
              <a:t>prevent </a:t>
            </a:r>
            <a:r>
              <a:rPr lang="en-GB" sz="2000" dirty="0"/>
              <a:t>the output </a:t>
            </a:r>
            <a:r>
              <a:rPr lang="en-GB" sz="2000" dirty="0" smtClean="0"/>
              <a:t>	from </a:t>
            </a:r>
            <a:r>
              <a:rPr lang="en-GB" sz="2000" dirty="0"/>
              <a:t>being smaller than the input after convolution. </a:t>
            </a:r>
          </a:p>
          <a:p>
            <a:r>
              <a:rPr lang="en-GB" sz="2000" dirty="0"/>
              <a:t>	- Stride involves skipping some of the pixels in the input during convolution, </a:t>
            </a:r>
            <a:r>
              <a:rPr lang="en-GB" sz="2000" dirty="0" smtClean="0"/>
              <a:t>resulting </a:t>
            </a:r>
            <a:r>
              <a:rPr lang="en-GB" sz="2000" dirty="0"/>
              <a:t>in a </a:t>
            </a:r>
            <a:r>
              <a:rPr lang="en-GB" sz="2000" dirty="0" smtClean="0"/>
              <a:t>	smaller </a:t>
            </a:r>
            <a:r>
              <a:rPr lang="en-GB" sz="2000" dirty="0"/>
              <a:t>output. These variations are important building blocks for </a:t>
            </a:r>
            <a:r>
              <a:rPr lang="en-GB" sz="2000" dirty="0" smtClean="0"/>
              <a:t>convolutional </a:t>
            </a:r>
            <a:r>
              <a:rPr lang="en-GB" sz="2000" dirty="0"/>
              <a:t>neural </a:t>
            </a:r>
            <a:r>
              <a:rPr lang="en-GB" sz="2000" dirty="0" smtClean="0"/>
              <a:t>	networks</a:t>
            </a:r>
            <a:r>
              <a:rPr lang="en-GB" sz="2000" dirty="0"/>
              <a:t>.</a:t>
            </a:r>
            <a:endParaRPr lang="en-US" sz="20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extLst>
      <p:ext uri="{BB962C8B-B14F-4D97-AF65-F5344CB8AC3E}">
        <p14:creationId xmlns:p14="http://schemas.microsoft.com/office/powerpoint/2010/main" val="11442735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263"/>
        <p:cNvGrpSpPr/>
        <p:nvPr/>
      </p:nvGrpSpPr>
      <p:grpSpPr>
        <a:xfrm>
          <a:off x="0" y="0"/>
          <a:ext cx="0" cy="0"/>
          <a:chOff x="0" y="0"/>
          <a:chExt cx="0" cy="0"/>
        </a:xfrm>
      </p:grpSpPr>
      <p:sp>
        <p:nvSpPr>
          <p:cNvPr id="264" name="Google Shape;264;p13"/>
          <p:cNvSpPr txBox="1">
            <a:spLocks noGrp="1"/>
          </p:cNvSpPr>
          <p:nvPr>
            <p:ph type="title"/>
          </p:nvPr>
        </p:nvSpPr>
        <p:spPr>
          <a:xfrm>
            <a:off x="105916" y="202046"/>
            <a:ext cx="11668759" cy="2994025"/>
          </a:xfrm>
          <a:prstGeom prst="rect">
            <a:avLst/>
          </a:prstGeom>
          <a:noFill/>
          <a:ln>
            <a:noFill/>
          </a:ln>
        </p:spPr>
        <p:txBody>
          <a:bodyPr spcFirstLastPara="1" wrap="square" lIns="0" tIns="942925" rIns="0" bIns="0" anchor="t" anchorCtr="0">
            <a:spAutoFit/>
          </a:bodyPr>
          <a:lstStyle/>
          <a:p>
            <a:pPr marL="5466715" marR="5080" lvl="0" indent="454658" algn="l" rtl="0">
              <a:lnSpc>
                <a:spcPct val="108333"/>
              </a:lnSpc>
              <a:spcBef>
                <a:spcPts val="0"/>
              </a:spcBef>
              <a:spcAft>
                <a:spcPts val="0"/>
              </a:spcAft>
              <a:buNone/>
            </a:pPr>
            <a:r>
              <a:rPr lang="en-US" dirty="0">
                <a:latin typeface="+mj-lt"/>
              </a:rPr>
              <a:t>Convolutional Neural Networks</a:t>
            </a:r>
            <a:endParaRPr dirty="0">
              <a:latin typeface="+mj-lt"/>
            </a:endParaRPr>
          </a:p>
        </p:txBody>
      </p:sp>
      <p:sp>
        <p:nvSpPr>
          <p:cNvPr id="265" name="Google Shape;265;p13"/>
          <p:cNvSpPr txBox="1"/>
          <p:nvPr/>
        </p:nvSpPr>
        <p:spPr>
          <a:xfrm>
            <a:off x="6990151" y="4008954"/>
            <a:ext cx="2601197" cy="84382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5400" dirty="0">
                <a:latin typeface="+mj-lt"/>
                <a:ea typeface="Calibri"/>
                <a:cs typeface="Calibri"/>
                <a:sym typeface="Calibri"/>
              </a:rPr>
              <a:t>Padding</a:t>
            </a:r>
            <a:endParaRPr sz="5400" dirty="0">
              <a:latin typeface="+mj-lt"/>
              <a:ea typeface="Calibri"/>
              <a:cs typeface="Calibri"/>
              <a:sym typeface="Calibri"/>
            </a:endParaRPr>
          </a:p>
        </p:txBody>
      </p:sp>
      <p:sp>
        <p:nvSpPr>
          <p:cNvPr id="266" name="Google Shape;266;p13"/>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7" name="Google Shape;267;p13"/>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Calibri"/>
                <a:ea typeface="Calibri"/>
                <a:cs typeface="Calibri"/>
                <a:sym typeface="Calibri"/>
              </a:rPr>
              <a:t>Padding</a:t>
            </a: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007918"/>
            <a:ext cx="11677535" cy="3600986"/>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basic convolutional operation </a:t>
            </a:r>
            <a:r>
              <a:rPr lang="en-US" sz="2400" dirty="0" smtClean="0"/>
              <a:t>creates </a:t>
            </a:r>
            <a:r>
              <a:rPr lang="en-US" sz="2400" dirty="0"/>
              <a:t>two problems:</a:t>
            </a:r>
          </a:p>
          <a:p>
            <a:r>
              <a:rPr lang="en-US" sz="2400" dirty="0"/>
              <a:t>	</a:t>
            </a:r>
            <a:r>
              <a:rPr lang="en-US" sz="2000" dirty="0"/>
              <a:t>- Firstly, if you apply convolutional operators repeatedly, the image shrinks in </a:t>
            </a:r>
            <a:r>
              <a:rPr lang="en-US" sz="2000" dirty="0" smtClean="0"/>
              <a:t>size </a:t>
            </a:r>
            <a:r>
              <a:rPr lang="en-US" sz="2000" dirty="0"/>
              <a:t>every time, </a:t>
            </a:r>
            <a:r>
              <a:rPr lang="en-US" sz="2000" dirty="0" smtClean="0"/>
              <a:t>	eventually </a:t>
            </a:r>
            <a:r>
              <a:rPr lang="en-US" sz="2000" dirty="0"/>
              <a:t>resulting in a very small image.</a:t>
            </a:r>
          </a:p>
          <a:p>
            <a:r>
              <a:rPr lang="en-US" sz="2000" dirty="0"/>
              <a:t>	- Secondly, pixels on the edges of the image are touched by fewer filters, </a:t>
            </a:r>
            <a:r>
              <a:rPr lang="en-US" sz="2000" dirty="0" smtClean="0"/>
              <a:t>leading </a:t>
            </a:r>
            <a:r>
              <a:rPr lang="en-US" sz="2000" dirty="0"/>
              <a:t>to the loss of </a:t>
            </a:r>
            <a:r>
              <a:rPr lang="en-US" sz="2000" dirty="0" smtClean="0"/>
              <a:t>	important </a:t>
            </a:r>
            <a:r>
              <a:rPr lang="en-US" sz="2000" dirty="0"/>
              <a:t>information near the edges</a:t>
            </a:r>
            <a:r>
              <a:rPr lang="en-US" sz="2000" dirty="0" smtClean="0"/>
              <a:t>.</a:t>
            </a:r>
          </a:p>
          <a:p>
            <a:pPr marL="285750" indent="-285750">
              <a:buFont typeface="Arial" panose="020B0604020202020204" pitchFamily="34" charset="0"/>
              <a:buChar char="•"/>
            </a:pPr>
            <a:r>
              <a:rPr lang="en-US" sz="2400" dirty="0"/>
              <a:t>Padding addresses this by adding zeros to the input image edges before convolution, preventing size reduction and ensuring edge pixels are influenced by more filters. </a:t>
            </a:r>
            <a:endParaRPr lang="en-US" sz="2400" dirty="0" smtClean="0"/>
          </a:p>
          <a:p>
            <a:pPr marL="285750" indent="-285750">
              <a:buFont typeface="Arial" panose="020B0604020202020204" pitchFamily="34" charset="0"/>
              <a:buChar char="•"/>
            </a:pPr>
            <a:r>
              <a:rPr lang="en-US" sz="2400" dirty="0"/>
              <a:t>Conventionally, padding is denoted as 'p,' representing the added pixels to each edge of the input image. </a:t>
            </a:r>
            <a:endParaRPr lang="en-US" sz="2400" dirty="0" smtClean="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extLst>
      <p:ext uri="{BB962C8B-B14F-4D97-AF65-F5344CB8AC3E}">
        <p14:creationId xmlns:p14="http://schemas.microsoft.com/office/powerpoint/2010/main" val="11835679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Calibri"/>
                <a:ea typeface="Calibri"/>
                <a:cs typeface="Calibri"/>
                <a:sym typeface="Calibri"/>
              </a:rPr>
              <a:t>Padding</a:t>
            </a: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007918"/>
            <a:ext cx="11677535"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Input: </a:t>
            </a:r>
            <a:r>
              <a:rPr lang="en-US" sz="2400" b="1" dirty="0"/>
              <a:t>n </a:t>
            </a:r>
            <a:r>
              <a:rPr lang="en-US" sz="2400" b="1" dirty="0" smtClean="0"/>
              <a:t>x </a:t>
            </a:r>
            <a:r>
              <a:rPr lang="en-US" sz="2400" b="1" dirty="0"/>
              <a:t>n</a:t>
            </a:r>
          </a:p>
          <a:p>
            <a:pPr marL="342900" indent="-342900">
              <a:buFont typeface="Arial" panose="020B0604020202020204" pitchFamily="34" charset="0"/>
              <a:buChar char="•"/>
            </a:pPr>
            <a:r>
              <a:rPr lang="en-US" sz="2400" dirty="0"/>
              <a:t>Padding: </a:t>
            </a:r>
            <a:r>
              <a:rPr lang="en-US" sz="2400" b="1" dirty="0"/>
              <a:t>p</a:t>
            </a:r>
          </a:p>
          <a:p>
            <a:pPr marL="342900" indent="-342900">
              <a:buFont typeface="Arial" panose="020B0604020202020204" pitchFamily="34" charset="0"/>
              <a:buChar char="•"/>
            </a:pPr>
            <a:r>
              <a:rPr lang="en-US" sz="2400" dirty="0"/>
              <a:t>Filter size: </a:t>
            </a:r>
            <a:r>
              <a:rPr lang="en-US" sz="2400" b="1" dirty="0"/>
              <a:t>f </a:t>
            </a:r>
            <a:r>
              <a:rPr lang="en-US" sz="2400" b="1" dirty="0" smtClean="0"/>
              <a:t>x </a:t>
            </a:r>
            <a:r>
              <a:rPr lang="en-US" sz="2400" b="1" dirty="0"/>
              <a:t>f</a:t>
            </a:r>
          </a:p>
          <a:p>
            <a:pPr marL="342900" indent="-342900">
              <a:buFont typeface="Arial" panose="020B0604020202020204" pitchFamily="34" charset="0"/>
              <a:buChar char="•"/>
            </a:pPr>
            <a:r>
              <a:rPr lang="en-US" sz="2400" dirty="0"/>
              <a:t>Output: </a:t>
            </a:r>
            <a:r>
              <a:rPr lang="en-US" sz="2400" b="1" dirty="0"/>
              <a:t>(n+2p-f+1) </a:t>
            </a:r>
            <a:r>
              <a:rPr lang="en-US" sz="2400" b="1" dirty="0" smtClean="0"/>
              <a:t>x </a:t>
            </a:r>
            <a:r>
              <a:rPr lang="en-US" sz="2400" b="1" dirty="0"/>
              <a:t>(n+2p-f+1)</a:t>
            </a:r>
            <a:endParaRPr lang="en-US" sz="2000" b="1"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Tree>
    <p:extLst>
      <p:ext uri="{BB962C8B-B14F-4D97-AF65-F5344CB8AC3E}">
        <p14:creationId xmlns:p14="http://schemas.microsoft.com/office/powerpoint/2010/main" val="26875582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Calibri"/>
                <a:ea typeface="Calibri"/>
                <a:cs typeface="Calibri"/>
                <a:sym typeface="Calibri"/>
              </a:rPr>
              <a:t>Padding</a:t>
            </a: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007918"/>
            <a:ext cx="11677535" cy="2677656"/>
          </a:xfrm>
          <a:prstGeom prst="rect">
            <a:avLst/>
          </a:prstGeom>
          <a:noFill/>
        </p:spPr>
        <p:txBody>
          <a:bodyPr wrap="square" rtlCol="0">
            <a:spAutoFit/>
          </a:bodyPr>
          <a:lstStyle/>
          <a:p>
            <a:pPr marL="342900" indent="-342900">
              <a:buFont typeface="Arial" panose="020B0604020202020204" pitchFamily="34" charset="0"/>
              <a:buChar char="•"/>
            </a:pPr>
            <a:r>
              <a:rPr lang="en-US" sz="2400" dirty="0"/>
              <a:t>There are two common choices for padding:</a:t>
            </a:r>
          </a:p>
          <a:p>
            <a:r>
              <a:rPr lang="en-US" sz="2400" dirty="0" smtClean="0"/>
              <a:t>	1. </a:t>
            </a:r>
            <a:r>
              <a:rPr lang="en-US" sz="2400" b="1" dirty="0" smtClean="0"/>
              <a:t>Valid</a:t>
            </a:r>
            <a:r>
              <a:rPr lang="en-US" sz="2400" dirty="0"/>
              <a:t>: It means no padding. If we are using valid padding, the output will be </a:t>
            </a:r>
            <a:r>
              <a:rPr lang="en-US" sz="2400" dirty="0" smtClean="0"/>
              <a:t>	(</a:t>
            </a:r>
            <a:r>
              <a:rPr lang="en-US" sz="2400" dirty="0"/>
              <a:t>n-f+1) X (n-f+1)</a:t>
            </a:r>
          </a:p>
          <a:p>
            <a:r>
              <a:rPr lang="en-US" sz="2400" dirty="0" smtClean="0"/>
              <a:t>	2. </a:t>
            </a:r>
            <a:r>
              <a:rPr lang="en-US" sz="2400" b="1" dirty="0" smtClean="0"/>
              <a:t>Same</a:t>
            </a:r>
            <a:r>
              <a:rPr lang="en-US" sz="2400" dirty="0"/>
              <a:t>: Here, we apply padding so that the output size is the same as the </a:t>
            </a:r>
            <a:r>
              <a:rPr lang="en-US" sz="2400" dirty="0" smtClean="0"/>
              <a:t>	input </a:t>
            </a:r>
            <a:r>
              <a:rPr lang="en-US" sz="2400" dirty="0"/>
              <a:t>size, i.e.,</a:t>
            </a:r>
          </a:p>
          <a:p>
            <a:r>
              <a:rPr lang="en-US" sz="2400" dirty="0" smtClean="0"/>
              <a:t>	n+2p-f+1 </a:t>
            </a:r>
            <a:r>
              <a:rPr lang="en-US" sz="2400" dirty="0"/>
              <a:t>= n</a:t>
            </a:r>
          </a:p>
          <a:p>
            <a:r>
              <a:rPr lang="en-US" sz="2400" dirty="0" smtClean="0"/>
              <a:t>	So</a:t>
            </a:r>
            <a:r>
              <a:rPr lang="en-US" sz="2400" dirty="0"/>
              <a:t>, p = (f-1)/</a:t>
            </a:r>
            <a:r>
              <a:rPr lang="en-US" sz="2400" dirty="0" smtClean="0"/>
              <a:t>2</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Tree>
    <p:extLst>
      <p:ext uri="{BB962C8B-B14F-4D97-AF65-F5344CB8AC3E}">
        <p14:creationId xmlns:p14="http://schemas.microsoft.com/office/powerpoint/2010/main" val="38530878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14"/>
          <p:cNvSpPr txBox="1">
            <a:spLocks noGrp="1"/>
          </p:cNvSpPr>
          <p:nvPr>
            <p:ph type="title"/>
          </p:nvPr>
        </p:nvSpPr>
        <p:spPr>
          <a:xfrm>
            <a:off x="261620" y="139700"/>
            <a:ext cx="216852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Padding</a:t>
            </a:r>
            <a:endParaRPr sz="4400" dirty="0">
              <a:latin typeface="+mj-lt"/>
              <a:ea typeface="Cambria"/>
              <a:cs typeface="Cambria"/>
              <a:sym typeface="Cambria"/>
            </a:endParaRPr>
          </a:p>
        </p:txBody>
      </p:sp>
      <p:pic>
        <p:nvPicPr>
          <p:cNvPr id="276" name="Google Shape;276;p14"/>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pic>
        <p:nvPicPr>
          <p:cNvPr id="3" name="Picture 2"/>
          <p:cNvPicPr>
            <a:picLocks noChangeAspect="1"/>
          </p:cNvPicPr>
          <p:nvPr/>
        </p:nvPicPr>
        <p:blipFill>
          <a:blip r:embed="rId4"/>
          <a:stretch>
            <a:fillRect/>
          </a:stretch>
        </p:blipFill>
        <p:spPr>
          <a:xfrm>
            <a:off x="493321" y="1492326"/>
            <a:ext cx="11449052" cy="3720942"/>
          </a:xfrm>
          <a:prstGeom prst="rect">
            <a:avLst/>
          </a:prstGeom>
        </p:spPr>
      </p:pic>
    </p:spTree>
    <p:extLst>
      <p:ext uri="{BB962C8B-B14F-4D97-AF65-F5344CB8AC3E}">
        <p14:creationId xmlns:p14="http://schemas.microsoft.com/office/powerpoint/2010/main" val="33625821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14"/>
          <p:cNvSpPr txBox="1">
            <a:spLocks noGrp="1"/>
          </p:cNvSpPr>
          <p:nvPr>
            <p:ph type="title"/>
          </p:nvPr>
        </p:nvSpPr>
        <p:spPr>
          <a:xfrm>
            <a:off x="261620" y="139700"/>
            <a:ext cx="216852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Padding</a:t>
            </a:r>
            <a:endParaRPr sz="4400" dirty="0">
              <a:latin typeface="+mj-lt"/>
              <a:ea typeface="Cambria"/>
              <a:cs typeface="Cambria"/>
              <a:sym typeface="Cambria"/>
            </a:endParaRPr>
          </a:p>
        </p:txBody>
      </p:sp>
      <p:pic>
        <p:nvPicPr>
          <p:cNvPr id="276" name="Google Shape;276;p14"/>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pic>
        <p:nvPicPr>
          <p:cNvPr id="3" name="Picture 2"/>
          <p:cNvPicPr>
            <a:picLocks noChangeAspect="1"/>
          </p:cNvPicPr>
          <p:nvPr/>
        </p:nvPicPr>
        <p:blipFill>
          <a:blip r:embed="rId4"/>
          <a:stretch>
            <a:fillRect/>
          </a:stretch>
        </p:blipFill>
        <p:spPr>
          <a:xfrm>
            <a:off x="1577066" y="1460210"/>
            <a:ext cx="8734345" cy="4441825"/>
          </a:xfrm>
          <a:prstGeom prst="rect">
            <a:avLst/>
          </a:prstGeom>
        </p:spPr>
      </p:pic>
    </p:spTree>
    <p:extLst>
      <p:ext uri="{BB962C8B-B14F-4D97-AF65-F5344CB8AC3E}">
        <p14:creationId xmlns:p14="http://schemas.microsoft.com/office/powerpoint/2010/main" val="36682481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292"/>
        <p:cNvGrpSpPr/>
        <p:nvPr/>
      </p:nvGrpSpPr>
      <p:grpSpPr>
        <a:xfrm>
          <a:off x="0" y="0"/>
          <a:ext cx="0" cy="0"/>
          <a:chOff x="0" y="0"/>
          <a:chExt cx="0" cy="0"/>
        </a:xfrm>
      </p:grpSpPr>
      <p:sp>
        <p:nvSpPr>
          <p:cNvPr id="293" name="Google Shape;293;p16"/>
          <p:cNvSpPr txBox="1">
            <a:spLocks noGrp="1"/>
          </p:cNvSpPr>
          <p:nvPr>
            <p:ph type="title"/>
          </p:nvPr>
        </p:nvSpPr>
        <p:spPr>
          <a:xfrm>
            <a:off x="76391" y="215328"/>
            <a:ext cx="11668759" cy="2994025"/>
          </a:xfrm>
          <a:prstGeom prst="rect">
            <a:avLst/>
          </a:prstGeom>
          <a:noFill/>
          <a:ln>
            <a:noFill/>
          </a:ln>
        </p:spPr>
        <p:txBody>
          <a:bodyPr spcFirstLastPara="1" wrap="square" lIns="0" tIns="942925" rIns="0" bIns="0" anchor="t" anchorCtr="0">
            <a:spAutoFit/>
          </a:bodyPr>
          <a:lstStyle/>
          <a:p>
            <a:pPr marL="5466715" marR="5080" lvl="0" indent="454658" algn="l" rtl="0">
              <a:lnSpc>
                <a:spcPct val="108333"/>
              </a:lnSpc>
              <a:spcBef>
                <a:spcPts val="0"/>
              </a:spcBef>
              <a:spcAft>
                <a:spcPts val="0"/>
              </a:spcAft>
              <a:buNone/>
            </a:pPr>
            <a:r>
              <a:rPr lang="en-US" dirty="0">
                <a:latin typeface="+mj-lt"/>
              </a:rPr>
              <a:t>Convolutional Neural Networks</a:t>
            </a:r>
            <a:endParaRPr dirty="0">
              <a:latin typeface="+mj-lt"/>
            </a:endParaRPr>
          </a:p>
        </p:txBody>
      </p:sp>
      <p:sp>
        <p:nvSpPr>
          <p:cNvPr id="294" name="Google Shape;294;p16"/>
          <p:cNvSpPr txBox="1"/>
          <p:nvPr/>
        </p:nvSpPr>
        <p:spPr>
          <a:xfrm>
            <a:off x="4288952" y="3886200"/>
            <a:ext cx="7234566" cy="1025394"/>
          </a:xfrm>
          <a:prstGeom prst="rect">
            <a:avLst/>
          </a:prstGeom>
          <a:noFill/>
          <a:ln>
            <a:noFill/>
          </a:ln>
        </p:spPr>
        <p:txBody>
          <a:bodyPr spcFirstLastPara="1" wrap="square" lIns="0" tIns="27925" rIns="0" bIns="0" anchor="t" anchorCtr="0">
            <a:spAutoFit/>
          </a:bodyPr>
          <a:lstStyle/>
          <a:p>
            <a:pPr marL="12700" marR="5080" lvl="0" indent="946150" algn="l" rtl="0">
              <a:lnSpc>
                <a:spcPct val="119696"/>
              </a:lnSpc>
              <a:spcBef>
                <a:spcPts val="0"/>
              </a:spcBef>
              <a:spcAft>
                <a:spcPts val="0"/>
              </a:spcAft>
              <a:buNone/>
            </a:pPr>
            <a:r>
              <a:rPr lang="en-US" sz="5400" dirty="0" err="1">
                <a:latin typeface="+mj-lt"/>
                <a:ea typeface="Calibri"/>
                <a:cs typeface="Calibri"/>
                <a:sym typeface="Calibri"/>
              </a:rPr>
              <a:t>Strided</a:t>
            </a:r>
            <a:r>
              <a:rPr lang="en-US" sz="5400" dirty="0">
                <a:latin typeface="+mj-lt"/>
                <a:ea typeface="Calibri"/>
                <a:cs typeface="Calibri"/>
                <a:sym typeface="Calibri"/>
              </a:rPr>
              <a:t> convolutions</a:t>
            </a:r>
            <a:endParaRPr sz="5400" dirty="0">
              <a:latin typeface="+mj-lt"/>
              <a:ea typeface="Calibri"/>
              <a:cs typeface="Calibri"/>
              <a:sym typeface="Calibri"/>
            </a:endParaRPr>
          </a:p>
        </p:txBody>
      </p:sp>
      <p:sp>
        <p:nvSpPr>
          <p:cNvPr id="295" name="Google Shape;295;p16"/>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96" name="Google Shape;296;p16"/>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err="1">
                <a:latin typeface="+mj-lt"/>
                <a:ea typeface="Calibri"/>
                <a:cs typeface="Calibri"/>
                <a:sym typeface="Calibri"/>
              </a:rPr>
              <a:t>Strided</a:t>
            </a:r>
            <a:r>
              <a:rPr lang="en-US" sz="4400" dirty="0">
                <a:latin typeface="+mj-lt"/>
                <a:ea typeface="Calibri"/>
                <a:cs typeface="Calibri"/>
                <a:sym typeface="Calibri"/>
              </a:rPr>
              <a:t> convolutions</a:t>
            </a: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1861CD1-0C76-73F6-3768-2FEBDF56A522}"/>
                  </a:ext>
                </a:extLst>
              </p:cNvPr>
              <p:cNvSpPr txBox="1"/>
              <p:nvPr/>
            </p:nvSpPr>
            <p:spPr>
              <a:xfrm>
                <a:off x="261620" y="1388918"/>
                <a:ext cx="11677535" cy="4784323"/>
              </a:xfrm>
              <a:prstGeom prst="rect">
                <a:avLst/>
              </a:prstGeom>
              <a:noFill/>
            </p:spPr>
            <p:txBody>
              <a:bodyPr wrap="square" rtlCol="0">
                <a:spAutoFit/>
              </a:bodyPr>
              <a:lstStyle/>
              <a:p>
                <a:pPr marL="285750" indent="-285750">
                  <a:buFont typeface="Arial" panose="020B0604020202020204" pitchFamily="34" charset="0"/>
                  <a:buChar char="•"/>
                </a:pPr>
                <a:r>
                  <a:rPr lang="en-US" sz="2400" dirty="0" smtClean="0"/>
                  <a:t>Strided</a:t>
                </a:r>
                <a:r>
                  <a:rPr lang="en-US" sz="2400" dirty="0"/>
                  <a:t> convolutions in convolutional neural networks (CNNs) control output feature map dimensions by adjusting the filter's step size across the input </a:t>
                </a:r>
                <a:r>
                  <a:rPr lang="en-US" sz="2400" dirty="0" smtClean="0"/>
                  <a:t>image.</a:t>
                </a:r>
              </a:p>
              <a:p>
                <a:pPr marL="285750" indent="-285750">
                  <a:buFont typeface="Arial" panose="020B0604020202020204" pitchFamily="34" charset="0"/>
                  <a:buChar char="•"/>
                </a:pPr>
                <a:r>
                  <a:rPr lang="en-US" sz="2400" dirty="0" smtClean="0"/>
                  <a:t>Unlike </a:t>
                </a:r>
                <a:r>
                  <a:rPr lang="en-US" sz="2400" dirty="0"/>
                  <a:t>traditional convolutions with one-pixel movement, </a:t>
                </a:r>
                <a:r>
                  <a:rPr lang="en-US" sz="2400" dirty="0" err="1"/>
                  <a:t>strided</a:t>
                </a:r>
                <a:r>
                  <a:rPr lang="en-US" sz="2400" dirty="0"/>
                  <a:t> convolutions allow the filter to move multiple pixels, reducing spatial dimensions. The output size is calculated using the </a:t>
                </a:r>
                <a:r>
                  <a:rPr lang="en-US" sz="2400" dirty="0" smtClean="0"/>
                  <a:t>formula:</a:t>
                </a:r>
              </a:p>
              <a:p>
                <a:r>
                  <a:rPr lang="en-US" sz="2400" dirty="0"/>
                  <a:t>	</a:t>
                </a:r>
                <a:r>
                  <a:rPr lang="pt-BR" sz="2400" dirty="0" smtClean="0"/>
                  <a:t>Output:  </a:t>
                </a:r>
                <a:r>
                  <a:rPr lang="pt-BR" sz="2800" b="1" dirty="0" smtClean="0"/>
                  <a:t>(</a:t>
                </a:r>
                <a14:m>
                  <m:oMath xmlns:m="http://schemas.openxmlformats.org/officeDocument/2006/math">
                    <m:f>
                      <m:fPr>
                        <m:ctrlPr>
                          <a:rPr lang="pt-BR" sz="2800" b="1" i="1" smtClean="0">
                            <a:latin typeface="Cambria Math" panose="02040503050406030204" pitchFamily="18" charset="0"/>
                          </a:rPr>
                        </m:ctrlPr>
                      </m:fPr>
                      <m:num>
                        <m:r>
                          <a:rPr lang="en-US" sz="2800" b="1" i="1" smtClean="0">
                            <a:latin typeface="Cambria Math" panose="02040503050406030204" pitchFamily="18" charset="0"/>
                          </a:rPr>
                          <m:t>𝒏</m:t>
                        </m:r>
                        <m:r>
                          <a:rPr lang="en-US" sz="2800" b="1" i="1" smtClean="0">
                            <a:latin typeface="Cambria Math" panose="02040503050406030204" pitchFamily="18" charset="0"/>
                          </a:rPr>
                          <m:t>+</m:t>
                        </m:r>
                        <m:r>
                          <a:rPr lang="en-US" sz="2800" b="1" i="1" smtClean="0">
                            <a:latin typeface="Cambria Math" panose="02040503050406030204" pitchFamily="18" charset="0"/>
                          </a:rPr>
                          <m:t>𝟐</m:t>
                        </m:r>
                        <m:r>
                          <a:rPr lang="en-US" sz="2800" b="1" i="1" smtClean="0">
                            <a:latin typeface="Cambria Math" panose="02040503050406030204" pitchFamily="18" charset="0"/>
                          </a:rPr>
                          <m:t>𝒑</m:t>
                        </m:r>
                        <m:r>
                          <a:rPr lang="en-US" sz="2800" b="1" i="1" smtClean="0">
                            <a:latin typeface="Cambria Math" panose="02040503050406030204" pitchFamily="18" charset="0"/>
                          </a:rPr>
                          <m:t> −</m:t>
                        </m:r>
                        <m:r>
                          <a:rPr lang="en-US" sz="2800" b="1" i="1" smtClean="0">
                            <a:latin typeface="Cambria Math" panose="02040503050406030204" pitchFamily="18" charset="0"/>
                          </a:rPr>
                          <m:t>𝒇</m:t>
                        </m:r>
                      </m:num>
                      <m:den>
                        <m:r>
                          <a:rPr lang="en-US" sz="2800" b="1" i="1" smtClean="0">
                            <a:latin typeface="Cambria Math" panose="02040503050406030204" pitchFamily="18" charset="0"/>
                          </a:rPr>
                          <m:t>𝒔</m:t>
                        </m:r>
                      </m:den>
                    </m:f>
                  </m:oMath>
                </a14:m>
                <a:r>
                  <a:rPr lang="pt-BR" sz="2800" b="1" dirty="0" smtClean="0">
                    <a:latin typeface="+mn-lt"/>
                  </a:rPr>
                  <a:t> + 1</a:t>
                </a:r>
                <a:r>
                  <a:rPr lang="pt-BR" sz="2800" b="1" dirty="0" smtClean="0"/>
                  <a:t>) x </a:t>
                </a:r>
                <a:r>
                  <a:rPr lang="pt-BR" sz="2400" b="1" dirty="0"/>
                  <a:t>(</a:t>
                </a:r>
                <a14:m>
                  <m:oMath xmlns:m="http://schemas.openxmlformats.org/officeDocument/2006/math">
                    <m:f>
                      <m:fPr>
                        <m:ctrlPr>
                          <a:rPr lang="pt-BR" sz="2800" b="1" i="1">
                            <a:latin typeface="Cambria Math" panose="02040503050406030204" pitchFamily="18" charset="0"/>
                          </a:rPr>
                        </m:ctrlPr>
                      </m:fPr>
                      <m:num>
                        <m:r>
                          <a:rPr lang="en-US" sz="2800" b="1" i="1">
                            <a:latin typeface="Cambria Math" panose="02040503050406030204" pitchFamily="18" charset="0"/>
                          </a:rPr>
                          <m:t>𝒏</m:t>
                        </m:r>
                        <m:r>
                          <a:rPr lang="en-US" sz="2800" b="1" i="1">
                            <a:latin typeface="Cambria Math" panose="02040503050406030204" pitchFamily="18" charset="0"/>
                          </a:rPr>
                          <m:t>+</m:t>
                        </m:r>
                        <m:r>
                          <a:rPr lang="en-US" sz="2800" b="1" i="1">
                            <a:latin typeface="Cambria Math" panose="02040503050406030204" pitchFamily="18" charset="0"/>
                          </a:rPr>
                          <m:t>𝟐</m:t>
                        </m:r>
                        <m:r>
                          <a:rPr lang="en-US" sz="2800" b="1" i="1">
                            <a:latin typeface="Cambria Math" panose="02040503050406030204" pitchFamily="18" charset="0"/>
                          </a:rPr>
                          <m:t>𝒑</m:t>
                        </m:r>
                        <m:r>
                          <a:rPr lang="en-US" sz="2800" b="1" i="1">
                            <a:latin typeface="Cambria Math" panose="02040503050406030204" pitchFamily="18" charset="0"/>
                          </a:rPr>
                          <m:t> −</m:t>
                        </m:r>
                        <m:r>
                          <a:rPr lang="en-US" sz="2800" b="1" i="1">
                            <a:latin typeface="Cambria Math" panose="02040503050406030204" pitchFamily="18" charset="0"/>
                          </a:rPr>
                          <m:t>𝒇</m:t>
                        </m:r>
                      </m:num>
                      <m:den>
                        <m:r>
                          <a:rPr lang="en-US" sz="2800" b="1" i="1">
                            <a:latin typeface="Cambria Math" panose="02040503050406030204" pitchFamily="18" charset="0"/>
                          </a:rPr>
                          <m:t>𝒔</m:t>
                        </m:r>
                      </m:den>
                    </m:f>
                  </m:oMath>
                </a14:m>
                <a:r>
                  <a:rPr lang="pt-BR" sz="2800" b="1" dirty="0">
                    <a:latin typeface="+mn-lt"/>
                  </a:rPr>
                  <a:t> + </a:t>
                </a:r>
                <a:r>
                  <a:rPr lang="pt-BR" sz="2800" b="1" dirty="0" smtClean="0">
                    <a:latin typeface="+mn-lt"/>
                  </a:rPr>
                  <a:t>1</a:t>
                </a:r>
                <a:r>
                  <a:rPr lang="pt-BR" sz="2400" b="1" dirty="0"/>
                  <a:t>)</a:t>
                </a:r>
                <a:endParaRPr lang="en-US" sz="2400" b="1" dirty="0" smtClean="0"/>
              </a:p>
              <a:p>
                <a:r>
                  <a:rPr lang="en-US" sz="2400" dirty="0"/>
                  <a:t>	Input: </a:t>
                </a:r>
                <a:r>
                  <a:rPr lang="en-US" sz="2400" b="1" dirty="0"/>
                  <a:t>n </a:t>
                </a:r>
                <a:r>
                  <a:rPr lang="en-US" sz="2400" b="1" dirty="0" smtClean="0"/>
                  <a:t>x </a:t>
                </a:r>
                <a:r>
                  <a:rPr lang="en-US" sz="2400" b="1" dirty="0"/>
                  <a:t>n</a:t>
                </a:r>
              </a:p>
              <a:p>
                <a:r>
                  <a:rPr lang="en-US" sz="2400" dirty="0" smtClean="0"/>
                  <a:t>	Padding</a:t>
                </a:r>
                <a:r>
                  <a:rPr lang="en-US" sz="2400" dirty="0"/>
                  <a:t>: </a:t>
                </a:r>
                <a:r>
                  <a:rPr lang="en-US" sz="2400" b="1" dirty="0"/>
                  <a:t>p</a:t>
                </a:r>
              </a:p>
              <a:p>
                <a:r>
                  <a:rPr lang="en-US" sz="2400" dirty="0" smtClean="0"/>
                  <a:t>	Stride</a:t>
                </a:r>
                <a:r>
                  <a:rPr lang="en-US" sz="2400" dirty="0"/>
                  <a:t>: </a:t>
                </a:r>
                <a:r>
                  <a:rPr lang="en-US" sz="2400" b="1" dirty="0"/>
                  <a:t>s</a:t>
                </a:r>
              </a:p>
              <a:p>
                <a:r>
                  <a:rPr lang="en-US" sz="2400" dirty="0" smtClean="0"/>
                  <a:t>	Filter </a:t>
                </a:r>
                <a:r>
                  <a:rPr lang="en-US" sz="2400" dirty="0"/>
                  <a:t>size: </a:t>
                </a:r>
                <a:r>
                  <a:rPr lang="en-US" sz="2400" b="1" dirty="0"/>
                  <a:t>f </a:t>
                </a:r>
                <a:r>
                  <a:rPr lang="en-US" sz="2400" b="1" dirty="0" smtClean="0"/>
                  <a:t>x </a:t>
                </a:r>
                <a:r>
                  <a:rPr lang="en-US" sz="2400" b="1" dirty="0"/>
                  <a:t>f</a:t>
                </a:r>
                <a:endParaRPr lang="en-US" sz="2400" b="1" dirty="0" smtClean="0"/>
              </a:p>
              <a:p>
                <a:pPr marL="285750" indent="-285750">
                  <a:buFont typeface="Arial" panose="020B0604020202020204" pitchFamily="34" charset="0"/>
                  <a:buChar char="•"/>
                </a:pPr>
                <a:r>
                  <a:rPr lang="en-US" sz="2400" dirty="0"/>
                  <a:t>If the result isn't an integer, it's rounded down. For example, with a 100×100 image, 6×6 filter, 7 padding, and 4 stride, the result is a 28×28 convolution.</a:t>
                </a:r>
              </a:p>
            </p:txBody>
          </p:sp>
        </mc:Choice>
        <mc:Fallback xmlns="">
          <p:sp>
            <p:nvSpPr>
              <p:cNvPr id="2" name="TextBox 1">
                <a:extLst>
                  <a:ext uri="{FF2B5EF4-FFF2-40B4-BE49-F238E27FC236}">
                    <a16:creationId xmlns:a16="http://schemas.microsoft.com/office/drawing/2014/main" id="{51861CD1-0C76-73F6-3768-2FEBDF56A522}"/>
                  </a:ext>
                </a:extLst>
              </p:cNvPr>
              <p:cNvSpPr txBox="1">
                <a:spLocks noRot="1" noChangeAspect="1" noMove="1" noResize="1" noEditPoints="1" noAdjustHandles="1" noChangeArrowheads="1" noChangeShapeType="1" noTextEdit="1"/>
              </p:cNvSpPr>
              <p:nvPr/>
            </p:nvSpPr>
            <p:spPr>
              <a:xfrm>
                <a:off x="261620" y="1388918"/>
                <a:ext cx="11677535" cy="4784323"/>
              </a:xfrm>
              <a:prstGeom prst="rect">
                <a:avLst/>
              </a:prstGeom>
              <a:blipFill>
                <a:blip r:embed="rId4"/>
                <a:stretch>
                  <a:fillRect l="-731" t="-892" r="-939" b="-2038"/>
                </a:stretch>
              </a:blipFill>
            </p:spPr>
            <p:txBody>
              <a:bodyPr/>
              <a:lstStyle/>
              <a:p>
                <a:r>
                  <a:rPr lang="en-US">
                    <a:noFill/>
                  </a:rPr>
                  <a:t> </a:t>
                </a:r>
              </a:p>
            </p:txBody>
          </p:sp>
        </mc:Fallback>
      </mc:AlternateContent>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extLst>
      <p:ext uri="{BB962C8B-B14F-4D97-AF65-F5344CB8AC3E}">
        <p14:creationId xmlns:p14="http://schemas.microsoft.com/office/powerpoint/2010/main" val="2719402126"/>
      </p:ext>
    </p:extLst>
  </p:cSld>
  <p:clrMapOvr>
    <a:masterClrMapping/>
  </p:clrMapOvr>
  <p:timing>
    <p:tnLst>
      <p:par>
        <p:cTn id="1" dur="indefinite" restart="never" nodeType="tmRoot"/>
      </p:par>
    </p:tnLst>
  </p:timing>
  <p:extLst mod="1">
    <p:ext uri="{6950BFC3-D8DA-4A85-94F7-54DA5524770B}">
      <p188:commentRel xmlns="" xmlns:p188="http://schemas.microsoft.com/office/powerpoint/2018/8/main" r:id="rId5"/>
    </p:ext>
  </p:extLst>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300"/>
        <p:cNvGrpSpPr/>
        <p:nvPr/>
      </p:nvGrpSpPr>
      <p:grpSpPr>
        <a:xfrm>
          <a:off x="0" y="0"/>
          <a:ext cx="0" cy="0"/>
          <a:chOff x="0" y="0"/>
          <a:chExt cx="0" cy="0"/>
        </a:xfrm>
      </p:grpSpPr>
      <p:sp>
        <p:nvSpPr>
          <p:cNvPr id="301" name="Google Shape;301;p17"/>
          <p:cNvSpPr txBox="1">
            <a:spLocks noGrp="1"/>
          </p:cNvSpPr>
          <p:nvPr>
            <p:ph type="title"/>
          </p:nvPr>
        </p:nvSpPr>
        <p:spPr>
          <a:xfrm>
            <a:off x="348704" y="191696"/>
            <a:ext cx="9521769" cy="689932"/>
          </a:xfrm>
          <a:prstGeom prst="rect">
            <a:avLst/>
          </a:prstGeom>
          <a:noFill/>
          <a:ln>
            <a:noFill/>
          </a:ln>
        </p:spPr>
        <p:txBody>
          <a:bodyPr spcFirstLastPara="1" wrap="square" lIns="0" tIns="12700" rIns="0" bIns="0" anchor="t" anchorCtr="0">
            <a:spAutoFit/>
          </a:bodyPr>
          <a:lstStyle/>
          <a:p>
            <a:pPr marL="12700" lvl="0"/>
            <a:r>
              <a:rPr lang="en-US" sz="4400" dirty="0" err="1">
                <a:latin typeface="+mj-lt"/>
              </a:rPr>
              <a:t>Strided</a:t>
            </a:r>
            <a:r>
              <a:rPr lang="en-US" sz="4400" dirty="0">
                <a:latin typeface="+mj-lt"/>
              </a:rPr>
              <a:t> convolutions</a:t>
            </a:r>
            <a:endParaRPr lang="en-US" sz="4400" dirty="0">
              <a:latin typeface="+mj-lt"/>
              <a:ea typeface="Cambria"/>
              <a:cs typeface="Cambria"/>
              <a:sym typeface="Cambria"/>
            </a:endParaRPr>
          </a:p>
        </p:txBody>
      </p:sp>
      <p:pic>
        <p:nvPicPr>
          <p:cNvPr id="304" name="Google Shape;304;p17"/>
          <p:cNvPicPr preferRelativeResize="0"/>
          <p:nvPr/>
        </p:nvPicPr>
        <p:blipFill>
          <a:blip r:embed="rId3">
            <a:alphaModFix/>
          </a:blip>
          <a:stretch>
            <a:fillRect/>
          </a:stretch>
        </p:blipFill>
        <p:spPr>
          <a:xfrm>
            <a:off x="10743975" y="0"/>
            <a:ext cx="1448025" cy="796414"/>
          </a:xfrm>
          <a:prstGeom prst="rect">
            <a:avLst/>
          </a:prstGeom>
          <a:noFill/>
          <a:ln>
            <a:noFill/>
          </a:ln>
        </p:spPr>
      </p:pic>
      <p:sp>
        <p:nvSpPr>
          <p:cNvPr id="3" name="TextBox 2">
            <a:extLst>
              <a:ext uri="{FF2B5EF4-FFF2-40B4-BE49-F238E27FC236}">
                <a16:creationId xmlns:a16="http://schemas.microsoft.com/office/drawing/2014/main" id="{78DC13FE-CEFB-591F-2A14-27FF48D438CA}"/>
              </a:ext>
            </a:extLst>
          </p:cNvPr>
          <p:cNvSpPr txBox="1"/>
          <p:nvPr/>
        </p:nvSpPr>
        <p:spPr>
          <a:xfrm>
            <a:off x="348704" y="1622957"/>
            <a:ext cx="11220995" cy="461665"/>
          </a:xfrm>
          <a:prstGeom prst="rect">
            <a:avLst/>
          </a:prstGeom>
          <a:noFill/>
        </p:spPr>
        <p:txBody>
          <a:bodyPr wrap="square">
            <a:spAutoFit/>
          </a:bodyPr>
          <a:lstStyle/>
          <a:p>
            <a:r>
              <a:rPr lang="en-US" sz="2400" dirty="0">
                <a:latin typeface="+mj-lt"/>
              </a:rPr>
              <a:t>Image obtained after convolution of 6×6 image with a 3×3 filter and a stride of 2</a:t>
            </a:r>
          </a:p>
        </p:txBody>
      </p:sp>
      <p:pic>
        <p:nvPicPr>
          <p:cNvPr id="3074" name="Picture 2" descr="Lightbox"/>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9275" y="2084622"/>
            <a:ext cx="7404325" cy="555324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Tree>
    <p:extLst>
      <p:ext uri="{BB962C8B-B14F-4D97-AF65-F5344CB8AC3E}">
        <p14:creationId xmlns:p14="http://schemas.microsoft.com/office/powerpoint/2010/main" val="279999234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697801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err="1">
                <a:latin typeface="+mj-lt"/>
                <a:ea typeface="Calibri"/>
                <a:cs typeface="Calibri"/>
                <a:sym typeface="Calibri"/>
              </a:rPr>
              <a:t>Strided</a:t>
            </a:r>
            <a:r>
              <a:rPr lang="en-US" sz="4400" dirty="0">
                <a:latin typeface="+mj-lt"/>
                <a:ea typeface="Calibri"/>
                <a:cs typeface="Calibri"/>
                <a:sym typeface="Calibri"/>
              </a:rPr>
              <a:t> convolutions</a:t>
            </a: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227374"/>
            <a:ext cx="11677535"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Stride convolutions, a variant of convolutional operations in deep learning, skip over specific input values, enhancing computational efficiency. </a:t>
            </a:r>
            <a:endParaRPr lang="en-US" sz="2400" dirty="0" smtClean="0"/>
          </a:p>
          <a:p>
            <a:pPr marL="285750" indent="-285750">
              <a:buFont typeface="Arial" panose="020B0604020202020204" pitchFamily="34" charset="0"/>
              <a:buChar char="•"/>
            </a:pPr>
            <a:r>
              <a:rPr lang="en-US" sz="2400" dirty="0" smtClean="0"/>
              <a:t>Although </a:t>
            </a:r>
            <a:r>
              <a:rPr lang="en-US" sz="2400" dirty="0"/>
              <a:t>there's terminology inconsistency, such as using cross-correlation, it usually doesn't significantly impact CNN implementation or understanding.</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Tree>
    <p:extLst>
      <p:ext uri="{BB962C8B-B14F-4D97-AF65-F5344CB8AC3E}">
        <p14:creationId xmlns:p14="http://schemas.microsoft.com/office/powerpoint/2010/main" val="31462029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326"/>
        <p:cNvGrpSpPr/>
        <p:nvPr/>
      </p:nvGrpSpPr>
      <p:grpSpPr>
        <a:xfrm>
          <a:off x="0" y="0"/>
          <a:ext cx="0" cy="0"/>
          <a:chOff x="0" y="0"/>
          <a:chExt cx="0" cy="0"/>
        </a:xfrm>
      </p:grpSpPr>
      <p:sp>
        <p:nvSpPr>
          <p:cNvPr id="327" name="Google Shape;327;p19"/>
          <p:cNvSpPr txBox="1">
            <a:spLocks noGrp="1"/>
          </p:cNvSpPr>
          <p:nvPr>
            <p:ph type="title"/>
          </p:nvPr>
        </p:nvSpPr>
        <p:spPr>
          <a:xfrm>
            <a:off x="105916" y="267746"/>
            <a:ext cx="11668759" cy="2994025"/>
          </a:xfrm>
          <a:prstGeom prst="rect">
            <a:avLst/>
          </a:prstGeom>
          <a:noFill/>
          <a:ln>
            <a:noFill/>
          </a:ln>
        </p:spPr>
        <p:txBody>
          <a:bodyPr spcFirstLastPara="1" wrap="square" lIns="0" tIns="942925" rIns="0" bIns="0" anchor="t" anchorCtr="0">
            <a:spAutoFit/>
          </a:bodyPr>
          <a:lstStyle/>
          <a:p>
            <a:pPr marL="5466715" marR="5080" lvl="0" indent="454658" algn="l" rtl="0">
              <a:lnSpc>
                <a:spcPct val="108333"/>
              </a:lnSpc>
              <a:spcBef>
                <a:spcPts val="0"/>
              </a:spcBef>
              <a:spcAft>
                <a:spcPts val="0"/>
              </a:spcAft>
              <a:buNone/>
            </a:pPr>
            <a:r>
              <a:rPr lang="en-US" dirty="0">
                <a:latin typeface="+mj-lt"/>
              </a:rPr>
              <a:t>Convolutional Neural Networks</a:t>
            </a:r>
            <a:endParaRPr dirty="0">
              <a:latin typeface="+mj-lt"/>
            </a:endParaRPr>
          </a:p>
        </p:txBody>
      </p:sp>
      <p:sp>
        <p:nvSpPr>
          <p:cNvPr id="328" name="Google Shape;328;p19"/>
          <p:cNvSpPr txBox="1"/>
          <p:nvPr/>
        </p:nvSpPr>
        <p:spPr>
          <a:xfrm>
            <a:off x="5442560" y="3985051"/>
            <a:ext cx="5696379" cy="2022590"/>
          </a:xfrm>
          <a:prstGeom prst="rect">
            <a:avLst/>
          </a:prstGeom>
          <a:noFill/>
          <a:ln>
            <a:noFill/>
          </a:ln>
        </p:spPr>
        <p:txBody>
          <a:bodyPr spcFirstLastPara="1" wrap="square" lIns="0" tIns="27925" rIns="0" bIns="0" anchor="t" anchorCtr="0">
            <a:spAutoFit/>
          </a:bodyPr>
          <a:lstStyle/>
          <a:p>
            <a:pPr marL="1656714" marR="5080" lvl="0" indent="-1644650" algn="l" rtl="0">
              <a:lnSpc>
                <a:spcPct val="119696"/>
              </a:lnSpc>
              <a:spcBef>
                <a:spcPts val="0"/>
              </a:spcBef>
              <a:spcAft>
                <a:spcPts val="0"/>
              </a:spcAft>
              <a:buNone/>
            </a:pPr>
            <a:r>
              <a:rPr lang="en-US" sz="5400" dirty="0">
                <a:latin typeface="+mj-lt"/>
                <a:ea typeface="Calibri"/>
                <a:cs typeface="Calibri"/>
                <a:sym typeface="Calibri"/>
              </a:rPr>
              <a:t>Convolutions over volumes</a:t>
            </a:r>
            <a:endParaRPr sz="5400" dirty="0">
              <a:latin typeface="+mj-lt"/>
              <a:ea typeface="Calibri"/>
              <a:cs typeface="Calibri"/>
              <a:sym typeface="Calibri"/>
            </a:endParaRPr>
          </a:p>
        </p:txBody>
      </p:sp>
      <p:sp>
        <p:nvSpPr>
          <p:cNvPr id="329" name="Google Shape;329;p19"/>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30" name="Google Shape;330;p19"/>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7979855" cy="825354"/>
          </a:xfrm>
          <a:prstGeom prst="rect">
            <a:avLst/>
          </a:prstGeom>
          <a:noFill/>
          <a:ln>
            <a:noFill/>
          </a:ln>
        </p:spPr>
        <p:txBody>
          <a:bodyPr spcFirstLastPara="1" wrap="square" lIns="0" tIns="12700" rIns="0" bIns="0" anchor="t" anchorCtr="0">
            <a:spAutoFit/>
          </a:bodyPr>
          <a:lstStyle/>
          <a:p>
            <a:pPr marL="1656714" marR="5080" lvl="0" indent="-1644650">
              <a:lnSpc>
                <a:spcPct val="119696"/>
              </a:lnSpc>
            </a:pPr>
            <a:r>
              <a:rPr lang="en-US" sz="4400" dirty="0">
                <a:latin typeface="+mj-lt"/>
              </a:rPr>
              <a:t>Convolutions on RGB image</a:t>
            </a:r>
            <a:endParaRPr lang="en-US" sz="4400" dirty="0">
              <a:latin typeface="+mj-lt"/>
              <a:ea typeface="Calibri"/>
              <a:cs typeface="Calibri"/>
              <a:sym typeface="Calibri"/>
            </a:endParaRP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243892"/>
            <a:ext cx="11677535"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Consider implementing convolutions over 3D volumes, </a:t>
            </a:r>
            <a:r>
              <a:rPr lang="en-US" sz="2400" dirty="0" smtClean="0"/>
              <a:t>suppose we </a:t>
            </a:r>
            <a:r>
              <a:rPr lang="en-US" sz="2400" dirty="0"/>
              <a:t>have a 3-D input image of shape 6 </a:t>
            </a:r>
            <a:r>
              <a:rPr lang="en-US" sz="2400" dirty="0" smtClean="0"/>
              <a:t>x </a:t>
            </a:r>
            <a:r>
              <a:rPr lang="en-US" sz="2400" dirty="0"/>
              <a:t>6 </a:t>
            </a:r>
            <a:r>
              <a:rPr lang="en-US" sz="2400" dirty="0" smtClean="0"/>
              <a:t>x </a:t>
            </a:r>
            <a:r>
              <a:rPr lang="en-US" sz="2400" dirty="0"/>
              <a:t>3. How will we apply convolution on this image? We will use a 3 </a:t>
            </a:r>
            <a:r>
              <a:rPr lang="en-US" sz="2400" dirty="0" smtClean="0"/>
              <a:t>x </a:t>
            </a:r>
            <a:r>
              <a:rPr lang="en-US" sz="2400" dirty="0"/>
              <a:t>3 </a:t>
            </a:r>
            <a:r>
              <a:rPr lang="en-US" sz="2400" dirty="0" smtClean="0"/>
              <a:t>x </a:t>
            </a:r>
            <a:r>
              <a:rPr lang="en-US" sz="2400" dirty="0"/>
              <a:t>3 filter instead of a 3 </a:t>
            </a:r>
            <a:r>
              <a:rPr lang="en-US" sz="2400" dirty="0" smtClean="0"/>
              <a:t>x </a:t>
            </a:r>
            <a:r>
              <a:rPr lang="en-US" sz="2400" dirty="0"/>
              <a:t>3 filter. Let’s look at an example</a:t>
            </a:r>
            <a:r>
              <a:rPr lang="en-US" sz="2400" dirty="0" smtClean="0"/>
              <a:t>:</a:t>
            </a:r>
            <a:endParaRPr lang="en-US" sz="2400" dirty="0"/>
          </a:p>
          <a:p>
            <a:r>
              <a:rPr lang="en-US" sz="2400" dirty="0" smtClean="0"/>
              <a:t>	- Input</a:t>
            </a:r>
            <a:r>
              <a:rPr lang="en-US" sz="2400" dirty="0"/>
              <a:t>: 6 </a:t>
            </a:r>
            <a:r>
              <a:rPr lang="en-US" sz="2400" dirty="0" smtClean="0"/>
              <a:t>x </a:t>
            </a:r>
            <a:r>
              <a:rPr lang="en-US" sz="2400" dirty="0"/>
              <a:t>6 </a:t>
            </a:r>
            <a:r>
              <a:rPr lang="en-US" sz="2400" dirty="0" smtClean="0"/>
              <a:t>x </a:t>
            </a:r>
            <a:r>
              <a:rPr lang="en-US" sz="2400" dirty="0"/>
              <a:t>3</a:t>
            </a:r>
          </a:p>
          <a:p>
            <a:r>
              <a:rPr lang="en-US" sz="2400" dirty="0" smtClean="0"/>
              <a:t>	- Filter</a:t>
            </a:r>
            <a:r>
              <a:rPr lang="en-US" sz="2400" dirty="0"/>
              <a:t>: 3 </a:t>
            </a:r>
            <a:r>
              <a:rPr lang="en-US" sz="2400" dirty="0" smtClean="0"/>
              <a:t>x </a:t>
            </a:r>
            <a:r>
              <a:rPr lang="en-US" sz="2400" dirty="0"/>
              <a:t>3 </a:t>
            </a:r>
            <a:r>
              <a:rPr lang="en-US" sz="2400" dirty="0" smtClean="0"/>
              <a:t>x </a:t>
            </a:r>
            <a:r>
              <a:rPr lang="en-US" sz="2400" dirty="0"/>
              <a:t>3</a:t>
            </a:r>
          </a:p>
          <a:p>
            <a:pPr marL="285750" indent="-285750">
              <a:buFont typeface="Arial" panose="020B0604020202020204" pitchFamily="34" charset="0"/>
              <a:buChar char="•"/>
            </a:pPr>
            <a:r>
              <a:rPr lang="en-US" sz="2400" dirty="0" smtClean="0"/>
              <a:t>The dimensions </a:t>
            </a:r>
            <a:r>
              <a:rPr lang="en-US" sz="2400" dirty="0"/>
              <a:t>above represent the height, width and channels in the input and filter</a:t>
            </a:r>
            <a:r>
              <a:rPr lang="en-US" sz="2400" dirty="0" smtClean="0"/>
              <a:t>.. </a:t>
            </a:r>
            <a:r>
              <a:rPr lang="en-US" sz="2400" b="1" i="1" dirty="0"/>
              <a:t>Keep in mind that the number of channels in the input and filter should be </a:t>
            </a:r>
            <a:r>
              <a:rPr lang="en-US" sz="2400" b="1" i="1" dirty="0" smtClean="0"/>
              <a:t>same. </a:t>
            </a:r>
            <a:r>
              <a:rPr lang="en-US" sz="2400" dirty="0" smtClean="0"/>
              <a:t>This </a:t>
            </a:r>
            <a:r>
              <a:rPr lang="en-US" sz="2400" dirty="0"/>
              <a:t>will result in an output of 4 </a:t>
            </a:r>
            <a:r>
              <a:rPr lang="en-US" sz="2400" dirty="0" smtClean="0"/>
              <a:t>x </a:t>
            </a:r>
            <a:r>
              <a:rPr lang="en-US" sz="2400" dirty="0"/>
              <a:t>4. Let’s understand it visually:</a:t>
            </a:r>
          </a:p>
        </p:txBody>
      </p:sp>
      <p:pic>
        <p:nvPicPr>
          <p:cNvPr id="7" name="Picture 2" descr="https://cdn.analyticsvidhya.com/wp-content/uploads/2018/12/Screenshot-from-2018-12-07-18-11-1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8474" y="4419167"/>
            <a:ext cx="7743825" cy="258127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Tree>
    <p:extLst>
      <p:ext uri="{BB962C8B-B14F-4D97-AF65-F5344CB8AC3E}">
        <p14:creationId xmlns:p14="http://schemas.microsoft.com/office/powerpoint/2010/main" val="3693215150"/>
      </p:ext>
    </p:extLst>
  </p:cSld>
  <p:clrMapOvr>
    <a:masterClrMapping/>
  </p:clrMapOvr>
  <p:extLst mod="1">
    <p:ext uri="{6950BFC3-D8DA-4A85-94F7-54DA5524770B}">
      <p188:commentRel xmlns="" xmlns:p188="http://schemas.microsoft.com/office/powerpoint/2018/8/main" r:id="rId6"/>
    </p:ext>
  </p:extLst>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334"/>
        <p:cNvGrpSpPr/>
        <p:nvPr/>
      </p:nvGrpSpPr>
      <p:grpSpPr>
        <a:xfrm>
          <a:off x="0" y="0"/>
          <a:ext cx="0" cy="0"/>
          <a:chOff x="0" y="0"/>
          <a:chExt cx="0" cy="0"/>
        </a:xfrm>
      </p:grpSpPr>
      <p:pic>
        <p:nvPicPr>
          <p:cNvPr id="336" name="Google Shape;336;p20" descr="neural network - Math behind 2D convolution for RGB images - Data Science  Stack Exchange"/>
          <p:cNvPicPr preferRelativeResize="0"/>
          <p:nvPr/>
        </p:nvPicPr>
        <p:blipFill rotWithShape="1">
          <a:blip r:embed="rId3">
            <a:alphaModFix/>
          </a:blip>
          <a:srcRect/>
          <a:stretch/>
        </p:blipFill>
        <p:spPr>
          <a:xfrm>
            <a:off x="381000" y="1447800"/>
            <a:ext cx="9555186" cy="4648200"/>
          </a:xfrm>
          <a:prstGeom prst="rect">
            <a:avLst/>
          </a:prstGeom>
          <a:noFill/>
          <a:ln>
            <a:noFill/>
          </a:ln>
        </p:spPr>
      </p:pic>
      <p:pic>
        <p:nvPicPr>
          <p:cNvPr id="337" name="Google Shape;337;p20"/>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7" name="Google Shape;58;p3"/>
          <p:cNvSpPr txBox="1">
            <a:spLocks noGrp="1"/>
          </p:cNvSpPr>
          <p:nvPr>
            <p:ph type="title"/>
          </p:nvPr>
        </p:nvSpPr>
        <p:spPr>
          <a:xfrm>
            <a:off x="261620" y="139700"/>
            <a:ext cx="8478619" cy="825354"/>
          </a:xfrm>
          <a:prstGeom prst="rect">
            <a:avLst/>
          </a:prstGeom>
          <a:noFill/>
          <a:ln>
            <a:noFill/>
          </a:ln>
        </p:spPr>
        <p:txBody>
          <a:bodyPr spcFirstLastPara="1" wrap="square" lIns="0" tIns="12700" rIns="0" bIns="0" anchor="t" anchorCtr="0">
            <a:spAutoFit/>
          </a:bodyPr>
          <a:lstStyle/>
          <a:p>
            <a:pPr marL="1656714" marR="5080" lvl="0" indent="-1644650">
              <a:lnSpc>
                <a:spcPct val="119696"/>
              </a:lnSpc>
            </a:pPr>
            <a:r>
              <a:rPr lang="en-US" sz="4400" dirty="0">
                <a:latin typeface="+mj-lt"/>
              </a:rPr>
              <a:t>Convolutions on RGB image</a:t>
            </a:r>
            <a:endParaRPr lang="en-US" sz="4400" dirty="0">
              <a:latin typeface="+mj-lt"/>
              <a:ea typeface="Calibri"/>
              <a:cs typeface="Calibri"/>
              <a:sym typeface="Calibri"/>
            </a:endParaRPr>
          </a:p>
        </p:txBody>
      </p:sp>
      <p:sp>
        <p:nvSpPr>
          <p:cNvPr id="3" name="TextBox 2"/>
          <p:cNvSpPr txBox="1"/>
          <p:nvPr/>
        </p:nvSpPr>
        <p:spPr>
          <a:xfrm>
            <a:off x="2968831" y="6234545"/>
            <a:ext cx="7302504" cy="461665"/>
          </a:xfrm>
          <a:prstGeom prst="rect">
            <a:avLst/>
          </a:prstGeom>
          <a:noFill/>
        </p:spPr>
        <p:txBody>
          <a:bodyPr wrap="square" rtlCol="0">
            <a:spAutoFit/>
          </a:bodyPr>
          <a:lstStyle/>
          <a:p>
            <a:r>
              <a:rPr lang="en-US" sz="2400" dirty="0"/>
              <a:t>The filter we use we can consider as a volume </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8478619" cy="825354"/>
          </a:xfrm>
          <a:prstGeom prst="rect">
            <a:avLst/>
          </a:prstGeom>
          <a:noFill/>
          <a:ln>
            <a:noFill/>
          </a:ln>
        </p:spPr>
        <p:txBody>
          <a:bodyPr spcFirstLastPara="1" wrap="square" lIns="0" tIns="12700" rIns="0" bIns="0" anchor="t" anchorCtr="0">
            <a:spAutoFit/>
          </a:bodyPr>
          <a:lstStyle/>
          <a:p>
            <a:pPr marL="1656714" marR="5080" lvl="0" indent="-1644650">
              <a:lnSpc>
                <a:spcPct val="119696"/>
              </a:lnSpc>
            </a:pPr>
            <a:r>
              <a:rPr lang="en-US" sz="4400" dirty="0">
                <a:latin typeface="+mj-lt"/>
              </a:rPr>
              <a:t>Convolutions on RGB image</a:t>
            </a:r>
            <a:endParaRPr lang="en-US" sz="4400" dirty="0">
              <a:latin typeface="+mj-lt"/>
              <a:ea typeface="Calibri"/>
              <a:cs typeface="Calibri"/>
              <a:sym typeface="Calibri"/>
            </a:endParaRP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243892"/>
            <a:ext cx="11677535"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smtClean="0"/>
              <a:t>By </a:t>
            </a:r>
            <a:r>
              <a:rPr lang="en-US" sz="2400" dirty="0"/>
              <a:t>sliding the filter over the image and computing the output using the dot product, we can get an output volume. </a:t>
            </a:r>
            <a:endParaRPr lang="en-US" sz="2400" dirty="0" smtClean="0"/>
          </a:p>
          <a:p>
            <a:pPr marL="285750" indent="-285750">
              <a:buFont typeface="Arial" panose="020B0604020202020204" pitchFamily="34" charset="0"/>
              <a:buChar char="•"/>
            </a:pPr>
            <a:r>
              <a:rPr lang="en-US" sz="2400" dirty="0" smtClean="0"/>
              <a:t>Different </a:t>
            </a:r>
            <a:r>
              <a:rPr lang="en-US" sz="2400" dirty="0"/>
              <a:t>filters can be used to detect different features in the image, and the outputs of each filter can be stacked to form a 3D volume.</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spTree>
    <p:extLst>
      <p:ext uri="{BB962C8B-B14F-4D97-AF65-F5344CB8AC3E}">
        <p14:creationId xmlns:p14="http://schemas.microsoft.com/office/powerpoint/2010/main" val="1272254867"/>
      </p:ext>
    </p:extLst>
  </p:cSld>
  <p:clrMapOvr>
    <a:masterClrMapping/>
  </p:clrMapOvr>
  <p:extLst mod="1">
    <p:ext uri="{6950BFC3-D8DA-4A85-94F7-54DA5524770B}">
      <p188:commentRel xmlns="" xmlns:p188="http://schemas.microsoft.com/office/powerpoint/2018/8/main" r:id="rId6"/>
    </p:ext>
  </p:extLst>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334"/>
        <p:cNvGrpSpPr/>
        <p:nvPr/>
      </p:nvGrpSpPr>
      <p:grpSpPr>
        <a:xfrm>
          <a:off x="0" y="0"/>
          <a:ext cx="0" cy="0"/>
          <a:chOff x="0" y="0"/>
          <a:chExt cx="0" cy="0"/>
        </a:xfrm>
      </p:grpSpPr>
      <p:pic>
        <p:nvPicPr>
          <p:cNvPr id="336" name="Google Shape;336;p20" descr="neural network - Math behind 2D convolution for RGB images - Data Science  Stack Exchange"/>
          <p:cNvPicPr preferRelativeResize="0"/>
          <p:nvPr/>
        </p:nvPicPr>
        <p:blipFill rotWithShape="1">
          <a:blip r:embed="rId3">
            <a:alphaModFix/>
          </a:blip>
          <a:srcRect/>
          <a:stretch/>
        </p:blipFill>
        <p:spPr>
          <a:xfrm>
            <a:off x="381000" y="1447800"/>
            <a:ext cx="9555186" cy="4648200"/>
          </a:xfrm>
          <a:prstGeom prst="rect">
            <a:avLst/>
          </a:prstGeom>
          <a:noFill/>
          <a:ln>
            <a:noFill/>
          </a:ln>
        </p:spPr>
      </p:pic>
      <p:pic>
        <p:nvPicPr>
          <p:cNvPr id="337" name="Google Shape;337;p20"/>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7" name="Google Shape;58;p3"/>
          <p:cNvSpPr txBox="1">
            <a:spLocks noGrp="1"/>
          </p:cNvSpPr>
          <p:nvPr>
            <p:ph type="title"/>
          </p:nvPr>
        </p:nvSpPr>
        <p:spPr>
          <a:xfrm>
            <a:off x="261620" y="139700"/>
            <a:ext cx="8478619" cy="825354"/>
          </a:xfrm>
          <a:prstGeom prst="rect">
            <a:avLst/>
          </a:prstGeom>
          <a:noFill/>
          <a:ln>
            <a:noFill/>
          </a:ln>
        </p:spPr>
        <p:txBody>
          <a:bodyPr spcFirstLastPara="1" wrap="square" lIns="0" tIns="12700" rIns="0" bIns="0" anchor="t" anchorCtr="0">
            <a:spAutoFit/>
          </a:bodyPr>
          <a:lstStyle/>
          <a:p>
            <a:pPr marL="1656714" marR="5080" lvl="0" indent="-1644650">
              <a:lnSpc>
                <a:spcPct val="119696"/>
              </a:lnSpc>
            </a:pPr>
            <a:r>
              <a:rPr lang="en-US" sz="4400" dirty="0">
                <a:latin typeface="+mj-lt"/>
              </a:rPr>
              <a:t>Convolutions on RGB image</a:t>
            </a:r>
            <a:endParaRPr lang="en-US" sz="4400" dirty="0">
              <a:latin typeface="+mj-lt"/>
              <a:ea typeface="Calibri"/>
              <a:cs typeface="Calibri"/>
              <a:sym typeface="Calibri"/>
            </a:endParaRPr>
          </a:p>
        </p:txBody>
      </p:sp>
      <p:sp>
        <p:nvSpPr>
          <p:cNvPr id="5" name="TextBox 4"/>
          <p:cNvSpPr txBox="1"/>
          <p:nvPr/>
        </p:nvSpPr>
        <p:spPr>
          <a:xfrm>
            <a:off x="448791" y="6234545"/>
            <a:ext cx="11139054" cy="461665"/>
          </a:xfrm>
          <a:prstGeom prst="rect">
            <a:avLst/>
          </a:prstGeom>
          <a:noFill/>
        </p:spPr>
        <p:txBody>
          <a:bodyPr wrap="square" rtlCol="0">
            <a:spAutoFit/>
          </a:bodyPr>
          <a:lstStyle/>
          <a:p>
            <a:r>
              <a:rPr lang="en-US" sz="2400" dirty="0"/>
              <a:t>When we apply  </a:t>
            </a:r>
            <a:r>
              <a:rPr lang="en-US" sz="2400" dirty="0" smtClean="0"/>
              <a:t>3x3x3 filter </a:t>
            </a:r>
            <a:r>
              <a:rPr lang="en-US" sz="2400" dirty="0"/>
              <a:t>on the RGB image it is as we implement the volume</a:t>
            </a:r>
          </a:p>
        </p:txBody>
      </p:sp>
      <p:sp>
        <p:nvSpPr>
          <p:cNvPr id="2" name="TextBox 1"/>
          <p:cNvSpPr txBox="1"/>
          <p:nvPr/>
        </p:nvSpPr>
        <p:spPr>
          <a:xfrm>
            <a:off x="5296395" y="5438899"/>
            <a:ext cx="1721922" cy="369332"/>
          </a:xfrm>
          <a:prstGeom prst="rect">
            <a:avLst/>
          </a:prstGeom>
          <a:noFill/>
        </p:spPr>
        <p:txBody>
          <a:bodyPr wrap="square" rtlCol="0">
            <a:spAutoFit/>
          </a:bodyPr>
          <a:lstStyle/>
          <a:p>
            <a:r>
              <a:rPr lang="en-US" sz="1800" dirty="0" smtClean="0"/>
              <a:t>27 numbers</a:t>
            </a:r>
            <a:endParaRPr lang="en-US" sz="1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extLst>
      <p:ext uri="{BB962C8B-B14F-4D97-AF65-F5344CB8AC3E}">
        <p14:creationId xmlns:p14="http://schemas.microsoft.com/office/powerpoint/2010/main" val="11533641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341"/>
        <p:cNvGrpSpPr/>
        <p:nvPr/>
      </p:nvGrpSpPr>
      <p:grpSpPr>
        <a:xfrm>
          <a:off x="0" y="0"/>
          <a:ext cx="0" cy="0"/>
          <a:chOff x="0" y="0"/>
          <a:chExt cx="0" cy="0"/>
        </a:xfrm>
      </p:grpSpPr>
      <p:pic>
        <p:nvPicPr>
          <p:cNvPr id="344" name="Google Shape;344;p21"/>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6" name="Google Shape;58;p3"/>
          <p:cNvSpPr txBox="1">
            <a:spLocks/>
          </p:cNvSpPr>
          <p:nvPr/>
        </p:nvSpPr>
        <p:spPr>
          <a:xfrm>
            <a:off x="261620" y="139700"/>
            <a:ext cx="8478619" cy="825354"/>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656714" marR="5080" indent="-1644650">
              <a:lnSpc>
                <a:spcPct val="119696"/>
              </a:lnSpc>
            </a:pPr>
            <a:r>
              <a:rPr lang="en-US" sz="4400" dirty="0" smtClean="0">
                <a:latin typeface="+mj-lt"/>
              </a:rPr>
              <a:t>Convolutions on RGB image</a:t>
            </a:r>
            <a:endParaRPr lang="en-US" sz="4400" dirty="0">
              <a:latin typeface="+mj-lt"/>
            </a:endParaRPr>
          </a:p>
        </p:txBody>
      </p:sp>
      <p:pic>
        <p:nvPicPr>
          <p:cNvPr id="3" name="Picture 2"/>
          <p:cNvPicPr>
            <a:picLocks noChangeAspect="1"/>
          </p:cNvPicPr>
          <p:nvPr/>
        </p:nvPicPr>
        <p:blipFill>
          <a:blip r:embed="rId4"/>
          <a:stretch>
            <a:fillRect/>
          </a:stretch>
        </p:blipFill>
        <p:spPr>
          <a:xfrm>
            <a:off x="261620" y="965054"/>
            <a:ext cx="11399815" cy="4450094"/>
          </a:xfrm>
          <a:prstGeom prst="rect">
            <a:avLst/>
          </a:prstGeom>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Tree>
    <p:extLst>
      <p:ext uri="{BB962C8B-B14F-4D97-AF65-F5344CB8AC3E}">
        <p14:creationId xmlns:p14="http://schemas.microsoft.com/office/powerpoint/2010/main" val="12305599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341"/>
        <p:cNvGrpSpPr/>
        <p:nvPr/>
      </p:nvGrpSpPr>
      <p:grpSpPr>
        <a:xfrm>
          <a:off x="0" y="0"/>
          <a:ext cx="0" cy="0"/>
          <a:chOff x="0" y="0"/>
          <a:chExt cx="0" cy="0"/>
        </a:xfrm>
      </p:grpSpPr>
      <p:pic>
        <p:nvPicPr>
          <p:cNvPr id="344" name="Google Shape;344;p21"/>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6" name="Google Shape;58;p3"/>
          <p:cNvSpPr txBox="1">
            <a:spLocks/>
          </p:cNvSpPr>
          <p:nvPr/>
        </p:nvSpPr>
        <p:spPr>
          <a:xfrm>
            <a:off x="261620" y="139700"/>
            <a:ext cx="8478619" cy="825354"/>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656714" marR="5080" indent="-1644650">
              <a:lnSpc>
                <a:spcPct val="119696"/>
              </a:lnSpc>
            </a:pPr>
            <a:r>
              <a:rPr lang="en-US" sz="4400" dirty="0" smtClean="0">
                <a:latin typeface="+mj-lt"/>
              </a:rPr>
              <a:t>Convolutions on RGB image</a:t>
            </a:r>
            <a:endParaRPr lang="en-US" sz="4400" dirty="0">
              <a:latin typeface="+mj-lt"/>
            </a:endParaRPr>
          </a:p>
        </p:txBody>
      </p:sp>
      <p:pic>
        <p:nvPicPr>
          <p:cNvPr id="2" name="Picture 1"/>
          <p:cNvPicPr>
            <a:picLocks noChangeAspect="1"/>
          </p:cNvPicPr>
          <p:nvPr/>
        </p:nvPicPr>
        <p:blipFill>
          <a:blip r:embed="rId4"/>
          <a:stretch>
            <a:fillRect/>
          </a:stretch>
        </p:blipFill>
        <p:spPr>
          <a:xfrm>
            <a:off x="107241" y="1181780"/>
            <a:ext cx="11601829" cy="4526447"/>
          </a:xfrm>
          <a:prstGeom prst="rect">
            <a:avLst/>
          </a:prstGeom>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Tree>
    <p:extLst>
      <p:ext uri="{BB962C8B-B14F-4D97-AF65-F5344CB8AC3E}">
        <p14:creationId xmlns:p14="http://schemas.microsoft.com/office/powerpoint/2010/main" val="15681842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341"/>
        <p:cNvGrpSpPr/>
        <p:nvPr/>
      </p:nvGrpSpPr>
      <p:grpSpPr>
        <a:xfrm>
          <a:off x="0" y="0"/>
          <a:ext cx="0" cy="0"/>
          <a:chOff x="0" y="0"/>
          <a:chExt cx="0" cy="0"/>
        </a:xfrm>
      </p:grpSpPr>
      <p:pic>
        <p:nvPicPr>
          <p:cNvPr id="344" name="Google Shape;344;p21"/>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6" name="Google Shape;58;p3"/>
          <p:cNvSpPr txBox="1">
            <a:spLocks noGrp="1"/>
          </p:cNvSpPr>
          <p:nvPr>
            <p:ph type="title"/>
          </p:nvPr>
        </p:nvSpPr>
        <p:spPr>
          <a:xfrm>
            <a:off x="261620" y="139700"/>
            <a:ext cx="8478619" cy="825354"/>
          </a:xfrm>
          <a:prstGeom prst="rect">
            <a:avLst/>
          </a:prstGeom>
          <a:noFill/>
          <a:ln>
            <a:noFill/>
          </a:ln>
        </p:spPr>
        <p:txBody>
          <a:bodyPr spcFirstLastPara="1" wrap="square" lIns="0" tIns="12700" rIns="0" bIns="0" anchor="t" anchorCtr="0">
            <a:spAutoFit/>
          </a:bodyPr>
          <a:lstStyle/>
          <a:p>
            <a:pPr marL="1656714" marR="5080" lvl="0" indent="-1644650">
              <a:lnSpc>
                <a:spcPct val="119696"/>
              </a:lnSpc>
            </a:pPr>
            <a:r>
              <a:rPr lang="en-US" sz="4400" dirty="0">
                <a:latin typeface="+mj-lt"/>
              </a:rPr>
              <a:t>Convolutions on RGB image</a:t>
            </a:r>
            <a:endParaRPr lang="en-US" sz="4400" dirty="0">
              <a:latin typeface="+mj-lt"/>
              <a:ea typeface="Calibri"/>
              <a:cs typeface="Calibri"/>
              <a:sym typeface="Calibri"/>
            </a:endParaRPr>
          </a:p>
        </p:txBody>
      </p:sp>
      <p:pic>
        <p:nvPicPr>
          <p:cNvPr id="3" name="Picture 2"/>
          <p:cNvPicPr>
            <a:picLocks noChangeAspect="1"/>
          </p:cNvPicPr>
          <p:nvPr/>
        </p:nvPicPr>
        <p:blipFill>
          <a:blip r:embed="rId4"/>
          <a:stretch>
            <a:fillRect/>
          </a:stretch>
        </p:blipFill>
        <p:spPr>
          <a:xfrm>
            <a:off x="261620" y="1300535"/>
            <a:ext cx="11506571" cy="4491768"/>
          </a:xfrm>
          <a:prstGeom prst="rect">
            <a:avLst/>
          </a:prstGeom>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Tree>
    <p:extLst>
      <p:ext uri="{BB962C8B-B14F-4D97-AF65-F5344CB8AC3E}">
        <p14:creationId xmlns:p14="http://schemas.microsoft.com/office/powerpoint/2010/main" val="38548932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233549"/>
            <a:ext cx="11677535"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t>Instead of using just a single filter, we can use multiple filters as well. How do we do that? </a:t>
            </a:r>
            <a:endParaRPr lang="en-US" sz="2400" dirty="0" smtClean="0"/>
          </a:p>
          <a:p>
            <a:pPr lvl="2"/>
            <a:r>
              <a:rPr lang="en-US" sz="2400" dirty="0"/>
              <a:t>	</a:t>
            </a:r>
            <a:r>
              <a:rPr lang="en-US" sz="2400" dirty="0" smtClean="0"/>
              <a:t>Let’s </a:t>
            </a:r>
            <a:r>
              <a:rPr lang="en-US" sz="2400" dirty="0"/>
              <a:t>say the first filter will detect vertical edges and the second filter will </a:t>
            </a:r>
            <a:r>
              <a:rPr lang="en-US" sz="2400" dirty="0" smtClean="0"/>
              <a:t>	detect </a:t>
            </a:r>
            <a:r>
              <a:rPr lang="en-US" sz="2400" dirty="0"/>
              <a:t>horizontal edges from the image. If we use multiple filters, the output </a:t>
            </a:r>
            <a:r>
              <a:rPr lang="en-US" sz="2400" dirty="0" smtClean="0"/>
              <a:t>	dimension </a:t>
            </a:r>
            <a:r>
              <a:rPr lang="en-US" sz="2400" dirty="0"/>
              <a:t>will change. So, instead of having a 4 </a:t>
            </a:r>
            <a:r>
              <a:rPr lang="en-US" sz="2400" dirty="0" smtClean="0"/>
              <a:t>x </a:t>
            </a:r>
            <a:r>
              <a:rPr lang="en-US" sz="2400" dirty="0"/>
              <a:t>4 output as in the above </a:t>
            </a:r>
            <a:r>
              <a:rPr lang="en-US" sz="2400" dirty="0" smtClean="0"/>
              <a:t>	example</a:t>
            </a:r>
            <a:r>
              <a:rPr lang="en-US" sz="2400" dirty="0"/>
              <a:t>, we would have a 4 </a:t>
            </a:r>
            <a:r>
              <a:rPr lang="en-US" sz="2400" dirty="0" smtClean="0"/>
              <a:t>x </a:t>
            </a:r>
            <a:r>
              <a:rPr lang="en-US" sz="2400" dirty="0"/>
              <a:t>4 </a:t>
            </a:r>
            <a:r>
              <a:rPr lang="en-US" sz="2400" dirty="0" smtClean="0"/>
              <a:t>x </a:t>
            </a:r>
            <a:r>
              <a:rPr lang="en-US" sz="2400" dirty="0"/>
              <a:t>2 output (if we have used 2 filters</a:t>
            </a:r>
            <a:r>
              <a:rPr lang="en-US" sz="2400" dirty="0" smtClean="0"/>
              <a:t>).</a:t>
            </a:r>
            <a:endParaRPr lang="en-US" sz="2400" dirty="0"/>
          </a:p>
        </p:txBody>
      </p:sp>
      <p:sp>
        <p:nvSpPr>
          <p:cNvPr id="6" name="Google Shape;342;p21"/>
          <p:cNvSpPr txBox="1">
            <a:spLocks/>
          </p:cNvSpPr>
          <p:nvPr/>
        </p:nvSpPr>
        <p:spPr>
          <a:xfrm>
            <a:off x="34290" y="76200"/>
            <a:ext cx="3937635" cy="695960"/>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4400" smtClean="0">
                <a:latin typeface="+mj-lt"/>
                <a:ea typeface="Cambria"/>
                <a:cs typeface="Cambria"/>
                <a:sym typeface="Cambria"/>
              </a:rPr>
              <a:t>Multiple filters</a:t>
            </a:r>
            <a:endParaRPr lang="en-US" sz="4400" dirty="0">
              <a:latin typeface="+mj-lt"/>
              <a:ea typeface="Cambria"/>
              <a:cs typeface="Cambria"/>
              <a:sym typeface="Cambria"/>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spTree>
    <p:extLst>
      <p:ext uri="{BB962C8B-B14F-4D97-AF65-F5344CB8AC3E}">
        <p14:creationId xmlns:p14="http://schemas.microsoft.com/office/powerpoint/2010/main" val="1785235200"/>
      </p:ext>
    </p:extLst>
  </p:cSld>
  <p:clrMapOvr>
    <a:masterClrMapping/>
  </p:clrMapOvr>
  <p:timing>
    <p:tnLst>
      <p:par>
        <p:cTn id="1" dur="indefinite" restart="never" nodeType="tmRoot"/>
      </p:par>
    </p:tnLst>
  </p:timing>
  <p:extLst mod="1">
    <p:ext uri="{6950BFC3-D8DA-4A85-94F7-54DA5524770B}">
      <p188:commentRel xmlns="" xmlns:p188="http://schemas.microsoft.com/office/powerpoint/2018/8/main" r:id="rId4"/>
    </p:ext>
  </p:extLst>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341"/>
        <p:cNvGrpSpPr/>
        <p:nvPr/>
      </p:nvGrpSpPr>
      <p:grpSpPr>
        <a:xfrm>
          <a:off x="0" y="0"/>
          <a:ext cx="0" cy="0"/>
          <a:chOff x="0" y="0"/>
          <a:chExt cx="0" cy="0"/>
        </a:xfrm>
      </p:grpSpPr>
      <p:sp>
        <p:nvSpPr>
          <p:cNvPr id="342" name="Google Shape;342;p21"/>
          <p:cNvSpPr txBox="1">
            <a:spLocks noGrp="1"/>
          </p:cNvSpPr>
          <p:nvPr>
            <p:ph type="title"/>
          </p:nvPr>
        </p:nvSpPr>
        <p:spPr>
          <a:xfrm>
            <a:off x="34290" y="76200"/>
            <a:ext cx="393763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Multiple filters</a:t>
            </a:r>
            <a:endParaRPr sz="4400" dirty="0">
              <a:latin typeface="+mj-lt"/>
              <a:ea typeface="Cambria"/>
              <a:cs typeface="Cambria"/>
              <a:sym typeface="Cambria"/>
            </a:endParaRPr>
          </a:p>
        </p:txBody>
      </p:sp>
      <p:pic>
        <p:nvPicPr>
          <p:cNvPr id="344" name="Google Shape;344;p21"/>
          <p:cNvPicPr preferRelativeResize="0"/>
          <p:nvPr/>
        </p:nvPicPr>
        <p:blipFill>
          <a:blip r:embed="rId3">
            <a:alphaModFix/>
          </a:blip>
          <a:stretch>
            <a:fillRect/>
          </a:stretch>
        </p:blipFill>
        <p:spPr>
          <a:xfrm>
            <a:off x="10734473" y="0"/>
            <a:ext cx="1448025" cy="796414"/>
          </a:xfrm>
          <a:prstGeom prst="rect">
            <a:avLst/>
          </a:prstGeom>
          <a:noFill/>
          <a:ln>
            <a:noFill/>
          </a:ln>
        </p:spPr>
      </p:pic>
      <p:pic>
        <p:nvPicPr>
          <p:cNvPr id="9218" name="Picture 2" descr="When we convolve with two different filters simultaneously- convolution imag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298" y="1157370"/>
            <a:ext cx="11520401" cy="501454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351314" y="6578930"/>
            <a:ext cx="9488385" cy="461665"/>
          </a:xfrm>
          <a:prstGeom prst="rect">
            <a:avLst/>
          </a:prstGeom>
          <a:noFill/>
        </p:spPr>
        <p:txBody>
          <a:bodyPr wrap="square" rtlCol="0">
            <a:spAutoFit/>
          </a:bodyPr>
          <a:lstStyle/>
          <a:p>
            <a:r>
              <a:rPr lang="en-US" sz="2400" dirty="0"/>
              <a:t>When we convolve with two different filters simultaneously</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Tree>
    <p:extLst>
      <p:ext uri="{BB962C8B-B14F-4D97-AF65-F5344CB8AC3E}">
        <p14:creationId xmlns:p14="http://schemas.microsoft.com/office/powerpoint/2010/main" val="414409129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341"/>
        <p:cNvGrpSpPr/>
        <p:nvPr/>
      </p:nvGrpSpPr>
      <p:grpSpPr>
        <a:xfrm>
          <a:off x="0" y="0"/>
          <a:ext cx="0" cy="0"/>
          <a:chOff x="0" y="0"/>
          <a:chExt cx="0" cy="0"/>
        </a:xfrm>
      </p:grpSpPr>
      <p:sp>
        <p:nvSpPr>
          <p:cNvPr id="342" name="Google Shape;342;p21"/>
          <p:cNvSpPr txBox="1">
            <a:spLocks noGrp="1"/>
          </p:cNvSpPr>
          <p:nvPr>
            <p:ph type="title"/>
          </p:nvPr>
        </p:nvSpPr>
        <p:spPr>
          <a:xfrm>
            <a:off x="34290" y="76200"/>
            <a:ext cx="393763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Multiple filters</a:t>
            </a:r>
            <a:endParaRPr sz="4400" dirty="0">
              <a:latin typeface="+mj-lt"/>
              <a:ea typeface="Cambria"/>
              <a:cs typeface="Cambria"/>
              <a:sym typeface="Cambria"/>
            </a:endParaRPr>
          </a:p>
        </p:txBody>
      </p:sp>
      <p:pic>
        <p:nvPicPr>
          <p:cNvPr id="344" name="Google Shape;344;p21"/>
          <p:cNvPicPr preferRelativeResize="0"/>
          <p:nvPr/>
        </p:nvPicPr>
        <p:blipFill>
          <a:blip r:embed="rId3">
            <a:alphaModFix/>
          </a:blip>
          <a:stretch>
            <a:fillRect/>
          </a:stretch>
        </p:blipFill>
        <p:spPr>
          <a:xfrm>
            <a:off x="10734473" y="0"/>
            <a:ext cx="1448025" cy="796414"/>
          </a:xfrm>
          <a:prstGeom prst="rect">
            <a:avLst/>
          </a:prstGeom>
          <a:noFill/>
          <a:ln>
            <a:noFill/>
          </a:ln>
        </p:spPr>
      </p:pic>
      <mc:AlternateContent xmlns:mc="http://schemas.openxmlformats.org/markup-compatibility/2006" xmlns:a14="http://schemas.microsoft.com/office/drawing/2010/main">
        <mc:Choice Requires="a14">
          <p:sp>
            <p:nvSpPr>
              <p:cNvPr id="2" name="TextBox 1"/>
              <p:cNvSpPr txBox="1"/>
              <p:nvPr/>
            </p:nvSpPr>
            <p:spPr>
              <a:xfrm>
                <a:off x="344384" y="1460665"/>
                <a:ext cx="11507190" cy="3372783"/>
              </a:xfrm>
              <a:prstGeom prst="rect">
                <a:avLst/>
              </a:prstGeom>
              <a:noFill/>
            </p:spPr>
            <p:txBody>
              <a:bodyPr wrap="square" rtlCol="0">
                <a:spAutoFit/>
              </a:bodyPr>
              <a:lstStyle/>
              <a:p>
                <a:r>
                  <a:rPr lang="en-US" sz="2800" dirty="0" smtClean="0"/>
                  <a:t>Generalized dimensions can be given as:</a:t>
                </a:r>
                <a:endParaRPr lang="en-US" sz="2400" dirty="0"/>
              </a:p>
              <a:p>
                <a:r>
                  <a:rPr lang="en-US" sz="2400" dirty="0"/>
                  <a:t>Input: </a:t>
                </a:r>
                <a:r>
                  <a:rPr lang="en-US" sz="2400" b="1" dirty="0"/>
                  <a:t>n </a:t>
                </a:r>
                <a:r>
                  <a:rPr lang="en-US" sz="2400" b="1" dirty="0" smtClean="0"/>
                  <a:t>x </a:t>
                </a:r>
                <a:r>
                  <a:rPr lang="en-US" sz="2400" b="1" dirty="0"/>
                  <a:t>n </a:t>
                </a:r>
                <a:r>
                  <a:rPr lang="en-US" sz="2400" b="1" dirty="0" smtClean="0"/>
                  <a:t>x</a:t>
                </a:r>
                <a14:m>
                  <m:oMath xmlns:m="http://schemas.openxmlformats.org/officeDocument/2006/math">
                    <m:sSub>
                      <m:sSubPr>
                        <m:ctrlPr>
                          <a:rPr lang="en-US" sz="2400" b="1" i="1">
                            <a:latin typeface="Cambria Math" panose="02040503050406030204" pitchFamily="18" charset="0"/>
                          </a:rPr>
                        </m:ctrlPr>
                      </m:sSubPr>
                      <m:e>
                        <m:r>
                          <a:rPr lang="en-US" sz="2400" b="1" i="1" smtClean="0">
                            <a:latin typeface="Cambria Math" panose="02040503050406030204" pitchFamily="18" charset="0"/>
                          </a:rPr>
                          <m:t> </m:t>
                        </m:r>
                        <m:r>
                          <a:rPr lang="en-US" sz="2400" b="1" i="1">
                            <a:latin typeface="Cambria Math" panose="02040503050406030204" pitchFamily="18" charset="0"/>
                          </a:rPr>
                          <m:t>𝒏</m:t>
                        </m:r>
                      </m:e>
                      <m:sub>
                        <m:r>
                          <a:rPr lang="en-US" sz="2400" b="1" i="1">
                            <a:latin typeface="Cambria Math" panose="02040503050406030204" pitchFamily="18" charset="0"/>
                          </a:rPr>
                          <m:t>𝒄</m:t>
                        </m:r>
                      </m:sub>
                    </m:sSub>
                  </m:oMath>
                </a14:m>
                <a:endParaRPr lang="en-US" sz="2400" b="1" dirty="0"/>
              </a:p>
              <a:p>
                <a:r>
                  <a:rPr lang="en-US" sz="2400" dirty="0"/>
                  <a:t>Filter: </a:t>
                </a:r>
                <a:r>
                  <a:rPr lang="en-US" sz="2400" b="1" dirty="0"/>
                  <a:t>f </a:t>
                </a:r>
                <a:r>
                  <a:rPr lang="en-US" sz="2400" b="1" dirty="0" smtClean="0"/>
                  <a:t>x </a:t>
                </a:r>
                <a:r>
                  <a:rPr lang="en-US" sz="2400" b="1" dirty="0"/>
                  <a:t>f x</a:t>
                </a:r>
                <a:r>
                  <a:rPr lang="en-US" sz="2400" b="1" dirty="0" smtClean="0"/>
                  <a:t> </a:t>
                </a:r>
                <a14:m>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𝒏</m:t>
                        </m:r>
                      </m:e>
                      <m:sub>
                        <m:r>
                          <a:rPr lang="en-US" sz="2400" b="1" i="1" smtClean="0">
                            <a:latin typeface="Cambria Math" panose="02040503050406030204" pitchFamily="18" charset="0"/>
                          </a:rPr>
                          <m:t>𝒄</m:t>
                        </m:r>
                      </m:sub>
                    </m:sSub>
                  </m:oMath>
                </a14:m>
                <a:endParaRPr lang="en-US" sz="2400" b="1" dirty="0"/>
              </a:p>
              <a:p>
                <a:r>
                  <a:rPr lang="en-US" sz="2400" dirty="0"/>
                  <a:t>Padding: </a:t>
                </a:r>
                <a:r>
                  <a:rPr lang="en-US" sz="2400" b="1" dirty="0"/>
                  <a:t>p</a:t>
                </a:r>
              </a:p>
              <a:p>
                <a:r>
                  <a:rPr lang="en-US" sz="2400" dirty="0"/>
                  <a:t>Stride: </a:t>
                </a:r>
                <a:r>
                  <a:rPr lang="en-US" sz="2400" b="1" dirty="0"/>
                  <a:t>s</a:t>
                </a:r>
              </a:p>
              <a:p>
                <a:r>
                  <a:rPr lang="en-US" sz="2400" dirty="0"/>
                  <a:t>Output</a:t>
                </a:r>
                <a:r>
                  <a:rPr lang="en-US" sz="2400" dirty="0" smtClean="0"/>
                  <a:t>: </a:t>
                </a:r>
                <a:r>
                  <a:rPr lang="pt-BR" sz="2400" b="1" dirty="0"/>
                  <a:t>(</a:t>
                </a:r>
                <a14:m>
                  <m:oMath xmlns:m="http://schemas.openxmlformats.org/officeDocument/2006/math">
                    <m:f>
                      <m:fPr>
                        <m:ctrlPr>
                          <a:rPr lang="pt-BR" sz="2800" b="1" i="1">
                            <a:latin typeface="Cambria Math" panose="02040503050406030204" pitchFamily="18" charset="0"/>
                          </a:rPr>
                        </m:ctrlPr>
                      </m:fPr>
                      <m:num>
                        <m:r>
                          <a:rPr lang="en-US" sz="2800" b="1" i="0">
                            <a:latin typeface="Cambria Math" panose="02040503050406030204" pitchFamily="18" charset="0"/>
                          </a:rPr>
                          <m:t>𝐧</m:t>
                        </m:r>
                        <m:r>
                          <a:rPr lang="en-US" sz="2800" b="1" i="0">
                            <a:latin typeface="Cambria Math" panose="02040503050406030204" pitchFamily="18" charset="0"/>
                          </a:rPr>
                          <m:t>+</m:t>
                        </m:r>
                        <m:r>
                          <a:rPr lang="en-US" sz="2800" b="1" i="0">
                            <a:latin typeface="Cambria Math" panose="02040503050406030204" pitchFamily="18" charset="0"/>
                          </a:rPr>
                          <m:t>𝟐𝐩</m:t>
                        </m:r>
                        <m:r>
                          <a:rPr lang="en-US" sz="2800" b="1" i="0">
                            <a:latin typeface="Cambria Math" panose="02040503050406030204" pitchFamily="18" charset="0"/>
                          </a:rPr>
                          <m:t> −</m:t>
                        </m:r>
                        <m:r>
                          <a:rPr lang="en-US" sz="2800" b="1" i="0">
                            <a:latin typeface="Cambria Math" panose="02040503050406030204" pitchFamily="18" charset="0"/>
                          </a:rPr>
                          <m:t>𝐟</m:t>
                        </m:r>
                      </m:num>
                      <m:den>
                        <m:r>
                          <a:rPr lang="en-US" sz="2800" b="1" i="0">
                            <a:latin typeface="Cambria Math" panose="02040503050406030204" pitchFamily="18" charset="0"/>
                          </a:rPr>
                          <m:t>𝐬</m:t>
                        </m:r>
                      </m:den>
                    </m:f>
                  </m:oMath>
                </a14:m>
                <a:r>
                  <a:rPr lang="pt-BR" sz="2800" b="1" dirty="0">
                    <a:latin typeface="+mn-lt"/>
                  </a:rPr>
                  <a:t> + 1</a:t>
                </a:r>
                <a:r>
                  <a:rPr lang="pt-BR" sz="2400" b="1" dirty="0"/>
                  <a:t>) x </a:t>
                </a:r>
                <a:r>
                  <a:rPr lang="pt-BR" sz="2000" b="1" dirty="0"/>
                  <a:t>(</a:t>
                </a:r>
                <a14:m>
                  <m:oMath xmlns:m="http://schemas.openxmlformats.org/officeDocument/2006/math">
                    <m:f>
                      <m:fPr>
                        <m:ctrlPr>
                          <a:rPr lang="pt-BR" sz="2800" b="1" i="1">
                            <a:latin typeface="Cambria Math" panose="02040503050406030204" pitchFamily="18" charset="0"/>
                          </a:rPr>
                        </m:ctrlPr>
                      </m:fPr>
                      <m:num>
                        <m:r>
                          <a:rPr lang="en-US" sz="2800" b="1" i="0">
                            <a:latin typeface="Cambria Math" panose="02040503050406030204" pitchFamily="18" charset="0"/>
                          </a:rPr>
                          <m:t>𝐧</m:t>
                        </m:r>
                        <m:r>
                          <a:rPr lang="en-US" sz="2800" b="1" i="0">
                            <a:latin typeface="Cambria Math" panose="02040503050406030204" pitchFamily="18" charset="0"/>
                          </a:rPr>
                          <m:t>+</m:t>
                        </m:r>
                        <m:r>
                          <a:rPr lang="en-US" sz="2800" b="1" i="0">
                            <a:latin typeface="Cambria Math" panose="02040503050406030204" pitchFamily="18" charset="0"/>
                          </a:rPr>
                          <m:t>𝟐𝐩</m:t>
                        </m:r>
                        <m:r>
                          <a:rPr lang="en-US" sz="2800" b="1" i="0">
                            <a:latin typeface="Cambria Math" panose="02040503050406030204" pitchFamily="18" charset="0"/>
                          </a:rPr>
                          <m:t> −</m:t>
                        </m:r>
                        <m:r>
                          <a:rPr lang="en-US" sz="2800" b="1" i="0">
                            <a:latin typeface="Cambria Math" panose="02040503050406030204" pitchFamily="18" charset="0"/>
                          </a:rPr>
                          <m:t>𝐟</m:t>
                        </m:r>
                      </m:num>
                      <m:den>
                        <m:r>
                          <a:rPr lang="en-US" sz="2800" b="1" i="0">
                            <a:latin typeface="Cambria Math" panose="02040503050406030204" pitchFamily="18" charset="0"/>
                          </a:rPr>
                          <m:t>𝐬</m:t>
                        </m:r>
                      </m:den>
                    </m:f>
                  </m:oMath>
                </a14:m>
                <a:r>
                  <a:rPr lang="pt-BR" sz="2800" b="1" dirty="0">
                    <a:latin typeface="+mn-lt"/>
                  </a:rPr>
                  <a:t> + 1</a:t>
                </a:r>
                <a:r>
                  <a:rPr lang="pt-BR" sz="2000" b="1" dirty="0" smtClean="0"/>
                  <a:t>) x </a:t>
                </a:r>
                <a14:m>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𝒏</m:t>
                        </m:r>
                      </m:e>
                      <m:sub>
                        <m:sSup>
                          <m:sSupPr>
                            <m:ctrlPr>
                              <a:rPr lang="en-US" sz="2400" b="1" i="1">
                                <a:latin typeface="Cambria Math" panose="02040503050406030204" pitchFamily="18" charset="0"/>
                              </a:rPr>
                            </m:ctrlPr>
                          </m:sSupPr>
                          <m:e>
                            <m:r>
                              <a:rPr lang="en-US" sz="2400" b="1" i="1">
                                <a:latin typeface="Cambria Math" panose="02040503050406030204" pitchFamily="18" charset="0"/>
                              </a:rPr>
                              <m:t>𝒄</m:t>
                            </m:r>
                          </m:e>
                          <m:sup>
                            <m:r>
                              <a:rPr lang="en-US" sz="2400" b="1" i="1">
                                <a:latin typeface="Cambria Math" panose="02040503050406030204" pitchFamily="18" charset="0"/>
                              </a:rPr>
                              <m:t>′</m:t>
                            </m:r>
                          </m:sup>
                        </m:sSup>
                      </m:sub>
                    </m:sSub>
                  </m:oMath>
                </a14:m>
                <a:endParaRPr lang="en-US" sz="2400" b="1" dirty="0"/>
              </a:p>
              <a:p>
                <a:r>
                  <a:rPr lang="en-US" sz="2400" dirty="0" smtClean="0"/>
                  <a:t>Where </a:t>
                </a:r>
                <a14:m>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𝒏</m:t>
                        </m:r>
                      </m:e>
                      <m:sub>
                        <m:r>
                          <a:rPr lang="en-US" sz="2400" b="1" i="1">
                            <a:latin typeface="Cambria Math" panose="02040503050406030204" pitchFamily="18" charset="0"/>
                          </a:rPr>
                          <m:t>𝒄</m:t>
                        </m:r>
                      </m:sub>
                    </m:sSub>
                  </m:oMath>
                </a14:m>
                <a:r>
                  <a:rPr lang="en-US" sz="2400" dirty="0" smtClean="0"/>
                  <a:t> </a:t>
                </a:r>
                <a:r>
                  <a:rPr lang="en-US" sz="2400" dirty="0"/>
                  <a:t>is the number of channels in the input and </a:t>
                </a:r>
                <a:r>
                  <a:rPr lang="en-US" sz="2400" dirty="0" smtClean="0"/>
                  <a:t>filter and </a:t>
                </a:r>
                <a14:m>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𝒏</m:t>
                        </m:r>
                      </m:e>
                      <m:sub>
                        <m:sSup>
                          <m:sSupPr>
                            <m:ctrlPr>
                              <a:rPr lang="en-US" sz="2400" b="1" i="1">
                                <a:latin typeface="Cambria Math" panose="02040503050406030204" pitchFamily="18" charset="0"/>
                              </a:rPr>
                            </m:ctrlPr>
                          </m:sSupPr>
                          <m:e>
                            <m:r>
                              <a:rPr lang="en-US" sz="2400" b="1" i="1">
                                <a:latin typeface="Cambria Math" panose="02040503050406030204" pitchFamily="18" charset="0"/>
                              </a:rPr>
                              <m:t>𝒄</m:t>
                            </m:r>
                          </m:e>
                          <m:sup>
                            <m:r>
                              <a:rPr lang="en-US" sz="2400" b="1" i="1">
                                <a:latin typeface="Cambria Math" panose="02040503050406030204" pitchFamily="18" charset="0"/>
                              </a:rPr>
                              <m:t>′</m:t>
                            </m:r>
                          </m:sup>
                        </m:sSup>
                      </m:sub>
                    </m:sSub>
                  </m:oMath>
                </a14:m>
                <a:r>
                  <a:rPr lang="en-US" sz="2400" dirty="0" smtClean="0"/>
                  <a:t> </a:t>
                </a:r>
                <a:r>
                  <a:rPr lang="en-US" sz="2400" dirty="0"/>
                  <a:t>is the number of filters.</a:t>
                </a:r>
              </a:p>
            </p:txBody>
          </p:sp>
        </mc:Choice>
        <mc:Fallback xmlns="">
          <p:sp>
            <p:nvSpPr>
              <p:cNvPr id="2" name="TextBox 1"/>
              <p:cNvSpPr txBox="1">
                <a:spLocks noRot="1" noChangeAspect="1" noMove="1" noResize="1" noEditPoints="1" noAdjustHandles="1" noChangeArrowheads="1" noChangeShapeType="1" noTextEdit="1"/>
              </p:cNvSpPr>
              <p:nvPr/>
            </p:nvSpPr>
            <p:spPr>
              <a:xfrm>
                <a:off x="344384" y="1460665"/>
                <a:ext cx="11507190" cy="3372783"/>
              </a:xfrm>
              <a:prstGeom prst="rect">
                <a:avLst/>
              </a:prstGeom>
              <a:blipFill>
                <a:blip r:embed="rId4"/>
                <a:stretch>
                  <a:fillRect l="-1059" t="-1989" b="-3436"/>
                </a:stretch>
              </a:blipFill>
            </p:spPr>
            <p:txBody>
              <a:bodyPr/>
              <a:lstStyle/>
              <a:p>
                <a:r>
                  <a:rPr lang="en-US">
                    <a:noFill/>
                  </a:rPr>
                  <a:t> </a:t>
                </a:r>
              </a:p>
            </p:txBody>
          </p:sp>
        </mc:Fallback>
      </mc:AlternateContent>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a:p>
        </p:txBody>
      </p:sp>
    </p:spTree>
    <p:extLst>
      <p:ext uri="{BB962C8B-B14F-4D97-AF65-F5344CB8AC3E}">
        <p14:creationId xmlns:p14="http://schemas.microsoft.com/office/powerpoint/2010/main" val="45302839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348"/>
        <p:cNvGrpSpPr/>
        <p:nvPr/>
      </p:nvGrpSpPr>
      <p:grpSpPr>
        <a:xfrm>
          <a:off x="0" y="0"/>
          <a:ext cx="0" cy="0"/>
          <a:chOff x="0" y="0"/>
          <a:chExt cx="0" cy="0"/>
        </a:xfrm>
      </p:grpSpPr>
      <p:sp>
        <p:nvSpPr>
          <p:cNvPr id="349" name="Google Shape;349;p22"/>
          <p:cNvSpPr txBox="1">
            <a:spLocks noGrp="1"/>
          </p:cNvSpPr>
          <p:nvPr>
            <p:ph type="title"/>
          </p:nvPr>
        </p:nvSpPr>
        <p:spPr>
          <a:xfrm>
            <a:off x="105916" y="202820"/>
            <a:ext cx="11668759" cy="3257054"/>
          </a:xfrm>
          <a:prstGeom prst="rect">
            <a:avLst/>
          </a:prstGeom>
          <a:noFill/>
          <a:ln>
            <a:noFill/>
          </a:ln>
        </p:spPr>
        <p:txBody>
          <a:bodyPr spcFirstLastPara="1" wrap="square" lIns="0" tIns="1250450" rIns="0" bIns="0" anchor="t" anchorCtr="0">
            <a:spAutoFit/>
          </a:bodyPr>
          <a:lstStyle/>
          <a:p>
            <a:pPr marL="5466715" marR="5080" lvl="0" indent="454658" algn="l" rtl="0">
              <a:lnSpc>
                <a:spcPct val="108333"/>
              </a:lnSpc>
              <a:spcBef>
                <a:spcPts val="0"/>
              </a:spcBef>
              <a:spcAft>
                <a:spcPts val="0"/>
              </a:spcAft>
              <a:buNone/>
            </a:pPr>
            <a:r>
              <a:rPr lang="en-US" dirty="0">
                <a:latin typeface="+mj-lt"/>
              </a:rPr>
              <a:t>Convolutional Neural Networks</a:t>
            </a:r>
            <a:endParaRPr dirty="0">
              <a:latin typeface="+mj-lt"/>
            </a:endParaRPr>
          </a:p>
        </p:txBody>
      </p:sp>
      <p:sp>
        <p:nvSpPr>
          <p:cNvPr id="350" name="Google Shape;350;p22"/>
          <p:cNvSpPr txBox="1"/>
          <p:nvPr/>
        </p:nvSpPr>
        <p:spPr>
          <a:xfrm>
            <a:off x="4836350" y="3742457"/>
            <a:ext cx="6908800" cy="2022590"/>
          </a:xfrm>
          <a:prstGeom prst="rect">
            <a:avLst/>
          </a:prstGeom>
          <a:noFill/>
          <a:ln>
            <a:noFill/>
          </a:ln>
        </p:spPr>
        <p:txBody>
          <a:bodyPr spcFirstLastPara="1" wrap="square" lIns="0" tIns="27925" rIns="0" bIns="0" anchor="t" anchorCtr="0">
            <a:spAutoFit/>
          </a:bodyPr>
          <a:lstStyle/>
          <a:p>
            <a:pPr marL="12700" marR="5080" lvl="0" indent="0" algn="ctr" rtl="0">
              <a:lnSpc>
                <a:spcPct val="119696"/>
              </a:lnSpc>
              <a:spcBef>
                <a:spcPts val="0"/>
              </a:spcBef>
              <a:spcAft>
                <a:spcPts val="0"/>
              </a:spcAft>
              <a:buNone/>
            </a:pPr>
            <a:r>
              <a:rPr lang="en-US" sz="5400" dirty="0">
                <a:latin typeface="+mj-lt"/>
                <a:ea typeface="Calibri"/>
                <a:cs typeface="Calibri"/>
                <a:sym typeface="Calibri"/>
              </a:rPr>
              <a:t>One layer of a convolutional network</a:t>
            </a:r>
            <a:endParaRPr sz="5400" dirty="0">
              <a:latin typeface="+mj-lt"/>
              <a:ea typeface="Calibri"/>
              <a:cs typeface="Calibri"/>
              <a:sym typeface="Calibri"/>
            </a:endParaRPr>
          </a:p>
        </p:txBody>
      </p:sp>
      <p:sp>
        <p:nvSpPr>
          <p:cNvPr id="351" name="Google Shape;351;p22"/>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52" name="Google Shape;352;p22"/>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9287625" cy="825354"/>
          </a:xfrm>
          <a:prstGeom prst="rect">
            <a:avLst/>
          </a:prstGeom>
          <a:noFill/>
          <a:ln>
            <a:noFill/>
          </a:ln>
        </p:spPr>
        <p:txBody>
          <a:bodyPr spcFirstLastPara="1" wrap="square" lIns="0" tIns="12700" rIns="0" bIns="0" anchor="t" anchorCtr="0">
            <a:spAutoFit/>
          </a:bodyPr>
          <a:lstStyle/>
          <a:p>
            <a:pPr marL="12700" marR="5080" lvl="0" indent="0" algn="ctr" rtl="0">
              <a:lnSpc>
                <a:spcPct val="119696"/>
              </a:lnSpc>
              <a:spcBef>
                <a:spcPts val="0"/>
              </a:spcBef>
              <a:spcAft>
                <a:spcPts val="0"/>
              </a:spcAft>
              <a:buNone/>
            </a:pPr>
            <a:r>
              <a:rPr lang="en-GB" sz="4400" dirty="0">
                <a:latin typeface="+mj-lt"/>
                <a:ea typeface="Calibri"/>
                <a:cs typeface="Calibri"/>
                <a:sym typeface="Calibri"/>
              </a:rPr>
              <a:t>One layer of a convolutional network</a:t>
            </a: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312718"/>
            <a:ext cx="11677535" cy="3785652"/>
          </a:xfrm>
          <a:prstGeom prst="rect">
            <a:avLst/>
          </a:prstGeom>
          <a:noFill/>
        </p:spPr>
        <p:txBody>
          <a:bodyPr wrap="square" rtlCol="0">
            <a:spAutoFit/>
          </a:bodyPr>
          <a:lstStyle/>
          <a:p>
            <a:pPr marL="285750" indent="-285750">
              <a:buFont typeface="Arial" panose="020B0604020202020204" pitchFamily="34" charset="0"/>
              <a:buChar char="•"/>
            </a:pPr>
            <a:r>
              <a:rPr lang="en-US" sz="2400" dirty="0"/>
              <a:t>B</a:t>
            </a:r>
            <a:r>
              <a:rPr lang="en-US" sz="2400" dirty="0" smtClean="0"/>
              <a:t>uilding </a:t>
            </a:r>
            <a:r>
              <a:rPr lang="en-US" sz="2400" dirty="0"/>
              <a:t>a single layer in a convolutional neural network (</a:t>
            </a:r>
            <a:r>
              <a:rPr lang="en-US" sz="2400" dirty="0" smtClean="0"/>
              <a:t>CNN) involves </a:t>
            </a:r>
            <a:r>
              <a:rPr lang="en-US" sz="2400" dirty="0"/>
              <a:t>convolving a 3D volume with different filters, applying biases and non-</a:t>
            </a:r>
            <a:r>
              <a:rPr lang="en-US" sz="2400" dirty="0" err="1"/>
              <a:t>linearities</a:t>
            </a:r>
            <a:r>
              <a:rPr lang="en-US" sz="2400" dirty="0"/>
              <a:t>, and stacking the 4x4 output to form a 4x4x2 output volume. </a:t>
            </a:r>
            <a:endParaRPr lang="en-US" sz="2400" dirty="0" smtClean="0"/>
          </a:p>
          <a:p>
            <a:pPr marL="285750" indent="-285750">
              <a:buFont typeface="Arial" panose="020B0604020202020204" pitchFamily="34" charset="0"/>
              <a:buChar char="•"/>
            </a:pPr>
            <a:r>
              <a:rPr lang="en-US" sz="2400" dirty="0" smtClean="0"/>
              <a:t>The </a:t>
            </a:r>
            <a:r>
              <a:rPr lang="en-US" sz="2400" dirty="0"/>
              <a:t>notation used to describe one layer of a CNN is explained, including filter size, padding, stride, and number of channels. The output volume size is calculated using a formula, and the weights and biases are also explained. There is no universal convention for the ordering of height, width, and channel, but the video follows the convention of listing height and width first and then the number of channels last. Understanding one layer of a CNN is essential for building a deeper CNN.</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extLst>
      <p:ext uri="{BB962C8B-B14F-4D97-AF65-F5344CB8AC3E}">
        <p14:creationId xmlns:p14="http://schemas.microsoft.com/office/powerpoint/2010/main" val="28354746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356"/>
        <p:cNvGrpSpPr/>
        <p:nvPr/>
      </p:nvGrpSpPr>
      <p:grpSpPr>
        <a:xfrm>
          <a:off x="0" y="0"/>
          <a:ext cx="0" cy="0"/>
          <a:chOff x="0" y="0"/>
          <a:chExt cx="0" cy="0"/>
        </a:xfrm>
      </p:grpSpPr>
      <p:sp>
        <p:nvSpPr>
          <p:cNvPr id="357" name="Google Shape;357;p23"/>
          <p:cNvSpPr txBox="1">
            <a:spLocks noGrp="1"/>
          </p:cNvSpPr>
          <p:nvPr>
            <p:ph type="title"/>
          </p:nvPr>
        </p:nvSpPr>
        <p:spPr>
          <a:xfrm>
            <a:off x="241595" y="119676"/>
            <a:ext cx="48698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a:latin typeface="+mj-lt"/>
                <a:ea typeface="Cambria"/>
                <a:cs typeface="Cambria"/>
                <a:sym typeface="Cambria"/>
              </a:rPr>
              <a:t>Example of a layer</a:t>
            </a:r>
            <a:endParaRPr sz="4400">
              <a:latin typeface="+mj-lt"/>
              <a:ea typeface="Cambria"/>
              <a:cs typeface="Cambria"/>
              <a:sym typeface="Cambria"/>
            </a:endParaRPr>
          </a:p>
        </p:txBody>
      </p:sp>
      <p:pic>
        <p:nvPicPr>
          <p:cNvPr id="359" name="Google Shape;359;p23"/>
          <p:cNvPicPr preferRelativeResize="0"/>
          <p:nvPr/>
        </p:nvPicPr>
        <p:blipFill>
          <a:blip r:embed="rId3">
            <a:alphaModFix/>
          </a:blip>
          <a:stretch>
            <a:fillRect/>
          </a:stretch>
        </p:blipFill>
        <p:spPr>
          <a:xfrm>
            <a:off x="10734473" y="0"/>
            <a:ext cx="1448025" cy="796414"/>
          </a:xfrm>
          <a:prstGeom prst="rect">
            <a:avLst/>
          </a:prstGeom>
          <a:noFill/>
          <a:ln>
            <a:noFill/>
          </a:ln>
        </p:spPr>
      </p:pic>
      <p:pic>
        <p:nvPicPr>
          <p:cNvPr id="11266" name="Picture 2" descr="An example of a convolution with two different filter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4380" y="1419121"/>
            <a:ext cx="7143750" cy="539115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042556" y="7053943"/>
            <a:ext cx="8063345" cy="461665"/>
          </a:xfrm>
          <a:prstGeom prst="rect">
            <a:avLst/>
          </a:prstGeom>
          <a:noFill/>
        </p:spPr>
        <p:txBody>
          <a:bodyPr wrap="square" rtlCol="0">
            <a:spAutoFit/>
          </a:bodyPr>
          <a:lstStyle/>
          <a:p>
            <a:pPr algn="ctr"/>
            <a:r>
              <a:rPr lang="en-US" sz="2400" dirty="0" smtClean="0"/>
              <a:t>Example </a:t>
            </a:r>
            <a:r>
              <a:rPr lang="en-US" sz="2400" dirty="0"/>
              <a:t>of a convolution with two different filters</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356"/>
        <p:cNvGrpSpPr/>
        <p:nvPr/>
      </p:nvGrpSpPr>
      <p:grpSpPr>
        <a:xfrm>
          <a:off x="0" y="0"/>
          <a:ext cx="0" cy="0"/>
          <a:chOff x="0" y="0"/>
          <a:chExt cx="0" cy="0"/>
        </a:xfrm>
      </p:grpSpPr>
      <p:sp>
        <p:nvSpPr>
          <p:cNvPr id="357" name="Google Shape;357;p23"/>
          <p:cNvSpPr txBox="1">
            <a:spLocks noGrp="1"/>
          </p:cNvSpPr>
          <p:nvPr>
            <p:ph type="title"/>
          </p:nvPr>
        </p:nvSpPr>
        <p:spPr>
          <a:xfrm>
            <a:off x="241595" y="119676"/>
            <a:ext cx="48698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a:latin typeface="+mj-lt"/>
                <a:ea typeface="Cambria"/>
                <a:cs typeface="Cambria"/>
                <a:sym typeface="Cambria"/>
              </a:rPr>
              <a:t>Example of a layer</a:t>
            </a:r>
            <a:endParaRPr sz="4400">
              <a:latin typeface="+mj-lt"/>
              <a:ea typeface="Cambria"/>
              <a:cs typeface="Cambria"/>
              <a:sym typeface="Cambria"/>
            </a:endParaRPr>
          </a:p>
        </p:txBody>
      </p:sp>
      <p:pic>
        <p:nvPicPr>
          <p:cNvPr id="359" name="Google Shape;359;p2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p:cNvSpPr txBox="1"/>
          <p:nvPr/>
        </p:nvSpPr>
        <p:spPr>
          <a:xfrm>
            <a:off x="2042554" y="6460177"/>
            <a:ext cx="8063345" cy="461665"/>
          </a:xfrm>
          <a:prstGeom prst="rect">
            <a:avLst/>
          </a:prstGeom>
          <a:noFill/>
        </p:spPr>
        <p:txBody>
          <a:bodyPr wrap="square" rtlCol="0">
            <a:spAutoFit/>
          </a:bodyPr>
          <a:lstStyle/>
          <a:p>
            <a:pPr algn="ctr"/>
            <a:r>
              <a:rPr lang="en-US" sz="2400" dirty="0"/>
              <a:t>The result of convolution with two filters</a:t>
            </a:r>
          </a:p>
        </p:txBody>
      </p:sp>
      <p:pic>
        <p:nvPicPr>
          <p:cNvPr id="12290" name="Picture 2" descr="The result of convolution with two filter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6490" y="2278007"/>
            <a:ext cx="9515475" cy="363855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Tree>
    <p:extLst>
      <p:ext uri="{BB962C8B-B14F-4D97-AF65-F5344CB8AC3E}">
        <p14:creationId xmlns:p14="http://schemas.microsoft.com/office/powerpoint/2010/main" val="2162394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356"/>
        <p:cNvGrpSpPr/>
        <p:nvPr/>
      </p:nvGrpSpPr>
      <p:grpSpPr>
        <a:xfrm>
          <a:off x="0" y="0"/>
          <a:ext cx="0" cy="0"/>
          <a:chOff x="0" y="0"/>
          <a:chExt cx="0" cy="0"/>
        </a:xfrm>
      </p:grpSpPr>
      <p:sp>
        <p:nvSpPr>
          <p:cNvPr id="357" name="Google Shape;357;p23"/>
          <p:cNvSpPr txBox="1">
            <a:spLocks noGrp="1"/>
          </p:cNvSpPr>
          <p:nvPr>
            <p:ph type="title"/>
          </p:nvPr>
        </p:nvSpPr>
        <p:spPr>
          <a:xfrm>
            <a:off x="241595" y="119676"/>
            <a:ext cx="48698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a:latin typeface="+mj-lt"/>
                <a:ea typeface="Cambria"/>
                <a:cs typeface="Cambria"/>
                <a:sym typeface="Cambria"/>
              </a:rPr>
              <a:t>Example of a layer</a:t>
            </a:r>
            <a:endParaRPr sz="4400">
              <a:latin typeface="+mj-lt"/>
              <a:ea typeface="Cambria"/>
              <a:cs typeface="Cambria"/>
              <a:sym typeface="Cambria"/>
            </a:endParaRPr>
          </a:p>
        </p:txBody>
      </p:sp>
      <p:pic>
        <p:nvPicPr>
          <p:cNvPr id="359" name="Google Shape;359;p2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p:cNvSpPr txBox="1"/>
          <p:nvPr/>
        </p:nvSpPr>
        <p:spPr>
          <a:xfrm>
            <a:off x="1805047" y="5795158"/>
            <a:ext cx="8063345" cy="830997"/>
          </a:xfrm>
          <a:prstGeom prst="rect">
            <a:avLst/>
          </a:prstGeom>
          <a:noFill/>
        </p:spPr>
        <p:txBody>
          <a:bodyPr wrap="square" rtlCol="0">
            <a:spAutoFit/>
          </a:bodyPr>
          <a:lstStyle/>
          <a:p>
            <a:pPr algn="ctr"/>
            <a:r>
              <a:rPr lang="en-US" sz="2400" dirty="0"/>
              <a:t>The result of a convolution of  </a:t>
            </a:r>
            <a:r>
              <a:rPr lang="en-US" sz="2400" dirty="0" smtClean="0"/>
              <a:t>6x6x3 </a:t>
            </a:r>
            <a:r>
              <a:rPr lang="en-US" sz="2400" dirty="0"/>
              <a:t>with  two </a:t>
            </a:r>
            <a:r>
              <a:rPr lang="en-US" sz="2400" dirty="0" smtClean="0"/>
              <a:t>3x3x3 </a:t>
            </a:r>
            <a:r>
              <a:rPr lang="en-US" sz="2400" dirty="0"/>
              <a:t>is a volume of dimension </a:t>
            </a:r>
            <a:r>
              <a:rPr lang="en-US" sz="2400" dirty="0" smtClean="0"/>
              <a:t>4x4x2</a:t>
            </a:r>
            <a:endParaRPr lang="en-US" sz="2400" dirty="0"/>
          </a:p>
        </p:txBody>
      </p:sp>
      <p:pic>
        <p:nvPicPr>
          <p:cNvPr id="13314" name="Picture 2" descr="The result of a convolution of  \(6\times  6\times 3\) with  two \(3\times 3\times 3 \) is a volume of dimension \(4\times 4\times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00" y="1661468"/>
            <a:ext cx="12106275" cy="395287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spTree>
    <p:extLst>
      <p:ext uri="{BB962C8B-B14F-4D97-AF65-F5344CB8AC3E}">
        <p14:creationId xmlns:p14="http://schemas.microsoft.com/office/powerpoint/2010/main" val="32769749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356"/>
        <p:cNvGrpSpPr/>
        <p:nvPr/>
      </p:nvGrpSpPr>
      <p:grpSpPr>
        <a:xfrm>
          <a:off x="0" y="0"/>
          <a:ext cx="0" cy="0"/>
          <a:chOff x="0" y="0"/>
          <a:chExt cx="0" cy="0"/>
        </a:xfrm>
      </p:grpSpPr>
      <p:sp>
        <p:nvSpPr>
          <p:cNvPr id="357" name="Google Shape;357;p23"/>
          <p:cNvSpPr txBox="1">
            <a:spLocks noGrp="1"/>
          </p:cNvSpPr>
          <p:nvPr>
            <p:ph type="title"/>
          </p:nvPr>
        </p:nvSpPr>
        <p:spPr>
          <a:xfrm>
            <a:off x="241595" y="119676"/>
            <a:ext cx="10353253"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One layer of a convolutional network</a:t>
            </a:r>
            <a:endParaRPr sz="4400" dirty="0">
              <a:latin typeface="+mj-lt"/>
              <a:ea typeface="Cambria"/>
              <a:cs typeface="Cambria"/>
              <a:sym typeface="Cambria"/>
            </a:endParaRPr>
          </a:p>
        </p:txBody>
      </p:sp>
      <p:pic>
        <p:nvPicPr>
          <p:cNvPr id="359" name="Google Shape;359;p23"/>
          <p:cNvPicPr preferRelativeResize="0"/>
          <p:nvPr/>
        </p:nvPicPr>
        <p:blipFill>
          <a:blip r:embed="rId3">
            <a:alphaModFix/>
          </a:blip>
          <a:stretch>
            <a:fillRect/>
          </a:stretch>
        </p:blipFill>
        <p:spPr>
          <a:xfrm>
            <a:off x="10734473" y="0"/>
            <a:ext cx="1448025" cy="796414"/>
          </a:xfrm>
          <a:prstGeom prst="rect">
            <a:avLst/>
          </a:prstGeom>
          <a:noFill/>
          <a:ln>
            <a:noFill/>
          </a:ln>
        </p:spPr>
      </p:pic>
      <mc:AlternateContent xmlns:mc="http://schemas.openxmlformats.org/markup-compatibility/2006" xmlns:a14="http://schemas.microsoft.com/office/drawing/2010/main">
        <mc:Choice Requires="a14">
          <p:sp>
            <p:nvSpPr>
              <p:cNvPr id="2" name="TextBox 1"/>
              <p:cNvSpPr txBox="1"/>
              <p:nvPr/>
            </p:nvSpPr>
            <p:spPr>
              <a:xfrm>
                <a:off x="546263" y="1140030"/>
                <a:ext cx="11103431" cy="2747355"/>
              </a:xfrm>
              <a:prstGeom prst="rect">
                <a:avLst/>
              </a:prstGeom>
              <a:noFill/>
            </p:spPr>
            <p:txBody>
              <a:bodyPr wrap="square" rtlCol="0">
                <a:spAutoFit/>
              </a:bodyPr>
              <a:lstStyle/>
              <a:p>
                <a:r>
                  <a:rPr lang="en-US" sz="2400" dirty="0" smtClean="0"/>
                  <a:t>In neural networks one step of a forward propagation step was: </a:t>
                </a:r>
              </a:p>
              <a:p>
                <a:r>
                  <a:rPr lang="en-US" sz="2400" dirty="0" smtClean="0"/>
                  <a:t>Z</a:t>
                </a:r>
                <a:r>
                  <a:rPr lang="en-US" sz="2400" baseline="30000" dirty="0" smtClean="0"/>
                  <a:t>[1]</a:t>
                </a:r>
                <a:r>
                  <a:rPr lang="en-US" sz="2400" dirty="0" smtClean="0"/>
                  <a:t> = W</a:t>
                </a:r>
                <a:r>
                  <a:rPr lang="en-US" sz="2400" baseline="30000" dirty="0" smtClean="0"/>
                  <a:t>[1]</a:t>
                </a:r>
                <a:r>
                  <a:rPr lang="en-US" sz="2400" dirty="0" smtClean="0"/>
                  <a:t> a</a:t>
                </a:r>
                <a:r>
                  <a:rPr lang="en-US" sz="2400" baseline="30000" dirty="0" smtClean="0"/>
                  <a:t>[0]</a:t>
                </a:r>
                <a:r>
                  <a:rPr lang="en-US" sz="2400" dirty="0" smtClean="0"/>
                  <a:t> + b</a:t>
                </a:r>
                <a:r>
                  <a:rPr lang="en-US" sz="2400" baseline="30000" dirty="0" smtClean="0"/>
                  <a:t>[1]</a:t>
                </a:r>
                <a:r>
                  <a:rPr lang="en-US" sz="2400" dirty="0" smtClean="0"/>
                  <a:t> ,</a:t>
                </a:r>
              </a:p>
              <a:p>
                <a:r>
                  <a:rPr lang="en-US" sz="2400" dirty="0" smtClean="0"/>
                  <a:t> </a:t>
                </a:r>
                <a:r>
                  <a:rPr lang="en-US" sz="2400" dirty="0"/>
                  <a:t>where </a:t>
                </a:r>
                <a:r>
                  <a:rPr lang="en-US" sz="2400" dirty="0" smtClean="0"/>
                  <a:t>a</a:t>
                </a:r>
                <a:r>
                  <a:rPr lang="en-US" sz="2400" baseline="30000" dirty="0" smtClean="0"/>
                  <a:t>[0]</a:t>
                </a:r>
                <a:r>
                  <a:rPr lang="en-US" sz="2400" dirty="0" smtClean="0"/>
                  <a:t> = x. </a:t>
                </a:r>
              </a:p>
              <a:p>
                <a:r>
                  <a:rPr lang="en-US" sz="2400" dirty="0" smtClean="0"/>
                  <a:t>Then </a:t>
                </a:r>
                <a:r>
                  <a:rPr lang="en-US" sz="2400" dirty="0"/>
                  <a:t>we applied the non-linearity to </a:t>
                </a:r>
                <a:r>
                  <a:rPr lang="en-US" sz="2400" dirty="0" smtClean="0"/>
                  <a:t>get:</a:t>
                </a:r>
              </a:p>
              <a:p>
                <a:r>
                  <a:rPr lang="en-US" sz="2400" dirty="0" smtClean="0"/>
                  <a:t>a</a:t>
                </a:r>
                <a:r>
                  <a:rPr lang="en-US" sz="2400" baseline="30000" dirty="0" smtClean="0"/>
                  <a:t>[1]</a:t>
                </a:r>
                <a:r>
                  <a:rPr lang="en-US" sz="2400" dirty="0" smtClean="0"/>
                  <a:t> =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𝑔</m:t>
                        </m:r>
                      </m:e>
                      <m: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𝑧</m:t>
                            </m:r>
                          </m:e>
                          <m:sup>
                            <m:r>
                              <a:rPr lang="en-US" sz="2400" b="0" i="1" smtClean="0">
                                <a:latin typeface="Cambria Math" panose="02040503050406030204" pitchFamily="18" charset="0"/>
                              </a:rPr>
                              <m:t>[1]</m:t>
                            </m:r>
                          </m:sup>
                        </m:sSup>
                        <m:r>
                          <a:rPr lang="en-US" sz="2400" b="0" i="1" smtClean="0">
                            <a:latin typeface="Cambria Math" panose="02040503050406030204" pitchFamily="18" charset="0"/>
                          </a:rPr>
                          <m:t>)</m:t>
                        </m:r>
                      </m:sup>
                    </m:sSup>
                  </m:oMath>
                </a14:m>
                <a:r>
                  <a:rPr lang="en-US" sz="2400" dirty="0" smtClean="0"/>
                  <a:t> .</a:t>
                </a:r>
              </a:p>
              <a:p>
                <a:r>
                  <a:rPr lang="en-US" sz="2400" dirty="0" smtClean="0"/>
                  <a:t>The </a:t>
                </a:r>
                <a:r>
                  <a:rPr lang="en-US" sz="2400" dirty="0"/>
                  <a:t>same idea we will apply in a layer of the Convolutional Neural Network.</a:t>
                </a:r>
              </a:p>
              <a:p>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546263" y="1140030"/>
                <a:ext cx="11103431" cy="2747355"/>
              </a:xfrm>
              <a:prstGeom prst="rect">
                <a:avLst/>
              </a:prstGeom>
              <a:blipFill>
                <a:blip r:embed="rId4"/>
                <a:stretch>
                  <a:fillRect l="-879" t="-1552"/>
                </a:stretch>
              </a:blipFill>
            </p:spPr>
            <p:txBody>
              <a:bodyPr/>
              <a:lstStyle/>
              <a:p>
                <a:r>
                  <a:rPr lang="en-US">
                    <a:noFill/>
                  </a:rPr>
                  <a:t> </a:t>
                </a:r>
              </a:p>
            </p:txBody>
          </p:sp>
        </mc:Fallback>
      </mc:AlternateContent>
      <p:pic>
        <p:nvPicPr>
          <p:cNvPr id="15362" name="Picture 2" descr="A convolutional lay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1493" y="3567523"/>
            <a:ext cx="8815462" cy="37001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479470" y="6840187"/>
            <a:ext cx="4987636" cy="400110"/>
          </a:xfrm>
          <a:prstGeom prst="rect">
            <a:avLst/>
          </a:prstGeom>
          <a:noFill/>
        </p:spPr>
        <p:txBody>
          <a:bodyPr wrap="square" rtlCol="0">
            <a:spAutoFit/>
          </a:bodyPr>
          <a:lstStyle/>
          <a:p>
            <a:pPr algn="ctr"/>
            <a:r>
              <a:rPr lang="en-US" sz="2000" dirty="0"/>
              <a:t>A convolutional layer</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57</a:t>
            </a:fld>
            <a:endParaRPr lang="en-US"/>
          </a:p>
        </p:txBody>
      </p:sp>
    </p:spTree>
    <p:extLst>
      <p:ext uri="{BB962C8B-B14F-4D97-AF65-F5344CB8AC3E}">
        <p14:creationId xmlns:p14="http://schemas.microsoft.com/office/powerpoint/2010/main" val="25114066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356"/>
        <p:cNvGrpSpPr/>
        <p:nvPr/>
      </p:nvGrpSpPr>
      <p:grpSpPr>
        <a:xfrm>
          <a:off x="0" y="0"/>
          <a:ext cx="0" cy="0"/>
          <a:chOff x="0" y="0"/>
          <a:chExt cx="0" cy="0"/>
        </a:xfrm>
      </p:grpSpPr>
      <p:sp>
        <p:nvSpPr>
          <p:cNvPr id="357" name="Google Shape;357;p23"/>
          <p:cNvSpPr txBox="1">
            <a:spLocks noGrp="1"/>
          </p:cNvSpPr>
          <p:nvPr>
            <p:ph type="title"/>
          </p:nvPr>
        </p:nvSpPr>
        <p:spPr>
          <a:xfrm>
            <a:off x="241595" y="119676"/>
            <a:ext cx="48698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a:latin typeface="+mj-lt"/>
                <a:ea typeface="Cambria"/>
                <a:cs typeface="Cambria"/>
                <a:sym typeface="Cambria"/>
              </a:rPr>
              <a:t>Example of a layer</a:t>
            </a:r>
            <a:endParaRPr sz="4400">
              <a:latin typeface="+mj-lt"/>
              <a:ea typeface="Cambria"/>
              <a:cs typeface="Cambria"/>
              <a:sym typeface="Cambria"/>
            </a:endParaRPr>
          </a:p>
        </p:txBody>
      </p:sp>
      <p:pic>
        <p:nvPicPr>
          <p:cNvPr id="359" name="Google Shape;359;p2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p:cNvSpPr txBox="1"/>
          <p:nvPr/>
        </p:nvSpPr>
        <p:spPr>
          <a:xfrm>
            <a:off x="546263" y="1140030"/>
            <a:ext cx="11103431" cy="4893647"/>
          </a:xfrm>
          <a:prstGeom prst="rect">
            <a:avLst/>
          </a:prstGeom>
          <a:noFill/>
        </p:spPr>
        <p:txBody>
          <a:bodyPr wrap="square" rtlCol="0">
            <a:spAutoFit/>
          </a:bodyPr>
          <a:lstStyle/>
          <a:p>
            <a:r>
              <a:rPr lang="en-US" sz="2400" b="1" dirty="0"/>
              <a:t>C</a:t>
            </a:r>
            <a:r>
              <a:rPr lang="en-US" sz="2400" b="1" dirty="0" smtClean="0"/>
              <a:t>ompare </a:t>
            </a:r>
            <a:r>
              <a:rPr lang="en-US" sz="2400" b="1" dirty="0"/>
              <a:t>terms used in Neural Networks with the one that we use in Convolutional Neural </a:t>
            </a:r>
            <a:r>
              <a:rPr lang="en-US" sz="2400" b="1" dirty="0" smtClean="0"/>
              <a:t>Networks:</a:t>
            </a:r>
            <a:endParaRPr lang="en-US" sz="2400" b="1" dirty="0"/>
          </a:p>
          <a:p>
            <a:r>
              <a:rPr lang="en-US" sz="2400" dirty="0" smtClean="0"/>
              <a:t>In </a:t>
            </a:r>
            <a:r>
              <a:rPr lang="en-US" sz="2400" dirty="0"/>
              <a:t>Convolutional Neural Networks (CNNs), the convolution operation involves linear operations, bias addition, and </a:t>
            </a:r>
            <a:r>
              <a:rPr lang="en-US" sz="2400" dirty="0" err="1"/>
              <a:t>ReLU</a:t>
            </a:r>
            <a:r>
              <a:rPr lang="en-US" sz="2400" dirty="0"/>
              <a:t> activation. For a given 6×6×3 input volume and two filters analogous to </a:t>
            </a:r>
            <a:r>
              <a:rPr lang="en-US" sz="2400" b="1" dirty="0"/>
              <a:t>W</a:t>
            </a:r>
            <a:r>
              <a:rPr lang="en-US" sz="2400" b="1" baseline="30000" dirty="0"/>
              <a:t>[1]</a:t>
            </a:r>
            <a:r>
              <a:rPr lang="en-US" sz="2400" dirty="0"/>
              <a:t>, the computation results in a 4×4×2 output volume. This process includes </a:t>
            </a:r>
            <a:r>
              <a:rPr lang="en-US" sz="2400" dirty="0" smtClean="0"/>
              <a:t>applying:</a:t>
            </a:r>
          </a:p>
          <a:p>
            <a:pPr marL="342900" indent="-342900">
              <a:buFontTx/>
              <a:buChar char="-"/>
            </a:pPr>
            <a:r>
              <a:rPr lang="en-US" sz="2400" dirty="0" smtClean="0"/>
              <a:t>a </a:t>
            </a:r>
            <a:r>
              <a:rPr lang="en-US" sz="2400" dirty="0"/>
              <a:t>linear </a:t>
            </a:r>
            <a:r>
              <a:rPr lang="en-US" sz="2400" dirty="0" smtClean="0"/>
              <a:t>operation</a:t>
            </a:r>
          </a:p>
          <a:p>
            <a:pPr marL="342900" indent="-342900">
              <a:buFontTx/>
              <a:buChar char="-"/>
            </a:pPr>
            <a:r>
              <a:rPr lang="en-US" sz="2400" dirty="0" smtClean="0"/>
              <a:t>adding biases</a:t>
            </a:r>
          </a:p>
          <a:p>
            <a:pPr marL="342900" indent="-342900">
              <a:buFontTx/>
              <a:buChar char="-"/>
            </a:pPr>
            <a:r>
              <a:rPr lang="en-US" sz="2400" dirty="0" smtClean="0"/>
              <a:t>applying </a:t>
            </a:r>
            <a:r>
              <a:rPr lang="en-US" sz="2400" dirty="0" err="1"/>
              <a:t>ReLU</a:t>
            </a:r>
            <a:r>
              <a:rPr lang="en-US" sz="2400" dirty="0"/>
              <a:t> activation. </a:t>
            </a:r>
            <a:endParaRPr lang="en-US" sz="2400" dirty="0" smtClean="0"/>
          </a:p>
          <a:p>
            <a:r>
              <a:rPr lang="en-US" sz="2400" dirty="0" smtClean="0"/>
              <a:t>The </a:t>
            </a:r>
            <a:r>
              <a:rPr lang="en-US" sz="2400" dirty="0"/>
              <a:t>transition from </a:t>
            </a:r>
            <a:r>
              <a:rPr lang="en-US" sz="2400" b="1" dirty="0" smtClean="0"/>
              <a:t>a</a:t>
            </a:r>
            <a:r>
              <a:rPr lang="en-US" sz="2400" b="1" baseline="30000" dirty="0" smtClean="0"/>
              <a:t>[0]</a:t>
            </a:r>
            <a:r>
              <a:rPr lang="en-US" sz="2400" i="1" baseline="30000" dirty="0" smtClean="0"/>
              <a:t> </a:t>
            </a:r>
            <a:r>
              <a:rPr lang="en-US" sz="2400" i="1" dirty="0" smtClean="0"/>
              <a:t> </a:t>
            </a:r>
            <a:r>
              <a:rPr lang="en-US" sz="2400" dirty="0" smtClean="0"/>
              <a:t>to </a:t>
            </a:r>
            <a:r>
              <a:rPr lang="en-US" sz="2400" b="1" dirty="0" smtClean="0"/>
              <a:t>a</a:t>
            </a:r>
            <a:r>
              <a:rPr lang="en-US" sz="2400" b="1" baseline="30000" dirty="0" smtClean="0"/>
              <a:t>[1]</a:t>
            </a:r>
            <a:r>
              <a:rPr lang="en-US" sz="2400" i="1" dirty="0" smtClean="0"/>
              <a:t> </a:t>
            </a:r>
            <a:r>
              <a:rPr lang="en-US" sz="2400" dirty="0" smtClean="0"/>
              <a:t>represents </a:t>
            </a:r>
            <a:r>
              <a:rPr lang="en-US" sz="2400" dirty="0"/>
              <a:t>the transformation from a 6×6×3 input to a 4×4×2 output in one layer of the convolutional network. </a:t>
            </a:r>
          </a:p>
          <a:p>
            <a:r>
              <a:rPr lang="en-US" sz="2400" b="1" dirty="0"/>
              <a:t>Each filter contributes to the </a:t>
            </a:r>
            <a:r>
              <a:rPr lang="en-US" sz="2400" b="1" dirty="0" smtClean="0"/>
              <a:t>output</a:t>
            </a:r>
            <a:r>
              <a:rPr lang="en-US" sz="2400" dirty="0"/>
              <a:t>. If we had </a:t>
            </a:r>
            <a:r>
              <a:rPr lang="en-US" sz="2400" dirty="0" smtClean="0"/>
              <a:t>10 </a:t>
            </a:r>
            <a:r>
              <a:rPr lang="en-US" sz="2400" dirty="0"/>
              <a:t>filters instead of 2</a:t>
            </a:r>
            <a:r>
              <a:rPr lang="en-US" sz="2400" dirty="0" smtClean="0"/>
              <a:t>, </a:t>
            </a:r>
            <a:r>
              <a:rPr lang="en-US" sz="2400" dirty="0"/>
              <a:t>the output becomes a </a:t>
            </a:r>
            <a:r>
              <a:rPr lang="en-US" sz="2400" dirty="0" smtClean="0"/>
              <a:t>4×4×10 </a:t>
            </a:r>
            <a:r>
              <a:rPr lang="en-US" sz="2400" dirty="0"/>
              <a:t>dimensional volume, representing </a:t>
            </a:r>
            <a:r>
              <a:rPr lang="en-US" sz="2400" dirty="0" smtClean="0"/>
              <a:t>a</a:t>
            </a:r>
            <a:r>
              <a:rPr lang="en-US" sz="2400" baseline="30000" dirty="0" smtClean="0"/>
              <a:t>[1]</a:t>
            </a:r>
            <a:endParaRPr lang="en-US"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a:p>
        </p:txBody>
      </p:sp>
    </p:spTree>
    <p:extLst>
      <p:ext uri="{BB962C8B-B14F-4D97-AF65-F5344CB8AC3E}">
        <p14:creationId xmlns:p14="http://schemas.microsoft.com/office/powerpoint/2010/main" val="37831649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363"/>
        <p:cNvGrpSpPr/>
        <p:nvPr/>
      </p:nvGrpSpPr>
      <p:grpSpPr>
        <a:xfrm>
          <a:off x="0" y="0"/>
          <a:ext cx="0" cy="0"/>
          <a:chOff x="0" y="0"/>
          <a:chExt cx="0" cy="0"/>
        </a:xfrm>
      </p:grpSpPr>
      <p:sp>
        <p:nvSpPr>
          <p:cNvPr id="364" name="Google Shape;364;p24"/>
          <p:cNvSpPr txBox="1"/>
          <p:nvPr/>
        </p:nvSpPr>
        <p:spPr>
          <a:xfrm>
            <a:off x="261620" y="139700"/>
            <a:ext cx="910145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mj-lt"/>
                <a:ea typeface="Cambria"/>
                <a:cs typeface="Cambria"/>
                <a:sym typeface="Cambria"/>
              </a:rPr>
              <a:t>Number of parameters in one layer</a:t>
            </a:r>
            <a:endParaRPr sz="4400" dirty="0">
              <a:latin typeface="+mj-lt"/>
              <a:ea typeface="Cambria"/>
              <a:cs typeface="Cambria"/>
              <a:sym typeface="Cambria"/>
            </a:endParaRPr>
          </a:p>
        </p:txBody>
      </p:sp>
      <p:sp>
        <p:nvSpPr>
          <p:cNvPr id="365" name="Google Shape;365;p24"/>
          <p:cNvSpPr txBox="1"/>
          <p:nvPr/>
        </p:nvSpPr>
        <p:spPr>
          <a:xfrm>
            <a:off x="425477" y="1817079"/>
            <a:ext cx="11303875" cy="874598"/>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2800" dirty="0">
                <a:latin typeface="+mj-lt"/>
                <a:ea typeface="Cambria"/>
                <a:cs typeface="Cambria"/>
                <a:sym typeface="Cambria"/>
              </a:rPr>
              <a:t>If you have 10 filters that are 3 x 3 x 3 in one layer of a neural network, how many parameters does </a:t>
            </a:r>
            <a:r>
              <a:rPr lang="en-US" sz="2800" dirty="0" smtClean="0">
                <a:latin typeface="+mj-lt"/>
                <a:ea typeface="Cambria"/>
                <a:cs typeface="Cambria"/>
                <a:sym typeface="Cambria"/>
              </a:rPr>
              <a:t>this </a:t>
            </a:r>
            <a:r>
              <a:rPr lang="en-US" sz="2800" dirty="0">
                <a:latin typeface="+mj-lt"/>
                <a:ea typeface="Cambria"/>
                <a:cs typeface="Cambria"/>
                <a:sym typeface="Cambria"/>
              </a:rPr>
              <a:t>layer have?</a:t>
            </a:r>
            <a:endParaRPr sz="2800" dirty="0">
              <a:latin typeface="+mj-lt"/>
              <a:ea typeface="Cambria"/>
              <a:cs typeface="Cambria"/>
              <a:sym typeface="Cambria"/>
            </a:endParaRPr>
          </a:p>
        </p:txBody>
      </p:sp>
      <p:pic>
        <p:nvPicPr>
          <p:cNvPr id="369" name="Google Shape;369;p24"/>
          <p:cNvPicPr preferRelativeResize="0"/>
          <p:nvPr/>
        </p:nvPicPr>
        <p:blipFill>
          <a:blip r:embed="rId3">
            <a:alphaModFix/>
          </a:blip>
          <a:stretch>
            <a:fillRect/>
          </a:stretch>
        </p:blipFill>
        <p:spPr>
          <a:xfrm>
            <a:off x="10734473" y="0"/>
            <a:ext cx="1448025" cy="796414"/>
          </a:xfrm>
          <a:prstGeom prst="rect">
            <a:avLst/>
          </a:prstGeom>
          <a:noFill/>
          <a:ln>
            <a:noFill/>
          </a:ln>
        </p:spPr>
      </p:pic>
      <p:pic>
        <p:nvPicPr>
          <p:cNvPr id="14338" name="Picture 2" descr="Number of parameters in one convolutional layer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3037" y="3122996"/>
            <a:ext cx="8372475" cy="33909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Shape 363"/>
        <p:cNvGrpSpPr/>
        <p:nvPr/>
      </p:nvGrpSpPr>
      <p:grpSpPr>
        <a:xfrm>
          <a:off x="0" y="0"/>
          <a:ext cx="0" cy="0"/>
          <a:chOff x="0" y="0"/>
          <a:chExt cx="0" cy="0"/>
        </a:xfrm>
      </p:grpSpPr>
      <p:sp>
        <p:nvSpPr>
          <p:cNvPr id="364" name="Google Shape;364;p24"/>
          <p:cNvSpPr txBox="1"/>
          <p:nvPr/>
        </p:nvSpPr>
        <p:spPr>
          <a:xfrm>
            <a:off x="261620" y="139700"/>
            <a:ext cx="910145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smtClean="0">
                <a:latin typeface="+mj-lt"/>
                <a:ea typeface="Cambria"/>
                <a:cs typeface="Cambria"/>
                <a:sym typeface="Cambria"/>
              </a:rPr>
              <a:t>Notation</a:t>
            </a:r>
            <a:endParaRPr sz="4400" dirty="0">
              <a:latin typeface="+mj-lt"/>
              <a:ea typeface="Cambria"/>
              <a:cs typeface="Cambria"/>
              <a:sym typeface="Cambria"/>
            </a:endParaRPr>
          </a:p>
        </p:txBody>
      </p:sp>
      <p:pic>
        <p:nvPicPr>
          <p:cNvPr id="369" name="Google Shape;369;p24"/>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60</a:t>
            </a:fld>
            <a:endParaRPr lang="en-US"/>
          </a:p>
        </p:txBody>
      </p:sp>
      <p:pic>
        <p:nvPicPr>
          <p:cNvPr id="3" name="Picture 2"/>
          <p:cNvPicPr>
            <a:picLocks noChangeAspect="1"/>
          </p:cNvPicPr>
          <p:nvPr/>
        </p:nvPicPr>
        <p:blipFill>
          <a:blip r:embed="rId4"/>
          <a:stretch>
            <a:fillRect/>
          </a:stretch>
        </p:blipFill>
        <p:spPr>
          <a:xfrm>
            <a:off x="1253588" y="882568"/>
            <a:ext cx="9480885" cy="6585372"/>
          </a:xfrm>
          <a:prstGeom prst="rect">
            <a:avLst/>
          </a:prstGeom>
        </p:spPr>
      </p:pic>
    </p:spTree>
    <p:extLst>
      <p:ext uri="{BB962C8B-B14F-4D97-AF65-F5344CB8AC3E}">
        <p14:creationId xmlns:p14="http://schemas.microsoft.com/office/powerpoint/2010/main" val="18442753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Shape 380"/>
        <p:cNvGrpSpPr/>
        <p:nvPr/>
      </p:nvGrpSpPr>
      <p:grpSpPr>
        <a:xfrm>
          <a:off x="0" y="0"/>
          <a:ext cx="0" cy="0"/>
          <a:chOff x="0" y="0"/>
          <a:chExt cx="0" cy="0"/>
        </a:xfrm>
      </p:grpSpPr>
      <p:sp>
        <p:nvSpPr>
          <p:cNvPr id="381" name="Google Shape;381;p26"/>
          <p:cNvSpPr txBox="1">
            <a:spLocks noGrp="1"/>
          </p:cNvSpPr>
          <p:nvPr>
            <p:ph type="title"/>
          </p:nvPr>
        </p:nvSpPr>
        <p:spPr>
          <a:xfrm>
            <a:off x="105916" y="202820"/>
            <a:ext cx="11668759" cy="3257054"/>
          </a:xfrm>
          <a:prstGeom prst="rect">
            <a:avLst/>
          </a:prstGeom>
          <a:noFill/>
          <a:ln>
            <a:noFill/>
          </a:ln>
        </p:spPr>
        <p:txBody>
          <a:bodyPr spcFirstLastPara="1" wrap="square" lIns="0" tIns="1250450" rIns="0" bIns="0" anchor="t" anchorCtr="0">
            <a:spAutoFit/>
          </a:bodyPr>
          <a:lstStyle/>
          <a:p>
            <a:pPr marL="5466715" marR="5080" lvl="0" indent="454658" algn="l" rtl="0">
              <a:lnSpc>
                <a:spcPct val="108333"/>
              </a:lnSpc>
              <a:spcBef>
                <a:spcPts val="0"/>
              </a:spcBef>
              <a:spcAft>
                <a:spcPts val="0"/>
              </a:spcAft>
              <a:buNone/>
            </a:pPr>
            <a:r>
              <a:rPr lang="en-US" dirty="0">
                <a:latin typeface="+mj-lt"/>
              </a:rPr>
              <a:t>Convolutional Neural Networks</a:t>
            </a:r>
            <a:endParaRPr dirty="0">
              <a:latin typeface="+mj-lt"/>
            </a:endParaRPr>
          </a:p>
        </p:txBody>
      </p:sp>
      <p:sp>
        <p:nvSpPr>
          <p:cNvPr id="382" name="Google Shape;382;p26"/>
          <p:cNvSpPr txBox="1"/>
          <p:nvPr/>
        </p:nvSpPr>
        <p:spPr>
          <a:xfrm>
            <a:off x="5079960" y="3704893"/>
            <a:ext cx="6421580" cy="2022590"/>
          </a:xfrm>
          <a:prstGeom prst="rect">
            <a:avLst/>
          </a:prstGeom>
          <a:noFill/>
          <a:ln>
            <a:noFill/>
          </a:ln>
        </p:spPr>
        <p:txBody>
          <a:bodyPr spcFirstLastPara="1" wrap="square" lIns="0" tIns="27925" rIns="0" bIns="0" anchor="t" anchorCtr="0">
            <a:spAutoFit/>
          </a:bodyPr>
          <a:lstStyle/>
          <a:p>
            <a:pPr marL="619125" marR="5080" lvl="0" indent="-607060" algn="l" rtl="0">
              <a:lnSpc>
                <a:spcPct val="119696"/>
              </a:lnSpc>
              <a:spcBef>
                <a:spcPts val="0"/>
              </a:spcBef>
              <a:spcAft>
                <a:spcPts val="0"/>
              </a:spcAft>
              <a:buNone/>
            </a:pPr>
            <a:r>
              <a:rPr lang="en-US" sz="5400" dirty="0">
                <a:latin typeface="+mj-lt"/>
                <a:ea typeface="Calibri"/>
                <a:cs typeface="Calibri"/>
                <a:sym typeface="Calibri"/>
              </a:rPr>
              <a:t>A simple convolution network example</a:t>
            </a:r>
            <a:endParaRPr sz="5400" dirty="0">
              <a:latin typeface="+mj-lt"/>
              <a:ea typeface="Calibri"/>
              <a:cs typeface="Calibri"/>
              <a:sym typeface="Calibri"/>
            </a:endParaRPr>
          </a:p>
        </p:txBody>
      </p:sp>
      <p:sp>
        <p:nvSpPr>
          <p:cNvPr id="383" name="Google Shape;383;p26"/>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84" name="Google Shape;384;p26"/>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9651307" cy="825354"/>
          </a:xfrm>
          <a:prstGeom prst="rect">
            <a:avLst/>
          </a:prstGeom>
          <a:noFill/>
          <a:ln>
            <a:noFill/>
          </a:ln>
        </p:spPr>
        <p:txBody>
          <a:bodyPr spcFirstLastPara="1" wrap="square" lIns="0" tIns="12700" rIns="0" bIns="0" anchor="t" anchorCtr="0">
            <a:spAutoFit/>
          </a:bodyPr>
          <a:lstStyle/>
          <a:p>
            <a:pPr marL="619125" marR="5080" lvl="0" indent="-607060" algn="l" rtl="0">
              <a:lnSpc>
                <a:spcPct val="119696"/>
              </a:lnSpc>
              <a:spcBef>
                <a:spcPts val="0"/>
              </a:spcBef>
              <a:spcAft>
                <a:spcPts val="0"/>
              </a:spcAft>
              <a:buNone/>
            </a:pPr>
            <a:r>
              <a:rPr lang="en-US" sz="4400" dirty="0">
                <a:latin typeface="+mj-lt"/>
                <a:ea typeface="Calibri"/>
                <a:cs typeface="Calibri"/>
                <a:sym typeface="Calibri"/>
              </a:rPr>
              <a:t>A simple convolution network example</a:t>
            </a: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007918"/>
            <a:ext cx="11677535" cy="4893647"/>
          </a:xfrm>
          <a:prstGeom prst="rect">
            <a:avLst/>
          </a:prstGeom>
          <a:noFill/>
        </p:spPr>
        <p:txBody>
          <a:bodyPr wrap="square" rtlCol="0">
            <a:spAutoFit/>
          </a:bodyPr>
          <a:lstStyle/>
          <a:p>
            <a:pPr marL="285750" indent="-285750">
              <a:buFont typeface="Arial" panose="020B0604020202020204" pitchFamily="34" charset="0"/>
              <a:buChar char="•"/>
            </a:pPr>
            <a:r>
              <a:rPr lang="en-GB" sz="2400" dirty="0"/>
              <a:t>Consider a concrete example of building a convolutional neural network (</a:t>
            </a:r>
            <a:r>
              <a:rPr lang="en-GB" sz="2400" dirty="0" err="1"/>
              <a:t>ConvNet</a:t>
            </a:r>
            <a:r>
              <a:rPr lang="en-GB" sz="2400" dirty="0"/>
              <a:t>) for image classification or recognition. The example uses a small image of size 39 x 39 x 3, where 3 represents the number of channels in the image (RGB</a:t>
            </a:r>
            <a:r>
              <a:rPr lang="en-GB" sz="2400" dirty="0" smtClean="0"/>
              <a:t>).</a:t>
            </a:r>
            <a:endParaRPr lang="en-GB" sz="2400" dirty="0"/>
          </a:p>
          <a:p>
            <a:r>
              <a:rPr lang="en-GB" sz="2400" dirty="0"/>
              <a:t>	- </a:t>
            </a:r>
            <a:r>
              <a:rPr lang="en-GB" sz="2400" dirty="0" smtClean="0"/>
              <a:t>The </a:t>
            </a:r>
            <a:r>
              <a:rPr lang="en-GB" sz="2400" dirty="0"/>
              <a:t>first layer </a:t>
            </a:r>
            <a:r>
              <a:rPr lang="en-GB" sz="2400" dirty="0" smtClean="0"/>
              <a:t>uses </a:t>
            </a:r>
            <a:r>
              <a:rPr lang="en-GB" sz="2400" dirty="0"/>
              <a:t>3 </a:t>
            </a:r>
            <a:r>
              <a:rPr lang="en-GB" sz="2400" dirty="0" smtClean="0"/>
              <a:t>x 3 </a:t>
            </a:r>
            <a:r>
              <a:rPr lang="en-GB" sz="2400" dirty="0"/>
              <a:t>filters with a stride of 1 and no </a:t>
            </a:r>
            <a:r>
              <a:rPr lang="en-GB" sz="2400" dirty="0" smtClean="0"/>
              <a:t>padding</a:t>
            </a:r>
            <a:r>
              <a:rPr lang="en-GB" sz="2400" dirty="0"/>
              <a:t>, and 10 </a:t>
            </a:r>
            <a:r>
              <a:rPr lang="en-GB" sz="2400" dirty="0" smtClean="0"/>
              <a:t>	filters </a:t>
            </a:r>
            <a:r>
              <a:rPr lang="en-GB" sz="2400" dirty="0"/>
              <a:t>are used in this layer. Using this configuration, the </a:t>
            </a:r>
            <a:r>
              <a:rPr lang="en-GB" sz="2400" dirty="0" smtClean="0"/>
              <a:t>output </a:t>
            </a:r>
            <a:r>
              <a:rPr lang="en-GB" sz="2400" dirty="0"/>
              <a:t>size of this </a:t>
            </a:r>
            <a:r>
              <a:rPr lang="en-GB" sz="2400" dirty="0" smtClean="0"/>
              <a:t>	layer </a:t>
            </a:r>
            <a:r>
              <a:rPr lang="en-GB" sz="2400" dirty="0"/>
              <a:t>becomes 37 x 37 x 10.</a:t>
            </a:r>
          </a:p>
          <a:p>
            <a:r>
              <a:rPr lang="en-GB" sz="2400" dirty="0"/>
              <a:t>	- The second layer uses 5 </a:t>
            </a:r>
            <a:r>
              <a:rPr lang="en-GB" sz="2400" dirty="0" smtClean="0"/>
              <a:t>x 5 </a:t>
            </a:r>
            <a:r>
              <a:rPr lang="en-GB" sz="2400" dirty="0"/>
              <a:t>filters with a stride of 2 and no padding, and 20 	filters are used in this layer. The output size of this layer becomes 17 x 17 x 	20.</a:t>
            </a:r>
          </a:p>
          <a:p>
            <a:r>
              <a:rPr lang="en-GB" sz="2400" dirty="0"/>
              <a:t>	- The third and final layer uses </a:t>
            </a:r>
            <a:r>
              <a:rPr lang="en-GB" sz="2400" dirty="0" smtClean="0"/>
              <a:t>5 x </a:t>
            </a:r>
            <a:r>
              <a:rPr lang="en-GB" sz="2400" dirty="0"/>
              <a:t>5 filters with a stride of 2 and no padding, 	and 40 filters are used in this layer. The output size of this layer becomes 7 x 	7 x 40. </a:t>
            </a:r>
            <a:r>
              <a:rPr lang="en-GB" sz="2400" dirty="0" smtClean="0"/>
              <a:t>The </a:t>
            </a:r>
            <a:r>
              <a:rPr lang="en-GB" sz="2400" dirty="0"/>
              <a:t>output of this layer is flattened into a vector of size 1,960 </a:t>
            </a:r>
            <a:r>
              <a:rPr lang="en-GB" sz="2400" dirty="0" smtClean="0"/>
              <a:t>and fed 	into </a:t>
            </a:r>
            <a:r>
              <a:rPr lang="en-GB" sz="2400" dirty="0"/>
              <a:t>a logistic regression unit or </a:t>
            </a:r>
            <a:r>
              <a:rPr lang="en-GB" sz="2400" dirty="0" err="1"/>
              <a:t>softmax</a:t>
            </a:r>
            <a:r>
              <a:rPr lang="en-GB" sz="2400" dirty="0"/>
              <a:t> unit for the final prediction.</a:t>
            </a:r>
            <a:endParaRPr lang="en-US"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62</a:t>
            </a:fld>
            <a:endParaRPr lang="en-US"/>
          </a:p>
        </p:txBody>
      </p:sp>
    </p:spTree>
    <p:extLst>
      <p:ext uri="{BB962C8B-B14F-4D97-AF65-F5344CB8AC3E}">
        <p14:creationId xmlns:p14="http://schemas.microsoft.com/office/powerpoint/2010/main" val="162827402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Shape 388"/>
        <p:cNvGrpSpPr/>
        <p:nvPr/>
      </p:nvGrpSpPr>
      <p:grpSpPr>
        <a:xfrm>
          <a:off x="0" y="0"/>
          <a:ext cx="0" cy="0"/>
          <a:chOff x="0" y="0"/>
          <a:chExt cx="0" cy="0"/>
        </a:xfrm>
      </p:grpSpPr>
      <p:sp>
        <p:nvSpPr>
          <p:cNvPr id="389" name="Google Shape;389;p27"/>
          <p:cNvSpPr txBox="1">
            <a:spLocks noGrp="1"/>
          </p:cNvSpPr>
          <p:nvPr>
            <p:ph type="title"/>
          </p:nvPr>
        </p:nvSpPr>
        <p:spPr>
          <a:xfrm>
            <a:off x="261620" y="139700"/>
            <a:ext cx="5450922"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smtClean="0">
                <a:latin typeface="+mj-lt"/>
                <a:ea typeface="Cambria"/>
                <a:cs typeface="Cambria"/>
                <a:sym typeface="Cambria"/>
              </a:rPr>
              <a:t>Example of </a:t>
            </a:r>
            <a:r>
              <a:rPr lang="en-US" sz="4400" b="0" dirty="0" err="1">
                <a:latin typeface="+mj-lt"/>
                <a:ea typeface="Cambria"/>
                <a:cs typeface="Cambria"/>
                <a:sym typeface="Cambria"/>
              </a:rPr>
              <a:t>ConvNet</a:t>
            </a:r>
            <a:endParaRPr sz="4400" dirty="0">
              <a:latin typeface="+mj-lt"/>
              <a:ea typeface="Cambria"/>
              <a:cs typeface="Cambria"/>
              <a:sym typeface="Cambria"/>
            </a:endParaRPr>
          </a:p>
        </p:txBody>
      </p:sp>
      <p:pic>
        <p:nvPicPr>
          <p:cNvPr id="391" name="Google Shape;391;p27"/>
          <p:cNvPicPr preferRelativeResize="0"/>
          <p:nvPr/>
        </p:nvPicPr>
        <p:blipFill>
          <a:blip r:embed="rId3">
            <a:alphaModFix/>
          </a:blip>
          <a:stretch>
            <a:fillRect/>
          </a:stretch>
        </p:blipFill>
        <p:spPr>
          <a:xfrm>
            <a:off x="10734473" y="0"/>
            <a:ext cx="1448025" cy="796414"/>
          </a:xfrm>
          <a:prstGeom prst="rect">
            <a:avLst/>
          </a:prstGeom>
          <a:noFill/>
          <a:ln>
            <a:noFill/>
          </a:ln>
        </p:spPr>
      </p:pic>
      <p:pic>
        <p:nvPicPr>
          <p:cNvPr id="17" name="Picture 16"/>
          <p:cNvPicPr>
            <a:picLocks noChangeAspect="1"/>
          </p:cNvPicPr>
          <p:nvPr/>
        </p:nvPicPr>
        <p:blipFill>
          <a:blip r:embed="rId4"/>
          <a:stretch>
            <a:fillRect/>
          </a:stretch>
        </p:blipFill>
        <p:spPr>
          <a:xfrm>
            <a:off x="1494502" y="1362382"/>
            <a:ext cx="8575438" cy="3081798"/>
          </a:xfrm>
          <a:prstGeom prst="rect">
            <a:avLst/>
          </a:prstGeom>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63</a:t>
            </a:fld>
            <a:endParaRPr lang="en-US"/>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Shape 395"/>
        <p:cNvGrpSpPr/>
        <p:nvPr/>
      </p:nvGrpSpPr>
      <p:grpSpPr>
        <a:xfrm>
          <a:off x="0" y="0"/>
          <a:ext cx="0" cy="0"/>
          <a:chOff x="0" y="0"/>
          <a:chExt cx="0" cy="0"/>
        </a:xfrm>
      </p:grpSpPr>
      <p:sp>
        <p:nvSpPr>
          <p:cNvPr id="396" name="Google Shape;396;p28"/>
          <p:cNvSpPr txBox="1">
            <a:spLocks noGrp="1"/>
          </p:cNvSpPr>
          <p:nvPr>
            <p:ph type="title"/>
          </p:nvPr>
        </p:nvSpPr>
        <p:spPr>
          <a:xfrm>
            <a:off x="261618" y="139700"/>
            <a:ext cx="108515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Types of layer in a convolutional network:</a:t>
            </a:r>
            <a:endParaRPr sz="4400" dirty="0">
              <a:latin typeface="+mj-lt"/>
              <a:ea typeface="Cambria"/>
              <a:cs typeface="Cambria"/>
              <a:sym typeface="Cambria"/>
            </a:endParaRPr>
          </a:p>
        </p:txBody>
      </p:sp>
      <p:sp>
        <p:nvSpPr>
          <p:cNvPr id="397" name="Google Shape;397;p28"/>
          <p:cNvSpPr txBox="1"/>
          <p:nvPr/>
        </p:nvSpPr>
        <p:spPr>
          <a:xfrm>
            <a:off x="928371" y="1528762"/>
            <a:ext cx="3642360" cy="2379345"/>
          </a:xfrm>
          <a:prstGeom prst="rect">
            <a:avLst/>
          </a:prstGeom>
          <a:noFill/>
          <a:ln>
            <a:noFill/>
          </a:ln>
        </p:spPr>
        <p:txBody>
          <a:bodyPr spcFirstLastPara="1" wrap="square" lIns="0" tIns="12700" rIns="0" bIns="0" anchor="t" anchorCtr="0">
            <a:spAutoFit/>
          </a:bodyPr>
          <a:lstStyle/>
          <a:p>
            <a:pPr marL="291465" lvl="0" indent="-279400" algn="l" rtl="0">
              <a:lnSpc>
                <a:spcPct val="100000"/>
              </a:lnSpc>
              <a:spcBef>
                <a:spcPts val="0"/>
              </a:spcBef>
              <a:spcAft>
                <a:spcPts val="0"/>
              </a:spcAft>
              <a:buSzPts val="3600"/>
              <a:buFont typeface="Cambria"/>
              <a:buChar char="-"/>
            </a:pPr>
            <a:r>
              <a:rPr lang="en-US" sz="3600">
                <a:latin typeface="+mj-lt"/>
                <a:ea typeface="Cambria"/>
                <a:cs typeface="Cambria"/>
                <a:sym typeface="Cambria"/>
              </a:rPr>
              <a:t>Convolution</a:t>
            </a:r>
            <a:endParaRPr sz="3600">
              <a:latin typeface="+mj-lt"/>
              <a:ea typeface="Cambria"/>
              <a:cs typeface="Cambria"/>
              <a:sym typeface="Cambria"/>
            </a:endParaRPr>
          </a:p>
          <a:p>
            <a:pPr marL="291465" lvl="0" indent="-279400" algn="l" rtl="0">
              <a:lnSpc>
                <a:spcPct val="100000"/>
              </a:lnSpc>
              <a:spcBef>
                <a:spcPts val="2785"/>
              </a:spcBef>
              <a:spcAft>
                <a:spcPts val="0"/>
              </a:spcAft>
              <a:buSzPts val="3600"/>
              <a:buFont typeface="Cambria"/>
              <a:buChar char="-"/>
            </a:pPr>
            <a:r>
              <a:rPr lang="en-US" sz="3600">
                <a:latin typeface="+mj-lt"/>
                <a:ea typeface="Cambria"/>
                <a:cs typeface="Cambria"/>
                <a:sym typeface="Cambria"/>
              </a:rPr>
              <a:t>Pooling</a:t>
            </a:r>
            <a:endParaRPr sz="3600">
              <a:latin typeface="+mj-lt"/>
              <a:ea typeface="Cambria"/>
              <a:cs typeface="Cambria"/>
              <a:sym typeface="Cambria"/>
            </a:endParaRPr>
          </a:p>
          <a:p>
            <a:pPr marL="291465" lvl="0" indent="-279400" algn="l" rtl="0">
              <a:lnSpc>
                <a:spcPct val="100000"/>
              </a:lnSpc>
              <a:spcBef>
                <a:spcPts val="2785"/>
              </a:spcBef>
              <a:spcAft>
                <a:spcPts val="0"/>
              </a:spcAft>
              <a:buSzPts val="3600"/>
              <a:buFont typeface="Cambria"/>
              <a:buChar char="-"/>
            </a:pPr>
            <a:r>
              <a:rPr lang="en-US" sz="3600">
                <a:latin typeface="+mj-lt"/>
                <a:ea typeface="Cambria"/>
                <a:cs typeface="Cambria"/>
                <a:sym typeface="Cambria"/>
              </a:rPr>
              <a:t>Fully connected</a:t>
            </a:r>
            <a:endParaRPr sz="3600">
              <a:latin typeface="+mj-lt"/>
              <a:ea typeface="Cambria"/>
              <a:cs typeface="Cambria"/>
              <a:sym typeface="Cambria"/>
            </a:endParaRPr>
          </a:p>
        </p:txBody>
      </p:sp>
      <p:pic>
        <p:nvPicPr>
          <p:cNvPr id="398" name="Google Shape;398;p28"/>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64</a:t>
            </a:fld>
            <a:endParaRPr 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Shape 402"/>
        <p:cNvGrpSpPr/>
        <p:nvPr/>
      </p:nvGrpSpPr>
      <p:grpSpPr>
        <a:xfrm>
          <a:off x="0" y="0"/>
          <a:ext cx="0" cy="0"/>
          <a:chOff x="0" y="0"/>
          <a:chExt cx="0" cy="0"/>
        </a:xfrm>
      </p:grpSpPr>
      <p:sp>
        <p:nvSpPr>
          <p:cNvPr id="403" name="Google Shape;403;p29"/>
          <p:cNvSpPr txBox="1">
            <a:spLocks noGrp="1"/>
          </p:cNvSpPr>
          <p:nvPr>
            <p:ph type="body" idx="1"/>
          </p:nvPr>
        </p:nvSpPr>
        <p:spPr>
          <a:xfrm>
            <a:off x="159328" y="291464"/>
            <a:ext cx="12106298" cy="3138936"/>
          </a:xfrm>
          <a:prstGeom prst="rect">
            <a:avLst/>
          </a:prstGeom>
          <a:noFill/>
          <a:ln>
            <a:noFill/>
          </a:ln>
        </p:spPr>
        <p:txBody>
          <a:bodyPr spcFirstLastPara="1" wrap="square" lIns="0" tIns="1133475" rIns="0" bIns="0" anchor="t" anchorCtr="0">
            <a:spAutoFit/>
          </a:bodyPr>
          <a:lstStyle/>
          <a:p>
            <a:pPr marL="5466715" marR="5080" lvl="0" indent="454658" algn="l" rtl="0">
              <a:lnSpc>
                <a:spcPct val="108333"/>
              </a:lnSpc>
              <a:spcBef>
                <a:spcPts val="0"/>
              </a:spcBef>
              <a:spcAft>
                <a:spcPts val="0"/>
              </a:spcAft>
              <a:buNone/>
            </a:pPr>
            <a:r>
              <a:rPr lang="en-US" dirty="0">
                <a:latin typeface="+mj-lt"/>
              </a:rPr>
              <a:t>Convolutional Neural Networks</a:t>
            </a:r>
            <a:endParaRPr dirty="0">
              <a:latin typeface="+mj-lt"/>
            </a:endParaRPr>
          </a:p>
        </p:txBody>
      </p:sp>
      <p:sp>
        <p:nvSpPr>
          <p:cNvPr id="404" name="Google Shape;404;p29"/>
          <p:cNvSpPr txBox="1"/>
          <p:nvPr/>
        </p:nvSpPr>
        <p:spPr>
          <a:xfrm>
            <a:off x="6075754" y="3886200"/>
            <a:ext cx="4429991" cy="84382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5400" dirty="0">
                <a:latin typeface="+mj-lt"/>
                <a:ea typeface="Calibri"/>
                <a:cs typeface="Calibri"/>
                <a:sym typeface="Calibri"/>
              </a:rPr>
              <a:t>Pooling layers</a:t>
            </a:r>
            <a:endParaRPr sz="5400" dirty="0">
              <a:latin typeface="+mj-lt"/>
              <a:ea typeface="Calibri"/>
              <a:cs typeface="Calibri"/>
              <a:sym typeface="Calibri"/>
            </a:endParaRPr>
          </a:p>
        </p:txBody>
      </p:sp>
      <p:sp>
        <p:nvSpPr>
          <p:cNvPr id="405" name="Google Shape;405;p29"/>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406" name="Google Shape;406;p29"/>
          <p:cNvPicPr preferRelativeResize="0"/>
          <p:nvPr/>
        </p:nvPicPr>
        <p:blipFill>
          <a:blip r:embed="rId3">
            <a:alphaModFix/>
          </a:blip>
          <a:stretch>
            <a:fillRect/>
          </a:stretch>
        </p:blipFill>
        <p:spPr>
          <a:xfrm>
            <a:off x="417325" y="2395175"/>
            <a:ext cx="3871626" cy="2129399"/>
          </a:xfrm>
          <a:prstGeom prst="rect">
            <a:avLst/>
          </a:prstGeom>
          <a:noFill/>
          <a:ln>
            <a:noFill/>
          </a:ln>
        </p:spPr>
      </p:pic>
      <p:pic>
        <p:nvPicPr>
          <p:cNvPr id="407" name="Google Shape;407;p29"/>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65</a:t>
            </a:fld>
            <a:endParaRPr lang="en-US"/>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928762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mj-lt"/>
                <a:ea typeface="Calibri"/>
                <a:cs typeface="Calibri"/>
                <a:sym typeface="Calibri"/>
              </a:rPr>
              <a:t>Pooling layers</a:t>
            </a: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190798"/>
            <a:ext cx="11677535" cy="4524315"/>
          </a:xfrm>
          <a:prstGeom prst="rect">
            <a:avLst/>
          </a:prstGeom>
          <a:noFill/>
        </p:spPr>
        <p:txBody>
          <a:bodyPr wrap="square" rtlCol="0">
            <a:spAutoFit/>
          </a:bodyPr>
          <a:lstStyle/>
          <a:p>
            <a:pPr marL="285750" indent="-285750">
              <a:buFont typeface="Arial" panose="020B0604020202020204" pitchFamily="34" charset="0"/>
              <a:buChar char="•"/>
            </a:pPr>
            <a:r>
              <a:rPr lang="en-US" sz="2400" dirty="0"/>
              <a:t>Pooling layers are used in Convolutional Neural Networks (</a:t>
            </a:r>
            <a:r>
              <a:rPr lang="en-US" sz="2400" dirty="0" err="1"/>
              <a:t>ConvNets</a:t>
            </a:r>
            <a:r>
              <a:rPr lang="en-US" sz="2400" dirty="0"/>
              <a:t>) to reduce the size of the representation, which can speed up computation and make some of the features more robust. </a:t>
            </a:r>
            <a:endParaRPr lang="en-US" sz="2400" dirty="0" smtClean="0"/>
          </a:p>
          <a:p>
            <a:pPr marL="285750" indent="-285750">
              <a:buFont typeface="Arial" panose="020B0604020202020204" pitchFamily="34" charset="0"/>
              <a:buChar char="•"/>
            </a:pPr>
            <a:r>
              <a:rPr lang="en-US" sz="2400" dirty="0" smtClean="0"/>
              <a:t>One </a:t>
            </a:r>
            <a:r>
              <a:rPr lang="en-US" sz="2400" dirty="0"/>
              <a:t>common type of pooling is </a:t>
            </a:r>
            <a:r>
              <a:rPr lang="en-US" sz="2400" b="1" dirty="0"/>
              <a:t>max pooling</a:t>
            </a:r>
            <a:r>
              <a:rPr lang="en-US" sz="2400" dirty="0"/>
              <a:t>, where the input is divided into </a:t>
            </a:r>
            <a:r>
              <a:rPr lang="en-US" sz="2400" b="1" dirty="0"/>
              <a:t>non-overlapping regions</a:t>
            </a:r>
            <a:r>
              <a:rPr lang="en-US" sz="2400" dirty="0"/>
              <a:t>, and the maximum value of each region is taken to form the output. The </a:t>
            </a:r>
            <a:r>
              <a:rPr lang="en-US" sz="2400" dirty="0" err="1"/>
              <a:t>hyperparameters</a:t>
            </a:r>
            <a:r>
              <a:rPr lang="en-US" sz="2400" dirty="0"/>
              <a:t> of max pooling are the </a:t>
            </a:r>
            <a:r>
              <a:rPr lang="en-US" sz="2400" b="1" dirty="0"/>
              <a:t>filter size (f)</a:t>
            </a:r>
            <a:r>
              <a:rPr lang="en-US" sz="2400" dirty="0"/>
              <a:t> and the </a:t>
            </a:r>
            <a:r>
              <a:rPr lang="en-US" sz="2400" b="1" dirty="0"/>
              <a:t>stride (s)</a:t>
            </a:r>
            <a:r>
              <a:rPr lang="en-US" sz="2400" dirty="0"/>
              <a:t>. The filter size determines the size of the regions that are pooled, and the stride determines the step size when moving to the next region. Max pooling has no parameters to learn, and the computation is fixed once the </a:t>
            </a:r>
            <a:r>
              <a:rPr lang="en-US" sz="2400" dirty="0" err="1"/>
              <a:t>hyperparameters</a:t>
            </a:r>
            <a:r>
              <a:rPr lang="en-US" sz="2400" dirty="0"/>
              <a:t> are set</a:t>
            </a:r>
            <a:r>
              <a:rPr lang="en-US" sz="2400" dirty="0" smtClean="0"/>
              <a:t>.</a:t>
            </a:r>
          </a:p>
          <a:p>
            <a:pPr marL="285750" indent="-285750">
              <a:buFont typeface="Arial" panose="020B0604020202020204" pitchFamily="34" charset="0"/>
              <a:buChar char="•"/>
            </a:pPr>
            <a:r>
              <a:rPr lang="en-US" sz="2400" b="1" dirty="0"/>
              <a:t>Average pooling</a:t>
            </a:r>
            <a:r>
              <a:rPr lang="en-US" sz="2400" dirty="0"/>
              <a:t> is another type of pooling where the average value within a pooling window is taken</a:t>
            </a:r>
            <a:r>
              <a:rPr lang="en-US" sz="2400" dirty="0" smtClean="0"/>
              <a:t>.</a:t>
            </a:r>
            <a:endParaRPr lang="en-US"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66</a:t>
            </a:fld>
            <a:endParaRPr lang="en-US"/>
          </a:p>
        </p:txBody>
      </p:sp>
    </p:spTree>
    <p:extLst>
      <p:ext uri="{BB962C8B-B14F-4D97-AF65-F5344CB8AC3E}">
        <p14:creationId xmlns:p14="http://schemas.microsoft.com/office/powerpoint/2010/main" val="105253460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Shape 411"/>
        <p:cNvGrpSpPr/>
        <p:nvPr/>
      </p:nvGrpSpPr>
      <p:grpSpPr>
        <a:xfrm>
          <a:off x="0" y="0"/>
          <a:ext cx="0" cy="0"/>
          <a:chOff x="0" y="0"/>
          <a:chExt cx="0" cy="0"/>
        </a:xfrm>
      </p:grpSpPr>
      <p:sp>
        <p:nvSpPr>
          <p:cNvPr id="413" name="Google Shape;413;p30" descr="Max Pooling Explained | Papers With Code"/>
          <p:cNvSpPr/>
          <p:nvPr/>
        </p:nvSpPr>
        <p:spPr>
          <a:xfrm>
            <a:off x="5943600" y="3733800"/>
            <a:ext cx="304800" cy="30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800">
              <a:latin typeface="+mj-lt"/>
            </a:endParaRPr>
          </a:p>
        </p:txBody>
      </p:sp>
      <p:pic>
        <p:nvPicPr>
          <p:cNvPr id="415" name="Google Shape;415;p30"/>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6" name="Google Shape;58;p3"/>
          <p:cNvSpPr txBox="1">
            <a:spLocks noGrp="1"/>
          </p:cNvSpPr>
          <p:nvPr>
            <p:ph type="title"/>
          </p:nvPr>
        </p:nvSpPr>
        <p:spPr>
          <a:xfrm>
            <a:off x="261620" y="139700"/>
            <a:ext cx="928762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mj-lt"/>
                <a:ea typeface="Calibri"/>
                <a:cs typeface="Calibri"/>
                <a:sym typeface="Calibri"/>
              </a:rPr>
              <a:t>Pooling </a:t>
            </a:r>
            <a:r>
              <a:rPr lang="en-US" sz="4400" dirty="0" smtClean="0">
                <a:latin typeface="+mj-lt"/>
                <a:ea typeface="Calibri"/>
                <a:cs typeface="Calibri"/>
                <a:sym typeface="Calibri"/>
              </a:rPr>
              <a:t>layers: Max pooling</a:t>
            </a:r>
            <a:endParaRPr lang="en-US" sz="4400" dirty="0">
              <a:latin typeface="+mj-lt"/>
              <a:ea typeface="Calibri"/>
              <a:cs typeface="Calibri"/>
              <a:sym typeface="Calibri"/>
            </a:endParaRPr>
          </a:p>
        </p:txBody>
      </p:sp>
      <p:pic>
        <p:nvPicPr>
          <p:cNvPr id="2050" name="Picture 2" descr="Lightbox"/>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98" y="1925012"/>
            <a:ext cx="11694693" cy="4173071"/>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67</a:t>
            </a:fld>
            <a:endParaRPr lang="en-US"/>
          </a:p>
        </p:txBody>
      </p:sp>
    </p:spTree>
    <p:extLst>
      <p:ext uri="{BB962C8B-B14F-4D97-AF65-F5344CB8AC3E}">
        <p14:creationId xmlns:p14="http://schemas.microsoft.com/office/powerpoint/2010/main" val="81051360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Shape 419"/>
        <p:cNvGrpSpPr/>
        <p:nvPr/>
      </p:nvGrpSpPr>
      <p:grpSpPr>
        <a:xfrm>
          <a:off x="0" y="0"/>
          <a:ext cx="0" cy="0"/>
          <a:chOff x="0" y="0"/>
          <a:chExt cx="0" cy="0"/>
        </a:xfrm>
      </p:grpSpPr>
      <p:pic>
        <p:nvPicPr>
          <p:cNvPr id="422" name="Google Shape;422;p31"/>
          <p:cNvPicPr preferRelativeResize="0"/>
          <p:nvPr/>
        </p:nvPicPr>
        <p:blipFill>
          <a:blip r:embed="rId3">
            <a:alphaModFix/>
          </a:blip>
          <a:stretch>
            <a:fillRect/>
          </a:stretch>
        </p:blipFill>
        <p:spPr>
          <a:xfrm>
            <a:off x="10734473" y="0"/>
            <a:ext cx="1448025" cy="796414"/>
          </a:xfrm>
          <a:prstGeom prst="rect">
            <a:avLst/>
          </a:prstGeom>
          <a:noFill/>
          <a:ln>
            <a:noFill/>
          </a:ln>
        </p:spPr>
      </p:pic>
      <p:pic>
        <p:nvPicPr>
          <p:cNvPr id="12290" name="Picture 2" descr="max-pool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378" y="2219591"/>
            <a:ext cx="12009120" cy="2854627"/>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58;p3"/>
          <p:cNvSpPr txBox="1">
            <a:spLocks noGrp="1"/>
          </p:cNvSpPr>
          <p:nvPr>
            <p:ph type="title"/>
          </p:nvPr>
        </p:nvSpPr>
        <p:spPr>
          <a:xfrm>
            <a:off x="261620" y="139700"/>
            <a:ext cx="928762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mj-lt"/>
                <a:ea typeface="Calibri"/>
                <a:cs typeface="Calibri"/>
                <a:sym typeface="Calibri"/>
              </a:rPr>
              <a:t>Pooling </a:t>
            </a:r>
            <a:r>
              <a:rPr lang="en-US" sz="4400" dirty="0" smtClean="0">
                <a:latin typeface="+mj-lt"/>
                <a:ea typeface="Calibri"/>
                <a:cs typeface="Calibri"/>
                <a:sym typeface="Calibri"/>
              </a:rPr>
              <a:t>layers: Max pooling</a:t>
            </a:r>
            <a:endParaRPr lang="en-US" sz="4400" dirty="0">
              <a:latin typeface="+mj-lt"/>
              <a:ea typeface="Calibri"/>
              <a:cs typeface="Calibri"/>
              <a:sym typeface="Calibri"/>
            </a:endParaRPr>
          </a:p>
        </p:txBody>
      </p:sp>
      <p:sp>
        <p:nvSpPr>
          <p:cNvPr id="2" name="TextBox 1"/>
          <p:cNvSpPr txBox="1"/>
          <p:nvPr/>
        </p:nvSpPr>
        <p:spPr>
          <a:xfrm>
            <a:off x="261620" y="1293779"/>
            <a:ext cx="11557486" cy="461665"/>
          </a:xfrm>
          <a:prstGeom prst="rect">
            <a:avLst/>
          </a:prstGeom>
          <a:noFill/>
        </p:spPr>
        <p:txBody>
          <a:bodyPr wrap="square" rtlCol="0">
            <a:spAutoFit/>
          </a:bodyPr>
          <a:lstStyle/>
          <a:p>
            <a:r>
              <a:rPr lang="en-US" sz="2400" dirty="0"/>
              <a:t> </a:t>
            </a:r>
            <a:r>
              <a:rPr lang="en-US" sz="2400" dirty="0" smtClean="0"/>
              <a:t>Consider an </a:t>
            </a:r>
            <a:r>
              <a:rPr lang="en-US" sz="2400" dirty="0"/>
              <a:t>example </a:t>
            </a:r>
            <a:r>
              <a:rPr lang="en-US" sz="2400" dirty="0" smtClean="0"/>
              <a:t>with a 5x5 input, filter =3 and stride = 1</a:t>
            </a:r>
            <a:endParaRPr lang="en-US"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68</a:t>
            </a:fld>
            <a:endParaRPr lang="en-US"/>
          </a:p>
        </p:txBody>
      </p:sp>
    </p:spTree>
    <p:extLst>
      <p:ext uri="{BB962C8B-B14F-4D97-AF65-F5344CB8AC3E}">
        <p14:creationId xmlns:p14="http://schemas.microsoft.com/office/powerpoint/2010/main" val="291320151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Shape 411"/>
        <p:cNvGrpSpPr/>
        <p:nvPr/>
      </p:nvGrpSpPr>
      <p:grpSpPr>
        <a:xfrm>
          <a:off x="0" y="0"/>
          <a:ext cx="0" cy="0"/>
          <a:chOff x="0" y="0"/>
          <a:chExt cx="0" cy="0"/>
        </a:xfrm>
      </p:grpSpPr>
      <p:sp>
        <p:nvSpPr>
          <p:cNvPr id="413" name="Google Shape;413;p30" descr="Max Pooling Explained | Papers With Code"/>
          <p:cNvSpPr/>
          <p:nvPr/>
        </p:nvSpPr>
        <p:spPr>
          <a:xfrm>
            <a:off x="5943600" y="3733800"/>
            <a:ext cx="304800" cy="30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800">
              <a:latin typeface="+mj-lt"/>
            </a:endParaRPr>
          </a:p>
        </p:txBody>
      </p:sp>
      <p:pic>
        <p:nvPicPr>
          <p:cNvPr id="415" name="Google Shape;415;p30"/>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6" name="Google Shape;58;p3"/>
          <p:cNvSpPr txBox="1">
            <a:spLocks noGrp="1"/>
          </p:cNvSpPr>
          <p:nvPr>
            <p:ph type="title"/>
          </p:nvPr>
        </p:nvSpPr>
        <p:spPr>
          <a:xfrm>
            <a:off x="261620" y="139700"/>
            <a:ext cx="928762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mj-lt"/>
                <a:ea typeface="Calibri"/>
                <a:cs typeface="Calibri"/>
                <a:sym typeface="Calibri"/>
              </a:rPr>
              <a:t>Pooling </a:t>
            </a:r>
            <a:r>
              <a:rPr lang="en-US" sz="4400" dirty="0" smtClean="0">
                <a:latin typeface="+mj-lt"/>
                <a:ea typeface="Calibri"/>
                <a:cs typeface="Calibri"/>
                <a:sym typeface="Calibri"/>
              </a:rPr>
              <a:t>layers: Average pooling</a:t>
            </a:r>
            <a:endParaRPr lang="en-US" sz="4400" dirty="0">
              <a:latin typeface="+mj-lt"/>
              <a:ea typeface="Calibri"/>
              <a:cs typeface="Calibri"/>
              <a:sym typeface="Calibri"/>
            </a:endParaRPr>
          </a:p>
        </p:txBody>
      </p:sp>
      <p:pic>
        <p:nvPicPr>
          <p:cNvPr id="1028" name="Picture 4" descr="https://media.geeksforgeeks.org/wp-content/uploads/20190721030705/Screenshot-2019-07-21-at-3.05.56-AM.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063" y="1922333"/>
            <a:ext cx="11770954" cy="4166409"/>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69</a:t>
            </a:fld>
            <a:endParaRPr lang="en-US"/>
          </a:p>
        </p:txBody>
      </p:sp>
    </p:spTree>
    <p:extLst>
      <p:ext uri="{BB962C8B-B14F-4D97-AF65-F5344CB8AC3E}">
        <p14:creationId xmlns:p14="http://schemas.microsoft.com/office/powerpoint/2010/main" val="21254347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Shape 426"/>
        <p:cNvGrpSpPr/>
        <p:nvPr/>
      </p:nvGrpSpPr>
      <p:grpSpPr>
        <a:xfrm>
          <a:off x="0" y="0"/>
          <a:ext cx="0" cy="0"/>
          <a:chOff x="0" y="0"/>
          <a:chExt cx="0" cy="0"/>
        </a:xfrm>
      </p:grpSpPr>
      <p:sp>
        <p:nvSpPr>
          <p:cNvPr id="427" name="Google Shape;427;p32"/>
          <p:cNvSpPr txBox="1">
            <a:spLocks noGrp="1"/>
          </p:cNvSpPr>
          <p:nvPr>
            <p:ph type="title"/>
          </p:nvPr>
        </p:nvSpPr>
        <p:spPr>
          <a:xfrm>
            <a:off x="261618" y="139700"/>
            <a:ext cx="522033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Summary of pooling</a:t>
            </a:r>
            <a:endParaRPr sz="4400" dirty="0">
              <a:latin typeface="+mj-lt"/>
              <a:ea typeface="Cambria"/>
              <a:cs typeface="Cambria"/>
              <a:sym typeface="Cambria"/>
            </a:endParaRPr>
          </a:p>
        </p:txBody>
      </p:sp>
      <p:sp>
        <p:nvSpPr>
          <p:cNvPr id="428" name="Google Shape;428;p32"/>
          <p:cNvSpPr txBox="1"/>
          <p:nvPr/>
        </p:nvSpPr>
        <p:spPr>
          <a:xfrm>
            <a:off x="261619" y="1519368"/>
            <a:ext cx="4880652" cy="1709314"/>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dirty="0">
                <a:latin typeface="+mj-lt"/>
                <a:ea typeface="Cambria"/>
                <a:cs typeface="Cambria"/>
                <a:sym typeface="Cambria"/>
              </a:rPr>
              <a:t>Hyperparameters:</a:t>
            </a:r>
            <a:endParaRPr sz="2800" dirty="0">
              <a:latin typeface="+mj-lt"/>
              <a:ea typeface="Cambria"/>
              <a:cs typeface="Cambria"/>
              <a:sym typeface="Cambria"/>
            </a:endParaRPr>
          </a:p>
          <a:p>
            <a:pPr marL="571500" marR="2157730" lvl="0" indent="0" algn="l" rtl="0">
              <a:lnSpc>
                <a:spcPct val="129099"/>
              </a:lnSpc>
              <a:spcBef>
                <a:spcPts val="600"/>
              </a:spcBef>
              <a:spcAft>
                <a:spcPts val="0"/>
              </a:spcAft>
              <a:buNone/>
            </a:pPr>
            <a:r>
              <a:rPr lang="en-US" sz="2800" dirty="0">
                <a:latin typeface="+mj-lt"/>
                <a:ea typeface="Cambria"/>
                <a:cs typeface="Cambria"/>
                <a:sym typeface="Cambria"/>
              </a:rPr>
              <a:t>f : filter </a:t>
            </a:r>
            <a:r>
              <a:rPr lang="en-US" sz="2800" dirty="0" smtClean="0">
                <a:latin typeface="+mj-lt"/>
                <a:ea typeface="Cambria"/>
                <a:cs typeface="Cambria"/>
                <a:sym typeface="Cambria"/>
              </a:rPr>
              <a:t>size</a:t>
            </a:r>
          </a:p>
          <a:p>
            <a:pPr marL="571500" marR="2157730" lvl="0" indent="0" algn="l" rtl="0">
              <a:lnSpc>
                <a:spcPct val="129099"/>
              </a:lnSpc>
              <a:spcBef>
                <a:spcPts val="600"/>
              </a:spcBef>
              <a:spcAft>
                <a:spcPts val="0"/>
              </a:spcAft>
              <a:buNone/>
            </a:pPr>
            <a:r>
              <a:rPr lang="en-US" sz="2800" dirty="0" smtClean="0">
                <a:latin typeface="+mj-lt"/>
                <a:ea typeface="Cambria"/>
                <a:cs typeface="Cambria"/>
                <a:sym typeface="Cambria"/>
              </a:rPr>
              <a:t>s </a:t>
            </a:r>
            <a:r>
              <a:rPr lang="en-US" sz="2800" dirty="0">
                <a:latin typeface="+mj-lt"/>
                <a:ea typeface="Cambria"/>
                <a:cs typeface="Cambria"/>
                <a:sym typeface="Cambria"/>
              </a:rPr>
              <a:t>: </a:t>
            </a:r>
            <a:r>
              <a:rPr lang="en-US" sz="2800" dirty="0" smtClean="0">
                <a:latin typeface="+mj-lt"/>
                <a:ea typeface="Cambria"/>
                <a:cs typeface="Cambria"/>
                <a:sym typeface="Cambria"/>
              </a:rPr>
              <a:t>stride</a:t>
            </a:r>
            <a:endParaRPr sz="2800" dirty="0">
              <a:latin typeface="+mj-lt"/>
              <a:ea typeface="Cambria"/>
              <a:cs typeface="Cambria"/>
              <a:sym typeface="Cambria"/>
            </a:endParaRPr>
          </a:p>
        </p:txBody>
      </p:sp>
      <p:pic>
        <p:nvPicPr>
          <p:cNvPr id="430" name="Google Shape;430;p32"/>
          <p:cNvPicPr preferRelativeResize="0"/>
          <p:nvPr/>
        </p:nvPicPr>
        <p:blipFill rotWithShape="1">
          <a:blip r:embed="rId3">
            <a:alphaModFix/>
          </a:blip>
          <a:srcRect/>
          <a:stretch/>
        </p:blipFill>
        <p:spPr>
          <a:xfrm>
            <a:off x="4344519" y="2769390"/>
            <a:ext cx="6082397" cy="1143000"/>
          </a:xfrm>
          <a:prstGeom prst="rect">
            <a:avLst/>
          </a:prstGeom>
          <a:noFill/>
          <a:ln>
            <a:noFill/>
          </a:ln>
        </p:spPr>
      </p:pic>
      <p:pic>
        <p:nvPicPr>
          <p:cNvPr id="431" name="Google Shape;431;p32"/>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TextBox 1"/>
          <p:cNvSpPr txBox="1"/>
          <p:nvPr/>
        </p:nvSpPr>
        <p:spPr>
          <a:xfrm>
            <a:off x="4473677" y="1519368"/>
            <a:ext cx="7397743" cy="1200329"/>
          </a:xfrm>
          <a:prstGeom prst="rect">
            <a:avLst/>
          </a:prstGeom>
          <a:noFill/>
        </p:spPr>
        <p:txBody>
          <a:bodyPr wrap="square" rtlCol="0">
            <a:spAutoFit/>
          </a:bodyPr>
          <a:lstStyle/>
          <a:p>
            <a:r>
              <a:rPr lang="en-US" sz="2400" dirty="0"/>
              <a:t>For a feature map having dimensions </a:t>
            </a:r>
            <a:r>
              <a:rPr lang="en-US" sz="2400" b="1" dirty="0" err="1" smtClean="0"/>
              <a:t>n</a:t>
            </a:r>
            <a:r>
              <a:rPr lang="en-US" sz="2400" b="1" baseline="-25000" dirty="0" err="1" smtClean="0"/>
              <a:t>h</a:t>
            </a:r>
            <a:r>
              <a:rPr lang="en-US" sz="2400" b="1" dirty="0" smtClean="0"/>
              <a:t> </a:t>
            </a:r>
            <a:r>
              <a:rPr lang="en-US" sz="2400" b="1" dirty="0"/>
              <a:t>x </a:t>
            </a:r>
            <a:r>
              <a:rPr lang="en-US" sz="2400" b="1" dirty="0" err="1" smtClean="0"/>
              <a:t>n</a:t>
            </a:r>
            <a:r>
              <a:rPr lang="en-US" sz="2400" b="1" baseline="-25000" dirty="0" err="1"/>
              <a:t>w</a:t>
            </a:r>
            <a:r>
              <a:rPr lang="en-US" sz="2400" b="1" dirty="0" smtClean="0"/>
              <a:t> </a:t>
            </a:r>
            <a:r>
              <a:rPr lang="en-US" sz="2400" b="1" dirty="0"/>
              <a:t>x </a:t>
            </a:r>
            <a:r>
              <a:rPr lang="en-US" sz="2400" b="1" dirty="0" err="1" smtClean="0"/>
              <a:t>n</a:t>
            </a:r>
            <a:r>
              <a:rPr lang="en-US" sz="2400" b="1" baseline="-25000" dirty="0" err="1" smtClean="0"/>
              <a:t>c</a:t>
            </a:r>
            <a:r>
              <a:rPr lang="en-US" sz="2400" dirty="0" smtClean="0"/>
              <a:t>, </a:t>
            </a:r>
            <a:r>
              <a:rPr lang="en-US" sz="2400" dirty="0"/>
              <a:t>the dimensions of </a:t>
            </a:r>
            <a:r>
              <a:rPr lang="en-US" sz="2400" dirty="0" smtClean="0"/>
              <a:t>the </a:t>
            </a:r>
            <a:r>
              <a:rPr lang="en-US" sz="2400" dirty="0"/>
              <a:t>output volume size </a:t>
            </a:r>
            <a:r>
              <a:rPr lang="en-US" sz="2400" dirty="0" smtClean="0"/>
              <a:t>obtained </a:t>
            </a:r>
            <a:r>
              <a:rPr lang="en-US" sz="2400" dirty="0"/>
              <a:t>after a pooling </a:t>
            </a:r>
            <a:r>
              <a:rPr lang="en-US" sz="2400" dirty="0" smtClean="0"/>
              <a:t>layer with filter size </a:t>
            </a:r>
            <a:r>
              <a:rPr lang="en-US" sz="2400" b="1" dirty="0" smtClean="0"/>
              <a:t>f</a:t>
            </a:r>
            <a:r>
              <a:rPr lang="en-US" sz="2400" dirty="0" smtClean="0"/>
              <a:t> and stride </a:t>
            </a:r>
            <a:r>
              <a:rPr lang="en-US" sz="2400" b="1" dirty="0" smtClean="0"/>
              <a:t>s</a:t>
            </a:r>
            <a:r>
              <a:rPr lang="en-US" sz="2400" dirty="0" smtClean="0"/>
              <a:t> is:</a:t>
            </a:r>
            <a:endParaRPr lang="en-US"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70</a:t>
            </a:fld>
            <a:endParaRPr lang="en-US"/>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Shape 426"/>
        <p:cNvGrpSpPr/>
        <p:nvPr/>
      </p:nvGrpSpPr>
      <p:grpSpPr>
        <a:xfrm>
          <a:off x="0" y="0"/>
          <a:ext cx="0" cy="0"/>
          <a:chOff x="0" y="0"/>
          <a:chExt cx="0" cy="0"/>
        </a:xfrm>
      </p:grpSpPr>
      <p:sp>
        <p:nvSpPr>
          <p:cNvPr id="427" name="Google Shape;427;p32"/>
          <p:cNvSpPr txBox="1">
            <a:spLocks noGrp="1"/>
          </p:cNvSpPr>
          <p:nvPr>
            <p:ph type="title"/>
          </p:nvPr>
        </p:nvSpPr>
        <p:spPr>
          <a:xfrm>
            <a:off x="261618" y="139700"/>
            <a:ext cx="9226511"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Advantages of Pooling Layer</a:t>
            </a:r>
            <a:endParaRPr sz="4400" dirty="0">
              <a:latin typeface="+mj-lt"/>
              <a:ea typeface="Cambria"/>
              <a:cs typeface="Cambria"/>
              <a:sym typeface="Cambria"/>
            </a:endParaRPr>
          </a:p>
        </p:txBody>
      </p:sp>
      <p:sp>
        <p:nvSpPr>
          <p:cNvPr id="428" name="Google Shape;428;p32"/>
          <p:cNvSpPr txBox="1"/>
          <p:nvPr/>
        </p:nvSpPr>
        <p:spPr>
          <a:xfrm>
            <a:off x="261618" y="1519368"/>
            <a:ext cx="11615749" cy="2598147"/>
          </a:xfrm>
          <a:prstGeom prst="rect">
            <a:avLst/>
          </a:prstGeom>
          <a:noFill/>
          <a:ln>
            <a:noFill/>
          </a:ln>
        </p:spPr>
        <p:txBody>
          <a:bodyPr spcFirstLastPara="1" wrap="square" lIns="0" tIns="12700" rIns="0" bIns="0" anchor="t" anchorCtr="0">
            <a:spAutoFit/>
          </a:bodyPr>
          <a:lstStyle/>
          <a:p>
            <a:pPr marL="469900" lvl="0" indent="-457200">
              <a:buFont typeface="Arial" panose="020B0604020202020204" pitchFamily="34" charset="0"/>
              <a:buChar char="•"/>
            </a:pPr>
            <a:r>
              <a:rPr lang="en-US" sz="2800" b="1" dirty="0">
                <a:latin typeface="+mj-lt"/>
                <a:ea typeface="Cambria"/>
                <a:cs typeface="Cambria"/>
                <a:sym typeface="Cambria"/>
              </a:rPr>
              <a:t>D</a:t>
            </a:r>
            <a:r>
              <a:rPr lang="en-US" sz="2800" b="1" dirty="0" smtClean="0">
                <a:latin typeface="+mj-lt"/>
                <a:ea typeface="Cambria"/>
                <a:cs typeface="Cambria"/>
                <a:sym typeface="Cambria"/>
              </a:rPr>
              <a:t>imensionality reduction</a:t>
            </a:r>
            <a:r>
              <a:rPr lang="en-US" sz="2800" dirty="0" smtClean="0">
                <a:latin typeface="+mj-lt"/>
                <a:ea typeface="Cambria"/>
                <a:cs typeface="Cambria"/>
                <a:sym typeface="Cambria"/>
              </a:rPr>
              <a:t>, </a:t>
            </a:r>
            <a:r>
              <a:rPr lang="en-US" sz="2800" dirty="0">
                <a:latin typeface="+mj-lt"/>
                <a:ea typeface="Cambria"/>
                <a:cs typeface="Cambria"/>
                <a:sym typeface="Cambria"/>
              </a:rPr>
              <a:t>reducing computational cost, and preventing overfitting. </a:t>
            </a:r>
            <a:endParaRPr lang="en-US" sz="2800" dirty="0" smtClean="0">
              <a:latin typeface="+mj-lt"/>
              <a:ea typeface="Cambria"/>
              <a:cs typeface="Cambria"/>
              <a:sym typeface="Cambria"/>
            </a:endParaRPr>
          </a:p>
          <a:p>
            <a:pPr marL="469900" lvl="0" indent="-457200">
              <a:buFont typeface="Arial" panose="020B0604020202020204" pitchFamily="34" charset="0"/>
              <a:buChar char="•"/>
            </a:pPr>
            <a:r>
              <a:rPr lang="en-US" sz="2800" dirty="0" smtClean="0">
                <a:latin typeface="+mj-lt"/>
                <a:ea typeface="Cambria"/>
                <a:cs typeface="Cambria"/>
                <a:sym typeface="Cambria"/>
              </a:rPr>
              <a:t>Contribute </a:t>
            </a:r>
            <a:r>
              <a:rPr lang="en-US" sz="2800" dirty="0">
                <a:latin typeface="+mj-lt"/>
                <a:ea typeface="Cambria"/>
                <a:cs typeface="Cambria"/>
                <a:sym typeface="Cambria"/>
              </a:rPr>
              <a:t>to achieving </a:t>
            </a:r>
            <a:r>
              <a:rPr lang="en-US" sz="2800" b="1" dirty="0">
                <a:latin typeface="+mj-lt"/>
                <a:ea typeface="Cambria"/>
                <a:cs typeface="Cambria"/>
                <a:sym typeface="Cambria"/>
              </a:rPr>
              <a:t>translation invariance</a:t>
            </a:r>
            <a:r>
              <a:rPr lang="en-US" sz="2800" dirty="0">
                <a:latin typeface="+mj-lt"/>
                <a:ea typeface="Cambria"/>
                <a:cs typeface="Cambria"/>
                <a:sym typeface="Cambria"/>
              </a:rPr>
              <a:t>, ensuring consistent feature detection regardless of object position. </a:t>
            </a:r>
            <a:endParaRPr lang="en-US" sz="2800" dirty="0" smtClean="0">
              <a:latin typeface="+mj-lt"/>
              <a:ea typeface="Cambria"/>
              <a:cs typeface="Cambria"/>
              <a:sym typeface="Cambria"/>
            </a:endParaRPr>
          </a:p>
          <a:p>
            <a:pPr marL="469900" lvl="0" indent="-457200">
              <a:buFont typeface="Arial" panose="020B0604020202020204" pitchFamily="34" charset="0"/>
              <a:buChar char="•"/>
            </a:pPr>
            <a:r>
              <a:rPr lang="en-US" sz="2800" dirty="0">
                <a:latin typeface="+mj-lt"/>
                <a:ea typeface="Cambria"/>
                <a:cs typeface="Cambria"/>
                <a:sym typeface="Cambria"/>
              </a:rPr>
              <a:t>A</a:t>
            </a:r>
            <a:r>
              <a:rPr lang="en-US" sz="2800" dirty="0" smtClean="0">
                <a:latin typeface="+mj-lt"/>
                <a:ea typeface="Cambria"/>
                <a:cs typeface="Cambria"/>
                <a:sym typeface="Cambria"/>
              </a:rPr>
              <a:t>ids </a:t>
            </a:r>
            <a:r>
              <a:rPr lang="en-US" sz="2800" dirty="0">
                <a:latin typeface="+mj-lt"/>
                <a:ea typeface="Cambria"/>
                <a:cs typeface="Cambria"/>
                <a:sym typeface="Cambria"/>
              </a:rPr>
              <a:t>in </a:t>
            </a:r>
            <a:r>
              <a:rPr lang="en-US" sz="2800" b="1" dirty="0">
                <a:latin typeface="+mj-lt"/>
                <a:ea typeface="Cambria"/>
                <a:cs typeface="Cambria"/>
                <a:sym typeface="Cambria"/>
              </a:rPr>
              <a:t>feature selection</a:t>
            </a:r>
            <a:r>
              <a:rPr lang="en-US" sz="2800" dirty="0">
                <a:latin typeface="+mj-lt"/>
                <a:ea typeface="Cambria"/>
                <a:cs typeface="Cambria"/>
                <a:sym typeface="Cambria"/>
              </a:rPr>
              <a:t>, with max pooling emphasizing salient features and average pooling preserving more information.</a:t>
            </a:r>
            <a:endParaRPr sz="2800" dirty="0">
              <a:latin typeface="+mj-lt"/>
              <a:ea typeface="Cambria"/>
              <a:cs typeface="Cambria"/>
              <a:sym typeface="Cambria"/>
            </a:endParaRPr>
          </a:p>
        </p:txBody>
      </p:sp>
      <p:pic>
        <p:nvPicPr>
          <p:cNvPr id="431" name="Google Shape;431;p32"/>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71</a:t>
            </a:fld>
            <a:endParaRPr lang="en-US"/>
          </a:p>
        </p:txBody>
      </p:sp>
    </p:spTree>
    <p:extLst>
      <p:ext uri="{BB962C8B-B14F-4D97-AF65-F5344CB8AC3E}">
        <p14:creationId xmlns:p14="http://schemas.microsoft.com/office/powerpoint/2010/main" val="112979235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Shape 426"/>
        <p:cNvGrpSpPr/>
        <p:nvPr/>
      </p:nvGrpSpPr>
      <p:grpSpPr>
        <a:xfrm>
          <a:off x="0" y="0"/>
          <a:ext cx="0" cy="0"/>
          <a:chOff x="0" y="0"/>
          <a:chExt cx="0" cy="0"/>
        </a:xfrm>
      </p:grpSpPr>
      <p:sp>
        <p:nvSpPr>
          <p:cNvPr id="427" name="Google Shape;427;p32"/>
          <p:cNvSpPr txBox="1">
            <a:spLocks noGrp="1"/>
          </p:cNvSpPr>
          <p:nvPr>
            <p:ph type="title"/>
          </p:nvPr>
        </p:nvSpPr>
        <p:spPr>
          <a:xfrm>
            <a:off x="261618" y="139700"/>
            <a:ext cx="9226511" cy="689932"/>
          </a:xfrm>
          <a:prstGeom prst="rect">
            <a:avLst/>
          </a:prstGeom>
          <a:noFill/>
          <a:ln>
            <a:noFill/>
          </a:ln>
        </p:spPr>
        <p:txBody>
          <a:bodyPr spcFirstLastPara="1" wrap="square" lIns="0" tIns="12700" rIns="0" bIns="0" anchor="t" anchorCtr="0">
            <a:spAutoFit/>
          </a:bodyPr>
          <a:lstStyle/>
          <a:p>
            <a:pPr marL="12700" lvl="0"/>
            <a:r>
              <a:rPr lang="en-US" sz="4400" dirty="0" smtClean="0">
                <a:latin typeface="+mj-lt"/>
                <a:ea typeface="Cambria"/>
                <a:cs typeface="Cambria"/>
                <a:sym typeface="Cambria"/>
              </a:rPr>
              <a:t>Disadvantages </a:t>
            </a:r>
            <a:r>
              <a:rPr lang="en-US" sz="4400" dirty="0">
                <a:latin typeface="+mj-lt"/>
                <a:ea typeface="Cambria"/>
                <a:cs typeface="Cambria"/>
                <a:sym typeface="Cambria"/>
              </a:rPr>
              <a:t>of Pooling Layer</a:t>
            </a:r>
            <a:endParaRPr sz="4400" dirty="0">
              <a:latin typeface="+mj-lt"/>
              <a:ea typeface="Cambria"/>
              <a:cs typeface="Cambria"/>
              <a:sym typeface="Cambria"/>
            </a:endParaRPr>
          </a:p>
        </p:txBody>
      </p:sp>
      <p:sp>
        <p:nvSpPr>
          <p:cNvPr id="428" name="Google Shape;428;p32"/>
          <p:cNvSpPr txBox="1"/>
          <p:nvPr/>
        </p:nvSpPr>
        <p:spPr>
          <a:xfrm>
            <a:off x="261618" y="1519368"/>
            <a:ext cx="11615749" cy="4752583"/>
          </a:xfrm>
          <a:prstGeom prst="rect">
            <a:avLst/>
          </a:prstGeom>
          <a:noFill/>
          <a:ln>
            <a:noFill/>
          </a:ln>
        </p:spPr>
        <p:txBody>
          <a:bodyPr spcFirstLastPara="1" wrap="square" lIns="0" tIns="12700" rIns="0" bIns="0" anchor="t" anchorCtr="0">
            <a:spAutoFit/>
          </a:bodyPr>
          <a:lstStyle/>
          <a:p>
            <a:pPr marL="469900" lvl="0" indent="-457200">
              <a:buFont typeface="Arial" panose="020B0604020202020204" pitchFamily="34" charset="0"/>
              <a:buChar char="•"/>
            </a:pPr>
            <a:r>
              <a:rPr lang="en-US" sz="2800" b="1" dirty="0">
                <a:latin typeface="+mj-lt"/>
                <a:ea typeface="Cambria"/>
                <a:cs typeface="Cambria"/>
                <a:sym typeface="Cambria"/>
              </a:rPr>
              <a:t>Information loss</a:t>
            </a:r>
            <a:r>
              <a:rPr lang="en-US" sz="2800" dirty="0">
                <a:latin typeface="+mj-lt"/>
                <a:ea typeface="Cambria"/>
                <a:cs typeface="Cambria"/>
                <a:sym typeface="Cambria"/>
              </a:rPr>
              <a:t>: Pooling </a:t>
            </a:r>
            <a:r>
              <a:rPr lang="en-US" sz="2800" dirty="0" smtClean="0">
                <a:latin typeface="+mj-lt"/>
                <a:ea typeface="Cambria"/>
                <a:cs typeface="Cambria"/>
                <a:sym typeface="Cambria"/>
              </a:rPr>
              <a:t>Layer discards </a:t>
            </a:r>
            <a:r>
              <a:rPr lang="en-US" sz="2800" dirty="0">
                <a:latin typeface="+mj-lt"/>
                <a:ea typeface="Cambria"/>
                <a:cs typeface="Cambria"/>
                <a:sym typeface="Cambria"/>
              </a:rPr>
              <a:t>some information from the input feature maps, which can be important for the final classification or regression task.</a:t>
            </a:r>
          </a:p>
          <a:p>
            <a:pPr marL="469900" lvl="0" indent="-457200">
              <a:buFont typeface="Arial" panose="020B0604020202020204" pitchFamily="34" charset="0"/>
              <a:buChar char="•"/>
            </a:pPr>
            <a:r>
              <a:rPr lang="en-US" sz="2800" b="1" dirty="0">
                <a:latin typeface="+mj-lt"/>
                <a:ea typeface="Cambria"/>
                <a:cs typeface="Cambria"/>
                <a:sym typeface="Cambria"/>
              </a:rPr>
              <a:t>Over-smoothing</a:t>
            </a:r>
            <a:r>
              <a:rPr lang="en-US" sz="2800" dirty="0">
                <a:latin typeface="+mj-lt"/>
                <a:ea typeface="Cambria"/>
                <a:cs typeface="Cambria"/>
                <a:sym typeface="Cambria"/>
              </a:rPr>
              <a:t>: Pooling layers can also cause over-smoothing of the feature maps, which can result in the loss of some fine-grained details that are important for the final classification or regression task.</a:t>
            </a:r>
          </a:p>
          <a:p>
            <a:pPr marL="469900" lvl="0" indent="-457200">
              <a:buFont typeface="Arial" panose="020B0604020202020204" pitchFamily="34" charset="0"/>
              <a:buChar char="•"/>
            </a:pPr>
            <a:r>
              <a:rPr lang="en-US" sz="2800" b="1" dirty="0" err="1">
                <a:latin typeface="+mj-lt"/>
                <a:ea typeface="Cambria"/>
                <a:cs typeface="Cambria"/>
                <a:sym typeface="Cambria"/>
              </a:rPr>
              <a:t>Hyperparameter</a:t>
            </a:r>
            <a:r>
              <a:rPr lang="en-US" sz="2800" b="1" dirty="0">
                <a:latin typeface="+mj-lt"/>
                <a:ea typeface="Cambria"/>
                <a:cs typeface="Cambria"/>
                <a:sym typeface="Cambria"/>
              </a:rPr>
              <a:t> tuning</a:t>
            </a:r>
            <a:r>
              <a:rPr lang="en-US" sz="2800" dirty="0">
                <a:latin typeface="+mj-lt"/>
                <a:ea typeface="Cambria"/>
                <a:cs typeface="Cambria"/>
                <a:sym typeface="Cambria"/>
              </a:rPr>
              <a:t>: Pooling layers also introduce </a:t>
            </a:r>
            <a:r>
              <a:rPr lang="en-US" sz="2800" dirty="0" err="1">
                <a:latin typeface="+mj-lt"/>
                <a:ea typeface="Cambria"/>
                <a:cs typeface="Cambria"/>
                <a:sym typeface="Cambria"/>
              </a:rPr>
              <a:t>hyperparameters</a:t>
            </a:r>
            <a:r>
              <a:rPr lang="en-US" sz="2800" dirty="0">
                <a:latin typeface="+mj-lt"/>
                <a:ea typeface="Cambria"/>
                <a:cs typeface="Cambria"/>
                <a:sym typeface="Cambria"/>
              </a:rPr>
              <a:t> such as the size of the pooling regions and the stride, which need to be tuned in order to achieve optimal performance. This can be time-consuming and requires some expertise in model building.</a:t>
            </a:r>
            <a:endParaRPr sz="2800" dirty="0">
              <a:latin typeface="+mj-lt"/>
              <a:ea typeface="Cambria"/>
              <a:cs typeface="Cambria"/>
              <a:sym typeface="Cambria"/>
            </a:endParaRPr>
          </a:p>
        </p:txBody>
      </p:sp>
      <p:pic>
        <p:nvPicPr>
          <p:cNvPr id="431" name="Google Shape;431;p32"/>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72</a:t>
            </a:fld>
            <a:endParaRPr lang="en-US"/>
          </a:p>
        </p:txBody>
      </p:sp>
    </p:spTree>
    <p:extLst>
      <p:ext uri="{BB962C8B-B14F-4D97-AF65-F5344CB8AC3E}">
        <p14:creationId xmlns:p14="http://schemas.microsoft.com/office/powerpoint/2010/main" val="147218120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Shape 435"/>
        <p:cNvGrpSpPr/>
        <p:nvPr/>
      </p:nvGrpSpPr>
      <p:grpSpPr>
        <a:xfrm>
          <a:off x="0" y="0"/>
          <a:ext cx="0" cy="0"/>
          <a:chOff x="0" y="0"/>
          <a:chExt cx="0" cy="0"/>
        </a:xfrm>
      </p:grpSpPr>
      <p:sp>
        <p:nvSpPr>
          <p:cNvPr id="436" name="Google Shape;436;p33"/>
          <p:cNvSpPr txBox="1">
            <a:spLocks noGrp="1"/>
          </p:cNvSpPr>
          <p:nvPr>
            <p:ph type="body" idx="1"/>
          </p:nvPr>
        </p:nvSpPr>
        <p:spPr>
          <a:xfrm>
            <a:off x="0" y="0"/>
            <a:ext cx="11544600" cy="3138936"/>
          </a:xfrm>
          <a:prstGeom prst="rect">
            <a:avLst/>
          </a:prstGeom>
          <a:noFill/>
          <a:ln>
            <a:noFill/>
          </a:ln>
        </p:spPr>
        <p:txBody>
          <a:bodyPr spcFirstLastPara="1" wrap="square" lIns="0" tIns="1133475" rIns="0" bIns="0" anchor="t" anchorCtr="0">
            <a:spAutoFit/>
          </a:bodyPr>
          <a:lstStyle/>
          <a:p>
            <a:pPr marL="5466715" marR="5080" lvl="0" indent="454658" algn="l" rtl="0">
              <a:lnSpc>
                <a:spcPct val="108333"/>
              </a:lnSpc>
              <a:spcBef>
                <a:spcPts val="0"/>
              </a:spcBef>
              <a:spcAft>
                <a:spcPts val="0"/>
              </a:spcAft>
              <a:buNone/>
            </a:pPr>
            <a:r>
              <a:rPr lang="en-US" dirty="0">
                <a:latin typeface="+mj-lt"/>
              </a:rPr>
              <a:t>Convolutional Neural Networks</a:t>
            </a:r>
            <a:endParaRPr dirty="0">
              <a:latin typeface="+mj-lt"/>
            </a:endParaRPr>
          </a:p>
        </p:txBody>
      </p:sp>
      <p:sp>
        <p:nvSpPr>
          <p:cNvPr id="437" name="Google Shape;437;p33"/>
          <p:cNvSpPr txBox="1"/>
          <p:nvPr/>
        </p:nvSpPr>
        <p:spPr>
          <a:xfrm>
            <a:off x="5099927" y="3702940"/>
            <a:ext cx="6381646" cy="2022590"/>
          </a:xfrm>
          <a:prstGeom prst="rect">
            <a:avLst/>
          </a:prstGeom>
          <a:noFill/>
          <a:ln>
            <a:noFill/>
          </a:ln>
        </p:spPr>
        <p:txBody>
          <a:bodyPr spcFirstLastPara="1" wrap="square" lIns="0" tIns="27925" rIns="0" bIns="0" anchor="t" anchorCtr="0">
            <a:spAutoFit/>
          </a:bodyPr>
          <a:lstStyle/>
          <a:p>
            <a:pPr marL="591820" marR="5080" lvl="0" indent="-579755" algn="l" rtl="0">
              <a:lnSpc>
                <a:spcPct val="119696"/>
              </a:lnSpc>
              <a:spcBef>
                <a:spcPts val="0"/>
              </a:spcBef>
              <a:spcAft>
                <a:spcPts val="0"/>
              </a:spcAft>
              <a:buNone/>
            </a:pPr>
            <a:r>
              <a:rPr lang="en-US" sz="5400" dirty="0">
                <a:latin typeface="+mj-lt"/>
                <a:ea typeface="Calibri"/>
                <a:cs typeface="Calibri"/>
                <a:sym typeface="Calibri"/>
              </a:rPr>
              <a:t>Convolutional neural network example</a:t>
            </a:r>
            <a:endParaRPr sz="5400" dirty="0">
              <a:latin typeface="+mj-lt"/>
              <a:ea typeface="Calibri"/>
              <a:cs typeface="Calibri"/>
              <a:sym typeface="Calibri"/>
            </a:endParaRPr>
          </a:p>
        </p:txBody>
      </p:sp>
      <p:sp>
        <p:nvSpPr>
          <p:cNvPr id="438" name="Google Shape;438;p33"/>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439" name="Google Shape;439;p33"/>
          <p:cNvPicPr preferRelativeResize="0"/>
          <p:nvPr/>
        </p:nvPicPr>
        <p:blipFill>
          <a:blip r:embed="rId3">
            <a:alphaModFix/>
          </a:blip>
          <a:stretch>
            <a:fillRect/>
          </a:stretch>
        </p:blipFill>
        <p:spPr>
          <a:xfrm>
            <a:off x="417325" y="2395175"/>
            <a:ext cx="3871626" cy="2129399"/>
          </a:xfrm>
          <a:prstGeom prst="rect">
            <a:avLst/>
          </a:prstGeom>
          <a:noFill/>
          <a:ln>
            <a:noFill/>
          </a:ln>
        </p:spPr>
      </p:pic>
      <p:pic>
        <p:nvPicPr>
          <p:cNvPr id="440" name="Google Shape;440;p3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73</a:t>
            </a:fld>
            <a:endParaRPr lang="en-US"/>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9859125" cy="825354"/>
          </a:xfrm>
          <a:prstGeom prst="rect">
            <a:avLst/>
          </a:prstGeom>
          <a:noFill/>
          <a:ln>
            <a:noFill/>
          </a:ln>
        </p:spPr>
        <p:txBody>
          <a:bodyPr spcFirstLastPara="1" wrap="square" lIns="0" tIns="12700" rIns="0" bIns="0" anchor="t" anchorCtr="0">
            <a:spAutoFit/>
          </a:bodyPr>
          <a:lstStyle/>
          <a:p>
            <a:pPr marL="591820" marR="5080" lvl="0" indent="-579755" algn="l" rtl="0">
              <a:lnSpc>
                <a:spcPct val="119696"/>
              </a:lnSpc>
              <a:spcBef>
                <a:spcPts val="0"/>
              </a:spcBef>
              <a:spcAft>
                <a:spcPts val="0"/>
              </a:spcAft>
              <a:buNone/>
            </a:pPr>
            <a:r>
              <a:rPr lang="en-US" sz="4400" dirty="0">
                <a:latin typeface="+mj-lt"/>
                <a:ea typeface="Calibri"/>
                <a:cs typeface="Calibri"/>
                <a:sym typeface="Calibri"/>
              </a:rPr>
              <a:t>Convolutional neural network example</a:t>
            </a:r>
          </a:p>
        </p:txBody>
      </p:sp>
      <p:pic>
        <p:nvPicPr>
          <p:cNvPr id="69" name="Google Shape;69;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51861CD1-0C76-73F6-3768-2FEBDF56A522}"/>
              </a:ext>
            </a:extLst>
          </p:cNvPr>
          <p:cNvSpPr txBox="1"/>
          <p:nvPr/>
        </p:nvSpPr>
        <p:spPr>
          <a:xfrm>
            <a:off x="261620" y="1597854"/>
            <a:ext cx="11677535" cy="1200329"/>
          </a:xfrm>
          <a:prstGeom prst="rect">
            <a:avLst/>
          </a:prstGeom>
          <a:noFill/>
        </p:spPr>
        <p:txBody>
          <a:bodyPr wrap="square" rtlCol="0">
            <a:spAutoFit/>
          </a:bodyPr>
          <a:lstStyle/>
          <a:p>
            <a:pPr marL="285750" indent="-285750">
              <a:buFont typeface="Arial" panose="020B0604020202020204" pitchFamily="34" charset="0"/>
              <a:buChar char="•"/>
            </a:pPr>
            <a:r>
              <a:rPr lang="en-GB" sz="2400" dirty="0"/>
              <a:t>Consider an example of building a convolutional neural network (CNN) for handwritten digit recognition. The input image is 32x32x3, and the CNN consists of several layers, including convolutions, pooling, and fully connected layers</a:t>
            </a:r>
            <a:r>
              <a:rPr lang="en-GB" sz="2400" dirty="0" smtClean="0"/>
              <a:t>.</a:t>
            </a:r>
            <a:endParaRPr lang="en-GB" sz="2400" dirty="0"/>
          </a:p>
        </p:txBody>
      </p:sp>
      <p:pic>
        <p:nvPicPr>
          <p:cNvPr id="8196" name="Picture 4" descr="CNN-examp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27" y="3214179"/>
            <a:ext cx="12123602" cy="203860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74</a:t>
            </a:fld>
            <a:endParaRPr lang="en-US"/>
          </a:p>
        </p:txBody>
      </p:sp>
    </p:spTree>
    <p:extLst>
      <p:ext uri="{BB962C8B-B14F-4D97-AF65-F5344CB8AC3E}">
        <p14:creationId xmlns:p14="http://schemas.microsoft.com/office/powerpoint/2010/main" val="1492141145"/>
      </p:ext>
    </p:extLst>
  </p:cSld>
  <p:clrMapOvr>
    <a:masterClrMapping/>
  </p:clrMapOvr>
  <p:extLst mod="1">
    <p:ext uri="{6950BFC3-D8DA-4A85-94F7-54DA5524770B}">
      <p188:commentRel xmlns="" xmlns:p188="http://schemas.microsoft.com/office/powerpoint/2018/8/main" r:id="rId5"/>
    </p:ext>
  </p:extLst>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Shape 452"/>
        <p:cNvGrpSpPr/>
        <p:nvPr/>
      </p:nvGrpSpPr>
      <p:grpSpPr>
        <a:xfrm>
          <a:off x="0" y="0"/>
          <a:ext cx="0" cy="0"/>
          <a:chOff x="0" y="0"/>
          <a:chExt cx="0" cy="0"/>
        </a:xfrm>
      </p:grpSpPr>
      <p:pic>
        <p:nvPicPr>
          <p:cNvPr id="456" name="Google Shape;456;p3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7" name="Google Shape;445;p34"/>
          <p:cNvSpPr txBox="1">
            <a:spLocks/>
          </p:cNvSpPr>
          <p:nvPr/>
        </p:nvSpPr>
        <p:spPr>
          <a:xfrm>
            <a:off x="261620" y="139700"/>
            <a:ext cx="6443345" cy="695960"/>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4400" dirty="0" smtClean="0">
                <a:latin typeface="+mj-lt"/>
                <a:ea typeface="Cambria"/>
                <a:cs typeface="Cambria"/>
                <a:sym typeface="Cambria"/>
              </a:rPr>
              <a:t>Neural network example</a:t>
            </a:r>
            <a:endParaRPr lang="en-US" sz="4400" dirty="0">
              <a:latin typeface="+mj-lt"/>
              <a:ea typeface="Cambria"/>
              <a:cs typeface="Cambria"/>
              <a:sym typeface="Cambria"/>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75</a:t>
            </a:fld>
            <a:endParaRPr lang="en-US"/>
          </a:p>
        </p:txBody>
      </p:sp>
      <p:pic>
        <p:nvPicPr>
          <p:cNvPr id="5" name="Picture 4"/>
          <p:cNvPicPr>
            <a:picLocks noChangeAspect="1"/>
          </p:cNvPicPr>
          <p:nvPr/>
        </p:nvPicPr>
        <p:blipFill>
          <a:blip r:embed="rId4"/>
          <a:stretch>
            <a:fillRect/>
          </a:stretch>
        </p:blipFill>
        <p:spPr>
          <a:xfrm>
            <a:off x="261620" y="796414"/>
            <a:ext cx="10925175" cy="5629275"/>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pic>
        <p:nvPicPr>
          <p:cNvPr id="449" name="Google Shape;449;p49"/>
          <p:cNvPicPr preferRelativeResize="0"/>
          <p:nvPr/>
        </p:nvPicPr>
        <p:blipFill rotWithShape="1">
          <a:blip r:embed="rId3">
            <a:alphaModFix/>
          </a:blip>
          <a:srcRect/>
          <a:stretch/>
        </p:blipFill>
        <p:spPr>
          <a:xfrm>
            <a:off x="10734474" y="457200"/>
            <a:ext cx="1448025" cy="796414"/>
          </a:xfrm>
          <a:prstGeom prst="rect">
            <a:avLst/>
          </a:prstGeom>
          <a:noFill/>
          <a:ln>
            <a:noFill/>
          </a:ln>
        </p:spPr>
      </p:pic>
      <p:sp>
        <p:nvSpPr>
          <p:cNvPr id="5" name="Google Shape;49;g2019cdaf7c5_1_4"/>
          <p:cNvSpPr txBox="1">
            <a:spLocks/>
          </p:cNvSpPr>
          <p:nvPr/>
        </p:nvSpPr>
        <p:spPr>
          <a:xfrm>
            <a:off x="1055570" y="591208"/>
            <a:ext cx="10627200" cy="73129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09220" marR="27940" indent="-97155" algn="ctr">
              <a:lnSpc>
                <a:spcPct val="108333"/>
              </a:lnSpc>
              <a:defRPr/>
            </a:pPr>
            <a:r>
              <a:rPr lang="en-US" sz="4400" dirty="0">
                <a:solidFill>
                  <a:srgbClr val="000000"/>
                </a:solidFill>
                <a:latin typeface="Arial"/>
                <a:sym typeface="Trebuchet MS"/>
              </a:rPr>
              <a:t>Summarization</a:t>
            </a:r>
            <a:endParaRPr lang="en-US" sz="4400" dirty="0">
              <a:solidFill>
                <a:srgbClr val="000000"/>
              </a:solidFill>
              <a:latin typeface="Arial"/>
            </a:endParaRPr>
          </a:p>
        </p:txBody>
      </p:sp>
      <p:sp>
        <p:nvSpPr>
          <p:cNvPr id="8" name="Google Shape;316;p36"/>
          <p:cNvSpPr txBox="1"/>
          <p:nvPr/>
        </p:nvSpPr>
        <p:spPr>
          <a:xfrm>
            <a:off x="342901" y="1702434"/>
            <a:ext cx="11614637" cy="5656341"/>
          </a:xfrm>
          <a:prstGeom prst="rect">
            <a:avLst/>
          </a:prstGeom>
          <a:noFill/>
          <a:ln>
            <a:noFill/>
          </a:ln>
        </p:spPr>
        <p:txBody>
          <a:bodyPr spcFirstLastPara="1" wrap="square" lIns="0" tIns="5700" rIns="0" bIns="0" anchor="t" anchorCtr="0">
            <a:spAutoFit/>
          </a:bodyPr>
          <a:lstStyle/>
          <a:p>
            <a:pPr marL="355600" marR="5080" indent="-342900">
              <a:lnSpc>
                <a:spcPct val="101800"/>
              </a:lnSpc>
              <a:buSzPts val="2400"/>
              <a:buFont typeface="Arial" panose="020B0604020202020204" pitchFamily="34" charset="0"/>
              <a:buChar char="•"/>
            </a:pPr>
            <a:r>
              <a:rPr lang="en-US" sz="2400" dirty="0">
                <a:ea typeface="Century Schoolbook"/>
                <a:cs typeface="Century Schoolbook"/>
                <a:sym typeface="Century Schoolbook"/>
              </a:rPr>
              <a:t>CNNs, tailored for grid-like data, excel in tasks like image recognition by learning spatial hierarchies of features. In computer vision, they interpret visual data for tasks like image recognition and object detection. </a:t>
            </a:r>
            <a:endParaRPr lang="en-US" sz="2400" dirty="0" smtClean="0">
              <a:ea typeface="Century Schoolbook"/>
              <a:cs typeface="Century Schoolbook"/>
              <a:sym typeface="Century Schoolbook"/>
            </a:endParaRP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Edge </a:t>
            </a:r>
            <a:r>
              <a:rPr lang="en-US" sz="2400" dirty="0">
                <a:ea typeface="Century Schoolbook"/>
                <a:cs typeface="Century Schoolbook"/>
                <a:sym typeface="Century Schoolbook"/>
              </a:rPr>
              <a:t>detection, a key image processing technique, highlights object boundaries. Algorithms like Sobel or Canny enhance edge detection. </a:t>
            </a:r>
            <a:endParaRPr lang="en-US" sz="2400" dirty="0" smtClean="0">
              <a:ea typeface="Century Schoolbook"/>
              <a:cs typeface="Century Schoolbook"/>
              <a:sym typeface="Century Schoolbook"/>
            </a:endParaRP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Padding </a:t>
            </a:r>
            <a:r>
              <a:rPr lang="en-US" sz="2400" dirty="0">
                <a:ea typeface="Century Schoolbook"/>
                <a:cs typeface="Century Schoolbook"/>
                <a:sym typeface="Century Schoolbook"/>
              </a:rPr>
              <a:t>adds border pixels to maintain spatial information during convolutions. </a:t>
            </a:r>
            <a:endParaRPr lang="en-US" sz="2400" dirty="0" smtClean="0">
              <a:ea typeface="Century Schoolbook"/>
              <a:cs typeface="Century Schoolbook"/>
              <a:sym typeface="Century Schoolbook"/>
            </a:endParaRPr>
          </a:p>
          <a:p>
            <a:pPr marL="355600" marR="5080" indent="-342900">
              <a:lnSpc>
                <a:spcPct val="101800"/>
              </a:lnSpc>
              <a:buSzPts val="2400"/>
              <a:buFont typeface="Arial" panose="020B0604020202020204" pitchFamily="34" charset="0"/>
              <a:buChar char="•"/>
            </a:pPr>
            <a:r>
              <a:rPr lang="en-US" sz="2400" dirty="0" err="1" smtClean="0">
                <a:ea typeface="Century Schoolbook"/>
                <a:cs typeface="Century Schoolbook"/>
                <a:sym typeface="Century Schoolbook"/>
              </a:rPr>
              <a:t>Strided</a:t>
            </a:r>
            <a:r>
              <a:rPr lang="en-US" sz="2400" dirty="0" smtClean="0">
                <a:ea typeface="Century Schoolbook"/>
                <a:cs typeface="Century Schoolbook"/>
                <a:sym typeface="Century Schoolbook"/>
              </a:rPr>
              <a:t> </a:t>
            </a:r>
            <a:r>
              <a:rPr lang="en-US" sz="2400" dirty="0">
                <a:ea typeface="Century Schoolbook"/>
                <a:cs typeface="Century Schoolbook"/>
                <a:sym typeface="Century Schoolbook"/>
              </a:rPr>
              <a:t>convolutions skip pixels, reducing output volume dimensions. </a:t>
            </a:r>
            <a:endParaRPr lang="en-US" sz="2400" dirty="0" smtClean="0">
              <a:ea typeface="Century Schoolbook"/>
              <a:cs typeface="Century Schoolbook"/>
              <a:sym typeface="Century Schoolbook"/>
            </a:endParaRP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CNNs </a:t>
            </a:r>
            <a:r>
              <a:rPr lang="en-US" sz="2400" dirty="0">
                <a:ea typeface="Century Schoolbook"/>
                <a:cs typeface="Century Schoolbook"/>
                <a:sym typeface="Century Schoolbook"/>
              </a:rPr>
              <a:t>handle multi-dimensional data, like RGB images, with convolutions across all dimensions. A CNN layer involves filters applying convolutions followed by </a:t>
            </a:r>
            <a:r>
              <a:rPr lang="en-US" sz="2400" dirty="0" err="1">
                <a:ea typeface="Century Schoolbook"/>
                <a:cs typeface="Century Schoolbook"/>
                <a:sym typeface="Century Schoolbook"/>
              </a:rPr>
              <a:t>ReLU</a:t>
            </a:r>
            <a:r>
              <a:rPr lang="en-US" sz="2400" dirty="0">
                <a:ea typeface="Century Schoolbook"/>
                <a:cs typeface="Century Schoolbook"/>
                <a:sym typeface="Century Schoolbook"/>
              </a:rPr>
              <a:t> activation. </a:t>
            </a:r>
            <a:endParaRPr lang="en-US" sz="2400" dirty="0" smtClean="0">
              <a:ea typeface="Century Schoolbook"/>
              <a:cs typeface="Century Schoolbook"/>
              <a:sym typeface="Century Schoolbook"/>
            </a:endParaRP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A </a:t>
            </a:r>
            <a:r>
              <a:rPr lang="en-US" sz="2400" dirty="0">
                <a:ea typeface="Century Schoolbook"/>
                <a:cs typeface="Century Schoolbook"/>
                <a:sym typeface="Century Schoolbook"/>
              </a:rPr>
              <a:t>basic CNN structure includes convolutional layers, activation functions, pooling layers, and fully connected layers. </a:t>
            </a:r>
            <a:endParaRPr lang="en-US" sz="2400" dirty="0" smtClean="0">
              <a:ea typeface="Century Schoolbook"/>
              <a:cs typeface="Century Schoolbook"/>
              <a:sym typeface="Century Schoolbook"/>
            </a:endParaRP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Pooling </a:t>
            </a:r>
            <a:r>
              <a:rPr lang="en-US" sz="2400" dirty="0">
                <a:ea typeface="Century Schoolbook"/>
                <a:cs typeface="Century Schoolbook"/>
                <a:sym typeface="Century Schoolbook"/>
              </a:rPr>
              <a:t>layers reduce spatial dimensions, retaining vital information. </a:t>
            </a:r>
            <a:endParaRPr lang="en-US" sz="2400" dirty="0" smtClean="0">
              <a:ea typeface="Century Schoolbook"/>
              <a:cs typeface="Century Schoolbook"/>
              <a:sym typeface="Century Schoolbook"/>
            </a:endParaRP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In </a:t>
            </a:r>
            <a:r>
              <a:rPr lang="en-US" sz="2400" dirty="0">
                <a:ea typeface="Century Schoolbook"/>
                <a:cs typeface="Century Schoolbook"/>
                <a:sym typeface="Century Schoolbook"/>
              </a:rPr>
              <a:t>a complete CNN, multiple convolutional, pooling, and fully connected layers form a deep learning architecture for tasks like image classification.</a:t>
            </a:r>
            <a:endParaRPr lang="en-US" sz="2000" dirty="0">
              <a:ea typeface="Century Schoolbook"/>
              <a:cs typeface="Century Schoolbook"/>
              <a:sym typeface="Century Schoolbook"/>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76</a:t>
            </a:fld>
            <a:endParaRPr lang="en-US"/>
          </a:p>
        </p:txBody>
      </p:sp>
    </p:spTree>
    <p:extLst>
      <p:ext uri="{BB962C8B-B14F-4D97-AF65-F5344CB8AC3E}">
        <p14:creationId xmlns:p14="http://schemas.microsoft.com/office/powerpoint/2010/main" val="28787969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2120</TotalTime>
  <Words>5412</Words>
  <Application>Microsoft Office PowerPoint</Application>
  <PresentationFormat>Custom</PresentationFormat>
  <Paragraphs>498</Paragraphs>
  <Slides>76</Slides>
  <Notes>76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76</vt:i4>
      </vt:variant>
    </vt:vector>
  </HeadingPairs>
  <TitlesOfParts>
    <vt:vector size="85" baseType="lpstr">
      <vt:lpstr>Trebuchet MS</vt:lpstr>
      <vt:lpstr>Century Schoolbook</vt:lpstr>
      <vt:lpstr>Roboto</vt:lpstr>
      <vt:lpstr>Cambria</vt:lpstr>
      <vt:lpstr>Calibri</vt:lpstr>
      <vt:lpstr>Cambria Math</vt:lpstr>
      <vt:lpstr>Arial</vt:lpstr>
      <vt:lpstr>Times New Roman</vt:lpstr>
      <vt:lpstr>Office Theme</vt:lpstr>
      <vt:lpstr>Convolutional Neural Networks</vt:lpstr>
      <vt:lpstr>Convolutional Neural Networks </vt:lpstr>
      <vt:lpstr>Convolutional Neural Networks </vt:lpstr>
      <vt:lpstr>PowerPoint Presentation</vt:lpstr>
      <vt:lpstr>Why Convolutional Neural Networks?</vt:lpstr>
      <vt:lpstr>Why Convolutional Neural Networks?</vt:lpstr>
      <vt:lpstr>Why Convolutional Neural Networks?</vt:lpstr>
      <vt:lpstr>Why Convolutional Neural Networks?</vt:lpstr>
      <vt:lpstr>PowerPoint Presentation</vt:lpstr>
      <vt:lpstr>Convolutional Neural Networks</vt:lpstr>
      <vt:lpstr>Computer vision</vt:lpstr>
      <vt:lpstr>Computer Vision Problems</vt:lpstr>
      <vt:lpstr>Deep Learning on large images</vt:lpstr>
      <vt:lpstr>Convolution</vt:lpstr>
      <vt:lpstr>Convolution</vt:lpstr>
      <vt:lpstr>Convolution</vt:lpstr>
      <vt:lpstr>Convolutional Neural Networks</vt:lpstr>
      <vt:lpstr>Edge detection example</vt:lpstr>
      <vt:lpstr>Convolution</vt:lpstr>
      <vt:lpstr>Convolution</vt:lpstr>
      <vt:lpstr>Convolution</vt:lpstr>
      <vt:lpstr>Edge detection example</vt:lpstr>
      <vt:lpstr>Edge detection example</vt:lpstr>
      <vt:lpstr>Vertical edge detection</vt:lpstr>
      <vt:lpstr>Convolutional Neural Networks</vt:lpstr>
      <vt:lpstr>More edge detection</vt:lpstr>
      <vt:lpstr>Vertical edge detection examples</vt:lpstr>
      <vt:lpstr>Horizontal edge detection examples</vt:lpstr>
      <vt:lpstr>Learning to detect edges</vt:lpstr>
      <vt:lpstr>More edge detection</vt:lpstr>
      <vt:lpstr>Convolutional Neural Networks</vt:lpstr>
      <vt:lpstr>Padding</vt:lpstr>
      <vt:lpstr>Padding</vt:lpstr>
      <vt:lpstr>Padding</vt:lpstr>
      <vt:lpstr>Padding</vt:lpstr>
      <vt:lpstr>Padding</vt:lpstr>
      <vt:lpstr>Convolutional Neural Networks</vt:lpstr>
      <vt:lpstr>Strided convolutions</vt:lpstr>
      <vt:lpstr>Strided convolutions</vt:lpstr>
      <vt:lpstr>Strided convolutions</vt:lpstr>
      <vt:lpstr>Convolutional Neural Networks</vt:lpstr>
      <vt:lpstr>Convolutions on RGB image</vt:lpstr>
      <vt:lpstr>Convolutions on RGB image</vt:lpstr>
      <vt:lpstr>Convolutions on RGB image</vt:lpstr>
      <vt:lpstr>Convolutions on RGB image</vt:lpstr>
      <vt:lpstr>PowerPoint Presentation</vt:lpstr>
      <vt:lpstr>PowerPoint Presentation</vt:lpstr>
      <vt:lpstr>Convolutions on RGB image</vt:lpstr>
      <vt:lpstr>PowerPoint Presentation</vt:lpstr>
      <vt:lpstr>Multiple filters</vt:lpstr>
      <vt:lpstr>Multiple filters</vt:lpstr>
      <vt:lpstr>Convolutional Neural Networks</vt:lpstr>
      <vt:lpstr>One layer of a convolutional network</vt:lpstr>
      <vt:lpstr>Example of a layer</vt:lpstr>
      <vt:lpstr>Example of a layer</vt:lpstr>
      <vt:lpstr>Example of a layer</vt:lpstr>
      <vt:lpstr>One layer of a convolutional network</vt:lpstr>
      <vt:lpstr>Example of a layer</vt:lpstr>
      <vt:lpstr>PowerPoint Presentation</vt:lpstr>
      <vt:lpstr>PowerPoint Presentation</vt:lpstr>
      <vt:lpstr>Convolutional Neural Networks</vt:lpstr>
      <vt:lpstr>A simple convolution network example</vt:lpstr>
      <vt:lpstr>Example of ConvNet</vt:lpstr>
      <vt:lpstr>Types of layer in a convolutional network:</vt:lpstr>
      <vt:lpstr>PowerPoint Presentation</vt:lpstr>
      <vt:lpstr>Pooling layers</vt:lpstr>
      <vt:lpstr>Pooling layers: Max pooling</vt:lpstr>
      <vt:lpstr>Pooling layers: Max pooling</vt:lpstr>
      <vt:lpstr>Pooling layers: Average pooling</vt:lpstr>
      <vt:lpstr>Summary of pooling</vt:lpstr>
      <vt:lpstr>Advantages of Pooling Layer</vt:lpstr>
      <vt:lpstr>Disadvantages of Pooling Layer</vt:lpstr>
      <vt:lpstr>PowerPoint Presentation</vt:lpstr>
      <vt:lpstr>Convolutional neural network example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Convolutional Neural Networks</dc:title>
  <dc:creator>user</dc:creator>
  <cp:lastModifiedBy>Phạm Trọng Nghĩa</cp:lastModifiedBy>
  <cp:revision>165</cp:revision>
  <dcterms:created xsi:type="dcterms:W3CDTF">2023-02-01T06:41:04Z</dcterms:created>
  <dcterms:modified xsi:type="dcterms:W3CDTF">2023-12-14T11:36:38Z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2023-02-01T00:00:00Z</vt:filetime>
  </property>
  <property fmtid="{D5CDD505-2E9C-101B-9397-08002B2CF9AE}" pid="3" name="LastSaved">
    <vt:filetime>2023-02-01T00:00:00Z</vt:filetime>
  </property>
</Properties>
</file>