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omments/modernComment_12A_2E31CCCD.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6"/>
  </p:notesMasterIdLst>
  <p:sldIdLst>
    <p:sldId id="256" r:id="rId2"/>
    <p:sldId id="314" r:id="rId3"/>
    <p:sldId id="257" r:id="rId4"/>
    <p:sldId id="288" r:id="rId5"/>
    <p:sldId id="322" r:id="rId6"/>
    <p:sldId id="323" r:id="rId7"/>
    <p:sldId id="261" r:id="rId8"/>
    <p:sldId id="290" r:id="rId9"/>
    <p:sldId id="262" r:id="rId10"/>
    <p:sldId id="292" r:id="rId11"/>
    <p:sldId id="291" r:id="rId12"/>
    <p:sldId id="266" r:id="rId13"/>
    <p:sldId id="293" r:id="rId14"/>
    <p:sldId id="267" r:id="rId15"/>
    <p:sldId id="294" r:id="rId16"/>
    <p:sldId id="268" r:id="rId17"/>
    <p:sldId id="269" r:id="rId18"/>
    <p:sldId id="295" r:id="rId19"/>
    <p:sldId id="318" r:id="rId20"/>
    <p:sldId id="319" r:id="rId21"/>
    <p:sldId id="296" r:id="rId22"/>
    <p:sldId id="272" r:id="rId23"/>
    <p:sldId id="297" r:id="rId24"/>
    <p:sldId id="320" r:id="rId25"/>
    <p:sldId id="277" r:id="rId26"/>
    <p:sldId id="321" r:id="rId27"/>
    <p:sldId id="279" r:id="rId28"/>
    <p:sldId id="278" r:id="rId29"/>
    <p:sldId id="298" r:id="rId30"/>
    <p:sldId id="280" r:id="rId31"/>
    <p:sldId id="301" r:id="rId32"/>
    <p:sldId id="307" r:id="rId33"/>
    <p:sldId id="325" r:id="rId34"/>
    <p:sldId id="324" r:id="rId35"/>
    <p:sldId id="309" r:id="rId36"/>
    <p:sldId id="311" r:id="rId37"/>
    <p:sldId id="283" r:id="rId38"/>
    <p:sldId id="326" r:id="rId39"/>
    <p:sldId id="306" r:id="rId40"/>
    <p:sldId id="284" r:id="rId41"/>
    <p:sldId id="304" r:id="rId42"/>
    <p:sldId id="303" r:id="rId43"/>
    <p:sldId id="285" r:id="rId44"/>
    <p:sldId id="286" r:id="rId45"/>
    <p:sldId id="313" r:id="rId46"/>
    <p:sldId id="327" r:id="rId47"/>
    <p:sldId id="328" r:id="rId48"/>
    <p:sldId id="329" r:id="rId49"/>
    <p:sldId id="330" r:id="rId50"/>
    <p:sldId id="331" r:id="rId51"/>
    <p:sldId id="332" r:id="rId52"/>
    <p:sldId id="333" r:id="rId53"/>
    <p:sldId id="334" r:id="rId54"/>
    <p:sldId id="315" r:id="rId55"/>
  </p:sldIdLst>
  <p:sldSz cx="12192000" cy="6858000"/>
  <p:notesSz cx="12192000" cy="6858000"/>
  <p:embeddedFontLst>
    <p:embeddedFont>
      <p:font typeface="Trebuchet MS" panose="020B0603020202020204" pitchFamily="34" charset="0"/>
      <p:regular r:id="rId57"/>
      <p:bold r:id="rId58"/>
      <p:italic r:id="rId59"/>
      <p:boldItalic r:id="rId60"/>
    </p:embeddedFont>
    <p:embeddedFont>
      <p:font typeface="Century Schoolbook" panose="02040604050505020304" pitchFamily="18" charset="0"/>
      <p:regular r:id="rId61"/>
      <p:bold r:id="rId62"/>
      <p:italic r:id="rId63"/>
      <p:boldItalic r:id="rId64"/>
    </p:embeddedFont>
    <p:embeddedFont>
      <p:font typeface="Calibri" panose="020F0502020204030204" pitchFamily="34" charset="0"/>
      <p:regular r:id="rId65"/>
      <p:bold r:id="rId66"/>
      <p:italic r:id="rId67"/>
      <p:boldItalic r:id="rId68"/>
    </p:embeddedFont>
    <p:embeddedFont>
      <p:font typeface="Cambria" panose="02040503050406030204" pitchFamily="18" charset="0"/>
      <p:regular r:id="rId69"/>
      <p:bold r:id="rId70"/>
      <p:italic r:id="rId71"/>
      <p:boldItalic r:id="rId72"/>
    </p:embeddedFont>
    <p:embeddedFont>
      <p:font typeface="Cambria Math" panose="02040503050406030204" pitchFamily="18" charset="0"/>
      <p:regular r:id="rId73"/>
    </p:embeddedFont>
    <p:embeddedFont>
      <p:font typeface="Cascadia Code Light" panose="020B0609020000020004" pitchFamily="49" charset="0"/>
      <p:regular r:id="rId74"/>
    </p:embeddedFont>
    <p:embeddedFont>
      <p:font typeface="Roboto" panose="020B060402020202020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1" roundtripDataSignature="AMtx7mgcBKtGdAq3CoDjuBvxlNcHPlbjo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535274-4E36-3D15-E557-7165117FA293}" name="Tùng Thanh" initials="TT" userId="7cf5fc9c47e13e7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738" autoAdjust="0"/>
  </p:normalViewPr>
  <p:slideViewPr>
    <p:cSldViewPr snapToGrid="0">
      <p:cViewPr varScale="1">
        <p:scale>
          <a:sx n="84" d="100"/>
          <a:sy n="84" d="100"/>
        </p:scale>
        <p:origin x="1596" y="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font" Target="fonts/font12.fntdata"/><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font" Target="fonts/font2.fntdata"/><Relationship Id="rId74" Type="http://schemas.openxmlformats.org/officeDocument/2006/relationships/font" Target="fonts/font18.fntdata"/><Relationship Id="rId5" Type="http://schemas.openxmlformats.org/officeDocument/2006/relationships/slide" Target="slides/slide4.xml"/><Relationship Id="rId61" Type="http://schemas.openxmlformats.org/officeDocument/2006/relationships/font" Target="fonts/font5.fntdata"/><Relationship Id="rId8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font" Target="fonts/font13.fntdata"/><Relationship Id="rId77"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6.fntdata"/><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openxmlformats.org/officeDocument/2006/relationships/font" Target="fonts/font14.fntdata"/><Relationship Id="rId75" Type="http://schemas.openxmlformats.org/officeDocument/2006/relationships/font" Target="fonts/font19.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font" Target="fonts/font17.fntdata"/><Relationship Id="rId78" Type="http://schemas.openxmlformats.org/officeDocument/2006/relationships/font" Target="fonts/font22.fntdata"/><Relationship Id="rId81" Type="http://customschemas.google.com/relationships/presentationmetadata" Target="metadata"/><Relationship Id="rId86"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0.fntdata"/><Relationship Id="rId7" Type="http://schemas.openxmlformats.org/officeDocument/2006/relationships/slide" Target="slides/slide6.xml"/><Relationship Id="rId71"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10.fntdata"/></Relationships>
</file>

<file path=ppt/comments/modernComment_12A_2E31CCCD.xml><?xml version="1.0" encoding="utf-8"?>
<p188:cmLst xmlns:a="http://schemas.openxmlformats.org/drawingml/2006/main" xmlns:r="http://schemas.openxmlformats.org/officeDocument/2006/relationships" xmlns:p188="http://schemas.microsoft.com/office/powerpoint/2018/8/main">
  <p188:cm id="{79ECB845-FCA5-4C9C-873F-29049B859693}" authorId="{A8535274-4E36-3D15-E557-7165117FA293}" created="2023-05-04T03:42:30.572">
    <pc:sldMkLst xmlns:pc="http://schemas.microsoft.com/office/powerpoint/2013/main/command">
      <pc:docMk/>
      <pc:sldMk cId="775015629" sldId="298"/>
    </pc:sldMkLst>
    <p188:txBody>
      <a:bodyPr/>
      <a:lstStyle/>
      <a:p>
        <a:r>
          <a:rPr lang="en-US"/>
          <a:t>Slide này được bổ sung theo video bài giảng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1ded2e0fa68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g1ded2e0fa68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1ded2e0fa68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g1ded2e0fa68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869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 name="Google Shape;49;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6531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Traditionally,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were sampled on a grid, but in deep learning, it's recommended to sample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randomly instead. This is because it's difficult to know in advance which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are most important for a specific problem. </a:t>
            </a:r>
            <a:r>
              <a:rPr lang="en-US" sz="1100" b="1" i="0" u="none" strike="noStrike" cap="none" dirty="0" smtClean="0">
                <a:solidFill>
                  <a:srgbClr val="000000"/>
                </a:solidFill>
                <a:latin typeface="Arial"/>
                <a:ea typeface="Arial"/>
                <a:cs typeface="Arial"/>
                <a:sym typeface="Arial"/>
              </a:rPr>
              <a:t>Random sampling</a:t>
            </a:r>
            <a:r>
              <a:rPr lang="en-US" sz="1100" b="0" i="0" u="none" strike="noStrike" cap="none" dirty="0" smtClean="0">
                <a:solidFill>
                  <a:srgbClr val="000000"/>
                </a:solidFill>
                <a:latin typeface="Arial"/>
                <a:ea typeface="Arial"/>
                <a:cs typeface="Arial"/>
                <a:sym typeface="Arial"/>
              </a:rPr>
              <a:t> allows for a more rich exploration of a wide range of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which increases the likelihood of finding the best setting.</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Another common practice in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tuning is a </a:t>
            </a:r>
            <a:r>
              <a:rPr lang="en-US" sz="1100" b="1" i="0" u="none" strike="noStrike" cap="none" dirty="0" smtClean="0">
                <a:solidFill>
                  <a:srgbClr val="000000"/>
                </a:solidFill>
                <a:latin typeface="Arial"/>
                <a:ea typeface="Arial"/>
                <a:cs typeface="Arial"/>
                <a:sym typeface="Arial"/>
              </a:rPr>
              <a:t>coarse-to-fine sampling scheme</a:t>
            </a:r>
            <a:r>
              <a:rPr lang="en-US" sz="1100" b="0" i="0" u="none" strike="noStrike" cap="none" dirty="0" smtClean="0">
                <a:solidFill>
                  <a:srgbClr val="000000"/>
                </a:solidFill>
                <a:latin typeface="Arial"/>
                <a:ea typeface="Arial"/>
                <a:cs typeface="Arial"/>
                <a:sym typeface="Arial"/>
              </a:rPr>
              <a:t>. This involves starting with a coarse sampling of the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space and then zooming in on promising regions for more dense sampling. This can help focus resources on the most promising areas of the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space.</a:t>
            </a:r>
          </a:p>
          <a:p>
            <a:pPr marL="342900" indent="-342900">
              <a:buFont typeface="Arial" panose="020B0604020202020204" pitchFamily="34" charset="0"/>
              <a:buChar char="•"/>
            </a:pPr>
            <a:r>
              <a:rPr lang="en-US" sz="1100" b="1" i="0" u="none" strike="noStrike" cap="none" dirty="0" smtClean="0">
                <a:solidFill>
                  <a:srgbClr val="000000"/>
                </a:solidFill>
                <a:latin typeface="Arial"/>
                <a:ea typeface="Arial"/>
                <a:cs typeface="Arial"/>
                <a:sym typeface="Arial"/>
              </a:rPr>
              <a:t>Random sampling</a:t>
            </a:r>
            <a:r>
              <a:rPr lang="en-US" sz="1100" b="0" i="0" u="none" strike="noStrike" cap="none" dirty="0" smtClean="0">
                <a:solidFill>
                  <a:srgbClr val="000000"/>
                </a:solidFill>
                <a:latin typeface="Arial"/>
                <a:ea typeface="Arial"/>
                <a:cs typeface="Arial"/>
                <a:sym typeface="Arial"/>
              </a:rPr>
              <a:t> and a </a:t>
            </a:r>
            <a:r>
              <a:rPr lang="en-US" sz="1100" b="1" i="0" u="none" strike="noStrike" cap="none" dirty="0" smtClean="0">
                <a:solidFill>
                  <a:srgbClr val="000000"/>
                </a:solidFill>
                <a:latin typeface="Arial"/>
                <a:ea typeface="Arial"/>
                <a:cs typeface="Arial"/>
                <a:sym typeface="Arial"/>
              </a:rPr>
              <a:t>coarse-to-fine sampling scheme</a:t>
            </a:r>
            <a:r>
              <a:rPr lang="en-US" sz="1100" b="0" i="0" u="none" strike="noStrike" cap="none" dirty="0" smtClean="0">
                <a:solidFill>
                  <a:srgbClr val="000000"/>
                </a:solidFill>
                <a:latin typeface="Arial"/>
                <a:ea typeface="Arial"/>
                <a:cs typeface="Arial"/>
                <a:sym typeface="Arial"/>
              </a:rPr>
              <a:t> is used to systematically organize the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tuning process. The goal is to try out a wide range of values for each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to find the best setting for the specific problem.</a:t>
            </a:r>
          </a:p>
          <a:p>
            <a:pPr marL="0" lvl="0" indent="0" algn="l" rtl="0">
              <a:lnSpc>
                <a:spcPct val="100000"/>
              </a:lnSpc>
              <a:spcBef>
                <a:spcPts val="0"/>
              </a:spcBef>
              <a:spcAft>
                <a:spcPts val="0"/>
              </a:spcAft>
              <a:buSzPts val="1100"/>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4057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4111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66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Choosing values randomly from a uniform distribution over a range might not be the most effective strategy for certain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like the learning rate (alpha) or the beta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utilized in calculating exponentially weighted averages..</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When dealing with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like alpha, it is more suitable to sample on a logarithmic scale. This allows for more resources to be dedicated to searching over the lower end of the range, where small changes in alpha can have a big impact on results. </a:t>
            </a:r>
          </a:p>
          <a:p>
            <a:r>
              <a:rPr lang="en-US" sz="1100" b="0" i="0" u="none" strike="noStrike" cap="none" dirty="0" smtClean="0">
                <a:solidFill>
                  <a:srgbClr val="000000"/>
                </a:solidFill>
                <a:latin typeface="Arial"/>
                <a:ea typeface="Arial"/>
                <a:cs typeface="Arial"/>
                <a:sym typeface="Arial"/>
              </a:rPr>
              <a:t>	</a:t>
            </a:r>
            <a:r>
              <a:rPr lang="en-US" sz="1050" b="0" i="0" u="none" strike="noStrike" cap="none" dirty="0" smtClean="0">
                <a:solidFill>
                  <a:srgbClr val="000000"/>
                </a:solidFill>
                <a:latin typeface="Arial"/>
                <a:ea typeface="Arial"/>
                <a:cs typeface="Arial"/>
                <a:sym typeface="Arial"/>
              </a:rPr>
              <a:t>- To sample on a logarithmic scale in Python, you can use the formula alpha = 10 to the 	power of r, where r is a random number between -4 and 0.</a:t>
            </a:r>
          </a:p>
          <a:p>
            <a:pPr marL="0" lvl="0" indent="0" algn="l" rtl="0">
              <a:lnSpc>
                <a:spcPct val="100000"/>
              </a:lnSpc>
              <a:spcBef>
                <a:spcPts val="0"/>
              </a:spcBef>
              <a:spcAft>
                <a:spcPts val="0"/>
              </a:spcAft>
              <a:buSzPts val="1100"/>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85207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For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such as beta, it's best to explore the range of values for 1 minus beta, which ranges from 0.1 to 0.001, and sample uniformly at random over this range. This allows for more resources to be dedicated to exploring the range of values where small changes in beta can have a big impact on results.</a:t>
            </a:r>
          </a:p>
          <a:p>
            <a:pPr marL="342900" indent="-342900">
              <a:buFont typeface="Arial" panose="020B0604020202020204" pitchFamily="34" charset="0"/>
              <a:buChar char="•"/>
            </a:pPr>
            <a:endParaRPr lang="en-US" sz="1100" b="0" i="0" u="none" strike="noStrike" cap="none" dirty="0" smtClean="0">
              <a:solidFill>
                <a:srgbClr val="000000"/>
              </a:solidFill>
              <a:latin typeface="Arial"/>
              <a:ea typeface="Arial"/>
              <a:cs typeface="Arial"/>
              <a:sym typeface="Arial"/>
            </a:endParaRP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While it's important to select the appropriate scale to explore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notes that even if you don't make the optimal scaling decision, you can still get okay results. Using a coarse to fine search can also be an effective way to focus on the most useful range of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values in later iterations. </a:t>
            </a:r>
          </a:p>
          <a:p>
            <a:pPr marL="342900" indent="-342900">
              <a:buFont typeface="Arial" panose="020B0604020202020204" pitchFamily="34" charset="0"/>
              <a:buChar char="•"/>
            </a:pPr>
            <a:endParaRPr lang="en-US" sz="1100" b="0" i="0" u="none" strike="noStrike" cap="none" dirty="0" smtClean="0">
              <a:solidFill>
                <a:srgbClr val="000000"/>
              </a:solidFill>
              <a:latin typeface="Arial"/>
              <a:ea typeface="Arial"/>
              <a:cs typeface="Arial"/>
              <a:sym typeface="Arial"/>
            </a:endParaRP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How to organize your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search process to make it more efficient? (the next section)</a:t>
            </a:r>
          </a:p>
          <a:p>
            <a:pPr marL="0" lvl="0" indent="0" algn="l" rtl="0">
              <a:lnSpc>
                <a:spcPct val="100000"/>
              </a:lnSpc>
              <a:spcBef>
                <a:spcPts val="0"/>
              </a:spcBef>
              <a:spcAft>
                <a:spcPts val="0"/>
              </a:spcAft>
              <a:buSzPts val="1100"/>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5192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Some final tips and tricks for organizing the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search process in deep learning. Intuitions about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settings from one application area may or may not transfer to a different one. However, there is a lot of cross-fertilization among different domains, and people increasingly read research papers from other application domains to look for inspiration for cross-fertilization.</a:t>
            </a:r>
          </a:p>
          <a:p>
            <a:pPr marL="342900" indent="-342900">
              <a:buFont typeface="Arial" panose="020B0604020202020204" pitchFamily="34" charset="0"/>
              <a:buChar char="•"/>
            </a:pPr>
            <a:endParaRPr lang="en-US" sz="1100" b="0" i="0" u="none" strike="noStrike" cap="none" dirty="0" smtClean="0">
              <a:solidFill>
                <a:srgbClr val="000000"/>
              </a:solidFill>
              <a:latin typeface="Arial"/>
              <a:ea typeface="Arial"/>
              <a:cs typeface="Arial"/>
              <a:sym typeface="Arial"/>
            </a:endParaRP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Retesting or reevaluating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at least once every several months to make sure that the best setting of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is not getting stale due to changes in data, algorithm development, or upgrades in servers.</a:t>
            </a:r>
          </a:p>
          <a:p>
            <a:pPr marL="0" lvl="0" indent="0" algn="l" rtl="0">
              <a:lnSpc>
                <a:spcPct val="100000"/>
              </a:lnSpc>
              <a:spcBef>
                <a:spcPts val="0"/>
              </a:spcBef>
              <a:spcAft>
                <a:spcPts val="0"/>
              </a:spcAft>
              <a:buSzPts val="1100"/>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61151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One approach is the "panda approach," where people babysit one model gradually and patiently nudge the learning rate up or down, usually when there are limited computational resources. </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The other approach is the "caviar strategy," where people train many models in parallel to try a lot of different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settings and then quickly pick the one that works best. The choice between these two approaches depends on how much computational resources one has.</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Another technique can make neural networks more robust to the choice of </a:t>
            </a:r>
            <a:r>
              <a:rPr lang="en-US" sz="1100" b="0" i="0" u="none" strike="noStrike" cap="none" dirty="0" err="1" smtClean="0">
                <a:solidFill>
                  <a:srgbClr val="000000"/>
                </a:solidFill>
                <a:latin typeface="Arial"/>
                <a:ea typeface="Arial"/>
                <a:cs typeface="Arial"/>
                <a:sym typeface="Arial"/>
              </a:rPr>
              <a:t>hyperparameters</a:t>
            </a:r>
            <a:r>
              <a:rPr lang="en-US" sz="1100" b="0" i="0" u="none" strike="noStrike" cap="none" dirty="0" smtClean="0">
                <a:solidFill>
                  <a:srgbClr val="000000"/>
                </a:solidFill>
                <a:latin typeface="Arial"/>
                <a:ea typeface="Arial"/>
                <a:cs typeface="Arial"/>
                <a:sym typeface="Arial"/>
              </a:rPr>
              <a:t>. This technique does not work for all neural networks, but when it does, it can make the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search much easier and also make training go much faster. This technique will be introduced in the next section.</a:t>
            </a:r>
          </a:p>
          <a:p>
            <a:pPr marL="0" lvl="0" indent="0" algn="l" rtl="0">
              <a:lnSpc>
                <a:spcPct val="100000"/>
              </a:lnSpc>
              <a:spcBef>
                <a:spcPts val="0"/>
              </a:spcBef>
              <a:spcAft>
                <a:spcPts val="0"/>
              </a:spcAft>
              <a:buSzPts val="1100"/>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6161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Batch normalization is an algorithm developed by researchers Sergey </a:t>
            </a:r>
            <a:r>
              <a:rPr lang="en-US" sz="1100" b="0" i="0" u="none" strike="noStrike" cap="none" dirty="0" err="1" smtClean="0">
                <a:solidFill>
                  <a:srgbClr val="000000"/>
                </a:solidFill>
                <a:latin typeface="Arial"/>
                <a:ea typeface="Arial"/>
                <a:cs typeface="Arial"/>
                <a:sym typeface="Arial"/>
              </a:rPr>
              <a:t>Ioffe</a:t>
            </a:r>
            <a:r>
              <a:rPr lang="en-US" sz="1100" b="0" i="0" u="none" strike="noStrike" cap="none" dirty="0" smtClean="0">
                <a:solidFill>
                  <a:srgbClr val="000000"/>
                </a:solidFill>
                <a:latin typeface="Arial"/>
                <a:ea typeface="Arial"/>
                <a:cs typeface="Arial"/>
                <a:sym typeface="Arial"/>
              </a:rPr>
              <a:t> and Christian </a:t>
            </a:r>
            <a:r>
              <a:rPr lang="en-US" sz="1100" b="0" i="0" u="none" strike="noStrike" cap="none" dirty="0" err="1" smtClean="0">
                <a:solidFill>
                  <a:srgbClr val="000000"/>
                </a:solidFill>
                <a:latin typeface="Arial"/>
                <a:ea typeface="Arial"/>
                <a:cs typeface="Arial"/>
                <a:sym typeface="Arial"/>
              </a:rPr>
              <a:t>Szegedy</a:t>
            </a:r>
            <a:r>
              <a:rPr lang="en-US" sz="1100" b="0" i="0" u="none" strike="noStrike" cap="none" dirty="0" smtClean="0">
                <a:solidFill>
                  <a:srgbClr val="000000"/>
                </a:solidFill>
                <a:latin typeface="Arial"/>
                <a:ea typeface="Arial"/>
                <a:cs typeface="Arial"/>
                <a:sym typeface="Arial"/>
              </a:rPr>
              <a:t> that is used to normalize the mean and variance of the hidden unit values in deep neural networks. </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The idea is similar to how input features are normalized to speed up learning in logistic regression. However, in deep neural networks, you have multiple hidden layers, each with their own set of activations, so you want to normalize those activations to make the training of the network more efficient.</a:t>
            </a: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To implement batch normalization, you first compute the mean and variance of the hidden unit values, and then normalize them by subtracting off the mean and dividing by the standard deviation. This makes every component of the hidden unit have mean 0 and variance 1. However, you don't want the hidden units to always have mean 0 and variance 1, so you use learnable parameters gamma and beta to adjust the mean and variance to other values.</a:t>
            </a: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0671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462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69251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The effect of gamma and beta is that they allow you to set the mean of the normalized hidden unit values to be whatever you want it to be. By appropriately setting gamma and beta, you can make the hidden unit values have other means and variances as well. So instead of using the original hidden unit values, you use the normalized hidden unit values with gamma and beta to perform subsequent computations in the neural network.</a:t>
            </a:r>
          </a:p>
          <a:p>
            <a:pPr marL="342900" indent="-342900">
              <a:buFont typeface="Arial" panose="020B0604020202020204" pitchFamily="34" charset="0"/>
              <a:buChar char="•"/>
            </a:pPr>
            <a:endParaRPr lang="en-US" sz="1100" b="0" i="0" u="none" strike="noStrike" cap="none" dirty="0" smtClean="0">
              <a:solidFill>
                <a:srgbClr val="000000"/>
              </a:solidFill>
              <a:latin typeface="Arial"/>
              <a:ea typeface="Arial"/>
              <a:cs typeface="Arial"/>
              <a:sym typeface="Arial"/>
            </a:endParaRPr>
          </a:p>
          <a:p>
            <a:pPr marL="342900" indent="-342900">
              <a:buFont typeface="Arial" panose="020B0604020202020204" pitchFamily="34" charset="0"/>
              <a:buChar char="•"/>
            </a:pPr>
            <a:r>
              <a:rPr lang="en-US" sz="1100" b="0" i="0" u="none" strike="noStrike" cap="none" dirty="0" smtClean="0">
                <a:solidFill>
                  <a:srgbClr val="000000"/>
                </a:solidFill>
                <a:latin typeface="Arial"/>
                <a:ea typeface="Arial"/>
                <a:cs typeface="Arial"/>
                <a:sym typeface="Arial"/>
              </a:rPr>
              <a:t>Batch normalization is useful because it makes </a:t>
            </a:r>
            <a:r>
              <a:rPr lang="en-US" sz="1100" b="0" i="0" u="none" strike="noStrike" cap="none" dirty="0" err="1" smtClean="0">
                <a:solidFill>
                  <a:srgbClr val="000000"/>
                </a:solidFill>
                <a:latin typeface="Arial"/>
                <a:ea typeface="Arial"/>
                <a:cs typeface="Arial"/>
                <a:sym typeface="Arial"/>
              </a:rPr>
              <a:t>hyperparameter</a:t>
            </a:r>
            <a:r>
              <a:rPr lang="en-US" sz="1100" b="0" i="0" u="none" strike="noStrike" cap="none" dirty="0" smtClean="0">
                <a:solidFill>
                  <a:srgbClr val="000000"/>
                </a:solidFill>
                <a:latin typeface="Arial"/>
                <a:ea typeface="Arial"/>
                <a:cs typeface="Arial"/>
                <a:sym typeface="Arial"/>
              </a:rPr>
              <a:t> search easier, makes neural networks more robust, and enables you to train even very deep networks. </a:t>
            </a: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19582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4" name="Google Shape;234;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8247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5376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4" name="Google Shape;294;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60797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3" name="Google Shape;303;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3" name="Google Shape;303;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119597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0" name="Google Shape;320;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Binary classification means dealing with two classes. But when we have more than two classes in a problem, that is called multi-class classification. For example, instead of just recognizing cats, we want to recognize cats, dogs, and baby chicks. In this case, we have four possible classes, including an "other" or "none of the above" class.</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For solving such problems, we use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regression. At the output layer, instead of having a single unit, we have units equal to the total number of classes (4 in the above case). Each unit tells us the probability of the image falling in different classes. Since it tells the probability, the sum of values from each unit is always equal to 1.</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To compute this probability, we use a </a:t>
            </a:r>
            <a:r>
              <a:rPr lang="en-US" sz="1100" b="1"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layer, which is an activation function that takes in the linear output of the final layer of the neural network, z</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and computes a temporary variable, t, by </a:t>
            </a:r>
            <a:r>
              <a:rPr lang="en-US" sz="1100" b="0" i="0" u="none" strike="noStrike" cap="none" dirty="0" err="1" smtClean="0">
                <a:solidFill>
                  <a:srgbClr val="000000"/>
                </a:solidFill>
                <a:latin typeface="Arial"/>
                <a:ea typeface="Calibri"/>
                <a:cs typeface="Calibri"/>
                <a:sym typeface="Calibri"/>
              </a:rPr>
              <a:t>exponentiating</a:t>
            </a:r>
            <a:r>
              <a:rPr lang="en-US" sz="1100" b="0" i="0" u="none" strike="noStrike" cap="none" dirty="0" smtClean="0">
                <a:solidFill>
                  <a:srgbClr val="000000"/>
                </a:solidFill>
                <a:latin typeface="Arial"/>
                <a:ea typeface="Calibri"/>
                <a:cs typeface="Calibri"/>
                <a:sym typeface="Calibri"/>
              </a:rPr>
              <a:t> each element of z</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 Then, the output of the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layer, a</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 is obtained by normalizing t such that the sum of the entries in a</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is 1.</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The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layer is unusual compared to other activation functions because it takes in a vector input and outputs a vector. However, it allows us to represent linear decision boundaries between multiple classes. In addition, by adding hidden layers to the neural network, we can learn even more complex non-linear decision boundaries to separate out multiple different classes.</a:t>
            </a: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58906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51801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83790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54000" marR="316865" lvl="0" indent="-229234">
              <a:lnSpc>
                <a:spcPct val="109375"/>
              </a:lnSpc>
              <a:buSzPts val="3200"/>
              <a:buFont typeface="Arial"/>
              <a:buChar char="•"/>
            </a:pPr>
            <a:r>
              <a:rPr lang="en-US" sz="1100" b="1" i="0" u="none" strike="noStrike" cap="none" dirty="0" smtClean="0">
                <a:solidFill>
                  <a:srgbClr val="000000"/>
                </a:solidFill>
                <a:latin typeface="Arial"/>
                <a:ea typeface="Calibri"/>
                <a:cs typeface="Calibri"/>
                <a:sym typeface="Calibri"/>
              </a:rPr>
              <a:t>N</a:t>
            </a:r>
            <a:r>
              <a:rPr lang="en-US" sz="1100" b="0" i="0" u="none" strike="noStrike" cap="none" dirty="0" smtClean="0">
                <a:solidFill>
                  <a:srgbClr val="000000"/>
                </a:solidFill>
                <a:latin typeface="Arial"/>
                <a:ea typeface="Calibri"/>
                <a:cs typeface="Calibri"/>
                <a:sym typeface="Calibri"/>
              </a:rPr>
              <a:t>, the number of units upper layer which is layer L is going to equal to 4 or in general this is going to equal to C. And what we want is for the number of units in the upper layer to tell us what is the probability of each of these four classes.</a:t>
            </a:r>
          </a:p>
          <a:p>
            <a:pPr marL="254000" marR="316865" indent="-229234">
              <a:lnSpc>
                <a:spcPct val="109375"/>
              </a:lnSpc>
              <a:buSzPts val="3200"/>
              <a:buFont typeface="Arial"/>
              <a:buChar char="•"/>
            </a:pPr>
            <a:r>
              <a:rPr lang="en-US" sz="1100" b="1" dirty="0" smtClean="0">
                <a:ea typeface="Calibri"/>
                <a:cs typeface="Calibri"/>
                <a:sym typeface="Calibri"/>
              </a:rPr>
              <a:t>The first node</a:t>
            </a:r>
            <a:r>
              <a:rPr lang="en-US" sz="1100" dirty="0" smtClean="0">
                <a:ea typeface="Calibri"/>
                <a:cs typeface="Calibri"/>
                <a:sym typeface="Calibri"/>
              </a:rPr>
              <a:t> is supposed to output the probability of the image having none of the below classes given input x.</a:t>
            </a:r>
            <a:endParaRPr lang="en-US" sz="1100" b="1" i="0" u="none" strike="noStrike" cap="none" dirty="0" smtClean="0">
              <a:solidFill>
                <a:srgbClr val="000000"/>
              </a:solidFill>
              <a:latin typeface="Arial"/>
              <a:ea typeface="Calibri"/>
              <a:cs typeface="Calibri"/>
              <a:sym typeface="Calibri"/>
            </a:endParaRPr>
          </a:p>
          <a:p>
            <a:pPr marL="254000" marR="316865" lvl="0" indent="-229234">
              <a:lnSpc>
                <a:spcPct val="109375"/>
              </a:lnSpc>
              <a:buSzPts val="3200"/>
              <a:buFont typeface="Arial"/>
              <a:buChar char="•"/>
            </a:pPr>
            <a:r>
              <a:rPr lang="en-US" sz="1100" b="1" i="0" u="none" strike="noStrike" cap="none" dirty="0" smtClean="0">
                <a:solidFill>
                  <a:srgbClr val="000000"/>
                </a:solidFill>
                <a:latin typeface="Arial"/>
                <a:ea typeface="Calibri"/>
                <a:cs typeface="Calibri"/>
                <a:sym typeface="Calibri"/>
              </a:rPr>
              <a:t>The second node</a:t>
            </a:r>
            <a:r>
              <a:rPr lang="en-US" sz="1100" b="0" i="0" u="none" strike="noStrike" cap="none" dirty="0" smtClean="0">
                <a:solidFill>
                  <a:srgbClr val="000000"/>
                </a:solidFill>
                <a:latin typeface="Arial"/>
                <a:ea typeface="Calibri"/>
                <a:cs typeface="Calibri"/>
                <a:sym typeface="Calibri"/>
              </a:rPr>
              <a:t> is supposed to output the probability that the image is of a cat given the input x.</a:t>
            </a:r>
          </a:p>
          <a:p>
            <a:pPr marL="254000" marR="316865" lvl="0" indent="-229234">
              <a:lnSpc>
                <a:spcPct val="109375"/>
              </a:lnSpc>
              <a:buSzPts val="3200"/>
              <a:buFont typeface="Arial"/>
              <a:buChar char="•"/>
            </a:pPr>
            <a:r>
              <a:rPr lang="en-US" sz="1100" b="1" i="0" u="none" strike="noStrike" cap="none" dirty="0" smtClean="0">
                <a:solidFill>
                  <a:srgbClr val="000000"/>
                </a:solidFill>
                <a:latin typeface="Arial"/>
                <a:ea typeface="Calibri"/>
                <a:cs typeface="Calibri"/>
                <a:sym typeface="Calibri"/>
              </a:rPr>
              <a:t>The third node</a:t>
            </a:r>
            <a:r>
              <a:rPr lang="en-US" sz="1100" b="0" i="0" u="none" strike="noStrike" cap="none" dirty="0" smtClean="0">
                <a:solidFill>
                  <a:srgbClr val="000000"/>
                </a:solidFill>
                <a:latin typeface="Arial"/>
                <a:ea typeface="Calibri"/>
                <a:cs typeface="Calibri"/>
                <a:sym typeface="Calibri"/>
              </a:rPr>
              <a:t> will output probability that image is a dog. </a:t>
            </a:r>
          </a:p>
          <a:p>
            <a:pPr marL="254000" marR="316865" lvl="0" indent="-229234">
              <a:lnSpc>
                <a:spcPct val="109375"/>
              </a:lnSpc>
              <a:buSzPts val="3200"/>
              <a:buFont typeface="Arial"/>
              <a:buChar char="•"/>
            </a:pPr>
            <a:r>
              <a:rPr lang="en-US" sz="1100" b="1" i="0" u="none" strike="noStrike" cap="none" dirty="0" smtClean="0">
                <a:solidFill>
                  <a:srgbClr val="000000"/>
                </a:solidFill>
                <a:latin typeface="Arial"/>
                <a:ea typeface="Calibri"/>
                <a:cs typeface="Calibri"/>
                <a:sym typeface="Calibri"/>
              </a:rPr>
              <a:t>The fourth node</a:t>
            </a:r>
            <a:r>
              <a:rPr lang="en-US" sz="1100" b="0" i="0" u="none" strike="noStrike" cap="none" dirty="0" smtClean="0">
                <a:solidFill>
                  <a:srgbClr val="000000"/>
                </a:solidFill>
                <a:latin typeface="Arial"/>
                <a:ea typeface="Calibri"/>
                <a:cs typeface="Calibri"/>
                <a:sym typeface="Calibri"/>
              </a:rPr>
              <a:t> will output the probability that image contains a baby chick given the input x. </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The output labels ŷ (y hat) is going to be a four by one dimensional vector, because it now has to output four numbers, giving you these four probabilities.</a:t>
            </a:r>
          </a:p>
        </p:txBody>
      </p:sp>
      <p:sp>
        <p:nvSpPr>
          <p:cNvPr id="329" name="Google Shape;329;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03621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Because probabilities should sum to one, the four numbers in the output ŷ (y hat), they should sum to one.</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The standard model for getting your network to do this uses what's called a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layer, and the output layer in order to generate these outputs.</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In the final layer of the neural network, you are going to compute as usual the linear part of the layers. So Z</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 that's the z variable for the final layer.</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So remember this last layer of the neural network is layer capital L. So as usual you compute that as Z</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=W</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TA</a:t>
            </a:r>
            <a:r>
              <a:rPr lang="en-US" sz="1100" b="0" i="0" u="none" strike="noStrike" cap="none" baseline="30000" dirty="0" smtClean="0">
                <a:solidFill>
                  <a:srgbClr val="000000"/>
                </a:solidFill>
                <a:latin typeface="Arial"/>
                <a:ea typeface="Calibri"/>
                <a:cs typeface="Calibri"/>
                <a:sym typeface="Calibri"/>
              </a:rPr>
              <a:t>[L-1]</a:t>
            </a:r>
            <a:r>
              <a:rPr lang="en-US" sz="1100" b="0" i="0" u="none" strike="noStrike" cap="none" dirty="0" smtClean="0">
                <a:solidFill>
                  <a:srgbClr val="000000"/>
                </a:solidFill>
                <a:latin typeface="Arial"/>
                <a:ea typeface="Calibri"/>
                <a:cs typeface="Calibri"/>
                <a:sym typeface="Calibri"/>
              </a:rPr>
              <a:t> +b</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which </a:t>
            </a:r>
            <a:r>
              <a:rPr lang="en-US" sz="1100" b="0" i="0" u="none" strike="noStrike" cap="none" dirty="0" err="1" smtClean="0">
                <a:solidFill>
                  <a:srgbClr val="000000"/>
                </a:solidFill>
                <a:latin typeface="Arial"/>
                <a:ea typeface="Calibri"/>
                <a:cs typeface="Calibri"/>
                <a:sym typeface="Calibri"/>
              </a:rPr>
              <a:t>i</a:t>
            </a:r>
            <a:r>
              <a:rPr lang="en-US" sz="1100" b="0" i="0" u="none" strike="noStrike" cap="none" dirty="0" smtClean="0">
                <a:solidFill>
                  <a:srgbClr val="000000"/>
                </a:solidFill>
                <a:latin typeface="Arial"/>
                <a:ea typeface="Calibri"/>
                <a:cs typeface="Calibri"/>
                <a:sym typeface="Calibri"/>
              </a:rPr>
              <a:t> weights of the layer times the activation of the previous layer plus the biases for that final layer.</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Now having computed Z</a:t>
            </a:r>
            <a:r>
              <a:rPr lang="en-US" sz="1100" b="0" i="0" u="none" strike="noStrike" cap="none" baseline="30000" dirty="0" smtClean="0">
                <a:solidFill>
                  <a:srgbClr val="000000"/>
                </a:solidFill>
                <a:latin typeface="Arial"/>
                <a:ea typeface="Calibri"/>
                <a:cs typeface="Calibri"/>
                <a:sym typeface="Calibri"/>
              </a:rPr>
              <a:t>[L]</a:t>
            </a:r>
            <a:r>
              <a:rPr lang="en-US" sz="1100" b="0" i="0" u="none" strike="noStrike" cap="none" dirty="0" smtClean="0">
                <a:solidFill>
                  <a:srgbClr val="000000"/>
                </a:solidFill>
                <a:latin typeface="Arial"/>
                <a:ea typeface="Calibri"/>
                <a:cs typeface="Calibri"/>
                <a:sym typeface="Calibri"/>
              </a:rPr>
              <a:t> , you now need to apply what's called the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activation function.</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So that activation function is a bit unusual for the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layer, but this is what it does.</a:t>
            </a: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83100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42206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361" name="Google Shape;361;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89997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The color on the previous plot shows fresh holding the upward of the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classifier, and coloring in the input base on which one of the three outputs have the highest probability.</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So we can maybe we kind of see that this is like a generalization of logistic regression with sort of linear decision boundaries, but with more than two classes class 0, 1, the class could be 0, 1, or 2. Here's another example of the decision boundary that a </a:t>
            </a:r>
            <a:r>
              <a:rPr lang="en-US" sz="1100" b="0" i="0" u="none" strike="noStrike" cap="none" dirty="0" err="1" smtClean="0">
                <a:solidFill>
                  <a:srgbClr val="000000"/>
                </a:solidFill>
                <a:latin typeface="Arial"/>
                <a:ea typeface="Calibri"/>
                <a:cs typeface="Calibri"/>
                <a:sym typeface="Calibri"/>
              </a:rPr>
              <a:t>Softmax</a:t>
            </a:r>
            <a:r>
              <a:rPr lang="en-US" sz="1100" b="0" i="0" u="none" strike="noStrike" cap="none" dirty="0" smtClean="0">
                <a:solidFill>
                  <a:srgbClr val="000000"/>
                </a:solidFill>
                <a:latin typeface="Arial"/>
                <a:ea typeface="Calibri"/>
                <a:cs typeface="Calibri"/>
                <a:sym typeface="Calibri"/>
              </a:rPr>
              <a:t> classifier represents when three normal datasets with three classes.</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The plot has intuition that the decision boundary between any two classes will be more linear. That's why you see for example that decision boundary between the yellow and the various classes, that's the linear boundary where the purple and red linear in boundary between the purple and yellow and other linear decision boundary. But able to use these different linear functions in order to separate the space into three classes.</a:t>
            </a:r>
          </a:p>
          <a:p>
            <a:pPr marL="0" lvl="0" indent="0" algn="l" rtl="0">
              <a:lnSpc>
                <a:spcPct val="100000"/>
              </a:lnSpc>
              <a:spcBef>
                <a:spcPts val="0"/>
              </a:spcBef>
              <a:spcAft>
                <a:spcPts val="0"/>
              </a:spcAft>
              <a:buSzPts val="1100"/>
              <a:buNone/>
            </a:pPr>
            <a:endParaRPr lang="en-US" smtClean="0"/>
          </a:p>
          <a:p>
            <a:pPr marL="0" lvl="0" indent="0" algn="l" rtl="0">
              <a:lnSpc>
                <a:spcPct val="100000"/>
              </a:lnSpc>
              <a:spcBef>
                <a:spcPts val="0"/>
              </a:spcBef>
              <a:spcAft>
                <a:spcPts val="0"/>
              </a:spcAft>
              <a:buSzPts val="1100"/>
              <a:buNone/>
            </a:pPr>
            <a:endParaRPr dirty="0"/>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90526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In binary classification, we have two possible labels, either 0 or 1, and we are trying to recognize one of two classes. However, in multiclass classification, we have multiple possible classes, and we want to recognize one of C classes. For example, instead of just recognizing cats, we want to recognize cats, dogs, and baby chicks. In this case, we have four possible classes, including an "other" or "none of the above" class.</a:t>
            </a:r>
          </a:p>
          <a:p>
            <a:pPr marL="254000" marR="316865" lvl="0" indent="-229234">
              <a:lnSpc>
                <a:spcPct val="109375"/>
              </a:lnSpc>
              <a:buSzPts val="3200"/>
              <a:buFont typeface="Arial"/>
              <a:buChar char="•"/>
            </a:pPr>
            <a:r>
              <a:rPr lang="en-US" sz="1100" b="0" i="0" u="none" strike="noStrike" cap="none" dirty="0" smtClean="0">
                <a:solidFill>
                  <a:srgbClr val="000000"/>
                </a:solidFill>
                <a:latin typeface="Arial"/>
                <a:ea typeface="Calibri"/>
                <a:cs typeface="Calibri"/>
                <a:sym typeface="Calibri"/>
              </a:rPr>
              <a:t>To implement this, we need to build a new neural network with an upper layer that has C units, where C is the number of classes we want to categorize the inputs into. The output labels, represented as y hat, will be a C by 1 dimensional vector that outputs the probability of each of the C classes.</a:t>
            </a:r>
          </a:p>
          <a:p>
            <a:pPr marL="0" lvl="0" indent="0" algn="l" rtl="0">
              <a:lnSpc>
                <a:spcPct val="100000"/>
              </a:lnSpc>
              <a:spcBef>
                <a:spcPts val="0"/>
              </a:spcBef>
              <a:spcAft>
                <a:spcPts val="0"/>
              </a:spcAft>
              <a:buSzPts val="1100"/>
              <a:buNone/>
            </a:pPr>
            <a:endParaRPr dirty="0"/>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5183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24142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9" name="Google Shape;379;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9" name="Google Shape;389;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72019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58426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38203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74400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92319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06249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27565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367666" marR="316865" lvl="0" indent="-342900">
              <a:lnSpc>
                <a:spcPct val="109375"/>
              </a:lnSpc>
              <a:buSzPts val="3200"/>
              <a:buFont typeface="Arial" panose="020B0604020202020204" pitchFamily="34" charset="0"/>
              <a:buChar char="•"/>
            </a:pPr>
            <a:r>
              <a:rPr lang="en-US" sz="2400" b="0" i="0" u="none" strike="noStrike" cap="none" dirty="0" smtClean="0">
                <a:solidFill>
                  <a:srgbClr val="000000"/>
                </a:solidFill>
                <a:latin typeface="Arial"/>
                <a:ea typeface="Calibri"/>
                <a:cs typeface="Calibri"/>
                <a:sym typeface="Calibri"/>
              </a:rPr>
              <a:t>In deep learning frameworks there are a lot of things that you can do with one line of code like changing the optimizer.</a:t>
            </a:r>
          </a:p>
          <a:p>
            <a:pPr marL="367666" marR="316865" lvl="0" indent="-342900">
              <a:lnSpc>
                <a:spcPct val="109375"/>
              </a:lnSpc>
              <a:buSzPts val="3200"/>
              <a:buFont typeface="Arial" panose="020B0604020202020204" pitchFamily="34" charset="0"/>
              <a:buChar char="•"/>
            </a:pPr>
            <a:r>
              <a:rPr lang="en-US" sz="2400" b="0" i="0" u="none" strike="noStrike" cap="none" dirty="0" smtClean="0">
                <a:solidFill>
                  <a:srgbClr val="000000"/>
                </a:solidFill>
                <a:latin typeface="Arial"/>
                <a:ea typeface="Calibri"/>
                <a:cs typeface="Calibri"/>
                <a:sym typeface="Calibri"/>
              </a:rPr>
              <a:t>Writing and running programs in </a:t>
            </a:r>
            <a:r>
              <a:rPr lang="en-US" sz="2400" b="0" i="0" u="none" strike="noStrike" cap="none" dirty="0" err="1" smtClean="0">
                <a:solidFill>
                  <a:srgbClr val="000000"/>
                </a:solidFill>
                <a:latin typeface="Arial"/>
                <a:ea typeface="Calibri"/>
                <a:cs typeface="Calibri"/>
                <a:sym typeface="Calibri"/>
              </a:rPr>
              <a:t>TensorFlow</a:t>
            </a:r>
            <a:r>
              <a:rPr lang="en-US" sz="2400" b="0" i="0" u="none" strike="noStrike" cap="none" dirty="0" smtClean="0">
                <a:solidFill>
                  <a:srgbClr val="000000"/>
                </a:solidFill>
                <a:latin typeface="Arial"/>
                <a:ea typeface="Calibri"/>
                <a:cs typeface="Calibri"/>
                <a:sym typeface="Calibri"/>
              </a:rPr>
              <a:t> has the following steps:  </a:t>
            </a:r>
          </a:p>
          <a:p>
            <a:pPr marL="24766" marR="316865" lvl="1">
              <a:lnSpc>
                <a:spcPct val="109375"/>
              </a:lnSpc>
              <a:buSzPts val="3200"/>
            </a:pPr>
            <a:r>
              <a:rPr lang="en-US" sz="2400" b="0" i="0" u="none" strike="noStrike" cap="none" dirty="0" smtClean="0">
                <a:solidFill>
                  <a:srgbClr val="000000"/>
                </a:solidFill>
                <a:latin typeface="Arial"/>
                <a:ea typeface="Calibri"/>
                <a:cs typeface="Calibri"/>
                <a:sym typeface="Calibri"/>
              </a:rPr>
              <a:t>	</a:t>
            </a:r>
            <a:r>
              <a:rPr lang="en-US" sz="2000" b="0" i="0" u="none" strike="noStrike" cap="none" dirty="0" smtClean="0">
                <a:solidFill>
                  <a:srgbClr val="000000"/>
                </a:solidFill>
                <a:latin typeface="Arial"/>
                <a:ea typeface="Calibri"/>
                <a:cs typeface="Calibri"/>
                <a:sym typeface="Calibri"/>
              </a:rPr>
              <a:t>1. Create Tensors (variables) that are not yet executed/evaluated. </a:t>
            </a:r>
          </a:p>
          <a:p>
            <a:pPr marL="24766" marR="316865" lvl="1">
              <a:lnSpc>
                <a:spcPct val="109375"/>
              </a:lnSpc>
              <a:buSzPts val="3200"/>
            </a:pPr>
            <a:r>
              <a:rPr lang="en-US" sz="2000" b="0" i="0" u="none" strike="noStrike" cap="none" dirty="0" smtClean="0">
                <a:solidFill>
                  <a:srgbClr val="000000"/>
                </a:solidFill>
                <a:latin typeface="Arial"/>
                <a:ea typeface="Calibri"/>
                <a:cs typeface="Calibri"/>
                <a:sym typeface="Calibri"/>
              </a:rPr>
              <a:t>	2. Write operations between those Tensors.  </a:t>
            </a:r>
          </a:p>
          <a:p>
            <a:pPr marL="24766" marR="316865" lvl="1">
              <a:lnSpc>
                <a:spcPct val="109375"/>
              </a:lnSpc>
              <a:buSzPts val="3200"/>
            </a:pPr>
            <a:r>
              <a:rPr lang="en-US" sz="2000" b="0" i="0" u="none" strike="noStrike" cap="none" dirty="0" smtClean="0">
                <a:solidFill>
                  <a:srgbClr val="000000"/>
                </a:solidFill>
                <a:latin typeface="Arial"/>
                <a:ea typeface="Calibri"/>
                <a:cs typeface="Calibri"/>
                <a:sym typeface="Calibri"/>
              </a:rPr>
              <a:t>	3. Initialize your Tensors.  </a:t>
            </a:r>
          </a:p>
          <a:p>
            <a:pPr marL="24766" marR="316865" lvl="1">
              <a:lnSpc>
                <a:spcPct val="109375"/>
              </a:lnSpc>
              <a:buSzPts val="3200"/>
            </a:pPr>
            <a:r>
              <a:rPr lang="en-US" sz="2000" b="0" i="0" u="none" strike="noStrike" cap="none" dirty="0" smtClean="0">
                <a:solidFill>
                  <a:srgbClr val="000000"/>
                </a:solidFill>
                <a:latin typeface="Arial"/>
                <a:ea typeface="Calibri"/>
                <a:cs typeface="Calibri"/>
                <a:sym typeface="Calibri"/>
              </a:rPr>
              <a:t>	4. Create a Session.  </a:t>
            </a:r>
          </a:p>
          <a:p>
            <a:pPr marL="24766" marR="316865" lvl="1">
              <a:lnSpc>
                <a:spcPct val="109375"/>
              </a:lnSpc>
              <a:buSzPts val="3200"/>
            </a:pPr>
            <a:r>
              <a:rPr lang="en-US" sz="2000" b="0" i="0" u="none" strike="noStrike" cap="none" dirty="0" smtClean="0">
                <a:solidFill>
                  <a:srgbClr val="000000"/>
                </a:solidFill>
                <a:latin typeface="Arial"/>
                <a:ea typeface="Calibri"/>
                <a:cs typeface="Calibri"/>
                <a:sym typeface="Calibri"/>
              </a:rPr>
              <a:t>	5. Run the Session. This will run the operations you'd written above.</a:t>
            </a:r>
          </a:p>
          <a:p>
            <a:pPr marL="0" lvl="0" indent="0" algn="l" rtl="0">
              <a:lnSpc>
                <a:spcPct val="100000"/>
              </a:lnSpc>
              <a:spcBef>
                <a:spcPts val="0"/>
              </a:spcBef>
              <a:spcAft>
                <a:spcPts val="0"/>
              </a:spcAft>
              <a:buSzPts val="1100"/>
              <a:buNone/>
            </a:pPr>
            <a:endParaRPr dirty="0"/>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11220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98019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Tuning Process: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The iterative process of adjusting </a:t>
            </a:r>
            <a:r>
              <a:rPr lang="en-US" sz="1100" dirty="0" err="1" smtClean="0">
                <a:ea typeface="Century Schoolbook"/>
                <a:cs typeface="Century Schoolbook"/>
                <a:sym typeface="Century Schoolbook"/>
              </a:rPr>
              <a:t>hyperparameters</a:t>
            </a:r>
            <a:r>
              <a:rPr lang="en-US" sz="1100" dirty="0" smtClean="0">
                <a:ea typeface="Century Schoolbook"/>
                <a:cs typeface="Century Schoolbook"/>
                <a:sym typeface="Century Schoolbook"/>
              </a:rPr>
              <a:t>, architecture, and other 	aspects of a 	model to optimize its performance on a given task.</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Using an Appropriate Scale to Pick </a:t>
            </a:r>
            <a:r>
              <a:rPr lang="en-US" sz="1200" dirty="0" err="1" smtClean="0">
                <a:ea typeface="Century Schoolbook"/>
                <a:cs typeface="Century Schoolbook"/>
                <a:sym typeface="Century Schoolbook"/>
              </a:rPr>
              <a:t>Hyperparameters</a:t>
            </a:r>
            <a:r>
              <a:rPr lang="en-US" sz="1200" dirty="0" smtClean="0">
                <a:ea typeface="Century Schoolbook"/>
                <a:cs typeface="Century Schoolbook"/>
                <a:sym typeface="Century Schoolbook"/>
              </a:rPr>
              <a:t>:</a:t>
            </a:r>
          </a:p>
          <a:p>
            <a:pPr marL="12700" marR="5080" lvl="0">
              <a:lnSpc>
                <a:spcPct val="101800"/>
              </a:lnSpc>
              <a:buSzPts val="2400"/>
            </a:pPr>
            <a:r>
              <a:rPr lang="en-US" sz="1200" dirty="0" smtClean="0">
                <a:ea typeface="Century Schoolbook"/>
                <a:cs typeface="Century Schoolbook"/>
                <a:sym typeface="Century Schoolbook"/>
              </a:rPr>
              <a:t>	- </a:t>
            </a:r>
            <a:r>
              <a:rPr lang="en-US" sz="1100" dirty="0" err="1" smtClean="0">
                <a:ea typeface="Century Schoolbook"/>
                <a:cs typeface="Century Schoolbook"/>
                <a:sym typeface="Century Schoolbook"/>
              </a:rPr>
              <a:t>Hyperparameters</a:t>
            </a:r>
            <a:r>
              <a:rPr lang="en-US" sz="1100" dirty="0" smtClean="0">
                <a:ea typeface="Century Schoolbook"/>
                <a:cs typeface="Century Schoolbook"/>
                <a:sym typeface="Century Schoolbook"/>
              </a:rPr>
              <a:t> should be searched over appropriate ranges to ensure effective tuning. 	- Using a logarithmic scale can help explore a wide range 	efficiently.</a:t>
            </a:r>
          </a:p>
          <a:p>
            <a:pPr marL="355600" marR="5080" lvl="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Hyperparameters</a:t>
            </a:r>
            <a:r>
              <a:rPr lang="en-US" sz="1200" dirty="0" smtClean="0">
                <a:ea typeface="Century Schoolbook"/>
                <a:cs typeface="Century Schoolbook"/>
                <a:sym typeface="Century Schoolbook"/>
              </a:rPr>
              <a:t> Tuning in Practice: Pandas vs. Caviar:</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Compares two approaches to </a:t>
            </a:r>
            <a:r>
              <a:rPr lang="en-US" sz="1100" dirty="0" err="1" smtClean="0">
                <a:ea typeface="Century Schoolbook"/>
                <a:cs typeface="Century Schoolbook"/>
                <a:sym typeface="Century Schoolbook"/>
              </a:rPr>
              <a:t>hyperparameter</a:t>
            </a:r>
            <a:r>
              <a:rPr lang="en-US" sz="1100" dirty="0" smtClean="0">
                <a:ea typeface="Century Schoolbook"/>
                <a:cs typeface="Century Schoolbook"/>
                <a:sym typeface="Century Schoolbook"/>
              </a:rPr>
              <a:t> tuning: "Pandas" (random search) and 	"Caviar" (Bayesian optimization). Caviar often leads to better results but requires more 	computational resources.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Normalizing Activations in a Network:</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Activation normalization aims to stabilize learning by ensuring consistent distributions of 	neuron activations across layers</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Fitting Batch Norm into a Neural Network:</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Batch Normalization (Batch Norm) is a technique that normalizes layer inputs within mini-	batches, improving training stability, convergence speed, and generalization.</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Does Batch Norm Work?</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Batch Norm addresses internal covariate shift, stabilizing learning dynamics by reducing the 	influence of vanishing/exploding gradients and allowing higher learning rates.</a:t>
            </a:r>
          </a:p>
          <a:p>
            <a:pPr marL="355600" marR="5080" lvl="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Softmax</a:t>
            </a:r>
            <a:r>
              <a:rPr lang="en-US" sz="1200" dirty="0" smtClean="0">
                <a:ea typeface="Century Schoolbook"/>
                <a:cs typeface="Century Schoolbook"/>
                <a:sym typeface="Century Schoolbook"/>
              </a:rPr>
              <a:t> Regression:</a:t>
            </a:r>
          </a:p>
          <a:p>
            <a:pPr marL="12700" marR="5080" lvl="0">
              <a:lnSpc>
                <a:spcPct val="101800"/>
              </a:lnSpc>
              <a:buSzPts val="2400"/>
            </a:pPr>
            <a:r>
              <a:rPr lang="en-US" sz="1200" dirty="0" smtClean="0">
                <a:ea typeface="Century Schoolbook"/>
                <a:cs typeface="Century Schoolbook"/>
                <a:sym typeface="Century Schoolbook"/>
              </a:rPr>
              <a:t>	- </a:t>
            </a:r>
            <a:r>
              <a:rPr lang="en-US" sz="1100" dirty="0" err="1" smtClean="0">
                <a:ea typeface="Century Schoolbook"/>
                <a:cs typeface="Century Schoolbook"/>
                <a:sym typeface="Century Schoolbook"/>
              </a:rPr>
              <a:t>Softmax</a:t>
            </a:r>
            <a:r>
              <a:rPr lang="en-US" sz="1100" dirty="0" smtClean="0">
                <a:ea typeface="Century Schoolbook"/>
                <a:cs typeface="Century Schoolbook"/>
                <a:sym typeface="Century Schoolbook"/>
              </a:rPr>
              <a:t> regression, also called multinomial logistic regression, is used for multiclass 	classification. It assigns probabilities to each class and selects the class with the highest 	probability.</a:t>
            </a:r>
          </a:p>
          <a:p>
            <a:pPr marL="355600" marR="5080" lvl="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Deep Learning Frameworks:</a:t>
            </a:r>
          </a:p>
          <a:p>
            <a:pPr marL="12700" marR="5080" lvl="0">
              <a:lnSpc>
                <a:spcPct val="101800"/>
              </a:lnSpc>
              <a:buSzPts val="2400"/>
            </a:pPr>
            <a:r>
              <a:rPr lang="en-US" sz="1200" dirty="0" smtClean="0">
                <a:ea typeface="Century Schoolbook"/>
                <a:cs typeface="Century Schoolbook"/>
                <a:sym typeface="Century Schoolbook"/>
              </a:rPr>
              <a:t>	- </a:t>
            </a:r>
            <a:r>
              <a:rPr lang="en-US" sz="1100" dirty="0" smtClean="0">
                <a:ea typeface="Century Schoolbook"/>
                <a:cs typeface="Century Schoolbook"/>
                <a:sym typeface="Century Schoolbook"/>
              </a:rPr>
              <a:t>Deep learning frameworks provide tools and libraries for building, training, and deploying 	neural network models.</a:t>
            </a:r>
          </a:p>
          <a:p>
            <a:pPr marL="355600" marR="5080" lvl="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TensorFlow</a:t>
            </a:r>
            <a:r>
              <a:rPr lang="en-US" sz="1200" dirty="0" smtClean="0">
                <a:ea typeface="Century Schoolbook"/>
                <a:cs typeface="Century Schoolbook"/>
                <a:sym typeface="Century Schoolbook"/>
              </a:rPr>
              <a:t>:</a:t>
            </a:r>
          </a:p>
          <a:p>
            <a:pPr marL="12700" marR="5080" lvl="0">
              <a:lnSpc>
                <a:spcPct val="101800"/>
              </a:lnSpc>
              <a:buSzPts val="2400"/>
            </a:pPr>
            <a:r>
              <a:rPr lang="en-US" sz="1200" dirty="0" smtClean="0">
                <a:ea typeface="Century Schoolbook"/>
                <a:cs typeface="Century Schoolbook"/>
                <a:sym typeface="Century Schoolbook"/>
              </a:rPr>
              <a:t> 	- </a:t>
            </a:r>
            <a:r>
              <a:rPr lang="en-US" sz="1100" dirty="0" err="1" smtClean="0">
                <a:ea typeface="Century Schoolbook"/>
                <a:cs typeface="Century Schoolbook"/>
                <a:sym typeface="Century Schoolbook"/>
              </a:rPr>
              <a:t>TensorFlow</a:t>
            </a:r>
            <a:r>
              <a:rPr lang="en-US" sz="1100" dirty="0" smtClean="0">
                <a:ea typeface="Century Schoolbook"/>
                <a:cs typeface="Century Schoolbook"/>
                <a:sym typeface="Century Schoolbook"/>
              </a:rPr>
              <a:t> is an open-source deep learning framework developed by Google. It offers a 	flexible ecosystem for building and training various types of neural network architectures.</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681735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1564423" y="1170063"/>
            <a:ext cx="9063152" cy="176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4"/>
          <p:cNvSpPr txBox="1">
            <a:spLocks noGrp="1"/>
          </p:cNvSpPr>
          <p:nvPr>
            <p:ph type="body" idx="1"/>
          </p:nvPr>
        </p:nvSpPr>
        <p:spPr>
          <a:xfrm>
            <a:off x="1040040" y="1272794"/>
            <a:ext cx="10111918" cy="17653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 name="Google Shape;14;p3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p35"/>
          <p:cNvSpPr txBox="1">
            <a:spLocks noGrp="1"/>
          </p:cNvSpPr>
          <p:nvPr>
            <p:ph type="title"/>
          </p:nvPr>
        </p:nvSpPr>
        <p:spPr>
          <a:xfrm>
            <a:off x="1564423" y="1170063"/>
            <a:ext cx="9063152" cy="176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36"/>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6"/>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37"/>
          <p:cNvSpPr txBox="1">
            <a:spLocks noGrp="1"/>
          </p:cNvSpPr>
          <p:nvPr>
            <p:ph type="title"/>
          </p:nvPr>
        </p:nvSpPr>
        <p:spPr>
          <a:xfrm>
            <a:off x="1564423" y="1170063"/>
            <a:ext cx="9063152" cy="1765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7"/>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1" name="Google Shape;31;p37"/>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2" name="Google Shape;32;p3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3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3"/>
          <p:cNvSpPr txBox="1">
            <a:spLocks noGrp="1"/>
          </p:cNvSpPr>
          <p:nvPr>
            <p:ph type="title"/>
          </p:nvPr>
        </p:nvSpPr>
        <p:spPr>
          <a:xfrm>
            <a:off x="1564423" y="1170063"/>
            <a:ext cx="9063152" cy="17653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3"/>
          <p:cNvSpPr txBox="1">
            <a:spLocks noGrp="1"/>
          </p:cNvSpPr>
          <p:nvPr>
            <p:ph type="body" idx="1"/>
          </p:nvPr>
        </p:nvSpPr>
        <p:spPr>
          <a:xfrm>
            <a:off x="1040040" y="1272794"/>
            <a:ext cx="10111918" cy="17653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3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3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3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5.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0.png"/><Relationship Id="rId10" Type="http://schemas.microsoft.com/office/2018/10/relationships/comments" Target="../comments/modernComment_12A_2E31CCCD.xml"/><Relationship Id="rId4" Type="http://schemas.openxmlformats.org/officeDocument/2006/relationships/image" Target="../media/image17.png"/><Relationship Id="rId9"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22.jpg"/><Relationship Id="rId3" Type="http://schemas.openxmlformats.org/officeDocument/2006/relationships/image" Target="../media/image1.png"/><Relationship Id="rId7" Type="http://schemas.openxmlformats.org/officeDocument/2006/relationships/image" Target="../media/image21.jp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0.jpg"/><Relationship Id="rId11" Type="http://schemas.openxmlformats.org/officeDocument/2006/relationships/image" Target="../media/image25.jpg"/><Relationship Id="rId5" Type="http://schemas.openxmlformats.org/officeDocument/2006/relationships/image" Target="../media/image19.jpg"/><Relationship Id="rId10" Type="http://schemas.openxmlformats.org/officeDocument/2006/relationships/image" Target="../media/image24.jpg"/><Relationship Id="rId4" Type="http://schemas.openxmlformats.org/officeDocument/2006/relationships/image" Target="../media/image18.jpg"/><Relationship Id="rId9" Type="http://schemas.openxmlformats.org/officeDocument/2006/relationships/image" Target="../media/image23.jp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12"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1.jpg"/><Relationship Id="rId11" Type="http://schemas.openxmlformats.org/officeDocument/2006/relationships/image" Target="../media/image1.png"/><Relationship Id="rId5" Type="http://schemas.openxmlformats.org/officeDocument/2006/relationships/image" Target="../media/image20.jpg"/><Relationship Id="rId10" Type="http://schemas.openxmlformats.org/officeDocument/2006/relationships/image" Target="../media/image25.jpg"/><Relationship Id="rId4" Type="http://schemas.openxmlformats.org/officeDocument/2006/relationships/image" Target="../media/image19.jpg"/><Relationship Id="rId9" Type="http://schemas.openxmlformats.org/officeDocument/2006/relationships/image" Target="../media/image24.jp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8.png"/><Relationship Id="rId4" Type="http://schemas.openxmlformats.org/officeDocument/2006/relationships/image" Target="../media/image28.png"/><Relationship Id="rId9"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1ded2e0fa68_0_0"/>
          <p:cNvSpPr txBox="1">
            <a:spLocks noGrp="1"/>
          </p:cNvSpPr>
          <p:nvPr>
            <p:ph type="title"/>
          </p:nvPr>
        </p:nvSpPr>
        <p:spPr>
          <a:xfrm>
            <a:off x="1564348" y="549113"/>
            <a:ext cx="9063300" cy="1985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dirty="0">
                <a:solidFill>
                  <a:srgbClr val="0F0F0F"/>
                </a:solidFill>
                <a:highlight>
                  <a:srgbClr val="FFFFFF"/>
                </a:highlight>
                <a:latin typeface="+mj-lt"/>
                <a:ea typeface="Roboto"/>
                <a:cs typeface="Roboto"/>
                <a:sym typeface="Roboto"/>
              </a:rPr>
              <a:t>Hyper parameter tuning</a:t>
            </a:r>
            <a:endParaRPr dirty="0">
              <a:solidFill>
                <a:srgbClr val="0F0F0F"/>
              </a:solidFill>
              <a:highlight>
                <a:srgbClr val="FFFFFF"/>
              </a:highlight>
              <a:latin typeface="+mj-lt"/>
              <a:ea typeface="Roboto"/>
              <a:cs typeface="Roboto"/>
              <a:sym typeface="Roboto"/>
            </a:endParaRPr>
          </a:p>
          <a:p>
            <a:pPr marL="0" lvl="0" indent="0" algn="l" rtl="0">
              <a:lnSpc>
                <a:spcPct val="100000"/>
              </a:lnSpc>
              <a:spcBef>
                <a:spcPts val="0"/>
              </a:spcBef>
              <a:spcAft>
                <a:spcPts val="0"/>
              </a:spcAft>
              <a:buSzPts val="1400"/>
              <a:buNone/>
            </a:pPr>
            <a:endParaRPr dirty="0">
              <a:latin typeface="+mj-lt"/>
            </a:endParaRPr>
          </a:p>
        </p:txBody>
      </p:sp>
      <p:sp>
        <p:nvSpPr>
          <p:cNvPr id="44" name="Google Shape;44;g1ded2e0fa68_0_0"/>
          <p:cNvSpPr txBox="1">
            <a:spLocks noGrp="1"/>
          </p:cNvSpPr>
          <p:nvPr>
            <p:ph type="body" idx="1"/>
          </p:nvPr>
        </p:nvSpPr>
        <p:spPr>
          <a:xfrm>
            <a:off x="4307796" y="1904775"/>
            <a:ext cx="7669800" cy="3139321"/>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b="1" dirty="0" smtClean="0">
                <a:latin typeface="+mj-lt"/>
              </a:rPr>
              <a:t>Learning Objectives</a:t>
            </a:r>
            <a:r>
              <a:rPr lang="en-US" sz="2400" dirty="0" smtClean="0">
                <a:latin typeface="+mj-lt"/>
              </a:rPr>
              <a:t>:</a:t>
            </a:r>
          </a:p>
          <a:p>
            <a:pPr marL="342900" lvl="0" indent="-342900">
              <a:buSzPct val="100000"/>
              <a:buFont typeface="Arial" panose="020B0604020202020204" pitchFamily="34" charset="0"/>
              <a:buChar char="•"/>
            </a:pPr>
            <a:r>
              <a:rPr lang="en-US" sz="2000" dirty="0" smtClean="0">
                <a:latin typeface="+mj-lt"/>
              </a:rPr>
              <a:t>Master </a:t>
            </a:r>
            <a:r>
              <a:rPr lang="en-US" sz="2000" dirty="0">
                <a:latin typeface="+mj-lt"/>
              </a:rPr>
              <a:t>the process of </a:t>
            </a:r>
            <a:r>
              <a:rPr lang="en-US" sz="2000" dirty="0" err="1">
                <a:latin typeface="+mj-lt"/>
              </a:rPr>
              <a:t>hyperparameter</a:t>
            </a:r>
            <a:r>
              <a:rPr lang="en-US" sz="2000" dirty="0">
                <a:latin typeface="+mj-lt"/>
              </a:rPr>
              <a:t> tuning</a:t>
            </a:r>
          </a:p>
          <a:p>
            <a:pPr marL="342900" lvl="0" indent="-342900">
              <a:buSzPct val="100000"/>
              <a:buFont typeface="Arial" panose="020B0604020202020204" pitchFamily="34" charset="0"/>
              <a:buChar char="•"/>
            </a:pPr>
            <a:r>
              <a:rPr lang="en-US" sz="2000" dirty="0" smtClean="0">
                <a:latin typeface="+mj-lt"/>
              </a:rPr>
              <a:t>Describe </a:t>
            </a:r>
            <a:r>
              <a:rPr lang="en-US" sz="2000" dirty="0" err="1">
                <a:latin typeface="+mj-lt"/>
              </a:rPr>
              <a:t>softmax</a:t>
            </a:r>
            <a:r>
              <a:rPr lang="en-US" sz="2000" dirty="0">
                <a:latin typeface="+mj-lt"/>
              </a:rPr>
              <a:t> classification for multiple classes</a:t>
            </a:r>
          </a:p>
          <a:p>
            <a:pPr marL="342900" lvl="0" indent="-342900">
              <a:buSzPct val="100000"/>
              <a:buFont typeface="Arial" panose="020B0604020202020204" pitchFamily="34" charset="0"/>
              <a:buChar char="•"/>
            </a:pPr>
            <a:r>
              <a:rPr lang="en-US" sz="2000" dirty="0" smtClean="0">
                <a:latin typeface="+mj-lt"/>
              </a:rPr>
              <a:t>Apply </a:t>
            </a:r>
            <a:r>
              <a:rPr lang="en-US" sz="2000" dirty="0">
                <a:latin typeface="+mj-lt"/>
              </a:rPr>
              <a:t>batch normalization to make your neural network more robust</a:t>
            </a:r>
          </a:p>
          <a:p>
            <a:pPr marL="342900" lvl="0" indent="-342900">
              <a:buSzPct val="100000"/>
              <a:buFont typeface="Arial" panose="020B0604020202020204" pitchFamily="34" charset="0"/>
              <a:buChar char="•"/>
            </a:pPr>
            <a:r>
              <a:rPr lang="en-US" sz="2000" dirty="0" smtClean="0">
                <a:latin typeface="+mj-lt"/>
              </a:rPr>
              <a:t>Build </a:t>
            </a:r>
            <a:r>
              <a:rPr lang="en-US" sz="2000" dirty="0">
                <a:latin typeface="+mj-lt"/>
              </a:rPr>
              <a:t>a neural network in </a:t>
            </a:r>
            <a:r>
              <a:rPr lang="en-US" sz="2000" dirty="0" err="1">
                <a:latin typeface="+mj-lt"/>
              </a:rPr>
              <a:t>TensorFlow</a:t>
            </a:r>
            <a:r>
              <a:rPr lang="en-US" sz="2000" dirty="0">
                <a:latin typeface="+mj-lt"/>
              </a:rPr>
              <a:t> and train it on a </a:t>
            </a:r>
            <a:r>
              <a:rPr lang="en-US" sz="2000" dirty="0" err="1">
                <a:latin typeface="+mj-lt"/>
              </a:rPr>
              <a:t>TensorFlow</a:t>
            </a:r>
            <a:r>
              <a:rPr lang="en-US" sz="2000" dirty="0">
                <a:latin typeface="+mj-lt"/>
              </a:rPr>
              <a:t> dataset</a:t>
            </a:r>
          </a:p>
          <a:p>
            <a:pPr marL="342900" lvl="0" indent="-342900">
              <a:buSzPct val="100000"/>
              <a:buFont typeface="Arial" panose="020B0604020202020204" pitchFamily="34" charset="0"/>
              <a:buChar char="•"/>
            </a:pPr>
            <a:r>
              <a:rPr lang="en-US" sz="2000" dirty="0" smtClean="0">
                <a:latin typeface="+mj-lt"/>
              </a:rPr>
              <a:t>Describe </a:t>
            </a:r>
            <a:r>
              <a:rPr lang="en-US" sz="2000" dirty="0">
                <a:latin typeface="+mj-lt"/>
              </a:rPr>
              <a:t>the purpose and operation of </a:t>
            </a:r>
            <a:r>
              <a:rPr lang="en-US" sz="2000" dirty="0" err="1">
                <a:latin typeface="+mj-lt"/>
              </a:rPr>
              <a:t>GradientTape</a:t>
            </a:r>
            <a:endParaRPr lang="en-US" sz="2000" dirty="0">
              <a:latin typeface="+mj-lt"/>
            </a:endParaRPr>
          </a:p>
          <a:p>
            <a:pPr marL="342900" lvl="0" indent="-342900">
              <a:buSzPct val="100000"/>
              <a:buFont typeface="Arial" panose="020B0604020202020204" pitchFamily="34" charset="0"/>
              <a:buChar char="•"/>
            </a:pPr>
            <a:r>
              <a:rPr lang="en-US" sz="2000" dirty="0" smtClean="0">
                <a:latin typeface="+mj-lt"/>
              </a:rPr>
              <a:t>Use </a:t>
            </a:r>
            <a:r>
              <a:rPr lang="en-US" sz="2000" dirty="0" err="1">
                <a:latin typeface="+mj-lt"/>
              </a:rPr>
              <a:t>tf.Variable</a:t>
            </a:r>
            <a:r>
              <a:rPr lang="en-US" sz="2000" dirty="0">
                <a:latin typeface="+mj-lt"/>
              </a:rPr>
              <a:t> to modify the state of a variable</a:t>
            </a:r>
          </a:p>
          <a:p>
            <a:pPr marL="342900" lvl="0" indent="-342900">
              <a:buSzPct val="100000"/>
              <a:buFont typeface="Arial" panose="020B0604020202020204" pitchFamily="34" charset="0"/>
              <a:buChar char="•"/>
            </a:pPr>
            <a:r>
              <a:rPr lang="en-US" sz="2000" dirty="0" smtClean="0">
                <a:latin typeface="+mj-lt"/>
              </a:rPr>
              <a:t>Apply </a:t>
            </a:r>
            <a:r>
              <a:rPr lang="en-US" sz="2000" dirty="0" err="1">
                <a:latin typeface="+mj-lt"/>
              </a:rPr>
              <a:t>TensorFlow</a:t>
            </a:r>
            <a:r>
              <a:rPr lang="en-US" sz="2000" dirty="0">
                <a:latin typeface="+mj-lt"/>
              </a:rPr>
              <a:t> decorators to speed up </a:t>
            </a:r>
            <a:r>
              <a:rPr lang="en-US" sz="2000" dirty="0" smtClean="0">
                <a:latin typeface="+mj-lt"/>
              </a:rPr>
              <a:t>code</a:t>
            </a:r>
            <a:endParaRPr lang="en-US" sz="2000" dirty="0">
              <a:latin typeface="+mj-lt"/>
            </a:endParaRPr>
          </a:p>
        </p:txBody>
      </p:sp>
      <p:pic>
        <p:nvPicPr>
          <p:cNvPr id="45" name="Google Shape;45;g1ded2e0fa68_0_0"/>
          <p:cNvPicPr preferRelativeResize="0"/>
          <p:nvPr/>
        </p:nvPicPr>
        <p:blipFill rotWithShape="1">
          <a:blip r:embed="rId3">
            <a:alphaModFix/>
          </a:blip>
          <a:srcRect/>
          <a:stretch/>
        </p:blipFill>
        <p:spPr>
          <a:xfrm>
            <a:off x="207013" y="2395175"/>
            <a:ext cx="3871626" cy="2129399"/>
          </a:xfrm>
          <a:prstGeom prst="rect">
            <a:avLst/>
          </a:prstGeom>
          <a:noFill/>
          <a:ln>
            <a:noFill/>
          </a:ln>
        </p:spPr>
      </p:pic>
      <p:sp>
        <p:nvSpPr>
          <p:cNvPr id="46" name="Google Shape;46;g1ded2e0fa68_0_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a:t>
            </a:fld>
            <a:endParaRPr>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g1ded2e0fa68_0_0"/>
          <p:cNvSpPr txBox="1">
            <a:spLocks noGrp="1"/>
          </p:cNvSpPr>
          <p:nvPr>
            <p:ph type="title"/>
          </p:nvPr>
        </p:nvSpPr>
        <p:spPr>
          <a:xfrm>
            <a:off x="1564348" y="549113"/>
            <a:ext cx="9063300" cy="19857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dirty="0">
                <a:solidFill>
                  <a:srgbClr val="0F0F0F"/>
                </a:solidFill>
                <a:highlight>
                  <a:srgbClr val="FFFFFF"/>
                </a:highlight>
                <a:latin typeface="+mj-lt"/>
                <a:ea typeface="Roboto"/>
                <a:cs typeface="Roboto"/>
                <a:sym typeface="Roboto"/>
              </a:rPr>
              <a:t>Hyper parameter tuning</a:t>
            </a:r>
            <a:endParaRPr dirty="0">
              <a:solidFill>
                <a:srgbClr val="0F0F0F"/>
              </a:solidFill>
              <a:highlight>
                <a:srgbClr val="FFFFFF"/>
              </a:highlight>
              <a:latin typeface="+mj-lt"/>
              <a:ea typeface="Roboto"/>
              <a:cs typeface="Roboto"/>
              <a:sym typeface="Roboto"/>
            </a:endParaRPr>
          </a:p>
          <a:p>
            <a:pPr marL="0" lvl="0" indent="0" algn="l" rtl="0">
              <a:lnSpc>
                <a:spcPct val="100000"/>
              </a:lnSpc>
              <a:spcBef>
                <a:spcPts val="0"/>
              </a:spcBef>
              <a:spcAft>
                <a:spcPts val="0"/>
              </a:spcAft>
              <a:buSzPts val="1400"/>
              <a:buNone/>
            </a:pPr>
            <a:endParaRPr dirty="0">
              <a:latin typeface="+mj-lt"/>
            </a:endParaRPr>
          </a:p>
        </p:txBody>
      </p:sp>
      <p:sp>
        <p:nvSpPr>
          <p:cNvPr id="44" name="Google Shape;44;g1ded2e0fa68_0_0"/>
          <p:cNvSpPr txBox="1">
            <a:spLocks noGrp="1"/>
          </p:cNvSpPr>
          <p:nvPr>
            <p:ph type="body" idx="1"/>
          </p:nvPr>
        </p:nvSpPr>
        <p:spPr>
          <a:xfrm>
            <a:off x="4307796" y="1904775"/>
            <a:ext cx="7669800" cy="43407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dirty="0">
                <a:latin typeface="+mj-lt"/>
              </a:rPr>
              <a:t>1 Tuning process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2 Using an appropriate scale to pick </a:t>
            </a:r>
            <a:r>
              <a:rPr lang="en-US" sz="2400" dirty="0" err="1">
                <a:latin typeface="+mj-lt"/>
              </a:rPr>
              <a:t>hyperparameters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3 </a:t>
            </a:r>
            <a:r>
              <a:rPr lang="en-US" sz="2400" dirty="0" err="1">
                <a:latin typeface="+mj-lt"/>
              </a:rPr>
              <a:t>Hyperparameters</a:t>
            </a:r>
            <a:r>
              <a:rPr lang="en-US" sz="2400" dirty="0">
                <a:latin typeface="+mj-lt"/>
              </a:rPr>
              <a:t> tuning in practice: Pandas vs Caviar</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4 Normalizing activations in a network</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5 Fitting Batch Norm into a neural network</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6 Why does Batch Norm work?</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7 </a:t>
            </a:r>
            <a:r>
              <a:rPr lang="en-US" sz="2400" dirty="0" err="1">
                <a:latin typeface="+mj-lt"/>
              </a:rPr>
              <a:t>Softmax</a:t>
            </a:r>
            <a:r>
              <a:rPr lang="en-US" sz="2400" dirty="0">
                <a:latin typeface="+mj-lt"/>
              </a:rPr>
              <a:t> regression</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8 Deep Learning frameworks</a:t>
            </a:r>
            <a:endParaRPr sz="2400" dirty="0">
              <a:latin typeface="+mj-lt"/>
            </a:endParaRPr>
          </a:p>
          <a:p>
            <a:pPr marL="0" lvl="0" indent="0" algn="l" rtl="0">
              <a:lnSpc>
                <a:spcPct val="100000"/>
              </a:lnSpc>
              <a:spcBef>
                <a:spcPts val="0"/>
              </a:spcBef>
              <a:spcAft>
                <a:spcPts val="0"/>
              </a:spcAft>
              <a:buSzPts val="1400"/>
              <a:buNone/>
            </a:pPr>
            <a:r>
              <a:rPr lang="en-US" sz="2400" dirty="0">
                <a:latin typeface="+mj-lt"/>
              </a:rPr>
              <a:t>9 </a:t>
            </a:r>
            <a:r>
              <a:rPr lang="en-US" sz="2400" dirty="0" err="1">
                <a:latin typeface="+mj-lt"/>
              </a:rPr>
              <a:t>TensorFlow</a:t>
            </a:r>
            <a:endParaRPr sz="2400" dirty="0">
              <a:latin typeface="+mj-lt"/>
            </a:endParaRPr>
          </a:p>
          <a:p>
            <a:pPr marL="0" lvl="0" indent="0" algn="l" rtl="0">
              <a:lnSpc>
                <a:spcPct val="100000"/>
              </a:lnSpc>
              <a:spcBef>
                <a:spcPts val="0"/>
              </a:spcBef>
              <a:spcAft>
                <a:spcPts val="0"/>
              </a:spcAft>
              <a:buSzPts val="1400"/>
              <a:buNone/>
            </a:pPr>
            <a:endParaRPr sz="6600" dirty="0">
              <a:latin typeface="+mj-lt"/>
            </a:endParaRPr>
          </a:p>
        </p:txBody>
      </p:sp>
      <p:pic>
        <p:nvPicPr>
          <p:cNvPr id="45" name="Google Shape;45;g1ded2e0fa68_0_0"/>
          <p:cNvPicPr preferRelativeResize="0"/>
          <p:nvPr/>
        </p:nvPicPr>
        <p:blipFill rotWithShape="1">
          <a:blip r:embed="rId3">
            <a:alphaModFix/>
          </a:blip>
          <a:srcRect/>
          <a:stretch/>
        </p:blipFill>
        <p:spPr>
          <a:xfrm>
            <a:off x="207013" y="2395175"/>
            <a:ext cx="3871626" cy="2129399"/>
          </a:xfrm>
          <a:prstGeom prst="rect">
            <a:avLst/>
          </a:prstGeom>
          <a:noFill/>
          <a:ln>
            <a:noFill/>
          </a:ln>
        </p:spPr>
      </p:pic>
      <p:sp>
        <p:nvSpPr>
          <p:cNvPr id="46" name="Google Shape;46;g1ded2e0fa68_0_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a:t>
            </a:fld>
            <a:endParaRPr>
              <a:latin typeface="+mj-lt"/>
            </a:endParaRPr>
          </a:p>
        </p:txBody>
      </p:sp>
    </p:spTree>
    <p:extLst>
      <p:ext uri="{BB962C8B-B14F-4D97-AF65-F5344CB8AC3E}">
        <p14:creationId xmlns:p14="http://schemas.microsoft.com/office/powerpoint/2010/main" val="3937377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0"/>
        <p:cNvGrpSpPr/>
        <p:nvPr/>
      </p:nvGrpSpPr>
      <p:grpSpPr>
        <a:xfrm>
          <a:off x="0" y="0"/>
          <a:ext cx="0" cy="0"/>
          <a:chOff x="0" y="0"/>
          <a:chExt cx="0" cy="0"/>
        </a:xfrm>
      </p:grpSpPr>
      <p:sp>
        <p:nvSpPr>
          <p:cNvPr id="51" name="Google Shape;51;p2"/>
          <p:cNvSpPr txBox="1">
            <a:spLocks noGrp="1"/>
          </p:cNvSpPr>
          <p:nvPr>
            <p:ph type="body" idx="1"/>
          </p:nvPr>
        </p:nvSpPr>
        <p:spPr>
          <a:xfrm>
            <a:off x="1040040" y="1272794"/>
            <a:ext cx="10884726" cy="2109808"/>
          </a:xfrm>
          <a:prstGeom prst="rect">
            <a:avLst/>
          </a:prstGeom>
          <a:noFill/>
          <a:ln>
            <a:noFill/>
          </a:ln>
        </p:spPr>
        <p:txBody>
          <a:bodyPr spcFirstLastPara="1" wrap="square" lIns="0" tIns="114300" rIns="0" bIns="0" anchor="t" anchorCtr="0">
            <a:spAutoFit/>
          </a:bodyPr>
          <a:lstStyle/>
          <a:p>
            <a:pPr marL="6448425" marR="5080" lvl="0" indent="-1549400" algn="l" rtl="0">
              <a:lnSpc>
                <a:spcPct val="108333"/>
              </a:lnSpc>
              <a:spcBef>
                <a:spcPts val="0"/>
              </a:spcBef>
              <a:spcAft>
                <a:spcPts val="0"/>
              </a:spcAft>
              <a:buSzPts val="1400"/>
              <a:buNone/>
            </a:pPr>
            <a:r>
              <a:rPr lang="en-US" dirty="0" err="1">
                <a:latin typeface="+mj-lt"/>
              </a:rPr>
              <a:t>Hyperparameter</a:t>
            </a:r>
            <a:r>
              <a:rPr lang="en-US" dirty="0">
                <a:latin typeface="+mj-lt"/>
              </a:rPr>
              <a:t> tuning</a:t>
            </a:r>
            <a:endParaRPr dirty="0">
              <a:latin typeface="+mj-lt"/>
            </a:endParaRPr>
          </a:p>
        </p:txBody>
      </p:sp>
      <p:sp>
        <p:nvSpPr>
          <p:cNvPr id="52" name="Google Shape;52;p2"/>
          <p:cNvSpPr txBox="1"/>
          <p:nvPr/>
        </p:nvSpPr>
        <p:spPr>
          <a:xfrm>
            <a:off x="5937402" y="3703954"/>
            <a:ext cx="5066100" cy="84382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Tuning process</a:t>
            </a:r>
            <a:endParaRPr sz="5400" b="0" i="0" u="none" strike="noStrike" cap="none" dirty="0">
              <a:solidFill>
                <a:srgbClr val="000000"/>
              </a:solidFill>
              <a:latin typeface="+mj-lt"/>
              <a:ea typeface="Calibri"/>
              <a:cs typeface="Calibri"/>
              <a:sym typeface="Calibri"/>
            </a:endParaRPr>
          </a:p>
        </p:txBody>
      </p:sp>
      <p:sp>
        <p:nvSpPr>
          <p:cNvPr id="53" name="Google Shape;53;p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54" name="Google Shape;54;p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55" name="Google Shape;55;p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a:t>
            </a:fld>
            <a:endParaRPr>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46081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a:latin typeface="+mj-lt"/>
                <a:ea typeface="Cambria"/>
                <a:cs typeface="Cambria"/>
                <a:sym typeface="Cambria"/>
              </a:rPr>
              <a:t>Hyperparameters</a:t>
            </a:r>
            <a:endParaRPr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a:t>
            </a:fld>
            <a:endParaRPr>
              <a:latin typeface="+mj-lt"/>
            </a:endParaRPr>
          </a:p>
        </p:txBody>
      </p:sp>
      <p:sp>
        <p:nvSpPr>
          <p:cNvPr id="2" name="TextBox 1"/>
          <p:cNvSpPr txBox="1"/>
          <p:nvPr/>
        </p:nvSpPr>
        <p:spPr>
          <a:xfrm>
            <a:off x="378070" y="1204546"/>
            <a:ext cx="11473962" cy="4462760"/>
          </a:xfrm>
          <a:prstGeom prst="rect">
            <a:avLst/>
          </a:prstGeom>
          <a:noFill/>
        </p:spPr>
        <p:txBody>
          <a:bodyPr wrap="square" rtlCol="0">
            <a:spAutoFit/>
          </a:bodyPr>
          <a:lstStyle/>
          <a:p>
            <a:r>
              <a:rPr lang="en-US" sz="2400" dirty="0"/>
              <a:t>Tuning these </a:t>
            </a:r>
            <a:r>
              <a:rPr lang="en-US" sz="2400" dirty="0" err="1"/>
              <a:t>hyperparameters</a:t>
            </a:r>
            <a:r>
              <a:rPr lang="en-US" sz="2400" dirty="0"/>
              <a:t> effectively can lead to a massive improvement in your position on the leaderboard. Following are a few common </a:t>
            </a:r>
            <a:r>
              <a:rPr lang="en-US" sz="2400" dirty="0" err="1"/>
              <a:t>hyperparameters</a:t>
            </a:r>
            <a:r>
              <a:rPr lang="en-US" sz="2400" dirty="0"/>
              <a:t> we frequently work with in a deep neural network</a:t>
            </a:r>
            <a:r>
              <a:rPr lang="en-US" sz="2400" dirty="0" smtClean="0"/>
              <a:t>:</a:t>
            </a:r>
            <a:endParaRPr lang="en-US" sz="2400" dirty="0"/>
          </a:p>
          <a:p>
            <a:pPr marL="285750" indent="-285750">
              <a:buFont typeface="Arial" panose="020B0604020202020204" pitchFamily="34" charset="0"/>
              <a:buChar char="•"/>
            </a:pPr>
            <a:r>
              <a:rPr lang="en-US" sz="2000" dirty="0"/>
              <a:t>Learning rate – α</a:t>
            </a:r>
          </a:p>
          <a:p>
            <a:pPr marL="285750" indent="-285750">
              <a:buFont typeface="Arial" panose="020B0604020202020204" pitchFamily="34" charset="0"/>
              <a:buChar char="•"/>
            </a:pPr>
            <a:r>
              <a:rPr lang="en-US" sz="2000" dirty="0"/>
              <a:t>Momentum – β</a:t>
            </a:r>
          </a:p>
          <a:p>
            <a:pPr marL="285750" indent="-285750">
              <a:buFont typeface="Arial" panose="020B0604020202020204" pitchFamily="34" charset="0"/>
              <a:buChar char="•"/>
            </a:pPr>
            <a:r>
              <a:rPr lang="en-US" sz="2000" dirty="0"/>
              <a:t>Adam’s </a:t>
            </a:r>
            <a:r>
              <a:rPr lang="en-US" sz="2000" dirty="0" err="1"/>
              <a:t>hyperparameter</a:t>
            </a:r>
            <a:r>
              <a:rPr lang="en-US" sz="2000" dirty="0"/>
              <a:t> – β1, β2, ε</a:t>
            </a:r>
          </a:p>
          <a:p>
            <a:pPr marL="285750" indent="-285750">
              <a:buFont typeface="Arial" panose="020B0604020202020204" pitchFamily="34" charset="0"/>
              <a:buChar char="•"/>
            </a:pPr>
            <a:r>
              <a:rPr lang="en-US" sz="2000" dirty="0"/>
              <a:t>Number of hidden layers</a:t>
            </a:r>
          </a:p>
          <a:p>
            <a:pPr marL="285750" indent="-285750">
              <a:buFont typeface="Arial" panose="020B0604020202020204" pitchFamily="34" charset="0"/>
              <a:buChar char="•"/>
            </a:pPr>
            <a:r>
              <a:rPr lang="en-US" sz="2000" dirty="0"/>
              <a:t>Number of hidden units for different layers</a:t>
            </a:r>
          </a:p>
          <a:p>
            <a:pPr marL="285750" indent="-285750">
              <a:buFont typeface="Arial" panose="020B0604020202020204" pitchFamily="34" charset="0"/>
              <a:buChar char="•"/>
            </a:pPr>
            <a:r>
              <a:rPr lang="en-US" sz="2000" dirty="0"/>
              <a:t>Learning rate decay</a:t>
            </a:r>
          </a:p>
          <a:p>
            <a:pPr marL="285750" indent="-285750">
              <a:buFont typeface="Arial" panose="020B0604020202020204" pitchFamily="34" charset="0"/>
              <a:buChar char="•"/>
            </a:pPr>
            <a:r>
              <a:rPr lang="en-US" sz="2000" dirty="0"/>
              <a:t>Mini-batch </a:t>
            </a:r>
            <a:r>
              <a:rPr lang="en-US" sz="2000" dirty="0" smtClean="0"/>
              <a:t>size</a:t>
            </a:r>
          </a:p>
          <a:p>
            <a:r>
              <a:rPr lang="en-US" sz="2400" dirty="0"/>
              <a:t>Learning rate usually proves to be the most important among the above. This is followed by the number of hidden units, momentum, mini-batch size, the number of hidden layers, and then the learning rate decay.</a:t>
            </a:r>
          </a:p>
        </p:txBody>
      </p:sp>
    </p:spTree>
    <p:extLst>
      <p:ext uri="{BB962C8B-B14F-4D97-AF65-F5344CB8AC3E}">
        <p14:creationId xmlns:p14="http://schemas.microsoft.com/office/powerpoint/2010/main" val="2553936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46081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a:latin typeface="+mj-lt"/>
                <a:ea typeface="Cambria"/>
                <a:cs typeface="Cambria"/>
                <a:sym typeface="Cambria"/>
              </a:rPr>
              <a:t>Hyperparameters</a:t>
            </a:r>
            <a:endParaRPr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a:t>
            </a:fld>
            <a:endParaRPr>
              <a:latin typeface="+mj-lt"/>
            </a:endParaRPr>
          </a:p>
        </p:txBody>
      </p:sp>
      <p:sp>
        <p:nvSpPr>
          <p:cNvPr id="2" name="TextBox 1"/>
          <p:cNvSpPr txBox="1"/>
          <p:nvPr/>
        </p:nvSpPr>
        <p:spPr>
          <a:xfrm>
            <a:off x="633047" y="1204546"/>
            <a:ext cx="10480430" cy="1200329"/>
          </a:xfrm>
          <a:prstGeom prst="rect">
            <a:avLst/>
          </a:prstGeom>
          <a:noFill/>
        </p:spPr>
        <p:txBody>
          <a:bodyPr wrap="square" rtlCol="0">
            <a:spAutoFit/>
          </a:bodyPr>
          <a:lstStyle/>
          <a:p>
            <a:r>
              <a:rPr lang="en-US" sz="2400" dirty="0"/>
              <a:t>Now, suppose we have two </a:t>
            </a:r>
            <a:r>
              <a:rPr lang="en-US" sz="2400" dirty="0" err="1"/>
              <a:t>hyperparameters</a:t>
            </a:r>
            <a:r>
              <a:rPr lang="en-US" sz="2400" dirty="0"/>
              <a:t>. We sample the points in a grid and then systematically explore these values. Consider a five-by-five grid:</a:t>
            </a:r>
          </a:p>
        </p:txBody>
      </p:sp>
      <p:pic>
        <p:nvPicPr>
          <p:cNvPr id="1026" name="Picture 2" descr="https://cdn.analyticsvidhya.com/wp-content/uploads/2018/11/Screenshot-from-2018-11-05-12-48-2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4297" y="2742761"/>
            <a:ext cx="2847975" cy="2733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6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460819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err="1">
                <a:latin typeface="+mj-lt"/>
                <a:ea typeface="Cambria"/>
                <a:cs typeface="Cambria"/>
                <a:sym typeface="Cambria"/>
              </a:rPr>
              <a:t>Hyperparameters</a:t>
            </a:r>
            <a:endParaRPr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6</a:t>
            </a:fld>
            <a:endParaRPr>
              <a:latin typeface="+mj-lt"/>
            </a:endParaRPr>
          </a:p>
        </p:txBody>
      </p:sp>
      <p:sp>
        <p:nvSpPr>
          <p:cNvPr id="2" name="TextBox 1"/>
          <p:cNvSpPr txBox="1"/>
          <p:nvPr/>
        </p:nvSpPr>
        <p:spPr>
          <a:xfrm>
            <a:off x="378070" y="1204546"/>
            <a:ext cx="11139853" cy="5262979"/>
          </a:xfrm>
          <a:prstGeom prst="rect">
            <a:avLst/>
          </a:prstGeom>
          <a:noFill/>
        </p:spPr>
        <p:txBody>
          <a:bodyPr wrap="square" rtlCol="0">
            <a:spAutoFit/>
          </a:bodyPr>
          <a:lstStyle/>
          <a:p>
            <a:r>
              <a:rPr lang="en-US" sz="2400" dirty="0"/>
              <a:t>We check all 25 values and pick whichever </a:t>
            </a:r>
            <a:r>
              <a:rPr lang="en-US" sz="2400" dirty="0" err="1"/>
              <a:t>hyperparameter</a:t>
            </a:r>
            <a:r>
              <a:rPr lang="en-US" sz="2400" dirty="0"/>
              <a:t> works best. Instead of using these grids, we can try random values as well. Why? Because we do not know which </a:t>
            </a:r>
            <a:r>
              <a:rPr lang="en-US" sz="2400" dirty="0" err="1"/>
              <a:t>hyperparameter</a:t>
            </a:r>
            <a:r>
              <a:rPr lang="en-US" sz="2400" dirty="0"/>
              <a:t> value might turn out to be important, and in a grid we only define particular values</a:t>
            </a:r>
            <a:r>
              <a:rPr lang="en-US" sz="2400" dirty="0" smtClean="0"/>
              <a:t>.</a:t>
            </a:r>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r>
              <a:rPr lang="en-US" sz="2400" dirty="0"/>
              <a:t>The major takeaway from this sub-section is to use random sampling and adequate search.</a:t>
            </a:r>
          </a:p>
        </p:txBody>
      </p:sp>
      <p:pic>
        <p:nvPicPr>
          <p:cNvPr id="2050" name="Picture 2" descr="https://cdn.analyticsvidhya.com/wp-content/uploads/2018/11/Screenshot-from-2018-11-05-12-55-1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02260" y="2851638"/>
            <a:ext cx="2847975"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185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6"/>
          <p:cNvSpPr txBox="1">
            <a:spLocks noGrp="1"/>
          </p:cNvSpPr>
          <p:nvPr>
            <p:ph type="body" idx="1"/>
          </p:nvPr>
        </p:nvSpPr>
        <p:spPr>
          <a:xfrm>
            <a:off x="1040040" y="1272794"/>
            <a:ext cx="10472256" cy="2109808"/>
          </a:xfrm>
          <a:prstGeom prst="rect">
            <a:avLst/>
          </a:prstGeom>
          <a:noFill/>
          <a:ln>
            <a:noFill/>
          </a:ln>
        </p:spPr>
        <p:txBody>
          <a:bodyPr spcFirstLastPara="1" wrap="square" lIns="0" tIns="114300" rIns="0" bIns="0" anchor="t" anchorCtr="0">
            <a:spAutoFit/>
          </a:bodyPr>
          <a:lstStyle/>
          <a:p>
            <a:pPr marL="6448425" marR="5080" lvl="0" indent="-1549400" algn="l" rtl="0">
              <a:lnSpc>
                <a:spcPct val="108333"/>
              </a:lnSpc>
              <a:spcBef>
                <a:spcPts val="0"/>
              </a:spcBef>
              <a:spcAft>
                <a:spcPts val="0"/>
              </a:spcAft>
              <a:buSzPts val="1400"/>
              <a:buNone/>
            </a:pPr>
            <a:r>
              <a:rPr lang="en-US" dirty="0">
                <a:latin typeface="+mj-lt"/>
              </a:rPr>
              <a:t>Hyperparameter tuning</a:t>
            </a:r>
            <a:endParaRPr dirty="0">
              <a:latin typeface="+mj-lt"/>
            </a:endParaRPr>
          </a:p>
        </p:txBody>
      </p:sp>
      <p:sp>
        <p:nvSpPr>
          <p:cNvPr id="130" name="Google Shape;130;p6"/>
          <p:cNvSpPr txBox="1"/>
          <p:nvPr/>
        </p:nvSpPr>
        <p:spPr>
          <a:xfrm>
            <a:off x="5218772" y="3700894"/>
            <a:ext cx="6650494" cy="2505814"/>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j-lt"/>
                <a:ea typeface="Calibri"/>
                <a:cs typeface="Calibri"/>
                <a:sym typeface="Calibri"/>
              </a:rPr>
              <a:t>Using an appropriate scale to pick </a:t>
            </a:r>
            <a:r>
              <a:rPr lang="en-US" sz="5400" b="0" i="0" u="none" strike="noStrike" cap="none" dirty="0" err="1">
                <a:solidFill>
                  <a:srgbClr val="000000"/>
                </a:solidFill>
                <a:latin typeface="+mj-lt"/>
                <a:ea typeface="Calibri"/>
                <a:cs typeface="Calibri"/>
                <a:sym typeface="Calibri"/>
              </a:rPr>
              <a:t>hyperparameters</a:t>
            </a:r>
            <a:endParaRPr sz="5400" b="0" i="0" u="none" strike="noStrike" cap="none" dirty="0">
              <a:solidFill>
                <a:srgbClr val="000000"/>
              </a:solidFill>
              <a:latin typeface="+mj-lt"/>
              <a:ea typeface="Calibri"/>
              <a:cs typeface="Calibri"/>
              <a:sym typeface="Calibri"/>
            </a:endParaRPr>
          </a:p>
        </p:txBody>
      </p:sp>
      <p:sp>
        <p:nvSpPr>
          <p:cNvPr id="131" name="Google Shape;131;p6"/>
          <p:cNvSpPr/>
          <p:nvPr/>
        </p:nvSpPr>
        <p:spPr>
          <a:xfrm>
            <a:off x="5015966" y="3410419"/>
            <a:ext cx="706753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132" name="Google Shape;132;p6"/>
          <p:cNvPicPr preferRelativeResize="0"/>
          <p:nvPr/>
        </p:nvPicPr>
        <p:blipFill rotWithShape="1">
          <a:blip r:embed="rId3">
            <a:alphaModFix/>
          </a:blip>
          <a:srcRect/>
          <a:stretch/>
        </p:blipFill>
        <p:spPr>
          <a:xfrm>
            <a:off x="417324" y="2395175"/>
            <a:ext cx="3960577" cy="2129399"/>
          </a:xfrm>
          <a:prstGeom prst="rect">
            <a:avLst/>
          </a:prstGeom>
          <a:noFill/>
          <a:ln>
            <a:noFill/>
          </a:ln>
        </p:spPr>
      </p:pic>
      <p:sp>
        <p:nvSpPr>
          <p:cNvPr id="133" name="Google Shape;133;p6"/>
          <p:cNvSpPr txBox="1">
            <a:spLocks noGrp="1"/>
          </p:cNvSpPr>
          <p:nvPr>
            <p:ph type="sldNum" idx="12"/>
          </p:nvPr>
        </p:nvSpPr>
        <p:spPr>
          <a:xfrm>
            <a:off x="8778240" y="6377940"/>
            <a:ext cx="2868524"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7</a:t>
            </a:fld>
            <a:endParaRPr>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979469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Picking </a:t>
            </a:r>
            <a:r>
              <a:rPr lang="en-US" sz="4400" dirty="0" err="1">
                <a:latin typeface="+mj-lt"/>
                <a:ea typeface="Cambria"/>
                <a:cs typeface="Cambria"/>
                <a:sym typeface="Cambria"/>
              </a:rPr>
              <a:t>hyperparameters</a:t>
            </a:r>
            <a:r>
              <a:rPr lang="en-US" sz="4400" dirty="0">
                <a:latin typeface="+mj-lt"/>
                <a:ea typeface="Cambria"/>
                <a:cs typeface="Cambria"/>
                <a:sym typeface="Cambria"/>
              </a:rPr>
              <a:t> at random</a:t>
            </a:r>
            <a:endParaRPr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8</a:t>
            </a:fld>
            <a:endParaRPr>
              <a:latin typeface="+mj-lt"/>
            </a:endParaRPr>
          </a:p>
        </p:txBody>
      </p:sp>
      <p:sp>
        <p:nvSpPr>
          <p:cNvPr id="2" name="TextBox 1"/>
          <p:cNvSpPr txBox="1"/>
          <p:nvPr/>
        </p:nvSpPr>
        <p:spPr>
          <a:xfrm>
            <a:off x="386862" y="1230923"/>
            <a:ext cx="11359661"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j-lt"/>
              </a:rPr>
              <a:t>While sampling at random can be a useful way to search for </a:t>
            </a:r>
            <a:r>
              <a:rPr lang="en-US" sz="2400" dirty="0" err="1">
                <a:latin typeface="+mj-lt"/>
              </a:rPr>
              <a:t>hyperparameters</a:t>
            </a:r>
            <a:r>
              <a:rPr lang="en-US" sz="2400" dirty="0">
                <a:latin typeface="+mj-lt"/>
              </a:rPr>
              <a:t>, it's not always the best approach. For example, if you're trying to select the number of hidden units for a given layer, sampling uniformly at random over a range of values may be appropriate. </a:t>
            </a:r>
          </a:p>
        </p:txBody>
      </p:sp>
    </p:spTree>
    <p:extLst>
      <p:ext uri="{BB962C8B-B14F-4D97-AF65-F5344CB8AC3E}">
        <p14:creationId xmlns:p14="http://schemas.microsoft.com/office/powerpoint/2010/main" val="3742395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246122" y="170700"/>
            <a:ext cx="942403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Picking </a:t>
            </a:r>
            <a:r>
              <a:rPr lang="en-US" sz="4400" b="0" dirty="0" err="1">
                <a:latin typeface="+mj-lt"/>
                <a:ea typeface="Cambria"/>
                <a:cs typeface="Cambria"/>
                <a:sym typeface="Cambria"/>
              </a:rPr>
              <a:t>hyperparameters</a:t>
            </a:r>
            <a:r>
              <a:rPr lang="en-US" sz="4400" b="0" dirty="0">
                <a:latin typeface="+mj-lt"/>
                <a:ea typeface="Cambria"/>
                <a:cs typeface="Cambria"/>
                <a:sym typeface="Cambria"/>
              </a:rPr>
              <a:t> at random</a:t>
            </a:r>
            <a:endParaRPr sz="4400" dirty="0">
              <a:latin typeface="+mj-lt"/>
              <a:ea typeface="Cambria"/>
              <a:cs typeface="Cambria"/>
              <a:sym typeface="Cambria"/>
            </a:endParaRPr>
          </a:p>
        </p:txBody>
      </p:sp>
      <p:pic>
        <p:nvPicPr>
          <p:cNvPr id="139" name="Google Shape;139;p7" descr="Hyperparameter tuning using Grid Search and Random Search: A Conceptual  Guide | by Jack Stalfort | Medium"/>
          <p:cNvPicPr preferRelativeResize="0"/>
          <p:nvPr/>
        </p:nvPicPr>
        <p:blipFill rotWithShape="1">
          <a:blip r:embed="rId3">
            <a:alphaModFix/>
          </a:blip>
          <a:srcRect/>
          <a:stretch/>
        </p:blipFill>
        <p:spPr>
          <a:xfrm>
            <a:off x="0" y="1143000"/>
            <a:ext cx="10591800" cy="5295900"/>
          </a:xfrm>
          <a:prstGeom prst="rect">
            <a:avLst/>
          </a:prstGeom>
          <a:noFill/>
          <a:ln>
            <a:noFill/>
          </a:ln>
        </p:spPr>
      </p:pic>
      <p:pic>
        <p:nvPicPr>
          <p:cNvPr id="140" name="Google Shape;140;p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41" name="Google Shape;141;p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9</a:t>
            </a:fld>
            <a:endParaRPr>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979469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Appropriate scale for </a:t>
            </a:r>
            <a:r>
              <a:rPr lang="en-US" sz="4400" dirty="0" err="1">
                <a:latin typeface="+mj-lt"/>
                <a:ea typeface="Cambria"/>
                <a:cs typeface="Cambria"/>
                <a:sym typeface="Cambria"/>
              </a:rPr>
              <a:t>hyperparameters</a:t>
            </a:r>
            <a:endParaRPr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10</a:t>
            </a:fld>
            <a:endParaRPr>
              <a:latin typeface="+mj-lt"/>
            </a:endParaRPr>
          </a:p>
        </p:txBody>
      </p:sp>
      <p:sp>
        <p:nvSpPr>
          <p:cNvPr id="2" name="TextBox 1"/>
          <p:cNvSpPr txBox="1"/>
          <p:nvPr/>
        </p:nvSpPr>
        <p:spPr>
          <a:xfrm>
            <a:off x="386862" y="1230923"/>
            <a:ext cx="11359661" cy="2985433"/>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j-lt"/>
              </a:rPr>
              <a:t>Randomly selecting values from a uniform distribution might not be ideal for certain </a:t>
            </a:r>
            <a:r>
              <a:rPr lang="en-US" sz="2400" dirty="0" err="1">
                <a:latin typeface="+mj-lt"/>
              </a:rPr>
              <a:t>hyperparameters</a:t>
            </a:r>
            <a:r>
              <a:rPr lang="en-US" sz="2400" dirty="0">
                <a:latin typeface="+mj-lt"/>
              </a:rPr>
              <a:t> like learning rate (alpha) or beta in exponentially weighted averages. </a:t>
            </a:r>
            <a:endParaRPr lang="en-US" sz="2400" dirty="0" smtClean="0">
              <a:latin typeface="+mj-lt"/>
            </a:endParaRPr>
          </a:p>
          <a:p>
            <a:pPr marL="342900" indent="-342900">
              <a:buFont typeface="Arial" panose="020B0604020202020204" pitchFamily="34" charset="0"/>
              <a:buChar char="•"/>
            </a:pPr>
            <a:r>
              <a:rPr lang="en-US" sz="2400" dirty="0" smtClean="0">
                <a:latin typeface="+mj-lt"/>
              </a:rPr>
              <a:t>For </a:t>
            </a:r>
            <a:r>
              <a:rPr lang="en-US" sz="2400" dirty="0">
                <a:latin typeface="+mj-lt"/>
              </a:rPr>
              <a:t>parameters like alpha, a more effective approach is to sample on a logarithmic scale, prioritizing the lower end where small changes can significantly impact results. </a:t>
            </a:r>
            <a:endParaRPr lang="en-US" sz="2400" dirty="0" smtClean="0">
              <a:latin typeface="+mj-lt"/>
            </a:endParaRPr>
          </a:p>
          <a:p>
            <a:r>
              <a:rPr lang="en-US" sz="2400" dirty="0">
                <a:latin typeface="+mj-lt"/>
              </a:rPr>
              <a:t>	</a:t>
            </a:r>
            <a:r>
              <a:rPr lang="en-US" sz="2000" dirty="0" smtClean="0">
                <a:latin typeface="+mj-lt"/>
              </a:rPr>
              <a:t>- To </a:t>
            </a:r>
            <a:r>
              <a:rPr lang="en-US" sz="2000" dirty="0">
                <a:latin typeface="+mj-lt"/>
              </a:rPr>
              <a:t>sample on a logarithmic scale in Python, you can use the formula alpha = 10 to the </a:t>
            </a:r>
            <a:r>
              <a:rPr lang="en-US" sz="2000" dirty="0" smtClean="0">
                <a:latin typeface="+mj-lt"/>
              </a:rPr>
              <a:t>	power </a:t>
            </a:r>
            <a:r>
              <a:rPr lang="en-US" sz="2000" dirty="0">
                <a:latin typeface="+mj-lt"/>
              </a:rPr>
              <a:t>of r, where r is a random number between -4 and 0.</a:t>
            </a:r>
          </a:p>
        </p:txBody>
      </p:sp>
    </p:spTree>
    <p:extLst>
      <p:ext uri="{BB962C8B-B14F-4D97-AF65-F5344CB8AC3E}">
        <p14:creationId xmlns:p14="http://schemas.microsoft.com/office/powerpoint/2010/main" val="985747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9794693"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Appropriate scale for </a:t>
            </a:r>
            <a:r>
              <a:rPr lang="en-US" sz="4400" dirty="0" err="1">
                <a:latin typeface="+mj-lt"/>
                <a:ea typeface="Cambria"/>
                <a:cs typeface="Cambria"/>
                <a:sym typeface="Cambria"/>
              </a:rPr>
              <a:t>hyperparameters</a:t>
            </a:r>
            <a:endParaRPr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11</a:t>
            </a:fld>
            <a:endParaRPr>
              <a:latin typeface="+mj-lt"/>
            </a:endParaRPr>
          </a:p>
        </p:txBody>
      </p:sp>
      <p:sp>
        <p:nvSpPr>
          <p:cNvPr id="2" name="TextBox 1"/>
          <p:cNvSpPr txBox="1"/>
          <p:nvPr/>
        </p:nvSpPr>
        <p:spPr>
          <a:xfrm>
            <a:off x="386862" y="1230923"/>
            <a:ext cx="11359661" cy="3046988"/>
          </a:xfrm>
          <a:prstGeom prst="rect">
            <a:avLst/>
          </a:prstGeom>
          <a:noFill/>
        </p:spPr>
        <p:txBody>
          <a:bodyPr wrap="square" rtlCol="0">
            <a:spAutoFit/>
          </a:bodyPr>
          <a:lstStyle/>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For </a:t>
            </a:r>
            <a:r>
              <a:rPr lang="en-US" sz="2400" dirty="0" err="1">
                <a:latin typeface="+mj-lt"/>
              </a:rPr>
              <a:t>hyperparameters</a:t>
            </a:r>
            <a:r>
              <a:rPr lang="en-US" sz="2400" dirty="0">
                <a:latin typeface="+mj-lt"/>
              </a:rPr>
              <a:t> like beta, explore the range of values for 1 minus beta (0.1 to 0.001) by sampling uniformly at random. This approach allocates more resources to the range where small changes in beta have a significant impact. </a:t>
            </a:r>
            <a:endParaRPr lang="en-US" sz="2400" dirty="0" smtClean="0">
              <a:latin typeface="+mj-lt"/>
            </a:endParaRPr>
          </a:p>
          <a:p>
            <a:pPr marL="342900" indent="-342900">
              <a:buFont typeface="Arial" panose="020B0604020202020204" pitchFamily="34" charset="0"/>
              <a:buChar char="•"/>
            </a:pPr>
            <a:r>
              <a:rPr lang="en-US" sz="2400" dirty="0" smtClean="0">
                <a:latin typeface="+mj-lt"/>
              </a:rPr>
              <a:t>While </a:t>
            </a:r>
            <a:r>
              <a:rPr lang="en-US" sz="2400" dirty="0">
                <a:latin typeface="+mj-lt"/>
              </a:rPr>
              <a:t>selecting the appropriate scale is crucial, note that even suboptimal scaling decisions can yield acceptable results. </a:t>
            </a:r>
            <a:endParaRPr lang="en-US" sz="2400" dirty="0" smtClean="0">
              <a:latin typeface="+mj-lt"/>
            </a:endParaRPr>
          </a:p>
          <a:p>
            <a:pPr marL="342900" indent="-342900">
              <a:buFont typeface="Arial" panose="020B0604020202020204" pitchFamily="34" charset="0"/>
              <a:buChar char="•"/>
            </a:pPr>
            <a:r>
              <a:rPr lang="en-US" sz="2400" dirty="0" smtClean="0">
                <a:latin typeface="+mj-lt"/>
              </a:rPr>
              <a:t>A </a:t>
            </a:r>
            <a:r>
              <a:rPr lang="en-US" sz="2400" dirty="0">
                <a:latin typeface="+mj-lt"/>
              </a:rPr>
              <a:t>coarse-to-fine search is also effective, focusing on the most useful </a:t>
            </a:r>
            <a:r>
              <a:rPr lang="en-US" sz="2400" dirty="0" err="1">
                <a:latin typeface="+mj-lt"/>
              </a:rPr>
              <a:t>hyperparameter</a:t>
            </a:r>
            <a:r>
              <a:rPr lang="en-US" sz="2400" dirty="0">
                <a:latin typeface="+mj-lt"/>
              </a:rPr>
              <a:t> values in later iterations.</a:t>
            </a:r>
            <a:endParaRPr lang="en-US" sz="2400" dirty="0">
              <a:latin typeface="+mj-lt"/>
            </a:endParaRPr>
          </a:p>
        </p:txBody>
      </p:sp>
    </p:spTree>
    <p:extLst>
      <p:ext uri="{BB962C8B-B14F-4D97-AF65-F5344CB8AC3E}">
        <p14:creationId xmlns:p14="http://schemas.microsoft.com/office/powerpoint/2010/main" val="3606722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69"/>
        <p:cNvGrpSpPr/>
        <p:nvPr/>
      </p:nvGrpSpPr>
      <p:grpSpPr>
        <a:xfrm>
          <a:off x="0" y="0"/>
          <a:ext cx="0" cy="0"/>
          <a:chOff x="0" y="0"/>
          <a:chExt cx="0" cy="0"/>
        </a:xfrm>
      </p:grpSpPr>
      <p:sp>
        <p:nvSpPr>
          <p:cNvPr id="170" name="Google Shape;170;p11"/>
          <p:cNvSpPr txBox="1">
            <a:spLocks noGrp="1"/>
          </p:cNvSpPr>
          <p:nvPr>
            <p:ph type="body" idx="1"/>
          </p:nvPr>
        </p:nvSpPr>
        <p:spPr>
          <a:xfrm>
            <a:off x="1040049" y="1272800"/>
            <a:ext cx="10734625" cy="2109808"/>
          </a:xfrm>
          <a:prstGeom prst="rect">
            <a:avLst/>
          </a:prstGeom>
          <a:noFill/>
          <a:ln>
            <a:noFill/>
          </a:ln>
        </p:spPr>
        <p:txBody>
          <a:bodyPr spcFirstLastPara="1" wrap="square" lIns="0" tIns="114300" rIns="0" bIns="0" anchor="t" anchorCtr="0">
            <a:spAutoFit/>
          </a:bodyPr>
          <a:lstStyle/>
          <a:p>
            <a:pPr marL="6448425" marR="5080" lvl="0" indent="-1689734" algn="l" rtl="0">
              <a:lnSpc>
                <a:spcPct val="108333"/>
              </a:lnSpc>
              <a:spcBef>
                <a:spcPts val="0"/>
              </a:spcBef>
              <a:spcAft>
                <a:spcPts val="0"/>
              </a:spcAft>
              <a:buSzPts val="1400"/>
              <a:buNone/>
            </a:pPr>
            <a:r>
              <a:rPr lang="en-US" dirty="0">
                <a:latin typeface="+mj-lt"/>
              </a:rPr>
              <a:t>Hyperparameters tuning</a:t>
            </a:r>
            <a:endParaRPr dirty="0">
              <a:latin typeface="+mj-lt"/>
            </a:endParaRPr>
          </a:p>
        </p:txBody>
      </p:sp>
      <p:sp>
        <p:nvSpPr>
          <p:cNvPr id="171" name="Google Shape;171;p11"/>
          <p:cNvSpPr txBox="1"/>
          <p:nvPr/>
        </p:nvSpPr>
        <p:spPr>
          <a:xfrm>
            <a:off x="5416176" y="3595127"/>
            <a:ext cx="6108379" cy="2505814"/>
          </a:xfrm>
          <a:prstGeom prst="rect">
            <a:avLst/>
          </a:prstGeom>
          <a:noFill/>
          <a:ln>
            <a:noFill/>
          </a:ln>
        </p:spPr>
        <p:txBody>
          <a:bodyPr spcFirstLastPara="1" wrap="square" lIns="0" tIns="12700" rIns="0" bIns="0" anchor="t" anchorCtr="0">
            <a:spAutoFit/>
          </a:bodyPr>
          <a:lstStyle/>
          <a:p>
            <a:pPr marL="12700" marR="5080" lvl="0" indent="88265" algn="ctr" rtl="0">
              <a:lnSpc>
                <a:spcPct val="100000"/>
              </a:lnSpc>
              <a:spcBef>
                <a:spcPts val="0"/>
              </a:spcBef>
              <a:spcAft>
                <a:spcPts val="0"/>
              </a:spcAft>
              <a:buClr>
                <a:srgbClr val="000000"/>
              </a:buClr>
              <a:buSzPts val="6000"/>
              <a:buFont typeface="Arial"/>
              <a:buNone/>
            </a:pPr>
            <a:r>
              <a:rPr lang="en-US" sz="5400" b="0" i="0" u="none" strike="noStrike" cap="none" dirty="0" err="1">
                <a:solidFill>
                  <a:srgbClr val="000000"/>
                </a:solidFill>
                <a:latin typeface="+mj-lt"/>
                <a:ea typeface="Calibri"/>
                <a:cs typeface="Calibri"/>
                <a:sym typeface="Calibri"/>
              </a:rPr>
              <a:t>Hyperparameters</a:t>
            </a:r>
            <a:r>
              <a:rPr lang="en-US" sz="5400" b="0" i="0" u="none" strike="noStrike" cap="none" dirty="0">
                <a:solidFill>
                  <a:srgbClr val="000000"/>
                </a:solidFill>
                <a:latin typeface="+mj-lt"/>
                <a:ea typeface="Calibri"/>
                <a:cs typeface="Calibri"/>
                <a:sym typeface="Calibri"/>
              </a:rPr>
              <a:t> tuning in practice Pandas vs Caviar</a:t>
            </a:r>
            <a:endParaRPr sz="5400" b="0" i="0" u="none" strike="noStrike" cap="none" dirty="0">
              <a:solidFill>
                <a:srgbClr val="000000"/>
              </a:solidFill>
              <a:latin typeface="+mj-lt"/>
              <a:ea typeface="Calibri"/>
              <a:cs typeface="Calibri"/>
              <a:sym typeface="Calibri"/>
            </a:endParaRPr>
          </a:p>
        </p:txBody>
      </p:sp>
      <p:sp>
        <p:nvSpPr>
          <p:cNvPr id="172" name="Google Shape;172;p11"/>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173" name="Google Shape;173;p1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74" name="Google Shape;174;p1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12</a:t>
            </a:fld>
            <a:endParaRPr>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1367041"/>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Hyperparameters</a:t>
            </a:r>
            <a:r>
              <a:rPr lang="en-US" sz="4400" dirty="0">
                <a:latin typeface="+mj-lt"/>
                <a:ea typeface="Cambria"/>
                <a:cs typeface="Cambria"/>
                <a:sym typeface="Cambria"/>
              </a:rPr>
              <a:t> tuning in practice Pandas vs Caviar</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13</a:t>
            </a:fld>
            <a:endParaRPr>
              <a:latin typeface="+mj-lt"/>
            </a:endParaRPr>
          </a:p>
        </p:txBody>
      </p:sp>
      <p:sp>
        <p:nvSpPr>
          <p:cNvPr id="2" name="TextBox 1"/>
          <p:cNvSpPr txBox="1"/>
          <p:nvPr/>
        </p:nvSpPr>
        <p:spPr>
          <a:xfrm>
            <a:off x="325316" y="1708441"/>
            <a:ext cx="11359661" cy="3046988"/>
          </a:xfrm>
          <a:prstGeom prst="rect">
            <a:avLst/>
          </a:prstGeom>
          <a:noFill/>
        </p:spPr>
        <p:txBody>
          <a:bodyPr wrap="square" rtlCol="0">
            <a:spAutoFit/>
          </a:bodyPr>
          <a:lstStyle/>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For efficient </a:t>
            </a:r>
            <a:r>
              <a:rPr lang="en-US" sz="2400" dirty="0" err="1">
                <a:latin typeface="+mj-lt"/>
              </a:rPr>
              <a:t>hyperparameter</a:t>
            </a:r>
            <a:r>
              <a:rPr lang="en-US" sz="2400" dirty="0">
                <a:latin typeface="+mj-lt"/>
              </a:rPr>
              <a:t> search in deep learning, consider that intuitions may not universally transfer across application areas. Cross-fertilization between domains is valuable, and exploring research papers from different areas can provide inspiration. </a:t>
            </a:r>
            <a:endParaRPr lang="en-US" sz="2400" dirty="0" smtClean="0">
              <a:latin typeface="+mj-lt"/>
            </a:endParaRPr>
          </a:p>
          <a:p>
            <a:pPr marL="342900" indent="-342900">
              <a:buFont typeface="Arial" panose="020B0604020202020204" pitchFamily="34" charset="0"/>
              <a:buChar char="•"/>
            </a:pPr>
            <a:r>
              <a:rPr lang="en-US" sz="2400" dirty="0" smtClean="0">
                <a:latin typeface="+mj-lt"/>
              </a:rPr>
              <a:t>It's </a:t>
            </a:r>
            <a:r>
              <a:rPr lang="en-US" sz="2400" dirty="0">
                <a:latin typeface="+mj-lt"/>
              </a:rPr>
              <a:t>advisable to retest or reevaluate </a:t>
            </a:r>
            <a:r>
              <a:rPr lang="en-US" sz="2400" dirty="0" err="1">
                <a:latin typeface="+mj-lt"/>
              </a:rPr>
              <a:t>hyperparameters</a:t>
            </a:r>
            <a:r>
              <a:rPr lang="en-US" sz="2400" dirty="0">
                <a:latin typeface="+mj-lt"/>
              </a:rPr>
              <a:t> periodically, ensuring that the best settings remain optimal amid changes in data, algorithm development, or server upgrades.</a:t>
            </a:r>
            <a:endParaRPr lang="en-US" sz="2400" dirty="0">
              <a:latin typeface="+mj-lt"/>
            </a:endParaRPr>
          </a:p>
        </p:txBody>
      </p:sp>
    </p:spTree>
    <p:extLst>
      <p:ext uri="{BB962C8B-B14F-4D97-AF65-F5344CB8AC3E}">
        <p14:creationId xmlns:p14="http://schemas.microsoft.com/office/powerpoint/2010/main" val="34697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79" name="Google Shape;179;p12"/>
          <p:cNvSpPr txBox="1">
            <a:spLocks noGrp="1"/>
          </p:cNvSpPr>
          <p:nvPr>
            <p:ph type="title"/>
          </p:nvPr>
        </p:nvSpPr>
        <p:spPr>
          <a:xfrm>
            <a:off x="246122" y="170700"/>
            <a:ext cx="97421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a:latin typeface="+mj-lt"/>
                <a:ea typeface="Cambria"/>
                <a:cs typeface="Cambria"/>
                <a:sym typeface="Cambria"/>
              </a:rPr>
              <a:t>Re-test hyperparameters occasionally</a:t>
            </a:r>
            <a:endParaRPr sz="4400">
              <a:latin typeface="+mj-lt"/>
              <a:ea typeface="Cambria"/>
              <a:cs typeface="Cambria"/>
              <a:sym typeface="Cambria"/>
            </a:endParaRPr>
          </a:p>
        </p:txBody>
      </p:sp>
      <p:sp>
        <p:nvSpPr>
          <p:cNvPr id="180" name="Google Shape;180;p12"/>
          <p:cNvSpPr txBox="1"/>
          <p:nvPr/>
        </p:nvSpPr>
        <p:spPr>
          <a:xfrm>
            <a:off x="3059633" y="1606981"/>
            <a:ext cx="75057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Idea</a:t>
            </a:r>
            <a:endParaRPr sz="2800" b="0" i="0" u="none" strike="noStrike" cap="none">
              <a:solidFill>
                <a:srgbClr val="000000"/>
              </a:solidFill>
              <a:latin typeface="+mj-lt"/>
              <a:ea typeface="Cambria"/>
              <a:cs typeface="Cambria"/>
              <a:sym typeface="Cambria"/>
            </a:endParaRPr>
          </a:p>
        </p:txBody>
      </p:sp>
      <p:sp>
        <p:nvSpPr>
          <p:cNvPr id="181" name="Google Shape;181;p12"/>
          <p:cNvSpPr txBox="1"/>
          <p:nvPr/>
        </p:nvSpPr>
        <p:spPr>
          <a:xfrm>
            <a:off x="246125" y="4692167"/>
            <a:ext cx="197548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Experiment</a:t>
            </a:r>
            <a:endParaRPr sz="2800" b="0" i="0" u="none" strike="noStrike" cap="none">
              <a:solidFill>
                <a:srgbClr val="000000"/>
              </a:solidFill>
              <a:latin typeface="+mj-lt"/>
              <a:ea typeface="Cambria"/>
              <a:cs typeface="Cambria"/>
              <a:sym typeface="Cambria"/>
            </a:endParaRPr>
          </a:p>
        </p:txBody>
      </p:sp>
      <p:sp>
        <p:nvSpPr>
          <p:cNvPr id="182" name="Google Shape;182;p12"/>
          <p:cNvSpPr txBox="1"/>
          <p:nvPr/>
        </p:nvSpPr>
        <p:spPr>
          <a:xfrm>
            <a:off x="4995874" y="4692167"/>
            <a:ext cx="1100125" cy="44371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mj-lt"/>
                <a:ea typeface="Cambria"/>
                <a:cs typeface="Cambria"/>
                <a:sym typeface="Cambria"/>
              </a:rPr>
              <a:t>Code</a:t>
            </a:r>
            <a:endParaRPr sz="2800" b="0" i="0" u="none" strike="noStrike" cap="none" dirty="0">
              <a:solidFill>
                <a:srgbClr val="000000"/>
              </a:solidFill>
              <a:latin typeface="+mj-lt"/>
              <a:ea typeface="Cambria"/>
              <a:cs typeface="Cambria"/>
              <a:sym typeface="Cambria"/>
            </a:endParaRPr>
          </a:p>
        </p:txBody>
      </p:sp>
      <p:grpSp>
        <p:nvGrpSpPr>
          <p:cNvPr id="183" name="Google Shape;183;p12"/>
          <p:cNvGrpSpPr/>
          <p:nvPr/>
        </p:nvGrpSpPr>
        <p:grpSpPr>
          <a:xfrm>
            <a:off x="1814576" y="1975142"/>
            <a:ext cx="3456659" cy="3592664"/>
            <a:chOff x="1814576" y="1975142"/>
            <a:chExt cx="3456659" cy="3592664"/>
          </a:xfrm>
        </p:grpSpPr>
        <p:pic>
          <p:nvPicPr>
            <p:cNvPr id="184" name="Google Shape;184;p12"/>
            <p:cNvPicPr preferRelativeResize="0"/>
            <p:nvPr/>
          </p:nvPicPr>
          <p:blipFill rotWithShape="1">
            <a:blip r:embed="rId3">
              <a:alphaModFix/>
            </a:blip>
            <a:srcRect/>
            <a:stretch/>
          </p:blipFill>
          <p:spPr>
            <a:xfrm>
              <a:off x="1814576" y="1975142"/>
              <a:ext cx="2942005" cy="487629"/>
            </a:xfrm>
            <a:prstGeom prst="rect">
              <a:avLst/>
            </a:prstGeom>
            <a:noFill/>
            <a:ln>
              <a:noFill/>
            </a:ln>
          </p:spPr>
        </p:pic>
        <p:pic>
          <p:nvPicPr>
            <p:cNvPr id="185" name="Google Shape;185;p12"/>
            <p:cNvPicPr preferRelativeResize="0"/>
            <p:nvPr/>
          </p:nvPicPr>
          <p:blipFill rotWithShape="1">
            <a:blip r:embed="rId4">
              <a:alphaModFix/>
            </a:blip>
            <a:srcRect/>
            <a:stretch/>
          </p:blipFill>
          <p:spPr>
            <a:xfrm>
              <a:off x="1814579" y="1975142"/>
              <a:ext cx="3456656" cy="3592664"/>
            </a:xfrm>
            <a:prstGeom prst="rect">
              <a:avLst/>
            </a:prstGeom>
            <a:noFill/>
            <a:ln>
              <a:noFill/>
            </a:ln>
          </p:spPr>
        </p:pic>
        <p:pic>
          <p:nvPicPr>
            <p:cNvPr id="186" name="Google Shape;186;p12"/>
            <p:cNvPicPr preferRelativeResize="0"/>
            <p:nvPr/>
          </p:nvPicPr>
          <p:blipFill rotWithShape="1">
            <a:blip r:embed="rId5">
              <a:alphaModFix/>
            </a:blip>
            <a:srcRect/>
            <a:stretch/>
          </p:blipFill>
          <p:spPr>
            <a:xfrm>
              <a:off x="4756585" y="1975142"/>
              <a:ext cx="514650" cy="3105035"/>
            </a:xfrm>
            <a:prstGeom prst="rect">
              <a:avLst/>
            </a:prstGeom>
            <a:noFill/>
            <a:ln>
              <a:noFill/>
            </a:ln>
          </p:spPr>
        </p:pic>
        <p:sp>
          <p:nvSpPr>
            <p:cNvPr id="187" name="Google Shape;187;p12"/>
            <p:cNvSpPr/>
            <p:nvPr/>
          </p:nvSpPr>
          <p:spPr>
            <a:xfrm>
              <a:off x="2279307" y="2306268"/>
              <a:ext cx="2652395" cy="2608580"/>
            </a:xfrm>
            <a:custGeom>
              <a:avLst/>
              <a:gdLst/>
              <a:ahLst/>
              <a:cxnLst/>
              <a:rect l="l" t="t" r="r" b="b"/>
              <a:pathLst>
                <a:path w="2652395" h="2608579" extrusionOk="0">
                  <a:moveTo>
                    <a:pt x="1135799" y="243700"/>
                  </a:moveTo>
                  <a:lnTo>
                    <a:pt x="734009" y="0"/>
                  </a:lnTo>
                  <a:lnTo>
                    <a:pt x="762876" y="170916"/>
                  </a:lnTo>
                  <a:lnTo>
                    <a:pt x="717994" y="192506"/>
                  </a:lnTo>
                  <a:lnTo>
                    <a:pt x="674268" y="215544"/>
                  </a:lnTo>
                  <a:lnTo>
                    <a:pt x="631685" y="239979"/>
                  </a:lnTo>
                  <a:lnTo>
                    <a:pt x="590283" y="265772"/>
                  </a:lnTo>
                  <a:lnTo>
                    <a:pt x="550087" y="292887"/>
                  </a:lnTo>
                  <a:lnTo>
                    <a:pt x="511124" y="321284"/>
                  </a:lnTo>
                  <a:lnTo>
                    <a:pt x="473392" y="350926"/>
                  </a:lnTo>
                  <a:lnTo>
                    <a:pt x="436930" y="381749"/>
                  </a:lnTo>
                  <a:lnTo>
                    <a:pt x="401777" y="413727"/>
                  </a:lnTo>
                  <a:lnTo>
                    <a:pt x="367919" y="446824"/>
                  </a:lnTo>
                  <a:lnTo>
                    <a:pt x="335407" y="480987"/>
                  </a:lnTo>
                  <a:lnTo>
                    <a:pt x="304241" y="516178"/>
                  </a:lnTo>
                  <a:lnTo>
                    <a:pt x="274472" y="552348"/>
                  </a:lnTo>
                  <a:lnTo>
                    <a:pt x="246087" y="589470"/>
                  </a:lnTo>
                  <a:lnTo>
                    <a:pt x="219138" y="627481"/>
                  </a:lnTo>
                  <a:lnTo>
                    <a:pt x="193636" y="666369"/>
                  </a:lnTo>
                  <a:lnTo>
                    <a:pt x="169608" y="706056"/>
                  </a:lnTo>
                  <a:lnTo>
                    <a:pt x="147066" y="746531"/>
                  </a:lnTo>
                  <a:lnTo>
                    <a:pt x="126047" y="787742"/>
                  </a:lnTo>
                  <a:lnTo>
                    <a:pt x="106553" y="829640"/>
                  </a:lnTo>
                  <a:lnTo>
                    <a:pt x="88620" y="872197"/>
                  </a:lnTo>
                  <a:lnTo>
                    <a:pt x="72275" y="915352"/>
                  </a:lnTo>
                  <a:lnTo>
                    <a:pt x="57531" y="959078"/>
                  </a:lnTo>
                  <a:lnTo>
                    <a:pt x="44411" y="1003325"/>
                  </a:lnTo>
                  <a:lnTo>
                    <a:pt x="32943" y="1048067"/>
                  </a:lnTo>
                  <a:lnTo>
                    <a:pt x="23139" y="1093241"/>
                  </a:lnTo>
                  <a:lnTo>
                    <a:pt x="15036" y="1138809"/>
                  </a:lnTo>
                  <a:lnTo>
                    <a:pt x="8648" y="1184744"/>
                  </a:lnTo>
                  <a:lnTo>
                    <a:pt x="4000" y="1230985"/>
                  </a:lnTo>
                  <a:lnTo>
                    <a:pt x="1104" y="1277518"/>
                  </a:lnTo>
                  <a:lnTo>
                    <a:pt x="0" y="1324267"/>
                  </a:lnTo>
                  <a:lnTo>
                    <a:pt x="685" y="1371206"/>
                  </a:lnTo>
                  <a:lnTo>
                    <a:pt x="3213" y="1418297"/>
                  </a:lnTo>
                  <a:lnTo>
                    <a:pt x="7581" y="1465491"/>
                  </a:lnTo>
                  <a:lnTo>
                    <a:pt x="13830" y="1512747"/>
                  </a:lnTo>
                  <a:lnTo>
                    <a:pt x="21971" y="1560029"/>
                  </a:lnTo>
                  <a:lnTo>
                    <a:pt x="377215" y="1492364"/>
                  </a:lnTo>
                  <a:lnTo>
                    <a:pt x="369303" y="1444078"/>
                  </a:lnTo>
                  <a:lnTo>
                    <a:pt x="364197" y="1395806"/>
                  </a:lnTo>
                  <a:lnTo>
                    <a:pt x="361835" y="1347622"/>
                  </a:lnTo>
                  <a:lnTo>
                    <a:pt x="362191" y="1299629"/>
                  </a:lnTo>
                  <a:lnTo>
                    <a:pt x="365213" y="1251915"/>
                  </a:lnTo>
                  <a:lnTo>
                    <a:pt x="370852" y="1204582"/>
                  </a:lnTo>
                  <a:lnTo>
                    <a:pt x="379069" y="1157706"/>
                  </a:lnTo>
                  <a:lnTo>
                    <a:pt x="389826" y="1111377"/>
                  </a:lnTo>
                  <a:lnTo>
                    <a:pt x="403072" y="1065707"/>
                  </a:lnTo>
                  <a:lnTo>
                    <a:pt x="418769" y="1020762"/>
                  </a:lnTo>
                  <a:lnTo>
                    <a:pt x="436880" y="976655"/>
                  </a:lnTo>
                  <a:lnTo>
                    <a:pt x="457339" y="933462"/>
                  </a:lnTo>
                  <a:lnTo>
                    <a:pt x="480136" y="891273"/>
                  </a:lnTo>
                  <a:lnTo>
                    <a:pt x="505193" y="850201"/>
                  </a:lnTo>
                  <a:lnTo>
                    <a:pt x="532498" y="810310"/>
                  </a:lnTo>
                  <a:lnTo>
                    <a:pt x="561975" y="771715"/>
                  </a:lnTo>
                  <a:lnTo>
                    <a:pt x="593610" y="734491"/>
                  </a:lnTo>
                  <a:lnTo>
                    <a:pt x="627354" y="698728"/>
                  </a:lnTo>
                  <a:lnTo>
                    <a:pt x="663143" y="664540"/>
                  </a:lnTo>
                  <a:lnTo>
                    <a:pt x="700963" y="631990"/>
                  </a:lnTo>
                  <a:lnTo>
                    <a:pt x="740752" y="601179"/>
                  </a:lnTo>
                  <a:lnTo>
                    <a:pt x="782472" y="572211"/>
                  </a:lnTo>
                  <a:lnTo>
                    <a:pt x="826084" y="545147"/>
                  </a:lnTo>
                  <a:lnTo>
                    <a:pt x="854456" y="713155"/>
                  </a:lnTo>
                  <a:lnTo>
                    <a:pt x="1135799" y="243700"/>
                  </a:lnTo>
                  <a:close/>
                </a:path>
                <a:path w="2652395" h="2608579" extrusionOk="0">
                  <a:moveTo>
                    <a:pt x="2118753" y="2296223"/>
                  </a:moveTo>
                  <a:lnTo>
                    <a:pt x="1878241" y="2026170"/>
                  </a:lnTo>
                  <a:lnTo>
                    <a:pt x="1840865" y="2057755"/>
                  </a:lnTo>
                  <a:lnTo>
                    <a:pt x="1802066" y="2086940"/>
                  </a:lnTo>
                  <a:lnTo>
                    <a:pt x="1761934" y="2113699"/>
                  </a:lnTo>
                  <a:lnTo>
                    <a:pt x="1720570" y="2138045"/>
                  </a:lnTo>
                  <a:lnTo>
                    <a:pt x="1678089" y="2159965"/>
                  </a:lnTo>
                  <a:lnTo>
                    <a:pt x="1634566" y="2179434"/>
                  </a:lnTo>
                  <a:lnTo>
                    <a:pt x="1590128" y="2196452"/>
                  </a:lnTo>
                  <a:lnTo>
                    <a:pt x="1544853" y="2211019"/>
                  </a:lnTo>
                  <a:lnTo>
                    <a:pt x="1498854" y="2223109"/>
                  </a:lnTo>
                  <a:lnTo>
                    <a:pt x="1452232" y="2232723"/>
                  </a:lnTo>
                  <a:lnTo>
                    <a:pt x="1405089" y="2239835"/>
                  </a:lnTo>
                  <a:lnTo>
                    <a:pt x="1357515" y="2244458"/>
                  </a:lnTo>
                  <a:lnTo>
                    <a:pt x="1309624" y="2246566"/>
                  </a:lnTo>
                  <a:lnTo>
                    <a:pt x="1261503" y="2246160"/>
                  </a:lnTo>
                  <a:lnTo>
                    <a:pt x="1213269" y="2243226"/>
                  </a:lnTo>
                  <a:lnTo>
                    <a:pt x="1164996" y="2237740"/>
                  </a:lnTo>
                  <a:lnTo>
                    <a:pt x="1116812" y="2229726"/>
                  </a:lnTo>
                  <a:lnTo>
                    <a:pt x="1068806" y="2219134"/>
                  </a:lnTo>
                  <a:lnTo>
                    <a:pt x="1021080" y="2205990"/>
                  </a:lnTo>
                  <a:lnTo>
                    <a:pt x="973734" y="2190254"/>
                  </a:lnTo>
                  <a:lnTo>
                    <a:pt x="926858" y="2171941"/>
                  </a:lnTo>
                  <a:lnTo>
                    <a:pt x="880567" y="2151024"/>
                  </a:lnTo>
                  <a:lnTo>
                    <a:pt x="834974" y="2127491"/>
                  </a:lnTo>
                  <a:lnTo>
                    <a:pt x="964565" y="2016861"/>
                  </a:lnTo>
                  <a:lnTo>
                    <a:pt x="417245" y="2016569"/>
                  </a:lnTo>
                  <a:lnTo>
                    <a:pt x="414489" y="2486469"/>
                  </a:lnTo>
                  <a:lnTo>
                    <a:pt x="546328" y="2373922"/>
                  </a:lnTo>
                  <a:lnTo>
                    <a:pt x="587883" y="2401341"/>
                  </a:lnTo>
                  <a:lnTo>
                    <a:pt x="630110" y="2427046"/>
                  </a:lnTo>
                  <a:lnTo>
                    <a:pt x="672947" y="2451023"/>
                  </a:lnTo>
                  <a:lnTo>
                    <a:pt x="716343" y="2473299"/>
                  </a:lnTo>
                  <a:lnTo>
                    <a:pt x="760260" y="2493861"/>
                  </a:lnTo>
                  <a:lnTo>
                    <a:pt x="804633" y="2512720"/>
                  </a:lnTo>
                  <a:lnTo>
                    <a:pt x="849439" y="2529865"/>
                  </a:lnTo>
                  <a:lnTo>
                    <a:pt x="894613" y="2545321"/>
                  </a:lnTo>
                  <a:lnTo>
                    <a:pt x="940117" y="2559062"/>
                  </a:lnTo>
                  <a:lnTo>
                    <a:pt x="985901" y="2571115"/>
                  </a:lnTo>
                  <a:lnTo>
                    <a:pt x="1031913" y="2581465"/>
                  </a:lnTo>
                  <a:lnTo>
                    <a:pt x="1078103" y="2590139"/>
                  </a:lnTo>
                  <a:lnTo>
                    <a:pt x="1124445" y="2597112"/>
                  </a:lnTo>
                  <a:lnTo>
                    <a:pt x="1170863" y="2602395"/>
                  </a:lnTo>
                  <a:lnTo>
                    <a:pt x="1217320" y="2605989"/>
                  </a:lnTo>
                  <a:lnTo>
                    <a:pt x="1263777" y="2607907"/>
                  </a:lnTo>
                  <a:lnTo>
                    <a:pt x="1310182" y="2608135"/>
                  </a:lnTo>
                  <a:lnTo>
                    <a:pt x="1356487" y="2606687"/>
                  </a:lnTo>
                  <a:lnTo>
                    <a:pt x="1402651" y="2603563"/>
                  </a:lnTo>
                  <a:lnTo>
                    <a:pt x="1448612" y="2598775"/>
                  </a:lnTo>
                  <a:lnTo>
                    <a:pt x="1494320" y="2592298"/>
                  </a:lnTo>
                  <a:lnTo>
                    <a:pt x="1539748" y="2584158"/>
                  </a:lnTo>
                  <a:lnTo>
                    <a:pt x="1584845" y="2574353"/>
                  </a:lnTo>
                  <a:lnTo>
                    <a:pt x="1629549" y="2562885"/>
                  </a:lnTo>
                  <a:lnTo>
                    <a:pt x="1673821" y="2549753"/>
                  </a:lnTo>
                  <a:lnTo>
                    <a:pt x="1717624" y="2534958"/>
                  </a:lnTo>
                  <a:lnTo>
                    <a:pt x="1760880" y="2518511"/>
                  </a:lnTo>
                  <a:lnTo>
                    <a:pt x="1803577" y="2500401"/>
                  </a:lnTo>
                  <a:lnTo>
                    <a:pt x="1845652" y="2480640"/>
                  </a:lnTo>
                  <a:lnTo>
                    <a:pt x="1887054" y="2459228"/>
                  </a:lnTo>
                  <a:lnTo>
                    <a:pt x="1927733" y="2436177"/>
                  </a:lnTo>
                  <a:lnTo>
                    <a:pt x="1967649" y="2411463"/>
                  </a:lnTo>
                  <a:lnTo>
                    <a:pt x="2006765" y="2385123"/>
                  </a:lnTo>
                  <a:lnTo>
                    <a:pt x="2045017" y="2357132"/>
                  </a:lnTo>
                  <a:lnTo>
                    <a:pt x="2082355" y="2327491"/>
                  </a:lnTo>
                  <a:lnTo>
                    <a:pt x="2118753" y="2296223"/>
                  </a:lnTo>
                  <a:close/>
                </a:path>
                <a:path w="2652395" h="2608579" extrusionOk="0">
                  <a:moveTo>
                    <a:pt x="2652064" y="1648841"/>
                  </a:moveTo>
                  <a:lnTo>
                    <a:pt x="2500172" y="1565300"/>
                  </a:lnTo>
                  <a:lnTo>
                    <a:pt x="2511120" y="1516735"/>
                  </a:lnTo>
                  <a:lnTo>
                    <a:pt x="2520238" y="1468158"/>
                  </a:lnTo>
                  <a:lnTo>
                    <a:pt x="2527528" y="1419606"/>
                  </a:lnTo>
                  <a:lnTo>
                    <a:pt x="2533027" y="1371142"/>
                  </a:lnTo>
                  <a:lnTo>
                    <a:pt x="2536736" y="1322793"/>
                  </a:lnTo>
                  <a:lnTo>
                    <a:pt x="2538692" y="1274610"/>
                  </a:lnTo>
                  <a:lnTo>
                    <a:pt x="2538895" y="1226642"/>
                  </a:lnTo>
                  <a:lnTo>
                    <a:pt x="2537383" y="1178915"/>
                  </a:lnTo>
                  <a:lnTo>
                    <a:pt x="2534158" y="1131493"/>
                  </a:lnTo>
                  <a:lnTo>
                    <a:pt x="2529243" y="1084414"/>
                  </a:lnTo>
                  <a:lnTo>
                    <a:pt x="2522664" y="1037717"/>
                  </a:lnTo>
                  <a:lnTo>
                    <a:pt x="2514447" y="991438"/>
                  </a:lnTo>
                  <a:lnTo>
                    <a:pt x="2504592" y="945629"/>
                  </a:lnTo>
                  <a:lnTo>
                    <a:pt x="2493124" y="900341"/>
                  </a:lnTo>
                  <a:lnTo>
                    <a:pt x="2480068" y="855599"/>
                  </a:lnTo>
                  <a:lnTo>
                    <a:pt x="2465438" y="811466"/>
                  </a:lnTo>
                  <a:lnTo>
                    <a:pt x="2449245" y="767981"/>
                  </a:lnTo>
                  <a:lnTo>
                    <a:pt x="2431529" y="725170"/>
                  </a:lnTo>
                  <a:lnTo>
                    <a:pt x="2412288" y="683094"/>
                  </a:lnTo>
                  <a:lnTo>
                    <a:pt x="2391562" y="641807"/>
                  </a:lnTo>
                  <a:lnTo>
                    <a:pt x="2369350" y="601319"/>
                  </a:lnTo>
                  <a:lnTo>
                    <a:pt x="2345677" y="561708"/>
                  </a:lnTo>
                  <a:lnTo>
                    <a:pt x="2320569" y="522986"/>
                  </a:lnTo>
                  <a:lnTo>
                    <a:pt x="2294039" y="485216"/>
                  </a:lnTo>
                  <a:lnTo>
                    <a:pt x="2266099" y="448449"/>
                  </a:lnTo>
                  <a:lnTo>
                    <a:pt x="2236787" y="412711"/>
                  </a:lnTo>
                  <a:lnTo>
                    <a:pt x="2206104" y="378053"/>
                  </a:lnTo>
                  <a:lnTo>
                    <a:pt x="2174075" y="344512"/>
                  </a:lnTo>
                  <a:lnTo>
                    <a:pt x="2140724" y="312140"/>
                  </a:lnTo>
                  <a:lnTo>
                    <a:pt x="2106053" y="280987"/>
                  </a:lnTo>
                  <a:lnTo>
                    <a:pt x="2070100" y="251079"/>
                  </a:lnTo>
                  <a:lnTo>
                    <a:pt x="2032889" y="222465"/>
                  </a:lnTo>
                  <a:lnTo>
                    <a:pt x="1994408" y="195186"/>
                  </a:lnTo>
                  <a:lnTo>
                    <a:pt x="1954707" y="169303"/>
                  </a:lnTo>
                  <a:lnTo>
                    <a:pt x="1913788" y="144843"/>
                  </a:lnTo>
                  <a:lnTo>
                    <a:pt x="1871687" y="121843"/>
                  </a:lnTo>
                  <a:lnTo>
                    <a:pt x="1704086" y="442290"/>
                  </a:lnTo>
                  <a:lnTo>
                    <a:pt x="1746834" y="466090"/>
                  </a:lnTo>
                  <a:lnTo>
                    <a:pt x="1787842" y="492074"/>
                  </a:lnTo>
                  <a:lnTo>
                    <a:pt x="1827060" y="520153"/>
                  </a:lnTo>
                  <a:lnTo>
                    <a:pt x="1864461" y="550240"/>
                  </a:lnTo>
                  <a:lnTo>
                    <a:pt x="1899970" y="582244"/>
                  </a:lnTo>
                  <a:lnTo>
                    <a:pt x="1933575" y="616064"/>
                  </a:lnTo>
                  <a:lnTo>
                    <a:pt x="1965210" y="651624"/>
                  </a:lnTo>
                  <a:lnTo>
                    <a:pt x="1994827" y="688822"/>
                  </a:lnTo>
                  <a:lnTo>
                    <a:pt x="2022398" y="727583"/>
                  </a:lnTo>
                  <a:lnTo>
                    <a:pt x="2047862" y="767791"/>
                  </a:lnTo>
                  <a:lnTo>
                    <a:pt x="2071192" y="809383"/>
                  </a:lnTo>
                  <a:lnTo>
                    <a:pt x="2092325" y="852246"/>
                  </a:lnTo>
                  <a:lnTo>
                    <a:pt x="2111235" y="896302"/>
                  </a:lnTo>
                  <a:lnTo>
                    <a:pt x="2127859" y="941463"/>
                  </a:lnTo>
                  <a:lnTo>
                    <a:pt x="2142159" y="987628"/>
                  </a:lnTo>
                  <a:lnTo>
                    <a:pt x="2154097" y="1034719"/>
                  </a:lnTo>
                  <a:lnTo>
                    <a:pt x="2163622" y="1082624"/>
                  </a:lnTo>
                  <a:lnTo>
                    <a:pt x="2170696" y="1131277"/>
                  </a:lnTo>
                  <a:lnTo>
                    <a:pt x="2175256" y="1180579"/>
                  </a:lnTo>
                  <a:lnTo>
                    <a:pt x="2177288" y="1230426"/>
                  </a:lnTo>
                  <a:lnTo>
                    <a:pt x="2176716" y="1280744"/>
                  </a:lnTo>
                  <a:lnTo>
                    <a:pt x="2173516" y="1331442"/>
                  </a:lnTo>
                  <a:lnTo>
                    <a:pt x="2167636" y="1382407"/>
                  </a:lnTo>
                  <a:lnTo>
                    <a:pt x="2018334" y="1300289"/>
                  </a:lnTo>
                  <a:lnTo>
                    <a:pt x="2211514" y="1812366"/>
                  </a:lnTo>
                  <a:lnTo>
                    <a:pt x="2652064" y="1648841"/>
                  </a:lnTo>
                  <a:close/>
                </a:path>
              </a:pathLst>
            </a:custGeom>
            <a:solidFill>
              <a:srgbClr val="B8DAF1">
                <a:alpha val="4705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grpSp>
      <p:sp>
        <p:nvSpPr>
          <p:cNvPr id="188" name="Google Shape;188;p12"/>
          <p:cNvSpPr txBox="1"/>
          <p:nvPr/>
        </p:nvSpPr>
        <p:spPr>
          <a:xfrm>
            <a:off x="7084300" y="2186546"/>
            <a:ext cx="4451985" cy="2791385"/>
          </a:xfrm>
          <a:prstGeom prst="rect">
            <a:avLst/>
          </a:prstGeom>
          <a:noFill/>
          <a:ln>
            <a:noFill/>
          </a:ln>
        </p:spPr>
        <p:txBody>
          <a:bodyPr spcFirstLastPara="1" wrap="square" lIns="0" tIns="33000" rIns="0" bIns="0" anchor="t" anchorCtr="0">
            <a:spAutoFit/>
          </a:bodyPr>
          <a:lstStyle/>
          <a:p>
            <a:pPr marL="307975" marR="687070" lvl="0" indent="-295910" algn="l" rtl="0">
              <a:lnSpc>
                <a:spcPct val="117857"/>
              </a:lnSpc>
              <a:spcBef>
                <a:spcPts val="0"/>
              </a:spcBef>
              <a:spcAft>
                <a:spcPts val="0"/>
              </a:spcAft>
              <a:buClr>
                <a:srgbClr val="000000"/>
              </a:buClr>
              <a:buSzPts val="2800"/>
              <a:buFont typeface="Cambria"/>
              <a:buChar char="-"/>
            </a:pPr>
            <a:r>
              <a:rPr lang="en-US" sz="2800" b="0" i="0" u="none" strike="noStrike" cap="none" dirty="0">
                <a:solidFill>
                  <a:srgbClr val="000000"/>
                </a:solidFill>
                <a:latin typeface="+mj-lt"/>
                <a:ea typeface="Cambria"/>
                <a:cs typeface="Cambria"/>
                <a:sym typeface="Cambria"/>
              </a:rPr>
              <a:t>NLP, Vision, Speech, Ads, logistics, ….</a:t>
            </a:r>
            <a:endParaRPr sz="2800" b="0" i="0" u="none" strike="noStrike" cap="none" dirty="0">
              <a:solidFill>
                <a:srgbClr val="000000"/>
              </a:solidFill>
              <a:latin typeface="+mj-lt"/>
              <a:ea typeface="Cambria"/>
              <a:cs typeface="Cambria"/>
              <a:sym typeface="Cambria"/>
            </a:endParaRPr>
          </a:p>
          <a:p>
            <a:pPr marL="0" marR="0" lvl="0" indent="0" algn="l" rtl="0">
              <a:lnSpc>
                <a:spcPct val="100000"/>
              </a:lnSpc>
              <a:spcBef>
                <a:spcPts val="5"/>
              </a:spcBef>
              <a:spcAft>
                <a:spcPts val="0"/>
              </a:spcAft>
              <a:buClr>
                <a:srgbClr val="000000"/>
              </a:buClr>
              <a:buSzPts val="4650"/>
              <a:buFont typeface="Cambria"/>
              <a:buNone/>
            </a:pPr>
            <a:endParaRPr sz="4650" b="0" i="0" u="none" strike="noStrike" cap="none" dirty="0">
              <a:solidFill>
                <a:srgbClr val="000000"/>
              </a:solidFill>
              <a:latin typeface="+mj-lt"/>
              <a:ea typeface="Cambria"/>
              <a:cs typeface="Cambria"/>
              <a:sym typeface="Cambria"/>
            </a:endParaRPr>
          </a:p>
          <a:p>
            <a:pPr marL="298450" marR="0" lvl="0" indent="-286385" algn="l" rtl="0">
              <a:lnSpc>
                <a:spcPct val="118892"/>
              </a:lnSpc>
              <a:spcBef>
                <a:spcPts val="0"/>
              </a:spcBef>
              <a:spcAft>
                <a:spcPts val="0"/>
              </a:spcAft>
              <a:buClr>
                <a:srgbClr val="000000"/>
              </a:buClr>
              <a:buSzPts val="2800"/>
              <a:buFont typeface="Cambria"/>
              <a:buChar char="-"/>
            </a:pPr>
            <a:r>
              <a:rPr lang="en-US" sz="2800" b="0" i="0" u="none" strike="noStrike" cap="none" dirty="0">
                <a:solidFill>
                  <a:srgbClr val="000000"/>
                </a:solidFill>
                <a:latin typeface="+mj-lt"/>
                <a:ea typeface="Cambria"/>
                <a:cs typeface="Cambria"/>
                <a:sym typeface="Cambria"/>
              </a:rPr>
              <a:t>Intuitions do get stale.</a:t>
            </a:r>
            <a:endParaRPr sz="2800" b="0" i="0" u="none" strike="noStrike" cap="none" dirty="0">
              <a:solidFill>
                <a:srgbClr val="000000"/>
              </a:solidFill>
              <a:latin typeface="+mj-lt"/>
              <a:ea typeface="Cambria"/>
              <a:cs typeface="Cambria"/>
              <a:sym typeface="Cambria"/>
            </a:endParaRPr>
          </a:p>
          <a:p>
            <a:pPr marL="298450" marR="0" lvl="0" indent="0" algn="l" rtl="0">
              <a:lnSpc>
                <a:spcPct val="118892"/>
              </a:lnSpc>
              <a:spcBef>
                <a:spcPts val="0"/>
              </a:spcBef>
              <a:spcAft>
                <a:spcPts val="0"/>
              </a:spcAft>
              <a:buClr>
                <a:srgbClr val="000000"/>
              </a:buClr>
              <a:buSzPts val="2800"/>
              <a:buFont typeface="Arial"/>
              <a:buNone/>
            </a:pPr>
            <a:r>
              <a:rPr lang="en-US" sz="2800" b="0" i="0" u="none" strike="noStrike" cap="none" dirty="0">
                <a:solidFill>
                  <a:srgbClr val="000000"/>
                </a:solidFill>
                <a:latin typeface="+mj-lt"/>
                <a:ea typeface="Cambria"/>
                <a:cs typeface="Cambria"/>
                <a:sym typeface="Cambria"/>
              </a:rPr>
              <a:t>Re-evaluate occasionally.</a:t>
            </a:r>
            <a:endParaRPr sz="2800" b="0" i="0" u="none" strike="noStrike" cap="none" dirty="0">
              <a:solidFill>
                <a:srgbClr val="000000"/>
              </a:solidFill>
              <a:latin typeface="+mj-lt"/>
              <a:ea typeface="Cambria"/>
              <a:cs typeface="Cambria"/>
              <a:sym typeface="Cambria"/>
            </a:endParaRPr>
          </a:p>
        </p:txBody>
      </p:sp>
      <p:pic>
        <p:nvPicPr>
          <p:cNvPr id="189" name="Google Shape;189;p12"/>
          <p:cNvPicPr preferRelativeResize="0"/>
          <p:nvPr/>
        </p:nvPicPr>
        <p:blipFill rotWithShape="1">
          <a:blip r:embed="rId6">
            <a:alphaModFix/>
          </a:blip>
          <a:srcRect/>
          <a:stretch/>
        </p:blipFill>
        <p:spPr>
          <a:xfrm>
            <a:off x="10734473" y="0"/>
            <a:ext cx="1448025" cy="796414"/>
          </a:xfrm>
          <a:prstGeom prst="rect">
            <a:avLst/>
          </a:prstGeom>
          <a:noFill/>
          <a:ln>
            <a:noFill/>
          </a:ln>
        </p:spPr>
      </p:pic>
      <p:sp>
        <p:nvSpPr>
          <p:cNvPr id="190" name="Google Shape;190;p1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14</a:t>
            </a:fld>
            <a:endParaRPr>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1367041"/>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Hyperparameters</a:t>
            </a:r>
            <a:r>
              <a:rPr lang="en-US" sz="4400" dirty="0">
                <a:latin typeface="+mj-lt"/>
                <a:ea typeface="Cambria"/>
                <a:cs typeface="Cambria"/>
                <a:sym typeface="Cambria"/>
              </a:rPr>
              <a:t> tuning in practice Pandas vs Caviar</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15</a:t>
            </a:fld>
            <a:endParaRPr>
              <a:latin typeface="+mj-lt"/>
            </a:endParaRPr>
          </a:p>
        </p:txBody>
      </p:sp>
      <p:sp>
        <p:nvSpPr>
          <p:cNvPr id="2" name="TextBox 1"/>
          <p:cNvSpPr txBox="1"/>
          <p:nvPr/>
        </p:nvSpPr>
        <p:spPr>
          <a:xfrm>
            <a:off x="325316" y="1708441"/>
            <a:ext cx="11359661" cy="3785652"/>
          </a:xfrm>
          <a:prstGeom prst="rect">
            <a:avLst/>
          </a:prstGeom>
          <a:noFill/>
        </p:spPr>
        <p:txBody>
          <a:bodyPr wrap="square" rtlCol="0">
            <a:spAutoFit/>
          </a:bodyPr>
          <a:lstStyle/>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For </a:t>
            </a:r>
            <a:r>
              <a:rPr lang="en-US" sz="2400" dirty="0" err="1">
                <a:latin typeface="+mj-lt"/>
              </a:rPr>
              <a:t>hyperparameter</a:t>
            </a:r>
            <a:r>
              <a:rPr lang="en-US" sz="2400" dirty="0">
                <a:latin typeface="+mj-lt"/>
              </a:rPr>
              <a:t> tuning, there are two main approaches: the "panda approach," where users carefully adjust a single model's learning rate, and the "caviar strategy," involving parallel training of multiple models with diverse </a:t>
            </a:r>
            <a:r>
              <a:rPr lang="en-US" sz="2400" dirty="0" err="1">
                <a:latin typeface="+mj-lt"/>
              </a:rPr>
              <a:t>hyperparameters</a:t>
            </a:r>
            <a:r>
              <a:rPr lang="en-US" sz="2400" dirty="0">
                <a:latin typeface="+mj-lt"/>
              </a:rPr>
              <a:t> to quickly identify the best-performing one. </a:t>
            </a:r>
            <a:endParaRPr lang="en-US" sz="2400" dirty="0" smtClean="0">
              <a:latin typeface="+mj-lt"/>
            </a:endParaRPr>
          </a:p>
          <a:p>
            <a:pPr marL="342900" indent="-342900">
              <a:buFont typeface="Arial" panose="020B0604020202020204" pitchFamily="34" charset="0"/>
              <a:buChar char="•"/>
            </a:pPr>
            <a:r>
              <a:rPr lang="en-US" sz="2400" dirty="0" smtClean="0">
                <a:latin typeface="+mj-lt"/>
              </a:rPr>
              <a:t>The </a:t>
            </a:r>
            <a:r>
              <a:rPr lang="en-US" sz="2400" dirty="0">
                <a:latin typeface="+mj-lt"/>
              </a:rPr>
              <a:t>choice between these approaches depends on available computational resources. </a:t>
            </a:r>
            <a:endParaRPr lang="en-US" sz="2400" dirty="0" smtClean="0">
              <a:latin typeface="+mj-lt"/>
            </a:endParaRPr>
          </a:p>
          <a:p>
            <a:pPr marL="342900" indent="-342900">
              <a:buFont typeface="Arial" panose="020B0604020202020204" pitchFamily="34" charset="0"/>
              <a:buChar char="•"/>
            </a:pPr>
            <a:r>
              <a:rPr lang="en-US" sz="2400" dirty="0" smtClean="0">
                <a:latin typeface="+mj-lt"/>
              </a:rPr>
              <a:t>Additionally</a:t>
            </a:r>
            <a:r>
              <a:rPr lang="en-US" sz="2400" dirty="0">
                <a:latin typeface="+mj-lt"/>
              </a:rPr>
              <a:t>, certain techniques can enhance neural network robustness to </a:t>
            </a:r>
            <a:r>
              <a:rPr lang="en-US" sz="2400" dirty="0" err="1">
                <a:latin typeface="+mj-lt"/>
              </a:rPr>
              <a:t>hyperparameter</a:t>
            </a:r>
            <a:r>
              <a:rPr lang="en-US" sz="2400" dirty="0">
                <a:latin typeface="+mj-lt"/>
              </a:rPr>
              <a:t> choices, simplifying the search process and accelerating training in applicable cases.</a:t>
            </a:r>
            <a:endParaRPr lang="en-US" sz="2400" dirty="0">
              <a:latin typeface="+mj-lt"/>
            </a:endParaRPr>
          </a:p>
        </p:txBody>
      </p:sp>
    </p:spTree>
    <p:extLst>
      <p:ext uri="{BB962C8B-B14F-4D97-AF65-F5344CB8AC3E}">
        <p14:creationId xmlns:p14="http://schemas.microsoft.com/office/powerpoint/2010/main" val="3490290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94"/>
        <p:cNvGrpSpPr/>
        <p:nvPr/>
      </p:nvGrpSpPr>
      <p:grpSpPr>
        <a:xfrm>
          <a:off x="0" y="0"/>
          <a:ext cx="0" cy="0"/>
          <a:chOff x="0" y="0"/>
          <a:chExt cx="0" cy="0"/>
        </a:xfrm>
      </p:grpSpPr>
      <p:pic>
        <p:nvPicPr>
          <p:cNvPr id="195" name="Google Shape;195;p13"/>
          <p:cNvPicPr preferRelativeResize="0"/>
          <p:nvPr/>
        </p:nvPicPr>
        <p:blipFill rotWithShape="1">
          <a:blip r:embed="rId3">
            <a:alphaModFix/>
          </a:blip>
          <a:srcRect/>
          <a:stretch/>
        </p:blipFill>
        <p:spPr>
          <a:xfrm>
            <a:off x="1628579" y="4350031"/>
            <a:ext cx="2784055" cy="1855313"/>
          </a:xfrm>
          <a:prstGeom prst="rect">
            <a:avLst/>
          </a:prstGeom>
          <a:noFill/>
          <a:ln>
            <a:noFill/>
          </a:ln>
        </p:spPr>
      </p:pic>
      <p:sp>
        <p:nvSpPr>
          <p:cNvPr id="196" name="Google Shape;196;p13"/>
          <p:cNvSpPr txBox="1"/>
          <p:nvPr/>
        </p:nvSpPr>
        <p:spPr>
          <a:xfrm>
            <a:off x="2282164" y="6251540"/>
            <a:ext cx="108077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Panda</a:t>
            </a:r>
            <a:endParaRPr sz="2800" b="0" i="0" u="none" strike="noStrike" cap="none">
              <a:solidFill>
                <a:srgbClr val="000000"/>
              </a:solidFill>
              <a:latin typeface="+mj-lt"/>
              <a:ea typeface="Cambria"/>
              <a:cs typeface="Cambria"/>
              <a:sym typeface="Cambria"/>
            </a:endParaRPr>
          </a:p>
        </p:txBody>
      </p:sp>
      <p:sp>
        <p:nvSpPr>
          <p:cNvPr id="197" name="Google Shape;197;p13"/>
          <p:cNvSpPr txBox="1">
            <a:spLocks noGrp="1"/>
          </p:cNvSpPr>
          <p:nvPr>
            <p:ph type="title"/>
          </p:nvPr>
        </p:nvSpPr>
        <p:spPr>
          <a:xfrm>
            <a:off x="533400" y="-42375"/>
            <a:ext cx="4093210" cy="1369695"/>
          </a:xfrm>
          <a:prstGeom prst="rect">
            <a:avLst/>
          </a:prstGeom>
          <a:noFill/>
          <a:ln>
            <a:noFill/>
          </a:ln>
        </p:spPr>
        <p:txBody>
          <a:bodyPr spcFirstLastPara="1" wrap="square" lIns="0" tIns="9525" rIns="0" bIns="0" anchor="t" anchorCtr="0">
            <a:spAutoFit/>
          </a:bodyPr>
          <a:lstStyle/>
          <a:p>
            <a:pPr marL="1270000" marR="5080" lvl="0" indent="-1257935" algn="l" rtl="0">
              <a:lnSpc>
                <a:spcPct val="100400"/>
              </a:lnSpc>
              <a:spcBef>
                <a:spcPts val="0"/>
              </a:spcBef>
              <a:spcAft>
                <a:spcPts val="0"/>
              </a:spcAft>
              <a:buSzPts val="1400"/>
              <a:buNone/>
            </a:pPr>
            <a:r>
              <a:rPr lang="en-US" sz="4400" b="0">
                <a:latin typeface="+mj-lt"/>
                <a:ea typeface="Cambria"/>
                <a:cs typeface="Cambria"/>
                <a:sym typeface="Cambria"/>
              </a:rPr>
              <a:t>Babysitting one model</a:t>
            </a:r>
            <a:endParaRPr sz="4400">
              <a:latin typeface="+mj-lt"/>
              <a:ea typeface="Cambria"/>
              <a:cs typeface="Cambria"/>
              <a:sym typeface="Cambria"/>
            </a:endParaRPr>
          </a:p>
        </p:txBody>
      </p:sp>
      <p:sp>
        <p:nvSpPr>
          <p:cNvPr id="198" name="Google Shape;198;p13"/>
          <p:cNvSpPr txBox="1"/>
          <p:nvPr/>
        </p:nvSpPr>
        <p:spPr>
          <a:xfrm>
            <a:off x="6407863" y="58191"/>
            <a:ext cx="4662170" cy="1369695"/>
          </a:xfrm>
          <a:prstGeom prst="rect">
            <a:avLst/>
          </a:prstGeom>
          <a:noFill/>
          <a:ln>
            <a:noFill/>
          </a:ln>
        </p:spPr>
        <p:txBody>
          <a:bodyPr spcFirstLastPara="1" wrap="square" lIns="0" tIns="9525" rIns="0" bIns="0" anchor="t" anchorCtr="0">
            <a:spAutoFit/>
          </a:bodyPr>
          <a:lstStyle/>
          <a:p>
            <a:pPr marL="12700" marR="5080" lvl="0" indent="382905" algn="l" rtl="0">
              <a:lnSpc>
                <a:spcPct val="1004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Cambria"/>
                <a:cs typeface="Cambria"/>
                <a:sym typeface="Cambria"/>
              </a:rPr>
              <a:t>Training many models in parallel</a:t>
            </a:r>
            <a:endParaRPr sz="4400" b="0" i="0" u="none" strike="noStrike" cap="none" dirty="0">
              <a:solidFill>
                <a:srgbClr val="000000"/>
              </a:solidFill>
              <a:latin typeface="+mj-lt"/>
              <a:ea typeface="Cambria"/>
              <a:cs typeface="Cambria"/>
              <a:sym typeface="Cambria"/>
            </a:endParaRPr>
          </a:p>
        </p:txBody>
      </p:sp>
      <p:sp>
        <p:nvSpPr>
          <p:cNvPr id="199" name="Google Shape;199;p13"/>
          <p:cNvSpPr txBox="1"/>
          <p:nvPr/>
        </p:nvSpPr>
        <p:spPr>
          <a:xfrm>
            <a:off x="8878798" y="6251540"/>
            <a:ext cx="114109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Caviar</a:t>
            </a:r>
            <a:endParaRPr sz="2800" b="0" i="0" u="none" strike="noStrike" cap="none">
              <a:solidFill>
                <a:srgbClr val="000000"/>
              </a:solidFill>
              <a:latin typeface="+mj-lt"/>
              <a:ea typeface="Cambria"/>
              <a:cs typeface="Cambria"/>
              <a:sym typeface="Cambria"/>
            </a:endParaRPr>
          </a:p>
        </p:txBody>
      </p:sp>
      <p:grpSp>
        <p:nvGrpSpPr>
          <p:cNvPr id="200" name="Google Shape;200;p13"/>
          <p:cNvGrpSpPr/>
          <p:nvPr/>
        </p:nvGrpSpPr>
        <p:grpSpPr>
          <a:xfrm>
            <a:off x="7848600" y="4364779"/>
            <a:ext cx="2779776" cy="1853181"/>
            <a:chOff x="8063268" y="4352163"/>
            <a:chExt cx="2779776" cy="1853181"/>
          </a:xfrm>
        </p:grpSpPr>
        <p:pic>
          <p:nvPicPr>
            <p:cNvPr id="201" name="Google Shape;201;p13"/>
            <p:cNvPicPr preferRelativeResize="0"/>
            <p:nvPr/>
          </p:nvPicPr>
          <p:blipFill rotWithShape="1">
            <a:blip r:embed="rId4">
              <a:alphaModFix/>
            </a:blip>
            <a:srcRect/>
            <a:stretch/>
          </p:blipFill>
          <p:spPr>
            <a:xfrm>
              <a:off x="8063268" y="4381187"/>
              <a:ext cx="2779776" cy="1813364"/>
            </a:xfrm>
            <a:prstGeom prst="rect">
              <a:avLst/>
            </a:prstGeom>
            <a:noFill/>
            <a:ln>
              <a:noFill/>
            </a:ln>
          </p:spPr>
        </p:pic>
        <p:pic>
          <p:nvPicPr>
            <p:cNvPr id="202" name="Google Shape;202;p13"/>
            <p:cNvPicPr preferRelativeResize="0"/>
            <p:nvPr/>
          </p:nvPicPr>
          <p:blipFill rotWithShape="1">
            <a:blip r:embed="rId5">
              <a:alphaModFix/>
            </a:blip>
            <a:srcRect/>
            <a:stretch/>
          </p:blipFill>
          <p:spPr>
            <a:xfrm>
              <a:off x="8063268" y="4352163"/>
              <a:ext cx="2779776" cy="1853181"/>
            </a:xfrm>
            <a:prstGeom prst="rect">
              <a:avLst/>
            </a:prstGeom>
            <a:noFill/>
            <a:ln>
              <a:noFill/>
            </a:ln>
          </p:spPr>
        </p:pic>
      </p:grpSp>
      <p:pic>
        <p:nvPicPr>
          <p:cNvPr id="203" name="Google Shape;203;p13" descr="Super Machine Learning Revision Notes | CreateMoMo"/>
          <p:cNvPicPr preferRelativeResize="0"/>
          <p:nvPr/>
        </p:nvPicPr>
        <p:blipFill rotWithShape="1">
          <a:blip r:embed="rId6">
            <a:alphaModFix/>
          </a:blip>
          <a:srcRect/>
          <a:stretch/>
        </p:blipFill>
        <p:spPr>
          <a:xfrm>
            <a:off x="962864" y="1362876"/>
            <a:ext cx="10820401" cy="3249555"/>
          </a:xfrm>
          <a:prstGeom prst="rect">
            <a:avLst/>
          </a:prstGeom>
          <a:noFill/>
          <a:ln>
            <a:noFill/>
          </a:ln>
        </p:spPr>
      </p:pic>
      <p:pic>
        <p:nvPicPr>
          <p:cNvPr id="204" name="Google Shape;204;p13"/>
          <p:cNvPicPr preferRelativeResize="0"/>
          <p:nvPr/>
        </p:nvPicPr>
        <p:blipFill rotWithShape="1">
          <a:blip r:embed="rId7">
            <a:alphaModFix/>
          </a:blip>
          <a:srcRect/>
          <a:stretch/>
        </p:blipFill>
        <p:spPr>
          <a:xfrm>
            <a:off x="11041400" y="0"/>
            <a:ext cx="1141101" cy="627602"/>
          </a:xfrm>
          <a:prstGeom prst="rect">
            <a:avLst/>
          </a:prstGeom>
          <a:noFill/>
          <a:ln>
            <a:noFill/>
          </a:ln>
        </p:spPr>
      </p:pic>
      <p:sp>
        <p:nvSpPr>
          <p:cNvPr id="205" name="Google Shape;205;p1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16</a:t>
            </a:fld>
            <a:endParaRPr>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09"/>
        <p:cNvGrpSpPr/>
        <p:nvPr/>
      </p:nvGrpSpPr>
      <p:grpSpPr>
        <a:xfrm>
          <a:off x="0" y="0"/>
          <a:ext cx="0" cy="0"/>
          <a:chOff x="0" y="0"/>
          <a:chExt cx="0" cy="0"/>
        </a:xfrm>
      </p:grpSpPr>
      <p:sp>
        <p:nvSpPr>
          <p:cNvPr id="210" name="Google Shape;210;p14"/>
          <p:cNvSpPr txBox="1">
            <a:spLocks noGrp="1"/>
          </p:cNvSpPr>
          <p:nvPr>
            <p:ph type="title"/>
          </p:nvPr>
        </p:nvSpPr>
        <p:spPr>
          <a:xfrm>
            <a:off x="1564424" y="1170075"/>
            <a:ext cx="9591255" cy="2109808"/>
          </a:xfrm>
          <a:prstGeom prst="rect">
            <a:avLst/>
          </a:prstGeom>
          <a:noFill/>
          <a:ln>
            <a:noFill/>
          </a:ln>
        </p:spPr>
        <p:txBody>
          <a:bodyPr spcFirstLastPara="1" wrap="square" lIns="0" tIns="114300" rIns="0" bIns="0" anchor="t" anchorCtr="0">
            <a:spAutoFit/>
          </a:bodyPr>
          <a:lstStyle/>
          <a:p>
            <a:pPr marL="4759325" marR="5080" lvl="0" indent="1285240" algn="l" rtl="0">
              <a:lnSpc>
                <a:spcPct val="108333"/>
              </a:lnSpc>
              <a:spcBef>
                <a:spcPts val="0"/>
              </a:spcBef>
              <a:spcAft>
                <a:spcPts val="0"/>
              </a:spcAft>
              <a:buSzPts val="1400"/>
              <a:buNone/>
            </a:pPr>
            <a:r>
              <a:rPr lang="en-US" dirty="0">
                <a:latin typeface="+mj-lt"/>
              </a:rPr>
              <a:t>Batch Normalization</a:t>
            </a:r>
            <a:endParaRPr dirty="0">
              <a:latin typeface="+mj-lt"/>
            </a:endParaRPr>
          </a:p>
        </p:txBody>
      </p:sp>
      <p:sp>
        <p:nvSpPr>
          <p:cNvPr id="211" name="Google Shape;211;p14"/>
          <p:cNvSpPr txBox="1"/>
          <p:nvPr/>
        </p:nvSpPr>
        <p:spPr>
          <a:xfrm>
            <a:off x="5015966" y="3435718"/>
            <a:ext cx="6908800" cy="2505814"/>
          </a:xfrm>
          <a:prstGeom prst="rect">
            <a:avLst/>
          </a:prstGeom>
          <a:noFill/>
          <a:ln>
            <a:noFill/>
          </a:ln>
        </p:spPr>
        <p:txBody>
          <a:bodyPr spcFirstLastPara="1" wrap="square" lIns="0" tIns="12700" rIns="0" bIns="0" anchor="t" anchorCtr="0">
            <a:spAutoFit/>
          </a:bodyPr>
          <a:lstStyle/>
          <a:p>
            <a:pPr marL="1693545" marR="5080" lvl="0" indent="-1681480"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j-lt"/>
                <a:ea typeface="Calibri"/>
                <a:cs typeface="Calibri"/>
                <a:sym typeface="Calibri"/>
              </a:rPr>
              <a:t>Normalizing</a:t>
            </a:r>
          </a:p>
          <a:p>
            <a:pPr marL="1693545" marR="5080" lvl="0" indent="-1681480"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j-lt"/>
                <a:ea typeface="Calibri"/>
                <a:cs typeface="Calibri"/>
                <a:sym typeface="Calibri"/>
              </a:rPr>
              <a:t>activations in a</a:t>
            </a:r>
          </a:p>
          <a:p>
            <a:pPr marL="1693545" marR="5080" lvl="0" indent="-1681480"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j-lt"/>
                <a:ea typeface="Calibri"/>
                <a:cs typeface="Calibri"/>
                <a:sym typeface="Calibri"/>
              </a:rPr>
              <a:t>network</a:t>
            </a:r>
            <a:endParaRPr sz="5400" b="0" i="0" u="none" strike="noStrike" cap="none" dirty="0">
              <a:solidFill>
                <a:srgbClr val="000000"/>
              </a:solidFill>
              <a:latin typeface="+mj-lt"/>
              <a:ea typeface="Calibri"/>
              <a:cs typeface="Calibri"/>
              <a:sym typeface="Calibri"/>
            </a:endParaRPr>
          </a:p>
        </p:txBody>
      </p:sp>
      <p:sp>
        <p:nvSpPr>
          <p:cNvPr id="212" name="Google Shape;212;p14"/>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213" name="Google Shape;213;p1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14" name="Google Shape;214;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17</a:t>
            </a:fld>
            <a:endParaRPr>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Normalizing inputs to speed up learning  </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18</a:t>
            </a:fld>
            <a:endParaRPr>
              <a:latin typeface="+mj-lt"/>
            </a:endParaRPr>
          </a:p>
        </p:txBody>
      </p:sp>
      <p:sp>
        <p:nvSpPr>
          <p:cNvPr id="2" name="TextBox 1"/>
          <p:cNvSpPr txBox="1"/>
          <p:nvPr/>
        </p:nvSpPr>
        <p:spPr>
          <a:xfrm>
            <a:off x="325316" y="1356749"/>
            <a:ext cx="11359661" cy="3416320"/>
          </a:xfrm>
          <a:prstGeom prst="rect">
            <a:avLst/>
          </a:prstGeom>
          <a:noFill/>
        </p:spPr>
        <p:txBody>
          <a:bodyPr wrap="square" rtlCol="0">
            <a:spAutoFit/>
          </a:bodyPr>
          <a:lstStyle/>
          <a:p>
            <a:pPr marL="342900" indent="-342900">
              <a:buFont typeface="Arial" panose="020B0604020202020204" pitchFamily="34" charset="0"/>
              <a:buChar char="•"/>
            </a:pPr>
            <a:endParaRPr lang="en-US" sz="2400" dirty="0">
              <a:latin typeface="+mj-lt"/>
            </a:endParaRPr>
          </a:p>
          <a:p>
            <a:pPr marL="342900" indent="-342900">
              <a:buFont typeface="Arial" panose="020B0604020202020204" pitchFamily="34" charset="0"/>
              <a:buChar char="•"/>
            </a:pPr>
            <a:r>
              <a:rPr lang="en-US" sz="2400" dirty="0">
                <a:latin typeface="+mj-lt"/>
              </a:rPr>
              <a:t>Batch normalization, developed by Sergey </a:t>
            </a:r>
            <a:r>
              <a:rPr lang="en-US" sz="2400" dirty="0" err="1">
                <a:latin typeface="+mj-lt"/>
              </a:rPr>
              <a:t>Ioffe</a:t>
            </a:r>
            <a:r>
              <a:rPr lang="en-US" sz="2400" dirty="0">
                <a:latin typeface="+mj-lt"/>
              </a:rPr>
              <a:t> and Christian </a:t>
            </a:r>
            <a:r>
              <a:rPr lang="en-US" sz="2400" dirty="0" err="1">
                <a:latin typeface="+mj-lt"/>
              </a:rPr>
              <a:t>Szegedy</a:t>
            </a:r>
            <a:r>
              <a:rPr lang="en-US" sz="2400" dirty="0">
                <a:latin typeface="+mj-lt"/>
              </a:rPr>
              <a:t>, normalizes mean and variance of hidden unit values in deep neural </a:t>
            </a:r>
            <a:r>
              <a:rPr lang="en-US" sz="2400" dirty="0" smtClean="0">
                <a:latin typeface="+mj-lt"/>
              </a:rPr>
              <a:t>networks.</a:t>
            </a:r>
          </a:p>
          <a:p>
            <a:pPr marL="342900" indent="-342900">
              <a:buFont typeface="Arial" panose="020B0604020202020204" pitchFamily="34" charset="0"/>
              <a:buChar char="•"/>
            </a:pPr>
            <a:r>
              <a:rPr lang="en-US" sz="2400" dirty="0" smtClean="0">
                <a:latin typeface="+mj-lt"/>
              </a:rPr>
              <a:t>Similar </a:t>
            </a:r>
            <a:r>
              <a:rPr lang="en-US" sz="2400" dirty="0">
                <a:latin typeface="+mj-lt"/>
              </a:rPr>
              <a:t>to input feature normalization in logistic regression, </a:t>
            </a:r>
            <a:r>
              <a:rPr lang="en-US" sz="2400" dirty="0" smtClean="0">
                <a:latin typeface="+mj-lt"/>
              </a:rPr>
              <a:t>batch normalization </a:t>
            </a:r>
            <a:r>
              <a:rPr lang="en-US" sz="2400" dirty="0">
                <a:latin typeface="+mj-lt"/>
              </a:rPr>
              <a:t>enhances the efficiency of training in networks with multiple hidden layers. </a:t>
            </a:r>
            <a:endParaRPr lang="en-US" sz="2400" dirty="0" smtClean="0">
              <a:latin typeface="+mj-lt"/>
            </a:endParaRPr>
          </a:p>
          <a:p>
            <a:pPr marL="342900" indent="-342900">
              <a:buFont typeface="Arial" panose="020B0604020202020204" pitchFamily="34" charset="0"/>
              <a:buChar char="•"/>
            </a:pPr>
            <a:r>
              <a:rPr lang="en-US" sz="2400" dirty="0">
                <a:latin typeface="+mj-lt"/>
              </a:rPr>
              <a:t>The process of </a:t>
            </a:r>
            <a:r>
              <a:rPr lang="en-US" sz="2400" b="1" dirty="0" smtClean="0">
                <a:latin typeface="+mj-lt"/>
              </a:rPr>
              <a:t>batch normalization implementation</a:t>
            </a:r>
            <a:r>
              <a:rPr lang="en-US" sz="2400" dirty="0" smtClean="0">
                <a:latin typeface="+mj-lt"/>
              </a:rPr>
              <a:t> </a:t>
            </a:r>
            <a:r>
              <a:rPr lang="en-US" sz="2400" dirty="0">
                <a:latin typeface="+mj-lt"/>
              </a:rPr>
              <a:t>involves computing mean and variance, followed by normalization. Learnable parameters, gamma and beta, are used to adjust mean and variance to desired values, preventing them from being fixed at 0 and </a:t>
            </a:r>
            <a:r>
              <a:rPr lang="en-US" sz="2400" dirty="0" smtClean="0">
                <a:latin typeface="+mj-lt"/>
              </a:rPr>
              <a:t>1.</a:t>
            </a:r>
            <a:endParaRPr lang="en-US" sz="2400" dirty="0">
              <a:latin typeface="+mj-lt"/>
            </a:endParaRPr>
          </a:p>
        </p:txBody>
      </p:sp>
    </p:spTree>
    <p:extLst>
      <p:ext uri="{BB962C8B-B14F-4D97-AF65-F5344CB8AC3E}">
        <p14:creationId xmlns:p14="http://schemas.microsoft.com/office/powerpoint/2010/main" val="2970299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Normalizing inputs to speed up learning  </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19</a:t>
            </a:fld>
            <a:endParaRPr>
              <a:latin typeface="+mj-lt"/>
            </a:endParaRPr>
          </a:p>
        </p:txBody>
      </p:sp>
      <p:pic>
        <p:nvPicPr>
          <p:cNvPr id="1026" name="Picture 2" descr="https://cdn.analyticsvidhya.com/wp-content/uploads/2018/11/Screenshot-from-2018-11-05-14-25-3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198" y="1366308"/>
            <a:ext cx="2505075" cy="138112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00399" y="1080242"/>
            <a:ext cx="10958086" cy="4770537"/>
          </a:xfrm>
          <a:prstGeom prst="rect">
            <a:avLst/>
          </a:prstGeom>
          <a:noFill/>
        </p:spPr>
        <p:txBody>
          <a:bodyPr wrap="square" rtlCol="0">
            <a:spAutoFit/>
          </a:bodyPr>
          <a:lstStyle/>
          <a:p>
            <a:r>
              <a:rPr lang="en-US" sz="2000" dirty="0"/>
              <a:t>Let’s recall how a logistic regression looks like</a:t>
            </a:r>
            <a:r>
              <a:rPr lang="en-US" sz="2000" dirty="0" smtClean="0"/>
              <a:t>:</a:t>
            </a:r>
          </a:p>
          <a:p>
            <a:endParaRPr lang="en-US" dirty="0"/>
          </a:p>
          <a:p>
            <a:endParaRPr lang="en-US" dirty="0" smtClean="0"/>
          </a:p>
          <a:p>
            <a:endParaRPr lang="en-US" dirty="0"/>
          </a:p>
          <a:p>
            <a:endParaRPr lang="en-US" dirty="0" smtClean="0"/>
          </a:p>
          <a:p>
            <a:endParaRPr lang="en-US" dirty="0"/>
          </a:p>
          <a:p>
            <a:endParaRPr lang="en-US" dirty="0" smtClean="0"/>
          </a:p>
          <a:p>
            <a:r>
              <a:rPr lang="en-US" sz="2000" dirty="0" smtClean="0"/>
              <a:t>We </a:t>
            </a:r>
            <a:r>
              <a:rPr lang="en-US" sz="2000" dirty="0"/>
              <a:t>have seen how normalizing the input in this case can speed up the learning process. In case of deep neural networks, we have a lot of hidden layers and this results in a lot of activations</a:t>
            </a:r>
            <a:r>
              <a:rPr lang="en-US" sz="2000" dirty="0" smtClean="0"/>
              <a:t>:</a:t>
            </a:r>
          </a:p>
          <a:p>
            <a:endParaRPr lang="en-US" sz="2000" dirty="0"/>
          </a:p>
          <a:p>
            <a:endParaRPr lang="en-US" sz="2000" dirty="0" smtClean="0"/>
          </a:p>
          <a:p>
            <a:endParaRPr lang="en-US" sz="2000" dirty="0"/>
          </a:p>
          <a:p>
            <a:endParaRPr lang="en-US" sz="2000" dirty="0" smtClean="0"/>
          </a:p>
          <a:p>
            <a:endParaRPr lang="en-US" sz="2000" dirty="0"/>
          </a:p>
          <a:p>
            <a:r>
              <a:rPr lang="en-US" sz="2000" b="1" dirty="0" smtClean="0"/>
              <a:t>Wouldn’t </a:t>
            </a:r>
            <a:r>
              <a:rPr lang="en-US" sz="2000" b="1" dirty="0"/>
              <a:t>it be great if we can normalize the mean and variance of these activations (a[2]) in order to make the training of w[3], b[3] more effective</a:t>
            </a:r>
            <a:r>
              <a:rPr lang="en-US" sz="2000" dirty="0"/>
              <a:t>?</a:t>
            </a:r>
          </a:p>
        </p:txBody>
      </p:sp>
      <p:grpSp>
        <p:nvGrpSpPr>
          <p:cNvPr id="6" name="Group 5"/>
          <p:cNvGrpSpPr/>
          <p:nvPr/>
        </p:nvGrpSpPr>
        <p:grpSpPr>
          <a:xfrm>
            <a:off x="3276570" y="3490550"/>
            <a:ext cx="3669383" cy="1590015"/>
            <a:chOff x="3276570" y="3604846"/>
            <a:chExt cx="3669383" cy="1590015"/>
          </a:xfrm>
        </p:grpSpPr>
        <p:pic>
          <p:nvPicPr>
            <p:cNvPr id="4" name="Picture 3"/>
            <p:cNvPicPr>
              <a:picLocks noChangeAspect="1"/>
            </p:cNvPicPr>
            <p:nvPr/>
          </p:nvPicPr>
          <p:blipFill>
            <a:blip r:embed="rId5"/>
            <a:stretch>
              <a:fillRect/>
            </a:stretch>
          </p:blipFill>
          <p:spPr>
            <a:xfrm>
              <a:off x="3276570" y="3912623"/>
              <a:ext cx="3669383" cy="1282238"/>
            </a:xfrm>
            <a:prstGeom prst="rect">
              <a:avLst/>
            </a:prstGeom>
          </p:spPr>
        </p:pic>
        <p:sp>
          <p:nvSpPr>
            <p:cNvPr id="5" name="TextBox 4"/>
            <p:cNvSpPr txBox="1"/>
            <p:nvPr/>
          </p:nvSpPr>
          <p:spPr>
            <a:xfrm>
              <a:off x="4167554" y="3633669"/>
              <a:ext cx="483577" cy="307777"/>
            </a:xfrm>
            <a:prstGeom prst="rect">
              <a:avLst/>
            </a:prstGeom>
            <a:noFill/>
          </p:spPr>
          <p:txBody>
            <a:bodyPr wrap="square" rtlCol="0">
              <a:spAutoFit/>
            </a:bodyPr>
            <a:lstStyle/>
            <a:p>
              <a:r>
                <a:rPr lang="en-US" dirty="0"/>
                <a:t>a</a:t>
              </a:r>
              <a:r>
                <a:rPr lang="en-US" baseline="30000" dirty="0" smtClean="0"/>
                <a:t>[1]</a:t>
              </a:r>
              <a:endParaRPr lang="en-US" dirty="0"/>
            </a:p>
          </p:txBody>
        </p:sp>
        <p:sp>
          <p:nvSpPr>
            <p:cNvPr id="10" name="TextBox 9"/>
            <p:cNvSpPr txBox="1"/>
            <p:nvPr/>
          </p:nvSpPr>
          <p:spPr>
            <a:xfrm>
              <a:off x="4714859" y="3631064"/>
              <a:ext cx="483577" cy="307777"/>
            </a:xfrm>
            <a:prstGeom prst="rect">
              <a:avLst/>
            </a:prstGeom>
            <a:noFill/>
          </p:spPr>
          <p:txBody>
            <a:bodyPr wrap="square" rtlCol="0">
              <a:spAutoFit/>
            </a:bodyPr>
            <a:lstStyle/>
            <a:p>
              <a:r>
                <a:rPr lang="en-US" dirty="0" smtClean="0"/>
                <a:t>a</a:t>
              </a:r>
              <a:r>
                <a:rPr lang="en-US" baseline="30000" dirty="0" smtClean="0"/>
                <a:t>[2]</a:t>
              </a:r>
              <a:endParaRPr lang="en-US" dirty="0"/>
            </a:p>
          </p:txBody>
        </p:sp>
        <p:sp>
          <p:nvSpPr>
            <p:cNvPr id="11" name="TextBox 10"/>
            <p:cNvSpPr txBox="1"/>
            <p:nvPr/>
          </p:nvSpPr>
          <p:spPr>
            <a:xfrm>
              <a:off x="5295120" y="3604846"/>
              <a:ext cx="901243" cy="307777"/>
            </a:xfrm>
            <a:prstGeom prst="rect">
              <a:avLst/>
            </a:prstGeom>
            <a:noFill/>
          </p:spPr>
          <p:txBody>
            <a:bodyPr wrap="square" rtlCol="0">
              <a:spAutoFit/>
            </a:bodyPr>
            <a:lstStyle/>
            <a:p>
              <a:r>
                <a:rPr lang="en-US" dirty="0" smtClean="0"/>
                <a:t>w</a:t>
              </a:r>
              <a:r>
                <a:rPr lang="en-US" baseline="30000" dirty="0" smtClean="0"/>
                <a:t>[3]</a:t>
              </a:r>
              <a:r>
                <a:rPr lang="en-US" dirty="0" smtClean="0"/>
                <a:t> , b</a:t>
              </a:r>
              <a:r>
                <a:rPr lang="en-US" baseline="30000" dirty="0" smtClean="0"/>
                <a:t>[3]</a:t>
              </a:r>
              <a:endParaRPr lang="en-US" dirty="0"/>
            </a:p>
          </p:txBody>
        </p:sp>
      </p:grpSp>
    </p:spTree>
    <p:extLst>
      <p:ext uri="{BB962C8B-B14F-4D97-AF65-F5344CB8AC3E}">
        <p14:creationId xmlns:p14="http://schemas.microsoft.com/office/powerpoint/2010/main" val="1164785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Normalizing inputs to speed up learning  </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20</a:t>
            </a:fld>
            <a:endParaRPr>
              <a:latin typeface="+mj-lt"/>
            </a:endParaRPr>
          </a:p>
        </p:txBody>
      </p:sp>
      <p:sp>
        <p:nvSpPr>
          <p:cNvPr id="3" name="TextBox 2"/>
          <p:cNvSpPr txBox="1"/>
          <p:nvPr/>
        </p:nvSpPr>
        <p:spPr>
          <a:xfrm>
            <a:off x="624254" y="1159270"/>
            <a:ext cx="10958086" cy="5324535"/>
          </a:xfrm>
          <a:prstGeom prst="rect">
            <a:avLst/>
          </a:prstGeom>
          <a:noFill/>
        </p:spPr>
        <p:txBody>
          <a:bodyPr wrap="square" rtlCol="0">
            <a:spAutoFit/>
          </a:bodyPr>
          <a:lstStyle/>
          <a:p>
            <a:r>
              <a:rPr lang="en-US" sz="2000" dirty="0"/>
              <a:t>This is how batch normalization works. We normalize the activations of the hidden layer(s) so that the weights of the next layer can be updated faster. Technically, we normalize the values of </a:t>
            </a:r>
            <a:r>
              <a:rPr lang="en-US" sz="2000" dirty="0" smtClean="0"/>
              <a:t>Z</a:t>
            </a:r>
            <a:r>
              <a:rPr lang="en-US" sz="2000" baseline="30000" dirty="0" smtClean="0"/>
              <a:t>[2]</a:t>
            </a:r>
            <a:r>
              <a:rPr lang="en-US" sz="2000" dirty="0" smtClean="0"/>
              <a:t> </a:t>
            </a:r>
            <a:r>
              <a:rPr lang="en-US" sz="2000" dirty="0"/>
              <a:t>and then use an activation function of the normalized values. Here is how we can implement batch normalization</a:t>
            </a:r>
            <a:r>
              <a:rPr lang="en-US" sz="2000" dirty="0" smtClean="0"/>
              <a:t>:</a:t>
            </a:r>
            <a:endParaRPr lang="en-US" sz="2000" dirty="0"/>
          </a:p>
          <a:p>
            <a:r>
              <a:rPr lang="en-US" sz="2000" dirty="0"/>
              <a:t>Given some intermediate values in NN </a:t>
            </a:r>
            <a:r>
              <a:rPr lang="en-US" sz="2000" dirty="0" smtClean="0"/>
              <a:t>Z</a:t>
            </a:r>
            <a:r>
              <a:rPr lang="en-US" sz="2000" baseline="30000" dirty="0" smtClean="0"/>
              <a:t>[1]</a:t>
            </a:r>
            <a:r>
              <a:rPr lang="en-US" sz="2000" dirty="0" smtClean="0"/>
              <a:t>,….,Z</a:t>
            </a:r>
            <a:r>
              <a:rPr lang="en-US" sz="2000" baseline="30000" dirty="0" smtClean="0"/>
              <a:t>[m]</a:t>
            </a:r>
            <a:r>
              <a:rPr lang="en-US" sz="2000" dirty="0" smtClean="0"/>
              <a:t>:</a:t>
            </a:r>
          </a:p>
          <a:p>
            <a:endParaRPr lang="en-US" sz="2000" dirty="0"/>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a:p>
            <a:r>
              <a:rPr lang="en-US" sz="2000" dirty="0"/>
              <a:t>Here, Ɣ and β are learnable parameters.</a:t>
            </a:r>
          </a:p>
        </p:txBody>
      </p:sp>
      <p:pic>
        <p:nvPicPr>
          <p:cNvPr id="2050" name="Picture 2" descr="https://cdn.analyticsvidhya.com/wp-content/uploads/2018/11/Screenshot-from-2018-11-05-15-53-3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7914" y="2733528"/>
            <a:ext cx="3143250" cy="337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143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Implementing Batch Norm</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21</a:t>
            </a:fld>
            <a:endParaRPr>
              <a:latin typeface="+mj-lt"/>
            </a:endParaRPr>
          </a:p>
        </p:txBody>
      </p:sp>
      <p:sp>
        <p:nvSpPr>
          <p:cNvPr id="2" name="TextBox 1"/>
          <p:cNvSpPr txBox="1"/>
          <p:nvPr/>
        </p:nvSpPr>
        <p:spPr>
          <a:xfrm>
            <a:off x="325316" y="1708441"/>
            <a:ext cx="11359661"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j-lt"/>
              </a:rPr>
              <a:t>Gamma and beta in batch normalization allow you to customize the mean of normalized hidden unit values, providing flexibility in subsequent computations. </a:t>
            </a:r>
            <a:endParaRPr lang="en-US" sz="2400" dirty="0" smtClean="0">
              <a:latin typeface="+mj-lt"/>
            </a:endParaRPr>
          </a:p>
          <a:p>
            <a:pPr marL="342900" indent="-342900">
              <a:buFont typeface="Arial" panose="020B0604020202020204" pitchFamily="34" charset="0"/>
              <a:buChar char="•"/>
            </a:pPr>
            <a:r>
              <a:rPr lang="en-US" sz="2400" dirty="0" smtClean="0">
                <a:latin typeface="+mj-lt"/>
              </a:rPr>
              <a:t>Batch </a:t>
            </a:r>
            <a:r>
              <a:rPr lang="en-US" sz="2400" dirty="0">
                <a:latin typeface="+mj-lt"/>
              </a:rPr>
              <a:t>normalization simplifies </a:t>
            </a:r>
            <a:r>
              <a:rPr lang="en-US" sz="2400" dirty="0" err="1">
                <a:latin typeface="+mj-lt"/>
              </a:rPr>
              <a:t>hyperparameter</a:t>
            </a:r>
            <a:r>
              <a:rPr lang="en-US" sz="2400" dirty="0">
                <a:latin typeface="+mj-lt"/>
              </a:rPr>
              <a:t> search, enhances neural network robustness, and facilitates training deep networks. </a:t>
            </a:r>
            <a:endParaRPr lang="en-US" sz="2400" dirty="0">
              <a:latin typeface="+mj-lt"/>
            </a:endParaRPr>
          </a:p>
        </p:txBody>
      </p:sp>
    </p:spTree>
    <p:extLst>
      <p:ext uri="{BB962C8B-B14F-4D97-AF65-F5344CB8AC3E}">
        <p14:creationId xmlns:p14="http://schemas.microsoft.com/office/powerpoint/2010/main" val="3720305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35"/>
        <p:cNvGrpSpPr/>
        <p:nvPr/>
      </p:nvGrpSpPr>
      <p:grpSpPr>
        <a:xfrm>
          <a:off x="0" y="0"/>
          <a:ext cx="0" cy="0"/>
          <a:chOff x="0" y="0"/>
          <a:chExt cx="0" cy="0"/>
        </a:xfrm>
      </p:grpSpPr>
      <p:sp>
        <p:nvSpPr>
          <p:cNvPr id="236" name="Google Shape;236;p17"/>
          <p:cNvSpPr txBox="1">
            <a:spLocks noGrp="1"/>
          </p:cNvSpPr>
          <p:nvPr>
            <p:ph type="title"/>
          </p:nvPr>
        </p:nvSpPr>
        <p:spPr>
          <a:xfrm>
            <a:off x="1564424" y="1170075"/>
            <a:ext cx="10360341" cy="2109808"/>
          </a:xfrm>
          <a:prstGeom prst="rect">
            <a:avLst/>
          </a:prstGeom>
          <a:noFill/>
          <a:ln>
            <a:noFill/>
          </a:ln>
        </p:spPr>
        <p:txBody>
          <a:bodyPr spcFirstLastPara="1" wrap="square" lIns="0" tIns="114300" rIns="0" bIns="0" anchor="t" anchorCtr="0">
            <a:spAutoFit/>
          </a:bodyPr>
          <a:lstStyle/>
          <a:p>
            <a:pPr marL="4759325" marR="5080" lvl="0" indent="1285240" algn="l" rtl="0">
              <a:lnSpc>
                <a:spcPct val="108333"/>
              </a:lnSpc>
              <a:spcBef>
                <a:spcPts val="0"/>
              </a:spcBef>
              <a:spcAft>
                <a:spcPts val="0"/>
              </a:spcAft>
              <a:buSzPts val="1400"/>
              <a:buNone/>
            </a:pPr>
            <a:r>
              <a:rPr lang="en-US" dirty="0">
                <a:latin typeface="+mj-lt"/>
              </a:rPr>
              <a:t>Batch Normalization</a:t>
            </a:r>
            <a:endParaRPr dirty="0">
              <a:latin typeface="+mj-lt"/>
            </a:endParaRPr>
          </a:p>
        </p:txBody>
      </p:sp>
      <p:sp>
        <p:nvSpPr>
          <p:cNvPr id="237" name="Google Shape;237;p17"/>
          <p:cNvSpPr txBox="1"/>
          <p:nvPr/>
        </p:nvSpPr>
        <p:spPr>
          <a:xfrm>
            <a:off x="5130787" y="3806685"/>
            <a:ext cx="6677659" cy="1674817"/>
          </a:xfrm>
          <a:prstGeom prst="rect">
            <a:avLst/>
          </a:prstGeom>
          <a:noFill/>
          <a:ln>
            <a:noFill/>
          </a:ln>
        </p:spPr>
        <p:txBody>
          <a:bodyPr spcFirstLastPara="1" wrap="square" lIns="0" tIns="12700" rIns="0" bIns="0" anchor="t" anchorCtr="0">
            <a:spAutoFit/>
          </a:bodyPr>
          <a:lstStyle/>
          <a:p>
            <a:pPr marL="12700" marR="5080" lvl="0" indent="419734" algn="ctr" rtl="0">
              <a:lnSpc>
                <a:spcPct val="100000"/>
              </a:lnSpc>
              <a:spcBef>
                <a:spcPts val="0"/>
              </a:spcBef>
              <a:spcAft>
                <a:spcPts val="0"/>
              </a:spcAft>
              <a:buClr>
                <a:srgbClr val="000000"/>
              </a:buClr>
              <a:buSzPts val="6000"/>
              <a:buFont typeface="Arial"/>
              <a:buNone/>
            </a:pPr>
            <a:r>
              <a:rPr lang="en-US" sz="5400" b="0" i="0" u="none" strike="noStrike" cap="none" dirty="0">
                <a:solidFill>
                  <a:srgbClr val="000000"/>
                </a:solidFill>
                <a:latin typeface="+mj-lt"/>
                <a:ea typeface="Calibri"/>
                <a:cs typeface="Calibri"/>
                <a:sym typeface="Calibri"/>
              </a:rPr>
              <a:t>Fitting Batch Norm into a neural network</a:t>
            </a:r>
            <a:endParaRPr sz="5400" b="0" i="0" u="none" strike="noStrike" cap="none" dirty="0">
              <a:solidFill>
                <a:srgbClr val="000000"/>
              </a:solidFill>
              <a:latin typeface="+mj-lt"/>
              <a:ea typeface="Calibri"/>
              <a:cs typeface="Calibri"/>
              <a:sym typeface="Calibri"/>
            </a:endParaRPr>
          </a:p>
        </p:txBody>
      </p:sp>
      <p:sp>
        <p:nvSpPr>
          <p:cNvPr id="238" name="Google Shape;238;p17"/>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239" name="Google Shape;239;p1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40" name="Google Shape;240;p1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22</a:t>
            </a:fld>
            <a:endParaRPr>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smtClean="0">
                <a:latin typeface="+mj-lt"/>
                <a:ea typeface="Cambria"/>
                <a:cs typeface="Cambria"/>
                <a:sym typeface="Cambria"/>
              </a:rPr>
              <a:t>Adding </a:t>
            </a:r>
            <a:r>
              <a:rPr lang="en-US" sz="4400" dirty="0">
                <a:latin typeface="+mj-lt"/>
                <a:ea typeface="Cambria"/>
                <a:cs typeface="Cambria"/>
                <a:sym typeface="Cambria"/>
              </a:rPr>
              <a:t>Batch Norm </a:t>
            </a:r>
            <a:r>
              <a:rPr lang="en-US" sz="4400" dirty="0" smtClean="0">
                <a:latin typeface="+mj-lt"/>
                <a:ea typeface="Cambria"/>
                <a:cs typeface="Cambria"/>
                <a:sym typeface="Cambria"/>
              </a:rPr>
              <a:t>to a network</a:t>
            </a:r>
            <a:endParaRPr lang="en-US" sz="4400" dirty="0">
              <a:latin typeface="+mj-lt"/>
              <a:ea typeface="Cambria"/>
              <a:cs typeface="Cambria"/>
              <a:sym typeface="Cambria"/>
            </a:endParaRP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23</a:t>
            </a:fld>
            <a:endParaRPr>
              <a:latin typeface="+mj-lt"/>
            </a:endParaRPr>
          </a:p>
        </p:txBody>
      </p:sp>
      <mc:AlternateContent xmlns:mc="http://schemas.openxmlformats.org/markup-compatibility/2006" xmlns:a14="http://schemas.microsoft.com/office/drawing/2010/main">
        <mc:Choice Requires="a14">
          <p:sp>
            <p:nvSpPr>
              <p:cNvPr id="3" name="TextBox 2"/>
              <p:cNvSpPr txBox="1"/>
              <p:nvPr/>
            </p:nvSpPr>
            <p:spPr>
              <a:xfrm>
                <a:off x="378069" y="1160585"/>
                <a:ext cx="11579469" cy="5961440"/>
              </a:xfrm>
              <a:prstGeom prst="rect">
                <a:avLst/>
              </a:prstGeom>
              <a:noFill/>
            </p:spPr>
            <p:txBody>
              <a:bodyPr wrap="square" rtlCol="0">
                <a:spAutoFit/>
              </a:bodyPr>
              <a:lstStyle/>
              <a:p>
                <a:r>
                  <a:rPr lang="en-US" sz="2000" dirty="0" smtClean="0"/>
                  <a:t>Consider the neural network shown below:</a:t>
                </a:r>
              </a:p>
              <a:p>
                <a:endParaRPr lang="en-US" sz="2000" dirty="0"/>
              </a:p>
              <a:p>
                <a:endParaRPr lang="en-US" sz="2000" dirty="0" smtClean="0"/>
              </a:p>
              <a:p>
                <a:endParaRPr lang="en-US" sz="2000" dirty="0"/>
              </a:p>
              <a:p>
                <a:endParaRPr lang="en-US" sz="2000" dirty="0" smtClean="0"/>
              </a:p>
              <a:p>
                <a:endParaRPr lang="en-US" sz="2000" dirty="0"/>
              </a:p>
              <a:p>
                <a:r>
                  <a:rPr lang="en-US" sz="2000" dirty="0"/>
                  <a:t>Each unit of the neural network computes two things. It first computes Z, and then applies the activation function on it to compute A. If we apply batch norm at each layer, the computation will look like</a:t>
                </a:r>
                <a:r>
                  <a:rPr lang="en-US" sz="2000" dirty="0" smtClean="0"/>
                  <a:t>:</a:t>
                </a:r>
              </a:p>
              <a:p>
                <a:endParaRPr lang="en-US" sz="2000" dirty="0" smtClean="0"/>
              </a:p>
              <a:p>
                <a:r>
                  <a:rPr lang="en-US" sz="2000" dirty="0" smtClean="0"/>
                  <a:t>X ======</a:t>
                </a:r>
                <a:r>
                  <a:rPr lang="en-US" sz="2000" dirty="0" smtClean="0">
                    <a:sym typeface="Wingdings" panose="05000000000000000000" pitchFamily="2" charset="2"/>
                  </a:rPr>
                  <a:t> &gt; </a:t>
                </a:r>
                <a14:m>
                  <m:oMath xmlns:m="http://schemas.openxmlformats.org/officeDocument/2006/math">
                    <m:sSup>
                      <m:sSupPr>
                        <m:ctrlPr>
                          <a:rPr lang="en-US" sz="2000" i="1" smtClean="0">
                            <a:latin typeface="Cambria Math" panose="02040503050406030204" pitchFamily="18" charset="0"/>
                            <a:sym typeface="Wingdings" panose="05000000000000000000" pitchFamily="2" charset="2"/>
                          </a:rPr>
                        </m:ctrlPr>
                      </m:sSupPr>
                      <m:e>
                        <m:r>
                          <a:rPr lang="en-US" sz="2000" b="0" i="1" smtClean="0">
                            <a:latin typeface="Cambria Math" panose="02040503050406030204" pitchFamily="18" charset="0"/>
                            <a:sym typeface="Wingdings" panose="05000000000000000000" pitchFamily="2" charset="2"/>
                          </a:rPr>
                          <m:t>𝑍</m:t>
                        </m:r>
                      </m:e>
                      <m:sup>
                        <m:r>
                          <a:rPr lang="en-US" sz="2000" b="0" i="1" smtClean="0">
                            <a:latin typeface="Cambria Math" panose="02040503050406030204" pitchFamily="18" charset="0"/>
                            <a:sym typeface="Wingdings" panose="05000000000000000000" pitchFamily="2" charset="2"/>
                          </a:rPr>
                          <m:t>[1]</m:t>
                        </m:r>
                      </m:sup>
                    </m:sSup>
                  </m:oMath>
                </a14:m>
                <a:r>
                  <a:rPr lang="en-US" sz="2000" dirty="0" smtClean="0">
                    <a:sym typeface="Wingdings" panose="05000000000000000000" pitchFamily="2" charset="2"/>
                  </a:rPr>
                  <a:t> ====== &gt; </a:t>
                </a:r>
                <a14:m>
                  <m:oMath xmlns:m="http://schemas.openxmlformats.org/officeDocument/2006/math">
                    <m:acc>
                      <m:accPr>
                        <m:chr m:val="̃"/>
                        <m:ctrlPr>
                          <a:rPr lang="en-US" sz="2000" i="1" smtClean="0">
                            <a:latin typeface="Cambria Math" panose="02040503050406030204" pitchFamily="18" charset="0"/>
                            <a:sym typeface="Wingdings" panose="05000000000000000000" pitchFamily="2" charset="2"/>
                          </a:rPr>
                        </m:ctrlPr>
                      </m:accPr>
                      <m:e>
                        <m:r>
                          <a:rPr lang="en-US" sz="2000" b="0" i="1" smtClean="0">
                            <a:latin typeface="Cambria Math" panose="02040503050406030204" pitchFamily="18" charset="0"/>
                            <a:sym typeface="Wingdings" panose="05000000000000000000" pitchFamily="2" charset="2"/>
                          </a:rPr>
                          <m:t>𝑍</m:t>
                        </m:r>
                      </m:e>
                    </m:acc>
                  </m:oMath>
                </a14:m>
                <a:r>
                  <a:rPr lang="en-US" sz="2000" baseline="30000" dirty="0" smtClean="0"/>
                  <a:t>[1]</a:t>
                </a:r>
                <a:r>
                  <a:rPr lang="en-US" sz="2000" dirty="0" smtClean="0"/>
                  <a:t> == &gt;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𝐴</m:t>
                        </m:r>
                      </m:e>
                      <m:sup>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1</m:t>
                            </m:r>
                          </m:e>
                        </m:d>
                      </m:sup>
                    </m:sSup>
                  </m:oMath>
                </a14:m>
                <a:r>
                  <a:rPr lang="en-US" sz="2000" dirty="0" smtClean="0"/>
                  <a:t> ====== &gt; </a:t>
                </a:r>
                <a14:m>
                  <m:oMath xmlns:m="http://schemas.openxmlformats.org/officeDocument/2006/math">
                    <m:sSup>
                      <m:sSupPr>
                        <m:ctrlPr>
                          <a:rPr lang="en-US" sz="2000" i="1">
                            <a:latin typeface="Cambria Math" panose="02040503050406030204" pitchFamily="18" charset="0"/>
                            <a:sym typeface="Wingdings" panose="05000000000000000000" pitchFamily="2" charset="2"/>
                          </a:rPr>
                        </m:ctrlPr>
                      </m:sSupPr>
                      <m:e>
                        <m:r>
                          <a:rPr lang="en-US" sz="2000" i="1">
                            <a:latin typeface="Cambria Math" panose="02040503050406030204" pitchFamily="18" charset="0"/>
                            <a:sym typeface="Wingdings" panose="05000000000000000000" pitchFamily="2" charset="2"/>
                          </a:rPr>
                          <m:t>𝑍</m:t>
                        </m:r>
                      </m:e>
                      <m:sup>
                        <m:r>
                          <a:rPr lang="en-US" sz="2000" i="1">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2</m:t>
                        </m:r>
                        <m:r>
                          <a:rPr lang="en-US" sz="2000" i="1">
                            <a:latin typeface="Cambria Math" panose="02040503050406030204" pitchFamily="18" charset="0"/>
                            <a:sym typeface="Wingdings" panose="05000000000000000000" pitchFamily="2" charset="2"/>
                          </a:rPr>
                          <m:t>]</m:t>
                        </m:r>
                      </m:sup>
                    </m:sSup>
                  </m:oMath>
                </a14:m>
                <a:r>
                  <a:rPr lang="en-US" sz="2000" dirty="0">
                    <a:sym typeface="Wingdings" panose="05000000000000000000" pitchFamily="2" charset="2"/>
                  </a:rPr>
                  <a:t> </a:t>
                </a:r>
                <a:r>
                  <a:rPr lang="en-US" sz="2000" dirty="0" smtClean="0">
                    <a:sym typeface="Wingdings" panose="05000000000000000000" pitchFamily="2" charset="2"/>
                  </a:rPr>
                  <a:t>====== </a:t>
                </a:r>
                <a:r>
                  <a:rPr lang="en-US" sz="2000" dirty="0">
                    <a:sym typeface="Wingdings" panose="05000000000000000000" pitchFamily="2" charset="2"/>
                  </a:rPr>
                  <a:t>&gt; </a:t>
                </a:r>
                <a14:m>
                  <m:oMath xmlns:m="http://schemas.openxmlformats.org/officeDocument/2006/math">
                    <m:acc>
                      <m:accPr>
                        <m:chr m:val="̃"/>
                        <m:ctrlPr>
                          <a:rPr lang="en-US" sz="2000" i="1">
                            <a:latin typeface="Cambria Math" panose="02040503050406030204" pitchFamily="18" charset="0"/>
                            <a:sym typeface="Wingdings" panose="05000000000000000000" pitchFamily="2" charset="2"/>
                          </a:rPr>
                        </m:ctrlPr>
                      </m:accPr>
                      <m:e>
                        <m:r>
                          <a:rPr lang="en-US" sz="2000" i="1">
                            <a:latin typeface="Cambria Math" panose="02040503050406030204" pitchFamily="18" charset="0"/>
                            <a:sym typeface="Wingdings" panose="05000000000000000000" pitchFamily="2" charset="2"/>
                          </a:rPr>
                          <m:t>𝑍</m:t>
                        </m:r>
                      </m:e>
                    </m:acc>
                  </m:oMath>
                </a14:m>
                <a:r>
                  <a:rPr lang="en-US" sz="2000" baseline="30000" dirty="0" smtClean="0"/>
                  <a:t>[2]</a:t>
                </a:r>
                <a:r>
                  <a:rPr lang="en-US" sz="2000" dirty="0" smtClean="0"/>
                  <a:t> == &gt;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2</m:t>
                            </m:r>
                          </m:e>
                        </m:d>
                      </m:sup>
                    </m:sSup>
                  </m:oMath>
                </a14:m>
                <a:r>
                  <a:rPr lang="en-US" sz="2000" dirty="0" smtClean="0"/>
                  <a:t> …</a:t>
                </a:r>
              </a:p>
              <a:p>
                <a:endParaRPr lang="en-US" sz="2000" dirty="0"/>
              </a:p>
              <a:p>
                <a:r>
                  <a:rPr lang="en-US" sz="2000" dirty="0"/>
                  <a:t>After calculating the Z-value, we apply batch norm and then the activation function on </a:t>
                </a:r>
                <a:r>
                  <a:rPr lang="en-US" sz="2000" dirty="0" smtClean="0"/>
                  <a:t>that. Parameters </a:t>
                </a:r>
                <a:r>
                  <a:rPr lang="en-US" sz="2000" dirty="0"/>
                  <a:t>in this case are</a:t>
                </a:r>
                <a:r>
                  <a:rPr lang="en-US" sz="2000" dirty="0" smtClean="0"/>
                  <a:t>:</a:t>
                </a:r>
              </a:p>
              <a:p>
                <a:r>
                  <a:rPr lang="en-US" sz="2000" dirty="0"/>
                  <a:t>W</a:t>
                </a:r>
                <a:r>
                  <a:rPr lang="en-US" sz="2000" baseline="30000" dirty="0"/>
                  <a:t>[1]</a:t>
                </a:r>
                <a:r>
                  <a:rPr lang="en-US" sz="2000" dirty="0"/>
                  <a:t> , b</a:t>
                </a:r>
                <a:r>
                  <a:rPr lang="en-US" sz="2000" baseline="30000" dirty="0"/>
                  <a:t>[1</a:t>
                </a:r>
                <a:r>
                  <a:rPr lang="en-US" sz="2000" baseline="30000" dirty="0" smtClean="0"/>
                  <a:t>]</a:t>
                </a:r>
                <a:r>
                  <a:rPr lang="en-US" sz="2000" dirty="0" smtClean="0"/>
                  <a:t> , W</a:t>
                </a:r>
                <a:r>
                  <a:rPr lang="en-US" sz="2000" baseline="30000" dirty="0" smtClean="0"/>
                  <a:t>[2]</a:t>
                </a:r>
                <a:r>
                  <a:rPr lang="en-US" sz="2000" dirty="0" smtClean="0"/>
                  <a:t> </a:t>
                </a:r>
                <a:r>
                  <a:rPr lang="en-US" sz="2000" dirty="0"/>
                  <a:t>, </a:t>
                </a:r>
                <a:r>
                  <a:rPr lang="en-US" sz="2000" dirty="0" smtClean="0"/>
                  <a:t>b</a:t>
                </a:r>
                <a:r>
                  <a:rPr lang="en-US" sz="2000" baseline="30000" dirty="0" smtClean="0"/>
                  <a:t>[2]</a:t>
                </a:r>
                <a:r>
                  <a:rPr lang="en-US" sz="2000" dirty="0" smtClean="0"/>
                  <a:t> , …, W</a:t>
                </a:r>
                <a:r>
                  <a:rPr lang="en-US" sz="2000" baseline="30000" dirty="0" smtClean="0"/>
                  <a:t>[L]</a:t>
                </a:r>
                <a:r>
                  <a:rPr lang="en-US" sz="2000" dirty="0" smtClean="0"/>
                  <a:t> </a:t>
                </a:r>
                <a:r>
                  <a:rPr lang="en-US" sz="2000" dirty="0"/>
                  <a:t>, </a:t>
                </a:r>
                <a:r>
                  <a:rPr lang="en-US" sz="2000" dirty="0" smtClean="0"/>
                  <a:t>b</a:t>
                </a:r>
                <a:r>
                  <a:rPr lang="en-US" sz="2000" baseline="30000" dirty="0" smtClean="0"/>
                  <a:t>[L]</a:t>
                </a:r>
                <a:endParaRPr lang="en-US" sz="2000" dirty="0"/>
              </a:p>
              <a:p>
                <a14:m>
                  <m:oMath xmlns:m="http://schemas.openxmlformats.org/officeDocument/2006/math">
                    <m:r>
                      <a:rPr lang="en-US" sz="2000" i="1">
                        <a:latin typeface="Cambria Math" panose="02040503050406030204" pitchFamily="18" charset="0"/>
                        <a:ea typeface="Cambria Math" panose="02040503050406030204" pitchFamily="18" charset="0"/>
                      </a:rPr>
                      <m:t>𝛽</m:t>
                    </m:r>
                  </m:oMath>
                </a14:m>
                <a:r>
                  <a:rPr lang="en-US" sz="2000" baseline="30000" dirty="0"/>
                  <a:t>[1]</a:t>
                </a:r>
                <a:r>
                  <a:rPr lang="en-US" sz="2000" dirty="0"/>
                  <a:t> , </a:t>
                </a:r>
                <a14:m>
                  <m:oMath xmlns:m="http://schemas.openxmlformats.org/officeDocument/2006/math">
                    <m:r>
                      <a:rPr lang="en-US" sz="2000" i="1">
                        <a:latin typeface="Cambria Math" panose="02040503050406030204" pitchFamily="18" charset="0"/>
                        <a:ea typeface="Cambria Math" panose="02040503050406030204" pitchFamily="18" charset="0"/>
                      </a:rPr>
                      <m:t>𝛾</m:t>
                    </m:r>
                  </m:oMath>
                </a14:m>
                <a:r>
                  <a:rPr lang="en-US" sz="2000" baseline="30000" dirty="0"/>
                  <a:t>[1</a:t>
                </a:r>
                <a:r>
                  <a:rPr lang="en-US" sz="2000" baseline="30000" dirty="0" smtClean="0"/>
                  <a:t>]</a:t>
                </a:r>
                <a:r>
                  <a:rPr lang="en-US" sz="2000" dirty="0" smtClean="0"/>
                  <a:t> , </a:t>
                </a:r>
                <a14:m>
                  <m:oMath xmlns:m="http://schemas.openxmlformats.org/officeDocument/2006/math">
                    <m:r>
                      <a:rPr lang="en-US" sz="2000" i="1">
                        <a:latin typeface="Cambria Math" panose="02040503050406030204" pitchFamily="18" charset="0"/>
                        <a:ea typeface="Cambria Math" panose="02040503050406030204" pitchFamily="18" charset="0"/>
                      </a:rPr>
                      <m:t>𝛽</m:t>
                    </m:r>
                  </m:oMath>
                </a14:m>
                <a:r>
                  <a:rPr lang="en-US" sz="2000" baseline="30000" dirty="0" smtClean="0"/>
                  <a:t>[2]</a:t>
                </a:r>
                <a:r>
                  <a:rPr lang="en-US" sz="2000" dirty="0" smtClean="0"/>
                  <a:t> </a:t>
                </a:r>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𝛾</m:t>
                    </m:r>
                  </m:oMath>
                </a14:m>
                <a:r>
                  <a:rPr lang="en-US" sz="2000" baseline="30000" dirty="0" smtClean="0"/>
                  <a:t>[2]</a:t>
                </a:r>
                <a:r>
                  <a:rPr lang="en-US" sz="2000" dirty="0" smtClean="0"/>
                  <a:t> , …, </a:t>
                </a:r>
                <a14:m>
                  <m:oMath xmlns:m="http://schemas.openxmlformats.org/officeDocument/2006/math">
                    <m:r>
                      <a:rPr lang="en-US" sz="2000" i="1">
                        <a:latin typeface="Cambria Math" panose="02040503050406030204" pitchFamily="18" charset="0"/>
                        <a:ea typeface="Cambria Math" panose="02040503050406030204" pitchFamily="18" charset="0"/>
                      </a:rPr>
                      <m:t>𝛽</m:t>
                    </m:r>
                  </m:oMath>
                </a14:m>
                <a:r>
                  <a:rPr lang="en-US" sz="2000" baseline="30000" dirty="0" smtClean="0"/>
                  <a:t>[L]</a:t>
                </a:r>
                <a:r>
                  <a:rPr lang="en-US" sz="2000" dirty="0" smtClean="0"/>
                  <a:t> </a:t>
                </a:r>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𝛾</m:t>
                    </m:r>
                  </m:oMath>
                </a14:m>
                <a:r>
                  <a:rPr lang="en-US" sz="2000" baseline="30000" dirty="0" smtClean="0"/>
                  <a:t>[L]</a:t>
                </a:r>
                <a:endParaRPr lang="en-US" sz="2000" dirty="0"/>
              </a:p>
              <a:p>
                <a:endParaRPr lang="en-US" sz="2000" dirty="0"/>
              </a:p>
              <a:p>
                <a:endParaRPr lang="en-US" sz="2000" dirty="0"/>
              </a:p>
              <a:p>
                <a:endParaRPr lang="en-US" sz="2000" dirty="0"/>
              </a:p>
            </p:txBody>
          </p:sp>
        </mc:Choice>
        <mc:Fallback xmlns="">
          <p:sp>
            <p:nvSpPr>
              <p:cNvPr id="3" name="TextBox 2"/>
              <p:cNvSpPr txBox="1">
                <a:spLocks noRot="1" noChangeAspect="1" noMove="1" noResize="1" noEditPoints="1" noAdjustHandles="1" noChangeArrowheads="1" noChangeShapeType="1" noTextEdit="1"/>
              </p:cNvSpPr>
              <p:nvPr/>
            </p:nvSpPr>
            <p:spPr>
              <a:xfrm>
                <a:off x="378069" y="1160585"/>
                <a:ext cx="11579469" cy="5961440"/>
              </a:xfrm>
              <a:prstGeom prst="rect">
                <a:avLst/>
              </a:prstGeom>
              <a:blipFill>
                <a:blip r:embed="rId4"/>
                <a:stretch>
                  <a:fillRect l="-526" t="-409"/>
                </a:stretch>
              </a:blipFill>
            </p:spPr>
            <p:txBody>
              <a:bodyPr/>
              <a:lstStyle/>
              <a:p>
                <a:r>
                  <a:rPr lang="en-US">
                    <a:noFill/>
                  </a:rPr>
                  <a:t> </a:t>
                </a:r>
              </a:p>
            </p:txBody>
          </p:sp>
        </mc:Fallback>
      </mc:AlternateContent>
      <p:pic>
        <p:nvPicPr>
          <p:cNvPr id="3074" name="Picture 2" descr="https://cdn.analyticsvidhya.com/wp-content/uploads/2018/11/Screenshot-from-2018-11-05-14-59-07.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8105" y="1529906"/>
            <a:ext cx="5076856" cy="14857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64931" y="4070838"/>
            <a:ext cx="905608" cy="307777"/>
          </a:xfrm>
          <a:prstGeom prst="rect">
            <a:avLst/>
          </a:prstGeom>
          <a:noFill/>
        </p:spPr>
        <p:txBody>
          <a:bodyPr wrap="square" rtlCol="0">
            <a:spAutoFit/>
          </a:bodyPr>
          <a:lstStyle/>
          <a:p>
            <a:r>
              <a:rPr lang="en-US" dirty="0" smtClean="0"/>
              <a:t>W</a:t>
            </a:r>
            <a:r>
              <a:rPr lang="en-US" baseline="30000" dirty="0" smtClean="0"/>
              <a:t>[1]</a:t>
            </a:r>
            <a:r>
              <a:rPr lang="en-US" dirty="0" smtClean="0"/>
              <a:t> , b</a:t>
            </a:r>
            <a:r>
              <a:rPr lang="en-US" baseline="30000" dirty="0" smtClean="0"/>
              <a:t>[1]</a:t>
            </a:r>
            <a:endParaRPr lang="en-US" dirty="0"/>
          </a:p>
        </p:txBody>
      </p:sp>
      <mc:AlternateContent xmlns:mc="http://schemas.openxmlformats.org/markup-compatibility/2006" xmlns:a14="http://schemas.microsoft.com/office/drawing/2010/main">
        <mc:Choice Requires="a14">
          <p:sp>
            <p:nvSpPr>
              <p:cNvPr id="9" name="TextBox 8"/>
              <p:cNvSpPr txBox="1"/>
              <p:nvPr/>
            </p:nvSpPr>
            <p:spPr>
              <a:xfrm>
                <a:off x="2376854" y="4070837"/>
                <a:ext cx="905608" cy="307777"/>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baseline="30000" dirty="0" smtClean="0"/>
                  <a:t>[1]</a:t>
                </a:r>
                <a:r>
                  <a:rPr lang="en-US" dirty="0" smtClean="0"/>
                  <a:t> , </a:t>
                </a:r>
                <a14:m>
                  <m:oMath xmlns:m="http://schemas.openxmlformats.org/officeDocument/2006/math">
                    <m:r>
                      <a:rPr lang="en-US" i="1" smtClean="0">
                        <a:latin typeface="Cambria Math" panose="02040503050406030204" pitchFamily="18" charset="0"/>
                        <a:ea typeface="Cambria Math" panose="02040503050406030204" pitchFamily="18" charset="0"/>
                      </a:rPr>
                      <m:t>𝛾</m:t>
                    </m:r>
                  </m:oMath>
                </a14:m>
                <a:r>
                  <a:rPr lang="en-US" baseline="30000" dirty="0" smtClean="0"/>
                  <a:t>[1]</a:t>
                </a:r>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2376854" y="4070837"/>
                <a:ext cx="905608" cy="307777"/>
              </a:xfrm>
              <a:prstGeom prst="rect">
                <a:avLst/>
              </a:prstGeom>
              <a:blipFill>
                <a:blip r:embed="rId6"/>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714392" y="4070836"/>
                <a:ext cx="905608" cy="307777"/>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𝛽</m:t>
                    </m:r>
                  </m:oMath>
                </a14:m>
                <a:r>
                  <a:rPr lang="en-US" baseline="30000" dirty="0" smtClean="0"/>
                  <a:t>[2]</a:t>
                </a:r>
                <a:r>
                  <a:rPr lang="en-US" dirty="0" smtClean="0"/>
                  <a:t> , </a:t>
                </a:r>
                <a14:m>
                  <m:oMath xmlns:m="http://schemas.openxmlformats.org/officeDocument/2006/math">
                    <m:r>
                      <a:rPr lang="en-US" i="1" smtClean="0">
                        <a:latin typeface="Cambria Math" panose="02040503050406030204" pitchFamily="18" charset="0"/>
                        <a:ea typeface="Cambria Math" panose="02040503050406030204" pitchFamily="18" charset="0"/>
                      </a:rPr>
                      <m:t>𝛾</m:t>
                    </m:r>
                  </m:oMath>
                </a14:m>
                <a:r>
                  <a:rPr lang="en-US" baseline="30000" dirty="0" smtClean="0"/>
                  <a:t>[2]</a:t>
                </a:r>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714392" y="4070836"/>
                <a:ext cx="905608" cy="307777"/>
              </a:xfrm>
              <a:prstGeom prst="rect">
                <a:avLst/>
              </a:prstGeom>
              <a:blipFill>
                <a:blip r:embed="rId7"/>
                <a:stretch>
                  <a:fillRect t="-4000" b="-20000"/>
                </a:stretch>
              </a:blipFill>
            </p:spPr>
            <p:txBody>
              <a:bodyPr/>
              <a:lstStyle/>
              <a:p>
                <a:r>
                  <a:rPr lang="en-US">
                    <a:noFill/>
                  </a:rPr>
                  <a:t> </a:t>
                </a:r>
              </a:p>
            </p:txBody>
          </p:sp>
        </mc:Fallback>
      </mc:AlternateContent>
      <p:sp>
        <p:nvSpPr>
          <p:cNvPr id="11" name="TextBox 10"/>
          <p:cNvSpPr txBox="1"/>
          <p:nvPr/>
        </p:nvSpPr>
        <p:spPr>
          <a:xfrm>
            <a:off x="5033597" y="4070835"/>
            <a:ext cx="905608" cy="307777"/>
          </a:xfrm>
          <a:prstGeom prst="rect">
            <a:avLst/>
          </a:prstGeom>
          <a:noFill/>
        </p:spPr>
        <p:txBody>
          <a:bodyPr wrap="square" rtlCol="0">
            <a:spAutoFit/>
          </a:bodyPr>
          <a:lstStyle/>
          <a:p>
            <a:r>
              <a:rPr lang="en-US" dirty="0" smtClean="0"/>
              <a:t>W</a:t>
            </a:r>
            <a:r>
              <a:rPr lang="en-US" baseline="30000" dirty="0" smtClean="0"/>
              <a:t>[2]</a:t>
            </a:r>
            <a:r>
              <a:rPr lang="en-US" dirty="0" smtClean="0"/>
              <a:t> , b</a:t>
            </a:r>
            <a:r>
              <a:rPr lang="en-US" baseline="30000" dirty="0" smtClean="0"/>
              <a:t>[2]</a:t>
            </a:r>
            <a:endParaRPr lang="en-US" dirty="0"/>
          </a:p>
        </p:txBody>
      </p:sp>
      <p:sp>
        <p:nvSpPr>
          <p:cNvPr id="12" name="TextBox 11"/>
          <p:cNvSpPr txBox="1"/>
          <p:nvPr/>
        </p:nvSpPr>
        <p:spPr>
          <a:xfrm>
            <a:off x="2288933" y="4469423"/>
            <a:ext cx="973015" cy="276999"/>
          </a:xfrm>
          <a:prstGeom prst="rect">
            <a:avLst/>
          </a:prstGeom>
          <a:noFill/>
        </p:spPr>
        <p:txBody>
          <a:bodyPr wrap="square" rtlCol="0">
            <a:spAutoFit/>
          </a:bodyPr>
          <a:lstStyle/>
          <a:p>
            <a:r>
              <a:rPr lang="en-US" sz="1200" dirty="0" smtClean="0"/>
              <a:t>Batch norm</a:t>
            </a:r>
            <a:endParaRPr lang="en-US" sz="1200" dirty="0"/>
          </a:p>
        </p:txBody>
      </p:sp>
      <p:sp>
        <p:nvSpPr>
          <p:cNvPr id="13" name="TextBox 12"/>
          <p:cNvSpPr txBox="1"/>
          <p:nvPr/>
        </p:nvSpPr>
        <p:spPr>
          <a:xfrm>
            <a:off x="6646985" y="4464359"/>
            <a:ext cx="973015" cy="276999"/>
          </a:xfrm>
          <a:prstGeom prst="rect">
            <a:avLst/>
          </a:prstGeom>
          <a:noFill/>
        </p:spPr>
        <p:txBody>
          <a:bodyPr wrap="square" rtlCol="0">
            <a:spAutoFit/>
          </a:bodyPr>
          <a:lstStyle/>
          <a:p>
            <a:r>
              <a:rPr lang="en-US" sz="1200" dirty="0" smtClean="0"/>
              <a:t>Batch norm</a:t>
            </a:r>
            <a:endParaRPr lang="en-US" sz="1200" dirty="0"/>
          </a:p>
        </p:txBody>
      </p:sp>
    </p:spTree>
    <p:extLst>
      <p:ext uri="{BB962C8B-B14F-4D97-AF65-F5344CB8AC3E}">
        <p14:creationId xmlns:p14="http://schemas.microsoft.com/office/powerpoint/2010/main" val="90863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378069" y="1160585"/>
                <a:ext cx="11579469" cy="2246769"/>
              </a:xfrm>
              <a:prstGeom prst="rect">
                <a:avLst/>
              </a:prstGeom>
              <a:noFill/>
            </p:spPr>
            <p:txBody>
              <a:bodyPr wrap="square" rtlCol="0">
                <a:spAutoFit/>
              </a:bodyPr>
              <a:lstStyle/>
              <a:p>
                <a:r>
                  <a:rPr lang="en-US" sz="2000" dirty="0">
                    <a:latin typeface="Cascadia Code Light" panose="020B0609020000020004" pitchFamily="49" charset="0"/>
                    <a:cs typeface="Cascadia Code Light" panose="020B0609020000020004" pitchFamily="49" charset="0"/>
                  </a:rPr>
                  <a:t>For t=1, ….., number of </a:t>
                </a:r>
                <a:r>
                  <a:rPr lang="en-US" sz="2000" dirty="0" smtClean="0">
                    <a:latin typeface="Cascadia Code Light" panose="020B0609020000020004" pitchFamily="49" charset="0"/>
                    <a:cs typeface="Cascadia Code Light" panose="020B0609020000020004" pitchFamily="49" charset="0"/>
                  </a:rPr>
                  <a:t>mini batches</a:t>
                </a:r>
                <a:r>
                  <a:rPr lang="en-US" sz="2000" dirty="0">
                    <a:latin typeface="Cascadia Code Light" panose="020B0609020000020004" pitchFamily="49" charset="0"/>
                    <a:cs typeface="Cascadia Code Light" panose="020B0609020000020004" pitchFamily="49" charset="0"/>
                  </a:rPr>
                  <a:t>:</a:t>
                </a:r>
              </a:p>
              <a:p>
                <a:r>
                  <a:rPr lang="en-US" sz="2000" dirty="0">
                    <a:latin typeface="Cascadia Code Light" panose="020B0609020000020004" pitchFamily="49" charset="0"/>
                    <a:cs typeface="Cascadia Code Light" panose="020B0609020000020004" pitchFamily="49" charset="0"/>
                  </a:rPr>
                  <a:t>    Compute forward propagation on </a:t>
                </a:r>
                <a:r>
                  <a:rPr lang="en-US" sz="2000" dirty="0" smtClean="0">
                    <a:latin typeface="Cascadia Code Light" panose="020B0609020000020004" pitchFamily="49" charset="0"/>
                    <a:cs typeface="Cascadia Code Light" panose="020B0609020000020004" pitchFamily="49" charset="0"/>
                  </a:rPr>
                  <a:t>X</a:t>
                </a:r>
                <a:r>
                  <a:rPr lang="en-US" sz="2000" baseline="30000" dirty="0" smtClean="0">
                    <a:latin typeface="Cascadia Code Light" panose="020B0609020000020004" pitchFamily="49" charset="0"/>
                    <a:cs typeface="Cascadia Code Light" panose="020B0609020000020004" pitchFamily="49" charset="0"/>
                  </a:rPr>
                  <a:t>{t}</a:t>
                </a:r>
                <a:endParaRPr lang="en-US" sz="2000" dirty="0">
                  <a:latin typeface="Cascadia Code Light" panose="020B0609020000020004" pitchFamily="49" charset="0"/>
                  <a:cs typeface="Cascadia Code Light" panose="020B0609020000020004" pitchFamily="49" charset="0"/>
                </a:endParaRPr>
              </a:p>
              <a:p>
                <a:r>
                  <a:rPr lang="en-US" sz="2000" dirty="0">
                    <a:latin typeface="Cascadia Code Light" panose="020B0609020000020004" pitchFamily="49" charset="0"/>
                    <a:cs typeface="Cascadia Code Light" panose="020B0609020000020004" pitchFamily="49" charset="0"/>
                  </a:rPr>
                  <a:t>    In each hidden layer, use batch normalization</a:t>
                </a:r>
              </a:p>
              <a:p>
                <a:r>
                  <a:rPr lang="en-US" sz="2000" dirty="0">
                    <a:latin typeface="Cascadia Code Light" panose="020B0609020000020004" pitchFamily="49" charset="0"/>
                    <a:cs typeface="Cascadia Code Light" panose="020B0609020000020004" pitchFamily="49" charset="0"/>
                  </a:rPr>
                  <a:t>    Use backpropagation to compute </a:t>
                </a:r>
                <a:r>
                  <a:rPr lang="en-US" sz="2000" dirty="0" err="1" smtClean="0">
                    <a:latin typeface="Cascadia Code Light" panose="020B0609020000020004" pitchFamily="49" charset="0"/>
                    <a:cs typeface="Cascadia Code Light" panose="020B0609020000020004" pitchFamily="49" charset="0"/>
                  </a:rPr>
                  <a:t>dW</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a:t>
                </a:r>
                <a:r>
                  <a:rPr lang="en-US" sz="2000" dirty="0" err="1" smtClean="0">
                    <a:latin typeface="Cascadia Code Light" panose="020B0609020000020004" pitchFamily="49" charset="0"/>
                    <a:cs typeface="Cascadia Code Light" panose="020B0609020000020004" pitchFamily="49" charset="0"/>
                  </a:rPr>
                  <a:t>db</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d</a:t>
                </a:r>
                <a:r>
                  <a:rPr lang="el-GR" sz="2000" dirty="0" smtClean="0">
                    <a:latin typeface="Cascadia Code Light" panose="020B0609020000020004" pitchFamily="49" charset="0"/>
                    <a:cs typeface="Cascadia Code Light" panose="020B0609020000020004" pitchFamily="49" charset="0"/>
                  </a:rPr>
                  <a:t>β</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a:t>
                </a:r>
                <a:r>
                  <a:rPr lang="en-US" sz="2000" dirty="0">
                    <a:latin typeface="Cascadia Code Light" panose="020B0609020000020004" pitchFamily="49" charset="0"/>
                    <a:cs typeface="Cascadia Code Light" panose="020B0609020000020004" pitchFamily="49" charset="0"/>
                  </a:rPr>
                  <a:t>and </a:t>
                </a:r>
                <a:r>
                  <a:rPr lang="en-US" sz="2000" dirty="0" err="1" smtClean="0">
                    <a:latin typeface="Cascadia Code Light" panose="020B0609020000020004" pitchFamily="49" charset="0"/>
                    <a:cs typeface="Cascadia Code Light" panose="020B0609020000020004" pitchFamily="49" charset="0"/>
                  </a:rPr>
                  <a:t>dƔ</a:t>
                </a:r>
                <a:r>
                  <a:rPr lang="en-US" sz="2000" baseline="30000" dirty="0" smtClean="0">
                    <a:latin typeface="Cascadia Code Light" panose="020B0609020000020004" pitchFamily="49" charset="0"/>
                    <a:cs typeface="Cascadia Code Light" panose="020B0609020000020004" pitchFamily="49" charset="0"/>
                  </a:rPr>
                  <a:t>[l]</a:t>
                </a:r>
                <a:endParaRPr lang="en-US" sz="2000" dirty="0">
                  <a:latin typeface="Cascadia Code Light" panose="020B0609020000020004" pitchFamily="49" charset="0"/>
                  <a:cs typeface="Cascadia Code Light" panose="020B0609020000020004" pitchFamily="49" charset="0"/>
                </a:endParaRPr>
              </a:p>
              <a:p>
                <a:r>
                  <a:rPr lang="en-US" sz="2000" dirty="0">
                    <a:latin typeface="Cascadia Code Light" panose="020B0609020000020004" pitchFamily="49" charset="0"/>
                    <a:cs typeface="Cascadia Code Light" panose="020B0609020000020004" pitchFamily="49" charset="0"/>
                  </a:rPr>
                  <a:t>    Update the parameters:</a:t>
                </a:r>
              </a:p>
              <a:p>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W</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a:t>
                </a:r>
                <a:r>
                  <a:rPr lang="en-US" sz="2000" dirty="0">
                    <a:latin typeface="Cascadia Code Light" panose="020B0609020000020004" pitchFamily="49" charset="0"/>
                    <a:cs typeface="Cascadia Code Light" panose="020B0609020000020004" pitchFamily="49" charset="0"/>
                  </a:rPr>
                  <a:t>= W</a:t>
                </a:r>
                <a:r>
                  <a:rPr lang="en-US" sz="2000" baseline="30000" dirty="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a:t>
                </a:r>
                <a:r>
                  <a:rPr lang="en-US" sz="2000" dirty="0">
                    <a:latin typeface="Cascadia Code Light" panose="020B0609020000020004" pitchFamily="49" charset="0"/>
                    <a:cs typeface="Cascadia Code Light" panose="020B0609020000020004" pitchFamily="49" charset="0"/>
                  </a:rPr>
                  <a:t>- </a:t>
                </a:r>
                <a14:m>
                  <m:oMath xmlns:m="http://schemas.openxmlformats.org/officeDocument/2006/math">
                    <m:r>
                      <a:rPr lang="en-US" sz="2000" i="1" smtClean="0">
                        <a:latin typeface="Cambria Math" panose="02040503050406030204" pitchFamily="18" charset="0"/>
                        <a:ea typeface="Cambria Math" panose="02040503050406030204" pitchFamily="18" charset="0"/>
                        <a:cs typeface="Cascadia Code Light" panose="020B0609020000020004" pitchFamily="49" charset="0"/>
                      </a:rPr>
                      <m:t>𝛼</m:t>
                    </m:r>
                  </m:oMath>
                </a14:m>
                <a:r>
                  <a:rPr lang="el-GR" sz="2000" dirty="0" smtClean="0">
                    <a:latin typeface="Cascadia Code Light" panose="020B0609020000020004" pitchFamily="49" charset="0"/>
                    <a:cs typeface="Cascadia Code Light" panose="020B0609020000020004" pitchFamily="49" charset="0"/>
                  </a:rPr>
                  <a:t>*</a:t>
                </a:r>
                <a:r>
                  <a:rPr lang="en-US" sz="2000" dirty="0" err="1" smtClean="0">
                    <a:latin typeface="Cascadia Code Light" panose="020B0609020000020004" pitchFamily="49" charset="0"/>
                    <a:cs typeface="Cascadia Code Light" panose="020B0609020000020004" pitchFamily="49" charset="0"/>
                  </a:rPr>
                  <a:t>dW</a:t>
                </a:r>
                <a:r>
                  <a:rPr lang="en-US" sz="2000" baseline="30000" dirty="0" smtClean="0">
                    <a:latin typeface="Cascadia Code Light" panose="020B0609020000020004" pitchFamily="49" charset="0"/>
                    <a:cs typeface="Cascadia Code Light" panose="020B0609020000020004" pitchFamily="49" charset="0"/>
                  </a:rPr>
                  <a:t>[l</a:t>
                </a:r>
                <a:r>
                  <a:rPr lang="en-US" sz="2000" baseline="30000" dirty="0">
                    <a:latin typeface="Cascadia Code Light" panose="020B0609020000020004" pitchFamily="49" charset="0"/>
                    <a:cs typeface="Cascadia Code Light" panose="020B0609020000020004" pitchFamily="49" charset="0"/>
                  </a:rPr>
                  <a:t>]</a:t>
                </a:r>
                <a:endParaRPr lang="en-US" sz="2000" dirty="0">
                  <a:latin typeface="Cascadia Code Light" panose="020B0609020000020004" pitchFamily="49" charset="0"/>
                  <a:cs typeface="Cascadia Code Light" panose="020B0609020000020004" pitchFamily="49" charset="0"/>
                </a:endParaRPr>
              </a:p>
              <a:p>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a:t>
                </a:r>
                <a:r>
                  <a:rPr lang="el-GR" sz="2000" dirty="0" smtClean="0">
                    <a:latin typeface="Cascadia Code Light" panose="020B0609020000020004" pitchFamily="49" charset="0"/>
                    <a:cs typeface="Cascadia Code Light" panose="020B0609020000020004" pitchFamily="49" charset="0"/>
                  </a:rPr>
                  <a:t>β</a:t>
                </a:r>
                <a:r>
                  <a:rPr lang="en-US" sz="2000" baseline="30000" dirty="0" smtClean="0">
                    <a:latin typeface="Cascadia Code Light" panose="020B0609020000020004" pitchFamily="49" charset="0"/>
                    <a:cs typeface="Cascadia Code Light" panose="020B0609020000020004" pitchFamily="49" charset="0"/>
                  </a:rPr>
                  <a:t>[l]</a:t>
                </a:r>
                <a:r>
                  <a:rPr lang="en-US" sz="2000" dirty="0" smtClean="0">
                    <a:latin typeface="Cascadia Code Light" panose="020B0609020000020004" pitchFamily="49" charset="0"/>
                    <a:cs typeface="Cascadia Code Light" panose="020B0609020000020004" pitchFamily="49" charset="0"/>
                  </a:rPr>
                  <a:t> </a:t>
                </a:r>
                <a:r>
                  <a:rPr lang="en-US" sz="2000" dirty="0">
                    <a:latin typeface="Cascadia Code Light" panose="020B0609020000020004" pitchFamily="49" charset="0"/>
                    <a:cs typeface="Cascadia Code Light" panose="020B0609020000020004" pitchFamily="49" charset="0"/>
                  </a:rPr>
                  <a:t>= </a:t>
                </a:r>
                <a:r>
                  <a:rPr lang="el-GR" sz="2000" dirty="0" smtClean="0">
                    <a:latin typeface="Cascadia Code Light" panose="020B0609020000020004" pitchFamily="49" charset="0"/>
                    <a:cs typeface="Cascadia Code Light" panose="020B0609020000020004" pitchFamily="49" charset="0"/>
                  </a:rPr>
                  <a:t>β</a:t>
                </a:r>
                <a:r>
                  <a:rPr lang="en-US" sz="2000" baseline="30000" dirty="0" smtClean="0">
                    <a:latin typeface="Cascadia Code Light" panose="020B0609020000020004" pitchFamily="49" charset="0"/>
                    <a:cs typeface="Cascadia Code Light" panose="020B0609020000020004" pitchFamily="49" charset="0"/>
                  </a:rPr>
                  <a:t>[l</a:t>
                </a:r>
                <a:r>
                  <a:rPr lang="en-US" sz="2000" baseline="30000" dirty="0">
                    <a:latin typeface="Cascadia Code Light" panose="020B0609020000020004" pitchFamily="49" charset="0"/>
                    <a:cs typeface="Cascadia Code Light" panose="020B0609020000020004" pitchFamily="49" charset="0"/>
                  </a:rPr>
                  <a:t>]</a:t>
                </a:r>
                <a:r>
                  <a:rPr lang="en-US" sz="2000" dirty="0">
                    <a:latin typeface="Cascadia Code Light" panose="020B0609020000020004" pitchFamily="49" charset="0"/>
                    <a:cs typeface="Cascadia Code Light" panose="020B0609020000020004" pitchFamily="49" charset="0"/>
                  </a:rPr>
                  <a:t> </a:t>
                </a:r>
                <a:r>
                  <a:rPr lang="en-US" sz="2000" dirty="0" smtClean="0">
                    <a:latin typeface="Cascadia Code Light" panose="020B0609020000020004" pitchFamily="49" charset="0"/>
                    <a:cs typeface="Cascadia Code Light" panose="020B0609020000020004" pitchFamily="49"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Cascadia Code Light" panose="020B0609020000020004" pitchFamily="49" charset="0"/>
                      </a:rPr>
                      <m:t>𝛼</m:t>
                    </m:r>
                    <m:r>
                      <a:rPr lang="en-US" sz="2000" i="1">
                        <a:latin typeface="Cambria Math" panose="02040503050406030204" pitchFamily="18" charset="0"/>
                        <a:ea typeface="Cambria Math" panose="02040503050406030204" pitchFamily="18" charset="0"/>
                        <a:cs typeface="Cascadia Code Light" panose="020B0609020000020004" pitchFamily="49" charset="0"/>
                      </a:rPr>
                      <m:t> </m:t>
                    </m:r>
                  </m:oMath>
                </a14:m>
                <a:r>
                  <a:rPr lang="el-GR" sz="2000" dirty="0" smtClean="0">
                    <a:latin typeface="Cascadia Code Light" panose="020B0609020000020004" pitchFamily="49" charset="0"/>
                    <a:cs typeface="Cascadia Code Light" panose="020B0609020000020004" pitchFamily="49" charset="0"/>
                  </a:rPr>
                  <a:t>*</a:t>
                </a:r>
                <a:r>
                  <a:rPr lang="en-US" sz="2000" dirty="0" smtClean="0">
                    <a:latin typeface="Cascadia Code Light" panose="020B0609020000020004" pitchFamily="49" charset="0"/>
                    <a:cs typeface="Cascadia Code Light" panose="020B0609020000020004" pitchFamily="49" charset="0"/>
                  </a:rPr>
                  <a:t>d</a:t>
                </a:r>
                <a:r>
                  <a:rPr lang="el-GR" sz="2000" dirty="0" smtClean="0">
                    <a:latin typeface="Cascadia Code Light" panose="020B0609020000020004" pitchFamily="49" charset="0"/>
                    <a:cs typeface="Cascadia Code Light" panose="020B0609020000020004" pitchFamily="49" charset="0"/>
                  </a:rPr>
                  <a:t>β</a:t>
                </a:r>
                <a:r>
                  <a:rPr lang="en-US" sz="2000" baseline="30000" dirty="0" smtClean="0">
                    <a:latin typeface="Cascadia Code Light" panose="020B0609020000020004" pitchFamily="49" charset="0"/>
                    <a:cs typeface="Cascadia Code Light" panose="020B0609020000020004" pitchFamily="49" charset="0"/>
                  </a:rPr>
                  <a:t>[l]</a:t>
                </a:r>
                <a:endParaRPr lang="en-US" sz="2000" dirty="0">
                  <a:latin typeface="Cascadia Code Light" panose="020B0609020000020004" pitchFamily="49" charset="0"/>
                  <a:cs typeface="Cascadia Code Light" panose="020B0609020000020004" pitchFamily="49"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78069" y="1160585"/>
                <a:ext cx="11579469" cy="2246769"/>
              </a:xfrm>
              <a:prstGeom prst="rect">
                <a:avLst/>
              </a:prstGeom>
              <a:blipFill>
                <a:blip r:embed="rId3"/>
                <a:stretch>
                  <a:fillRect l="-526" t="-1355" b="-3794"/>
                </a:stretch>
              </a:blipFill>
            </p:spPr>
            <p:txBody>
              <a:bodyPr/>
              <a:lstStyle/>
              <a:p>
                <a:r>
                  <a:rPr lang="en-US">
                    <a:noFill/>
                  </a:rPr>
                  <a:t> </a:t>
                </a:r>
              </a:p>
            </p:txBody>
          </p:sp>
        </mc:Fallback>
      </mc:AlternateContent>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smtClean="0">
                <a:latin typeface="+mj-lt"/>
                <a:ea typeface="Cambria"/>
                <a:cs typeface="Cambria"/>
                <a:sym typeface="Cambria"/>
              </a:rPr>
              <a:t>Implementing gradient descent</a:t>
            </a:r>
            <a:endParaRPr lang="en-US" sz="4400" dirty="0">
              <a:latin typeface="+mj-lt"/>
              <a:ea typeface="Cambria"/>
              <a:cs typeface="Cambria"/>
              <a:sym typeface="Cambria"/>
            </a:endParaRPr>
          </a:p>
        </p:txBody>
      </p:sp>
      <p:pic>
        <p:nvPicPr>
          <p:cNvPr id="62" name="Google Shape;62;p3"/>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24</a:t>
            </a:fld>
            <a:endParaRPr>
              <a:latin typeface="+mj-lt"/>
            </a:endParaRPr>
          </a:p>
        </p:txBody>
      </p:sp>
    </p:spTree>
    <p:extLst>
      <p:ext uri="{BB962C8B-B14F-4D97-AF65-F5344CB8AC3E}">
        <p14:creationId xmlns:p14="http://schemas.microsoft.com/office/powerpoint/2010/main" val="1607420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95"/>
        <p:cNvGrpSpPr/>
        <p:nvPr/>
      </p:nvGrpSpPr>
      <p:grpSpPr>
        <a:xfrm>
          <a:off x="0" y="0"/>
          <a:ext cx="0" cy="0"/>
          <a:chOff x="0" y="0"/>
          <a:chExt cx="0" cy="0"/>
        </a:xfrm>
      </p:grpSpPr>
      <p:sp>
        <p:nvSpPr>
          <p:cNvPr id="296" name="Google Shape;296;p22"/>
          <p:cNvSpPr txBox="1">
            <a:spLocks noGrp="1"/>
          </p:cNvSpPr>
          <p:nvPr>
            <p:ph type="title"/>
          </p:nvPr>
        </p:nvSpPr>
        <p:spPr>
          <a:xfrm>
            <a:off x="1564425" y="1170075"/>
            <a:ext cx="9518700" cy="2109808"/>
          </a:xfrm>
          <a:prstGeom prst="rect">
            <a:avLst/>
          </a:prstGeom>
          <a:noFill/>
          <a:ln>
            <a:noFill/>
          </a:ln>
        </p:spPr>
        <p:txBody>
          <a:bodyPr spcFirstLastPara="1" wrap="square" lIns="0" tIns="114300" rIns="0" bIns="0" anchor="t" anchorCtr="0">
            <a:spAutoFit/>
          </a:bodyPr>
          <a:lstStyle/>
          <a:p>
            <a:pPr marL="4759325" marR="5080" lvl="0" indent="1285240" algn="l" rtl="0">
              <a:lnSpc>
                <a:spcPct val="108333"/>
              </a:lnSpc>
              <a:spcBef>
                <a:spcPts val="0"/>
              </a:spcBef>
              <a:spcAft>
                <a:spcPts val="0"/>
              </a:spcAft>
              <a:buSzPts val="1400"/>
              <a:buNone/>
            </a:pPr>
            <a:r>
              <a:rPr lang="en-US" dirty="0">
                <a:latin typeface="+mj-lt"/>
              </a:rPr>
              <a:t>Batch Normalization</a:t>
            </a:r>
            <a:endParaRPr dirty="0">
              <a:latin typeface="+mj-lt"/>
            </a:endParaRPr>
          </a:p>
        </p:txBody>
      </p:sp>
      <p:sp>
        <p:nvSpPr>
          <p:cNvPr id="297" name="Google Shape;297;p22"/>
          <p:cNvSpPr txBox="1"/>
          <p:nvPr/>
        </p:nvSpPr>
        <p:spPr>
          <a:xfrm>
            <a:off x="5417075" y="3743458"/>
            <a:ext cx="6357600" cy="2022590"/>
          </a:xfrm>
          <a:prstGeom prst="rect">
            <a:avLst/>
          </a:prstGeom>
          <a:noFill/>
          <a:ln>
            <a:noFill/>
          </a:ln>
        </p:spPr>
        <p:txBody>
          <a:bodyPr spcFirstLastPara="1" wrap="square" lIns="0" tIns="27925" rIns="0" bIns="0" anchor="t" anchorCtr="0">
            <a:spAutoFit/>
          </a:bodyPr>
          <a:lstStyle/>
          <a:p>
            <a:pPr marL="12700" marR="5080" lvl="0" indent="1482090" algn="l"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Why does Batch Norm work?</a:t>
            </a:r>
            <a:endParaRPr sz="5400" b="0" i="0" u="none" strike="noStrike" cap="none" dirty="0">
              <a:solidFill>
                <a:srgbClr val="000000"/>
              </a:solidFill>
              <a:latin typeface="+mj-lt"/>
              <a:ea typeface="Calibri"/>
              <a:cs typeface="Calibri"/>
              <a:sym typeface="Calibri"/>
            </a:endParaRPr>
          </a:p>
        </p:txBody>
      </p:sp>
      <p:sp>
        <p:nvSpPr>
          <p:cNvPr id="298" name="Google Shape;298;p2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299" name="Google Shape;299;p2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00" name="Google Shape;300;p2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25</a:t>
            </a:fld>
            <a:endParaRPr>
              <a:latin typeface="+mj-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3" name="TextBox 2"/>
          <p:cNvSpPr txBox="1"/>
          <p:nvPr/>
        </p:nvSpPr>
        <p:spPr>
          <a:xfrm>
            <a:off x="378069" y="1160585"/>
            <a:ext cx="11579469" cy="4339650"/>
          </a:xfrm>
          <a:prstGeom prst="rect">
            <a:avLst/>
          </a:prstGeom>
          <a:noFill/>
        </p:spPr>
        <p:txBody>
          <a:bodyPr wrap="square" rtlCol="0">
            <a:spAutoFit/>
          </a:bodyPr>
          <a:lstStyle/>
          <a:p>
            <a:pPr marL="342900" indent="-342900">
              <a:buFont typeface="Arial" panose="020B0604020202020204" pitchFamily="34" charset="0"/>
              <a:buChar char="•"/>
            </a:pPr>
            <a:r>
              <a:rPr lang="en-US" sz="2400" dirty="0" smtClean="0">
                <a:latin typeface="+mn-lt"/>
                <a:cs typeface="Cascadia Code Light" panose="020B0609020000020004" pitchFamily="49" charset="0"/>
              </a:rPr>
              <a:t>The </a:t>
            </a:r>
            <a:r>
              <a:rPr lang="en-US" sz="2400" dirty="0">
                <a:latin typeface="+mn-lt"/>
                <a:cs typeface="Cascadia Code Light" panose="020B0609020000020004" pitchFamily="49" charset="0"/>
              </a:rPr>
              <a:t>first reason is the same reason as why we normalize X</a:t>
            </a:r>
            <a:r>
              <a:rPr lang="en-US" sz="2400" dirty="0" smtClean="0">
                <a:latin typeface="+mn-lt"/>
                <a:cs typeface="Cascadia Code Light" panose="020B0609020000020004" pitchFamily="49" charset="0"/>
              </a:rPr>
              <a:t>.</a:t>
            </a:r>
          </a:p>
          <a:p>
            <a:pPr marL="342900" indent="-342900">
              <a:buFont typeface="Arial" panose="020B0604020202020204" pitchFamily="34" charset="0"/>
              <a:buChar char="•"/>
            </a:pPr>
            <a:r>
              <a:rPr lang="en-US" sz="2400" dirty="0" smtClean="0">
                <a:latin typeface="+mn-lt"/>
                <a:cs typeface="Cascadia Code Light" panose="020B0609020000020004" pitchFamily="49" charset="0"/>
              </a:rPr>
              <a:t>The </a:t>
            </a:r>
            <a:r>
              <a:rPr lang="en-US" sz="2400" dirty="0">
                <a:latin typeface="+mn-lt"/>
                <a:cs typeface="Cascadia Code Light" panose="020B0609020000020004" pitchFamily="49" charset="0"/>
              </a:rPr>
              <a:t>second reason is that batch normalization reduces the problem of input values changing (shifting</a:t>
            </a:r>
            <a:r>
              <a:rPr lang="en-US" sz="2400" dirty="0" smtClean="0">
                <a:latin typeface="+mn-lt"/>
                <a:cs typeface="Cascadia Code Light" panose="020B0609020000020004" pitchFamily="49" charset="0"/>
              </a:rPr>
              <a:t>).</a:t>
            </a:r>
          </a:p>
          <a:p>
            <a:pPr marL="342900" indent="-342900">
              <a:buFont typeface="Arial" panose="020B0604020202020204" pitchFamily="34" charset="0"/>
              <a:buChar char="•"/>
            </a:pPr>
            <a:r>
              <a:rPr lang="en-US" sz="2400" dirty="0" smtClean="0">
                <a:latin typeface="+mn-lt"/>
                <a:cs typeface="Cascadia Code Light" panose="020B0609020000020004" pitchFamily="49" charset="0"/>
              </a:rPr>
              <a:t>Batch </a:t>
            </a:r>
            <a:r>
              <a:rPr lang="en-US" sz="2400" dirty="0">
                <a:latin typeface="+mn-lt"/>
                <a:cs typeface="Cascadia Code Light" panose="020B0609020000020004" pitchFamily="49" charset="0"/>
              </a:rPr>
              <a:t>normalization does some </a:t>
            </a:r>
            <a:r>
              <a:rPr lang="en-US" sz="2400" dirty="0" smtClean="0">
                <a:latin typeface="+mn-lt"/>
                <a:cs typeface="Cascadia Code Light" panose="020B0609020000020004" pitchFamily="49" charset="0"/>
              </a:rPr>
              <a:t>regularization:</a:t>
            </a:r>
          </a:p>
          <a:p>
            <a:pPr lvl="3"/>
            <a:r>
              <a:rPr lang="en-US" sz="2000" dirty="0">
                <a:latin typeface="+mn-lt"/>
                <a:cs typeface="Cascadia Code Light" panose="020B0609020000020004" pitchFamily="49" charset="0"/>
              </a:rPr>
              <a:t>	</a:t>
            </a:r>
            <a:r>
              <a:rPr lang="en-US" sz="2000" dirty="0" smtClean="0">
                <a:latin typeface="+mn-lt"/>
                <a:cs typeface="Cascadia Code Light" panose="020B0609020000020004" pitchFamily="49" charset="0"/>
              </a:rPr>
              <a:t>- Each </a:t>
            </a:r>
            <a:r>
              <a:rPr lang="en-US" sz="2000" dirty="0">
                <a:latin typeface="+mn-lt"/>
                <a:cs typeface="Cascadia Code Light" panose="020B0609020000020004" pitchFamily="49" charset="0"/>
              </a:rPr>
              <a:t>mini batch is scaled by the mean/variance computed of that </a:t>
            </a:r>
            <a:r>
              <a:rPr lang="en-US" sz="2000" dirty="0" smtClean="0">
                <a:latin typeface="+mn-lt"/>
                <a:cs typeface="Cascadia Code Light" panose="020B0609020000020004" pitchFamily="49" charset="0"/>
              </a:rPr>
              <a:t>mini-batch.</a:t>
            </a:r>
          </a:p>
          <a:p>
            <a:r>
              <a:rPr lang="en-US" sz="2000" dirty="0" smtClean="0">
                <a:latin typeface="+mn-lt"/>
                <a:cs typeface="Cascadia Code Light" panose="020B0609020000020004" pitchFamily="49" charset="0"/>
              </a:rPr>
              <a:t>	- This </a:t>
            </a:r>
            <a:r>
              <a:rPr lang="en-US" sz="2000" dirty="0">
                <a:latin typeface="+mn-lt"/>
                <a:cs typeface="Cascadia Code Light" panose="020B0609020000020004" pitchFamily="49" charset="0"/>
              </a:rPr>
              <a:t>adds some noise to the values </a:t>
            </a:r>
            <a:r>
              <a:rPr lang="en-US" sz="2000" dirty="0" smtClean="0">
                <a:latin typeface="+mn-lt"/>
                <a:cs typeface="Cascadia Code Light" panose="020B0609020000020004" pitchFamily="49" charset="0"/>
              </a:rPr>
              <a:t>Z</a:t>
            </a:r>
            <a:r>
              <a:rPr lang="en-US" sz="2000" baseline="30000" dirty="0" smtClean="0">
                <a:latin typeface="+mn-lt"/>
                <a:cs typeface="Cascadia Code Light" panose="020B0609020000020004" pitchFamily="49" charset="0"/>
              </a:rPr>
              <a:t>[l]</a:t>
            </a:r>
            <a:r>
              <a:rPr lang="en-US" sz="2000" dirty="0" smtClean="0">
                <a:latin typeface="+mn-lt"/>
                <a:cs typeface="Cascadia Code Light" panose="020B0609020000020004" pitchFamily="49" charset="0"/>
              </a:rPr>
              <a:t> </a:t>
            </a:r>
            <a:r>
              <a:rPr lang="en-US" sz="2000" dirty="0">
                <a:latin typeface="+mn-lt"/>
                <a:cs typeface="Cascadia Code Light" panose="020B0609020000020004" pitchFamily="49" charset="0"/>
              </a:rPr>
              <a:t>within that mini batch. So similar to dropout it adds </a:t>
            </a:r>
            <a:r>
              <a:rPr lang="en-US" sz="2000" dirty="0" smtClean="0">
                <a:latin typeface="+mn-lt"/>
                <a:cs typeface="Cascadia Code Light" panose="020B0609020000020004" pitchFamily="49" charset="0"/>
              </a:rPr>
              <a:t>	some </a:t>
            </a:r>
            <a:r>
              <a:rPr lang="en-US" sz="2000" dirty="0">
                <a:latin typeface="+mn-lt"/>
                <a:cs typeface="Cascadia Code Light" panose="020B0609020000020004" pitchFamily="49" charset="0"/>
              </a:rPr>
              <a:t>noise to each hidden layer's </a:t>
            </a:r>
            <a:r>
              <a:rPr lang="en-US" sz="2000" dirty="0" smtClean="0">
                <a:latin typeface="+mn-lt"/>
                <a:cs typeface="Cascadia Code Light" panose="020B0609020000020004" pitchFamily="49" charset="0"/>
              </a:rPr>
              <a:t>activations.</a:t>
            </a:r>
          </a:p>
          <a:p>
            <a:r>
              <a:rPr lang="en-US" sz="2000" dirty="0" smtClean="0">
                <a:latin typeface="+mn-lt"/>
                <a:cs typeface="Cascadia Code Light" panose="020B0609020000020004" pitchFamily="49" charset="0"/>
              </a:rPr>
              <a:t>	- This </a:t>
            </a:r>
            <a:r>
              <a:rPr lang="en-US" sz="2000" dirty="0">
                <a:latin typeface="+mn-lt"/>
                <a:cs typeface="Cascadia Code Light" panose="020B0609020000020004" pitchFamily="49" charset="0"/>
              </a:rPr>
              <a:t>has a slight regularization </a:t>
            </a:r>
            <a:r>
              <a:rPr lang="en-US" sz="2000" dirty="0" smtClean="0">
                <a:latin typeface="+mn-lt"/>
                <a:cs typeface="Cascadia Code Light" panose="020B0609020000020004" pitchFamily="49" charset="0"/>
              </a:rPr>
              <a:t>effect.</a:t>
            </a:r>
          </a:p>
          <a:p>
            <a:r>
              <a:rPr lang="en-US" sz="2000" dirty="0" smtClean="0">
                <a:latin typeface="+mn-lt"/>
                <a:cs typeface="Cascadia Code Light" panose="020B0609020000020004" pitchFamily="49" charset="0"/>
              </a:rPr>
              <a:t>	- Using </a:t>
            </a:r>
            <a:r>
              <a:rPr lang="en-US" sz="2000" dirty="0">
                <a:latin typeface="+mn-lt"/>
                <a:cs typeface="Cascadia Code Light" panose="020B0609020000020004" pitchFamily="49" charset="0"/>
              </a:rPr>
              <a:t>bigger size of the mini-batch you are reducing noise and therefore regularization </a:t>
            </a:r>
            <a:r>
              <a:rPr lang="en-US" sz="2000" dirty="0" smtClean="0">
                <a:latin typeface="+mn-lt"/>
                <a:cs typeface="Cascadia Code Light" panose="020B0609020000020004" pitchFamily="49" charset="0"/>
              </a:rPr>
              <a:t>	effect.</a:t>
            </a:r>
          </a:p>
          <a:p>
            <a:r>
              <a:rPr lang="en-US" sz="2000" dirty="0" smtClean="0">
                <a:latin typeface="+mn-lt"/>
                <a:cs typeface="Cascadia Code Light" panose="020B0609020000020004" pitchFamily="49" charset="0"/>
              </a:rPr>
              <a:t>	- Don't </a:t>
            </a:r>
            <a:r>
              <a:rPr lang="en-US" sz="2000" dirty="0">
                <a:latin typeface="+mn-lt"/>
                <a:cs typeface="Cascadia Code Light" panose="020B0609020000020004" pitchFamily="49" charset="0"/>
              </a:rPr>
              <a:t>rely on batch normalization as a regularization. It's intended for normalization of </a:t>
            </a:r>
            <a:r>
              <a:rPr lang="en-US" sz="2000" dirty="0" smtClean="0">
                <a:latin typeface="+mn-lt"/>
                <a:cs typeface="Cascadia Code Light" panose="020B0609020000020004" pitchFamily="49" charset="0"/>
              </a:rPr>
              <a:t>	hidden 	units</a:t>
            </a:r>
            <a:r>
              <a:rPr lang="en-US" sz="2000" dirty="0">
                <a:latin typeface="+mn-lt"/>
                <a:cs typeface="Cascadia Code Light" panose="020B0609020000020004" pitchFamily="49" charset="0"/>
              </a:rPr>
              <a:t>, activations and therefore speeding up learning. For regularization use other </a:t>
            </a:r>
            <a:r>
              <a:rPr lang="en-US" sz="2000" dirty="0" smtClean="0">
                <a:latin typeface="+mn-lt"/>
                <a:cs typeface="Cascadia Code Light" panose="020B0609020000020004" pitchFamily="49" charset="0"/>
              </a:rPr>
              <a:t>	regularization </a:t>
            </a:r>
            <a:r>
              <a:rPr lang="en-US" sz="2000" dirty="0">
                <a:latin typeface="+mn-lt"/>
                <a:cs typeface="Cascadia Code Light" panose="020B0609020000020004" pitchFamily="49" charset="0"/>
              </a:rPr>
              <a:t>techniques (L2 or dropout).</a:t>
            </a:r>
          </a:p>
        </p:txBody>
      </p:sp>
      <p:sp>
        <p:nvSpPr>
          <p:cNvPr id="60" name="Google Shape;60;p3"/>
          <p:cNvSpPr txBox="1">
            <a:spLocks noGrp="1"/>
          </p:cNvSpPr>
          <p:nvPr>
            <p:ph type="title"/>
          </p:nvPr>
        </p:nvSpPr>
        <p:spPr>
          <a:xfrm>
            <a:off x="246122" y="170700"/>
            <a:ext cx="1099924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Why does Batch Norm work?</a:t>
            </a:r>
          </a:p>
        </p:txBody>
      </p:sp>
      <p:pic>
        <p:nvPicPr>
          <p:cNvPr id="62" name="Google Shape;62;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63" name="Google Shape;63;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26</a:t>
            </a:fld>
            <a:endParaRPr>
              <a:latin typeface="+mj-lt"/>
            </a:endParaRPr>
          </a:p>
        </p:txBody>
      </p:sp>
    </p:spTree>
    <p:extLst>
      <p:ext uri="{BB962C8B-B14F-4D97-AF65-F5344CB8AC3E}">
        <p14:creationId xmlns:p14="http://schemas.microsoft.com/office/powerpoint/2010/main" val="3302048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492369" y="1825350"/>
            <a:ext cx="11271739" cy="2121350"/>
          </a:xfrm>
          <a:prstGeom prst="rect">
            <a:avLst/>
          </a:prstGeom>
          <a:noFill/>
          <a:ln>
            <a:noFill/>
          </a:ln>
        </p:spPr>
        <p:txBody>
          <a:bodyPr spcFirstLastPara="1" wrap="square" lIns="0" tIns="63500" rIns="0" bIns="0" anchor="t" anchorCtr="0">
            <a:spAutoFit/>
          </a:bodyPr>
          <a:lstStyle/>
          <a:p>
            <a:pPr marL="254000" marR="316865" lvl="0" indent="-229234" algn="l" rtl="0">
              <a:lnSpc>
                <a:spcPct val="109375"/>
              </a:lnSpc>
              <a:spcBef>
                <a:spcPts val="0"/>
              </a:spcBef>
              <a:spcAft>
                <a:spcPts val="0"/>
              </a:spcAft>
              <a:buClr>
                <a:srgbClr val="000000"/>
              </a:buClr>
              <a:buSzPts val="3200"/>
              <a:buFont typeface="Arial"/>
              <a:buChar char="•"/>
            </a:pPr>
            <a:r>
              <a:rPr lang="en-US" sz="2400" b="0" i="0" u="none" strike="noStrike" cap="none" dirty="0">
                <a:solidFill>
                  <a:srgbClr val="000000"/>
                </a:solidFill>
                <a:latin typeface="+mj-lt"/>
                <a:ea typeface="Calibri"/>
                <a:cs typeface="Calibri"/>
                <a:sym typeface="Calibri"/>
              </a:rPr>
              <a:t>Each mini-batch is scaled by the mean/variance computed on just that mini-batch.</a:t>
            </a:r>
            <a:endParaRPr sz="2400" b="0" i="0" u="none" strike="noStrike" cap="none" dirty="0">
              <a:solidFill>
                <a:srgbClr val="000000"/>
              </a:solidFill>
              <a:latin typeface="+mj-lt"/>
              <a:ea typeface="Calibri"/>
              <a:cs typeface="Calibri"/>
              <a:sym typeface="Calibri"/>
            </a:endParaRPr>
          </a:p>
          <a:p>
            <a:pPr marL="253365" marR="17780" lvl="0" indent="-228600" algn="l" rtl="0">
              <a:lnSpc>
                <a:spcPct val="89800"/>
              </a:lnSpc>
              <a:spcBef>
                <a:spcPts val="1090"/>
              </a:spcBef>
              <a:spcAft>
                <a:spcPts val="0"/>
              </a:spcAft>
              <a:buClr>
                <a:srgbClr val="000000"/>
              </a:buClr>
              <a:buSzPts val="3200"/>
              <a:buFont typeface="Arial"/>
              <a:buChar char="•"/>
            </a:pPr>
            <a:r>
              <a:rPr lang="en-US" sz="2400" b="0" i="0" u="none" strike="noStrike" cap="none" dirty="0">
                <a:solidFill>
                  <a:srgbClr val="000000"/>
                </a:solidFill>
                <a:latin typeface="+mj-lt"/>
                <a:ea typeface="Calibri"/>
                <a:cs typeface="Calibri"/>
                <a:sym typeface="Calibri"/>
              </a:rPr>
              <a:t>This adds some noise to the values </a:t>
            </a:r>
            <a:r>
              <a:rPr lang="en-US" sz="2400" b="0" i="0" u="none" strike="noStrike" cap="none" dirty="0">
                <a:solidFill>
                  <a:srgbClr val="000000"/>
                </a:solidFill>
                <a:latin typeface="+mj-lt"/>
                <a:ea typeface="Cambria Math"/>
                <a:cs typeface="Cambria Math"/>
                <a:sym typeface="Cambria Math"/>
              </a:rPr>
              <a:t>Z</a:t>
            </a:r>
            <a:r>
              <a:rPr lang="en-US" sz="2400" b="0" i="0" u="none" strike="noStrike" cap="none" baseline="30000" dirty="0">
                <a:solidFill>
                  <a:srgbClr val="000000"/>
                </a:solidFill>
                <a:latin typeface="+mj-lt"/>
                <a:ea typeface="Cambria Math"/>
                <a:cs typeface="Cambria Math"/>
                <a:sym typeface="Cambria Math"/>
              </a:rPr>
              <a:t>[L] </a:t>
            </a:r>
            <a:r>
              <a:rPr lang="en-US" sz="2400" b="0" i="0" u="none" strike="noStrike" cap="none" dirty="0">
                <a:solidFill>
                  <a:srgbClr val="000000"/>
                </a:solidFill>
                <a:latin typeface="+mj-lt"/>
                <a:ea typeface="Calibri"/>
                <a:cs typeface="Calibri"/>
                <a:sym typeface="Calibri"/>
              </a:rPr>
              <a:t>within that </a:t>
            </a:r>
            <a:r>
              <a:rPr lang="en-US" sz="2400" b="0" i="0" u="none" strike="noStrike" cap="none" dirty="0" err="1">
                <a:solidFill>
                  <a:srgbClr val="000000"/>
                </a:solidFill>
                <a:latin typeface="+mj-lt"/>
                <a:ea typeface="Calibri"/>
                <a:cs typeface="Calibri"/>
                <a:sym typeface="Calibri"/>
              </a:rPr>
              <a:t>minibatch</a:t>
            </a:r>
            <a:r>
              <a:rPr lang="en-US" sz="2400" b="0" i="0" u="none" strike="noStrike" cap="none" dirty="0">
                <a:solidFill>
                  <a:srgbClr val="000000"/>
                </a:solidFill>
                <a:latin typeface="+mj-lt"/>
                <a:ea typeface="Calibri"/>
                <a:cs typeface="Calibri"/>
                <a:sym typeface="Calibri"/>
              </a:rPr>
              <a:t>. So similar to dropout, it adds some noise to each hidden layer’s activations.</a:t>
            </a:r>
            <a:endParaRPr sz="2400" b="0" i="0" u="none" strike="noStrike" cap="none" dirty="0">
              <a:solidFill>
                <a:srgbClr val="000000"/>
              </a:solidFill>
              <a:latin typeface="+mj-lt"/>
              <a:ea typeface="Calibri"/>
              <a:cs typeface="Calibri"/>
              <a:sym typeface="Calibri"/>
            </a:endParaRPr>
          </a:p>
          <a:p>
            <a:pPr marL="253365" marR="0" lvl="0" indent="-228600" algn="l" rtl="0">
              <a:lnSpc>
                <a:spcPct val="100000"/>
              </a:lnSpc>
              <a:spcBef>
                <a:spcPts val="560"/>
              </a:spcBef>
              <a:spcAft>
                <a:spcPts val="0"/>
              </a:spcAft>
              <a:buClr>
                <a:srgbClr val="000000"/>
              </a:buClr>
              <a:buSzPts val="3200"/>
              <a:buFont typeface="Arial"/>
              <a:buChar char="•"/>
            </a:pPr>
            <a:r>
              <a:rPr lang="en-US" sz="2400" b="0" i="0" u="none" strike="noStrike" cap="none" dirty="0">
                <a:solidFill>
                  <a:srgbClr val="000000"/>
                </a:solidFill>
                <a:latin typeface="+mj-lt"/>
                <a:ea typeface="Calibri"/>
                <a:cs typeface="Calibri"/>
                <a:sym typeface="Calibri"/>
              </a:rPr>
              <a:t>This has a slight regularization effect.</a:t>
            </a:r>
            <a:endParaRPr sz="2400" b="0" i="0" u="none" strike="noStrike" cap="none" dirty="0">
              <a:solidFill>
                <a:srgbClr val="000000"/>
              </a:solidFill>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Batch Norm as regularization</a:t>
            </a:r>
            <a:endParaRPr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27</a:t>
            </a:fld>
            <a:endParaRPr>
              <a:latin typeface="+mj-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3"/>
          <p:cNvSpPr txBox="1">
            <a:spLocks noGrp="1"/>
          </p:cNvSpPr>
          <p:nvPr>
            <p:ph type="title"/>
          </p:nvPr>
        </p:nvSpPr>
        <p:spPr>
          <a:xfrm>
            <a:off x="1564423" y="1170063"/>
            <a:ext cx="9063152" cy="92333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latin typeface="+mj-lt"/>
            </a:endParaRPr>
          </a:p>
        </p:txBody>
      </p:sp>
      <p:sp>
        <p:nvSpPr>
          <p:cNvPr id="306" name="Google Shape;306;p23"/>
          <p:cNvSpPr txBox="1">
            <a:spLocks noGrp="1"/>
          </p:cNvSpPr>
          <p:nvPr>
            <p:ph type="body" idx="1"/>
          </p:nvPr>
        </p:nvSpPr>
        <p:spPr>
          <a:xfrm>
            <a:off x="1040040" y="1272794"/>
            <a:ext cx="10111918" cy="92333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endParaRPr>
              <a:latin typeface="+mj-lt"/>
            </a:endParaRPr>
          </a:p>
        </p:txBody>
      </p:sp>
      <p:pic>
        <p:nvPicPr>
          <p:cNvPr id="307" name="Google Shape;307;p23"/>
          <p:cNvPicPr preferRelativeResize="0"/>
          <p:nvPr/>
        </p:nvPicPr>
        <p:blipFill rotWithShape="1">
          <a:blip r:embed="rId3">
            <a:alphaModFix/>
          </a:blip>
          <a:srcRect/>
          <a:stretch/>
        </p:blipFill>
        <p:spPr>
          <a:xfrm>
            <a:off x="0" y="0"/>
            <a:ext cx="12192000" cy="6868026"/>
          </a:xfrm>
          <a:prstGeom prst="rect">
            <a:avLst/>
          </a:prstGeom>
          <a:noFill/>
          <a:ln>
            <a:noFill/>
          </a:ln>
        </p:spPr>
      </p:pic>
      <p:pic>
        <p:nvPicPr>
          <p:cNvPr id="308" name="Google Shape;308;p23"/>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309" name="Google Shape;30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28</a:t>
            </a:fld>
            <a:endParaRPr>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8" name="Google Shape;30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09" name="Google Shape;30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29</a:t>
            </a:fld>
            <a:endParaRPr>
              <a:latin typeface="+mj-lt"/>
            </a:endParaRPr>
          </a:p>
        </p:txBody>
      </p:sp>
      <p:pic>
        <p:nvPicPr>
          <p:cNvPr id="3" name="Picture 2">
            <a:extLst>
              <a:ext uri="{FF2B5EF4-FFF2-40B4-BE49-F238E27FC236}">
                <a16:creationId xmlns:a16="http://schemas.microsoft.com/office/drawing/2014/main" id="{D01B9BFA-22D7-7ECF-2538-5CF82980AAD2}"/>
              </a:ext>
            </a:extLst>
          </p:cNvPr>
          <p:cNvPicPr>
            <a:picLocks noChangeAspect="1"/>
          </p:cNvPicPr>
          <p:nvPr/>
        </p:nvPicPr>
        <p:blipFill>
          <a:blip r:embed="rId4"/>
          <a:stretch>
            <a:fillRect/>
          </a:stretch>
        </p:blipFill>
        <p:spPr>
          <a:xfrm>
            <a:off x="0" y="2049703"/>
            <a:ext cx="12192000" cy="4057041"/>
          </a:xfrm>
          <a:prstGeom prst="rect">
            <a:avLst/>
          </a:prstGeom>
        </p:spPr>
      </p:pic>
      <p:sp>
        <p:nvSpPr>
          <p:cNvPr id="4" name="TextBox 3">
            <a:extLst>
              <a:ext uri="{FF2B5EF4-FFF2-40B4-BE49-F238E27FC236}">
                <a16:creationId xmlns:a16="http://schemas.microsoft.com/office/drawing/2014/main" id="{8AD14D03-6A96-C61A-B4F2-78E89445B898}"/>
              </a:ext>
            </a:extLst>
          </p:cNvPr>
          <p:cNvSpPr txBox="1"/>
          <p:nvPr/>
        </p:nvSpPr>
        <p:spPr>
          <a:xfrm>
            <a:off x="9502" y="102462"/>
            <a:ext cx="10724971" cy="1446550"/>
          </a:xfrm>
          <a:prstGeom prst="rect">
            <a:avLst/>
          </a:prstGeom>
          <a:noFill/>
        </p:spPr>
        <p:txBody>
          <a:bodyPr wrap="square" rtlCol="0">
            <a:spAutoFit/>
          </a:bodyPr>
          <a:lstStyle/>
          <a:p>
            <a:r>
              <a:rPr lang="en-US" sz="4400" dirty="0">
                <a:latin typeface="+mj-lt"/>
              </a:rPr>
              <a:t>Why this is a problem with neural networks?</a:t>
            </a:r>
          </a:p>
        </p:txBody>
      </p:sp>
      <p:sp>
        <p:nvSpPr>
          <p:cNvPr id="5" name="Rectangle 4">
            <a:extLst>
              <a:ext uri="{FF2B5EF4-FFF2-40B4-BE49-F238E27FC236}">
                <a16:creationId xmlns:a16="http://schemas.microsoft.com/office/drawing/2014/main" id="{EFB1AB66-4C55-E770-03A0-061E3B0617F3}"/>
              </a:ext>
            </a:extLst>
          </p:cNvPr>
          <p:cNvSpPr/>
          <p:nvPr/>
        </p:nvSpPr>
        <p:spPr>
          <a:xfrm>
            <a:off x="310896" y="1791872"/>
            <a:ext cx="5312664" cy="41879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A850F8-B852-B73A-318E-0F47532E4D10}"/>
                  </a:ext>
                </a:extLst>
              </p:cNvPr>
              <p:cNvSpPr txBox="1"/>
              <p:nvPr/>
            </p:nvSpPr>
            <p:spPr>
              <a:xfrm>
                <a:off x="4812860" y="2334642"/>
                <a:ext cx="559127" cy="474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836967"/>
                              </a:solidFill>
                              <a:latin typeface="Cambria Math" panose="02040503050406030204" pitchFamily="18" charset="0"/>
                            </a:rPr>
                          </m:ctrlPr>
                        </m:sSubSupPr>
                        <m:e>
                          <m:r>
                            <a:rPr lang="en-US" sz="2400" i="1">
                              <a:latin typeface="Cambria Math" panose="02040503050406030204" pitchFamily="18" charset="0"/>
                            </a:rPr>
                            <m:t>𝑎</m:t>
                          </m:r>
                        </m:e>
                        <m:sub>
                          <m:r>
                            <a:rPr lang="en-US" sz="2400" b="0" i="0" smtClean="0">
                              <a:latin typeface="Cambria Math" panose="02040503050406030204" pitchFamily="18" charset="0"/>
                            </a:rPr>
                            <m:t>1</m:t>
                          </m:r>
                        </m:sub>
                        <m:sup>
                          <m:d>
                            <m:dPr>
                              <m:begChr m:val="["/>
                              <m:endChr m:val="]"/>
                              <m:ctrlPr>
                                <a:rPr lang="en-US" sz="2400" i="1">
                                  <a:solidFill>
                                    <a:srgbClr val="836967"/>
                                  </a:solidFill>
                                  <a:latin typeface="Cambria Math" panose="02040503050406030204" pitchFamily="18" charset="0"/>
                                </a:rPr>
                              </m:ctrlPr>
                            </m:dPr>
                            <m:e>
                              <m:r>
                                <a:rPr lang="en-US" sz="2400" i="0">
                                  <a:latin typeface="Cambria Math" panose="02040503050406030204" pitchFamily="18" charset="0"/>
                                </a:rPr>
                                <m:t>2</m:t>
                              </m:r>
                            </m:e>
                          </m:d>
                        </m:sup>
                      </m:sSubSup>
                    </m:oMath>
                  </m:oMathPara>
                </a14:m>
                <a:endParaRPr lang="en-US" sz="2400" dirty="0">
                  <a:latin typeface="+mj-lt"/>
                </a:endParaRPr>
              </a:p>
            </p:txBody>
          </p:sp>
        </mc:Choice>
        <mc:Fallback xmlns="">
          <p:sp>
            <p:nvSpPr>
              <p:cNvPr id="9" name="TextBox 8">
                <a:extLst>
                  <a:ext uri="{FF2B5EF4-FFF2-40B4-BE49-F238E27FC236}">
                    <a16:creationId xmlns:a16="http://schemas.microsoft.com/office/drawing/2014/main" id="{27A850F8-B852-B73A-318E-0F47532E4D10}"/>
                  </a:ext>
                </a:extLst>
              </p:cNvPr>
              <p:cNvSpPr txBox="1">
                <a:spLocks noRot="1" noChangeAspect="1" noMove="1" noResize="1" noEditPoints="1" noAdjustHandles="1" noChangeArrowheads="1" noChangeShapeType="1" noTextEdit="1"/>
              </p:cNvSpPr>
              <p:nvPr/>
            </p:nvSpPr>
            <p:spPr>
              <a:xfrm>
                <a:off x="4812860" y="2334642"/>
                <a:ext cx="559127" cy="47455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361C3B5-376E-2252-837A-59CB51943374}"/>
                  </a:ext>
                </a:extLst>
              </p:cNvPr>
              <p:cNvSpPr txBox="1"/>
              <p:nvPr/>
            </p:nvSpPr>
            <p:spPr>
              <a:xfrm>
                <a:off x="4812860" y="3181224"/>
                <a:ext cx="559127" cy="4628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836967"/>
                              </a:solidFill>
                              <a:latin typeface="Cambria Math" panose="02040503050406030204" pitchFamily="18" charset="0"/>
                            </a:rPr>
                          </m:ctrlPr>
                        </m:sSubSupPr>
                        <m:e>
                          <m:r>
                            <a:rPr lang="en-US" sz="2400" i="1">
                              <a:latin typeface="Cambria Math" panose="02040503050406030204" pitchFamily="18" charset="0"/>
                            </a:rPr>
                            <m:t>𝑎</m:t>
                          </m:r>
                        </m:e>
                        <m:sub>
                          <m:r>
                            <a:rPr lang="en-US" sz="2400" i="0">
                              <a:latin typeface="Cambria Math" panose="02040503050406030204" pitchFamily="18" charset="0"/>
                            </a:rPr>
                            <m:t>2</m:t>
                          </m:r>
                        </m:sub>
                        <m:sup>
                          <m:d>
                            <m:dPr>
                              <m:begChr m:val="["/>
                              <m:endChr m:val="]"/>
                              <m:ctrlPr>
                                <a:rPr lang="en-US" sz="2400" i="1">
                                  <a:solidFill>
                                    <a:srgbClr val="836967"/>
                                  </a:solidFill>
                                  <a:latin typeface="Cambria Math" panose="02040503050406030204" pitchFamily="18" charset="0"/>
                                </a:rPr>
                              </m:ctrlPr>
                            </m:dPr>
                            <m:e>
                              <m:r>
                                <a:rPr lang="en-US" sz="2400" i="0">
                                  <a:latin typeface="Cambria Math" panose="02040503050406030204" pitchFamily="18" charset="0"/>
                                </a:rPr>
                                <m:t>2</m:t>
                              </m:r>
                            </m:e>
                          </m:d>
                        </m:sup>
                      </m:sSubSup>
                    </m:oMath>
                  </m:oMathPara>
                </a14:m>
                <a:endParaRPr lang="en-US" sz="2400" dirty="0">
                  <a:latin typeface="+mj-lt"/>
                </a:endParaRPr>
              </a:p>
            </p:txBody>
          </p:sp>
        </mc:Choice>
        <mc:Fallback xmlns="">
          <p:sp>
            <p:nvSpPr>
              <p:cNvPr id="10" name="TextBox 9">
                <a:extLst>
                  <a:ext uri="{FF2B5EF4-FFF2-40B4-BE49-F238E27FC236}">
                    <a16:creationId xmlns:a16="http://schemas.microsoft.com/office/drawing/2014/main" id="{D361C3B5-376E-2252-837A-59CB51943374}"/>
                  </a:ext>
                </a:extLst>
              </p:cNvPr>
              <p:cNvSpPr txBox="1">
                <a:spLocks noRot="1" noChangeAspect="1" noMove="1" noResize="1" noEditPoints="1" noAdjustHandles="1" noChangeArrowheads="1" noChangeShapeType="1" noTextEdit="1"/>
              </p:cNvSpPr>
              <p:nvPr/>
            </p:nvSpPr>
            <p:spPr>
              <a:xfrm>
                <a:off x="4812860" y="3181224"/>
                <a:ext cx="559127" cy="46288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60607D5-86CA-7237-CD14-FA81D0C65583}"/>
                  </a:ext>
                </a:extLst>
              </p:cNvPr>
              <p:cNvSpPr txBox="1"/>
              <p:nvPr/>
            </p:nvSpPr>
            <p:spPr>
              <a:xfrm>
                <a:off x="4812860" y="4078223"/>
                <a:ext cx="559127" cy="474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836967"/>
                              </a:solidFill>
                              <a:latin typeface="Cambria Math" panose="02040503050406030204" pitchFamily="18" charset="0"/>
                            </a:rPr>
                          </m:ctrlPr>
                        </m:sSubSupPr>
                        <m:e>
                          <m:r>
                            <a:rPr lang="en-US" sz="2400" i="1">
                              <a:latin typeface="Cambria Math" panose="02040503050406030204" pitchFamily="18" charset="0"/>
                            </a:rPr>
                            <m:t>𝑎</m:t>
                          </m:r>
                        </m:e>
                        <m:sub>
                          <m:r>
                            <a:rPr lang="en-US" sz="2400" b="0" i="0" smtClean="0">
                              <a:latin typeface="Cambria Math" panose="02040503050406030204" pitchFamily="18" charset="0"/>
                            </a:rPr>
                            <m:t>3</m:t>
                          </m:r>
                        </m:sub>
                        <m:sup>
                          <m:d>
                            <m:dPr>
                              <m:begChr m:val="["/>
                              <m:endChr m:val="]"/>
                              <m:ctrlPr>
                                <a:rPr lang="en-US" sz="2400" i="1">
                                  <a:solidFill>
                                    <a:srgbClr val="836967"/>
                                  </a:solidFill>
                                  <a:latin typeface="Cambria Math" panose="02040503050406030204" pitchFamily="18" charset="0"/>
                                </a:rPr>
                              </m:ctrlPr>
                            </m:dPr>
                            <m:e>
                              <m:r>
                                <a:rPr lang="en-US" sz="2400" i="0">
                                  <a:latin typeface="Cambria Math" panose="02040503050406030204" pitchFamily="18" charset="0"/>
                                </a:rPr>
                                <m:t>2</m:t>
                              </m:r>
                            </m:e>
                          </m:d>
                        </m:sup>
                      </m:sSubSup>
                    </m:oMath>
                  </m:oMathPara>
                </a14:m>
                <a:endParaRPr lang="en-US" sz="2400" dirty="0">
                  <a:latin typeface="+mj-lt"/>
                </a:endParaRPr>
              </a:p>
            </p:txBody>
          </p:sp>
        </mc:Choice>
        <mc:Fallback xmlns="">
          <p:sp>
            <p:nvSpPr>
              <p:cNvPr id="11" name="TextBox 10">
                <a:extLst>
                  <a:ext uri="{FF2B5EF4-FFF2-40B4-BE49-F238E27FC236}">
                    <a16:creationId xmlns:a16="http://schemas.microsoft.com/office/drawing/2014/main" id="{E60607D5-86CA-7237-CD14-FA81D0C65583}"/>
                  </a:ext>
                </a:extLst>
              </p:cNvPr>
              <p:cNvSpPr txBox="1">
                <a:spLocks noRot="1" noChangeAspect="1" noMove="1" noResize="1" noEditPoints="1" noAdjustHandles="1" noChangeArrowheads="1" noChangeShapeType="1" noTextEdit="1"/>
              </p:cNvSpPr>
              <p:nvPr/>
            </p:nvSpPr>
            <p:spPr>
              <a:xfrm>
                <a:off x="4812860" y="4078223"/>
                <a:ext cx="559127" cy="47455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9E8DD6-338D-7514-E855-835E24AB47E3}"/>
                  </a:ext>
                </a:extLst>
              </p:cNvPr>
              <p:cNvSpPr txBox="1"/>
              <p:nvPr/>
            </p:nvSpPr>
            <p:spPr>
              <a:xfrm>
                <a:off x="4812860" y="4897397"/>
                <a:ext cx="559127" cy="474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solidFill>
                                <a:srgbClr val="836967"/>
                              </a:solidFill>
                              <a:latin typeface="Cambria Math" panose="02040503050406030204" pitchFamily="18" charset="0"/>
                            </a:rPr>
                          </m:ctrlPr>
                        </m:sSubSupPr>
                        <m:e>
                          <m:r>
                            <a:rPr lang="en-US" sz="2400" i="1">
                              <a:latin typeface="Cambria Math" panose="02040503050406030204" pitchFamily="18" charset="0"/>
                            </a:rPr>
                            <m:t>𝑎</m:t>
                          </m:r>
                        </m:e>
                        <m:sub>
                          <m:r>
                            <a:rPr lang="en-US" sz="2400" b="0" i="0" smtClean="0">
                              <a:latin typeface="Cambria Math" panose="02040503050406030204" pitchFamily="18" charset="0"/>
                            </a:rPr>
                            <m:t>4</m:t>
                          </m:r>
                        </m:sub>
                        <m:sup>
                          <m:d>
                            <m:dPr>
                              <m:begChr m:val="["/>
                              <m:endChr m:val="]"/>
                              <m:ctrlPr>
                                <a:rPr lang="en-US" sz="2400" i="1">
                                  <a:solidFill>
                                    <a:srgbClr val="836967"/>
                                  </a:solidFill>
                                  <a:latin typeface="Cambria Math" panose="02040503050406030204" pitchFamily="18" charset="0"/>
                                </a:rPr>
                              </m:ctrlPr>
                            </m:dPr>
                            <m:e>
                              <m:r>
                                <a:rPr lang="en-US" sz="2400" i="0">
                                  <a:latin typeface="Cambria Math" panose="02040503050406030204" pitchFamily="18" charset="0"/>
                                </a:rPr>
                                <m:t>2</m:t>
                              </m:r>
                            </m:e>
                          </m:d>
                        </m:sup>
                      </m:sSubSup>
                    </m:oMath>
                  </m:oMathPara>
                </a14:m>
                <a:endParaRPr lang="en-US" sz="2400" dirty="0">
                  <a:latin typeface="+mj-lt"/>
                </a:endParaRPr>
              </a:p>
            </p:txBody>
          </p:sp>
        </mc:Choice>
        <mc:Fallback xmlns="">
          <p:sp>
            <p:nvSpPr>
              <p:cNvPr id="12" name="TextBox 11">
                <a:extLst>
                  <a:ext uri="{FF2B5EF4-FFF2-40B4-BE49-F238E27FC236}">
                    <a16:creationId xmlns:a16="http://schemas.microsoft.com/office/drawing/2014/main" id="{219E8DD6-338D-7514-E855-835E24AB47E3}"/>
                  </a:ext>
                </a:extLst>
              </p:cNvPr>
              <p:cNvSpPr txBox="1">
                <a:spLocks noRot="1" noChangeAspect="1" noMove="1" noResize="1" noEditPoints="1" noAdjustHandles="1" noChangeArrowheads="1" noChangeShapeType="1" noTextEdit="1"/>
              </p:cNvSpPr>
              <p:nvPr/>
            </p:nvSpPr>
            <p:spPr>
              <a:xfrm>
                <a:off x="4812860" y="4897397"/>
                <a:ext cx="559127" cy="474553"/>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75015629"/>
      </p:ext>
    </p:extLst>
  </p:cSld>
  <p:clrMapOvr>
    <a:masterClrMapping/>
  </p:clrMapOvr>
  <p:extLst mod="1">
    <p:ext uri="{6950BFC3-D8DA-4A85-94F7-54DA5524770B}">
      <p188:commentRel xmlns="" xmlns:p188="http://schemas.microsoft.com/office/powerpoint/2018/8/main" r:id="rId10"/>
    </p:ext>
  </p:extLst>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p25"/>
          <p:cNvSpPr txBox="1"/>
          <p:nvPr/>
        </p:nvSpPr>
        <p:spPr>
          <a:xfrm>
            <a:off x="5026228" y="3708450"/>
            <a:ext cx="6528434" cy="84382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dirty="0" err="1">
                <a:solidFill>
                  <a:srgbClr val="000000"/>
                </a:solidFill>
                <a:latin typeface="+mj-lt"/>
                <a:ea typeface="Calibri"/>
                <a:cs typeface="Calibri"/>
                <a:sym typeface="Calibri"/>
              </a:rPr>
              <a:t>Softmax</a:t>
            </a:r>
            <a:r>
              <a:rPr lang="en-US" sz="5400" b="0" i="0" u="none" strike="noStrike" cap="none" dirty="0">
                <a:solidFill>
                  <a:srgbClr val="000000"/>
                </a:solidFill>
                <a:latin typeface="+mj-lt"/>
                <a:ea typeface="Calibri"/>
                <a:cs typeface="Calibri"/>
                <a:sym typeface="Calibri"/>
              </a:rPr>
              <a:t> regression</a:t>
            </a:r>
            <a:endParaRPr sz="5400" b="0" i="0" u="none" strike="noStrike" cap="none" dirty="0">
              <a:solidFill>
                <a:srgbClr val="000000"/>
              </a:solidFill>
              <a:latin typeface="+mj-lt"/>
              <a:ea typeface="Calibri"/>
              <a:cs typeface="Calibri"/>
              <a:sym typeface="Calibri"/>
            </a:endParaRPr>
          </a:p>
        </p:txBody>
      </p:sp>
      <p:sp>
        <p:nvSpPr>
          <p:cNvPr id="323" name="Google Shape;323;p2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sp>
        <p:nvSpPr>
          <p:cNvPr id="324" name="Google Shape;324;p25"/>
          <p:cNvSpPr txBox="1">
            <a:spLocks noGrp="1"/>
          </p:cNvSpPr>
          <p:nvPr>
            <p:ph type="title"/>
          </p:nvPr>
        </p:nvSpPr>
        <p:spPr>
          <a:xfrm>
            <a:off x="6335226" y="1268300"/>
            <a:ext cx="4802166" cy="2109808"/>
          </a:xfrm>
          <a:prstGeom prst="rect">
            <a:avLst/>
          </a:prstGeom>
          <a:noFill/>
          <a:ln>
            <a:noFill/>
          </a:ln>
        </p:spPr>
        <p:txBody>
          <a:bodyPr spcFirstLastPara="1" wrap="square" lIns="0" tIns="114300" rIns="0" bIns="0" anchor="t" anchorCtr="0">
            <a:spAutoFit/>
          </a:bodyPr>
          <a:lstStyle/>
          <a:p>
            <a:pPr marL="12700" marR="5080" lvl="0" indent="292100" algn="l" rtl="0">
              <a:lnSpc>
                <a:spcPct val="108333"/>
              </a:lnSpc>
              <a:spcBef>
                <a:spcPts val="0"/>
              </a:spcBef>
              <a:spcAft>
                <a:spcPts val="0"/>
              </a:spcAft>
              <a:buSzPts val="1400"/>
              <a:buNone/>
            </a:pPr>
            <a:r>
              <a:rPr lang="en-US" dirty="0">
                <a:latin typeface="+mj-lt"/>
              </a:rPr>
              <a:t>Multi-class classification</a:t>
            </a:r>
            <a:endParaRPr dirty="0">
              <a:latin typeface="+mj-lt"/>
            </a:endParaRPr>
          </a:p>
        </p:txBody>
      </p:sp>
      <p:pic>
        <p:nvPicPr>
          <p:cNvPr id="325" name="Google Shape;325;p2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26" name="Google Shape;326;p2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30</a:t>
            </a:fld>
            <a:endParaRPr>
              <a:latin typeface="+mj-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01162" y="1158235"/>
            <a:ext cx="11271739" cy="3284489"/>
          </a:xfrm>
          <a:prstGeom prst="rect">
            <a:avLst/>
          </a:prstGeom>
          <a:noFill/>
          <a:ln>
            <a:noFill/>
          </a:ln>
        </p:spPr>
        <p:txBody>
          <a:bodyPr spcFirstLastPara="1" wrap="square" lIns="0" tIns="63500" rIns="0" bIns="0" anchor="t" anchorCtr="0">
            <a:spAutoFit/>
          </a:bodyPr>
          <a:lstStyle/>
          <a:p>
            <a:pPr marL="254000" marR="316865" lvl="0" indent="-229234">
              <a:lnSpc>
                <a:spcPct val="109375"/>
              </a:lnSpc>
              <a:buSzPts val="3200"/>
              <a:buFont typeface="Arial"/>
              <a:buChar char="•"/>
            </a:pPr>
            <a:r>
              <a:rPr lang="en-US" sz="2400" dirty="0">
                <a:latin typeface="+mj-lt"/>
                <a:ea typeface="Calibri"/>
                <a:cs typeface="Calibri"/>
                <a:sym typeface="Calibri"/>
              </a:rPr>
              <a:t>In multi-class classification, we deal with more than two classes, and </a:t>
            </a:r>
            <a:r>
              <a:rPr lang="en-US" sz="2400" dirty="0" err="1">
                <a:latin typeface="+mj-lt"/>
                <a:ea typeface="Calibri"/>
                <a:cs typeface="Calibri"/>
                <a:sym typeface="Calibri"/>
              </a:rPr>
              <a:t>softmax</a:t>
            </a:r>
            <a:r>
              <a:rPr lang="en-US" sz="2400" dirty="0">
                <a:latin typeface="+mj-lt"/>
                <a:ea typeface="Calibri"/>
                <a:cs typeface="Calibri"/>
                <a:sym typeface="Calibri"/>
              </a:rPr>
              <a:t> regression is employed to address such problems. </a:t>
            </a:r>
            <a:endParaRPr lang="en-US" sz="2400" dirty="0" smtClean="0">
              <a:latin typeface="+mj-lt"/>
              <a:ea typeface="Calibri"/>
              <a:cs typeface="Calibri"/>
              <a:sym typeface="Calibri"/>
            </a:endParaRPr>
          </a:p>
          <a:p>
            <a:pPr marL="254000" marR="316865" lvl="0" indent="-229234">
              <a:lnSpc>
                <a:spcPct val="109375"/>
              </a:lnSpc>
              <a:buSzPts val="3200"/>
              <a:buFont typeface="Arial"/>
              <a:buChar char="•"/>
            </a:pPr>
            <a:r>
              <a:rPr lang="en-US" sz="2400" dirty="0" smtClean="0">
                <a:latin typeface="+mj-lt"/>
                <a:ea typeface="Calibri"/>
                <a:cs typeface="Calibri"/>
                <a:sym typeface="Calibri"/>
              </a:rPr>
              <a:t>The </a:t>
            </a:r>
            <a:r>
              <a:rPr lang="en-US" sz="2400" dirty="0">
                <a:latin typeface="+mj-lt"/>
                <a:ea typeface="Calibri"/>
                <a:cs typeface="Calibri"/>
                <a:sym typeface="Calibri"/>
              </a:rPr>
              <a:t>output layer has units corresponding to the total number of classes, each indicating the probability of the input belonging to a specific class. </a:t>
            </a:r>
            <a:endParaRPr lang="en-US" sz="2400" dirty="0" smtClean="0">
              <a:latin typeface="+mj-lt"/>
              <a:ea typeface="Calibri"/>
              <a:cs typeface="Calibri"/>
              <a:sym typeface="Calibri"/>
            </a:endParaRPr>
          </a:p>
          <a:p>
            <a:pPr marL="254000" marR="316865" lvl="0" indent="-229234">
              <a:lnSpc>
                <a:spcPct val="109375"/>
              </a:lnSpc>
              <a:buSzPts val="3200"/>
              <a:buFont typeface="Arial"/>
              <a:buChar char="•"/>
            </a:pPr>
            <a:r>
              <a:rPr lang="en-US" sz="2400" dirty="0" smtClean="0">
                <a:latin typeface="+mj-lt"/>
                <a:ea typeface="Calibri"/>
                <a:cs typeface="Calibri"/>
                <a:sym typeface="Calibri"/>
              </a:rPr>
              <a:t>The </a:t>
            </a:r>
            <a:r>
              <a:rPr lang="en-US" sz="2400" dirty="0" err="1">
                <a:latin typeface="+mj-lt"/>
                <a:ea typeface="Calibri"/>
                <a:cs typeface="Calibri"/>
                <a:sym typeface="Calibri"/>
              </a:rPr>
              <a:t>Softmax</a:t>
            </a:r>
            <a:r>
              <a:rPr lang="en-US" sz="2400" dirty="0">
                <a:latin typeface="+mj-lt"/>
                <a:ea typeface="Calibri"/>
                <a:cs typeface="Calibri"/>
                <a:sym typeface="Calibri"/>
              </a:rPr>
              <a:t> layer transforms the linear output into probabilities by </a:t>
            </a:r>
            <a:r>
              <a:rPr lang="en-US" sz="2400" dirty="0" err="1">
                <a:latin typeface="+mj-lt"/>
                <a:ea typeface="Calibri"/>
                <a:cs typeface="Calibri"/>
                <a:sym typeface="Calibri"/>
              </a:rPr>
              <a:t>exponentiating</a:t>
            </a:r>
            <a:r>
              <a:rPr lang="en-US" sz="2400" dirty="0">
                <a:latin typeface="+mj-lt"/>
                <a:ea typeface="Calibri"/>
                <a:cs typeface="Calibri"/>
                <a:sym typeface="Calibri"/>
              </a:rPr>
              <a:t> and normalizing the values. This layer allows the representation of linear decision boundaries between multiple classes, and adding hidden layers enables the learning of complex non-linear decision boundaries.</a:t>
            </a:r>
            <a:endParaRPr lang="en-US" sz="2400" dirty="0">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Softmax</a:t>
            </a:r>
            <a:r>
              <a:rPr lang="en-US" sz="4400" dirty="0">
                <a:latin typeface="+mj-lt"/>
                <a:ea typeface="Cambria"/>
                <a:cs typeface="Cambria"/>
                <a:sym typeface="Cambria"/>
              </a:rPr>
              <a:t> regression</a:t>
            </a: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31</a:t>
            </a:fld>
            <a:endParaRPr>
              <a:latin typeface="+mj-lt"/>
            </a:endParaRPr>
          </a:p>
        </p:txBody>
      </p:sp>
    </p:spTree>
    <p:extLst>
      <p:ext uri="{BB962C8B-B14F-4D97-AF65-F5344CB8AC3E}">
        <p14:creationId xmlns:p14="http://schemas.microsoft.com/office/powerpoint/2010/main" val="3917567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2479397"/>
          </a:xfrm>
          <a:prstGeom prst="rect">
            <a:avLst/>
          </a:prstGeom>
          <a:noFill/>
          <a:ln>
            <a:noFill/>
          </a:ln>
        </p:spPr>
        <p:txBody>
          <a:bodyPr spcFirstLastPara="1" wrap="square" lIns="0" tIns="63500" rIns="0" bIns="0" anchor="t" anchorCtr="0">
            <a:spAutoFit/>
          </a:bodyPr>
          <a:lstStyle/>
          <a:p>
            <a:pPr marL="254000" marR="316865" lvl="0" indent="-229234">
              <a:lnSpc>
                <a:spcPct val="109375"/>
              </a:lnSpc>
              <a:buSzPts val="3200"/>
              <a:buFont typeface="Arial"/>
              <a:buChar char="•"/>
            </a:pPr>
            <a:r>
              <a:rPr lang="en-US" sz="2400" dirty="0" smtClean="0">
                <a:latin typeface="+mj-lt"/>
                <a:ea typeface="Calibri"/>
                <a:cs typeface="Calibri"/>
                <a:sym typeface="Calibri"/>
              </a:rPr>
              <a:t>Consider an </a:t>
            </a:r>
            <a:r>
              <a:rPr lang="en-US" sz="2400" dirty="0">
                <a:latin typeface="+mj-lt"/>
                <a:ea typeface="Calibri"/>
                <a:cs typeface="Calibri"/>
                <a:sym typeface="Calibri"/>
              </a:rPr>
              <a:t>example of the images and the classes they belong to. That's a picture of a baby </a:t>
            </a:r>
            <a:r>
              <a:rPr lang="en-US" sz="2400" dirty="0" smtClean="0">
                <a:latin typeface="+mj-lt"/>
                <a:ea typeface="Calibri"/>
                <a:cs typeface="Calibri"/>
                <a:sym typeface="Calibri"/>
              </a:rPr>
              <a:t>chick, a cat, a dog and </a:t>
            </a:r>
            <a:r>
              <a:rPr lang="en-US" sz="2400" dirty="0">
                <a:latin typeface="+mj-lt"/>
                <a:ea typeface="Calibri"/>
                <a:cs typeface="Calibri"/>
                <a:sym typeface="Calibri"/>
              </a:rPr>
              <a:t>a </a:t>
            </a:r>
            <a:r>
              <a:rPr lang="en-US" sz="2400" dirty="0" smtClean="0">
                <a:latin typeface="+mj-lt"/>
                <a:ea typeface="Calibri"/>
                <a:cs typeface="Calibri"/>
                <a:sym typeface="Calibri"/>
              </a:rPr>
              <a:t>koala (other).</a:t>
            </a:r>
          </a:p>
          <a:p>
            <a:pPr marL="254000" marR="316865" lvl="0" indent="-229234">
              <a:lnSpc>
                <a:spcPct val="109375"/>
              </a:lnSpc>
              <a:buSzPts val="3200"/>
              <a:buFont typeface="Arial"/>
              <a:buChar char="•"/>
            </a:pPr>
            <a:endParaRPr lang="en-US" sz="2400" dirty="0">
              <a:latin typeface="+mj-lt"/>
              <a:ea typeface="Calibri"/>
              <a:cs typeface="Calibri"/>
              <a:sym typeface="Calibri"/>
            </a:endParaRPr>
          </a:p>
          <a:p>
            <a:pPr marL="254000" marR="316865" lvl="0" indent="-229234">
              <a:lnSpc>
                <a:spcPct val="109375"/>
              </a:lnSpc>
              <a:buSzPts val="3200"/>
              <a:buFont typeface="Arial"/>
              <a:buChar char="•"/>
            </a:pPr>
            <a:endParaRPr lang="en-US" sz="2400" dirty="0" smtClean="0">
              <a:latin typeface="+mj-lt"/>
              <a:ea typeface="Calibri"/>
              <a:cs typeface="Calibri"/>
              <a:sym typeface="Calibri"/>
            </a:endParaRPr>
          </a:p>
          <a:p>
            <a:pPr marL="24766" marR="316865" lvl="0">
              <a:lnSpc>
                <a:spcPct val="109375"/>
              </a:lnSpc>
              <a:buSzPts val="3200"/>
            </a:pPr>
            <a:endParaRPr lang="en-US" sz="2400" dirty="0" smtClean="0">
              <a:latin typeface="+mj-lt"/>
              <a:ea typeface="Calibri"/>
              <a:cs typeface="Calibri"/>
              <a:sym typeface="Calibri"/>
            </a:endParaRPr>
          </a:p>
          <a:p>
            <a:pPr marL="254000" marR="316865" lvl="0" indent="-229234">
              <a:lnSpc>
                <a:spcPct val="109375"/>
              </a:lnSpc>
              <a:buSzPts val="3200"/>
              <a:buFont typeface="Arial"/>
              <a:buChar char="•"/>
            </a:pPr>
            <a:endParaRPr lang="en-US" sz="2400" dirty="0">
              <a:latin typeface="+mj-lt"/>
              <a:ea typeface="Calibri"/>
              <a:cs typeface="Calibri"/>
              <a:sym typeface="Calibri"/>
            </a:endParaRPr>
          </a:p>
        </p:txBody>
      </p:sp>
      <p:sp>
        <p:nvSpPr>
          <p:cNvPr id="315" name="Google Shape;315;p24"/>
          <p:cNvSpPr txBox="1">
            <a:spLocks noGrp="1"/>
          </p:cNvSpPr>
          <p:nvPr>
            <p:ph type="title"/>
          </p:nvPr>
        </p:nvSpPr>
        <p:spPr>
          <a:xfrm>
            <a:off x="246122" y="170700"/>
            <a:ext cx="10374986"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Recognizing cats, dogs, and baby chicks</a:t>
            </a: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32</a:t>
            </a:fld>
            <a:endParaRPr>
              <a:latin typeface="+mj-lt"/>
            </a:endParaRPr>
          </a:p>
        </p:txBody>
      </p:sp>
      <p:grpSp>
        <p:nvGrpSpPr>
          <p:cNvPr id="6" name="Group 5"/>
          <p:cNvGrpSpPr/>
          <p:nvPr/>
        </p:nvGrpSpPr>
        <p:grpSpPr>
          <a:xfrm>
            <a:off x="303620" y="2913202"/>
            <a:ext cx="11719573" cy="1838287"/>
            <a:chOff x="182879" y="1219682"/>
            <a:chExt cx="11719573" cy="1838287"/>
          </a:xfrm>
        </p:grpSpPr>
        <p:pic>
          <p:nvPicPr>
            <p:cNvPr id="7" name="Google Shape;332;p26"/>
            <p:cNvPicPr preferRelativeResize="0"/>
            <p:nvPr/>
          </p:nvPicPr>
          <p:blipFill rotWithShape="1">
            <a:blip r:embed="rId4">
              <a:alphaModFix/>
            </a:blip>
            <a:srcRect/>
            <a:stretch/>
          </p:blipFill>
          <p:spPr>
            <a:xfrm>
              <a:off x="182879" y="1219682"/>
              <a:ext cx="1334846" cy="1176375"/>
            </a:xfrm>
            <a:prstGeom prst="rect">
              <a:avLst/>
            </a:prstGeom>
            <a:noFill/>
            <a:ln>
              <a:noFill/>
            </a:ln>
          </p:spPr>
        </p:pic>
        <p:grpSp>
          <p:nvGrpSpPr>
            <p:cNvPr id="8" name="Group 7"/>
            <p:cNvGrpSpPr/>
            <p:nvPr/>
          </p:nvGrpSpPr>
          <p:grpSpPr>
            <a:xfrm>
              <a:off x="736473" y="1219682"/>
              <a:ext cx="11165979" cy="1838287"/>
              <a:chOff x="736473" y="1219682"/>
              <a:chExt cx="11165979" cy="1838287"/>
            </a:xfrm>
          </p:grpSpPr>
          <p:pic>
            <p:nvPicPr>
              <p:cNvPr id="9" name="Google Shape;333;p26"/>
              <p:cNvPicPr preferRelativeResize="0"/>
              <p:nvPr/>
            </p:nvPicPr>
            <p:blipFill rotWithShape="1">
              <a:blip r:embed="rId5">
                <a:alphaModFix/>
              </a:blip>
              <a:srcRect/>
              <a:stretch/>
            </p:blipFill>
            <p:spPr>
              <a:xfrm>
                <a:off x="1666405" y="1219695"/>
                <a:ext cx="1334846" cy="1176375"/>
              </a:xfrm>
              <a:prstGeom prst="rect">
                <a:avLst/>
              </a:prstGeom>
              <a:noFill/>
              <a:ln>
                <a:noFill/>
              </a:ln>
            </p:spPr>
          </p:pic>
          <p:pic>
            <p:nvPicPr>
              <p:cNvPr id="10" name="Google Shape;334;p26"/>
              <p:cNvPicPr preferRelativeResize="0"/>
              <p:nvPr/>
            </p:nvPicPr>
            <p:blipFill rotWithShape="1">
              <a:blip r:embed="rId6">
                <a:alphaModFix/>
              </a:blip>
              <a:srcRect/>
              <a:stretch/>
            </p:blipFill>
            <p:spPr>
              <a:xfrm>
                <a:off x="10567606" y="1229944"/>
                <a:ext cx="1334846" cy="1176375"/>
              </a:xfrm>
              <a:prstGeom prst="rect">
                <a:avLst/>
              </a:prstGeom>
              <a:noFill/>
              <a:ln>
                <a:noFill/>
              </a:ln>
            </p:spPr>
          </p:pic>
          <p:pic>
            <p:nvPicPr>
              <p:cNvPr id="11" name="Google Shape;335;p26"/>
              <p:cNvPicPr preferRelativeResize="0"/>
              <p:nvPr/>
            </p:nvPicPr>
            <p:blipFill rotWithShape="1">
              <a:blip r:embed="rId7">
                <a:alphaModFix/>
              </a:blip>
              <a:srcRect/>
              <a:stretch/>
            </p:blipFill>
            <p:spPr>
              <a:xfrm>
                <a:off x="6117005" y="1219682"/>
                <a:ext cx="1334846" cy="1176375"/>
              </a:xfrm>
              <a:prstGeom prst="rect">
                <a:avLst/>
              </a:prstGeom>
              <a:noFill/>
              <a:ln>
                <a:noFill/>
              </a:ln>
            </p:spPr>
          </p:pic>
          <p:pic>
            <p:nvPicPr>
              <p:cNvPr id="12" name="Google Shape;336;p26"/>
              <p:cNvPicPr preferRelativeResize="0"/>
              <p:nvPr/>
            </p:nvPicPr>
            <p:blipFill rotWithShape="1">
              <a:blip r:embed="rId8">
                <a:alphaModFix/>
              </a:blip>
              <a:srcRect/>
              <a:stretch/>
            </p:blipFill>
            <p:spPr>
              <a:xfrm>
                <a:off x="7600543" y="1219682"/>
                <a:ext cx="1334846" cy="1176375"/>
              </a:xfrm>
              <a:prstGeom prst="rect">
                <a:avLst/>
              </a:prstGeom>
              <a:noFill/>
              <a:ln>
                <a:noFill/>
              </a:ln>
            </p:spPr>
          </p:pic>
          <p:pic>
            <p:nvPicPr>
              <p:cNvPr id="13" name="Google Shape;337;p26"/>
              <p:cNvPicPr preferRelativeResize="0"/>
              <p:nvPr/>
            </p:nvPicPr>
            <p:blipFill rotWithShape="1">
              <a:blip r:embed="rId9">
                <a:alphaModFix/>
              </a:blip>
              <a:srcRect/>
              <a:stretch/>
            </p:blipFill>
            <p:spPr>
              <a:xfrm>
                <a:off x="3149942" y="1219682"/>
                <a:ext cx="1334846" cy="1176375"/>
              </a:xfrm>
              <a:prstGeom prst="rect">
                <a:avLst/>
              </a:prstGeom>
              <a:noFill/>
              <a:ln>
                <a:noFill/>
              </a:ln>
            </p:spPr>
          </p:pic>
          <p:pic>
            <p:nvPicPr>
              <p:cNvPr id="14" name="Google Shape;338;p26"/>
              <p:cNvPicPr preferRelativeResize="0"/>
              <p:nvPr/>
            </p:nvPicPr>
            <p:blipFill rotWithShape="1">
              <a:blip r:embed="rId10">
                <a:alphaModFix/>
              </a:blip>
              <a:srcRect/>
              <a:stretch/>
            </p:blipFill>
            <p:spPr>
              <a:xfrm>
                <a:off x="9084068" y="1229932"/>
                <a:ext cx="1334846" cy="1166125"/>
              </a:xfrm>
              <a:prstGeom prst="rect">
                <a:avLst/>
              </a:prstGeom>
              <a:noFill/>
              <a:ln>
                <a:noFill/>
              </a:ln>
            </p:spPr>
          </p:pic>
          <p:pic>
            <p:nvPicPr>
              <p:cNvPr id="15" name="Google Shape;339;p26"/>
              <p:cNvPicPr preferRelativeResize="0"/>
              <p:nvPr/>
            </p:nvPicPr>
            <p:blipFill rotWithShape="1">
              <a:blip r:embed="rId11">
                <a:alphaModFix/>
              </a:blip>
              <a:srcRect/>
              <a:stretch/>
            </p:blipFill>
            <p:spPr>
              <a:xfrm>
                <a:off x="4633480" y="1219688"/>
                <a:ext cx="1334846" cy="1186630"/>
              </a:xfrm>
              <a:prstGeom prst="rect">
                <a:avLst/>
              </a:prstGeom>
              <a:noFill/>
              <a:ln>
                <a:noFill/>
              </a:ln>
            </p:spPr>
          </p:pic>
          <p:sp>
            <p:nvSpPr>
              <p:cNvPr id="16" name="Google Shape;340;p26"/>
              <p:cNvSpPr txBox="1"/>
              <p:nvPr/>
            </p:nvSpPr>
            <p:spPr>
              <a:xfrm>
                <a:off x="2242794"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1</a:t>
                </a:r>
                <a:endParaRPr sz="2800" b="0" i="0" u="none" strike="noStrike" cap="none">
                  <a:solidFill>
                    <a:srgbClr val="000000"/>
                  </a:solidFill>
                  <a:latin typeface="+mj-lt"/>
                  <a:ea typeface="Cambria"/>
                  <a:cs typeface="Cambria"/>
                  <a:sym typeface="Cambria"/>
                </a:endParaRPr>
              </a:p>
            </p:txBody>
          </p:sp>
          <p:sp>
            <p:nvSpPr>
              <p:cNvPr id="17" name="Google Shape;341;p26"/>
              <p:cNvSpPr txBox="1"/>
              <p:nvPr/>
            </p:nvSpPr>
            <p:spPr>
              <a:xfrm>
                <a:off x="3683330" y="2604071"/>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2</a:t>
                </a:r>
                <a:endParaRPr sz="2800" b="0" i="0" u="none" strike="noStrike" cap="none">
                  <a:solidFill>
                    <a:srgbClr val="000000"/>
                  </a:solidFill>
                  <a:latin typeface="+mj-lt"/>
                  <a:ea typeface="Cambria"/>
                  <a:cs typeface="Cambria"/>
                  <a:sym typeface="Cambria"/>
                </a:endParaRPr>
              </a:p>
            </p:txBody>
          </p:sp>
          <p:sp>
            <p:nvSpPr>
              <p:cNvPr id="18" name="Google Shape;342;p26"/>
              <p:cNvSpPr txBox="1"/>
              <p:nvPr/>
            </p:nvSpPr>
            <p:spPr>
              <a:xfrm>
                <a:off x="11121059"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1</a:t>
                </a:r>
                <a:endParaRPr sz="2800" b="0" i="0" u="none" strike="noStrike" cap="none">
                  <a:solidFill>
                    <a:srgbClr val="000000"/>
                  </a:solidFill>
                  <a:latin typeface="+mj-lt"/>
                  <a:ea typeface="Cambria"/>
                  <a:cs typeface="Cambria"/>
                  <a:sym typeface="Cambria"/>
                </a:endParaRPr>
              </a:p>
            </p:txBody>
          </p:sp>
          <p:sp>
            <p:nvSpPr>
              <p:cNvPr id="19" name="Google Shape;343;p26"/>
              <p:cNvSpPr txBox="1"/>
              <p:nvPr/>
            </p:nvSpPr>
            <p:spPr>
              <a:xfrm>
                <a:off x="736473"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mj-lt"/>
                    <a:ea typeface="Cambria"/>
                    <a:cs typeface="Cambria"/>
                    <a:sym typeface="Cambria"/>
                  </a:rPr>
                  <a:t>3</a:t>
                </a:r>
                <a:endParaRPr sz="2800" b="0" i="0" u="none" strike="noStrike" cap="none" dirty="0">
                  <a:solidFill>
                    <a:srgbClr val="000000"/>
                  </a:solidFill>
                  <a:latin typeface="+mj-lt"/>
                  <a:ea typeface="Cambria"/>
                  <a:cs typeface="Cambria"/>
                  <a:sym typeface="Cambria"/>
                </a:endParaRPr>
              </a:p>
            </p:txBody>
          </p:sp>
          <p:sp>
            <p:nvSpPr>
              <p:cNvPr id="20" name="Google Shape;344;p26"/>
              <p:cNvSpPr txBox="1"/>
              <p:nvPr/>
            </p:nvSpPr>
            <p:spPr>
              <a:xfrm>
                <a:off x="6670726"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3</a:t>
                </a:r>
                <a:endParaRPr sz="2800" b="0" i="0" u="none" strike="noStrike" cap="none">
                  <a:solidFill>
                    <a:srgbClr val="000000"/>
                  </a:solidFill>
                  <a:latin typeface="+mj-lt"/>
                  <a:ea typeface="Cambria"/>
                  <a:cs typeface="Cambria"/>
                  <a:sym typeface="Cambria"/>
                </a:endParaRPr>
              </a:p>
            </p:txBody>
          </p:sp>
          <p:sp>
            <p:nvSpPr>
              <p:cNvPr id="21" name="Google Shape;345;p26"/>
              <p:cNvSpPr txBox="1"/>
              <p:nvPr/>
            </p:nvSpPr>
            <p:spPr>
              <a:xfrm>
                <a:off x="5246903" y="260584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0</a:t>
                </a:r>
                <a:endParaRPr sz="2800" b="0" i="0" u="none" strike="noStrike" cap="none">
                  <a:solidFill>
                    <a:srgbClr val="000000"/>
                  </a:solidFill>
                  <a:latin typeface="+mj-lt"/>
                  <a:ea typeface="Cambria"/>
                  <a:cs typeface="Cambria"/>
                  <a:sym typeface="Cambria"/>
                </a:endParaRPr>
              </a:p>
            </p:txBody>
          </p:sp>
          <p:sp>
            <p:nvSpPr>
              <p:cNvPr id="22" name="Google Shape;346;p26"/>
              <p:cNvSpPr txBox="1"/>
              <p:nvPr/>
            </p:nvSpPr>
            <p:spPr>
              <a:xfrm>
                <a:off x="9637852"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0</a:t>
                </a:r>
                <a:endParaRPr sz="2800" b="0" i="0" u="none" strike="noStrike" cap="none">
                  <a:solidFill>
                    <a:srgbClr val="000000"/>
                  </a:solidFill>
                  <a:latin typeface="+mj-lt"/>
                  <a:ea typeface="Cambria"/>
                  <a:cs typeface="Cambria"/>
                  <a:sym typeface="Cambria"/>
                </a:endParaRPr>
              </a:p>
            </p:txBody>
          </p:sp>
          <p:sp>
            <p:nvSpPr>
              <p:cNvPr id="23" name="Google Shape;347;p26"/>
              <p:cNvSpPr txBox="1"/>
              <p:nvPr/>
            </p:nvSpPr>
            <p:spPr>
              <a:xfrm>
                <a:off x="8230743" y="2594470"/>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2</a:t>
                </a:r>
                <a:endParaRPr sz="2800" b="0" i="0" u="none" strike="noStrike" cap="none">
                  <a:solidFill>
                    <a:srgbClr val="000000"/>
                  </a:solidFill>
                  <a:latin typeface="+mj-lt"/>
                  <a:ea typeface="Cambria"/>
                  <a:cs typeface="Cambria"/>
                  <a:sym typeface="Cambria"/>
                </a:endParaRPr>
              </a:p>
            </p:txBody>
          </p:sp>
        </p:grpSp>
      </p:grpSp>
    </p:spTree>
    <p:extLst>
      <p:ext uri="{BB962C8B-B14F-4D97-AF65-F5344CB8AC3E}">
        <p14:creationId xmlns:p14="http://schemas.microsoft.com/office/powerpoint/2010/main" val="1683491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465992" y="1227472"/>
            <a:ext cx="11271739" cy="5163080"/>
          </a:xfrm>
          <a:prstGeom prst="rect">
            <a:avLst/>
          </a:prstGeom>
          <a:noFill/>
          <a:ln>
            <a:noFill/>
          </a:ln>
        </p:spPr>
        <p:txBody>
          <a:bodyPr spcFirstLastPara="1" wrap="square" lIns="0" tIns="63500" rIns="0" bIns="0" anchor="t" anchorCtr="0">
            <a:spAutoFit/>
          </a:bodyPr>
          <a:lstStyle/>
          <a:p>
            <a:pPr marL="24766" marR="316865">
              <a:lnSpc>
                <a:spcPct val="109375"/>
              </a:lnSpc>
              <a:buSzPts val="3200"/>
            </a:pPr>
            <a:r>
              <a:rPr lang="en-US" sz="2400" dirty="0">
                <a:ea typeface="Calibri"/>
                <a:cs typeface="Calibri"/>
                <a:sym typeface="Calibri"/>
              </a:rPr>
              <a:t>I</a:t>
            </a:r>
            <a:r>
              <a:rPr lang="en-US" sz="2400" dirty="0" smtClean="0">
                <a:ea typeface="Calibri"/>
                <a:cs typeface="Calibri"/>
                <a:sym typeface="Calibri"/>
              </a:rPr>
              <a:t>f </a:t>
            </a:r>
            <a:r>
              <a:rPr lang="en-US" sz="2400" dirty="0">
                <a:ea typeface="Calibri"/>
                <a:cs typeface="Calibri"/>
                <a:sym typeface="Calibri"/>
              </a:rPr>
              <a:t>we are classifying by classes </a:t>
            </a:r>
            <a:r>
              <a:rPr lang="en-US" sz="2400" dirty="0" smtClean="0">
                <a:ea typeface="Calibri"/>
                <a:cs typeface="Calibri"/>
                <a:sym typeface="Calibri"/>
              </a:rPr>
              <a:t>‘cat’, ‘dog’, ‘baby chick’ </a:t>
            </a:r>
            <a:r>
              <a:rPr lang="en-US" sz="2400" dirty="0">
                <a:ea typeface="Calibri"/>
                <a:cs typeface="Calibri"/>
                <a:sym typeface="Calibri"/>
              </a:rPr>
              <a:t>and </a:t>
            </a:r>
            <a:r>
              <a:rPr lang="en-US" sz="2400" dirty="0" smtClean="0">
                <a:ea typeface="Calibri"/>
                <a:cs typeface="Calibri"/>
                <a:sym typeface="Calibri"/>
              </a:rPr>
              <a:t>‘other’:</a:t>
            </a:r>
          </a:p>
          <a:p>
            <a:pPr marL="367666" marR="316865" lvl="0" indent="-342900">
              <a:lnSpc>
                <a:spcPct val="109375"/>
              </a:lnSpc>
              <a:buSzPts val="3200"/>
              <a:buFontTx/>
              <a:buChar char="-"/>
            </a:pPr>
            <a:r>
              <a:rPr lang="en-US" sz="2400" dirty="0" smtClean="0">
                <a:latin typeface="+mj-lt"/>
                <a:ea typeface="Calibri"/>
                <a:cs typeface="Calibri"/>
                <a:sym typeface="Calibri"/>
              </a:rPr>
              <a:t>Cat class </a:t>
            </a:r>
            <a:r>
              <a:rPr lang="en-US" sz="2400" dirty="0">
                <a:latin typeface="+mj-lt"/>
                <a:ea typeface="Calibri"/>
                <a:cs typeface="Calibri"/>
                <a:sym typeface="Calibri"/>
              </a:rPr>
              <a:t>= </a:t>
            </a:r>
            <a:r>
              <a:rPr lang="en-US" sz="2400" dirty="0" smtClean="0">
                <a:latin typeface="+mj-lt"/>
                <a:ea typeface="Calibri"/>
                <a:cs typeface="Calibri"/>
                <a:sym typeface="Calibri"/>
              </a:rPr>
              <a:t>1  </a:t>
            </a:r>
          </a:p>
          <a:p>
            <a:pPr marL="367666" marR="316865" lvl="0" indent="-342900">
              <a:lnSpc>
                <a:spcPct val="109375"/>
              </a:lnSpc>
              <a:buSzPts val="3200"/>
              <a:buFontTx/>
              <a:buChar char="-"/>
            </a:pPr>
            <a:r>
              <a:rPr lang="en-US" sz="2400" dirty="0" smtClean="0">
                <a:latin typeface="+mj-lt"/>
                <a:ea typeface="Calibri"/>
                <a:cs typeface="Calibri"/>
                <a:sym typeface="Calibri"/>
              </a:rPr>
              <a:t>Dog class </a:t>
            </a:r>
            <a:r>
              <a:rPr lang="en-US" sz="2400" dirty="0">
                <a:latin typeface="+mj-lt"/>
                <a:ea typeface="Calibri"/>
                <a:cs typeface="Calibri"/>
                <a:sym typeface="Calibri"/>
              </a:rPr>
              <a:t>= 2</a:t>
            </a:r>
            <a:endParaRPr lang="en-US" sz="2400" dirty="0" smtClean="0">
              <a:latin typeface="+mj-lt"/>
              <a:ea typeface="Calibri"/>
              <a:cs typeface="Calibri"/>
              <a:sym typeface="Calibri"/>
            </a:endParaRPr>
          </a:p>
          <a:p>
            <a:pPr marL="367666" marR="316865" indent="-342900">
              <a:lnSpc>
                <a:spcPct val="109375"/>
              </a:lnSpc>
              <a:buSzPts val="3200"/>
              <a:buFontTx/>
              <a:buChar char="-"/>
            </a:pPr>
            <a:r>
              <a:rPr lang="en-US" sz="2400" dirty="0">
                <a:ea typeface="Calibri"/>
                <a:cs typeface="Calibri"/>
                <a:sym typeface="Calibri"/>
              </a:rPr>
              <a:t>Baby chick class = 3  </a:t>
            </a:r>
            <a:r>
              <a:rPr lang="en-US" sz="2400" dirty="0" smtClean="0">
                <a:latin typeface="+mj-lt"/>
                <a:ea typeface="Calibri"/>
                <a:cs typeface="Calibri"/>
                <a:sym typeface="Calibri"/>
              </a:rPr>
              <a:t> </a:t>
            </a:r>
            <a:endParaRPr lang="en-US" sz="2400" dirty="0">
              <a:latin typeface="+mj-lt"/>
              <a:ea typeface="Calibri"/>
              <a:cs typeface="Calibri"/>
              <a:sym typeface="Calibri"/>
            </a:endParaRPr>
          </a:p>
          <a:p>
            <a:pPr marL="367666" marR="316865" lvl="0" indent="-342900">
              <a:lnSpc>
                <a:spcPct val="109375"/>
              </a:lnSpc>
              <a:buSzPts val="3200"/>
              <a:buFontTx/>
              <a:buChar char="-"/>
            </a:pPr>
            <a:r>
              <a:rPr lang="en-US" sz="2400" dirty="0" smtClean="0">
                <a:latin typeface="+mj-lt"/>
                <a:ea typeface="Calibri"/>
                <a:cs typeface="Calibri"/>
                <a:sym typeface="Calibri"/>
              </a:rPr>
              <a:t>None class </a:t>
            </a:r>
            <a:r>
              <a:rPr lang="en-US" sz="2400" dirty="0">
                <a:latin typeface="+mj-lt"/>
                <a:ea typeface="Calibri"/>
                <a:cs typeface="Calibri"/>
                <a:sym typeface="Calibri"/>
              </a:rPr>
              <a:t>= </a:t>
            </a:r>
            <a:r>
              <a:rPr lang="en-US" sz="2400" dirty="0" smtClean="0">
                <a:latin typeface="+mj-lt"/>
                <a:ea typeface="Calibri"/>
                <a:cs typeface="Calibri"/>
                <a:sym typeface="Calibri"/>
              </a:rPr>
              <a:t>0 </a:t>
            </a:r>
            <a:endParaRPr lang="en-US" sz="2400" dirty="0">
              <a:latin typeface="+mj-lt"/>
              <a:ea typeface="Calibri"/>
              <a:cs typeface="Calibri"/>
              <a:sym typeface="Calibri"/>
            </a:endParaRPr>
          </a:p>
          <a:p>
            <a:pPr marL="367666" marR="316865" lvl="0" indent="-342900">
              <a:lnSpc>
                <a:spcPct val="109375"/>
              </a:lnSpc>
              <a:buSzPts val="3200"/>
              <a:buFontTx/>
              <a:buChar char="-"/>
            </a:pPr>
            <a:r>
              <a:rPr lang="en-US" sz="2400" dirty="0" smtClean="0">
                <a:latin typeface="+mj-lt"/>
                <a:ea typeface="Calibri"/>
                <a:cs typeface="Calibri"/>
                <a:sym typeface="Calibri"/>
              </a:rPr>
              <a:t>To </a:t>
            </a:r>
            <a:r>
              <a:rPr lang="en-US" sz="2400" dirty="0">
                <a:latin typeface="+mj-lt"/>
                <a:ea typeface="Calibri"/>
                <a:cs typeface="Calibri"/>
                <a:sym typeface="Calibri"/>
              </a:rPr>
              <a:t>represent a </a:t>
            </a:r>
            <a:r>
              <a:rPr lang="en-US" sz="2400" dirty="0" smtClean="0">
                <a:latin typeface="+mj-lt"/>
                <a:ea typeface="Calibri"/>
                <a:cs typeface="Calibri"/>
                <a:sym typeface="Calibri"/>
              </a:rPr>
              <a:t>cat </a:t>
            </a:r>
            <a:r>
              <a:rPr lang="en-US" sz="2400" dirty="0">
                <a:latin typeface="+mj-lt"/>
                <a:ea typeface="Calibri"/>
                <a:cs typeface="Calibri"/>
                <a:sym typeface="Calibri"/>
              </a:rPr>
              <a:t>vector </a:t>
            </a:r>
            <a:r>
              <a:rPr lang="en-US" sz="2400" dirty="0" smtClean="0">
                <a:latin typeface="+mj-lt"/>
                <a:ea typeface="Calibri"/>
                <a:cs typeface="Calibri"/>
                <a:sym typeface="Calibri"/>
              </a:rPr>
              <a:t>y </a:t>
            </a:r>
            <a:r>
              <a:rPr lang="en-US" sz="2400" dirty="0">
                <a:latin typeface="+mj-lt"/>
                <a:ea typeface="Calibri"/>
                <a:cs typeface="Calibri"/>
                <a:sym typeface="Calibri"/>
              </a:rPr>
              <a:t>= [0 1 0 0</a:t>
            </a:r>
            <a:r>
              <a:rPr lang="en-US" sz="2400" dirty="0" smtClean="0">
                <a:latin typeface="+mj-lt"/>
                <a:ea typeface="Calibri"/>
                <a:cs typeface="Calibri"/>
                <a:sym typeface="Calibri"/>
              </a:rPr>
              <a:t>] </a:t>
            </a:r>
            <a:endParaRPr lang="en-US" sz="2400" dirty="0">
              <a:latin typeface="+mj-lt"/>
              <a:ea typeface="Calibri"/>
              <a:cs typeface="Calibri"/>
              <a:sym typeface="Calibri"/>
            </a:endParaRPr>
          </a:p>
          <a:p>
            <a:pPr marL="367666" marR="316865" lvl="0" indent="-342900">
              <a:lnSpc>
                <a:spcPct val="109375"/>
              </a:lnSpc>
              <a:buSzPts val="3200"/>
              <a:buFontTx/>
              <a:buChar char="-"/>
            </a:pPr>
            <a:r>
              <a:rPr lang="en-US" sz="2400" dirty="0" smtClean="0">
                <a:latin typeface="+mj-lt"/>
                <a:ea typeface="Calibri"/>
                <a:cs typeface="Calibri"/>
                <a:sym typeface="Calibri"/>
              </a:rPr>
              <a:t>To </a:t>
            </a:r>
            <a:r>
              <a:rPr lang="en-US" sz="2400" dirty="0">
                <a:latin typeface="+mj-lt"/>
                <a:ea typeface="Calibri"/>
                <a:cs typeface="Calibri"/>
                <a:sym typeface="Calibri"/>
              </a:rPr>
              <a:t>represent a </a:t>
            </a:r>
            <a:r>
              <a:rPr lang="en-US" sz="2400" dirty="0" smtClean="0">
                <a:latin typeface="+mj-lt"/>
                <a:ea typeface="Calibri"/>
                <a:cs typeface="Calibri"/>
                <a:sym typeface="Calibri"/>
              </a:rPr>
              <a:t>dog </a:t>
            </a:r>
            <a:r>
              <a:rPr lang="en-US" sz="2400" dirty="0">
                <a:latin typeface="+mj-lt"/>
                <a:ea typeface="Calibri"/>
                <a:cs typeface="Calibri"/>
                <a:sym typeface="Calibri"/>
              </a:rPr>
              <a:t>vector </a:t>
            </a:r>
            <a:r>
              <a:rPr lang="en-US" sz="2400" dirty="0" smtClean="0">
                <a:latin typeface="+mj-lt"/>
                <a:ea typeface="Calibri"/>
                <a:cs typeface="Calibri"/>
                <a:sym typeface="Calibri"/>
              </a:rPr>
              <a:t>y </a:t>
            </a:r>
            <a:r>
              <a:rPr lang="en-US" sz="2400" dirty="0">
                <a:latin typeface="+mj-lt"/>
                <a:ea typeface="Calibri"/>
                <a:cs typeface="Calibri"/>
                <a:sym typeface="Calibri"/>
              </a:rPr>
              <a:t>= [0 0 1 0</a:t>
            </a:r>
            <a:r>
              <a:rPr lang="en-US" sz="2400" dirty="0" smtClean="0">
                <a:latin typeface="+mj-lt"/>
                <a:ea typeface="Calibri"/>
                <a:cs typeface="Calibri"/>
                <a:sym typeface="Calibri"/>
              </a:rPr>
              <a:t>]</a:t>
            </a:r>
          </a:p>
          <a:p>
            <a:pPr marL="367666" marR="316865" indent="-342900">
              <a:lnSpc>
                <a:spcPct val="109375"/>
              </a:lnSpc>
              <a:buSzPts val="3200"/>
              <a:buFontTx/>
              <a:buChar char="-"/>
            </a:pPr>
            <a:r>
              <a:rPr lang="en-US" sz="2400" dirty="0">
                <a:ea typeface="Calibri"/>
                <a:cs typeface="Calibri"/>
                <a:sym typeface="Calibri"/>
              </a:rPr>
              <a:t>To represent a baby chick vector y = [0 0 0 1]  </a:t>
            </a:r>
            <a:endParaRPr lang="en-US" sz="2400" dirty="0">
              <a:latin typeface="+mj-lt"/>
              <a:ea typeface="Calibri"/>
              <a:cs typeface="Calibri"/>
              <a:sym typeface="Calibri"/>
            </a:endParaRPr>
          </a:p>
          <a:p>
            <a:pPr marL="367666" marR="316865" lvl="0" indent="-342900">
              <a:lnSpc>
                <a:spcPct val="109375"/>
              </a:lnSpc>
              <a:buSzPts val="3200"/>
              <a:buFontTx/>
              <a:buChar char="-"/>
            </a:pPr>
            <a:r>
              <a:rPr lang="en-US" sz="2400" dirty="0" smtClean="0">
                <a:latin typeface="+mj-lt"/>
                <a:ea typeface="Calibri"/>
                <a:cs typeface="Calibri"/>
                <a:sym typeface="Calibri"/>
              </a:rPr>
              <a:t>To </a:t>
            </a:r>
            <a:r>
              <a:rPr lang="en-US" sz="2400" dirty="0">
                <a:latin typeface="+mj-lt"/>
                <a:ea typeface="Calibri"/>
                <a:cs typeface="Calibri"/>
                <a:sym typeface="Calibri"/>
              </a:rPr>
              <a:t>represent a </a:t>
            </a:r>
            <a:r>
              <a:rPr lang="en-US" sz="2400" dirty="0" smtClean="0">
                <a:latin typeface="+mj-lt"/>
                <a:ea typeface="Calibri"/>
                <a:cs typeface="Calibri"/>
                <a:sym typeface="Calibri"/>
              </a:rPr>
              <a:t>other </a:t>
            </a:r>
            <a:r>
              <a:rPr lang="en-US" sz="2400" dirty="0">
                <a:latin typeface="+mj-lt"/>
                <a:ea typeface="Calibri"/>
                <a:cs typeface="Calibri"/>
                <a:sym typeface="Calibri"/>
              </a:rPr>
              <a:t>vector </a:t>
            </a:r>
            <a:r>
              <a:rPr lang="en-US" sz="2400" dirty="0" smtClean="0">
                <a:latin typeface="+mj-lt"/>
                <a:ea typeface="Calibri"/>
                <a:cs typeface="Calibri"/>
                <a:sym typeface="Calibri"/>
              </a:rPr>
              <a:t>y </a:t>
            </a:r>
            <a:r>
              <a:rPr lang="en-US" sz="2400" dirty="0">
                <a:latin typeface="+mj-lt"/>
                <a:ea typeface="Calibri"/>
                <a:cs typeface="Calibri"/>
                <a:sym typeface="Calibri"/>
              </a:rPr>
              <a:t>= [1 0 0 0</a:t>
            </a:r>
            <a:r>
              <a:rPr lang="en-US" sz="2400" dirty="0" smtClean="0">
                <a:latin typeface="+mj-lt"/>
                <a:ea typeface="Calibri"/>
                <a:cs typeface="Calibri"/>
                <a:sym typeface="Calibri"/>
              </a:rPr>
              <a:t>]</a:t>
            </a:r>
          </a:p>
          <a:p>
            <a:pPr marL="367666" marR="316865" lvl="0" indent="-342900">
              <a:lnSpc>
                <a:spcPct val="109375"/>
              </a:lnSpc>
              <a:buSzPts val="3200"/>
              <a:buFontTx/>
              <a:buChar char="-"/>
            </a:pPr>
            <a:r>
              <a:rPr lang="en-US" sz="2400" dirty="0" smtClean="0">
                <a:latin typeface="+mj-lt"/>
                <a:ea typeface="Calibri"/>
                <a:cs typeface="Calibri"/>
                <a:sym typeface="Calibri"/>
              </a:rPr>
              <a:t>Notations</a:t>
            </a:r>
            <a:r>
              <a:rPr lang="en-US" sz="2400" dirty="0">
                <a:latin typeface="+mj-lt"/>
                <a:ea typeface="Calibri"/>
                <a:cs typeface="Calibri"/>
                <a:sym typeface="Calibri"/>
              </a:rPr>
              <a:t>: </a:t>
            </a:r>
            <a:endParaRPr lang="en-US" sz="2400" dirty="0" smtClean="0">
              <a:latin typeface="+mj-lt"/>
              <a:ea typeface="Calibri"/>
              <a:cs typeface="Calibri"/>
              <a:sym typeface="Calibri"/>
            </a:endParaRPr>
          </a:p>
          <a:p>
            <a:pPr marL="24766" marR="316865" lvl="0">
              <a:lnSpc>
                <a:spcPct val="109375"/>
              </a:lnSpc>
              <a:buSzPts val="3200"/>
            </a:pPr>
            <a:r>
              <a:rPr lang="en-US" sz="2400" dirty="0">
                <a:latin typeface="+mj-lt"/>
                <a:ea typeface="Calibri"/>
                <a:cs typeface="Calibri"/>
                <a:sym typeface="Calibri"/>
              </a:rPr>
              <a:t>	</a:t>
            </a:r>
            <a:r>
              <a:rPr lang="en-US" sz="2000" dirty="0" smtClean="0">
                <a:latin typeface="+mj-lt"/>
                <a:ea typeface="Calibri"/>
                <a:cs typeface="Calibri"/>
                <a:sym typeface="Calibri"/>
              </a:rPr>
              <a:t>- C </a:t>
            </a:r>
            <a:r>
              <a:rPr lang="en-US" sz="2000" dirty="0">
                <a:latin typeface="+mj-lt"/>
                <a:ea typeface="Calibri"/>
                <a:cs typeface="Calibri"/>
                <a:sym typeface="Calibri"/>
              </a:rPr>
              <a:t>= no. of </a:t>
            </a:r>
            <a:r>
              <a:rPr lang="en-US" sz="2000" dirty="0" smtClean="0">
                <a:latin typeface="+mj-lt"/>
                <a:ea typeface="Calibri"/>
                <a:cs typeface="Calibri"/>
                <a:sym typeface="Calibri"/>
              </a:rPr>
              <a:t>classes  </a:t>
            </a:r>
          </a:p>
          <a:p>
            <a:pPr marL="24766" marR="316865" lvl="0">
              <a:lnSpc>
                <a:spcPct val="109375"/>
              </a:lnSpc>
              <a:buSzPts val="3200"/>
            </a:pPr>
            <a:r>
              <a:rPr lang="en-US" sz="2000" dirty="0">
                <a:latin typeface="+mj-lt"/>
                <a:ea typeface="Calibri"/>
                <a:cs typeface="Calibri"/>
                <a:sym typeface="Calibri"/>
              </a:rPr>
              <a:t>	</a:t>
            </a:r>
            <a:r>
              <a:rPr lang="en-US" sz="2000" dirty="0" smtClean="0">
                <a:latin typeface="+mj-lt"/>
                <a:ea typeface="Calibri"/>
                <a:cs typeface="Calibri"/>
                <a:sym typeface="Calibri"/>
              </a:rPr>
              <a:t>- </a:t>
            </a:r>
            <a:r>
              <a:rPr lang="en-US" sz="2000" dirty="0">
                <a:latin typeface="+mj-lt"/>
                <a:ea typeface="Calibri"/>
                <a:cs typeface="Calibri"/>
                <a:sym typeface="Calibri"/>
              </a:rPr>
              <a:t>Range of classes is </a:t>
            </a:r>
            <a:r>
              <a:rPr lang="en-US" sz="2000" dirty="0" smtClean="0">
                <a:latin typeface="+mj-lt"/>
                <a:ea typeface="Calibri"/>
                <a:cs typeface="Calibri"/>
                <a:sym typeface="Calibri"/>
              </a:rPr>
              <a:t>(</a:t>
            </a:r>
            <a:r>
              <a:rPr lang="en-US" sz="2000" dirty="0">
                <a:latin typeface="+mj-lt"/>
                <a:ea typeface="Calibri"/>
                <a:cs typeface="Calibri"/>
                <a:sym typeface="Calibri"/>
              </a:rPr>
              <a:t>0, ..., C-1</a:t>
            </a:r>
            <a:r>
              <a:rPr lang="en-US" sz="2000" dirty="0" smtClean="0">
                <a:latin typeface="+mj-lt"/>
                <a:ea typeface="Calibri"/>
                <a:cs typeface="Calibri"/>
                <a:sym typeface="Calibri"/>
              </a:rPr>
              <a:t>)  </a:t>
            </a:r>
          </a:p>
          <a:p>
            <a:pPr marL="24766" marR="316865" lvl="0">
              <a:lnSpc>
                <a:spcPct val="109375"/>
              </a:lnSpc>
              <a:buSzPts val="3200"/>
            </a:pPr>
            <a:r>
              <a:rPr lang="en-US" sz="2000" dirty="0">
                <a:latin typeface="+mj-lt"/>
                <a:ea typeface="Calibri"/>
                <a:cs typeface="Calibri"/>
                <a:sym typeface="Calibri"/>
              </a:rPr>
              <a:t>	</a:t>
            </a:r>
            <a:r>
              <a:rPr lang="en-US" sz="2000" dirty="0" smtClean="0">
                <a:latin typeface="+mj-lt"/>
                <a:ea typeface="Calibri"/>
                <a:cs typeface="Calibri"/>
                <a:sym typeface="Calibri"/>
              </a:rPr>
              <a:t>- </a:t>
            </a:r>
            <a:r>
              <a:rPr lang="en-US" sz="2000" dirty="0">
                <a:latin typeface="+mj-lt"/>
                <a:ea typeface="Calibri"/>
                <a:cs typeface="Calibri"/>
                <a:sym typeface="Calibri"/>
              </a:rPr>
              <a:t>In output layer </a:t>
            </a:r>
            <a:r>
              <a:rPr lang="en-US" sz="2000" dirty="0" err="1" smtClean="0">
                <a:latin typeface="+mj-lt"/>
                <a:ea typeface="Calibri"/>
                <a:cs typeface="Calibri"/>
                <a:sym typeface="Calibri"/>
              </a:rPr>
              <a:t>Ny</a:t>
            </a:r>
            <a:r>
              <a:rPr lang="en-US" sz="2000" dirty="0" smtClean="0">
                <a:latin typeface="+mj-lt"/>
                <a:ea typeface="Calibri"/>
                <a:cs typeface="Calibri"/>
                <a:sym typeface="Calibri"/>
              </a:rPr>
              <a:t> </a:t>
            </a:r>
            <a:r>
              <a:rPr lang="en-US" sz="2000" dirty="0">
                <a:latin typeface="+mj-lt"/>
                <a:ea typeface="Calibri"/>
                <a:cs typeface="Calibri"/>
                <a:sym typeface="Calibri"/>
              </a:rPr>
              <a:t>= </a:t>
            </a:r>
            <a:r>
              <a:rPr lang="en-US" sz="2000" dirty="0" smtClean="0">
                <a:latin typeface="+mj-lt"/>
                <a:ea typeface="Calibri"/>
                <a:cs typeface="Calibri"/>
                <a:sym typeface="Calibri"/>
              </a:rPr>
              <a:t>C</a:t>
            </a:r>
            <a:endParaRPr lang="en-US" sz="2000" dirty="0">
              <a:latin typeface="+mj-lt"/>
              <a:ea typeface="Calibri"/>
              <a:cs typeface="Calibri"/>
              <a:sym typeface="Calibri"/>
            </a:endParaRPr>
          </a:p>
        </p:txBody>
      </p:sp>
      <p:sp>
        <p:nvSpPr>
          <p:cNvPr id="315" name="Google Shape;315;p24"/>
          <p:cNvSpPr txBox="1">
            <a:spLocks noGrp="1"/>
          </p:cNvSpPr>
          <p:nvPr>
            <p:ph type="title"/>
          </p:nvPr>
        </p:nvSpPr>
        <p:spPr>
          <a:xfrm>
            <a:off x="246121" y="170700"/>
            <a:ext cx="10488351"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Recognizing cats, dogs, and baby chicks</a:t>
            </a: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33</a:t>
            </a:fld>
            <a:endParaRPr>
              <a:latin typeface="+mj-lt"/>
            </a:endParaRPr>
          </a:p>
        </p:txBody>
      </p:sp>
    </p:spTree>
    <p:extLst>
      <p:ext uri="{BB962C8B-B14F-4D97-AF65-F5344CB8AC3E}">
        <p14:creationId xmlns:p14="http://schemas.microsoft.com/office/powerpoint/2010/main" val="17343705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p26"/>
          <p:cNvSpPr txBox="1">
            <a:spLocks noGrp="1"/>
          </p:cNvSpPr>
          <p:nvPr>
            <p:ph type="title"/>
          </p:nvPr>
        </p:nvSpPr>
        <p:spPr>
          <a:xfrm>
            <a:off x="261620" y="139700"/>
            <a:ext cx="1022858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Recognizing cats, dogs, and baby chicks</a:t>
            </a:r>
            <a:endParaRPr sz="4400" dirty="0">
              <a:latin typeface="+mj-lt"/>
              <a:ea typeface="Cambria"/>
              <a:cs typeface="Cambria"/>
              <a:sym typeface="Cambria"/>
            </a:endParaRPr>
          </a:p>
        </p:txBody>
      </p:sp>
      <p:pic>
        <p:nvPicPr>
          <p:cNvPr id="332" name="Google Shape;332;p26"/>
          <p:cNvPicPr preferRelativeResize="0"/>
          <p:nvPr/>
        </p:nvPicPr>
        <p:blipFill rotWithShape="1">
          <a:blip r:embed="rId3">
            <a:alphaModFix/>
          </a:blip>
          <a:srcRect/>
          <a:stretch/>
        </p:blipFill>
        <p:spPr>
          <a:xfrm>
            <a:off x="182879" y="1219682"/>
            <a:ext cx="1334846" cy="1176375"/>
          </a:xfrm>
          <a:prstGeom prst="rect">
            <a:avLst/>
          </a:prstGeom>
          <a:noFill/>
          <a:ln>
            <a:noFill/>
          </a:ln>
        </p:spPr>
      </p:pic>
      <p:pic>
        <p:nvPicPr>
          <p:cNvPr id="333" name="Google Shape;333;p26"/>
          <p:cNvPicPr preferRelativeResize="0"/>
          <p:nvPr/>
        </p:nvPicPr>
        <p:blipFill rotWithShape="1">
          <a:blip r:embed="rId4">
            <a:alphaModFix/>
          </a:blip>
          <a:srcRect/>
          <a:stretch/>
        </p:blipFill>
        <p:spPr>
          <a:xfrm>
            <a:off x="1666405" y="1219695"/>
            <a:ext cx="1334846" cy="1176375"/>
          </a:xfrm>
          <a:prstGeom prst="rect">
            <a:avLst/>
          </a:prstGeom>
          <a:noFill/>
          <a:ln>
            <a:noFill/>
          </a:ln>
        </p:spPr>
      </p:pic>
      <p:pic>
        <p:nvPicPr>
          <p:cNvPr id="334" name="Google Shape;334;p26"/>
          <p:cNvPicPr preferRelativeResize="0"/>
          <p:nvPr/>
        </p:nvPicPr>
        <p:blipFill rotWithShape="1">
          <a:blip r:embed="rId5">
            <a:alphaModFix/>
          </a:blip>
          <a:srcRect/>
          <a:stretch/>
        </p:blipFill>
        <p:spPr>
          <a:xfrm>
            <a:off x="10567606" y="1229944"/>
            <a:ext cx="1334846" cy="1176375"/>
          </a:xfrm>
          <a:prstGeom prst="rect">
            <a:avLst/>
          </a:prstGeom>
          <a:noFill/>
          <a:ln>
            <a:noFill/>
          </a:ln>
        </p:spPr>
      </p:pic>
      <p:pic>
        <p:nvPicPr>
          <p:cNvPr id="335" name="Google Shape;335;p26"/>
          <p:cNvPicPr preferRelativeResize="0"/>
          <p:nvPr/>
        </p:nvPicPr>
        <p:blipFill rotWithShape="1">
          <a:blip r:embed="rId6">
            <a:alphaModFix/>
          </a:blip>
          <a:srcRect/>
          <a:stretch/>
        </p:blipFill>
        <p:spPr>
          <a:xfrm>
            <a:off x="6117005" y="1219682"/>
            <a:ext cx="1334846" cy="1176375"/>
          </a:xfrm>
          <a:prstGeom prst="rect">
            <a:avLst/>
          </a:prstGeom>
          <a:noFill/>
          <a:ln>
            <a:noFill/>
          </a:ln>
        </p:spPr>
      </p:pic>
      <p:pic>
        <p:nvPicPr>
          <p:cNvPr id="336" name="Google Shape;336;p26"/>
          <p:cNvPicPr preferRelativeResize="0"/>
          <p:nvPr/>
        </p:nvPicPr>
        <p:blipFill rotWithShape="1">
          <a:blip r:embed="rId7">
            <a:alphaModFix/>
          </a:blip>
          <a:srcRect/>
          <a:stretch/>
        </p:blipFill>
        <p:spPr>
          <a:xfrm>
            <a:off x="7600543" y="1219682"/>
            <a:ext cx="1334846" cy="1176375"/>
          </a:xfrm>
          <a:prstGeom prst="rect">
            <a:avLst/>
          </a:prstGeom>
          <a:noFill/>
          <a:ln>
            <a:noFill/>
          </a:ln>
        </p:spPr>
      </p:pic>
      <p:pic>
        <p:nvPicPr>
          <p:cNvPr id="337" name="Google Shape;337;p26"/>
          <p:cNvPicPr preferRelativeResize="0"/>
          <p:nvPr/>
        </p:nvPicPr>
        <p:blipFill rotWithShape="1">
          <a:blip r:embed="rId8">
            <a:alphaModFix/>
          </a:blip>
          <a:srcRect/>
          <a:stretch/>
        </p:blipFill>
        <p:spPr>
          <a:xfrm>
            <a:off x="3149942" y="1219682"/>
            <a:ext cx="1334846" cy="1176375"/>
          </a:xfrm>
          <a:prstGeom prst="rect">
            <a:avLst/>
          </a:prstGeom>
          <a:noFill/>
          <a:ln>
            <a:noFill/>
          </a:ln>
        </p:spPr>
      </p:pic>
      <p:pic>
        <p:nvPicPr>
          <p:cNvPr id="338" name="Google Shape;338;p26"/>
          <p:cNvPicPr preferRelativeResize="0"/>
          <p:nvPr/>
        </p:nvPicPr>
        <p:blipFill rotWithShape="1">
          <a:blip r:embed="rId9">
            <a:alphaModFix/>
          </a:blip>
          <a:srcRect/>
          <a:stretch/>
        </p:blipFill>
        <p:spPr>
          <a:xfrm>
            <a:off x="9084068" y="1229932"/>
            <a:ext cx="1334846" cy="1166125"/>
          </a:xfrm>
          <a:prstGeom prst="rect">
            <a:avLst/>
          </a:prstGeom>
          <a:noFill/>
          <a:ln>
            <a:noFill/>
          </a:ln>
        </p:spPr>
      </p:pic>
      <p:pic>
        <p:nvPicPr>
          <p:cNvPr id="339" name="Google Shape;339;p26"/>
          <p:cNvPicPr preferRelativeResize="0"/>
          <p:nvPr/>
        </p:nvPicPr>
        <p:blipFill rotWithShape="1">
          <a:blip r:embed="rId10">
            <a:alphaModFix/>
          </a:blip>
          <a:srcRect/>
          <a:stretch/>
        </p:blipFill>
        <p:spPr>
          <a:xfrm>
            <a:off x="4633480" y="1219688"/>
            <a:ext cx="1334846" cy="1186630"/>
          </a:xfrm>
          <a:prstGeom prst="rect">
            <a:avLst/>
          </a:prstGeom>
          <a:noFill/>
          <a:ln>
            <a:noFill/>
          </a:ln>
        </p:spPr>
      </p:pic>
      <p:sp>
        <p:nvSpPr>
          <p:cNvPr id="340" name="Google Shape;340;p26"/>
          <p:cNvSpPr txBox="1"/>
          <p:nvPr/>
        </p:nvSpPr>
        <p:spPr>
          <a:xfrm>
            <a:off x="2242794"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1</a:t>
            </a:r>
            <a:endParaRPr sz="2800" b="0" i="0" u="none" strike="noStrike" cap="none">
              <a:solidFill>
                <a:srgbClr val="000000"/>
              </a:solidFill>
              <a:latin typeface="+mj-lt"/>
              <a:ea typeface="Cambria"/>
              <a:cs typeface="Cambria"/>
              <a:sym typeface="Cambria"/>
            </a:endParaRPr>
          </a:p>
        </p:txBody>
      </p:sp>
      <p:sp>
        <p:nvSpPr>
          <p:cNvPr id="341" name="Google Shape;341;p26"/>
          <p:cNvSpPr txBox="1"/>
          <p:nvPr/>
        </p:nvSpPr>
        <p:spPr>
          <a:xfrm>
            <a:off x="3683330" y="2604071"/>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mj-lt"/>
                <a:ea typeface="Cambria"/>
                <a:cs typeface="Cambria"/>
                <a:sym typeface="Cambria"/>
              </a:rPr>
              <a:t>2</a:t>
            </a:r>
            <a:endParaRPr sz="2800" b="0" i="0" u="none" strike="noStrike" cap="none" dirty="0">
              <a:solidFill>
                <a:srgbClr val="000000"/>
              </a:solidFill>
              <a:latin typeface="+mj-lt"/>
              <a:ea typeface="Cambria"/>
              <a:cs typeface="Cambria"/>
              <a:sym typeface="Cambria"/>
            </a:endParaRPr>
          </a:p>
        </p:txBody>
      </p:sp>
      <p:sp>
        <p:nvSpPr>
          <p:cNvPr id="342" name="Google Shape;342;p26"/>
          <p:cNvSpPr txBox="1"/>
          <p:nvPr/>
        </p:nvSpPr>
        <p:spPr>
          <a:xfrm>
            <a:off x="11121059"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1</a:t>
            </a:r>
            <a:endParaRPr sz="2800" b="0" i="0" u="none" strike="noStrike" cap="none">
              <a:solidFill>
                <a:srgbClr val="000000"/>
              </a:solidFill>
              <a:latin typeface="+mj-lt"/>
              <a:ea typeface="Cambria"/>
              <a:cs typeface="Cambria"/>
              <a:sym typeface="Cambria"/>
            </a:endParaRPr>
          </a:p>
        </p:txBody>
      </p:sp>
      <p:sp>
        <p:nvSpPr>
          <p:cNvPr id="343" name="Google Shape;343;p26"/>
          <p:cNvSpPr txBox="1"/>
          <p:nvPr/>
        </p:nvSpPr>
        <p:spPr>
          <a:xfrm>
            <a:off x="736473"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3</a:t>
            </a:r>
            <a:endParaRPr sz="2800" b="0" i="0" u="none" strike="noStrike" cap="none">
              <a:solidFill>
                <a:srgbClr val="000000"/>
              </a:solidFill>
              <a:latin typeface="+mj-lt"/>
              <a:ea typeface="Cambria"/>
              <a:cs typeface="Cambria"/>
              <a:sym typeface="Cambria"/>
            </a:endParaRPr>
          </a:p>
        </p:txBody>
      </p:sp>
      <p:sp>
        <p:nvSpPr>
          <p:cNvPr id="344" name="Google Shape;344;p26"/>
          <p:cNvSpPr txBox="1"/>
          <p:nvPr/>
        </p:nvSpPr>
        <p:spPr>
          <a:xfrm>
            <a:off x="6670726"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3</a:t>
            </a:r>
            <a:endParaRPr sz="2800" b="0" i="0" u="none" strike="noStrike" cap="none">
              <a:solidFill>
                <a:srgbClr val="000000"/>
              </a:solidFill>
              <a:latin typeface="+mj-lt"/>
              <a:ea typeface="Cambria"/>
              <a:cs typeface="Cambria"/>
              <a:sym typeface="Cambria"/>
            </a:endParaRPr>
          </a:p>
        </p:txBody>
      </p:sp>
      <p:sp>
        <p:nvSpPr>
          <p:cNvPr id="345" name="Google Shape;345;p26"/>
          <p:cNvSpPr txBox="1"/>
          <p:nvPr/>
        </p:nvSpPr>
        <p:spPr>
          <a:xfrm>
            <a:off x="5246903" y="260584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0</a:t>
            </a:r>
            <a:endParaRPr sz="2800" b="0" i="0" u="none" strike="noStrike" cap="none">
              <a:solidFill>
                <a:srgbClr val="000000"/>
              </a:solidFill>
              <a:latin typeface="+mj-lt"/>
              <a:ea typeface="Cambria"/>
              <a:cs typeface="Cambria"/>
              <a:sym typeface="Cambria"/>
            </a:endParaRPr>
          </a:p>
        </p:txBody>
      </p:sp>
      <p:sp>
        <p:nvSpPr>
          <p:cNvPr id="346" name="Google Shape;346;p26"/>
          <p:cNvSpPr txBox="1"/>
          <p:nvPr/>
        </p:nvSpPr>
        <p:spPr>
          <a:xfrm>
            <a:off x="9637852" y="2600159"/>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0</a:t>
            </a:r>
            <a:endParaRPr sz="2800" b="0" i="0" u="none" strike="noStrike" cap="none">
              <a:solidFill>
                <a:srgbClr val="000000"/>
              </a:solidFill>
              <a:latin typeface="+mj-lt"/>
              <a:ea typeface="Cambria"/>
              <a:cs typeface="Cambria"/>
              <a:sym typeface="Cambria"/>
            </a:endParaRPr>
          </a:p>
        </p:txBody>
      </p:sp>
      <p:sp>
        <p:nvSpPr>
          <p:cNvPr id="347" name="Google Shape;347;p26"/>
          <p:cNvSpPr txBox="1"/>
          <p:nvPr/>
        </p:nvSpPr>
        <p:spPr>
          <a:xfrm>
            <a:off x="8230743" y="2594470"/>
            <a:ext cx="22352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mj-lt"/>
                <a:ea typeface="Cambria"/>
                <a:cs typeface="Cambria"/>
                <a:sym typeface="Cambria"/>
              </a:rPr>
              <a:t>2</a:t>
            </a:r>
            <a:endParaRPr sz="2800" b="0" i="0" u="none" strike="noStrike" cap="none">
              <a:solidFill>
                <a:srgbClr val="000000"/>
              </a:solidFill>
              <a:latin typeface="+mj-lt"/>
              <a:ea typeface="Cambria"/>
              <a:cs typeface="Cambria"/>
              <a:sym typeface="Cambria"/>
            </a:endParaRPr>
          </a:p>
        </p:txBody>
      </p:sp>
      <p:pic>
        <p:nvPicPr>
          <p:cNvPr id="349" name="Google Shape;349;p26"/>
          <p:cNvPicPr preferRelativeResize="0"/>
          <p:nvPr/>
        </p:nvPicPr>
        <p:blipFill rotWithShape="1">
          <a:blip r:embed="rId11">
            <a:alphaModFix/>
          </a:blip>
          <a:srcRect/>
          <a:stretch/>
        </p:blipFill>
        <p:spPr>
          <a:xfrm>
            <a:off x="10734473" y="0"/>
            <a:ext cx="1448025" cy="796414"/>
          </a:xfrm>
          <a:prstGeom prst="rect">
            <a:avLst/>
          </a:prstGeom>
          <a:noFill/>
          <a:ln>
            <a:noFill/>
          </a:ln>
        </p:spPr>
      </p:pic>
      <p:sp>
        <p:nvSpPr>
          <p:cNvPr id="350" name="Google Shape;350;p2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34</a:t>
            </a:fld>
            <a:endParaRPr>
              <a:latin typeface="+mj-lt"/>
            </a:endParaRPr>
          </a:p>
        </p:txBody>
      </p:sp>
      <p:grpSp>
        <p:nvGrpSpPr>
          <p:cNvPr id="10" name="Group 9"/>
          <p:cNvGrpSpPr/>
          <p:nvPr/>
        </p:nvGrpSpPr>
        <p:grpSpPr>
          <a:xfrm>
            <a:off x="428743" y="3036806"/>
            <a:ext cx="8864376" cy="2510019"/>
            <a:chOff x="1229193" y="3221960"/>
            <a:chExt cx="8864376" cy="2510019"/>
          </a:xfrm>
        </p:grpSpPr>
        <p:pic>
          <p:nvPicPr>
            <p:cNvPr id="348" name="Google Shape;348;p26"/>
            <p:cNvPicPr preferRelativeResize="0"/>
            <p:nvPr/>
          </p:nvPicPr>
          <p:blipFill rotWithShape="1">
            <a:blip r:embed="rId12">
              <a:alphaModFix/>
            </a:blip>
            <a:srcRect/>
            <a:stretch/>
          </p:blipFill>
          <p:spPr>
            <a:xfrm>
              <a:off x="1229193" y="3274727"/>
              <a:ext cx="7854875" cy="2457252"/>
            </a:xfrm>
            <a:prstGeom prst="rect">
              <a:avLst/>
            </a:prstGeom>
            <a:noFill/>
            <a:ln>
              <a:noFill/>
            </a:ln>
          </p:spPr>
        </p:pic>
        <p:cxnSp>
          <p:nvCxnSpPr>
            <p:cNvPr id="3" name="Straight Connector 2"/>
            <p:cNvCxnSpPr>
              <a:endCxn id="4" idx="1"/>
            </p:cNvCxnSpPr>
            <p:nvPr/>
          </p:nvCxnSpPr>
          <p:spPr>
            <a:xfrm flipV="1">
              <a:off x="7728438" y="3375849"/>
              <a:ext cx="850072" cy="677406"/>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578510" y="3221960"/>
              <a:ext cx="1011115" cy="307777"/>
            </a:xfrm>
            <a:prstGeom prst="rect">
              <a:avLst/>
            </a:prstGeom>
            <a:noFill/>
          </p:spPr>
          <p:txBody>
            <a:bodyPr wrap="square" rtlCol="0">
              <a:spAutoFit/>
            </a:bodyPr>
            <a:lstStyle/>
            <a:p>
              <a:r>
                <a:rPr lang="en-US" dirty="0" smtClean="0"/>
                <a:t>P(</a:t>
              </a:r>
              <a:r>
                <a:rPr lang="en-US" dirty="0" err="1" smtClean="0"/>
                <a:t>other|x</a:t>
              </a:r>
              <a:r>
                <a:rPr lang="en-US" dirty="0" smtClean="0"/>
                <a:t>)</a:t>
              </a:r>
              <a:endParaRPr lang="en-US" dirty="0"/>
            </a:p>
          </p:txBody>
        </p:sp>
        <p:cxnSp>
          <p:nvCxnSpPr>
            <p:cNvPr id="26" name="Straight Connector 25"/>
            <p:cNvCxnSpPr/>
            <p:nvPr/>
          </p:nvCxnSpPr>
          <p:spPr>
            <a:xfrm flipV="1">
              <a:off x="7674530" y="4258422"/>
              <a:ext cx="779733" cy="4835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7728438" y="3642073"/>
              <a:ext cx="850072" cy="677406"/>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578509" y="3535208"/>
              <a:ext cx="1011115" cy="307777"/>
            </a:xfrm>
            <a:prstGeom prst="rect">
              <a:avLst/>
            </a:prstGeom>
            <a:noFill/>
          </p:spPr>
          <p:txBody>
            <a:bodyPr wrap="square" rtlCol="0">
              <a:spAutoFit/>
            </a:bodyPr>
            <a:lstStyle/>
            <a:p>
              <a:r>
                <a:rPr lang="en-US" dirty="0" smtClean="0"/>
                <a:t>P(</a:t>
              </a:r>
              <a:r>
                <a:rPr lang="en-US" dirty="0" err="1" smtClean="0"/>
                <a:t>cat|x</a:t>
              </a:r>
              <a:r>
                <a:rPr lang="en-US" dirty="0" smtClean="0"/>
                <a:t>)</a:t>
              </a:r>
              <a:endParaRPr lang="en-US" dirty="0"/>
            </a:p>
          </p:txBody>
        </p:sp>
        <p:sp>
          <p:nvSpPr>
            <p:cNvPr id="32" name="TextBox 31"/>
            <p:cNvSpPr txBox="1"/>
            <p:nvPr/>
          </p:nvSpPr>
          <p:spPr>
            <a:xfrm>
              <a:off x="8429831" y="4001950"/>
              <a:ext cx="1011115" cy="307777"/>
            </a:xfrm>
            <a:prstGeom prst="rect">
              <a:avLst/>
            </a:prstGeom>
            <a:noFill/>
          </p:spPr>
          <p:txBody>
            <a:bodyPr wrap="square" rtlCol="0">
              <a:spAutoFit/>
            </a:bodyPr>
            <a:lstStyle/>
            <a:p>
              <a:r>
                <a:rPr lang="en-US" dirty="0" smtClean="0"/>
                <a:t>P(</a:t>
              </a:r>
              <a:r>
                <a:rPr lang="en-US" dirty="0" err="1" smtClean="0"/>
                <a:t>dog|x</a:t>
              </a:r>
              <a:r>
                <a:rPr lang="en-US" dirty="0" smtClean="0"/>
                <a:t>)</a:t>
              </a:r>
              <a:endParaRPr lang="en-US" dirty="0"/>
            </a:p>
          </p:txBody>
        </p:sp>
        <p:cxnSp>
          <p:nvCxnSpPr>
            <p:cNvPr id="34" name="Straight Connector 33"/>
            <p:cNvCxnSpPr/>
            <p:nvPr/>
          </p:nvCxnSpPr>
          <p:spPr>
            <a:xfrm flipV="1">
              <a:off x="7826930" y="4635302"/>
              <a:ext cx="833493" cy="259098"/>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8606663" y="4434223"/>
              <a:ext cx="1486906" cy="307777"/>
            </a:xfrm>
            <a:prstGeom prst="rect">
              <a:avLst/>
            </a:prstGeom>
            <a:noFill/>
          </p:spPr>
          <p:txBody>
            <a:bodyPr wrap="square" rtlCol="0">
              <a:spAutoFit/>
            </a:bodyPr>
            <a:lstStyle/>
            <a:p>
              <a:r>
                <a:rPr lang="en-US" dirty="0" smtClean="0"/>
                <a:t>P(baby </a:t>
              </a:r>
              <a:r>
                <a:rPr lang="en-US" dirty="0" err="1" smtClean="0"/>
                <a:t>chick|x</a:t>
              </a:r>
              <a:r>
                <a:rPr lang="en-US" dirty="0" smtClean="0"/>
                <a:t>)</a:t>
              </a:r>
              <a:endParaRPr lang="en-US" dirty="0"/>
            </a:p>
          </p:txBody>
        </p:sp>
      </p:grpSp>
      <p:sp>
        <p:nvSpPr>
          <p:cNvPr id="11" name="TextBox 10"/>
          <p:cNvSpPr txBox="1"/>
          <p:nvPr/>
        </p:nvSpPr>
        <p:spPr>
          <a:xfrm>
            <a:off x="542682" y="5274229"/>
            <a:ext cx="11148646" cy="1323439"/>
          </a:xfrm>
          <a:prstGeom prst="rect">
            <a:avLst/>
          </a:prstGeom>
          <a:noFill/>
        </p:spPr>
        <p:txBody>
          <a:bodyPr wrap="square" rtlCol="0">
            <a:spAutoFit/>
          </a:bodyPr>
          <a:lstStyle/>
          <a:p>
            <a:pPr marL="285750" indent="-285750">
              <a:buFontTx/>
              <a:buChar char="-"/>
            </a:pPr>
            <a:r>
              <a:rPr lang="en-US" sz="2000" dirty="0" smtClean="0"/>
              <a:t>Each </a:t>
            </a:r>
            <a:r>
              <a:rPr lang="en-US" sz="2000" dirty="0"/>
              <a:t>of C values in the output layer will contain a probability of the example to belong to each of the </a:t>
            </a:r>
            <a:r>
              <a:rPr lang="en-US" sz="2000" dirty="0" smtClean="0"/>
              <a:t>classes.</a:t>
            </a:r>
          </a:p>
          <a:p>
            <a:pPr marL="285750" indent="-285750">
              <a:buFontTx/>
              <a:buChar char="-"/>
            </a:pPr>
            <a:r>
              <a:rPr lang="en-US" sz="2000" dirty="0" smtClean="0"/>
              <a:t>In </a:t>
            </a:r>
            <a:r>
              <a:rPr lang="en-US" sz="2000" dirty="0"/>
              <a:t>the last layer we will have to activate the </a:t>
            </a:r>
            <a:r>
              <a:rPr lang="en-US" sz="2000" dirty="0" err="1"/>
              <a:t>Softmax</a:t>
            </a:r>
            <a:r>
              <a:rPr lang="en-US" sz="2000" dirty="0"/>
              <a:t> activation function instead of the sigmoid activation.</a:t>
            </a:r>
          </a:p>
        </p:txBody>
      </p:sp>
      <p:sp>
        <p:nvSpPr>
          <p:cNvPr id="12" name="TextBox 11"/>
          <p:cNvSpPr txBox="1"/>
          <p:nvPr/>
        </p:nvSpPr>
        <p:spPr>
          <a:xfrm>
            <a:off x="8985011" y="3902046"/>
            <a:ext cx="2161425" cy="307777"/>
          </a:xfrm>
          <a:prstGeom prst="rect">
            <a:avLst/>
          </a:prstGeom>
          <a:noFill/>
        </p:spPr>
        <p:txBody>
          <a:bodyPr wrap="square" rtlCol="0">
            <a:spAutoFit/>
          </a:bodyPr>
          <a:lstStyle/>
          <a:p>
            <a:r>
              <a:rPr lang="cy-GB" dirty="0" smtClean="0"/>
              <a:t>(4,1) vector</a:t>
            </a:r>
            <a:endParaRPr lang="en-US" dirty="0"/>
          </a:p>
        </p:txBody>
      </p:sp>
      <p:cxnSp>
        <p:nvCxnSpPr>
          <p:cNvPr id="14" name="Straight Connector 13"/>
          <p:cNvCxnSpPr>
            <a:endCxn id="12" idx="1"/>
          </p:cNvCxnSpPr>
          <p:nvPr/>
        </p:nvCxnSpPr>
        <p:spPr>
          <a:xfrm flipV="1">
            <a:off x="7517808" y="4055935"/>
            <a:ext cx="1467203" cy="2033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026480" y="4950069"/>
            <a:ext cx="956935" cy="17585"/>
          </a:xfrm>
          <a:prstGeom prst="line">
            <a:avLst/>
          </a:prstGeom>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8003355" y="4774490"/>
            <a:ext cx="1193399" cy="307777"/>
          </a:xfrm>
          <a:prstGeom prst="rect">
            <a:avLst/>
          </a:prstGeom>
          <a:noFill/>
        </p:spPr>
        <p:txBody>
          <a:bodyPr wrap="square" rtlCol="0">
            <a:spAutoFit/>
          </a:bodyPr>
          <a:lstStyle/>
          <a:p>
            <a:r>
              <a:rPr lang="cy-GB" dirty="0" smtClean="0"/>
              <a:t>n</a:t>
            </a:r>
            <a:r>
              <a:rPr lang="cy-GB" baseline="30000" dirty="0" smtClean="0"/>
              <a:t>[L]</a:t>
            </a:r>
            <a:r>
              <a:rPr lang="cy-GB" dirty="0" smtClean="0"/>
              <a:t> = C = 4</a:t>
            </a:r>
            <a:endParaRPr lang="en-US" dirty="0"/>
          </a:p>
        </p:txBody>
      </p:sp>
    </p:spTree>
    <p:extLst>
      <p:ext uri="{BB962C8B-B14F-4D97-AF65-F5344CB8AC3E}">
        <p14:creationId xmlns:p14="http://schemas.microsoft.com/office/powerpoint/2010/main" val="31742726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14" name="Google Shape;314;p24"/>
              <p:cNvSpPr txBox="1"/>
              <p:nvPr/>
            </p:nvSpPr>
            <p:spPr>
              <a:xfrm>
                <a:off x="527538" y="1332980"/>
                <a:ext cx="11271739" cy="3569760"/>
              </a:xfrm>
              <a:prstGeom prst="rect">
                <a:avLst/>
              </a:prstGeom>
              <a:noFill/>
              <a:ln>
                <a:noFill/>
              </a:ln>
            </p:spPr>
            <p:txBody>
              <a:bodyPr spcFirstLastPara="1" wrap="square" lIns="0" tIns="63500" rIns="0" bIns="0" anchor="t" anchorCtr="0">
                <a:spAutoFit/>
              </a:bodyPr>
              <a:lstStyle/>
              <a:p>
                <a:pPr marL="254000" marR="316865" lvl="0" indent="-229234">
                  <a:lnSpc>
                    <a:spcPct val="109375"/>
                  </a:lnSpc>
                  <a:buSzPts val="3200"/>
                  <a:buFont typeface="Arial"/>
                  <a:buChar char="•"/>
                </a:pPr>
                <a:r>
                  <a:rPr lang="en-US" sz="2400" dirty="0" smtClean="0">
                    <a:latin typeface="+mj-lt"/>
                    <a:ea typeface="Calibri"/>
                    <a:cs typeface="Calibri"/>
                    <a:sym typeface="Calibri"/>
                  </a:rPr>
                  <a:t>This is how a neural network for a multi-class classification looks like. So, for layer L, the output will be:</a:t>
                </a:r>
              </a:p>
              <a:p>
                <a:pPr marL="24766" marR="316865" lvl="0">
                  <a:lnSpc>
                    <a:spcPct val="109375"/>
                  </a:lnSpc>
                  <a:buSzPts val="3200"/>
                </a:pPr>
                <a:r>
                  <a:rPr lang="en-US" sz="2400" dirty="0" smtClean="0">
                    <a:latin typeface="+mj-lt"/>
                    <a:ea typeface="Calibri"/>
                    <a:cs typeface="Calibri"/>
                    <a:sym typeface="Calibri"/>
                  </a:rPr>
                  <a:t>		Z</a:t>
                </a:r>
                <a:r>
                  <a:rPr lang="en-US" sz="2400" baseline="30000" dirty="0" smtClean="0">
                    <a:latin typeface="+mj-lt"/>
                    <a:ea typeface="Calibri"/>
                    <a:cs typeface="Calibri"/>
                    <a:sym typeface="Calibri"/>
                  </a:rPr>
                  <a:t>[L</a:t>
                </a:r>
                <a:r>
                  <a:rPr lang="en-US" sz="2400" baseline="30000" dirty="0">
                    <a:latin typeface="+mj-lt"/>
                    <a:ea typeface="Calibri"/>
                    <a:cs typeface="Calibri"/>
                    <a:sym typeface="Calibri"/>
                  </a:rPr>
                  <a:t>]</a:t>
                </a:r>
                <a:r>
                  <a:rPr lang="en-US" sz="2400" dirty="0">
                    <a:latin typeface="+mj-lt"/>
                    <a:ea typeface="Calibri"/>
                    <a:cs typeface="Calibri"/>
                    <a:sym typeface="Calibri"/>
                  </a:rPr>
                  <a:t> = W</a:t>
                </a:r>
                <a:r>
                  <a:rPr lang="en-US" sz="2400" baseline="30000" dirty="0">
                    <a:latin typeface="+mj-lt"/>
                    <a:ea typeface="Calibri"/>
                    <a:cs typeface="Calibri"/>
                    <a:sym typeface="Calibri"/>
                  </a:rPr>
                  <a:t>[L]</a:t>
                </a:r>
                <a:r>
                  <a:rPr lang="en-US" sz="2400" dirty="0">
                    <a:latin typeface="+mj-lt"/>
                    <a:ea typeface="Calibri"/>
                    <a:cs typeface="Calibri"/>
                    <a:sym typeface="Calibri"/>
                  </a:rPr>
                  <a:t>*a</a:t>
                </a:r>
                <a:r>
                  <a:rPr lang="en-US" sz="2400" baseline="30000" dirty="0">
                    <a:latin typeface="+mj-lt"/>
                    <a:ea typeface="Calibri"/>
                    <a:cs typeface="Calibri"/>
                    <a:sym typeface="Calibri"/>
                  </a:rPr>
                  <a:t>[L-1]</a:t>
                </a:r>
                <a:r>
                  <a:rPr lang="en-US" sz="2400" dirty="0">
                    <a:latin typeface="+mj-lt"/>
                    <a:ea typeface="Calibri"/>
                    <a:cs typeface="Calibri"/>
                    <a:sym typeface="Calibri"/>
                  </a:rPr>
                  <a:t> + b</a:t>
                </a:r>
                <a:r>
                  <a:rPr lang="en-US" sz="2400" baseline="30000" dirty="0">
                    <a:latin typeface="+mj-lt"/>
                    <a:ea typeface="Calibri"/>
                    <a:cs typeface="Calibri"/>
                    <a:sym typeface="Calibri"/>
                  </a:rPr>
                  <a:t>[L</a:t>
                </a:r>
                <a:r>
                  <a:rPr lang="en-US" sz="2400" baseline="30000" dirty="0" smtClean="0">
                    <a:latin typeface="+mj-lt"/>
                    <a:ea typeface="Calibri"/>
                    <a:cs typeface="Calibri"/>
                    <a:sym typeface="Calibri"/>
                  </a:rPr>
                  <a:t>] </a:t>
                </a:r>
              </a:p>
              <a:p>
                <a:pPr marL="367666" marR="316865" lvl="0" indent="-342900">
                  <a:lnSpc>
                    <a:spcPct val="109375"/>
                  </a:lnSpc>
                  <a:buSzPts val="3200"/>
                  <a:buFont typeface="Arial" panose="020B0604020202020204" pitchFamily="34" charset="0"/>
                  <a:buChar char="•"/>
                </a:pPr>
                <a:r>
                  <a:rPr lang="en-US" sz="2400" dirty="0">
                    <a:latin typeface="+mj-lt"/>
                    <a:ea typeface="Calibri"/>
                    <a:cs typeface="Calibri"/>
                    <a:sym typeface="Calibri"/>
                  </a:rPr>
                  <a:t>The activation function will be</a:t>
                </a:r>
                <a:r>
                  <a:rPr lang="en-US" sz="2400" dirty="0" smtClean="0">
                    <a:latin typeface="+mj-lt"/>
                    <a:ea typeface="Calibri"/>
                    <a:cs typeface="Calibri"/>
                    <a:sym typeface="Calibri"/>
                  </a:rPr>
                  <a:t>:</a:t>
                </a:r>
              </a:p>
              <a:p>
                <a:pPr marL="24766" marR="316865" lvl="0">
                  <a:lnSpc>
                    <a:spcPct val="109375"/>
                  </a:lnSpc>
                  <a:buSzPts val="3200"/>
                </a:pPr>
                <a:r>
                  <a:rPr lang="en-US" sz="2400" dirty="0">
                    <a:latin typeface="+mj-lt"/>
                    <a:ea typeface="Calibri"/>
                    <a:cs typeface="Calibri"/>
                    <a:sym typeface="Calibri"/>
                  </a:rPr>
                  <a:t>	</a:t>
                </a:r>
                <a:r>
                  <a:rPr lang="en-US" sz="2800" dirty="0" smtClean="0">
                    <a:latin typeface="+mj-lt"/>
                    <a:ea typeface="Calibri"/>
                    <a:cs typeface="Calibri"/>
                    <a:sym typeface="Calibri"/>
                  </a:rPr>
                  <a:t>	</a:t>
                </a:r>
                <a:r>
                  <a:rPr lang="en-US" sz="2800" i="1" dirty="0" smtClean="0">
                    <a:latin typeface="+mj-lt"/>
                    <a:ea typeface="Calibri"/>
                    <a:cs typeface="Calibri"/>
                    <a:sym typeface="Calibri"/>
                  </a:rPr>
                  <a:t>t</a:t>
                </a:r>
                <a:r>
                  <a:rPr lang="en-US" sz="2800" dirty="0" smtClean="0">
                    <a:latin typeface="+mj-lt"/>
                    <a:ea typeface="Calibri"/>
                    <a:cs typeface="Calibri"/>
                    <a:sym typeface="Calibri"/>
                  </a:rPr>
                  <a:t> = </a:t>
                </a:r>
                <a14:m>
                  <m:oMath xmlns:m="http://schemas.openxmlformats.org/officeDocument/2006/math">
                    <m:sSup>
                      <m:sSupPr>
                        <m:ctrlPr>
                          <a:rPr lang="en-US" sz="2800" i="1" smtClean="0">
                            <a:latin typeface="Cambria Math" panose="02040503050406030204" pitchFamily="18" charset="0"/>
                            <a:cs typeface="Calibri"/>
                            <a:sym typeface="Calibri"/>
                          </a:rPr>
                        </m:ctrlPr>
                      </m:sSupPr>
                      <m:e>
                        <m:r>
                          <a:rPr lang="en-US" sz="2800" b="0" i="1" smtClean="0">
                            <a:latin typeface="Cambria Math" panose="02040503050406030204" pitchFamily="18" charset="0"/>
                            <a:cs typeface="Calibri"/>
                            <a:sym typeface="Calibri"/>
                          </a:rPr>
                          <m:t>𝑒</m:t>
                        </m:r>
                      </m:e>
                      <m:sup>
                        <m:r>
                          <a:rPr lang="en-US" sz="2800" b="0" i="1" smtClean="0">
                            <a:latin typeface="Cambria Math" panose="02040503050406030204" pitchFamily="18" charset="0"/>
                            <a:cs typeface="Calibri"/>
                            <a:sym typeface="Calibri"/>
                          </a:rPr>
                          <m:t>(</m:t>
                        </m:r>
                        <m:sSup>
                          <m:sSupPr>
                            <m:ctrlPr>
                              <a:rPr lang="en-US" sz="2800" b="0" i="1" smtClean="0">
                                <a:latin typeface="Cambria Math" panose="02040503050406030204" pitchFamily="18" charset="0"/>
                                <a:cs typeface="Calibri"/>
                                <a:sym typeface="Calibri"/>
                              </a:rPr>
                            </m:ctrlPr>
                          </m:sSupPr>
                          <m:e>
                            <m:r>
                              <a:rPr lang="en-US" sz="2800" b="0" i="1" smtClean="0">
                                <a:latin typeface="Cambria Math" panose="02040503050406030204" pitchFamily="18" charset="0"/>
                                <a:cs typeface="Calibri"/>
                                <a:sym typeface="Calibri"/>
                              </a:rPr>
                              <m:t>𝑧</m:t>
                            </m:r>
                          </m:e>
                          <m:sup>
                            <m:r>
                              <a:rPr lang="en-US" sz="2800" b="0" i="1" smtClean="0">
                                <a:latin typeface="Cambria Math" panose="02040503050406030204" pitchFamily="18" charset="0"/>
                                <a:cs typeface="Calibri"/>
                                <a:sym typeface="Calibri"/>
                              </a:rPr>
                              <m:t>[</m:t>
                            </m:r>
                            <m:r>
                              <a:rPr lang="en-US" sz="2800" b="0" i="1" smtClean="0">
                                <a:latin typeface="Cambria Math" panose="02040503050406030204" pitchFamily="18" charset="0"/>
                                <a:cs typeface="Calibri"/>
                                <a:sym typeface="Calibri"/>
                              </a:rPr>
                              <m:t>𝐿</m:t>
                            </m:r>
                            <m:r>
                              <a:rPr lang="en-US" sz="2800" b="0" i="1" smtClean="0">
                                <a:latin typeface="Cambria Math" panose="02040503050406030204" pitchFamily="18" charset="0"/>
                                <a:cs typeface="Calibri"/>
                                <a:sym typeface="Calibri"/>
                              </a:rPr>
                              <m:t>]</m:t>
                            </m:r>
                          </m:sup>
                        </m:sSup>
                        <m:r>
                          <a:rPr lang="en-US" sz="2800" b="0" i="1" smtClean="0">
                            <a:latin typeface="Cambria Math" panose="02040503050406030204" pitchFamily="18" charset="0"/>
                            <a:cs typeface="Calibri"/>
                            <a:sym typeface="Calibri"/>
                          </a:rPr>
                          <m:t>)</m:t>
                        </m:r>
                      </m:sup>
                    </m:sSup>
                  </m:oMath>
                </a14:m>
                <a:endParaRPr lang="en-US" sz="2800" dirty="0" smtClean="0">
                  <a:latin typeface="+mj-lt"/>
                  <a:ea typeface="Calibri"/>
                  <a:cs typeface="Calibri"/>
                  <a:sym typeface="Calibri"/>
                </a:endParaRPr>
              </a:p>
              <a:p>
                <a:pPr marL="24766" marR="316865" lvl="0">
                  <a:lnSpc>
                    <a:spcPct val="109375"/>
                  </a:lnSpc>
                  <a:buSzPts val="3200"/>
                </a:pPr>
                <a:r>
                  <a:rPr lang="en-US" sz="2800" dirty="0">
                    <a:latin typeface="+mj-lt"/>
                    <a:ea typeface="Calibri"/>
                    <a:cs typeface="Calibri"/>
                    <a:sym typeface="Calibri"/>
                  </a:rPr>
                  <a:t>	</a:t>
                </a:r>
                <a:r>
                  <a:rPr lang="en-US" sz="2800" dirty="0" smtClean="0">
                    <a:latin typeface="+mj-lt"/>
                    <a:ea typeface="Calibri"/>
                    <a:cs typeface="Calibri"/>
                    <a:sym typeface="Calibri"/>
                  </a:rPr>
                  <a:t>	</a:t>
                </a:r>
                <a14:m>
                  <m:oMath xmlns:m="http://schemas.openxmlformats.org/officeDocument/2006/math">
                    <m:sSup>
                      <m:sSupPr>
                        <m:ctrlPr>
                          <a:rPr lang="en-US" sz="2800" i="1" smtClean="0">
                            <a:latin typeface="Cambria Math" panose="02040503050406030204" pitchFamily="18" charset="0"/>
                            <a:cs typeface="Calibri"/>
                            <a:sym typeface="Calibri"/>
                          </a:rPr>
                        </m:ctrlPr>
                      </m:sSupPr>
                      <m:e>
                        <m:r>
                          <a:rPr lang="en-US" sz="2800" b="0" i="1" smtClean="0">
                            <a:latin typeface="Cambria Math" panose="02040503050406030204" pitchFamily="18" charset="0"/>
                            <a:cs typeface="Calibri"/>
                            <a:sym typeface="Calibri"/>
                          </a:rPr>
                          <m:t>𝑎</m:t>
                        </m:r>
                      </m:e>
                      <m:sup>
                        <m:d>
                          <m:dPr>
                            <m:begChr m:val="["/>
                            <m:endChr m:val="]"/>
                            <m:ctrlPr>
                              <a:rPr lang="en-US" sz="2800" b="0" i="1" smtClean="0">
                                <a:latin typeface="Cambria Math" panose="02040503050406030204" pitchFamily="18" charset="0"/>
                                <a:cs typeface="Calibri"/>
                                <a:sym typeface="Calibri"/>
                              </a:rPr>
                            </m:ctrlPr>
                          </m:dPr>
                          <m:e>
                            <m:r>
                              <a:rPr lang="en-US" sz="2800" b="0" i="1" smtClean="0">
                                <a:latin typeface="Cambria Math" panose="02040503050406030204" pitchFamily="18" charset="0"/>
                                <a:cs typeface="Calibri"/>
                                <a:sym typeface="Calibri"/>
                              </a:rPr>
                              <m:t>𝐿</m:t>
                            </m:r>
                          </m:e>
                        </m:d>
                      </m:sup>
                    </m:sSup>
                  </m:oMath>
                </a14:m>
                <a:r>
                  <a:rPr lang="en-US" sz="2800" dirty="0" smtClean="0">
                    <a:latin typeface="+mj-lt"/>
                    <a:ea typeface="Calibri"/>
                    <a:cs typeface="Calibri"/>
                    <a:sym typeface="Calibri"/>
                  </a:rPr>
                  <a:t> = </a:t>
                </a:r>
                <a14:m>
                  <m:oMath xmlns:m="http://schemas.openxmlformats.org/officeDocument/2006/math">
                    <m:f>
                      <m:fPr>
                        <m:ctrlPr>
                          <a:rPr lang="en-US" sz="2800" i="1" smtClean="0">
                            <a:latin typeface="Cambria Math" panose="02040503050406030204" pitchFamily="18" charset="0"/>
                            <a:cs typeface="Calibri"/>
                            <a:sym typeface="Calibri"/>
                          </a:rPr>
                        </m:ctrlPr>
                      </m:fPr>
                      <m:num>
                        <m:sSup>
                          <m:sSupPr>
                            <m:ctrlPr>
                              <a:rPr lang="en-US" sz="2800" i="1" smtClean="0">
                                <a:latin typeface="Cambria Math" panose="02040503050406030204" pitchFamily="18" charset="0"/>
                                <a:cs typeface="Calibri"/>
                                <a:sym typeface="Calibri"/>
                              </a:rPr>
                            </m:ctrlPr>
                          </m:sSupPr>
                          <m:e>
                            <m:r>
                              <a:rPr lang="en-US" sz="2800" b="0" i="1" smtClean="0">
                                <a:latin typeface="Cambria Math" panose="02040503050406030204" pitchFamily="18" charset="0"/>
                                <a:cs typeface="Calibri"/>
                                <a:sym typeface="Calibri"/>
                              </a:rPr>
                              <m:t>𝑒</m:t>
                            </m:r>
                          </m:e>
                          <m:sup>
                            <m:sSup>
                              <m:sSupPr>
                                <m:ctrlPr>
                                  <a:rPr lang="en-US" sz="2800" i="1" smtClean="0">
                                    <a:latin typeface="Cambria Math" panose="02040503050406030204" pitchFamily="18" charset="0"/>
                                    <a:cs typeface="Calibri"/>
                                    <a:sym typeface="Calibri"/>
                                  </a:rPr>
                                </m:ctrlPr>
                              </m:sSupPr>
                              <m:e>
                                <m:r>
                                  <a:rPr lang="en-US" sz="2800" b="0" i="1" smtClean="0">
                                    <a:latin typeface="Cambria Math" panose="02040503050406030204" pitchFamily="18" charset="0"/>
                                    <a:cs typeface="Calibri"/>
                                    <a:sym typeface="Calibri"/>
                                  </a:rPr>
                                  <m:t>𝑧</m:t>
                                </m:r>
                              </m:e>
                              <m:sup>
                                <m:r>
                                  <a:rPr lang="en-US" sz="2800" b="0" i="1" smtClean="0">
                                    <a:latin typeface="Cambria Math" panose="02040503050406030204" pitchFamily="18" charset="0"/>
                                    <a:cs typeface="Calibri"/>
                                    <a:sym typeface="Calibri"/>
                                  </a:rPr>
                                  <m:t>[</m:t>
                                </m:r>
                                <m:r>
                                  <a:rPr lang="en-US" sz="2800" b="0" i="1" smtClean="0">
                                    <a:latin typeface="Cambria Math" panose="02040503050406030204" pitchFamily="18" charset="0"/>
                                    <a:cs typeface="Calibri"/>
                                    <a:sym typeface="Calibri"/>
                                  </a:rPr>
                                  <m:t>𝐿</m:t>
                                </m:r>
                                <m:r>
                                  <a:rPr lang="en-US" sz="2800" b="0" i="1" smtClean="0">
                                    <a:latin typeface="Cambria Math" panose="02040503050406030204" pitchFamily="18" charset="0"/>
                                    <a:cs typeface="Calibri"/>
                                    <a:sym typeface="Calibri"/>
                                  </a:rPr>
                                  <m:t>]</m:t>
                                </m:r>
                              </m:sup>
                            </m:sSup>
                          </m:sup>
                        </m:sSup>
                      </m:num>
                      <m:den>
                        <m:nary>
                          <m:naryPr>
                            <m:chr m:val="∑"/>
                            <m:ctrlPr>
                              <a:rPr lang="en-US" sz="2800" i="1" smtClean="0">
                                <a:latin typeface="Cambria Math" panose="02040503050406030204" pitchFamily="18" charset="0"/>
                                <a:cs typeface="Calibri"/>
                                <a:sym typeface="Calibri"/>
                              </a:rPr>
                            </m:ctrlPr>
                          </m:naryPr>
                          <m:sub>
                            <m:r>
                              <m:rPr>
                                <m:brk m:alnAt="23"/>
                              </m:rPr>
                              <a:rPr lang="en-US" sz="2800" b="0" i="1" smtClean="0">
                                <a:latin typeface="Cambria Math" panose="02040503050406030204" pitchFamily="18" charset="0"/>
                                <a:cs typeface="Calibri"/>
                                <a:sym typeface="Calibri"/>
                              </a:rPr>
                              <m:t>𝑖</m:t>
                            </m:r>
                            <m:r>
                              <a:rPr lang="en-US" sz="2800" b="0" i="1" smtClean="0">
                                <a:latin typeface="Cambria Math" panose="02040503050406030204" pitchFamily="18" charset="0"/>
                                <a:cs typeface="Calibri"/>
                                <a:sym typeface="Calibri"/>
                              </a:rPr>
                              <m:t>=1</m:t>
                            </m:r>
                          </m:sub>
                          <m:sup>
                            <m:r>
                              <a:rPr lang="en-US" sz="2800" b="0" i="1" smtClean="0">
                                <a:latin typeface="Cambria Math" panose="02040503050406030204" pitchFamily="18" charset="0"/>
                                <a:cs typeface="Calibri"/>
                                <a:sym typeface="Calibri"/>
                              </a:rPr>
                              <m:t>4</m:t>
                            </m:r>
                          </m:sup>
                          <m:e>
                            <m:sSub>
                              <m:sSubPr>
                                <m:ctrlPr>
                                  <a:rPr lang="en-US" sz="2800" i="1" smtClean="0">
                                    <a:latin typeface="Cambria Math" panose="02040503050406030204" pitchFamily="18" charset="0"/>
                                    <a:cs typeface="Calibri"/>
                                    <a:sym typeface="Calibri"/>
                                  </a:rPr>
                                </m:ctrlPr>
                              </m:sSubPr>
                              <m:e>
                                <m:r>
                                  <a:rPr lang="en-US" sz="2800" b="0" i="1" smtClean="0">
                                    <a:latin typeface="Cambria Math" panose="02040503050406030204" pitchFamily="18" charset="0"/>
                                    <a:cs typeface="Calibri"/>
                                    <a:sym typeface="Calibri"/>
                                  </a:rPr>
                                  <m:t>𝑡</m:t>
                                </m:r>
                              </m:e>
                              <m:sub>
                                <m:r>
                                  <a:rPr lang="en-US" sz="2800" b="0" i="1" smtClean="0">
                                    <a:latin typeface="Cambria Math" panose="02040503050406030204" pitchFamily="18" charset="0"/>
                                    <a:cs typeface="Calibri"/>
                                    <a:sym typeface="Calibri"/>
                                  </a:rPr>
                                  <m:t>𝑖</m:t>
                                </m:r>
                              </m:sub>
                            </m:sSub>
                          </m:e>
                        </m:nary>
                      </m:den>
                    </m:f>
                  </m:oMath>
                </a14:m>
                <a:r>
                  <a:rPr lang="en-US" sz="2800" dirty="0" smtClean="0">
                    <a:latin typeface="+mj-lt"/>
                    <a:ea typeface="Calibri"/>
                    <a:cs typeface="Calibri"/>
                    <a:sym typeface="Calibri"/>
                  </a:rPr>
                  <a:t>  , </a:t>
                </a:r>
                <a14:m>
                  <m:oMath xmlns:m="http://schemas.openxmlformats.org/officeDocument/2006/math">
                    <m:sSubSup>
                      <m:sSubSupPr>
                        <m:ctrlPr>
                          <a:rPr lang="en-US" sz="2800" i="1" smtClean="0">
                            <a:latin typeface="Cambria Math" panose="02040503050406030204" pitchFamily="18" charset="0"/>
                            <a:cs typeface="Calibri"/>
                            <a:sym typeface="Calibri"/>
                          </a:rPr>
                        </m:ctrlPr>
                      </m:sSubSupPr>
                      <m:e>
                        <m:r>
                          <a:rPr lang="en-US" sz="2800" b="0" i="1" smtClean="0">
                            <a:latin typeface="Cambria Math" panose="02040503050406030204" pitchFamily="18" charset="0"/>
                            <a:cs typeface="Calibri"/>
                            <a:sym typeface="Calibri"/>
                          </a:rPr>
                          <m:t>𝑎</m:t>
                        </m:r>
                      </m:e>
                      <m:sub>
                        <m:r>
                          <a:rPr lang="en-US" sz="2800" b="0" i="1" smtClean="0">
                            <a:latin typeface="Cambria Math" panose="02040503050406030204" pitchFamily="18" charset="0"/>
                            <a:cs typeface="Calibri"/>
                            <a:sym typeface="Calibri"/>
                          </a:rPr>
                          <m:t>𝑖</m:t>
                        </m:r>
                      </m:sub>
                      <m:sup>
                        <m:r>
                          <a:rPr lang="en-US" sz="2800" b="0" i="1" smtClean="0">
                            <a:latin typeface="Cambria Math" panose="02040503050406030204" pitchFamily="18" charset="0"/>
                            <a:cs typeface="Calibri"/>
                            <a:sym typeface="Calibri"/>
                          </a:rPr>
                          <m:t>[</m:t>
                        </m:r>
                        <m:r>
                          <a:rPr lang="en-US" sz="2800" b="0" i="1" smtClean="0">
                            <a:latin typeface="Cambria Math" panose="02040503050406030204" pitchFamily="18" charset="0"/>
                            <a:cs typeface="Calibri"/>
                            <a:sym typeface="Calibri"/>
                          </a:rPr>
                          <m:t>𝐿</m:t>
                        </m:r>
                        <m:r>
                          <a:rPr lang="en-US" sz="2800" b="0" i="1" smtClean="0">
                            <a:latin typeface="Cambria Math" panose="02040503050406030204" pitchFamily="18" charset="0"/>
                            <a:cs typeface="Calibri"/>
                            <a:sym typeface="Calibri"/>
                          </a:rPr>
                          <m:t>]</m:t>
                        </m:r>
                      </m:sup>
                    </m:sSubSup>
                  </m:oMath>
                </a14:m>
                <a:r>
                  <a:rPr lang="en-US" sz="2800" dirty="0" smtClean="0">
                    <a:ea typeface="Calibri"/>
                    <a:cs typeface="Calibri"/>
                    <a:sym typeface="Calibri"/>
                  </a:rPr>
                  <a:t>= </a:t>
                </a:r>
                <a14:m>
                  <m:oMath xmlns:m="http://schemas.openxmlformats.org/officeDocument/2006/math">
                    <m:f>
                      <m:fPr>
                        <m:ctrlPr>
                          <a:rPr lang="en-US" sz="2800" i="1">
                            <a:latin typeface="Cambria Math" panose="02040503050406030204" pitchFamily="18" charset="0"/>
                            <a:cs typeface="Calibri"/>
                            <a:sym typeface="Calibri"/>
                          </a:rPr>
                        </m:ctrlPr>
                      </m:fPr>
                      <m:num>
                        <m:sSub>
                          <m:sSubPr>
                            <m:ctrlPr>
                              <a:rPr lang="en-US" sz="2800" i="1" smtClean="0">
                                <a:latin typeface="Cambria Math" panose="02040503050406030204" pitchFamily="18" charset="0"/>
                                <a:cs typeface="Calibri"/>
                                <a:sym typeface="Calibri"/>
                              </a:rPr>
                            </m:ctrlPr>
                          </m:sSubPr>
                          <m:e>
                            <m:r>
                              <a:rPr lang="en-US" sz="2800" b="0" i="1" smtClean="0">
                                <a:latin typeface="Cambria Math" panose="02040503050406030204" pitchFamily="18" charset="0"/>
                                <a:cs typeface="Calibri"/>
                                <a:sym typeface="Calibri"/>
                              </a:rPr>
                              <m:t>𝑡</m:t>
                            </m:r>
                          </m:e>
                          <m:sub>
                            <m:r>
                              <a:rPr lang="en-US" sz="2800" b="0" i="1" smtClean="0">
                                <a:latin typeface="Cambria Math" panose="02040503050406030204" pitchFamily="18" charset="0"/>
                                <a:cs typeface="Calibri"/>
                                <a:sym typeface="Calibri"/>
                              </a:rPr>
                              <m:t>𝑖</m:t>
                            </m:r>
                          </m:sub>
                        </m:sSub>
                      </m:num>
                      <m:den>
                        <m:nary>
                          <m:naryPr>
                            <m:chr m:val="∑"/>
                            <m:ctrlPr>
                              <a:rPr lang="en-US" sz="2800" i="1">
                                <a:latin typeface="Cambria Math" panose="02040503050406030204" pitchFamily="18" charset="0"/>
                                <a:cs typeface="Calibri"/>
                                <a:sym typeface="Calibri"/>
                              </a:rPr>
                            </m:ctrlPr>
                          </m:naryPr>
                          <m:sub>
                            <m:r>
                              <m:rPr>
                                <m:brk m:alnAt="23"/>
                              </m:rPr>
                              <a:rPr lang="en-US" sz="2800" i="1">
                                <a:latin typeface="Cambria Math" panose="02040503050406030204" pitchFamily="18" charset="0"/>
                                <a:cs typeface="Calibri"/>
                                <a:sym typeface="Calibri"/>
                              </a:rPr>
                              <m:t>𝑖</m:t>
                            </m:r>
                            <m:r>
                              <a:rPr lang="en-US" sz="2800" i="1">
                                <a:latin typeface="Cambria Math" panose="02040503050406030204" pitchFamily="18" charset="0"/>
                                <a:cs typeface="Calibri"/>
                                <a:sym typeface="Calibri"/>
                              </a:rPr>
                              <m:t>=1</m:t>
                            </m:r>
                          </m:sub>
                          <m:sup>
                            <m:r>
                              <a:rPr lang="en-US" sz="2800" i="1">
                                <a:latin typeface="Cambria Math" panose="02040503050406030204" pitchFamily="18" charset="0"/>
                                <a:cs typeface="Calibri"/>
                                <a:sym typeface="Calibri"/>
                              </a:rPr>
                              <m:t>4</m:t>
                            </m:r>
                          </m:sup>
                          <m:e>
                            <m:sSub>
                              <m:sSubPr>
                                <m:ctrlPr>
                                  <a:rPr lang="en-US" sz="2800" i="1">
                                    <a:latin typeface="Cambria Math" panose="02040503050406030204" pitchFamily="18" charset="0"/>
                                    <a:cs typeface="Calibri"/>
                                    <a:sym typeface="Calibri"/>
                                  </a:rPr>
                                </m:ctrlPr>
                              </m:sSubPr>
                              <m:e>
                                <m:r>
                                  <a:rPr lang="en-US" sz="2800" i="1">
                                    <a:latin typeface="Cambria Math" panose="02040503050406030204" pitchFamily="18" charset="0"/>
                                    <a:cs typeface="Calibri"/>
                                    <a:sym typeface="Calibri"/>
                                  </a:rPr>
                                  <m:t>𝑡</m:t>
                                </m:r>
                              </m:e>
                              <m:sub>
                                <m:r>
                                  <a:rPr lang="en-US" sz="2800" i="1">
                                    <a:latin typeface="Cambria Math" panose="02040503050406030204" pitchFamily="18" charset="0"/>
                                    <a:cs typeface="Calibri"/>
                                    <a:sym typeface="Calibri"/>
                                  </a:rPr>
                                  <m:t>𝑖</m:t>
                                </m:r>
                              </m:sub>
                            </m:sSub>
                          </m:e>
                        </m:nary>
                      </m:den>
                    </m:f>
                  </m:oMath>
                </a14:m>
                <a:endParaRPr lang="en-US" sz="2800" dirty="0" smtClean="0">
                  <a:latin typeface="+mj-lt"/>
                  <a:ea typeface="Calibri"/>
                  <a:cs typeface="Calibri"/>
                  <a:sym typeface="Calibri"/>
                </a:endParaRPr>
              </a:p>
              <a:p>
                <a:pPr marL="24766" marR="316865" lvl="0">
                  <a:lnSpc>
                    <a:spcPct val="109375"/>
                  </a:lnSpc>
                  <a:buSzPts val="3200"/>
                </a:pPr>
                <a:endParaRPr lang="en-US" sz="2400" dirty="0">
                  <a:latin typeface="+mj-lt"/>
                  <a:ea typeface="Calibri"/>
                  <a:cs typeface="Calibri"/>
                  <a:sym typeface="Calibri"/>
                </a:endParaRPr>
              </a:p>
            </p:txBody>
          </p:sp>
        </mc:Choice>
        <mc:Fallback xmlns="">
          <p:sp>
            <p:nvSpPr>
              <p:cNvPr id="314" name="Google Shape;314;p24"/>
              <p:cNvSpPr txBox="1">
                <a:spLocks noRot="1" noChangeAspect="1" noMove="1" noResize="1" noEditPoints="1" noAdjustHandles="1" noChangeArrowheads="1" noChangeShapeType="1" noTextEdit="1"/>
              </p:cNvSpPr>
              <p:nvPr/>
            </p:nvSpPr>
            <p:spPr>
              <a:xfrm>
                <a:off x="527538" y="1332980"/>
                <a:ext cx="11271739" cy="3569760"/>
              </a:xfrm>
              <a:prstGeom prst="rect">
                <a:avLst/>
              </a:prstGeom>
              <a:blipFill>
                <a:blip r:embed="rId3"/>
                <a:stretch>
                  <a:fillRect l="-1839" t="-3590"/>
                </a:stretch>
              </a:blipFill>
              <a:ln>
                <a:noFill/>
              </a:ln>
            </p:spPr>
            <p:txBody>
              <a:bodyPr/>
              <a:lstStyle/>
              <a:p>
                <a:r>
                  <a:rPr lang="en-US">
                    <a:noFill/>
                  </a:rPr>
                  <a:t> </a:t>
                </a:r>
              </a:p>
            </p:txBody>
          </p:sp>
        </mc:Fallback>
      </mc:AlternateContent>
      <p:sp>
        <p:nvSpPr>
          <p:cNvPr id="315" name="Google Shape;315;p24"/>
          <p:cNvSpPr txBox="1">
            <a:spLocks noGrp="1"/>
          </p:cNvSpPr>
          <p:nvPr>
            <p:ph type="title"/>
          </p:nvPr>
        </p:nvSpPr>
        <p:spPr>
          <a:xfrm>
            <a:off x="246121" y="170700"/>
            <a:ext cx="1057721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Recognizing cats, dogs, and baby chicks</a:t>
            </a:r>
          </a:p>
        </p:txBody>
      </p:sp>
      <p:pic>
        <p:nvPicPr>
          <p:cNvPr id="316" name="Google Shape;316;p2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35</a:t>
            </a:fld>
            <a:endParaRPr>
              <a:latin typeface="+mj-lt"/>
            </a:endParaRPr>
          </a:p>
        </p:txBody>
      </p:sp>
    </p:spTree>
    <p:extLst>
      <p:ext uri="{BB962C8B-B14F-4D97-AF65-F5344CB8AC3E}">
        <p14:creationId xmlns:p14="http://schemas.microsoft.com/office/powerpoint/2010/main" val="3844359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24"/>
          <p:cNvSpPr txBox="1">
            <a:spLocks noGrp="1"/>
          </p:cNvSpPr>
          <p:nvPr>
            <p:ph type="title"/>
          </p:nvPr>
        </p:nvSpPr>
        <p:spPr>
          <a:xfrm>
            <a:off x="246122" y="170700"/>
            <a:ext cx="10313440"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Recognizing cats, dogs, and baby chicks</a:t>
            </a: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36</a:t>
            </a:fld>
            <a:endParaRPr>
              <a:latin typeface="+mj-lt"/>
            </a:endParaRPr>
          </a:p>
        </p:txBody>
      </p:sp>
      <p:sp>
        <p:nvSpPr>
          <p:cNvPr id="12" name="TextBox 11"/>
          <p:cNvSpPr txBox="1"/>
          <p:nvPr/>
        </p:nvSpPr>
        <p:spPr>
          <a:xfrm>
            <a:off x="2703815" y="2685883"/>
            <a:ext cx="1223025" cy="461665"/>
          </a:xfrm>
          <a:prstGeom prst="rect">
            <a:avLst/>
          </a:prstGeom>
          <a:noFill/>
        </p:spPr>
        <p:txBody>
          <a:bodyPr wrap="square" rtlCol="0">
            <a:spAutoFit/>
          </a:bodyPr>
          <a:lstStyle/>
          <a:p>
            <a:r>
              <a:rPr lang="en-US" sz="2400" dirty="0" smtClean="0"/>
              <a:t>==&gt;</a:t>
            </a:r>
            <a:endParaRPr lang="en-US" sz="2400" dirty="0"/>
          </a:p>
        </p:txBody>
      </p:sp>
      <p:pic>
        <p:nvPicPr>
          <p:cNvPr id="2" name="Picture 1"/>
          <p:cNvPicPr>
            <a:picLocks noChangeAspect="1"/>
          </p:cNvPicPr>
          <p:nvPr/>
        </p:nvPicPr>
        <p:blipFill>
          <a:blip r:embed="rId4"/>
          <a:stretch>
            <a:fillRect/>
          </a:stretch>
        </p:blipFill>
        <p:spPr>
          <a:xfrm>
            <a:off x="3495271" y="2029440"/>
            <a:ext cx="1455683" cy="1733580"/>
          </a:xfrm>
          <a:prstGeom prst="rect">
            <a:avLst/>
          </a:prstGeom>
        </p:spPr>
      </p:pic>
      <p:pic>
        <p:nvPicPr>
          <p:cNvPr id="3" name="Picture 2"/>
          <p:cNvPicPr>
            <a:picLocks noChangeAspect="1"/>
          </p:cNvPicPr>
          <p:nvPr/>
        </p:nvPicPr>
        <p:blipFill>
          <a:blip r:embed="rId5"/>
          <a:stretch>
            <a:fillRect/>
          </a:stretch>
        </p:blipFill>
        <p:spPr>
          <a:xfrm>
            <a:off x="5918442" y="2029440"/>
            <a:ext cx="1841311" cy="1817698"/>
          </a:xfrm>
          <a:prstGeom prst="rect">
            <a:avLst/>
          </a:prstGeom>
        </p:spPr>
      </p:pic>
      <p:pic>
        <p:nvPicPr>
          <p:cNvPr id="4" name="Picture 3"/>
          <p:cNvPicPr>
            <a:picLocks noChangeAspect="1"/>
          </p:cNvPicPr>
          <p:nvPr/>
        </p:nvPicPr>
        <p:blipFill>
          <a:blip r:embed="rId6"/>
          <a:stretch>
            <a:fillRect/>
          </a:stretch>
        </p:blipFill>
        <p:spPr>
          <a:xfrm>
            <a:off x="4742345" y="4322362"/>
            <a:ext cx="3075462" cy="1803423"/>
          </a:xfrm>
          <a:prstGeom prst="rect">
            <a:avLst/>
          </a:prstGeom>
        </p:spPr>
      </p:pic>
      <p:pic>
        <p:nvPicPr>
          <p:cNvPr id="13" name="Picture 12"/>
          <p:cNvPicPr>
            <a:picLocks noChangeAspect="1"/>
          </p:cNvPicPr>
          <p:nvPr/>
        </p:nvPicPr>
        <p:blipFill>
          <a:blip r:embed="rId7"/>
          <a:stretch>
            <a:fillRect/>
          </a:stretch>
        </p:blipFill>
        <p:spPr>
          <a:xfrm>
            <a:off x="7940181" y="4299157"/>
            <a:ext cx="1676118" cy="1803423"/>
          </a:xfrm>
          <a:prstGeom prst="rect">
            <a:avLst/>
          </a:prstGeom>
        </p:spPr>
      </p:pic>
      <p:pic>
        <p:nvPicPr>
          <p:cNvPr id="17" name="Picture 16"/>
          <p:cNvPicPr>
            <a:picLocks noChangeAspect="1"/>
          </p:cNvPicPr>
          <p:nvPr/>
        </p:nvPicPr>
        <p:blipFill>
          <a:blip r:embed="rId8"/>
          <a:stretch>
            <a:fillRect/>
          </a:stretch>
        </p:blipFill>
        <p:spPr>
          <a:xfrm>
            <a:off x="606637" y="2029440"/>
            <a:ext cx="1863379" cy="1817697"/>
          </a:xfrm>
          <a:prstGeom prst="rect">
            <a:avLst/>
          </a:prstGeom>
        </p:spPr>
      </p:pic>
      <p:sp>
        <p:nvSpPr>
          <p:cNvPr id="18" name="TextBox 17"/>
          <p:cNvSpPr txBox="1"/>
          <p:nvPr/>
        </p:nvSpPr>
        <p:spPr>
          <a:xfrm>
            <a:off x="5160533" y="2691889"/>
            <a:ext cx="1223025" cy="461665"/>
          </a:xfrm>
          <a:prstGeom prst="rect">
            <a:avLst/>
          </a:prstGeom>
          <a:noFill/>
        </p:spPr>
        <p:txBody>
          <a:bodyPr wrap="square" rtlCol="0">
            <a:spAutoFit/>
          </a:bodyPr>
          <a:lstStyle/>
          <a:p>
            <a:r>
              <a:rPr lang="en-US" sz="2400" dirty="0" smtClean="0"/>
              <a:t>==&gt;</a:t>
            </a:r>
            <a:endParaRPr lang="en-US" sz="2400" dirty="0"/>
          </a:p>
        </p:txBody>
      </p:sp>
      <p:sp>
        <p:nvSpPr>
          <p:cNvPr id="19" name="TextBox 18"/>
          <p:cNvSpPr txBox="1"/>
          <p:nvPr/>
        </p:nvSpPr>
        <p:spPr>
          <a:xfrm>
            <a:off x="3963453" y="4993242"/>
            <a:ext cx="907453" cy="461665"/>
          </a:xfrm>
          <a:prstGeom prst="rect">
            <a:avLst/>
          </a:prstGeom>
          <a:noFill/>
        </p:spPr>
        <p:txBody>
          <a:bodyPr wrap="square" rtlCol="0">
            <a:spAutoFit/>
          </a:bodyPr>
          <a:lstStyle/>
          <a:p>
            <a:r>
              <a:rPr lang="en-US" sz="2400" dirty="0" smtClean="0"/>
              <a:t>==&gt;</a:t>
            </a:r>
            <a:endParaRPr lang="en-US" sz="2400" dirty="0"/>
          </a:p>
        </p:txBody>
      </p:sp>
      <p:sp>
        <p:nvSpPr>
          <p:cNvPr id="15" name="TextBox 14"/>
          <p:cNvSpPr txBox="1"/>
          <p:nvPr/>
        </p:nvSpPr>
        <p:spPr>
          <a:xfrm>
            <a:off x="395654" y="1063869"/>
            <a:ext cx="11186686" cy="461665"/>
          </a:xfrm>
          <a:prstGeom prst="rect">
            <a:avLst/>
          </a:prstGeom>
          <a:noFill/>
        </p:spPr>
        <p:txBody>
          <a:bodyPr wrap="square" rtlCol="0">
            <a:spAutoFit/>
          </a:bodyPr>
          <a:lstStyle/>
          <a:p>
            <a:r>
              <a:rPr lang="en-US" sz="2400" dirty="0" smtClean="0"/>
              <a:t>Let’s say that Z</a:t>
            </a:r>
            <a:r>
              <a:rPr lang="en-US" sz="2400" baseline="30000" dirty="0" smtClean="0"/>
              <a:t>[L]</a:t>
            </a:r>
            <a:r>
              <a:rPr lang="en-US" sz="2400" dirty="0" smtClean="0"/>
              <a:t> </a:t>
            </a:r>
            <a:r>
              <a:rPr lang="en-US" sz="2400" dirty="0"/>
              <a:t>is </a:t>
            </a:r>
            <a:r>
              <a:rPr lang="en-US" sz="2400" dirty="0" smtClean="0"/>
              <a:t>a four dimensional vector 5</a:t>
            </a:r>
            <a:r>
              <a:rPr lang="en-US" sz="2400" dirty="0"/>
              <a:t>, 2, -1, 3</a:t>
            </a:r>
          </a:p>
        </p:txBody>
      </p:sp>
      <p:sp>
        <p:nvSpPr>
          <p:cNvPr id="16" name="TextBox 15"/>
          <p:cNvSpPr txBox="1"/>
          <p:nvPr/>
        </p:nvSpPr>
        <p:spPr>
          <a:xfrm>
            <a:off x="8096821" y="2685883"/>
            <a:ext cx="1223025" cy="461665"/>
          </a:xfrm>
          <a:prstGeom prst="rect">
            <a:avLst/>
          </a:prstGeom>
          <a:noFill/>
        </p:spPr>
        <p:txBody>
          <a:bodyPr wrap="square" rtlCol="0">
            <a:spAutoFit/>
          </a:bodyPr>
          <a:lstStyle/>
          <a:p>
            <a:r>
              <a:rPr lang="en-US" sz="2400" dirty="0" smtClean="0"/>
              <a:t>==&gt;</a:t>
            </a:r>
            <a:endParaRPr lang="en-US" sz="2400" dirty="0"/>
          </a:p>
        </p:txBody>
      </p:sp>
      <p:pic>
        <p:nvPicPr>
          <p:cNvPr id="6" name="Picture 5"/>
          <p:cNvPicPr>
            <a:picLocks noChangeAspect="1"/>
          </p:cNvPicPr>
          <p:nvPr/>
        </p:nvPicPr>
        <p:blipFill>
          <a:blip r:embed="rId9"/>
          <a:stretch>
            <a:fillRect/>
          </a:stretch>
        </p:blipFill>
        <p:spPr>
          <a:xfrm>
            <a:off x="8816900" y="2338897"/>
            <a:ext cx="2295135" cy="1251892"/>
          </a:xfrm>
          <a:prstGeom prst="rect">
            <a:avLst/>
          </a:prstGeom>
        </p:spPr>
      </p:pic>
      <p:sp>
        <p:nvSpPr>
          <p:cNvPr id="20" name="TextBox 19"/>
          <p:cNvSpPr txBox="1"/>
          <p:nvPr/>
        </p:nvSpPr>
        <p:spPr>
          <a:xfrm>
            <a:off x="606637" y="4993242"/>
            <a:ext cx="907453" cy="461665"/>
          </a:xfrm>
          <a:prstGeom prst="rect">
            <a:avLst/>
          </a:prstGeom>
          <a:noFill/>
        </p:spPr>
        <p:txBody>
          <a:bodyPr wrap="square" rtlCol="0">
            <a:spAutoFit/>
          </a:bodyPr>
          <a:lstStyle/>
          <a:p>
            <a:r>
              <a:rPr lang="en-US" sz="2400" dirty="0" smtClean="0"/>
              <a:t>==&gt;</a:t>
            </a:r>
            <a:endParaRPr lang="en-US" sz="2400" dirty="0"/>
          </a:p>
        </p:txBody>
      </p:sp>
      <mc:AlternateContent xmlns:mc="http://schemas.openxmlformats.org/markup-compatibility/2006" xmlns:a14="http://schemas.microsoft.com/office/drawing/2010/main">
        <mc:Choice Requires="a14">
          <p:sp>
            <p:nvSpPr>
              <p:cNvPr id="7" name="TextBox 6"/>
              <p:cNvSpPr txBox="1"/>
              <p:nvPr/>
            </p:nvSpPr>
            <p:spPr>
              <a:xfrm>
                <a:off x="1437477" y="4769243"/>
                <a:ext cx="2136530" cy="863250"/>
              </a:xfrm>
              <a:prstGeom prst="rect">
                <a:avLst/>
              </a:prstGeom>
              <a:noFill/>
            </p:spPr>
            <p:txBody>
              <a:bodyPr wrap="square" rtlCol="0">
                <a:spAutoFit/>
              </a:bodyPr>
              <a:lstStyle/>
              <a:p>
                <a14:m>
                  <m:oMath xmlns:m="http://schemas.openxmlformats.org/officeDocument/2006/math">
                    <m:sSup>
                      <m:sSupPr>
                        <m:ctrlPr>
                          <a:rPr lang="en-US" sz="3600" i="1">
                            <a:latin typeface="Cambria Math" panose="02040503050406030204" pitchFamily="18" charset="0"/>
                            <a:cs typeface="Calibri"/>
                            <a:sym typeface="Calibri"/>
                          </a:rPr>
                        </m:ctrlPr>
                      </m:sSupPr>
                      <m:e>
                        <m:r>
                          <a:rPr lang="en-US" sz="3600" i="1">
                            <a:latin typeface="Cambria Math" panose="02040503050406030204" pitchFamily="18" charset="0"/>
                            <a:cs typeface="Calibri"/>
                            <a:sym typeface="Calibri"/>
                          </a:rPr>
                          <m:t>𝑎</m:t>
                        </m:r>
                      </m:e>
                      <m:sup>
                        <m:d>
                          <m:dPr>
                            <m:begChr m:val="["/>
                            <m:endChr m:val="]"/>
                            <m:ctrlPr>
                              <a:rPr lang="en-US" sz="3600" i="1">
                                <a:latin typeface="Cambria Math" panose="02040503050406030204" pitchFamily="18" charset="0"/>
                                <a:cs typeface="Calibri"/>
                                <a:sym typeface="Calibri"/>
                              </a:rPr>
                            </m:ctrlPr>
                          </m:dPr>
                          <m:e>
                            <m:r>
                              <a:rPr lang="en-US" sz="3600" i="1">
                                <a:latin typeface="Cambria Math" panose="02040503050406030204" pitchFamily="18" charset="0"/>
                                <a:cs typeface="Calibri"/>
                                <a:sym typeface="Calibri"/>
                              </a:rPr>
                              <m:t>𝐿</m:t>
                            </m:r>
                          </m:e>
                        </m:d>
                      </m:sup>
                    </m:sSup>
                  </m:oMath>
                </a14:m>
                <a:r>
                  <a:rPr lang="en-US" sz="3600" dirty="0" smtClean="0">
                    <a:latin typeface="+mn-lt"/>
                    <a:ea typeface="Calibri"/>
                    <a:cs typeface="Calibri"/>
                    <a:sym typeface="Calibri"/>
                  </a:rPr>
                  <a:t>= </a:t>
                </a:r>
                <a14:m>
                  <m:oMath xmlns:m="http://schemas.openxmlformats.org/officeDocument/2006/math">
                    <m:f>
                      <m:fPr>
                        <m:ctrlPr>
                          <a:rPr lang="en-US" sz="3600" i="1">
                            <a:latin typeface="Cambria Math" panose="02040503050406030204" pitchFamily="18" charset="0"/>
                            <a:cs typeface="Calibri"/>
                            <a:sym typeface="Calibri"/>
                          </a:rPr>
                        </m:ctrlPr>
                      </m:fPr>
                      <m:num>
                        <m:r>
                          <a:rPr lang="en-US" sz="3600" b="0" i="1" smtClean="0">
                            <a:latin typeface="Cambria Math" panose="02040503050406030204" pitchFamily="18" charset="0"/>
                            <a:cs typeface="Calibri"/>
                            <a:sym typeface="Calibri"/>
                          </a:rPr>
                          <m:t>𝑡</m:t>
                        </m:r>
                      </m:num>
                      <m:den>
                        <m:r>
                          <a:rPr lang="en-US" sz="3600" b="0" i="1" smtClean="0">
                            <a:latin typeface="Cambria Math" panose="02040503050406030204" pitchFamily="18" charset="0"/>
                            <a:cs typeface="Calibri"/>
                            <a:sym typeface="Calibri"/>
                          </a:rPr>
                          <m:t>176.3</m:t>
                        </m:r>
                      </m:den>
                    </m:f>
                  </m:oMath>
                </a14:m>
                <a:endParaRPr lang="en-US" sz="3600" dirty="0">
                  <a:latin typeface="+mn-lt"/>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7477" y="4769243"/>
                <a:ext cx="2136530" cy="863250"/>
              </a:xfrm>
              <a:prstGeom prst="rect">
                <a:avLst/>
              </a:prstGeom>
              <a:blipFill>
                <a:blip r:embed="rId10"/>
                <a:stretch>
                  <a:fillRect t="-704" b="-10563"/>
                </a:stretch>
              </a:blipFill>
            </p:spPr>
            <p:txBody>
              <a:bodyPr/>
              <a:lstStyle/>
              <a:p>
                <a:r>
                  <a:rPr lang="en-US">
                    <a:noFill/>
                  </a:rPr>
                  <a:t> </a:t>
                </a:r>
              </a:p>
            </p:txBody>
          </p:sp>
        </mc:Fallback>
      </mc:AlternateContent>
    </p:spTree>
    <p:extLst>
      <p:ext uri="{BB962C8B-B14F-4D97-AF65-F5344CB8AC3E}">
        <p14:creationId xmlns:p14="http://schemas.microsoft.com/office/powerpoint/2010/main" val="20712226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362"/>
        <p:cNvGrpSpPr/>
        <p:nvPr/>
      </p:nvGrpSpPr>
      <p:grpSpPr>
        <a:xfrm>
          <a:off x="0" y="0"/>
          <a:ext cx="0" cy="0"/>
          <a:chOff x="0" y="0"/>
          <a:chExt cx="0" cy="0"/>
        </a:xfrm>
      </p:grpSpPr>
      <p:sp>
        <p:nvSpPr>
          <p:cNvPr id="363" name="Google Shape;363;p28"/>
          <p:cNvSpPr txBox="1">
            <a:spLocks noGrp="1"/>
          </p:cNvSpPr>
          <p:nvPr>
            <p:ph type="title"/>
          </p:nvPr>
        </p:nvSpPr>
        <p:spPr>
          <a:xfrm>
            <a:off x="665901" y="174562"/>
            <a:ext cx="474599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pic>
        <p:nvPicPr>
          <p:cNvPr id="365" name="Google Shape;365;p28"/>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366" name="Google Shape;366;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67" name="Google Shape;367;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37</a:t>
            </a:fld>
            <a:endParaRPr/>
          </a:p>
        </p:txBody>
      </p:sp>
      <p:pic>
        <p:nvPicPr>
          <p:cNvPr id="1026" name="Picture 2" descr="https://img-blog.csdn.net/20180122153813519?watermark/2/text/aHR0cDovL2Jsb2cuY3Nkbi5uZXQvSlVOSlVOX1pIQU8=/font/5a6L5L2T/fontsize/400/fill/I0JBQkFCMA==/dissolve/70/gravity/SouthEa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841" y="1205865"/>
            <a:ext cx="9182100" cy="5172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18745" y="1069211"/>
            <a:ext cx="11271739" cy="4089581"/>
          </a:xfrm>
          <a:prstGeom prst="rect">
            <a:avLst/>
          </a:prstGeom>
          <a:noFill/>
          <a:ln>
            <a:noFill/>
          </a:ln>
        </p:spPr>
        <p:txBody>
          <a:bodyPr spcFirstLastPara="1" wrap="square" lIns="0" tIns="63500" rIns="0" bIns="0" anchor="t" anchorCtr="0">
            <a:spAutoFit/>
          </a:bodyPr>
          <a:lstStyle/>
          <a:p>
            <a:pPr marL="254000" marR="316865" lvl="0" indent="-229234">
              <a:lnSpc>
                <a:spcPct val="109375"/>
              </a:lnSpc>
              <a:buSzPts val="3200"/>
              <a:buFont typeface="Arial"/>
              <a:buChar char="•"/>
            </a:pPr>
            <a:r>
              <a:rPr lang="en-US" sz="2400" dirty="0">
                <a:latin typeface="+mj-lt"/>
                <a:ea typeface="Calibri"/>
                <a:cs typeface="Calibri"/>
                <a:sym typeface="Calibri"/>
              </a:rPr>
              <a:t>Let's look at the </a:t>
            </a:r>
            <a:r>
              <a:rPr lang="en-US" sz="2400" dirty="0" smtClean="0">
                <a:latin typeface="+mj-lt"/>
                <a:ea typeface="Calibri"/>
                <a:cs typeface="Calibri"/>
                <a:sym typeface="Calibri"/>
              </a:rPr>
              <a:t>plot some </a:t>
            </a:r>
            <a:r>
              <a:rPr lang="en-US" sz="2400" dirty="0">
                <a:latin typeface="+mj-lt"/>
                <a:ea typeface="Calibri"/>
                <a:cs typeface="Calibri"/>
                <a:sym typeface="Calibri"/>
              </a:rPr>
              <a:t>examples with more classes. So it's an example with C equals 4, so that the green class and </a:t>
            </a:r>
            <a:r>
              <a:rPr lang="en-US" sz="2400" dirty="0" err="1">
                <a:latin typeface="+mj-lt"/>
                <a:ea typeface="Calibri"/>
                <a:cs typeface="Calibri"/>
                <a:sym typeface="Calibri"/>
              </a:rPr>
              <a:t>Softmax</a:t>
            </a:r>
            <a:r>
              <a:rPr lang="en-US" sz="2400" dirty="0">
                <a:latin typeface="+mj-lt"/>
                <a:ea typeface="Calibri"/>
                <a:cs typeface="Calibri"/>
                <a:sym typeface="Calibri"/>
              </a:rPr>
              <a:t> can continue to represent these types of linear decision boundaries between multiple classes. So here's one more example with C equals 5 classes, and here's one in the plot above last example with C equals 6</a:t>
            </a:r>
            <a:r>
              <a:rPr lang="en-US" sz="2400" dirty="0" smtClean="0">
                <a:latin typeface="+mj-lt"/>
                <a:ea typeface="Calibri"/>
                <a:cs typeface="Calibri"/>
                <a:sym typeface="Calibri"/>
              </a:rPr>
              <a:t>.</a:t>
            </a:r>
            <a:endParaRPr lang="en-US" sz="2400" dirty="0">
              <a:latin typeface="+mj-lt"/>
              <a:ea typeface="Calibri"/>
              <a:cs typeface="Calibri"/>
              <a:sym typeface="Calibri"/>
            </a:endParaRPr>
          </a:p>
          <a:p>
            <a:pPr marL="254000" marR="316865" lvl="0" indent="-229234">
              <a:lnSpc>
                <a:spcPct val="109375"/>
              </a:lnSpc>
              <a:buSzPts val="3200"/>
              <a:buFont typeface="Arial"/>
              <a:buChar char="•"/>
            </a:pPr>
            <a:r>
              <a:rPr lang="en-US" sz="2400" dirty="0">
                <a:latin typeface="+mj-lt"/>
                <a:ea typeface="Calibri"/>
                <a:cs typeface="Calibri"/>
                <a:sym typeface="Calibri"/>
              </a:rPr>
              <a:t>So </a:t>
            </a:r>
            <a:r>
              <a:rPr lang="en-US" sz="2400" dirty="0" smtClean="0">
                <a:latin typeface="+mj-lt"/>
                <a:ea typeface="Calibri"/>
                <a:cs typeface="Calibri"/>
                <a:sym typeface="Calibri"/>
              </a:rPr>
              <a:t>the plot shows </a:t>
            </a:r>
            <a:r>
              <a:rPr lang="en-US" sz="2400" dirty="0">
                <a:latin typeface="+mj-lt"/>
                <a:ea typeface="Calibri"/>
                <a:cs typeface="Calibri"/>
                <a:sym typeface="Calibri"/>
              </a:rPr>
              <a:t>the type of things the </a:t>
            </a:r>
            <a:r>
              <a:rPr lang="en-US" sz="2400" dirty="0" err="1">
                <a:latin typeface="+mj-lt"/>
                <a:ea typeface="Calibri"/>
                <a:cs typeface="Calibri"/>
                <a:sym typeface="Calibri"/>
              </a:rPr>
              <a:t>Softmax</a:t>
            </a:r>
            <a:r>
              <a:rPr lang="en-US" sz="2400" dirty="0">
                <a:latin typeface="+mj-lt"/>
                <a:ea typeface="Calibri"/>
                <a:cs typeface="Calibri"/>
                <a:sym typeface="Calibri"/>
              </a:rPr>
              <a:t> classifier can do when there is no hidden layer of class, even much deeper neural network with x and then some hidden units, and then more hidden units, and so on. Then you can learn even more complex non-linear decision boundaries to separate out multiple different classes.</a:t>
            </a: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Softmax</a:t>
            </a:r>
            <a:r>
              <a:rPr lang="en-US" sz="4400" dirty="0">
                <a:latin typeface="+mj-lt"/>
                <a:ea typeface="Cambria"/>
                <a:cs typeface="Cambria"/>
                <a:sym typeface="Cambria"/>
              </a:rPr>
              <a:t> </a:t>
            </a:r>
            <a:r>
              <a:rPr lang="en-US" sz="4400" dirty="0" smtClean="0">
                <a:latin typeface="+mj-lt"/>
                <a:ea typeface="Cambria"/>
                <a:cs typeface="Cambria"/>
                <a:sym typeface="Cambria"/>
              </a:rPr>
              <a:t>examples</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38</a:t>
            </a:fld>
            <a:endParaRPr>
              <a:latin typeface="+mj-lt"/>
            </a:endParaRPr>
          </a:p>
        </p:txBody>
      </p:sp>
    </p:spTree>
    <p:extLst>
      <p:ext uri="{BB962C8B-B14F-4D97-AF65-F5344CB8AC3E}">
        <p14:creationId xmlns:p14="http://schemas.microsoft.com/office/powerpoint/2010/main" val="38034460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Softmax</a:t>
            </a:r>
            <a:r>
              <a:rPr lang="en-US" sz="4400" dirty="0">
                <a:latin typeface="+mj-lt"/>
                <a:ea typeface="Cambria"/>
                <a:cs typeface="Cambria"/>
                <a:sym typeface="Cambria"/>
              </a:rPr>
              <a:t> </a:t>
            </a:r>
            <a:r>
              <a:rPr lang="en-US" sz="4400" dirty="0" smtClean="0">
                <a:latin typeface="+mj-lt"/>
                <a:ea typeface="Cambria"/>
                <a:cs typeface="Cambria"/>
                <a:sym typeface="Cambria"/>
              </a:rPr>
              <a:t>examples</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39</a:t>
            </a:fld>
            <a:endParaRPr>
              <a:latin typeface="+mj-lt"/>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485" y="1744418"/>
            <a:ext cx="9983593" cy="4839375"/>
          </a:xfrm>
          <a:prstGeom prst="rect">
            <a:avLst/>
          </a:prstGeom>
        </p:spPr>
      </p:pic>
      <p:sp>
        <p:nvSpPr>
          <p:cNvPr id="5" name="TextBox 4"/>
          <p:cNvSpPr txBox="1"/>
          <p:nvPr/>
        </p:nvSpPr>
        <p:spPr>
          <a:xfrm>
            <a:off x="1572898" y="1660775"/>
            <a:ext cx="668277" cy="307777"/>
          </a:xfrm>
          <a:prstGeom prst="rect">
            <a:avLst/>
          </a:prstGeom>
          <a:noFill/>
        </p:spPr>
        <p:txBody>
          <a:bodyPr wrap="square" rtlCol="0">
            <a:spAutoFit/>
          </a:bodyPr>
          <a:lstStyle/>
          <a:p>
            <a:r>
              <a:rPr lang="en-US" dirty="0" smtClean="0"/>
              <a:t>C = 3</a:t>
            </a:r>
            <a:endParaRPr lang="en-US" dirty="0"/>
          </a:p>
        </p:txBody>
      </p:sp>
      <p:sp>
        <p:nvSpPr>
          <p:cNvPr id="10" name="TextBox 9"/>
          <p:cNvSpPr txBox="1"/>
          <p:nvPr/>
        </p:nvSpPr>
        <p:spPr>
          <a:xfrm>
            <a:off x="1572897" y="3968395"/>
            <a:ext cx="668277" cy="307777"/>
          </a:xfrm>
          <a:prstGeom prst="rect">
            <a:avLst/>
          </a:prstGeom>
          <a:noFill/>
        </p:spPr>
        <p:txBody>
          <a:bodyPr wrap="square" rtlCol="0">
            <a:spAutoFit/>
          </a:bodyPr>
          <a:lstStyle/>
          <a:p>
            <a:r>
              <a:rPr lang="en-US" dirty="0" smtClean="0"/>
              <a:t>C = 4</a:t>
            </a:r>
            <a:endParaRPr lang="en-US" dirty="0"/>
          </a:p>
        </p:txBody>
      </p:sp>
      <p:sp>
        <p:nvSpPr>
          <p:cNvPr id="11" name="TextBox 10"/>
          <p:cNvSpPr txBox="1"/>
          <p:nvPr/>
        </p:nvSpPr>
        <p:spPr>
          <a:xfrm>
            <a:off x="4952591" y="3966728"/>
            <a:ext cx="668277" cy="307777"/>
          </a:xfrm>
          <a:prstGeom prst="rect">
            <a:avLst/>
          </a:prstGeom>
          <a:noFill/>
        </p:spPr>
        <p:txBody>
          <a:bodyPr wrap="square" rtlCol="0">
            <a:spAutoFit/>
          </a:bodyPr>
          <a:lstStyle/>
          <a:p>
            <a:r>
              <a:rPr lang="en-US" dirty="0" smtClean="0"/>
              <a:t>C = 5</a:t>
            </a:r>
            <a:endParaRPr lang="en-US" dirty="0"/>
          </a:p>
        </p:txBody>
      </p:sp>
      <p:sp>
        <p:nvSpPr>
          <p:cNvPr id="12" name="TextBox 11"/>
          <p:cNvSpPr txBox="1"/>
          <p:nvPr/>
        </p:nvSpPr>
        <p:spPr>
          <a:xfrm>
            <a:off x="8233673" y="3966728"/>
            <a:ext cx="668277" cy="307777"/>
          </a:xfrm>
          <a:prstGeom prst="rect">
            <a:avLst/>
          </a:prstGeom>
          <a:noFill/>
        </p:spPr>
        <p:txBody>
          <a:bodyPr wrap="square" rtlCol="0">
            <a:spAutoFit/>
          </a:bodyPr>
          <a:lstStyle/>
          <a:p>
            <a:r>
              <a:rPr lang="en-US" dirty="0" smtClean="0"/>
              <a:t>C = 6</a:t>
            </a:r>
            <a:endParaRPr lang="en-US" dirty="0"/>
          </a:p>
        </p:txBody>
      </p:sp>
      <p:sp>
        <p:nvSpPr>
          <p:cNvPr id="13" name="TextBox 12"/>
          <p:cNvSpPr txBox="1"/>
          <p:nvPr/>
        </p:nvSpPr>
        <p:spPr>
          <a:xfrm>
            <a:off x="4952591" y="1657440"/>
            <a:ext cx="668277" cy="307777"/>
          </a:xfrm>
          <a:prstGeom prst="rect">
            <a:avLst/>
          </a:prstGeom>
          <a:noFill/>
        </p:spPr>
        <p:txBody>
          <a:bodyPr wrap="square" rtlCol="0">
            <a:spAutoFit/>
          </a:bodyPr>
          <a:lstStyle/>
          <a:p>
            <a:r>
              <a:rPr lang="en-US" dirty="0" smtClean="0"/>
              <a:t>C = 3</a:t>
            </a:r>
            <a:endParaRPr lang="en-US" dirty="0"/>
          </a:p>
        </p:txBody>
      </p:sp>
      <p:sp>
        <p:nvSpPr>
          <p:cNvPr id="14" name="TextBox 13"/>
          <p:cNvSpPr txBox="1"/>
          <p:nvPr/>
        </p:nvSpPr>
        <p:spPr>
          <a:xfrm>
            <a:off x="8287458" y="1657439"/>
            <a:ext cx="668277" cy="307777"/>
          </a:xfrm>
          <a:prstGeom prst="rect">
            <a:avLst/>
          </a:prstGeom>
          <a:noFill/>
        </p:spPr>
        <p:txBody>
          <a:bodyPr wrap="square" rtlCol="0">
            <a:spAutoFit/>
          </a:bodyPr>
          <a:lstStyle/>
          <a:p>
            <a:r>
              <a:rPr lang="en-US" dirty="0" smtClean="0"/>
              <a:t>C = 3</a:t>
            </a:r>
            <a:endParaRPr lang="en-US" dirty="0"/>
          </a:p>
        </p:txBody>
      </p:sp>
    </p:spTree>
    <p:extLst>
      <p:ext uri="{BB962C8B-B14F-4D97-AF65-F5344CB8AC3E}">
        <p14:creationId xmlns:p14="http://schemas.microsoft.com/office/powerpoint/2010/main" val="13915105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371"/>
        <p:cNvGrpSpPr/>
        <p:nvPr/>
      </p:nvGrpSpPr>
      <p:grpSpPr>
        <a:xfrm>
          <a:off x="0" y="0"/>
          <a:ext cx="0" cy="0"/>
          <a:chOff x="0" y="0"/>
          <a:chExt cx="0" cy="0"/>
        </a:xfrm>
      </p:grpSpPr>
      <p:sp>
        <p:nvSpPr>
          <p:cNvPr id="372" name="Google Shape;372;p29"/>
          <p:cNvSpPr txBox="1">
            <a:spLocks noGrp="1"/>
          </p:cNvSpPr>
          <p:nvPr>
            <p:ph type="title"/>
          </p:nvPr>
        </p:nvSpPr>
        <p:spPr>
          <a:xfrm>
            <a:off x="1564422" y="1170063"/>
            <a:ext cx="9710129" cy="2109808"/>
          </a:xfrm>
          <a:prstGeom prst="rect">
            <a:avLst/>
          </a:prstGeom>
          <a:noFill/>
          <a:ln>
            <a:noFill/>
          </a:ln>
        </p:spPr>
        <p:txBody>
          <a:bodyPr spcFirstLastPara="1" wrap="square" lIns="0" tIns="114300" rIns="0" bIns="0" anchor="t" anchorCtr="0">
            <a:spAutoFit/>
          </a:bodyPr>
          <a:lstStyle/>
          <a:p>
            <a:pPr marL="5033645" marR="5080" lvl="0" indent="-186690">
              <a:lnSpc>
                <a:spcPct val="108333"/>
              </a:lnSpc>
            </a:pPr>
            <a:r>
              <a:rPr lang="en-US" dirty="0">
                <a:latin typeface="+mj-lt"/>
              </a:rPr>
              <a:t>Multi-class classification</a:t>
            </a:r>
            <a:endParaRPr dirty="0">
              <a:latin typeface="+mj-lt"/>
            </a:endParaRPr>
          </a:p>
        </p:txBody>
      </p:sp>
      <p:sp>
        <p:nvSpPr>
          <p:cNvPr id="373" name="Google Shape;373;p29"/>
          <p:cNvSpPr txBox="1"/>
          <p:nvPr/>
        </p:nvSpPr>
        <p:spPr>
          <a:xfrm>
            <a:off x="5015966" y="3513279"/>
            <a:ext cx="6908800" cy="2022590"/>
          </a:xfrm>
          <a:prstGeom prst="rect">
            <a:avLst/>
          </a:prstGeom>
          <a:noFill/>
          <a:ln>
            <a:noFill/>
          </a:ln>
        </p:spPr>
        <p:txBody>
          <a:bodyPr spcFirstLastPara="1" wrap="square" lIns="0" tIns="27925" rIns="0" bIns="0" anchor="t" anchorCtr="0">
            <a:spAutoFit/>
          </a:bodyPr>
          <a:lstStyle/>
          <a:p>
            <a:pPr marL="445769" marR="5080" lvl="0" indent="-433704" algn="ctr">
              <a:lnSpc>
                <a:spcPct val="119696"/>
              </a:lnSpc>
              <a:buSzPts val="6600"/>
            </a:pPr>
            <a:r>
              <a:rPr lang="en-US" sz="5400" dirty="0">
                <a:latin typeface="+mj-lt"/>
                <a:ea typeface="Calibri"/>
                <a:cs typeface="Calibri"/>
                <a:sym typeface="Calibri"/>
              </a:rPr>
              <a:t>Training a </a:t>
            </a:r>
            <a:r>
              <a:rPr lang="en-US" sz="5400" dirty="0" err="1">
                <a:latin typeface="+mj-lt"/>
                <a:ea typeface="Calibri"/>
                <a:cs typeface="Calibri"/>
                <a:sym typeface="Calibri"/>
              </a:rPr>
              <a:t>Softmax</a:t>
            </a:r>
            <a:r>
              <a:rPr lang="en-US" sz="5400" dirty="0">
                <a:latin typeface="+mj-lt"/>
                <a:ea typeface="Calibri"/>
                <a:cs typeface="Calibri"/>
                <a:sym typeface="Calibri"/>
              </a:rPr>
              <a:t> Classifier</a:t>
            </a:r>
            <a:endParaRPr sz="5400" b="0" i="0" u="none" strike="noStrike" cap="none" dirty="0">
              <a:solidFill>
                <a:srgbClr val="000000"/>
              </a:solidFill>
              <a:latin typeface="+mj-lt"/>
              <a:ea typeface="Calibri"/>
              <a:cs typeface="Calibri"/>
              <a:sym typeface="Calibri"/>
            </a:endParaRPr>
          </a:p>
        </p:txBody>
      </p:sp>
      <p:sp>
        <p:nvSpPr>
          <p:cNvPr id="374" name="Google Shape;374;p29"/>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375" name="Google Shape;375;p29"/>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76" name="Google Shape;376;p2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40</a:t>
            </a:fld>
            <a:endParaRPr>
              <a:latin typeface="+mj-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4089581"/>
          </a:xfrm>
          <a:prstGeom prst="rect">
            <a:avLst/>
          </a:prstGeom>
          <a:noFill/>
          <a:ln>
            <a:noFill/>
          </a:ln>
        </p:spPr>
        <p:txBody>
          <a:bodyPr spcFirstLastPara="1" wrap="square" lIns="0" tIns="63500" rIns="0" bIns="0" anchor="t" anchorCtr="0">
            <a:spAutoFit/>
          </a:bodyPr>
          <a:lstStyle/>
          <a:p>
            <a:pPr marL="254000" marR="316865" lvl="0" indent="-229234">
              <a:lnSpc>
                <a:spcPct val="109375"/>
              </a:lnSpc>
              <a:buSzPts val="3200"/>
              <a:buFont typeface="Arial"/>
              <a:buChar char="•"/>
            </a:pPr>
            <a:r>
              <a:rPr lang="en-US" sz="2400" dirty="0" smtClean="0">
                <a:latin typeface="+mj-lt"/>
                <a:ea typeface="Calibri"/>
                <a:cs typeface="Calibri"/>
                <a:sym typeface="Calibri"/>
              </a:rPr>
              <a:t>In </a:t>
            </a:r>
            <a:r>
              <a:rPr lang="en-US" sz="2400" dirty="0">
                <a:latin typeface="+mj-lt"/>
                <a:ea typeface="Calibri"/>
                <a:cs typeface="Calibri"/>
                <a:sym typeface="Calibri"/>
              </a:rPr>
              <a:t>binary classification, we have two possible labels, either 0 or 1, and we are trying to recognize one of two classes. However, in multiclass classification, we have multiple possible classes, and we want to recognize one of C classes. For example, instead of just recognizing cats, we want to recognize cats, dogs, and baby chicks. In this case, we have four possible classes, including an "other" or "none of the above" class</a:t>
            </a:r>
            <a:r>
              <a:rPr lang="en-US" sz="2400" dirty="0" smtClean="0">
                <a:latin typeface="+mj-lt"/>
                <a:ea typeface="Calibri"/>
                <a:cs typeface="Calibri"/>
                <a:sym typeface="Calibri"/>
              </a:rPr>
              <a:t>.</a:t>
            </a:r>
          </a:p>
          <a:p>
            <a:pPr marL="254000" marR="316865" lvl="0" indent="-229234">
              <a:lnSpc>
                <a:spcPct val="109375"/>
              </a:lnSpc>
              <a:buSzPts val="3200"/>
              <a:buFont typeface="Arial"/>
              <a:buChar char="•"/>
            </a:pPr>
            <a:r>
              <a:rPr lang="en-US" sz="2400" dirty="0">
                <a:latin typeface="+mj-lt"/>
                <a:ea typeface="Calibri"/>
                <a:cs typeface="Calibri"/>
                <a:sym typeface="Calibri"/>
              </a:rPr>
              <a:t>To implement this, we need to build a new neural network with an upper layer that has C units, where C is the number of classes we want to categorize the inputs into. The output labels, represented as y hat, will be a C by 1 dimensional vector that outputs the probability of each of the C classes.</a:t>
            </a:r>
            <a:endParaRPr sz="2400" b="0" i="0" u="none" strike="noStrike" cap="none" dirty="0">
              <a:solidFill>
                <a:srgbClr val="000000"/>
              </a:solidFill>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ambria"/>
                <a:cs typeface="Cambria"/>
                <a:sym typeface="Cambria"/>
              </a:rPr>
              <a:t>Training a </a:t>
            </a:r>
            <a:r>
              <a:rPr lang="en-US" sz="4400" dirty="0" err="1">
                <a:latin typeface="+mj-lt"/>
                <a:ea typeface="Cambria"/>
                <a:cs typeface="Cambria"/>
                <a:sym typeface="Cambria"/>
              </a:rPr>
              <a:t>Softmax</a:t>
            </a:r>
            <a:r>
              <a:rPr lang="en-US" sz="4400" dirty="0">
                <a:latin typeface="+mj-lt"/>
                <a:ea typeface="Cambria"/>
                <a:cs typeface="Cambria"/>
                <a:sym typeface="Cambria"/>
              </a:rPr>
              <a:t> Classifier</a:t>
            </a: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41</a:t>
            </a:fld>
            <a:endParaRPr>
              <a:latin typeface="+mj-lt"/>
            </a:endParaRPr>
          </a:p>
        </p:txBody>
      </p:sp>
    </p:spTree>
    <p:extLst>
      <p:ext uri="{BB962C8B-B14F-4D97-AF65-F5344CB8AC3E}">
        <p14:creationId xmlns:p14="http://schemas.microsoft.com/office/powerpoint/2010/main" val="12634551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371"/>
        <p:cNvGrpSpPr/>
        <p:nvPr/>
      </p:nvGrpSpPr>
      <p:grpSpPr>
        <a:xfrm>
          <a:off x="0" y="0"/>
          <a:ext cx="0" cy="0"/>
          <a:chOff x="0" y="0"/>
          <a:chExt cx="0" cy="0"/>
        </a:xfrm>
      </p:grpSpPr>
      <p:sp>
        <p:nvSpPr>
          <p:cNvPr id="372" name="Google Shape;372;p29"/>
          <p:cNvSpPr txBox="1">
            <a:spLocks noGrp="1"/>
          </p:cNvSpPr>
          <p:nvPr>
            <p:ph type="title"/>
          </p:nvPr>
        </p:nvSpPr>
        <p:spPr>
          <a:xfrm>
            <a:off x="1564422" y="1170063"/>
            <a:ext cx="9710129" cy="2109808"/>
          </a:xfrm>
          <a:prstGeom prst="rect">
            <a:avLst/>
          </a:prstGeom>
          <a:noFill/>
          <a:ln>
            <a:noFill/>
          </a:ln>
        </p:spPr>
        <p:txBody>
          <a:bodyPr spcFirstLastPara="1" wrap="square" lIns="0" tIns="114300" rIns="0" bIns="0" anchor="t" anchorCtr="0">
            <a:spAutoFit/>
          </a:bodyPr>
          <a:lstStyle/>
          <a:p>
            <a:pPr marL="5033645" marR="5080" lvl="0" indent="-186690" algn="l" rtl="0">
              <a:lnSpc>
                <a:spcPct val="108333"/>
              </a:lnSpc>
              <a:spcBef>
                <a:spcPts val="0"/>
              </a:spcBef>
              <a:spcAft>
                <a:spcPts val="0"/>
              </a:spcAft>
              <a:buSzPts val="1400"/>
              <a:buNone/>
            </a:pPr>
            <a:r>
              <a:rPr lang="en-US" dirty="0">
                <a:latin typeface="+mj-lt"/>
              </a:rPr>
              <a:t>Programming Frameworks</a:t>
            </a:r>
            <a:endParaRPr dirty="0">
              <a:latin typeface="+mj-lt"/>
            </a:endParaRPr>
          </a:p>
        </p:txBody>
      </p:sp>
      <p:sp>
        <p:nvSpPr>
          <p:cNvPr id="373" name="Google Shape;373;p29"/>
          <p:cNvSpPr txBox="1"/>
          <p:nvPr/>
        </p:nvSpPr>
        <p:spPr>
          <a:xfrm>
            <a:off x="6002362" y="3806685"/>
            <a:ext cx="5354485" cy="2022590"/>
          </a:xfrm>
          <a:prstGeom prst="rect">
            <a:avLst/>
          </a:prstGeom>
          <a:noFill/>
          <a:ln>
            <a:noFill/>
          </a:ln>
        </p:spPr>
        <p:txBody>
          <a:bodyPr spcFirstLastPara="1" wrap="square" lIns="0" tIns="27925" rIns="0" bIns="0" anchor="t" anchorCtr="0">
            <a:spAutoFit/>
          </a:bodyPr>
          <a:lstStyle/>
          <a:p>
            <a:pPr marL="445769" marR="5080" lvl="0" indent="-433704"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Deep Learning frameworks</a:t>
            </a:r>
            <a:endParaRPr sz="5400" b="0" i="0" u="none" strike="noStrike" cap="none" dirty="0">
              <a:solidFill>
                <a:srgbClr val="000000"/>
              </a:solidFill>
              <a:latin typeface="+mj-lt"/>
              <a:ea typeface="Calibri"/>
              <a:cs typeface="Calibri"/>
              <a:sym typeface="Calibri"/>
            </a:endParaRPr>
          </a:p>
        </p:txBody>
      </p:sp>
      <p:sp>
        <p:nvSpPr>
          <p:cNvPr id="374" name="Google Shape;374;p29"/>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375" name="Google Shape;375;p29"/>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76" name="Google Shape;376;p2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42</a:t>
            </a:fld>
            <a:endParaRPr>
              <a:latin typeface="+mj-lt"/>
            </a:endParaRPr>
          </a:p>
        </p:txBody>
      </p:sp>
    </p:spTree>
    <p:extLst>
      <p:ext uri="{BB962C8B-B14F-4D97-AF65-F5344CB8AC3E}">
        <p14:creationId xmlns:p14="http://schemas.microsoft.com/office/powerpoint/2010/main" val="13002878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380"/>
        <p:cNvGrpSpPr/>
        <p:nvPr/>
      </p:nvGrpSpPr>
      <p:grpSpPr>
        <a:xfrm>
          <a:off x="0" y="0"/>
          <a:ext cx="0" cy="0"/>
          <a:chOff x="0" y="0"/>
          <a:chExt cx="0" cy="0"/>
        </a:xfrm>
      </p:grpSpPr>
      <p:sp>
        <p:nvSpPr>
          <p:cNvPr id="381" name="Google Shape;381;p30"/>
          <p:cNvSpPr txBox="1">
            <a:spLocks noGrp="1"/>
          </p:cNvSpPr>
          <p:nvPr>
            <p:ph type="title"/>
          </p:nvPr>
        </p:nvSpPr>
        <p:spPr>
          <a:xfrm>
            <a:off x="261620" y="139700"/>
            <a:ext cx="68980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Deep learning frameworks</a:t>
            </a:r>
            <a:endParaRPr sz="4400" dirty="0">
              <a:latin typeface="+mj-lt"/>
              <a:ea typeface="Cambria"/>
              <a:cs typeface="Cambria"/>
              <a:sym typeface="Cambria"/>
            </a:endParaRPr>
          </a:p>
        </p:txBody>
      </p:sp>
      <p:sp>
        <p:nvSpPr>
          <p:cNvPr id="382" name="Google Shape;382;p30"/>
          <p:cNvSpPr txBox="1"/>
          <p:nvPr/>
        </p:nvSpPr>
        <p:spPr>
          <a:xfrm>
            <a:off x="830441" y="1195031"/>
            <a:ext cx="2739236" cy="4698061"/>
          </a:xfrm>
          <a:prstGeom prst="rect">
            <a:avLst/>
          </a:prstGeom>
          <a:noFill/>
          <a:ln>
            <a:noFill/>
          </a:ln>
        </p:spPr>
        <p:txBody>
          <a:bodyPr spcFirstLastPara="1" wrap="square" lIns="0" tIns="55225" rIns="0" bIns="0" anchor="t" anchorCtr="0">
            <a:spAutoFit/>
          </a:bodyPr>
          <a:lstStyle/>
          <a:p>
            <a:pPr marL="241300" marR="0" lvl="0" indent="-229234" algn="l" rtl="0">
              <a:lnSpc>
                <a:spcPct val="100000"/>
              </a:lnSpc>
              <a:spcBef>
                <a:spcPts val="0"/>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Caffe</a:t>
            </a:r>
            <a:r>
              <a:rPr lang="en-US" sz="2800" b="0" i="0" u="none" strike="noStrike" cap="none" dirty="0">
                <a:solidFill>
                  <a:srgbClr val="000000"/>
                </a:solidFill>
                <a:latin typeface="+mj-lt"/>
                <a:ea typeface="Calibri"/>
                <a:cs typeface="Calibri"/>
                <a:sym typeface="Calibri"/>
              </a:rPr>
              <a:t>/Caffe2</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a:solidFill>
                  <a:srgbClr val="000000"/>
                </a:solidFill>
                <a:latin typeface="+mj-lt"/>
                <a:ea typeface="Calibri"/>
                <a:cs typeface="Calibri"/>
                <a:sym typeface="Calibri"/>
              </a:rPr>
              <a:t>CNTK</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a:solidFill>
                  <a:srgbClr val="000000"/>
                </a:solidFill>
                <a:latin typeface="+mj-lt"/>
                <a:ea typeface="Calibri"/>
                <a:cs typeface="Calibri"/>
                <a:sym typeface="Calibri"/>
              </a:rPr>
              <a:t>DL4J</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Keras</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Lasagne</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35"/>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mxnet</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240"/>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PaddlePaddle</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TensorFlow</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err="1">
                <a:solidFill>
                  <a:srgbClr val="000000"/>
                </a:solidFill>
                <a:latin typeface="+mj-lt"/>
                <a:ea typeface="Calibri"/>
                <a:cs typeface="Calibri"/>
                <a:sym typeface="Calibri"/>
              </a:rPr>
              <a:t>Theano</a:t>
            </a:r>
            <a:endParaRPr sz="2800" b="0" i="0" u="none" strike="noStrike" cap="none" dirty="0">
              <a:solidFill>
                <a:srgbClr val="000000"/>
              </a:solidFill>
              <a:latin typeface="+mj-lt"/>
              <a:ea typeface="Calibri"/>
              <a:cs typeface="Calibri"/>
              <a:sym typeface="Calibri"/>
            </a:endParaRPr>
          </a:p>
          <a:p>
            <a:pPr marL="241300" marR="0" lvl="0" indent="-229234" algn="l" rtl="0">
              <a:lnSpc>
                <a:spcPct val="100000"/>
              </a:lnSpc>
              <a:spcBef>
                <a:spcPts val="340"/>
              </a:spcBef>
              <a:spcAft>
                <a:spcPts val="0"/>
              </a:spcAft>
              <a:buClr>
                <a:srgbClr val="000000"/>
              </a:buClr>
              <a:buSzPts val="2800"/>
              <a:buFont typeface="Arial"/>
              <a:buChar char="•"/>
            </a:pPr>
            <a:r>
              <a:rPr lang="en-US" sz="2800" b="0" i="0" u="none" strike="noStrike" cap="none" dirty="0">
                <a:solidFill>
                  <a:srgbClr val="000000"/>
                </a:solidFill>
                <a:latin typeface="+mj-lt"/>
                <a:ea typeface="Calibri"/>
                <a:cs typeface="Calibri"/>
                <a:sym typeface="Calibri"/>
              </a:rPr>
              <a:t>Torch</a:t>
            </a:r>
            <a:endParaRPr sz="2800" b="0" i="0" u="none" strike="noStrike" cap="none" dirty="0">
              <a:solidFill>
                <a:srgbClr val="000000"/>
              </a:solidFill>
              <a:latin typeface="+mj-lt"/>
              <a:ea typeface="Calibri"/>
              <a:cs typeface="Calibri"/>
              <a:sym typeface="Calibri"/>
            </a:endParaRPr>
          </a:p>
        </p:txBody>
      </p:sp>
      <p:sp>
        <p:nvSpPr>
          <p:cNvPr id="383" name="Google Shape;383;p30"/>
          <p:cNvSpPr txBox="1"/>
          <p:nvPr/>
        </p:nvSpPr>
        <p:spPr>
          <a:xfrm>
            <a:off x="4475785" y="2156370"/>
            <a:ext cx="6982700" cy="223830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mj-lt"/>
                <a:ea typeface="Calibri"/>
                <a:cs typeface="Calibri"/>
                <a:sym typeface="Calibri"/>
              </a:rPr>
              <a:t>Choosing deep learning frameworks</a:t>
            </a:r>
            <a:endParaRPr sz="2800" b="0" i="0" u="none" strike="noStrike" cap="none" dirty="0">
              <a:solidFill>
                <a:srgbClr val="000000"/>
              </a:solidFill>
              <a:latin typeface="+mj-lt"/>
              <a:ea typeface="Calibri"/>
              <a:cs typeface="Calibri"/>
              <a:sym typeface="Calibri"/>
            </a:endParaRPr>
          </a:p>
          <a:p>
            <a:pPr marL="298450" marR="5080" lvl="0" indent="-286385" algn="l" rtl="0">
              <a:lnSpc>
                <a:spcPct val="117857"/>
              </a:lnSpc>
              <a:spcBef>
                <a:spcPts val="200"/>
              </a:spcBef>
              <a:spcAft>
                <a:spcPts val="0"/>
              </a:spcAft>
              <a:buClr>
                <a:srgbClr val="000000"/>
              </a:buClr>
              <a:buSzPts val="2800"/>
              <a:buFont typeface="Calibri"/>
              <a:buChar char="-"/>
            </a:pPr>
            <a:r>
              <a:rPr lang="en-US" sz="2400" b="0" i="0" u="none" strike="noStrike" cap="none" dirty="0">
                <a:solidFill>
                  <a:srgbClr val="000000"/>
                </a:solidFill>
                <a:latin typeface="+mj-lt"/>
                <a:ea typeface="Calibri"/>
                <a:cs typeface="Calibri"/>
                <a:sym typeface="Calibri"/>
              </a:rPr>
              <a:t>Ease of programming (development and deployment)</a:t>
            </a:r>
            <a:endParaRPr sz="2400" b="0" i="0" u="none" strike="noStrike" cap="none" dirty="0">
              <a:solidFill>
                <a:srgbClr val="000000"/>
              </a:solidFill>
              <a:latin typeface="+mj-lt"/>
              <a:ea typeface="Calibri"/>
              <a:cs typeface="Calibri"/>
              <a:sym typeface="Calibri"/>
            </a:endParaRPr>
          </a:p>
          <a:p>
            <a:pPr marL="298450" marR="0" lvl="0" indent="-286385" algn="l" rtl="0">
              <a:lnSpc>
                <a:spcPct val="117857"/>
              </a:lnSpc>
              <a:spcBef>
                <a:spcPts val="0"/>
              </a:spcBef>
              <a:spcAft>
                <a:spcPts val="0"/>
              </a:spcAft>
              <a:buClr>
                <a:srgbClr val="000000"/>
              </a:buClr>
              <a:buSzPts val="2800"/>
              <a:buFont typeface="Calibri"/>
              <a:buChar char="-"/>
            </a:pPr>
            <a:r>
              <a:rPr lang="en-US" sz="2400" b="0" i="0" u="none" strike="noStrike" cap="none" dirty="0">
                <a:solidFill>
                  <a:srgbClr val="000000"/>
                </a:solidFill>
                <a:latin typeface="+mj-lt"/>
                <a:ea typeface="Calibri"/>
                <a:cs typeface="Calibri"/>
                <a:sym typeface="Calibri"/>
              </a:rPr>
              <a:t>Running speed</a:t>
            </a:r>
            <a:endParaRPr sz="2400" b="0" i="0" u="none" strike="noStrike" cap="none" dirty="0">
              <a:solidFill>
                <a:srgbClr val="000000"/>
              </a:solidFill>
              <a:latin typeface="+mj-lt"/>
              <a:ea typeface="Calibri"/>
              <a:cs typeface="Calibri"/>
              <a:sym typeface="Calibri"/>
            </a:endParaRPr>
          </a:p>
          <a:p>
            <a:pPr marL="298450" marR="147955" lvl="0" indent="-286385" algn="l" rtl="0">
              <a:lnSpc>
                <a:spcPct val="117857"/>
              </a:lnSpc>
              <a:spcBef>
                <a:spcPts val="195"/>
              </a:spcBef>
              <a:spcAft>
                <a:spcPts val="0"/>
              </a:spcAft>
              <a:buClr>
                <a:srgbClr val="000000"/>
              </a:buClr>
              <a:buSzPts val="2800"/>
              <a:buFont typeface="Calibri"/>
              <a:buChar char="-"/>
            </a:pPr>
            <a:r>
              <a:rPr lang="en-US" sz="2400" b="0" i="0" u="none" strike="noStrike" cap="none" dirty="0">
                <a:solidFill>
                  <a:srgbClr val="000000"/>
                </a:solidFill>
                <a:latin typeface="+mj-lt"/>
                <a:ea typeface="Calibri"/>
                <a:cs typeface="Calibri"/>
                <a:sym typeface="Calibri"/>
              </a:rPr>
              <a:t>Truly open (open source with good governance)</a:t>
            </a:r>
            <a:endParaRPr sz="2400" b="0" i="0" u="none" strike="noStrike" cap="none" dirty="0">
              <a:solidFill>
                <a:srgbClr val="000000"/>
              </a:solidFill>
              <a:latin typeface="+mj-lt"/>
              <a:ea typeface="Calibri"/>
              <a:cs typeface="Calibri"/>
              <a:sym typeface="Calibri"/>
            </a:endParaRPr>
          </a:p>
        </p:txBody>
      </p:sp>
      <p:pic>
        <p:nvPicPr>
          <p:cNvPr id="384" name="Google Shape;384;p30"/>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385" name="Google Shape;385;p3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86" name="Google Shape;386;p3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43</a:t>
            </a:fld>
            <a:endParaRPr>
              <a:latin typeface="+mj-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390"/>
        <p:cNvGrpSpPr/>
        <p:nvPr/>
      </p:nvGrpSpPr>
      <p:grpSpPr>
        <a:xfrm>
          <a:off x="0" y="0"/>
          <a:ext cx="0" cy="0"/>
          <a:chOff x="0" y="0"/>
          <a:chExt cx="0" cy="0"/>
        </a:xfrm>
      </p:grpSpPr>
      <p:sp>
        <p:nvSpPr>
          <p:cNvPr id="391" name="Google Shape;391;p31"/>
          <p:cNvSpPr txBox="1">
            <a:spLocks noGrp="1"/>
          </p:cNvSpPr>
          <p:nvPr>
            <p:ph type="title"/>
          </p:nvPr>
        </p:nvSpPr>
        <p:spPr>
          <a:xfrm>
            <a:off x="1564422" y="1170063"/>
            <a:ext cx="9518105" cy="2109808"/>
          </a:xfrm>
          <a:prstGeom prst="rect">
            <a:avLst/>
          </a:prstGeom>
          <a:noFill/>
          <a:ln>
            <a:noFill/>
          </a:ln>
        </p:spPr>
        <p:txBody>
          <a:bodyPr spcFirstLastPara="1" wrap="square" lIns="0" tIns="114300" rIns="0" bIns="0" anchor="t" anchorCtr="0">
            <a:spAutoFit/>
          </a:bodyPr>
          <a:lstStyle/>
          <a:p>
            <a:pPr marL="5033645" marR="5080" lvl="0" indent="-186690" algn="l" rtl="0">
              <a:lnSpc>
                <a:spcPct val="108333"/>
              </a:lnSpc>
              <a:spcBef>
                <a:spcPts val="0"/>
              </a:spcBef>
              <a:spcAft>
                <a:spcPts val="0"/>
              </a:spcAft>
              <a:buSzPts val="1400"/>
              <a:buNone/>
            </a:pPr>
            <a:r>
              <a:rPr lang="en-US" dirty="0">
                <a:latin typeface="+mj-lt"/>
              </a:rPr>
              <a:t>Programming Frameworks</a:t>
            </a:r>
            <a:endParaRPr dirty="0">
              <a:latin typeface="+mj-lt"/>
            </a:endParaRPr>
          </a:p>
        </p:txBody>
      </p:sp>
      <p:sp>
        <p:nvSpPr>
          <p:cNvPr id="392" name="Google Shape;392;p31"/>
          <p:cNvSpPr txBox="1"/>
          <p:nvPr/>
        </p:nvSpPr>
        <p:spPr>
          <a:xfrm>
            <a:off x="5015966" y="3558747"/>
            <a:ext cx="6908800" cy="84382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dirty="0">
                <a:solidFill>
                  <a:srgbClr val="000000"/>
                </a:solidFill>
                <a:latin typeface="+mj-lt"/>
                <a:ea typeface="Calibri"/>
                <a:cs typeface="Calibri"/>
                <a:sym typeface="Calibri"/>
              </a:rPr>
              <a:t>TensorFlow</a:t>
            </a:r>
            <a:endParaRPr sz="5400" b="0" i="0" u="none" strike="noStrike" cap="none" dirty="0">
              <a:solidFill>
                <a:srgbClr val="000000"/>
              </a:solidFill>
              <a:latin typeface="+mj-lt"/>
              <a:ea typeface="Calibri"/>
              <a:cs typeface="Calibri"/>
              <a:sym typeface="Calibri"/>
            </a:endParaRPr>
          </a:p>
        </p:txBody>
      </p:sp>
      <p:sp>
        <p:nvSpPr>
          <p:cNvPr id="393" name="Google Shape;393;p31"/>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j-lt"/>
              <a:ea typeface="Arial"/>
              <a:cs typeface="Arial"/>
              <a:sym typeface="Arial"/>
            </a:endParaRPr>
          </a:p>
        </p:txBody>
      </p:sp>
      <p:pic>
        <p:nvPicPr>
          <p:cNvPr id="394" name="Google Shape;394;p3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95" name="Google Shape;395;p3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44</a:t>
            </a:fld>
            <a:endParaRPr>
              <a:latin typeface="+mj-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3687035"/>
          </a:xfrm>
          <a:prstGeom prst="rect">
            <a:avLst/>
          </a:prstGeom>
          <a:noFill/>
          <a:ln>
            <a:noFill/>
          </a:ln>
        </p:spPr>
        <p:txBody>
          <a:bodyPr spcFirstLastPara="1" wrap="square" lIns="0" tIns="63500" rIns="0" bIns="0" anchor="t" anchorCtr="0">
            <a:spAutoFit/>
          </a:bodyPr>
          <a:lstStyle/>
          <a:p>
            <a:pPr marL="254000" marR="316865" lvl="0" indent="-229234">
              <a:lnSpc>
                <a:spcPct val="109375"/>
              </a:lnSpc>
              <a:buSzPts val="3200"/>
              <a:buFont typeface="Arial"/>
              <a:buChar char="•"/>
            </a:pPr>
            <a:r>
              <a:rPr lang="en-US" sz="2400" dirty="0" err="1">
                <a:latin typeface="+mj-lt"/>
                <a:ea typeface="Calibri"/>
                <a:cs typeface="Calibri"/>
                <a:sym typeface="Calibri"/>
              </a:rPr>
              <a:t>TensorFlow</a:t>
            </a:r>
            <a:r>
              <a:rPr lang="en-US" sz="2400" dirty="0">
                <a:latin typeface="+mj-lt"/>
                <a:ea typeface="Calibri"/>
                <a:cs typeface="Calibri"/>
                <a:sym typeface="Calibri"/>
              </a:rPr>
              <a:t> is an open-source machine learning library developed by the Google Brain team. It is one of the most popular and widely used frameworks for building and deploying machine learning models. </a:t>
            </a:r>
            <a:r>
              <a:rPr lang="en-US" sz="2400" dirty="0" err="1">
                <a:latin typeface="+mj-lt"/>
                <a:ea typeface="Calibri"/>
                <a:cs typeface="Calibri"/>
                <a:sym typeface="Calibri"/>
              </a:rPr>
              <a:t>TensorFlow</a:t>
            </a:r>
            <a:r>
              <a:rPr lang="en-US" sz="2400" dirty="0">
                <a:latin typeface="+mj-lt"/>
                <a:ea typeface="Calibri"/>
                <a:cs typeface="Calibri"/>
                <a:sym typeface="Calibri"/>
              </a:rPr>
              <a:t> provides a comprehensive ecosystem of tools, libraries, and community resources that make it suitable for a range of applications, from research to production deployment.</a:t>
            </a:r>
          </a:p>
          <a:p>
            <a:pPr marL="254000" marR="316865" lvl="0" indent="-229234">
              <a:lnSpc>
                <a:spcPct val="109375"/>
              </a:lnSpc>
              <a:buSzPts val="3200"/>
              <a:buFont typeface="Arial"/>
              <a:buChar char="•"/>
            </a:pPr>
            <a:r>
              <a:rPr lang="en-US" sz="2400" dirty="0" err="1" smtClean="0">
                <a:latin typeface="+mj-lt"/>
                <a:ea typeface="Calibri"/>
                <a:cs typeface="Calibri"/>
                <a:sym typeface="Calibri"/>
              </a:rPr>
              <a:t>TensorFlow</a:t>
            </a:r>
            <a:r>
              <a:rPr lang="en-US" sz="2400" dirty="0" smtClean="0">
                <a:latin typeface="+mj-lt"/>
                <a:ea typeface="Calibri"/>
                <a:cs typeface="Calibri"/>
                <a:sym typeface="Calibri"/>
              </a:rPr>
              <a:t> is </a:t>
            </a:r>
            <a:r>
              <a:rPr lang="en-US" sz="2400" dirty="0">
                <a:latin typeface="+mj-lt"/>
                <a:ea typeface="Calibri"/>
                <a:cs typeface="Calibri"/>
                <a:sym typeface="Calibri"/>
              </a:rPr>
              <a:t>a deep learning programming framework that can </a:t>
            </a:r>
            <a:r>
              <a:rPr lang="en-US" sz="2400" dirty="0" smtClean="0">
                <a:latin typeface="+mj-lt"/>
                <a:ea typeface="Calibri"/>
                <a:cs typeface="Calibri"/>
                <a:sym typeface="Calibri"/>
              </a:rPr>
              <a:t>help developers </a:t>
            </a:r>
            <a:r>
              <a:rPr lang="en-US" sz="2400" dirty="0">
                <a:latin typeface="+mj-lt"/>
                <a:ea typeface="Calibri"/>
                <a:cs typeface="Calibri"/>
                <a:sym typeface="Calibri"/>
              </a:rPr>
              <a:t>be more efficient in implementing and using deep learning algorithms.</a:t>
            </a:r>
            <a:endParaRPr sz="2400" b="0" i="0" u="none" strike="noStrike" cap="none" dirty="0">
              <a:solidFill>
                <a:srgbClr val="000000"/>
              </a:solidFill>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45</a:t>
            </a:fld>
            <a:endParaRPr>
              <a:latin typeface="+mj-lt"/>
            </a:endParaRPr>
          </a:p>
        </p:txBody>
      </p:sp>
    </p:spTree>
    <p:extLst>
      <p:ext uri="{BB962C8B-B14F-4D97-AF65-F5344CB8AC3E}">
        <p14:creationId xmlns:p14="http://schemas.microsoft.com/office/powerpoint/2010/main" val="1178504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4827860"/>
          </a:xfrm>
          <a:prstGeom prst="rect">
            <a:avLst/>
          </a:prstGeom>
          <a:noFill/>
          <a:ln>
            <a:noFill/>
          </a:ln>
        </p:spPr>
        <p:txBody>
          <a:bodyPr spcFirstLastPara="1" wrap="square" lIns="0" tIns="63500" rIns="0" bIns="0" anchor="t" anchorCtr="0">
            <a:spAutoFit/>
          </a:bodyPr>
          <a:lstStyle/>
          <a:p>
            <a:pPr marL="24766" marR="316865" lvl="0">
              <a:lnSpc>
                <a:spcPct val="109375"/>
              </a:lnSpc>
              <a:buSzPts val="3200"/>
            </a:pPr>
            <a:r>
              <a:rPr lang="en-US" sz="2400" dirty="0">
                <a:latin typeface="+mj-lt"/>
                <a:ea typeface="Calibri"/>
                <a:cs typeface="Calibri"/>
                <a:sym typeface="Calibri"/>
              </a:rPr>
              <a:t>Key features of </a:t>
            </a:r>
            <a:r>
              <a:rPr lang="en-US" sz="2400" dirty="0" err="1">
                <a:latin typeface="+mj-lt"/>
                <a:ea typeface="Calibri"/>
                <a:cs typeface="Calibri"/>
                <a:sym typeface="Calibri"/>
              </a:rPr>
              <a:t>TensorFlow</a:t>
            </a:r>
            <a:r>
              <a:rPr lang="en-US" sz="2400" dirty="0">
                <a:latin typeface="+mj-lt"/>
                <a:ea typeface="Calibri"/>
                <a:cs typeface="Calibri"/>
                <a:sym typeface="Calibri"/>
              </a:rPr>
              <a:t> include</a:t>
            </a:r>
            <a:r>
              <a:rPr lang="en-US" sz="2400" dirty="0" smtClean="0">
                <a:latin typeface="+mj-lt"/>
                <a:ea typeface="Calibri"/>
                <a:cs typeface="Calibri"/>
                <a:sym typeface="Calibri"/>
              </a:rPr>
              <a:t>:</a:t>
            </a:r>
            <a:endParaRPr lang="en-US" sz="2400" dirty="0">
              <a:latin typeface="+mj-lt"/>
              <a:ea typeface="Calibri"/>
              <a:cs typeface="Calibri"/>
              <a:sym typeface="Calibri"/>
            </a:endParaRPr>
          </a:p>
          <a:p>
            <a:pPr marL="254000" marR="316865" lvl="0" indent="-229234">
              <a:lnSpc>
                <a:spcPct val="109375"/>
              </a:lnSpc>
              <a:buSzPts val="3200"/>
              <a:buFont typeface="Arial"/>
              <a:buChar char="•"/>
            </a:pPr>
            <a:r>
              <a:rPr lang="en-US" sz="2000" b="1" dirty="0">
                <a:latin typeface="+mj-lt"/>
                <a:ea typeface="Calibri"/>
                <a:cs typeface="Calibri"/>
                <a:sym typeface="Calibri"/>
              </a:rPr>
              <a:t>Flexible Architecture</a:t>
            </a:r>
            <a:r>
              <a:rPr lang="en-US" sz="2000" dirty="0">
                <a:latin typeface="+mj-lt"/>
                <a:ea typeface="Calibri"/>
                <a:cs typeface="Calibri"/>
                <a:sym typeface="Calibri"/>
              </a:rPr>
              <a:t>: </a:t>
            </a:r>
            <a:r>
              <a:rPr lang="en-US" sz="2000" dirty="0" err="1">
                <a:latin typeface="+mj-lt"/>
                <a:ea typeface="Calibri"/>
                <a:cs typeface="Calibri"/>
                <a:sym typeface="Calibri"/>
              </a:rPr>
              <a:t>TensorFlow</a:t>
            </a:r>
            <a:r>
              <a:rPr lang="en-US" sz="2000" dirty="0">
                <a:latin typeface="+mj-lt"/>
                <a:ea typeface="Calibri"/>
                <a:cs typeface="Calibri"/>
                <a:sym typeface="Calibri"/>
              </a:rPr>
              <a:t> allows you to deploy computation to one or more CPUs or GPUs in a desktop, server, or mobile device with a single API. It supports both CPU and GPU acceleration, making it suitable for a wide range of hardware configurations</a:t>
            </a:r>
            <a:r>
              <a:rPr lang="en-US" sz="2000" dirty="0" smtClean="0">
                <a:latin typeface="+mj-lt"/>
                <a:ea typeface="Calibri"/>
                <a:cs typeface="Calibri"/>
                <a:sym typeface="Calibri"/>
              </a:rPr>
              <a:t>.</a:t>
            </a:r>
            <a:endParaRPr lang="en-US" sz="2000" dirty="0">
              <a:latin typeface="+mj-lt"/>
              <a:ea typeface="Calibri"/>
              <a:cs typeface="Calibri"/>
              <a:sym typeface="Calibri"/>
            </a:endParaRPr>
          </a:p>
          <a:p>
            <a:pPr marL="254000" marR="316865" lvl="0" indent="-229234">
              <a:lnSpc>
                <a:spcPct val="109375"/>
              </a:lnSpc>
              <a:buSzPts val="3200"/>
              <a:buFont typeface="Arial"/>
              <a:buChar char="•"/>
            </a:pPr>
            <a:r>
              <a:rPr lang="en-US" sz="2000" b="1" dirty="0">
                <a:latin typeface="+mj-lt"/>
                <a:ea typeface="Calibri"/>
                <a:cs typeface="Calibri"/>
                <a:sym typeface="Calibri"/>
              </a:rPr>
              <a:t>High-Level APIs</a:t>
            </a:r>
            <a:r>
              <a:rPr lang="en-US" sz="2000" dirty="0">
                <a:latin typeface="+mj-lt"/>
                <a:ea typeface="Calibri"/>
                <a:cs typeface="Calibri"/>
                <a:sym typeface="Calibri"/>
              </a:rPr>
              <a:t>: </a:t>
            </a:r>
            <a:r>
              <a:rPr lang="en-US" sz="2000" dirty="0" err="1">
                <a:latin typeface="+mj-lt"/>
                <a:ea typeface="Calibri"/>
                <a:cs typeface="Calibri"/>
                <a:sym typeface="Calibri"/>
              </a:rPr>
              <a:t>TensorFlow</a:t>
            </a:r>
            <a:r>
              <a:rPr lang="en-US" sz="2000" dirty="0">
                <a:latin typeface="+mj-lt"/>
                <a:ea typeface="Calibri"/>
                <a:cs typeface="Calibri"/>
                <a:sym typeface="Calibri"/>
              </a:rPr>
              <a:t> provides high-level APIs like </a:t>
            </a:r>
            <a:r>
              <a:rPr lang="en-US" sz="2000" dirty="0" err="1">
                <a:latin typeface="+mj-lt"/>
                <a:ea typeface="Calibri"/>
                <a:cs typeface="Calibri"/>
                <a:sym typeface="Calibri"/>
              </a:rPr>
              <a:t>Keras</a:t>
            </a:r>
            <a:r>
              <a:rPr lang="en-US" sz="2000" dirty="0">
                <a:latin typeface="+mj-lt"/>
                <a:ea typeface="Calibri"/>
                <a:cs typeface="Calibri"/>
                <a:sym typeface="Calibri"/>
              </a:rPr>
              <a:t>, which simplifies the process of building and training neural networks. </a:t>
            </a:r>
            <a:r>
              <a:rPr lang="en-US" sz="2000" dirty="0" err="1">
                <a:latin typeface="+mj-lt"/>
                <a:ea typeface="Calibri"/>
                <a:cs typeface="Calibri"/>
                <a:sym typeface="Calibri"/>
              </a:rPr>
              <a:t>Keras</a:t>
            </a:r>
            <a:r>
              <a:rPr lang="en-US" sz="2000" dirty="0">
                <a:latin typeface="+mj-lt"/>
                <a:ea typeface="Calibri"/>
                <a:cs typeface="Calibri"/>
                <a:sym typeface="Calibri"/>
              </a:rPr>
              <a:t> is now integrated as the official high-level API of </a:t>
            </a:r>
            <a:r>
              <a:rPr lang="en-US" sz="2000" dirty="0" err="1">
                <a:latin typeface="+mj-lt"/>
                <a:ea typeface="Calibri"/>
                <a:cs typeface="Calibri"/>
                <a:sym typeface="Calibri"/>
              </a:rPr>
              <a:t>TensorFlow</a:t>
            </a:r>
            <a:r>
              <a:rPr lang="en-US" sz="2000" dirty="0">
                <a:latin typeface="+mj-lt"/>
                <a:ea typeface="Calibri"/>
                <a:cs typeface="Calibri"/>
                <a:sym typeface="Calibri"/>
              </a:rPr>
              <a:t>, making it user-friendly and accessible to beginners while maintaining the flexibility needed by researchers and experts</a:t>
            </a:r>
            <a:r>
              <a:rPr lang="en-US" sz="2000" dirty="0" smtClean="0">
                <a:latin typeface="+mj-lt"/>
                <a:ea typeface="Calibri"/>
                <a:cs typeface="Calibri"/>
                <a:sym typeface="Calibri"/>
              </a:rPr>
              <a:t>.</a:t>
            </a:r>
            <a:endParaRPr lang="en-US" sz="2000" dirty="0">
              <a:latin typeface="+mj-lt"/>
              <a:ea typeface="Calibri"/>
              <a:cs typeface="Calibri"/>
              <a:sym typeface="Calibri"/>
            </a:endParaRPr>
          </a:p>
          <a:p>
            <a:pPr marL="254000" marR="316865" lvl="0" indent="-229234">
              <a:lnSpc>
                <a:spcPct val="109375"/>
              </a:lnSpc>
              <a:buSzPts val="3200"/>
              <a:buFont typeface="Arial"/>
              <a:buChar char="•"/>
            </a:pPr>
            <a:r>
              <a:rPr lang="en-US" sz="2000" b="1" dirty="0">
                <a:latin typeface="+mj-lt"/>
                <a:ea typeface="Calibri"/>
                <a:cs typeface="Calibri"/>
                <a:sym typeface="Calibri"/>
              </a:rPr>
              <a:t>Scalability</a:t>
            </a:r>
            <a:r>
              <a:rPr lang="en-US" sz="2000" dirty="0">
                <a:latin typeface="+mj-lt"/>
                <a:ea typeface="Calibri"/>
                <a:cs typeface="Calibri"/>
                <a:sym typeface="Calibri"/>
              </a:rPr>
              <a:t>: </a:t>
            </a:r>
            <a:r>
              <a:rPr lang="en-US" sz="2000" dirty="0" err="1">
                <a:latin typeface="+mj-lt"/>
                <a:ea typeface="Calibri"/>
                <a:cs typeface="Calibri"/>
                <a:sym typeface="Calibri"/>
              </a:rPr>
              <a:t>TensorFlow</a:t>
            </a:r>
            <a:r>
              <a:rPr lang="en-US" sz="2000" dirty="0">
                <a:latin typeface="+mj-lt"/>
                <a:ea typeface="Calibri"/>
                <a:cs typeface="Calibri"/>
                <a:sym typeface="Calibri"/>
              </a:rPr>
              <a:t> is designed to scale from single machines to large clusters of GPUs and TPUs (Tensor Processing Units). This makes it suitable for both small-scale and large-scale machine learning applications</a:t>
            </a:r>
            <a:r>
              <a:rPr lang="en-US" sz="2000" dirty="0" smtClean="0">
                <a:latin typeface="+mj-lt"/>
                <a:ea typeface="Calibri"/>
                <a:cs typeface="Calibri"/>
                <a:sym typeface="Calibri"/>
              </a:rPr>
              <a:t>.</a:t>
            </a:r>
            <a:endParaRPr lang="en-US" sz="2000" dirty="0">
              <a:latin typeface="+mj-lt"/>
              <a:ea typeface="Calibri"/>
              <a:cs typeface="Calibri"/>
              <a:sym typeface="Calibri"/>
            </a:endParaRPr>
          </a:p>
          <a:p>
            <a:pPr marL="254000" marR="316865" lvl="0" indent="-229234">
              <a:lnSpc>
                <a:spcPct val="109375"/>
              </a:lnSpc>
              <a:buSzPts val="3200"/>
              <a:buFont typeface="Arial"/>
              <a:buChar char="•"/>
            </a:pPr>
            <a:r>
              <a:rPr lang="en-US" sz="2000" b="1" dirty="0">
                <a:latin typeface="+mj-lt"/>
                <a:ea typeface="Calibri"/>
                <a:cs typeface="Calibri"/>
                <a:sym typeface="Calibri"/>
              </a:rPr>
              <a:t>Community and Documen</a:t>
            </a:r>
            <a:r>
              <a:rPr lang="en-US" sz="2000" dirty="0">
                <a:latin typeface="+mj-lt"/>
                <a:ea typeface="Calibri"/>
                <a:cs typeface="Calibri"/>
                <a:sym typeface="Calibri"/>
              </a:rPr>
              <a:t>tation: </a:t>
            </a:r>
            <a:r>
              <a:rPr lang="en-US" sz="2000" dirty="0" err="1">
                <a:latin typeface="+mj-lt"/>
                <a:ea typeface="Calibri"/>
                <a:cs typeface="Calibri"/>
                <a:sym typeface="Calibri"/>
              </a:rPr>
              <a:t>TensorFlow</a:t>
            </a:r>
            <a:r>
              <a:rPr lang="en-US" sz="2000" dirty="0">
                <a:latin typeface="+mj-lt"/>
                <a:ea typeface="Calibri"/>
                <a:cs typeface="Calibri"/>
                <a:sym typeface="Calibri"/>
              </a:rPr>
              <a:t> has a large and active community of developers, researchers, and practitioners. This means there are plenty of resources, tutorials, and documentation available for users at all levels of expertise.</a:t>
            </a:r>
            <a:endParaRPr sz="2000" b="0" i="0" u="none" strike="noStrike" cap="none" dirty="0">
              <a:solidFill>
                <a:srgbClr val="000000"/>
              </a:solidFill>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46</a:t>
            </a:fld>
            <a:endParaRPr>
              <a:latin typeface="+mj-lt"/>
            </a:endParaRPr>
          </a:p>
        </p:txBody>
      </p:sp>
    </p:spTree>
    <p:extLst>
      <p:ext uri="{BB962C8B-B14F-4D97-AF65-F5344CB8AC3E}">
        <p14:creationId xmlns:p14="http://schemas.microsoft.com/office/powerpoint/2010/main" val="28725511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3754361"/>
          </a:xfrm>
          <a:prstGeom prst="rect">
            <a:avLst/>
          </a:prstGeom>
          <a:noFill/>
          <a:ln>
            <a:noFill/>
          </a:ln>
        </p:spPr>
        <p:txBody>
          <a:bodyPr spcFirstLastPara="1" wrap="square" lIns="0" tIns="63500" rIns="0" bIns="0" anchor="t" anchorCtr="0">
            <a:spAutoFit/>
          </a:bodyPr>
          <a:lstStyle/>
          <a:p>
            <a:pPr marL="367666" marR="316865" lvl="0" indent="-342900">
              <a:lnSpc>
                <a:spcPct val="109375"/>
              </a:lnSpc>
              <a:buSzPts val="3200"/>
              <a:buFont typeface="Arial" panose="020B0604020202020204" pitchFamily="34" charset="0"/>
              <a:buChar char="•"/>
            </a:pPr>
            <a:r>
              <a:rPr lang="en-US" sz="2000" b="1" dirty="0" err="1">
                <a:latin typeface="+mj-lt"/>
                <a:ea typeface="Calibri"/>
                <a:cs typeface="Calibri"/>
                <a:sym typeface="Calibri"/>
              </a:rPr>
              <a:t>TensorBoard</a:t>
            </a:r>
            <a:r>
              <a:rPr lang="en-US" sz="2000" dirty="0">
                <a:latin typeface="+mj-lt"/>
                <a:ea typeface="Calibri"/>
                <a:cs typeface="Calibri"/>
                <a:sym typeface="Calibri"/>
              </a:rPr>
              <a:t>: </a:t>
            </a:r>
            <a:r>
              <a:rPr lang="en-US" sz="2000" dirty="0" err="1">
                <a:latin typeface="+mj-lt"/>
                <a:ea typeface="Calibri"/>
                <a:cs typeface="Calibri"/>
                <a:sym typeface="Calibri"/>
              </a:rPr>
              <a:t>TensorFlow</a:t>
            </a:r>
            <a:r>
              <a:rPr lang="en-US" sz="2000" dirty="0">
                <a:latin typeface="+mj-lt"/>
                <a:ea typeface="Calibri"/>
                <a:cs typeface="Calibri"/>
                <a:sym typeface="Calibri"/>
              </a:rPr>
              <a:t> comes with a visualization tool called </a:t>
            </a:r>
            <a:r>
              <a:rPr lang="en-US" sz="2000" dirty="0" err="1">
                <a:latin typeface="+mj-lt"/>
                <a:ea typeface="Calibri"/>
                <a:cs typeface="Calibri"/>
                <a:sym typeface="Calibri"/>
              </a:rPr>
              <a:t>TensorBoard</a:t>
            </a:r>
            <a:r>
              <a:rPr lang="en-US" sz="2000" dirty="0">
                <a:latin typeface="+mj-lt"/>
                <a:ea typeface="Calibri"/>
                <a:cs typeface="Calibri"/>
                <a:sym typeface="Calibri"/>
              </a:rPr>
              <a:t>, which allows you to visualize and debug your machine learning models. You can monitor metrics, visualize the graph of your model, and explore the learning process in real-time</a:t>
            </a:r>
            <a:r>
              <a:rPr lang="en-US" sz="2000" dirty="0" smtClean="0">
                <a:latin typeface="+mj-lt"/>
                <a:ea typeface="Calibri"/>
                <a:cs typeface="Calibri"/>
                <a:sym typeface="Calibri"/>
              </a:rPr>
              <a:t>.</a:t>
            </a:r>
            <a:endParaRPr lang="en-US" sz="2000" dirty="0">
              <a:latin typeface="+mj-lt"/>
              <a:ea typeface="Calibri"/>
              <a:cs typeface="Calibri"/>
              <a:sym typeface="Calibri"/>
            </a:endParaRPr>
          </a:p>
          <a:p>
            <a:pPr marL="367666" marR="316865" lvl="0" indent="-342900">
              <a:lnSpc>
                <a:spcPct val="109375"/>
              </a:lnSpc>
              <a:buSzPts val="3200"/>
              <a:buFont typeface="Arial" panose="020B0604020202020204" pitchFamily="34" charset="0"/>
              <a:buChar char="•"/>
            </a:pPr>
            <a:r>
              <a:rPr lang="en-US" sz="2000" b="1" dirty="0">
                <a:latin typeface="+mj-lt"/>
                <a:ea typeface="Calibri"/>
                <a:cs typeface="Calibri"/>
                <a:sym typeface="Calibri"/>
              </a:rPr>
              <a:t>Support for Various Platforms</a:t>
            </a:r>
            <a:r>
              <a:rPr lang="en-US" sz="2000" dirty="0">
                <a:latin typeface="+mj-lt"/>
                <a:ea typeface="Calibri"/>
                <a:cs typeface="Calibri"/>
                <a:sym typeface="Calibri"/>
              </a:rPr>
              <a:t>: </a:t>
            </a:r>
            <a:r>
              <a:rPr lang="en-US" sz="2000" dirty="0" err="1">
                <a:latin typeface="+mj-lt"/>
                <a:ea typeface="Calibri"/>
                <a:cs typeface="Calibri"/>
                <a:sym typeface="Calibri"/>
              </a:rPr>
              <a:t>TensorFlow</a:t>
            </a:r>
            <a:r>
              <a:rPr lang="en-US" sz="2000" dirty="0">
                <a:latin typeface="+mj-lt"/>
                <a:ea typeface="Calibri"/>
                <a:cs typeface="Calibri"/>
                <a:sym typeface="Calibri"/>
              </a:rPr>
              <a:t> supports a variety of platforms, including desktops, servers, and mobile devices. This versatility makes it easy to deploy models across different environments</a:t>
            </a:r>
            <a:r>
              <a:rPr lang="en-US" sz="2000" dirty="0" smtClean="0">
                <a:latin typeface="+mj-lt"/>
                <a:ea typeface="Calibri"/>
                <a:cs typeface="Calibri"/>
                <a:sym typeface="Calibri"/>
              </a:rPr>
              <a:t>.</a:t>
            </a:r>
            <a:endParaRPr lang="en-US" sz="2000" dirty="0">
              <a:latin typeface="+mj-lt"/>
              <a:ea typeface="Calibri"/>
              <a:cs typeface="Calibri"/>
              <a:sym typeface="Calibri"/>
            </a:endParaRPr>
          </a:p>
          <a:p>
            <a:pPr marL="367666" marR="316865" lvl="0" indent="-342900">
              <a:lnSpc>
                <a:spcPct val="109375"/>
              </a:lnSpc>
              <a:buSzPts val="3200"/>
              <a:buFont typeface="Arial" panose="020B0604020202020204" pitchFamily="34" charset="0"/>
              <a:buChar char="•"/>
            </a:pPr>
            <a:r>
              <a:rPr lang="en-US" sz="2000" b="1" dirty="0">
                <a:latin typeface="+mj-lt"/>
                <a:ea typeface="Calibri"/>
                <a:cs typeface="Calibri"/>
                <a:sym typeface="Calibri"/>
              </a:rPr>
              <a:t>Support for Different Types of Models</a:t>
            </a:r>
            <a:r>
              <a:rPr lang="en-US" sz="2000" dirty="0">
                <a:latin typeface="+mj-lt"/>
                <a:ea typeface="Calibri"/>
                <a:cs typeface="Calibri"/>
                <a:sym typeface="Calibri"/>
              </a:rPr>
              <a:t>: While </a:t>
            </a:r>
            <a:r>
              <a:rPr lang="en-US" sz="2000" dirty="0" err="1">
                <a:latin typeface="+mj-lt"/>
                <a:ea typeface="Calibri"/>
                <a:cs typeface="Calibri"/>
                <a:sym typeface="Calibri"/>
              </a:rPr>
              <a:t>TensorFlow</a:t>
            </a:r>
            <a:r>
              <a:rPr lang="en-US" sz="2000" dirty="0">
                <a:latin typeface="+mj-lt"/>
                <a:ea typeface="Calibri"/>
                <a:cs typeface="Calibri"/>
                <a:sym typeface="Calibri"/>
              </a:rPr>
              <a:t> is widely used for deep learning, it also supports other machine learning paradigms such as reinforcement learning, natural language processing, and more</a:t>
            </a:r>
            <a:r>
              <a:rPr lang="en-US" sz="2000" dirty="0" smtClean="0">
                <a:latin typeface="+mj-lt"/>
                <a:ea typeface="Calibri"/>
                <a:cs typeface="Calibri"/>
                <a:sym typeface="Calibri"/>
              </a:rPr>
              <a:t>.</a:t>
            </a:r>
            <a:endParaRPr lang="en-US" sz="2000" dirty="0">
              <a:latin typeface="+mj-lt"/>
              <a:ea typeface="Calibri"/>
              <a:cs typeface="Calibri"/>
              <a:sym typeface="Calibri"/>
            </a:endParaRPr>
          </a:p>
          <a:p>
            <a:pPr marL="367666" marR="316865" lvl="0" indent="-342900">
              <a:lnSpc>
                <a:spcPct val="109375"/>
              </a:lnSpc>
              <a:buSzPts val="3200"/>
              <a:buFont typeface="Arial" panose="020B0604020202020204" pitchFamily="34" charset="0"/>
              <a:buChar char="•"/>
            </a:pPr>
            <a:r>
              <a:rPr lang="en-US" sz="2000" b="1" dirty="0">
                <a:latin typeface="+mj-lt"/>
                <a:ea typeface="Calibri"/>
                <a:cs typeface="Calibri"/>
                <a:sym typeface="Calibri"/>
              </a:rPr>
              <a:t>Extensibility</a:t>
            </a:r>
            <a:r>
              <a:rPr lang="en-US" sz="2000" dirty="0">
                <a:latin typeface="+mj-lt"/>
                <a:ea typeface="Calibri"/>
                <a:cs typeface="Calibri"/>
                <a:sym typeface="Calibri"/>
              </a:rPr>
              <a:t>: </a:t>
            </a:r>
            <a:r>
              <a:rPr lang="en-US" sz="2000" dirty="0" err="1">
                <a:latin typeface="+mj-lt"/>
                <a:ea typeface="Calibri"/>
                <a:cs typeface="Calibri"/>
                <a:sym typeface="Calibri"/>
              </a:rPr>
              <a:t>TensorFlow</a:t>
            </a:r>
            <a:r>
              <a:rPr lang="en-US" sz="2000" dirty="0">
                <a:latin typeface="+mj-lt"/>
                <a:ea typeface="Calibri"/>
                <a:cs typeface="Calibri"/>
                <a:sym typeface="Calibri"/>
              </a:rPr>
              <a:t> is highly extensible and allows users to add custom functionality through the use of extensions and custom operators.</a:t>
            </a:r>
            <a:endParaRPr sz="2000" b="0" i="0" u="none" strike="noStrike" cap="none" dirty="0">
              <a:solidFill>
                <a:srgbClr val="000000"/>
              </a:solidFill>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latin typeface="+mj-lt"/>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47</a:t>
            </a:fld>
            <a:endParaRPr>
              <a:latin typeface="+mj-lt"/>
            </a:endParaRPr>
          </a:p>
        </p:txBody>
      </p:sp>
    </p:spTree>
    <p:extLst>
      <p:ext uri="{BB962C8B-B14F-4D97-AF65-F5344CB8AC3E}">
        <p14:creationId xmlns:p14="http://schemas.microsoft.com/office/powerpoint/2010/main" val="37980900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2011128"/>
          </a:xfrm>
          <a:prstGeom prst="rect">
            <a:avLst/>
          </a:prstGeom>
          <a:noFill/>
          <a:ln>
            <a:noFill/>
          </a:ln>
        </p:spPr>
        <p:txBody>
          <a:bodyPr spcFirstLastPara="1" wrap="square" lIns="0" tIns="63500" rIns="0" bIns="0" anchor="t" anchorCtr="0">
            <a:spAutoFit/>
          </a:bodyPr>
          <a:lstStyle/>
          <a:p>
            <a:pPr marL="367666" marR="316865" lvl="0" indent="-342900">
              <a:lnSpc>
                <a:spcPct val="109375"/>
              </a:lnSpc>
              <a:buSzPts val="3200"/>
              <a:buFont typeface="Arial" panose="020B0604020202020204" pitchFamily="34" charset="0"/>
              <a:buChar char="•"/>
            </a:pPr>
            <a:r>
              <a:rPr lang="en-US" sz="2800" dirty="0" smtClean="0">
                <a:latin typeface="+mj-lt"/>
                <a:ea typeface="Calibri"/>
                <a:cs typeface="Calibri"/>
                <a:sym typeface="Calibri"/>
              </a:rPr>
              <a:t>Lets </a:t>
            </a:r>
            <a:r>
              <a:rPr lang="en-US" sz="2800" dirty="0">
                <a:latin typeface="+mj-lt"/>
                <a:ea typeface="Calibri"/>
                <a:cs typeface="Calibri"/>
                <a:sym typeface="Calibri"/>
              </a:rPr>
              <a:t>see how to implement a minimization function</a:t>
            </a:r>
            <a:r>
              <a:rPr lang="en-US" sz="2800" dirty="0" smtClean="0">
                <a:latin typeface="+mj-lt"/>
                <a:ea typeface="Calibri"/>
                <a:cs typeface="Calibri"/>
                <a:sym typeface="Calibri"/>
              </a:rPr>
              <a:t>:</a:t>
            </a:r>
          </a:p>
          <a:p>
            <a:r>
              <a:rPr lang="en-US" sz="2000" b="0" i="0" u="none" strike="noStrike" cap="none" dirty="0">
                <a:solidFill>
                  <a:srgbClr val="000000"/>
                </a:solidFill>
                <a:latin typeface="+mj-lt"/>
                <a:ea typeface="Calibri"/>
                <a:cs typeface="Calibri"/>
                <a:sym typeface="Calibri"/>
              </a:rPr>
              <a:t>	</a:t>
            </a:r>
            <a:r>
              <a:rPr lang="en-US" sz="2400" dirty="0"/>
              <a:t>J(w) = w</a:t>
            </a:r>
            <a:r>
              <a:rPr lang="en-US" sz="2400" baseline="30000" dirty="0"/>
              <a:t>2</a:t>
            </a:r>
            <a:r>
              <a:rPr lang="en-US" sz="2400" dirty="0"/>
              <a:t> - 10w + </a:t>
            </a:r>
            <a:r>
              <a:rPr lang="en-US" sz="2400" dirty="0" smtClean="0"/>
              <a:t>25 = </a:t>
            </a:r>
            <a:r>
              <a:rPr lang="en-US" sz="2400" dirty="0"/>
              <a:t>(w - </a:t>
            </a:r>
            <a:r>
              <a:rPr lang="en-US" sz="2400" dirty="0" smtClean="0"/>
              <a:t>5)</a:t>
            </a:r>
            <a:r>
              <a:rPr lang="en-US" sz="2400" baseline="30000" dirty="0" smtClean="0"/>
              <a:t>2</a:t>
            </a:r>
            <a:endParaRPr lang="en-US" sz="2400" dirty="0"/>
          </a:p>
          <a:p>
            <a:r>
              <a:rPr lang="en-US" sz="2400" dirty="0" smtClean="0"/>
              <a:t>	(</a:t>
            </a:r>
            <a:r>
              <a:rPr lang="en-US" sz="2400" dirty="0"/>
              <a:t>cost)</a:t>
            </a:r>
          </a:p>
          <a:p>
            <a:r>
              <a:rPr lang="en-US" sz="2400" dirty="0"/>
              <a:t>	The result should be </a:t>
            </a:r>
            <a:r>
              <a:rPr lang="en-US" sz="2400" dirty="0" smtClean="0"/>
              <a:t>w </a:t>
            </a:r>
            <a:r>
              <a:rPr lang="en-US" sz="2400" dirty="0"/>
              <a:t>= </a:t>
            </a:r>
            <a:r>
              <a:rPr lang="en-US" sz="2400" dirty="0" smtClean="0"/>
              <a:t>5 </a:t>
            </a:r>
            <a:r>
              <a:rPr lang="en-US" sz="2400" dirty="0"/>
              <a:t>as the function is (w - 5)</a:t>
            </a:r>
            <a:r>
              <a:rPr lang="en-US" sz="2400" baseline="30000" dirty="0"/>
              <a:t>2</a:t>
            </a:r>
            <a:r>
              <a:rPr lang="en-US" sz="2400" dirty="0" smtClean="0"/>
              <a:t> </a:t>
            </a:r>
            <a:r>
              <a:rPr lang="en-US" sz="2400" dirty="0"/>
              <a:t>= </a:t>
            </a:r>
            <a:r>
              <a:rPr lang="en-US" sz="2400" dirty="0" smtClean="0"/>
              <a:t>0</a:t>
            </a:r>
            <a:endParaRPr lang="en-US" sz="2400" dirty="0"/>
          </a:p>
          <a:p>
            <a:r>
              <a:rPr lang="en-US" sz="2400" dirty="0"/>
              <a:t>	</a:t>
            </a: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48</a:t>
            </a:fld>
            <a:endParaRPr>
              <a:latin typeface="+mj-lt"/>
            </a:endParaRPr>
          </a:p>
        </p:txBody>
      </p:sp>
    </p:spTree>
    <p:extLst>
      <p:ext uri="{BB962C8B-B14F-4D97-AF65-F5344CB8AC3E}">
        <p14:creationId xmlns:p14="http://schemas.microsoft.com/office/powerpoint/2010/main" val="10601888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246122" y="1332980"/>
            <a:ext cx="11936376" cy="5304337"/>
          </a:xfrm>
          <a:prstGeom prst="rect">
            <a:avLst/>
          </a:prstGeom>
          <a:noFill/>
          <a:ln>
            <a:noFill/>
          </a:ln>
        </p:spPr>
        <p:txBody>
          <a:bodyPr spcFirstLastPara="1" wrap="square" lIns="0" tIns="63500" rIns="0" bIns="0" anchor="t" anchorCtr="0">
            <a:spAutoFit/>
          </a:bodyPr>
          <a:lstStyle/>
          <a:p>
            <a:pPr marL="367666" marR="316865" lvl="0" indent="-342900">
              <a:lnSpc>
                <a:spcPct val="109375"/>
              </a:lnSpc>
              <a:buSzPts val="3200"/>
              <a:buFont typeface="Arial" panose="020B0604020202020204" pitchFamily="34" charset="0"/>
              <a:buChar char="•"/>
            </a:pPr>
            <a:r>
              <a:rPr lang="en-US" sz="2800" dirty="0" smtClean="0">
                <a:latin typeface="+mj-lt"/>
                <a:ea typeface="Calibri"/>
                <a:cs typeface="Calibri"/>
                <a:sym typeface="Calibri"/>
              </a:rPr>
              <a:t>Code version 1:</a:t>
            </a:r>
          </a:p>
          <a:p>
            <a:r>
              <a:rPr lang="en-US" sz="2000" dirty="0" smtClean="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import </a:t>
            </a:r>
            <a:r>
              <a:rPr lang="en-US" sz="1800" dirty="0" err="1">
                <a:latin typeface="Cascadia Code Light" panose="020B0609020000020004" pitchFamily="49" charset="0"/>
                <a:cs typeface="Cascadia Code Light" panose="020B0609020000020004" pitchFamily="49" charset="0"/>
              </a:rPr>
              <a:t>numpy</a:t>
            </a:r>
            <a:r>
              <a:rPr lang="en-US" sz="1800" dirty="0">
                <a:latin typeface="Cascadia Code Light" panose="020B0609020000020004" pitchFamily="49" charset="0"/>
                <a:cs typeface="Cascadia Code Light" panose="020B0609020000020004" pitchFamily="49" charset="0"/>
              </a:rPr>
              <a:t> as np   </a:t>
            </a:r>
            <a:endParaRPr lang="en-US" sz="1800" dirty="0" smtClean="0">
              <a:latin typeface="Cascadia Code Light" panose="020B0609020000020004" pitchFamily="49" charset="0"/>
              <a:cs typeface="Cascadia Code Light" panose="020B0609020000020004" pitchFamily="49" charset="0"/>
            </a:endParaRPr>
          </a:p>
          <a:p>
            <a:r>
              <a:rPr lang="en-US" sz="1800" dirty="0" smtClean="0">
                <a:latin typeface="Cascadia Code Light" panose="020B0609020000020004" pitchFamily="49" charset="0"/>
                <a:cs typeface="Cascadia Code Light" panose="020B0609020000020004" pitchFamily="49" charset="0"/>
              </a:rPr>
              <a:t>	import </a:t>
            </a:r>
            <a:r>
              <a:rPr lang="en-US" sz="1800" dirty="0" err="1">
                <a:latin typeface="Cascadia Code Light" panose="020B0609020000020004" pitchFamily="49" charset="0"/>
                <a:cs typeface="Cascadia Code Light" panose="020B0609020000020004" pitchFamily="49" charset="0"/>
              </a:rPr>
              <a:t>tensorflow</a:t>
            </a:r>
            <a:r>
              <a:rPr lang="en-US" sz="1800" dirty="0">
                <a:latin typeface="Cascadia Code Light" panose="020B0609020000020004" pitchFamily="49" charset="0"/>
                <a:cs typeface="Cascadia Code Light" panose="020B0609020000020004" pitchFamily="49" charset="0"/>
              </a:rPr>
              <a:t> as </a:t>
            </a:r>
            <a:r>
              <a:rPr lang="en-US" sz="1800" dirty="0" err="1">
                <a:latin typeface="Cascadia Code Light" panose="020B0609020000020004" pitchFamily="49" charset="0"/>
                <a:cs typeface="Cascadia Code Light" panose="020B0609020000020004" pitchFamily="49" charset="0"/>
              </a:rPr>
              <a:t>tf</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w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tf.Variable</a:t>
            </a:r>
            <a:r>
              <a:rPr lang="en-US" sz="1800" dirty="0">
                <a:latin typeface="Cascadia Code Light" panose="020B0609020000020004" pitchFamily="49" charset="0"/>
                <a:cs typeface="Cascadia Code Light" panose="020B0609020000020004" pitchFamily="49" charset="0"/>
              </a:rPr>
              <a:t>(0, </a:t>
            </a:r>
            <a:r>
              <a:rPr lang="en-US" sz="1800" dirty="0" err="1">
                <a:latin typeface="Cascadia Code Light" panose="020B0609020000020004" pitchFamily="49" charset="0"/>
                <a:cs typeface="Cascadia Code Light" panose="020B0609020000020004" pitchFamily="49" charset="0"/>
              </a:rPr>
              <a:t>dtype</a:t>
            </a:r>
            <a:r>
              <a:rPr lang="en-US" sz="1800" dirty="0">
                <a:latin typeface="Cascadia Code Light" panose="020B0609020000020004" pitchFamily="49" charset="0"/>
                <a:cs typeface="Cascadia Code Light" panose="020B0609020000020004" pitchFamily="49" charset="0"/>
              </a:rPr>
              <a:t>=tf.float32)  </a:t>
            </a:r>
            <a:r>
              <a:rPr lang="en-US" sz="1800" dirty="0" smtClean="0">
                <a:latin typeface="Cascadia Code Light" panose="020B0609020000020004" pitchFamily="49" charset="0"/>
                <a:cs typeface="Cascadia Code Light" panose="020B0609020000020004" pitchFamily="49" charset="0"/>
              </a:rPr>
              <a:t># </a:t>
            </a:r>
            <a:r>
              <a:rPr lang="en-US" sz="1800" dirty="0">
                <a:latin typeface="Cascadia Code Light" panose="020B0609020000020004" pitchFamily="49" charset="0"/>
                <a:cs typeface="Cascadia Code Light" panose="020B0609020000020004" pitchFamily="49" charset="0"/>
              </a:rPr>
              <a:t>creating a variable w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cost </a:t>
            </a:r>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tf.add</a:t>
            </a:r>
            <a:r>
              <a:rPr lang="en-US" sz="1800" dirty="0" smtClean="0">
                <a:latin typeface="Cascadia Code Light" panose="020B0609020000020004" pitchFamily="49" charset="0"/>
                <a:cs typeface="Cascadia Code Light" panose="020B0609020000020004" pitchFamily="49" charset="0"/>
              </a:rPr>
              <a:t>(</a:t>
            </a:r>
            <a:r>
              <a:rPr lang="en-US" sz="1800" dirty="0" err="1" smtClean="0">
                <a:latin typeface="Cascadia Code Light" panose="020B0609020000020004" pitchFamily="49" charset="0"/>
                <a:cs typeface="Cascadia Code Light" panose="020B0609020000020004" pitchFamily="49" charset="0"/>
              </a:rPr>
              <a:t>tf.add</a:t>
            </a:r>
            <a:r>
              <a:rPr lang="en-US" sz="1800" dirty="0" smtClean="0">
                <a:latin typeface="Cascadia Code Light" panose="020B0609020000020004" pitchFamily="49" charset="0"/>
                <a:cs typeface="Cascadia Code Light" panose="020B0609020000020004" pitchFamily="49" charset="0"/>
              </a:rPr>
              <a:t>(w</a:t>
            </a:r>
            <a:r>
              <a:rPr lang="en-US" sz="1800" dirty="0">
                <a:latin typeface="Cascadia Code Light" panose="020B0609020000020004" pitchFamily="49" charset="0"/>
                <a:cs typeface="Cascadia Code Light" panose="020B0609020000020004" pitchFamily="49" charset="0"/>
              </a:rPr>
              <a:t>**2, </a:t>
            </a:r>
            <a:r>
              <a:rPr lang="en-US" sz="1800" dirty="0" err="1">
                <a:latin typeface="Cascadia Code Light" panose="020B0609020000020004" pitchFamily="49" charset="0"/>
                <a:cs typeface="Cascadia Code Light" panose="020B0609020000020004" pitchFamily="49" charset="0"/>
              </a:rPr>
              <a:t>tf.multiply</a:t>
            </a:r>
            <a:r>
              <a:rPr lang="en-US" sz="1800" dirty="0">
                <a:latin typeface="Cascadia Code Light" panose="020B0609020000020004" pitchFamily="49" charset="0"/>
                <a:cs typeface="Cascadia Code Light" panose="020B0609020000020004" pitchFamily="49" charset="0"/>
              </a:rPr>
              <a:t>(-10.0, w)), 25.0) </a:t>
            </a:r>
            <a:r>
              <a:rPr lang="en-US" sz="1800" dirty="0" smtClean="0">
                <a:latin typeface="Cascadia Code Light" panose="020B0609020000020004" pitchFamily="49" charset="0"/>
                <a:cs typeface="Cascadia Code Light" panose="020B0609020000020004" pitchFamily="49" charset="0"/>
              </a:rPr>
              <a:t># </a:t>
            </a:r>
            <a:r>
              <a:rPr lang="en-US" sz="1800" dirty="0">
                <a:latin typeface="Cascadia Code Light" panose="020B0609020000020004" pitchFamily="49" charset="0"/>
                <a:cs typeface="Cascadia Code Light" panose="020B0609020000020004" pitchFamily="49" charset="0"/>
              </a:rPr>
              <a:t>can be written as this - </a:t>
            </a:r>
            <a:r>
              <a:rPr lang="en-US" sz="1800" dirty="0" smtClean="0">
                <a:latin typeface="Cascadia Code Light" panose="020B0609020000020004" pitchFamily="49" charset="0"/>
                <a:cs typeface="Cascadia Code Light" panose="020B0609020000020004" pitchFamily="49" charset="0"/>
              </a:rPr>
              <a:t>									# cost </a:t>
            </a:r>
            <a:r>
              <a:rPr lang="en-US" sz="1800" dirty="0">
                <a:latin typeface="Cascadia Code Light" panose="020B0609020000020004" pitchFamily="49" charset="0"/>
                <a:cs typeface="Cascadia Code Light" panose="020B0609020000020004" pitchFamily="49" charset="0"/>
              </a:rPr>
              <a:t>= w**2 - 10*w + 25    </a:t>
            </a:r>
            <a:endParaRPr lang="en-US" sz="1800" dirty="0" smtClean="0">
              <a:latin typeface="Cascadia Code Light" panose="020B0609020000020004" pitchFamily="49" charset="0"/>
              <a:cs typeface="Cascadia Code Light" panose="020B0609020000020004" pitchFamily="49" charset="0"/>
            </a:endParaRPr>
          </a:p>
          <a:p>
            <a:endParaRPr lang="en-US" sz="1800" dirty="0">
              <a:latin typeface="Cascadia Code Light" panose="020B0609020000020004" pitchFamily="49" charset="0"/>
              <a:cs typeface="Cascadia Code Light" panose="020B0609020000020004" pitchFamily="49" charset="0"/>
            </a:endParaRPr>
          </a:p>
          <a:p>
            <a:r>
              <a:rPr lang="en-US" sz="1800" dirty="0" smtClean="0">
                <a:latin typeface="Cascadia Code Light" panose="020B0609020000020004" pitchFamily="49" charset="0"/>
                <a:cs typeface="Cascadia Code Light" panose="020B0609020000020004" pitchFamily="49" charset="0"/>
              </a:rPr>
              <a:t>	train </a:t>
            </a:r>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tf.train.GradientDescentOptimizer</a:t>
            </a:r>
            <a:r>
              <a:rPr lang="en-US" sz="1800" dirty="0" smtClean="0">
                <a:latin typeface="Cascadia Code Light" panose="020B0609020000020004" pitchFamily="49" charset="0"/>
                <a:cs typeface="Cascadia Code Light" panose="020B0609020000020004" pitchFamily="49" charset="0"/>
              </a:rPr>
              <a:t>(0.01</a:t>
            </a:r>
            <a:r>
              <a:rPr lang="en-US" sz="1800" dirty="0">
                <a:latin typeface="Cascadia Code Light" panose="020B0609020000020004" pitchFamily="49" charset="0"/>
                <a:cs typeface="Cascadia Code Light" panose="020B0609020000020004" pitchFamily="49" charset="0"/>
              </a:rPr>
              <a:t>).minimize(cost)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init</a:t>
            </a:r>
            <a:r>
              <a:rPr lang="en-US" sz="1800" dirty="0" smtClean="0">
                <a:latin typeface="Cascadia Code Light" panose="020B0609020000020004" pitchFamily="49" charset="0"/>
                <a:cs typeface="Cascadia Code Light" panose="020B0609020000020004" pitchFamily="49" charset="0"/>
              </a:rPr>
              <a:t> </a:t>
            </a:r>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tf.global_variables_initializer</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session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tf.Session</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a:t>
            </a:r>
            <a:r>
              <a:rPr lang="en-US" sz="1800" dirty="0" err="1" smtClean="0">
                <a:latin typeface="Cascadia Code Light" panose="020B0609020000020004" pitchFamily="49" charset="0"/>
                <a:cs typeface="Cascadia Code Light" panose="020B0609020000020004" pitchFamily="49" charset="0"/>
              </a:rPr>
              <a:t>init</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(w</a:t>
            </a:r>
            <a:r>
              <a:rPr lang="en-US" sz="1800" dirty="0">
                <a:latin typeface="Cascadia Code Light" panose="020B0609020000020004" pitchFamily="49" charset="0"/>
                <a:cs typeface="Cascadia Code Light" panose="020B0609020000020004" pitchFamily="49" charset="0"/>
              </a:rPr>
              <a:t>)    # Runs the definition of w, if you print this it will print zero    </a:t>
            </a:r>
            <a:r>
              <a:rPr lang="en-US" sz="1800" dirty="0" smtClean="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(train</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print</a:t>
            </a:r>
            <a:r>
              <a:rPr lang="en-US" sz="1800" dirty="0">
                <a:latin typeface="Cascadia Code Light" panose="020B0609020000020004" pitchFamily="49" charset="0"/>
                <a:cs typeface="Cascadia Code Light" panose="020B0609020000020004" pitchFamily="49" charset="0"/>
              </a:rPr>
              <a:t>("W after one iteration:", </a:t>
            </a:r>
            <a:r>
              <a:rPr lang="en-US" sz="1800" dirty="0" err="1">
                <a:latin typeface="Cascadia Code Light" panose="020B0609020000020004" pitchFamily="49" charset="0"/>
                <a:cs typeface="Cascadia Code Light" panose="020B0609020000020004" pitchFamily="49" charset="0"/>
              </a:rPr>
              <a:t>session.run</a:t>
            </a:r>
            <a:r>
              <a:rPr lang="en-US" sz="1800" dirty="0">
                <a:latin typeface="Cascadia Code Light" panose="020B0609020000020004" pitchFamily="49" charset="0"/>
                <a:cs typeface="Cascadia Code Light" panose="020B0609020000020004" pitchFamily="49" charset="0"/>
              </a:rPr>
              <a:t>(w))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for </a:t>
            </a:r>
            <a:r>
              <a:rPr lang="en-US" sz="1800" dirty="0" err="1">
                <a:latin typeface="Cascadia Code Light" panose="020B0609020000020004" pitchFamily="49" charset="0"/>
                <a:cs typeface="Cascadia Code Light" panose="020B0609020000020004" pitchFamily="49" charset="0"/>
              </a:rPr>
              <a:t>i</a:t>
            </a:r>
            <a:r>
              <a:rPr lang="en-US" sz="1800" dirty="0">
                <a:latin typeface="Cascadia Code Light" panose="020B0609020000020004" pitchFamily="49" charset="0"/>
                <a:cs typeface="Cascadia Code Light" panose="020B0609020000020004" pitchFamily="49" charset="0"/>
              </a:rPr>
              <a:t> in range(1000):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(train</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print</a:t>
            </a:r>
            <a:r>
              <a:rPr lang="en-US" sz="1800" dirty="0">
                <a:latin typeface="Cascadia Code Light" panose="020B0609020000020004" pitchFamily="49" charset="0"/>
                <a:cs typeface="Cascadia Code Light" panose="020B0609020000020004" pitchFamily="49" charset="0"/>
              </a:rPr>
              <a:t>("W after 1000 iterations:", </a:t>
            </a:r>
            <a:r>
              <a:rPr lang="en-US" sz="1800" dirty="0" err="1">
                <a:latin typeface="Cascadia Code Light" panose="020B0609020000020004" pitchFamily="49" charset="0"/>
                <a:cs typeface="Cascadia Code Light" panose="020B0609020000020004" pitchFamily="49" charset="0"/>
              </a:rPr>
              <a:t>session.run</a:t>
            </a:r>
            <a:r>
              <a:rPr lang="en-US" sz="1800" dirty="0">
                <a:latin typeface="Cascadia Code Light" panose="020B0609020000020004" pitchFamily="49" charset="0"/>
                <a:cs typeface="Cascadia Code Light" panose="020B0609020000020004" pitchFamily="49" charset="0"/>
              </a:rPr>
              <a:t>(w))</a:t>
            </a:r>
            <a:endParaRPr lang="en-US" sz="1800" dirty="0" smtClean="0">
              <a:latin typeface="Cascadia Code Light" panose="020B0609020000020004" pitchFamily="49" charset="0"/>
              <a:cs typeface="Cascadia Code Light" panose="020B0609020000020004" pitchFamily="49" charset="0"/>
            </a:endParaRPr>
          </a:p>
          <a:p>
            <a:r>
              <a:rPr lang="en-US" sz="2000" dirty="0">
                <a:latin typeface="Cascadia Code Light" panose="020B0609020000020004" pitchFamily="49" charset="0"/>
                <a:cs typeface="Cascadia Code Light" panose="020B0609020000020004" pitchFamily="49" charset="0"/>
              </a:rPr>
              <a:t>	</a:t>
            </a: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49</a:t>
            </a:fld>
            <a:endParaRPr>
              <a:latin typeface="+mj-lt"/>
            </a:endParaRPr>
          </a:p>
        </p:txBody>
      </p:sp>
    </p:spTree>
    <p:extLst>
      <p:ext uri="{BB962C8B-B14F-4D97-AF65-F5344CB8AC3E}">
        <p14:creationId xmlns:p14="http://schemas.microsoft.com/office/powerpoint/2010/main" val="1678082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246122" y="1332980"/>
            <a:ext cx="11936376" cy="5304337"/>
          </a:xfrm>
          <a:prstGeom prst="rect">
            <a:avLst/>
          </a:prstGeom>
          <a:noFill/>
          <a:ln>
            <a:noFill/>
          </a:ln>
        </p:spPr>
        <p:txBody>
          <a:bodyPr spcFirstLastPara="1" wrap="square" lIns="0" tIns="63500" rIns="0" bIns="0" anchor="t" anchorCtr="0">
            <a:spAutoFit/>
          </a:bodyPr>
          <a:lstStyle/>
          <a:p>
            <a:pPr marL="367666" marR="316865" lvl="0" indent="-342900">
              <a:lnSpc>
                <a:spcPct val="109375"/>
              </a:lnSpc>
              <a:buSzPts val="3200"/>
              <a:buFont typeface="Arial" panose="020B0604020202020204" pitchFamily="34" charset="0"/>
              <a:buChar char="•"/>
            </a:pPr>
            <a:r>
              <a:rPr lang="en-US" sz="2800" dirty="0" smtClean="0">
                <a:latin typeface="+mj-lt"/>
                <a:ea typeface="Calibri"/>
                <a:cs typeface="Calibri"/>
                <a:sym typeface="Calibri"/>
              </a:rPr>
              <a:t>Code version 2:</a:t>
            </a:r>
          </a:p>
          <a:p>
            <a:r>
              <a:rPr lang="en-US" sz="2000" dirty="0" smtClean="0">
                <a:latin typeface="Cascadia Code Light" panose="020B0609020000020004" pitchFamily="49" charset="0"/>
                <a:cs typeface="Cascadia Code Light" panose="020B0609020000020004" pitchFamily="49" charset="0"/>
              </a:rPr>
              <a:t>	</a:t>
            </a:r>
            <a:r>
              <a:rPr lang="en-US" sz="1800" dirty="0">
                <a:latin typeface="Cascadia Code Light" panose="020B0609020000020004" pitchFamily="49" charset="0"/>
                <a:cs typeface="Cascadia Code Light" panose="020B0609020000020004" pitchFamily="49" charset="0"/>
              </a:rPr>
              <a:t>import </a:t>
            </a:r>
            <a:r>
              <a:rPr lang="en-US" sz="1800" dirty="0" err="1">
                <a:latin typeface="Cascadia Code Light" panose="020B0609020000020004" pitchFamily="49" charset="0"/>
                <a:cs typeface="Cascadia Code Light" panose="020B0609020000020004" pitchFamily="49" charset="0"/>
              </a:rPr>
              <a:t>numpy</a:t>
            </a:r>
            <a:r>
              <a:rPr lang="en-US" sz="1800" dirty="0">
                <a:latin typeface="Cascadia Code Light" panose="020B0609020000020004" pitchFamily="49" charset="0"/>
                <a:cs typeface="Cascadia Code Light" panose="020B0609020000020004" pitchFamily="49" charset="0"/>
              </a:rPr>
              <a:t> as np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import </a:t>
            </a:r>
            <a:r>
              <a:rPr lang="en-US" sz="1800" dirty="0" err="1">
                <a:latin typeface="Cascadia Code Light" panose="020B0609020000020004" pitchFamily="49" charset="0"/>
                <a:cs typeface="Cascadia Code Light" panose="020B0609020000020004" pitchFamily="49" charset="0"/>
              </a:rPr>
              <a:t>tensorflow</a:t>
            </a:r>
            <a:r>
              <a:rPr lang="en-US" sz="1800" dirty="0">
                <a:latin typeface="Cascadia Code Light" panose="020B0609020000020004" pitchFamily="49" charset="0"/>
                <a:cs typeface="Cascadia Code Light" panose="020B0609020000020004" pitchFamily="49" charset="0"/>
              </a:rPr>
              <a:t> as </a:t>
            </a:r>
            <a:r>
              <a:rPr lang="en-US" sz="1800" dirty="0" err="1">
                <a:latin typeface="Cascadia Code Light" panose="020B0609020000020004" pitchFamily="49" charset="0"/>
                <a:cs typeface="Cascadia Code Light" panose="020B0609020000020004" pitchFamily="49" charset="0"/>
              </a:rPr>
              <a:t>tf</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coefficients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np.array</a:t>
            </a:r>
            <a:r>
              <a:rPr lang="en-US" sz="1800" dirty="0">
                <a:latin typeface="Cascadia Code Light" panose="020B0609020000020004" pitchFamily="49" charset="0"/>
                <a:cs typeface="Cascadia Code Light" panose="020B0609020000020004" pitchFamily="49" charset="0"/>
              </a:rPr>
              <a:t>([[1.], [-10.], [25.]])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x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tf.placeholder</a:t>
            </a:r>
            <a:r>
              <a:rPr lang="en-US" sz="1800" dirty="0">
                <a:latin typeface="Cascadia Code Light" panose="020B0609020000020004" pitchFamily="49" charset="0"/>
                <a:cs typeface="Cascadia Code Light" panose="020B0609020000020004" pitchFamily="49" charset="0"/>
              </a:rPr>
              <a:t>(tf.float32, [3, 1])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w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tf.Variable</a:t>
            </a:r>
            <a:r>
              <a:rPr lang="en-US" sz="1800" dirty="0">
                <a:latin typeface="Cascadia Code Light" panose="020B0609020000020004" pitchFamily="49" charset="0"/>
                <a:cs typeface="Cascadia Code Light" panose="020B0609020000020004" pitchFamily="49" charset="0"/>
              </a:rPr>
              <a:t>(0, </a:t>
            </a:r>
            <a:r>
              <a:rPr lang="en-US" sz="1800" dirty="0" err="1">
                <a:latin typeface="Cascadia Code Light" panose="020B0609020000020004" pitchFamily="49" charset="0"/>
                <a:cs typeface="Cascadia Code Light" panose="020B0609020000020004" pitchFamily="49" charset="0"/>
              </a:rPr>
              <a:t>dtype</a:t>
            </a:r>
            <a:r>
              <a:rPr lang="en-US" sz="1800" dirty="0">
                <a:latin typeface="Cascadia Code Light" panose="020B0609020000020004" pitchFamily="49" charset="0"/>
                <a:cs typeface="Cascadia Code Light" panose="020B0609020000020004" pitchFamily="49" charset="0"/>
              </a:rPr>
              <a:t>=tf.float32)   </a:t>
            </a:r>
            <a:r>
              <a:rPr lang="en-US" sz="1800" dirty="0" smtClean="0">
                <a:latin typeface="Cascadia Code Light" panose="020B0609020000020004" pitchFamily="49" charset="0"/>
                <a:cs typeface="Cascadia Code Light" panose="020B0609020000020004" pitchFamily="49" charset="0"/>
              </a:rPr>
              <a:t># </a:t>
            </a:r>
            <a:r>
              <a:rPr lang="en-US" sz="1800" dirty="0">
                <a:latin typeface="Cascadia Code Light" panose="020B0609020000020004" pitchFamily="49" charset="0"/>
                <a:cs typeface="Cascadia Code Light" panose="020B0609020000020004" pitchFamily="49" charset="0"/>
              </a:rPr>
              <a:t>Creating a variable w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cost </a:t>
            </a:r>
            <a:r>
              <a:rPr lang="en-US" sz="1800" dirty="0">
                <a:latin typeface="Cascadia Code Light" panose="020B0609020000020004" pitchFamily="49" charset="0"/>
                <a:cs typeface="Cascadia Code Light" panose="020B0609020000020004" pitchFamily="49" charset="0"/>
              </a:rPr>
              <a:t>= x[0][0]*w**2 + x[1][0]*w + x[2][0]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train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tf.train.GradientDescentOptimizer</a:t>
            </a:r>
            <a:r>
              <a:rPr lang="en-US" sz="1800" dirty="0">
                <a:latin typeface="Cascadia Code Light" panose="020B0609020000020004" pitchFamily="49" charset="0"/>
                <a:cs typeface="Cascadia Code Light" panose="020B0609020000020004" pitchFamily="49" charset="0"/>
              </a:rPr>
              <a:t>(0.01).minimize(cost)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init</a:t>
            </a:r>
            <a:r>
              <a:rPr lang="en-US" sz="1800" dirty="0" smtClean="0">
                <a:latin typeface="Cascadia Code Light" panose="020B0609020000020004" pitchFamily="49" charset="0"/>
                <a:cs typeface="Cascadia Code Light" panose="020B0609020000020004" pitchFamily="49" charset="0"/>
              </a:rPr>
              <a:t>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tf.global_variables_initializer</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session </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tf.Session</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a:t>
            </a:r>
            <a:r>
              <a:rPr lang="en-US" sz="1800" dirty="0" err="1" smtClean="0">
                <a:latin typeface="Cascadia Code Light" panose="020B0609020000020004" pitchFamily="49" charset="0"/>
                <a:cs typeface="Cascadia Code Light" panose="020B0609020000020004" pitchFamily="49" charset="0"/>
              </a:rPr>
              <a:t>init</a:t>
            </a:r>
            <a:r>
              <a:rPr lang="en-US" sz="1800" dirty="0">
                <a:latin typeface="Cascadia Code Light" panose="020B0609020000020004" pitchFamily="49" charset="0"/>
                <a:cs typeface="Cascadia Code Light" panose="020B0609020000020004" pitchFamily="49" charset="0"/>
              </a:rPr>
              <a:t>)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(w</a:t>
            </a:r>
            <a:r>
              <a:rPr lang="en-US" sz="1800" dirty="0">
                <a:latin typeface="Cascadia Code Light" panose="020B0609020000020004" pitchFamily="49" charset="0"/>
                <a:cs typeface="Cascadia Code Light" panose="020B0609020000020004" pitchFamily="49" charset="0"/>
              </a:rPr>
              <a:t>)    # Runs the definition of w, if you print this it will print zero    </a:t>
            </a:r>
            <a:r>
              <a:rPr lang="en-US" sz="1800" dirty="0" smtClean="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(train</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feed_dict</a:t>
            </a:r>
            <a:r>
              <a:rPr lang="en-US" sz="1800" dirty="0">
                <a:latin typeface="Cascadia Code Light" panose="020B0609020000020004" pitchFamily="49" charset="0"/>
                <a:cs typeface="Cascadia Code Light" panose="020B0609020000020004" pitchFamily="49" charset="0"/>
              </a:rPr>
              <a:t>={x: coefficients})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print</a:t>
            </a:r>
            <a:r>
              <a:rPr lang="en-US" sz="1800" dirty="0">
                <a:latin typeface="Cascadia Code Light" panose="020B0609020000020004" pitchFamily="49" charset="0"/>
                <a:cs typeface="Cascadia Code Light" panose="020B0609020000020004" pitchFamily="49" charset="0"/>
              </a:rPr>
              <a:t>("W after one iteration:", </a:t>
            </a:r>
            <a:r>
              <a:rPr lang="en-US" sz="1800" dirty="0" err="1">
                <a:latin typeface="Cascadia Code Light" panose="020B0609020000020004" pitchFamily="49" charset="0"/>
                <a:cs typeface="Cascadia Code Light" panose="020B0609020000020004" pitchFamily="49" charset="0"/>
              </a:rPr>
              <a:t>session.run</a:t>
            </a:r>
            <a:r>
              <a:rPr lang="en-US" sz="1800" dirty="0">
                <a:latin typeface="Cascadia Code Light" panose="020B0609020000020004" pitchFamily="49" charset="0"/>
                <a:cs typeface="Cascadia Code Light" panose="020B0609020000020004" pitchFamily="49" charset="0"/>
              </a:rPr>
              <a:t>(w))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for </a:t>
            </a:r>
            <a:r>
              <a:rPr lang="en-US" sz="1800" dirty="0" err="1">
                <a:latin typeface="Cascadia Code Light" panose="020B0609020000020004" pitchFamily="49" charset="0"/>
                <a:cs typeface="Cascadia Code Light" panose="020B0609020000020004" pitchFamily="49" charset="0"/>
              </a:rPr>
              <a:t>i</a:t>
            </a:r>
            <a:r>
              <a:rPr lang="en-US" sz="1800" dirty="0">
                <a:latin typeface="Cascadia Code Light" panose="020B0609020000020004" pitchFamily="49" charset="0"/>
                <a:cs typeface="Cascadia Code Light" panose="020B0609020000020004" pitchFamily="49" charset="0"/>
              </a:rPr>
              <a:t> in range(1000):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	</a:t>
            </a:r>
            <a:r>
              <a:rPr lang="en-US" sz="1800" dirty="0" err="1" smtClean="0">
                <a:latin typeface="Cascadia Code Light" panose="020B0609020000020004" pitchFamily="49" charset="0"/>
                <a:cs typeface="Cascadia Code Light" panose="020B0609020000020004" pitchFamily="49" charset="0"/>
              </a:rPr>
              <a:t>session.run</a:t>
            </a:r>
            <a:r>
              <a:rPr lang="en-US" sz="1800" dirty="0" smtClean="0">
                <a:latin typeface="Cascadia Code Light" panose="020B0609020000020004" pitchFamily="49" charset="0"/>
                <a:cs typeface="Cascadia Code Light" panose="020B0609020000020004" pitchFamily="49" charset="0"/>
              </a:rPr>
              <a:t>(train</a:t>
            </a:r>
            <a:r>
              <a:rPr lang="en-US" sz="1800" dirty="0">
                <a:latin typeface="Cascadia Code Light" panose="020B0609020000020004" pitchFamily="49" charset="0"/>
                <a:cs typeface="Cascadia Code Light" panose="020B0609020000020004" pitchFamily="49" charset="0"/>
              </a:rPr>
              <a:t>, </a:t>
            </a:r>
            <a:r>
              <a:rPr lang="en-US" sz="1800" dirty="0" err="1">
                <a:latin typeface="Cascadia Code Light" panose="020B0609020000020004" pitchFamily="49" charset="0"/>
                <a:cs typeface="Cascadia Code Light" panose="020B0609020000020004" pitchFamily="49" charset="0"/>
              </a:rPr>
              <a:t>feed_dict</a:t>
            </a:r>
            <a:r>
              <a:rPr lang="en-US" sz="1800" dirty="0">
                <a:latin typeface="Cascadia Code Light" panose="020B0609020000020004" pitchFamily="49" charset="0"/>
                <a:cs typeface="Cascadia Code Light" panose="020B0609020000020004" pitchFamily="49" charset="0"/>
              </a:rPr>
              <a:t>={x: coefficients})    </a:t>
            </a:r>
            <a:endParaRPr lang="en-US" sz="1800" dirty="0" smtClean="0">
              <a:latin typeface="Cascadia Code Light" panose="020B0609020000020004" pitchFamily="49" charset="0"/>
              <a:cs typeface="Cascadia Code Light" panose="020B0609020000020004" pitchFamily="49" charset="0"/>
            </a:endParaRPr>
          </a:p>
          <a:p>
            <a:r>
              <a:rPr lang="en-US" sz="1800" dirty="0">
                <a:latin typeface="Cascadia Code Light" panose="020B0609020000020004" pitchFamily="49" charset="0"/>
                <a:cs typeface="Cascadia Code Light" panose="020B0609020000020004" pitchFamily="49" charset="0"/>
              </a:rPr>
              <a:t>	</a:t>
            </a:r>
            <a:r>
              <a:rPr lang="en-US" sz="1800" dirty="0" smtClean="0">
                <a:latin typeface="Cascadia Code Light" panose="020B0609020000020004" pitchFamily="49" charset="0"/>
                <a:cs typeface="Cascadia Code Light" panose="020B0609020000020004" pitchFamily="49" charset="0"/>
              </a:rPr>
              <a:t>print</a:t>
            </a:r>
            <a:r>
              <a:rPr lang="en-US" sz="1800" dirty="0">
                <a:latin typeface="Cascadia Code Light" panose="020B0609020000020004" pitchFamily="49" charset="0"/>
                <a:cs typeface="Cascadia Code Light" panose="020B0609020000020004" pitchFamily="49" charset="0"/>
              </a:rPr>
              <a:t>("W after 1000 iterations:", </a:t>
            </a:r>
            <a:r>
              <a:rPr lang="en-US" sz="1800" dirty="0" err="1">
                <a:latin typeface="Cascadia Code Light" panose="020B0609020000020004" pitchFamily="49" charset="0"/>
                <a:cs typeface="Cascadia Code Light" panose="020B0609020000020004" pitchFamily="49" charset="0"/>
              </a:rPr>
              <a:t>session.run</a:t>
            </a:r>
            <a:r>
              <a:rPr lang="en-US" sz="1800" dirty="0">
                <a:latin typeface="Cascadia Code Light" panose="020B0609020000020004" pitchFamily="49" charset="0"/>
                <a:cs typeface="Cascadia Code Light" panose="020B0609020000020004" pitchFamily="49" charset="0"/>
              </a:rPr>
              <a:t>(w))</a:t>
            </a:r>
            <a:endParaRPr lang="en-US" sz="1800" dirty="0" smtClean="0">
              <a:latin typeface="Cascadia Code Light" panose="020B0609020000020004" pitchFamily="49" charset="0"/>
              <a:cs typeface="Cascadia Code Light" panose="020B0609020000020004" pitchFamily="49" charset="0"/>
            </a:endParaRPr>
          </a:p>
          <a:p>
            <a:r>
              <a:rPr lang="en-US" sz="2000" dirty="0">
                <a:latin typeface="Cascadia Code Light" panose="020B0609020000020004" pitchFamily="49" charset="0"/>
                <a:cs typeface="Cascadia Code Light" panose="020B0609020000020004" pitchFamily="49" charset="0"/>
              </a:rPr>
              <a:t>	</a:t>
            </a: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50</a:t>
            </a:fld>
            <a:endParaRPr>
              <a:latin typeface="+mj-lt"/>
            </a:endParaRPr>
          </a:p>
        </p:txBody>
      </p:sp>
    </p:spTree>
    <p:extLst>
      <p:ext uri="{BB962C8B-B14F-4D97-AF65-F5344CB8AC3E}">
        <p14:creationId xmlns:p14="http://schemas.microsoft.com/office/powerpoint/2010/main" val="33728822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4894673"/>
          </a:xfrm>
          <a:prstGeom prst="rect">
            <a:avLst/>
          </a:prstGeom>
          <a:noFill/>
          <a:ln>
            <a:noFill/>
          </a:ln>
        </p:spPr>
        <p:txBody>
          <a:bodyPr spcFirstLastPara="1" wrap="square" lIns="0" tIns="63500" rIns="0" bIns="0" anchor="t" anchorCtr="0">
            <a:spAutoFit/>
          </a:bodyPr>
          <a:lstStyle/>
          <a:p>
            <a:pPr marL="367666" marR="316865" lvl="0"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In </a:t>
            </a:r>
            <a:r>
              <a:rPr lang="en-US" sz="2400" dirty="0" err="1">
                <a:latin typeface="+mj-lt"/>
                <a:ea typeface="Calibri"/>
                <a:cs typeface="Calibri"/>
                <a:sym typeface="Calibri"/>
              </a:rPr>
              <a:t>TensorFlow</a:t>
            </a:r>
            <a:r>
              <a:rPr lang="en-US" sz="2400" dirty="0">
                <a:latin typeface="+mj-lt"/>
                <a:ea typeface="Calibri"/>
                <a:cs typeface="Calibri"/>
                <a:sym typeface="Calibri"/>
              </a:rPr>
              <a:t> you implement only the forward propagation and </a:t>
            </a:r>
            <a:r>
              <a:rPr lang="en-US" sz="2400" dirty="0" err="1">
                <a:latin typeface="+mj-lt"/>
                <a:ea typeface="Calibri"/>
                <a:cs typeface="Calibri"/>
                <a:sym typeface="Calibri"/>
              </a:rPr>
              <a:t>TensorFlow</a:t>
            </a:r>
            <a:r>
              <a:rPr lang="en-US" sz="2400" dirty="0">
                <a:latin typeface="+mj-lt"/>
                <a:ea typeface="Calibri"/>
                <a:cs typeface="Calibri"/>
                <a:sym typeface="Calibri"/>
              </a:rPr>
              <a:t> will do the backpropagation by </a:t>
            </a:r>
            <a:r>
              <a:rPr lang="en-US" sz="2400" dirty="0" smtClean="0">
                <a:latin typeface="+mj-lt"/>
                <a:ea typeface="Calibri"/>
                <a:cs typeface="Calibri"/>
                <a:sym typeface="Calibri"/>
              </a:rPr>
              <a:t>itself.</a:t>
            </a:r>
          </a:p>
          <a:p>
            <a:pPr marL="367666" marR="316865" lvl="0"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In </a:t>
            </a:r>
            <a:r>
              <a:rPr lang="en-US" sz="2400" dirty="0" err="1">
                <a:latin typeface="+mj-lt"/>
                <a:ea typeface="Calibri"/>
                <a:cs typeface="Calibri"/>
                <a:sym typeface="Calibri"/>
              </a:rPr>
              <a:t>TensorFlow</a:t>
            </a:r>
            <a:r>
              <a:rPr lang="en-US" sz="2400" dirty="0">
                <a:latin typeface="+mj-lt"/>
                <a:ea typeface="Calibri"/>
                <a:cs typeface="Calibri"/>
                <a:sym typeface="Calibri"/>
              </a:rPr>
              <a:t> a placeholder is a variable you can assign a value to </a:t>
            </a:r>
            <a:r>
              <a:rPr lang="en-US" sz="2400" dirty="0" smtClean="0">
                <a:latin typeface="+mj-lt"/>
                <a:ea typeface="Calibri"/>
                <a:cs typeface="Calibri"/>
                <a:sym typeface="Calibri"/>
              </a:rPr>
              <a:t>later.</a:t>
            </a:r>
          </a:p>
          <a:p>
            <a:pPr marL="367666" marR="316865" lvl="0"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If </a:t>
            </a:r>
            <a:r>
              <a:rPr lang="en-US" sz="2400" dirty="0">
                <a:latin typeface="+mj-lt"/>
                <a:ea typeface="Calibri"/>
                <a:cs typeface="Calibri"/>
                <a:sym typeface="Calibri"/>
              </a:rPr>
              <a:t>you are using a mini-batch training you should change the </a:t>
            </a:r>
            <a:r>
              <a:rPr lang="en-US" sz="2400" dirty="0" err="1" smtClean="0">
                <a:latin typeface="Cascadia Code Light" panose="020B0609020000020004" pitchFamily="49" charset="0"/>
                <a:ea typeface="Calibri"/>
                <a:cs typeface="Cascadia Code Light" panose="020B0609020000020004" pitchFamily="49" charset="0"/>
                <a:sym typeface="Calibri"/>
              </a:rPr>
              <a:t>feed_dict</a:t>
            </a:r>
            <a:r>
              <a:rPr lang="en-US" sz="2400" dirty="0">
                <a:latin typeface="Cascadia Code Light" panose="020B0609020000020004" pitchFamily="49" charset="0"/>
                <a:ea typeface="Calibri"/>
                <a:cs typeface="Cascadia Code Light" panose="020B0609020000020004" pitchFamily="49" charset="0"/>
                <a:sym typeface="Calibri"/>
              </a:rPr>
              <a:t>={x: coefficients</a:t>
            </a:r>
            <a:r>
              <a:rPr lang="en-US" sz="2400" dirty="0" smtClean="0">
                <a:latin typeface="Cascadia Code Light" panose="020B0609020000020004" pitchFamily="49" charset="0"/>
                <a:ea typeface="Calibri"/>
                <a:cs typeface="Cascadia Code Light" panose="020B0609020000020004" pitchFamily="49" charset="0"/>
                <a:sym typeface="Calibri"/>
              </a:rPr>
              <a:t>}</a:t>
            </a:r>
            <a:r>
              <a:rPr lang="en-US" sz="2400" dirty="0" smtClean="0">
                <a:latin typeface="+mj-lt"/>
                <a:ea typeface="Calibri"/>
                <a:cs typeface="Calibri"/>
                <a:sym typeface="Calibri"/>
              </a:rPr>
              <a:t> </a:t>
            </a:r>
            <a:r>
              <a:rPr lang="en-US" sz="2400" dirty="0">
                <a:latin typeface="+mj-lt"/>
                <a:ea typeface="Calibri"/>
                <a:cs typeface="Calibri"/>
                <a:sym typeface="Calibri"/>
              </a:rPr>
              <a:t>to the current mini-batch </a:t>
            </a:r>
            <a:r>
              <a:rPr lang="en-US" sz="2400" dirty="0" smtClean="0">
                <a:latin typeface="+mj-lt"/>
                <a:ea typeface="Calibri"/>
                <a:cs typeface="Calibri"/>
                <a:sym typeface="Calibri"/>
              </a:rPr>
              <a:t>data.</a:t>
            </a:r>
          </a:p>
          <a:p>
            <a:pPr marL="367666" marR="316865" lvl="0"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Almost </a:t>
            </a:r>
            <a:r>
              <a:rPr lang="en-US" sz="2400" dirty="0">
                <a:latin typeface="+mj-lt"/>
                <a:ea typeface="Calibri"/>
                <a:cs typeface="Calibri"/>
                <a:sym typeface="Calibri"/>
              </a:rPr>
              <a:t>all </a:t>
            </a:r>
            <a:r>
              <a:rPr lang="en-US" sz="2400" dirty="0" err="1">
                <a:latin typeface="+mj-lt"/>
                <a:ea typeface="Calibri"/>
                <a:cs typeface="Calibri"/>
                <a:sym typeface="Calibri"/>
              </a:rPr>
              <a:t>TensorFlow</a:t>
            </a:r>
            <a:r>
              <a:rPr lang="en-US" sz="2400" dirty="0">
                <a:latin typeface="+mj-lt"/>
                <a:ea typeface="Calibri"/>
                <a:cs typeface="Calibri"/>
                <a:sym typeface="Calibri"/>
              </a:rPr>
              <a:t> programs use this: </a:t>
            </a:r>
            <a:endParaRPr lang="en-US" sz="2400" dirty="0" smtClean="0">
              <a:latin typeface="+mj-lt"/>
              <a:ea typeface="Calibri"/>
              <a:cs typeface="Calibri"/>
              <a:sym typeface="Calibri"/>
            </a:endParaRPr>
          </a:p>
          <a:p>
            <a:pPr marL="24766" marR="316865" lvl="0">
              <a:lnSpc>
                <a:spcPct val="109375"/>
              </a:lnSpc>
              <a:buSzPts val="3200"/>
            </a:pPr>
            <a:r>
              <a:rPr lang="en-US" sz="2400" dirty="0" smtClean="0">
                <a:latin typeface="+mj-lt"/>
                <a:ea typeface="Calibri"/>
                <a:cs typeface="Calibri"/>
                <a:sym typeface="Calibri"/>
              </a:rPr>
              <a:t>	</a:t>
            </a:r>
            <a:r>
              <a:rPr lang="en-US" sz="2400" dirty="0" err="1" smtClean="0">
                <a:latin typeface="Cascadia Code Light" panose="020B0609020000020004" pitchFamily="49" charset="0"/>
                <a:ea typeface="Calibri"/>
                <a:cs typeface="Cascadia Code Light" panose="020B0609020000020004" pitchFamily="49" charset="0"/>
                <a:sym typeface="Calibri"/>
              </a:rPr>
              <a:t>tf.Session</a:t>
            </a:r>
            <a:r>
              <a:rPr lang="en-US" sz="2400" dirty="0">
                <a:latin typeface="Cascadia Code Light" panose="020B0609020000020004" pitchFamily="49" charset="0"/>
                <a:ea typeface="Calibri"/>
                <a:cs typeface="Cascadia Code Light" panose="020B0609020000020004" pitchFamily="49" charset="0"/>
                <a:sym typeface="Calibri"/>
              </a:rPr>
              <a:t>() as session</a:t>
            </a:r>
            <a:r>
              <a:rPr lang="en-US" sz="2400" dirty="0" smtClean="0">
                <a:latin typeface="Cascadia Code Light" panose="020B0609020000020004" pitchFamily="49" charset="0"/>
                <a:ea typeface="Calibri"/>
                <a:cs typeface="Cascadia Code Light" panose="020B0609020000020004" pitchFamily="49" charset="0"/>
                <a:sym typeface="Calibri"/>
              </a:rPr>
              <a:t>:# </a:t>
            </a:r>
            <a:r>
              <a:rPr lang="en-US" sz="2400" dirty="0">
                <a:latin typeface="Cascadia Code Light" panose="020B0609020000020004" pitchFamily="49" charset="0"/>
                <a:ea typeface="Calibri"/>
                <a:cs typeface="Cascadia Code Light" panose="020B0609020000020004" pitchFamily="49" charset="0"/>
                <a:sym typeface="Calibri"/>
              </a:rPr>
              <a:t>better for cleaning up in </a:t>
            </a:r>
            <a:r>
              <a:rPr lang="en-US" sz="2400" dirty="0" smtClean="0">
                <a:latin typeface="Cascadia Code Light" panose="020B0609020000020004" pitchFamily="49" charset="0"/>
                <a:ea typeface="Calibri"/>
                <a:cs typeface="Cascadia Code Light" panose="020B0609020000020004" pitchFamily="49" charset="0"/>
                <a:sym typeface="Calibri"/>
              </a:rPr>
              <a:t>					    # case </a:t>
            </a:r>
            <a:r>
              <a:rPr lang="en-US" sz="2400" dirty="0">
                <a:latin typeface="Cascadia Code Light" panose="020B0609020000020004" pitchFamily="49" charset="0"/>
                <a:ea typeface="Calibri"/>
                <a:cs typeface="Cascadia Code Light" panose="020B0609020000020004" pitchFamily="49" charset="0"/>
                <a:sym typeface="Calibri"/>
              </a:rPr>
              <a:t>of error/exception </a:t>
            </a:r>
            <a:endParaRPr lang="en-US" sz="2400" dirty="0" smtClean="0">
              <a:latin typeface="Cascadia Code Light" panose="020B0609020000020004" pitchFamily="49" charset="0"/>
              <a:ea typeface="Calibri"/>
              <a:cs typeface="Cascadia Code Light" panose="020B0609020000020004" pitchFamily="49" charset="0"/>
              <a:sym typeface="Calibri"/>
            </a:endParaRPr>
          </a:p>
          <a:p>
            <a:pPr marL="24766" marR="316865" lvl="0">
              <a:lnSpc>
                <a:spcPct val="109375"/>
              </a:lnSpc>
              <a:buSzPts val="3200"/>
            </a:pPr>
            <a:r>
              <a:rPr lang="en-US" sz="2400" dirty="0">
                <a:latin typeface="Cascadia Code Light" panose="020B0609020000020004" pitchFamily="49" charset="0"/>
                <a:ea typeface="Calibri"/>
                <a:cs typeface="Cascadia Code Light" panose="020B0609020000020004" pitchFamily="49" charset="0"/>
                <a:sym typeface="Calibri"/>
              </a:rPr>
              <a:t>	</a:t>
            </a:r>
            <a:r>
              <a:rPr lang="en-US" sz="2400" dirty="0" err="1" smtClean="0">
                <a:latin typeface="Cascadia Code Light" panose="020B0609020000020004" pitchFamily="49" charset="0"/>
                <a:ea typeface="Calibri"/>
                <a:cs typeface="Cascadia Code Light" panose="020B0609020000020004" pitchFamily="49" charset="0"/>
                <a:sym typeface="Calibri"/>
              </a:rPr>
              <a:t>session.run</a:t>
            </a:r>
            <a:r>
              <a:rPr lang="en-US" sz="2400" dirty="0" smtClean="0">
                <a:latin typeface="Cascadia Code Light" panose="020B0609020000020004" pitchFamily="49" charset="0"/>
                <a:ea typeface="Calibri"/>
                <a:cs typeface="Cascadia Code Light" panose="020B0609020000020004" pitchFamily="49" charset="0"/>
                <a:sym typeface="Calibri"/>
              </a:rPr>
              <a:t>(</a:t>
            </a:r>
            <a:r>
              <a:rPr lang="en-US" sz="2400" dirty="0" err="1" smtClean="0">
                <a:latin typeface="Cascadia Code Light" panose="020B0609020000020004" pitchFamily="49" charset="0"/>
                <a:ea typeface="Calibri"/>
                <a:cs typeface="Cascadia Code Light" panose="020B0609020000020004" pitchFamily="49" charset="0"/>
                <a:sym typeface="Calibri"/>
              </a:rPr>
              <a:t>init</a:t>
            </a:r>
            <a:r>
              <a:rPr lang="en-US" sz="2400" dirty="0">
                <a:latin typeface="Cascadia Code Light" panose="020B0609020000020004" pitchFamily="49" charset="0"/>
                <a:ea typeface="Calibri"/>
                <a:cs typeface="Cascadia Code Light" panose="020B0609020000020004" pitchFamily="49" charset="0"/>
                <a:sym typeface="Calibri"/>
              </a:rPr>
              <a:t>) </a:t>
            </a:r>
            <a:endParaRPr lang="en-US" sz="2400" dirty="0" smtClean="0">
              <a:latin typeface="Cascadia Code Light" panose="020B0609020000020004" pitchFamily="49" charset="0"/>
              <a:ea typeface="Calibri"/>
              <a:cs typeface="Cascadia Code Light" panose="020B0609020000020004" pitchFamily="49" charset="0"/>
              <a:sym typeface="Calibri"/>
            </a:endParaRPr>
          </a:p>
          <a:p>
            <a:pPr marL="24766" marR="316865" lvl="0">
              <a:lnSpc>
                <a:spcPct val="109375"/>
              </a:lnSpc>
              <a:buSzPts val="3200"/>
            </a:pPr>
            <a:r>
              <a:rPr lang="en-US" sz="2400" dirty="0">
                <a:latin typeface="Cascadia Code Light" panose="020B0609020000020004" pitchFamily="49" charset="0"/>
                <a:ea typeface="Calibri"/>
                <a:cs typeface="Cascadia Code Light" panose="020B0609020000020004" pitchFamily="49" charset="0"/>
                <a:sym typeface="Calibri"/>
              </a:rPr>
              <a:t>	</a:t>
            </a:r>
            <a:r>
              <a:rPr lang="en-US" sz="2400" dirty="0" err="1" smtClean="0">
                <a:latin typeface="Cascadia Code Light" panose="020B0609020000020004" pitchFamily="49" charset="0"/>
                <a:ea typeface="Calibri"/>
                <a:cs typeface="Cascadia Code Light" panose="020B0609020000020004" pitchFamily="49" charset="0"/>
                <a:sym typeface="Calibri"/>
              </a:rPr>
              <a:t>session.run</a:t>
            </a:r>
            <a:r>
              <a:rPr lang="en-US" sz="2400" dirty="0" smtClean="0">
                <a:latin typeface="Cascadia Code Light" panose="020B0609020000020004" pitchFamily="49" charset="0"/>
                <a:ea typeface="Calibri"/>
                <a:cs typeface="Cascadia Code Light" panose="020B0609020000020004" pitchFamily="49" charset="0"/>
                <a:sym typeface="Calibri"/>
              </a:rPr>
              <a:t>(w)</a:t>
            </a:r>
          </a:p>
          <a:p>
            <a:pPr marL="481966" marR="316865" lvl="0" indent="-457200">
              <a:lnSpc>
                <a:spcPct val="109375"/>
              </a:lnSpc>
              <a:buSzPts val="3200"/>
              <a:buFont typeface="Arial" panose="020B0604020202020204" pitchFamily="34" charset="0"/>
              <a:buChar char="•"/>
            </a:pPr>
            <a:r>
              <a:rPr lang="en-US" sz="2400" dirty="0" smtClean="0">
                <a:latin typeface="+mj-lt"/>
                <a:ea typeface="Calibri"/>
                <a:cs typeface="Calibri"/>
                <a:sym typeface="Calibri"/>
              </a:rPr>
              <a:t>In </a:t>
            </a:r>
            <a:r>
              <a:rPr lang="en-US" sz="2400" dirty="0">
                <a:latin typeface="+mj-lt"/>
                <a:ea typeface="Calibri"/>
                <a:cs typeface="Calibri"/>
                <a:sym typeface="Calibri"/>
              </a:rPr>
              <a:t>deep learning frameworks there are a lot of things that you can do with one line of code like changing the optimizer.</a:t>
            </a:r>
            <a:r>
              <a:rPr lang="en-US" sz="2400" dirty="0"/>
              <a:t>	</a:t>
            </a: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51</a:t>
            </a:fld>
            <a:endParaRPr>
              <a:latin typeface="+mj-lt"/>
            </a:endParaRPr>
          </a:p>
        </p:txBody>
      </p:sp>
    </p:spTree>
    <p:extLst>
      <p:ext uri="{BB962C8B-B14F-4D97-AF65-F5344CB8AC3E}">
        <p14:creationId xmlns:p14="http://schemas.microsoft.com/office/powerpoint/2010/main" val="35689729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1674305"/>
          </a:xfrm>
          <a:prstGeom prst="rect">
            <a:avLst/>
          </a:prstGeom>
          <a:noFill/>
          <a:ln>
            <a:noFill/>
          </a:ln>
        </p:spPr>
        <p:txBody>
          <a:bodyPr spcFirstLastPara="1" wrap="square" lIns="0" tIns="63500" rIns="0" bIns="0" anchor="t" anchorCtr="0">
            <a:spAutoFit/>
          </a:bodyPr>
          <a:lstStyle/>
          <a:p>
            <a:pPr marL="367666" marR="316865" lvl="0" indent="-342900">
              <a:lnSpc>
                <a:spcPct val="109375"/>
              </a:lnSpc>
              <a:buSzPts val="3200"/>
              <a:buFont typeface="Arial" panose="020B0604020202020204" pitchFamily="34" charset="0"/>
              <a:buChar char="•"/>
            </a:pPr>
            <a:r>
              <a:rPr lang="en-US" sz="2400" dirty="0">
                <a:latin typeface="+mj-lt"/>
                <a:ea typeface="Calibri"/>
                <a:cs typeface="Calibri"/>
                <a:sym typeface="Calibri"/>
              </a:rPr>
              <a:t>In deep learning frameworks, tasks like changing the optimizer can often be achieved with a single line of code. </a:t>
            </a:r>
            <a:endParaRPr lang="en-US" sz="2400" dirty="0" smtClean="0">
              <a:latin typeface="+mj-lt"/>
              <a:ea typeface="Calibri"/>
              <a:cs typeface="Calibri"/>
              <a:sym typeface="Calibri"/>
            </a:endParaRPr>
          </a:p>
          <a:p>
            <a:pPr marL="367666" marR="316865" lvl="0" indent="-342900">
              <a:lnSpc>
                <a:spcPct val="109375"/>
              </a:lnSpc>
              <a:buSzPts val="3200"/>
              <a:buFont typeface="Arial" panose="020B0604020202020204" pitchFamily="34" charset="0"/>
              <a:buChar char="•"/>
            </a:pPr>
            <a:r>
              <a:rPr lang="en-US" sz="2400" dirty="0" err="1" smtClean="0">
                <a:latin typeface="+mj-lt"/>
                <a:ea typeface="Calibri"/>
                <a:cs typeface="Calibri"/>
                <a:sym typeface="Calibri"/>
              </a:rPr>
              <a:t>TensorFlow</a:t>
            </a:r>
            <a:r>
              <a:rPr lang="en-US" sz="2400" dirty="0" smtClean="0">
                <a:latin typeface="+mj-lt"/>
                <a:ea typeface="Calibri"/>
                <a:cs typeface="Calibri"/>
                <a:sym typeface="Calibri"/>
              </a:rPr>
              <a:t> </a:t>
            </a:r>
            <a:r>
              <a:rPr lang="en-US" sz="2400" dirty="0">
                <a:latin typeface="+mj-lt"/>
                <a:ea typeface="Calibri"/>
                <a:cs typeface="Calibri"/>
                <a:sym typeface="Calibri"/>
              </a:rPr>
              <a:t>programming involves creating Tensors, performing operations on them, initializing, creating a session, and running it to execute the operations.</a:t>
            </a:r>
            <a:endParaRPr lang="en-US" sz="2000" dirty="0" smtClean="0">
              <a:latin typeface="+mj-lt"/>
              <a:ea typeface="Calibri"/>
              <a:cs typeface="Calibri"/>
              <a:sym typeface="Calibri"/>
            </a:endParaRP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52</a:t>
            </a:fld>
            <a:endParaRPr dirty="0">
              <a:latin typeface="+mj-lt"/>
            </a:endParaRPr>
          </a:p>
        </p:txBody>
      </p:sp>
    </p:spTree>
    <p:extLst>
      <p:ext uri="{BB962C8B-B14F-4D97-AF65-F5344CB8AC3E}">
        <p14:creationId xmlns:p14="http://schemas.microsoft.com/office/powerpoint/2010/main" val="15517086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p24"/>
          <p:cNvSpPr txBox="1"/>
          <p:nvPr/>
        </p:nvSpPr>
        <p:spPr>
          <a:xfrm>
            <a:off x="527538" y="1332980"/>
            <a:ext cx="11271739" cy="4894673"/>
          </a:xfrm>
          <a:prstGeom prst="rect">
            <a:avLst/>
          </a:prstGeom>
          <a:noFill/>
          <a:ln>
            <a:noFill/>
          </a:ln>
        </p:spPr>
        <p:txBody>
          <a:bodyPr spcFirstLastPara="1" wrap="square" lIns="0" tIns="63500" rIns="0" bIns="0" anchor="t" anchorCtr="0">
            <a:spAutoFit/>
          </a:bodyPr>
          <a:lstStyle/>
          <a:p>
            <a:pPr marL="367666" marR="316865" lvl="1" indent="-342900">
              <a:lnSpc>
                <a:spcPct val="109375"/>
              </a:lnSpc>
              <a:buSzPts val="3200"/>
              <a:buFont typeface="Arial" panose="020B0604020202020204" pitchFamily="34" charset="0"/>
              <a:buChar char="•"/>
            </a:pPr>
            <a:r>
              <a:rPr lang="en-US" sz="2400" dirty="0" smtClean="0">
                <a:ea typeface="Calibri"/>
                <a:cs typeface="Calibri"/>
                <a:sym typeface="Calibri"/>
              </a:rPr>
              <a:t>We </a:t>
            </a:r>
            <a:r>
              <a:rPr lang="en-US" sz="2400" dirty="0">
                <a:ea typeface="Calibri"/>
                <a:cs typeface="Calibri"/>
                <a:sym typeface="Calibri"/>
              </a:rPr>
              <a:t>can use this </a:t>
            </a:r>
            <a:r>
              <a:rPr lang="en-US" sz="2400" dirty="0" smtClean="0">
                <a:ea typeface="Calibri"/>
                <a:cs typeface="Calibri"/>
                <a:sym typeface="Calibri"/>
              </a:rPr>
              <a:t>line </a:t>
            </a:r>
            <a:r>
              <a:rPr lang="en-US" sz="2400" dirty="0">
                <a:ea typeface="Calibri"/>
                <a:cs typeface="Calibri"/>
                <a:sym typeface="Calibri"/>
              </a:rPr>
              <a:t>to compute the cost </a:t>
            </a:r>
            <a:r>
              <a:rPr lang="en-US" sz="2400" dirty="0" smtClean="0">
                <a:ea typeface="Calibri"/>
                <a:cs typeface="Calibri"/>
                <a:sym typeface="Calibri"/>
              </a:rPr>
              <a:t>function:  </a:t>
            </a:r>
            <a:r>
              <a:rPr lang="en-US" sz="2400" dirty="0" err="1">
                <a:latin typeface="Cascadia Code Light" panose="020B0609020000020004" pitchFamily="49" charset="0"/>
                <a:ea typeface="Calibri"/>
                <a:cs typeface="Cascadia Code Light" panose="020B0609020000020004" pitchFamily="49" charset="0"/>
                <a:sym typeface="Calibri"/>
              </a:rPr>
              <a:t>tf.nn.sigmoid_cross_entropy_with_logits</a:t>
            </a:r>
            <a:r>
              <a:rPr lang="en-US" sz="2400" dirty="0">
                <a:latin typeface="Cascadia Code Light" panose="020B0609020000020004" pitchFamily="49" charset="0"/>
                <a:ea typeface="Calibri"/>
                <a:cs typeface="Cascadia Code Light" panose="020B0609020000020004" pitchFamily="49" charset="0"/>
                <a:sym typeface="Calibri"/>
              </a:rPr>
              <a:t>(logits = ...,  labels = ...)</a:t>
            </a:r>
            <a:endParaRPr lang="en-US" sz="2400" dirty="0" smtClean="0">
              <a:latin typeface="+mj-lt"/>
              <a:ea typeface="Calibri"/>
              <a:cs typeface="Calibri"/>
              <a:sym typeface="Calibri"/>
            </a:endParaRPr>
          </a:p>
          <a:p>
            <a:pPr marL="367666" marR="316865" lvl="1"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To </a:t>
            </a:r>
            <a:r>
              <a:rPr lang="en-US" sz="2400" dirty="0">
                <a:latin typeface="+mj-lt"/>
                <a:ea typeface="Calibri"/>
                <a:cs typeface="Calibri"/>
                <a:sym typeface="Calibri"/>
              </a:rPr>
              <a:t>initialize weights in NN using </a:t>
            </a:r>
            <a:r>
              <a:rPr lang="en-US" sz="2400" dirty="0" err="1">
                <a:latin typeface="+mj-lt"/>
                <a:ea typeface="Calibri"/>
                <a:cs typeface="Calibri"/>
                <a:sym typeface="Calibri"/>
              </a:rPr>
              <a:t>TensorFlow</a:t>
            </a:r>
            <a:r>
              <a:rPr lang="en-US" sz="2400" dirty="0">
                <a:latin typeface="+mj-lt"/>
                <a:ea typeface="Calibri"/>
                <a:cs typeface="Calibri"/>
                <a:sym typeface="Calibri"/>
              </a:rPr>
              <a:t> </a:t>
            </a:r>
            <a:r>
              <a:rPr lang="en-US" sz="2400" dirty="0" smtClean="0">
                <a:latin typeface="+mj-lt"/>
                <a:ea typeface="Calibri"/>
                <a:cs typeface="Calibri"/>
                <a:sym typeface="Calibri"/>
              </a:rPr>
              <a:t>use:</a:t>
            </a:r>
          </a:p>
          <a:p>
            <a:pPr marL="24766" marR="316865" lvl="1">
              <a:lnSpc>
                <a:spcPct val="109375"/>
              </a:lnSpc>
              <a:buSzPts val="3200"/>
            </a:pPr>
            <a:r>
              <a:rPr lang="en-US" sz="2400" dirty="0" smtClean="0">
                <a:latin typeface="+mj-lt"/>
                <a:ea typeface="Calibri"/>
                <a:cs typeface="Calibri"/>
                <a:sym typeface="Calibri"/>
              </a:rPr>
              <a:t>	</a:t>
            </a:r>
            <a:r>
              <a:rPr lang="en-US" sz="2400" dirty="0" smtClean="0">
                <a:latin typeface="Cascadia Code Light" panose="020B0609020000020004" pitchFamily="49" charset="0"/>
                <a:ea typeface="Calibri"/>
                <a:cs typeface="Cascadia Code Light" panose="020B0609020000020004" pitchFamily="49" charset="0"/>
                <a:sym typeface="Calibri"/>
              </a:rPr>
              <a:t>W1 </a:t>
            </a:r>
            <a:r>
              <a:rPr lang="en-US" sz="2400" dirty="0">
                <a:latin typeface="Cascadia Code Light" panose="020B0609020000020004" pitchFamily="49" charset="0"/>
                <a:ea typeface="Calibri"/>
                <a:cs typeface="Cascadia Code Light" panose="020B0609020000020004" pitchFamily="49" charset="0"/>
                <a:sym typeface="Calibri"/>
              </a:rPr>
              <a:t>= </a:t>
            </a:r>
            <a:r>
              <a:rPr lang="en-US" sz="2400" dirty="0" err="1">
                <a:latin typeface="Cascadia Code Light" panose="020B0609020000020004" pitchFamily="49" charset="0"/>
                <a:ea typeface="Calibri"/>
                <a:cs typeface="Cascadia Code Light" panose="020B0609020000020004" pitchFamily="49" charset="0"/>
                <a:sym typeface="Calibri"/>
              </a:rPr>
              <a:t>tf.get_variable</a:t>
            </a:r>
            <a:r>
              <a:rPr lang="en-US" sz="2400" dirty="0">
                <a:latin typeface="Cascadia Code Light" panose="020B0609020000020004" pitchFamily="49" charset="0"/>
                <a:ea typeface="Calibri"/>
                <a:cs typeface="Cascadia Code Light" panose="020B0609020000020004" pitchFamily="49" charset="0"/>
                <a:sym typeface="Calibri"/>
              </a:rPr>
              <a:t>("W1", [25,12288], </a:t>
            </a:r>
            <a:r>
              <a:rPr lang="en-US" sz="2400" dirty="0" smtClean="0">
                <a:latin typeface="Cascadia Code Light" panose="020B0609020000020004" pitchFamily="49" charset="0"/>
                <a:ea typeface="Calibri"/>
                <a:cs typeface="Cascadia Code Light" panose="020B0609020000020004" pitchFamily="49" charset="0"/>
                <a:sym typeface="Calibri"/>
              </a:rPr>
              <a:t>initializer </a:t>
            </a:r>
            <a:r>
              <a:rPr lang="en-US" sz="2400" dirty="0">
                <a:latin typeface="Cascadia Code Light" panose="020B0609020000020004" pitchFamily="49" charset="0"/>
                <a:ea typeface="Calibri"/>
                <a:cs typeface="Cascadia Code Light" panose="020B0609020000020004" pitchFamily="49" charset="0"/>
                <a:sym typeface="Calibri"/>
              </a:rPr>
              <a:t>= </a:t>
            </a:r>
            <a:r>
              <a:rPr lang="en-US" sz="2400" dirty="0" err="1">
                <a:latin typeface="Cascadia Code Light" panose="020B0609020000020004" pitchFamily="49" charset="0"/>
                <a:ea typeface="Calibri"/>
                <a:cs typeface="Cascadia Code Light" panose="020B0609020000020004" pitchFamily="49" charset="0"/>
                <a:sym typeface="Calibri"/>
              </a:rPr>
              <a:t>tf.contrib.layers.xavier_initializer</a:t>
            </a:r>
            <a:r>
              <a:rPr lang="en-US" sz="2400" dirty="0">
                <a:latin typeface="Cascadia Code Light" panose="020B0609020000020004" pitchFamily="49" charset="0"/>
                <a:ea typeface="Calibri"/>
                <a:cs typeface="Cascadia Code Light" panose="020B0609020000020004" pitchFamily="49" charset="0"/>
                <a:sym typeface="Calibri"/>
              </a:rPr>
              <a:t>(seed = 1))</a:t>
            </a:r>
            <a:r>
              <a:rPr lang="en-US" sz="2400" dirty="0">
                <a:latin typeface="+mj-lt"/>
                <a:ea typeface="Calibri"/>
                <a:cs typeface="Calibri"/>
                <a:sym typeface="Calibri"/>
              </a:rPr>
              <a:t>  </a:t>
            </a:r>
            <a:endParaRPr lang="en-US" sz="2400" dirty="0" smtClean="0">
              <a:latin typeface="+mj-lt"/>
              <a:ea typeface="Calibri"/>
              <a:cs typeface="Calibri"/>
              <a:sym typeface="Calibri"/>
            </a:endParaRPr>
          </a:p>
          <a:p>
            <a:pPr marL="24766" marR="316865" lvl="1">
              <a:lnSpc>
                <a:spcPct val="109375"/>
              </a:lnSpc>
              <a:buSzPts val="3200"/>
            </a:pPr>
            <a:r>
              <a:rPr lang="en-US" sz="2400" dirty="0">
                <a:latin typeface="+mj-lt"/>
                <a:ea typeface="Calibri"/>
                <a:cs typeface="Calibri"/>
                <a:sym typeface="Calibri"/>
              </a:rPr>
              <a:t>	</a:t>
            </a:r>
            <a:r>
              <a:rPr lang="en-US" sz="2400" dirty="0" smtClean="0">
                <a:latin typeface="Cascadia Code Light" panose="020B0609020000020004" pitchFamily="49" charset="0"/>
                <a:ea typeface="Calibri"/>
                <a:cs typeface="Cascadia Code Light" panose="020B0609020000020004" pitchFamily="49" charset="0"/>
                <a:sym typeface="Calibri"/>
              </a:rPr>
              <a:t>b1 </a:t>
            </a:r>
            <a:r>
              <a:rPr lang="en-US" sz="2400" dirty="0">
                <a:latin typeface="Cascadia Code Light" panose="020B0609020000020004" pitchFamily="49" charset="0"/>
                <a:ea typeface="Calibri"/>
                <a:cs typeface="Cascadia Code Light" panose="020B0609020000020004" pitchFamily="49" charset="0"/>
                <a:sym typeface="Calibri"/>
              </a:rPr>
              <a:t>= </a:t>
            </a:r>
            <a:r>
              <a:rPr lang="en-US" sz="2400" dirty="0" err="1">
                <a:latin typeface="Cascadia Code Light" panose="020B0609020000020004" pitchFamily="49" charset="0"/>
                <a:ea typeface="Calibri"/>
                <a:cs typeface="Cascadia Code Light" panose="020B0609020000020004" pitchFamily="49" charset="0"/>
                <a:sym typeface="Calibri"/>
              </a:rPr>
              <a:t>tf.get_variable</a:t>
            </a:r>
            <a:r>
              <a:rPr lang="en-US" sz="2400" dirty="0">
                <a:latin typeface="Cascadia Code Light" panose="020B0609020000020004" pitchFamily="49" charset="0"/>
                <a:ea typeface="Calibri"/>
                <a:cs typeface="Cascadia Code Light" panose="020B0609020000020004" pitchFamily="49" charset="0"/>
                <a:sym typeface="Calibri"/>
              </a:rPr>
              <a:t>("b1", [25,1], initializer = </a:t>
            </a:r>
            <a:r>
              <a:rPr lang="en-US" sz="2400" dirty="0" err="1">
                <a:latin typeface="Cascadia Code Light" panose="020B0609020000020004" pitchFamily="49" charset="0"/>
                <a:ea typeface="Calibri"/>
                <a:cs typeface="Cascadia Code Light" panose="020B0609020000020004" pitchFamily="49" charset="0"/>
                <a:sym typeface="Calibri"/>
              </a:rPr>
              <a:t>tf.zeros_initializer</a:t>
            </a:r>
            <a:r>
              <a:rPr lang="en-US" sz="2400" dirty="0" smtClean="0">
                <a:latin typeface="Cascadia Code Light" panose="020B0609020000020004" pitchFamily="49" charset="0"/>
                <a:ea typeface="Calibri"/>
                <a:cs typeface="Cascadia Code Light" panose="020B0609020000020004" pitchFamily="49" charset="0"/>
                <a:sym typeface="Calibri"/>
              </a:rPr>
              <a:t>())</a:t>
            </a:r>
          </a:p>
          <a:p>
            <a:pPr marL="367666" marR="316865" lvl="1"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For </a:t>
            </a:r>
            <a:r>
              <a:rPr lang="en-US" sz="2400" dirty="0">
                <a:latin typeface="+mj-lt"/>
                <a:ea typeface="Calibri"/>
                <a:cs typeface="Calibri"/>
                <a:sym typeface="Calibri"/>
              </a:rPr>
              <a:t>3-layer NN, it is important to note that the forward propagation stops at </a:t>
            </a:r>
            <a:r>
              <a:rPr lang="en-US" sz="2400" dirty="0" smtClean="0">
                <a:latin typeface="+mj-lt"/>
                <a:ea typeface="Calibri"/>
                <a:cs typeface="Calibri"/>
                <a:sym typeface="Calibri"/>
              </a:rPr>
              <a:t>Z</a:t>
            </a:r>
            <a:r>
              <a:rPr lang="en-US" sz="2400" baseline="30000" dirty="0" smtClean="0">
                <a:latin typeface="+mj-lt"/>
                <a:ea typeface="Calibri"/>
                <a:cs typeface="Calibri"/>
                <a:sym typeface="Calibri"/>
              </a:rPr>
              <a:t>[3]</a:t>
            </a:r>
            <a:r>
              <a:rPr lang="en-US" sz="2400" dirty="0" smtClean="0">
                <a:latin typeface="+mj-lt"/>
                <a:ea typeface="Calibri"/>
                <a:cs typeface="Calibri"/>
                <a:sym typeface="Calibri"/>
              </a:rPr>
              <a:t>. </a:t>
            </a:r>
            <a:r>
              <a:rPr lang="en-US" sz="2400" dirty="0">
                <a:latin typeface="+mj-lt"/>
                <a:ea typeface="Calibri"/>
                <a:cs typeface="Calibri"/>
                <a:sym typeface="Calibri"/>
              </a:rPr>
              <a:t>The reason is that in </a:t>
            </a:r>
            <a:r>
              <a:rPr lang="en-US" sz="2400" dirty="0" err="1">
                <a:latin typeface="+mj-lt"/>
                <a:ea typeface="Calibri"/>
                <a:cs typeface="Calibri"/>
                <a:sym typeface="Calibri"/>
              </a:rPr>
              <a:t>TensorFlow</a:t>
            </a:r>
            <a:r>
              <a:rPr lang="en-US" sz="2400" dirty="0">
                <a:latin typeface="+mj-lt"/>
                <a:ea typeface="Calibri"/>
                <a:cs typeface="Calibri"/>
                <a:sym typeface="Calibri"/>
              </a:rPr>
              <a:t> the last linear layer output is given as input to the function computing the loss. Therefore, you don't need </a:t>
            </a:r>
            <a:r>
              <a:rPr lang="en-US" sz="2400" dirty="0" smtClean="0">
                <a:latin typeface="+mj-lt"/>
                <a:ea typeface="Calibri"/>
                <a:cs typeface="Calibri"/>
                <a:sym typeface="Calibri"/>
              </a:rPr>
              <a:t>A</a:t>
            </a:r>
            <a:r>
              <a:rPr lang="en-US" sz="2400" baseline="30000" dirty="0" smtClean="0">
                <a:latin typeface="+mj-lt"/>
                <a:ea typeface="Calibri"/>
                <a:cs typeface="Calibri"/>
                <a:sym typeface="Calibri"/>
              </a:rPr>
              <a:t>[3]</a:t>
            </a:r>
            <a:r>
              <a:rPr lang="en-US" sz="2400" dirty="0" smtClean="0">
                <a:latin typeface="+mj-lt"/>
                <a:ea typeface="Calibri"/>
                <a:cs typeface="Calibri"/>
                <a:sym typeface="Calibri"/>
              </a:rPr>
              <a:t> !</a:t>
            </a:r>
          </a:p>
          <a:p>
            <a:pPr marL="367666" marR="316865" lvl="1" indent="-342900">
              <a:lnSpc>
                <a:spcPct val="109375"/>
              </a:lnSpc>
              <a:buSzPts val="3200"/>
              <a:buFont typeface="Arial" panose="020B0604020202020204" pitchFamily="34" charset="0"/>
              <a:buChar char="•"/>
            </a:pPr>
            <a:r>
              <a:rPr lang="en-US" sz="2400" dirty="0" smtClean="0">
                <a:latin typeface="+mj-lt"/>
                <a:ea typeface="Calibri"/>
                <a:cs typeface="Calibri"/>
                <a:sym typeface="Calibri"/>
              </a:rPr>
              <a:t>To </a:t>
            </a:r>
            <a:r>
              <a:rPr lang="en-US" sz="2400" dirty="0">
                <a:latin typeface="+mj-lt"/>
                <a:ea typeface="Calibri"/>
                <a:cs typeface="Calibri"/>
                <a:sym typeface="Calibri"/>
              </a:rPr>
              <a:t>reset the graph use </a:t>
            </a:r>
            <a:r>
              <a:rPr lang="en-US" sz="2400" dirty="0" err="1" smtClean="0">
                <a:latin typeface="Cascadia Code Light" panose="020B0609020000020004" pitchFamily="49" charset="0"/>
                <a:ea typeface="Calibri"/>
                <a:cs typeface="Cascadia Code Light" panose="020B0609020000020004" pitchFamily="49" charset="0"/>
                <a:sym typeface="Calibri"/>
              </a:rPr>
              <a:t>tf.reset_default_graph</a:t>
            </a:r>
            <a:r>
              <a:rPr lang="en-US" sz="2400" dirty="0" smtClean="0">
                <a:latin typeface="Cascadia Code Light" panose="020B0609020000020004" pitchFamily="49" charset="0"/>
                <a:ea typeface="Calibri"/>
                <a:cs typeface="Cascadia Code Light" panose="020B0609020000020004" pitchFamily="49" charset="0"/>
                <a:sym typeface="Calibri"/>
              </a:rPr>
              <a:t>()</a:t>
            </a:r>
            <a:r>
              <a:rPr lang="en-US" sz="2400" dirty="0"/>
              <a:t>	</a:t>
            </a:r>
          </a:p>
        </p:txBody>
      </p:sp>
      <p:sp>
        <p:nvSpPr>
          <p:cNvPr id="315" name="Google Shape;315;p24"/>
          <p:cNvSpPr txBox="1">
            <a:spLocks noGrp="1"/>
          </p:cNvSpPr>
          <p:nvPr>
            <p:ph type="title"/>
          </p:nvPr>
        </p:nvSpPr>
        <p:spPr>
          <a:xfrm>
            <a:off x="246122" y="170700"/>
            <a:ext cx="7734300" cy="695960"/>
          </a:xfrm>
          <a:prstGeom prst="rect">
            <a:avLst/>
          </a:prstGeom>
          <a:noFill/>
          <a:ln>
            <a:noFill/>
          </a:ln>
        </p:spPr>
        <p:txBody>
          <a:bodyPr spcFirstLastPara="1" wrap="square" lIns="0" tIns="12700" rIns="0" bIns="0" anchor="t" anchorCtr="0">
            <a:spAutoFit/>
          </a:bodyPr>
          <a:lstStyle/>
          <a:p>
            <a:pPr marL="12700" lvl="0"/>
            <a:r>
              <a:rPr lang="en-US" sz="4400" dirty="0" err="1">
                <a:ea typeface="Cambria"/>
                <a:cs typeface="Cambria"/>
                <a:sym typeface="Cambria"/>
              </a:rPr>
              <a:t>TensorFlow</a:t>
            </a:r>
            <a:endParaRPr lang="en-US" sz="4400" dirty="0">
              <a:latin typeface="+mj-lt"/>
              <a:ea typeface="Cambria"/>
              <a:cs typeface="Cambria"/>
              <a:sym typeface="Cambria"/>
            </a:endParaRPr>
          </a:p>
        </p:txBody>
      </p:sp>
      <p:pic>
        <p:nvPicPr>
          <p:cNvPr id="316" name="Google Shape;316;p2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17" name="Google Shape;317;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latin typeface="+mj-lt"/>
              </a:rPr>
              <a:t>53</a:t>
            </a:fld>
            <a:endParaRPr dirty="0">
              <a:latin typeface="+mj-lt"/>
            </a:endParaRPr>
          </a:p>
        </p:txBody>
      </p:sp>
    </p:spTree>
    <p:extLst>
      <p:ext uri="{BB962C8B-B14F-4D97-AF65-F5344CB8AC3E}">
        <p14:creationId xmlns:p14="http://schemas.microsoft.com/office/powerpoint/2010/main" val="33692947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 name="Google Shape;49;g2019cdaf7c5_1_4"/>
          <p:cNvSpPr txBox="1">
            <a:spLocks/>
          </p:cNvSpPr>
          <p:nvPr/>
        </p:nvSpPr>
        <p:spPr>
          <a:xfrm>
            <a:off x="1055570" y="1340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lvl="0" indent="-97155" algn="ctr" defTabSz="914400" rtl="0" eaLnBrk="1" fontAlgn="auto" latinLnBrk="0" hangingPunct="1">
              <a:lnSpc>
                <a:spcPct val="108333"/>
              </a:lnSpc>
              <a:spcBef>
                <a:spcPts val="0"/>
              </a:spcBef>
              <a:spcAft>
                <a:spcPts val="0"/>
              </a:spcAft>
              <a:buClr>
                <a:srgbClr val="000000"/>
              </a:buClr>
              <a:buSzPts val="1400"/>
              <a:buFont typeface="Arial"/>
              <a:buNone/>
              <a:tabLst/>
              <a:defRPr/>
            </a:pPr>
            <a:r>
              <a:rPr kumimoji="0" lang="en-US" sz="4400" b="0" i="0" u="none" strike="noStrike" kern="0" cap="none" spc="0" normalizeH="0" baseline="0" noProof="0" dirty="0" smtClean="0">
                <a:ln>
                  <a:noFill/>
                </a:ln>
                <a:solidFill>
                  <a:srgbClr val="000000"/>
                </a:solidFill>
                <a:effectLst/>
                <a:uLnTx/>
                <a:uFillTx/>
                <a:latin typeface="Arial"/>
                <a:cs typeface="Calibri"/>
                <a:sym typeface="Trebuchet MS"/>
              </a:rPr>
              <a:t>Summarization</a:t>
            </a:r>
            <a:endParaRPr kumimoji="0" lang="en-US" sz="4400" b="0" i="0" u="none" strike="noStrike" kern="0" cap="none" spc="0" normalizeH="0" baseline="0" noProof="0" dirty="0">
              <a:ln>
                <a:noFill/>
              </a:ln>
              <a:solidFill>
                <a:srgbClr val="000000"/>
              </a:solidFill>
              <a:effectLst/>
              <a:uLnTx/>
              <a:uFillTx/>
              <a:latin typeface="Arial"/>
              <a:cs typeface="Calibri"/>
              <a:sym typeface="Calibri"/>
            </a:endParaRPr>
          </a:p>
        </p:txBody>
      </p:sp>
      <p:sp>
        <p:nvSpPr>
          <p:cNvPr id="8" name="Google Shape;316;p36"/>
          <p:cNvSpPr txBox="1"/>
          <p:nvPr/>
        </p:nvSpPr>
        <p:spPr>
          <a:xfrm>
            <a:off x="331470" y="1201659"/>
            <a:ext cx="11614637" cy="5656341"/>
          </a:xfrm>
          <a:prstGeom prst="rect">
            <a:avLst/>
          </a:prstGeom>
          <a:noFill/>
          <a:ln>
            <a:noFill/>
          </a:ln>
        </p:spPr>
        <p:txBody>
          <a:bodyPr spcFirstLastPara="1" wrap="square" lIns="0" tIns="5700" rIns="0" bIns="0" anchor="t" anchorCtr="0">
            <a:spAutoFit/>
          </a:bodyPr>
          <a:lstStyle/>
          <a:p>
            <a:pPr marL="355600" marR="5080" lvl="0" indent="-342900">
              <a:lnSpc>
                <a:spcPct val="101800"/>
              </a:lnSpc>
              <a:buSzPts val="2400"/>
              <a:buFont typeface="Arial" panose="020B0604020202020204" pitchFamily="34" charset="0"/>
              <a:buChar char="•"/>
            </a:pPr>
            <a:r>
              <a:rPr lang="en-US" sz="2400" dirty="0">
                <a:ea typeface="Century Schoolbook"/>
                <a:cs typeface="Century Schoolbook"/>
                <a:sym typeface="Century Schoolbook"/>
              </a:rPr>
              <a:t>Tuning involves iteratively adjusting </a:t>
            </a:r>
            <a:r>
              <a:rPr lang="en-US" sz="2400" dirty="0" err="1">
                <a:ea typeface="Century Schoolbook"/>
                <a:cs typeface="Century Schoolbook"/>
                <a:sym typeface="Century Schoolbook"/>
              </a:rPr>
              <a:t>hyperparameters</a:t>
            </a:r>
            <a:r>
              <a:rPr lang="en-US" sz="2400" dirty="0">
                <a:ea typeface="Century Schoolbook"/>
                <a:cs typeface="Century Schoolbook"/>
                <a:sym typeface="Century Schoolbook"/>
              </a:rPr>
              <a:t> and model aspects for optimal performance.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Hyperparameters</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should be explored on a logarithmic scale for efficient tuning. "Pandas" (random search) and "Caviar" (Bayesian optimization) are compared for </a:t>
            </a:r>
            <a:r>
              <a:rPr lang="en-US" sz="2400" dirty="0" err="1">
                <a:ea typeface="Century Schoolbook"/>
                <a:cs typeface="Century Schoolbook"/>
                <a:sym typeface="Century Schoolbook"/>
              </a:rPr>
              <a:t>hyperparameter</a:t>
            </a:r>
            <a:r>
              <a:rPr lang="en-US" sz="2400" dirty="0">
                <a:ea typeface="Century Schoolbook"/>
                <a:cs typeface="Century Schoolbook"/>
                <a:sym typeface="Century Schoolbook"/>
              </a:rPr>
              <a:t> tuning, with Caviar often yielding better results.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Activation </a:t>
            </a:r>
            <a:r>
              <a:rPr lang="en-US" sz="2400" dirty="0">
                <a:ea typeface="Century Schoolbook"/>
                <a:cs typeface="Century Schoolbook"/>
                <a:sym typeface="Century Schoolbook"/>
              </a:rPr>
              <a:t>normalization stabilizes learning by ensuring consistent distributions of neuron activations.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Batch </a:t>
            </a:r>
            <a:r>
              <a:rPr lang="en-US" sz="2400" dirty="0">
                <a:ea typeface="Century Schoolbook"/>
                <a:cs typeface="Century Schoolbook"/>
                <a:sym typeface="Century Schoolbook"/>
              </a:rPr>
              <a:t>Normalization (Batch Norm) normalizes layer inputs, enhancing training stability, convergence, and generalization. Batch Norm addresses internal covariate shift, allowing higher learning rates.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Softmax</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regression is used for multiclass classification, assigning probabilities to each class. </a:t>
            </a:r>
            <a:endParaRPr lang="en-US" sz="2400" dirty="0" smtClean="0">
              <a:ea typeface="Century Schoolbook"/>
              <a:cs typeface="Century Schoolbook"/>
              <a:sym typeface="Century Schoolbook"/>
            </a:endParaRPr>
          </a:p>
          <a:p>
            <a:pPr marL="355600" marR="5080" lvl="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Deep </a:t>
            </a:r>
            <a:r>
              <a:rPr lang="en-US" sz="2400" dirty="0">
                <a:ea typeface="Century Schoolbook"/>
                <a:cs typeface="Century Schoolbook"/>
                <a:sym typeface="Century Schoolbook"/>
              </a:rPr>
              <a:t>learning frameworks like </a:t>
            </a:r>
            <a:r>
              <a:rPr lang="en-US" sz="2400" dirty="0" err="1">
                <a:ea typeface="Century Schoolbook"/>
                <a:cs typeface="Century Schoolbook"/>
                <a:sym typeface="Century Schoolbook"/>
              </a:rPr>
              <a:t>TensorFlow</a:t>
            </a:r>
            <a:r>
              <a:rPr lang="en-US" sz="2400" dirty="0">
                <a:ea typeface="Century Schoolbook"/>
                <a:cs typeface="Century Schoolbook"/>
                <a:sym typeface="Century Schoolbook"/>
              </a:rPr>
              <a:t> provide tools for building, training, and deploying neural networks. </a:t>
            </a:r>
            <a:r>
              <a:rPr lang="en-US" sz="2400" dirty="0" err="1">
                <a:ea typeface="Century Schoolbook"/>
                <a:cs typeface="Century Schoolbook"/>
                <a:sym typeface="Century Schoolbook"/>
              </a:rPr>
              <a:t>TensorFlow</a:t>
            </a:r>
            <a:r>
              <a:rPr lang="en-US" sz="2400" dirty="0">
                <a:ea typeface="Century Schoolbook"/>
                <a:cs typeface="Century Schoolbook"/>
                <a:sym typeface="Century Schoolbook"/>
              </a:rPr>
              <a:t>, developed by Google, offers a flexible ecosystem for various neural network architectures</a:t>
            </a:r>
            <a:r>
              <a:rPr lang="en-US" sz="2400" dirty="0" smtClean="0">
                <a:ea typeface="Century Schoolbook"/>
                <a:cs typeface="Century Schoolbook"/>
                <a:sym typeface="Century Schoolbook"/>
              </a:rPr>
              <a:t>.</a:t>
            </a:r>
            <a:endParaRPr lang="en-US" sz="2400" dirty="0">
              <a:ea typeface="Century Schoolbook"/>
              <a:cs typeface="Century Schoolbook"/>
              <a:sym typeface="Century Schoolbook"/>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37326447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1581</TotalTime>
  <Words>4723</Words>
  <Application>Microsoft Office PowerPoint</Application>
  <PresentationFormat>Widescreen</PresentationFormat>
  <Paragraphs>479</Paragraphs>
  <Slides>54</Slides>
  <Notes>54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Trebuchet MS</vt:lpstr>
      <vt:lpstr>Century Schoolbook</vt:lpstr>
      <vt:lpstr>Calibri</vt:lpstr>
      <vt:lpstr>Wingdings</vt:lpstr>
      <vt:lpstr>Cambria</vt:lpstr>
      <vt:lpstr>Cambria Math</vt:lpstr>
      <vt:lpstr>Cascadia Code Light</vt:lpstr>
      <vt:lpstr>Arial</vt:lpstr>
      <vt:lpstr>Roboto</vt:lpstr>
      <vt:lpstr>Office Theme</vt:lpstr>
      <vt:lpstr>Hyper parameter tuning </vt:lpstr>
      <vt:lpstr>Hyper parameter tuning </vt:lpstr>
      <vt:lpstr>PowerPoint Presentation</vt:lpstr>
      <vt:lpstr>Hyperparameters</vt:lpstr>
      <vt:lpstr>Hyperparameters</vt:lpstr>
      <vt:lpstr>Hyperparameters</vt:lpstr>
      <vt:lpstr>PowerPoint Presentation</vt:lpstr>
      <vt:lpstr>Picking hyperparameters at random</vt:lpstr>
      <vt:lpstr>Picking hyperparameters at random</vt:lpstr>
      <vt:lpstr>Appropriate scale for hyperparameters</vt:lpstr>
      <vt:lpstr>Appropriate scale for hyperparameters</vt:lpstr>
      <vt:lpstr>PowerPoint Presentation</vt:lpstr>
      <vt:lpstr>Hyperparameters tuning in practice Pandas vs Caviar</vt:lpstr>
      <vt:lpstr>Re-test hyperparameters occasionally</vt:lpstr>
      <vt:lpstr>Hyperparameters tuning in practice Pandas vs Caviar</vt:lpstr>
      <vt:lpstr>Babysitting one model</vt:lpstr>
      <vt:lpstr>Batch Normalization</vt:lpstr>
      <vt:lpstr>Normalizing inputs to speed up learning  </vt:lpstr>
      <vt:lpstr>Normalizing inputs to speed up learning  </vt:lpstr>
      <vt:lpstr>Normalizing inputs to speed up learning  </vt:lpstr>
      <vt:lpstr>Implementing Batch Norm</vt:lpstr>
      <vt:lpstr>Batch Normalization</vt:lpstr>
      <vt:lpstr>Adding Batch Norm to a network</vt:lpstr>
      <vt:lpstr>Implementing gradient descent</vt:lpstr>
      <vt:lpstr>Batch Normalization</vt:lpstr>
      <vt:lpstr>Why does Batch Norm work?</vt:lpstr>
      <vt:lpstr>Batch Norm as regularization</vt:lpstr>
      <vt:lpstr>PowerPoint Presentation</vt:lpstr>
      <vt:lpstr>PowerPoint Presentation</vt:lpstr>
      <vt:lpstr>Multi-class classification</vt:lpstr>
      <vt:lpstr>Softmax regression</vt:lpstr>
      <vt:lpstr>Recognizing cats, dogs, and baby chicks</vt:lpstr>
      <vt:lpstr>Recognizing cats, dogs, and baby chicks</vt:lpstr>
      <vt:lpstr>Recognizing cats, dogs, and baby chicks</vt:lpstr>
      <vt:lpstr>Recognizing cats, dogs, and baby chicks</vt:lpstr>
      <vt:lpstr>Recognizing cats, dogs, and baby chicks</vt:lpstr>
      <vt:lpstr>PowerPoint Presentation</vt:lpstr>
      <vt:lpstr>Softmax examples</vt:lpstr>
      <vt:lpstr>Softmax examples</vt:lpstr>
      <vt:lpstr>Multi-class classification</vt:lpstr>
      <vt:lpstr>Training a Softmax Classifier</vt:lpstr>
      <vt:lpstr>Programming Frameworks</vt:lpstr>
      <vt:lpstr>Deep learning frameworks</vt:lpstr>
      <vt:lpstr>Programming Frameworks</vt:lpstr>
      <vt:lpstr>TensorFlow</vt:lpstr>
      <vt:lpstr>TensorFlow</vt:lpstr>
      <vt:lpstr>TensorFlow</vt:lpstr>
      <vt:lpstr>TensorFlow</vt:lpstr>
      <vt:lpstr>TensorFlow</vt:lpstr>
      <vt:lpstr>TensorFlow</vt:lpstr>
      <vt:lpstr>TensorFlow</vt:lpstr>
      <vt:lpstr>TensorFlow</vt:lpstr>
      <vt:lpstr>TensorFlow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 parameter tuning </dc:title>
  <cp:lastModifiedBy>Phạm Trọng Nghĩa</cp:lastModifiedBy>
  <cp:revision>131</cp:revision>
  <dcterms:created xsi:type="dcterms:W3CDTF">2023-02-01T02:49:35Z</dcterms:created>
  <dcterms:modified xsi:type="dcterms:W3CDTF">2023-12-14T10:40:04Z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2023-02-01T00:00:00Z</vt:filetime>
  </property>
  <property fmtid="{D5CDD505-2E9C-101B-9397-08002B2CF9AE}" pid="3" name="LastSaved">
    <vt:filetime>2023-02-01T00:00:00Z</vt:filetime>
  </property>
</Properties>
</file>