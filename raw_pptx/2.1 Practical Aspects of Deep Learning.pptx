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comments/modernComment_101_0.xml" ContentType="application/vnd.ms-powerpoint.comments+xml"/>
  <Override PartName="/ppt/comments/modernComment_102_0.xml" ContentType="application/vnd.ms-powerpoint.comments+xml"/>
  <Override PartName="/ppt/comments/modernComment_128_A617B6CE.xml" ContentType="application/vnd.ms-powerpoint.comments+xml"/>
  <Override PartName="/ppt/comments/modernComment_129_8EF2113B.xml" ContentType="application/vnd.ms-powerpoint.comments+xml"/>
  <Override PartName="/ppt/comments/modernComment_12D_16FC98CD.xml" ContentType="application/vnd.ms-powerpoint.comments+xml"/>
  <Override PartName="/ppt/comments/modernComment_10A_0.xml" ContentType="application/vnd.ms-powerpoint.comments+xml"/>
  <Override PartName="/ppt/comments/modernComment_141_BC64344B.xml" ContentType="application/vnd.ms-powerpoint.comments+xml"/>
  <Override PartName="/ppt/comments/modernComment_143_1D562C36.xml" ContentType="application/vnd.ms-powerpoint.comments+xml"/>
  <Override PartName="/ppt/comments/modernComment_127_0.xml" ContentType="application/vnd.ms-powerpoint.comments+xml"/>
  <Override PartName="/ppt/authors.xml" ContentType="application/vnd.ms-powerpoint.author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6"/>
  </p:notesMasterIdLst>
  <p:sldIdLst>
    <p:sldId id="256" r:id="rId2"/>
    <p:sldId id="338" r:id="rId3"/>
    <p:sldId id="257" r:id="rId4"/>
    <p:sldId id="258" r:id="rId5"/>
    <p:sldId id="296" r:id="rId6"/>
    <p:sldId id="297" r:id="rId7"/>
    <p:sldId id="259" r:id="rId8"/>
    <p:sldId id="260" r:id="rId9"/>
    <p:sldId id="261" r:id="rId10"/>
    <p:sldId id="298" r:id="rId11"/>
    <p:sldId id="299" r:id="rId12"/>
    <p:sldId id="264" r:id="rId13"/>
    <p:sldId id="300" r:id="rId14"/>
    <p:sldId id="262" r:id="rId15"/>
    <p:sldId id="263" r:id="rId16"/>
    <p:sldId id="301" r:id="rId17"/>
    <p:sldId id="265" r:id="rId18"/>
    <p:sldId id="266" r:id="rId19"/>
    <p:sldId id="303" r:id="rId20"/>
    <p:sldId id="302" r:id="rId21"/>
    <p:sldId id="267" r:id="rId22"/>
    <p:sldId id="269" r:id="rId23"/>
    <p:sldId id="305" r:id="rId24"/>
    <p:sldId id="304" r:id="rId25"/>
    <p:sldId id="307" r:id="rId26"/>
    <p:sldId id="270" r:id="rId27"/>
    <p:sldId id="330" r:id="rId28"/>
    <p:sldId id="308" r:id="rId29"/>
    <p:sldId id="271" r:id="rId30"/>
    <p:sldId id="272" r:id="rId31"/>
    <p:sldId id="273" r:id="rId32"/>
    <p:sldId id="310" r:id="rId33"/>
    <p:sldId id="311" r:id="rId34"/>
    <p:sldId id="274" r:id="rId35"/>
    <p:sldId id="275" r:id="rId36"/>
    <p:sldId id="276" r:id="rId37"/>
    <p:sldId id="277" r:id="rId38"/>
    <p:sldId id="278" r:id="rId39"/>
    <p:sldId id="312" r:id="rId40"/>
    <p:sldId id="313" r:id="rId41"/>
    <p:sldId id="279" r:id="rId42"/>
    <p:sldId id="314" r:id="rId43"/>
    <p:sldId id="315" r:id="rId44"/>
    <p:sldId id="316" r:id="rId45"/>
    <p:sldId id="282" r:id="rId46"/>
    <p:sldId id="317" r:id="rId47"/>
    <p:sldId id="320" r:id="rId48"/>
    <p:sldId id="283" r:id="rId49"/>
    <p:sldId id="318" r:id="rId50"/>
    <p:sldId id="319" r:id="rId51"/>
    <p:sldId id="341" r:id="rId52"/>
    <p:sldId id="284" r:id="rId53"/>
    <p:sldId id="285" r:id="rId54"/>
    <p:sldId id="321" r:id="rId55"/>
    <p:sldId id="286" r:id="rId56"/>
    <p:sldId id="322" r:id="rId57"/>
    <p:sldId id="325" r:id="rId58"/>
    <p:sldId id="323" r:id="rId59"/>
    <p:sldId id="336" r:id="rId60"/>
    <p:sldId id="331" r:id="rId61"/>
    <p:sldId id="324" r:id="rId62"/>
    <p:sldId id="288" r:id="rId63"/>
    <p:sldId id="332" r:id="rId64"/>
    <p:sldId id="326" r:id="rId65"/>
    <p:sldId id="333" r:id="rId66"/>
    <p:sldId id="334" r:id="rId67"/>
    <p:sldId id="291" r:id="rId68"/>
    <p:sldId id="328" r:id="rId69"/>
    <p:sldId id="329" r:id="rId70"/>
    <p:sldId id="293" r:id="rId71"/>
    <p:sldId id="294" r:id="rId72"/>
    <p:sldId id="295" r:id="rId73"/>
    <p:sldId id="339" r:id="rId74"/>
    <p:sldId id="342" r:id="rId75"/>
  </p:sldIdLst>
  <p:sldSz cx="12192000" cy="6858000"/>
  <p:notesSz cx="12192000" cy="6858000"/>
  <p:embeddedFontLst>
    <p:embeddedFont>
      <p:font typeface="Century Schoolbook" panose="02040604050505020304" pitchFamily="18" charset="0"/>
      <p:regular r:id="rId77"/>
      <p:bold r:id="rId78"/>
      <p:italic r:id="rId79"/>
      <p:boldItalic r:id="rId80"/>
    </p:embeddedFont>
    <p:embeddedFont>
      <p:font typeface="Calibri" panose="020F0502020204030204" pitchFamily="34" charset="0"/>
      <p:regular r:id="rId81"/>
      <p:bold r:id="rId82"/>
      <p:italic r:id="rId83"/>
      <p:boldItalic r:id="rId84"/>
    </p:embeddedFont>
    <p:embeddedFont>
      <p:font typeface="Roboto" panose="020B0604020202020204" charset="0"/>
      <p:regular r:id="rId85"/>
      <p:bold r:id="rId86"/>
      <p:italic r:id="rId87"/>
      <p:boldItalic r:id="rId88"/>
    </p:embeddedFont>
    <p:embeddedFont>
      <p:font typeface="Cascadia Code Light" panose="020B0609020000020004" pitchFamily="49" charset="0"/>
      <p:regular r:id="rId89"/>
    </p:embeddedFont>
    <p:embeddedFont>
      <p:font typeface="Cambria Math" panose="02040503050406030204" pitchFamily="18" charset="0"/>
      <p:regular r:id="rId90"/>
    </p:embeddedFont>
    <p:embeddedFont>
      <p:font typeface="Century Gothic" panose="020B0502020202020204" pitchFamily="34" charset="0"/>
      <p:regular r:id="rId91"/>
      <p:bold r:id="rId92"/>
      <p:italic r:id="rId93"/>
      <p:boldItalic r:id="rId9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iI/hthcjw4gUQsraqnKl/3LfZmx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5C51C-FA6F-4F6E-2D68-9C3AB0E9D3AD}" v="12" dt="2023-04-28T09:55:43.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638" autoAdjust="0"/>
  </p:normalViewPr>
  <p:slideViewPr>
    <p:cSldViewPr snapToGrid="0">
      <p:cViewPr varScale="1">
        <p:scale>
          <a:sx n="87" d="100"/>
          <a:sy n="87" d="100"/>
        </p:scale>
        <p:origin x="1476" y="90"/>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3.fntdata"/><Relationship Id="rId102" Type="http://schemas.microsoft.com/office/2018/10/relationships/authors" Target="authors.xml"/><Relationship Id="rId5" Type="http://schemas.openxmlformats.org/officeDocument/2006/relationships/slide" Target="slides/slide4.xml"/><Relationship Id="rId90"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1.fntdata"/><Relationship Id="rId61" Type="http://schemas.openxmlformats.org/officeDocument/2006/relationships/slide" Target="slides/slide60.xml"/><Relationship Id="rId82" Type="http://schemas.openxmlformats.org/officeDocument/2006/relationships/font" Target="fonts/font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fntdata"/><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7.fntdata"/><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n Thi Thu Hong (FE FPTU DN)" userId="S::hongptt11@fe.edu.vn::4d36b424-e1a9-4834-b8a6-b266a7cdd1c0" providerId="AD" clId="Web-{0AF5C51C-FA6F-4F6E-2D68-9C3AB0E9D3AD}"/>
    <pc:docChg chg="mod">
      <pc:chgData name="Phan Thi Thu Hong (FE FPTU DN)" userId="S::hongptt11@fe.edu.vn::4d36b424-e1a9-4834-b8a6-b266a7cdd1c0" providerId="AD" clId="Web-{0AF5C51C-FA6F-4F6E-2D68-9C3AB0E9D3AD}" dt="2023-04-28T09:55:43.511" v="11"/>
      <pc:docMkLst>
        <pc:docMk/>
      </pc:docMkLst>
      <pc:sldChg chg="addCm">
        <pc:chgData name="Phan Thi Thu Hong (FE FPTU DN)" userId="S::hongptt11@fe.edu.vn::4d36b424-e1a9-4834-b8a6-b266a7cdd1c0" providerId="AD" clId="Web-{0AF5C51C-FA6F-4F6E-2D68-9C3AB0E9D3AD}" dt="2023-04-28T08:37:42.181" v="5"/>
        <pc:sldMkLst>
          <pc:docMk/>
          <pc:sldMk cId="0" sldId="25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8:37:42.181" v="5"/>
              <pc2:cmMkLst xmlns:pc2="http://schemas.microsoft.com/office/powerpoint/2019/9/main/command">
                <pc:docMk/>
                <pc:sldMk cId="0" sldId="257"/>
                <pc2:cmMk id="{6CED84AC-2A56-4A80-A62C-8C9E98DC154B}"/>
              </pc2:cmMkLst>
            </pc226:cmChg>
          </p:ext>
        </pc:extLst>
      </pc:sldChg>
      <pc:sldChg chg="addCm modCm">
        <pc:chgData name="Phan Thi Thu Hong (FE FPTU DN)" userId="S::hongptt11@fe.edu.vn::4d36b424-e1a9-4834-b8a6-b266a7cdd1c0" providerId="AD" clId="Web-{0AF5C51C-FA6F-4F6E-2D68-9C3AB0E9D3AD}" dt="2023-04-28T08:33:30.050" v="2"/>
        <pc:sldMkLst>
          <pc:docMk/>
          <pc:sldMk cId="0" sldId="258"/>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8:33:30.050" v="2"/>
              <pc2:cmMkLst xmlns:pc2="http://schemas.microsoft.com/office/powerpoint/2019/9/main/command">
                <pc:docMk/>
                <pc:sldMk cId="0" sldId="258"/>
                <pc2:cmMk id="{2C63EFED-ED81-411A-959A-C275F07CB5FD}"/>
              </pc2:cmMkLst>
              <pc226:cmRplyChg chg="add">
                <pc226:chgData name="Phan Thi Thu Hong (FE FPTU DN)" userId="S::hongptt11@fe.edu.vn::4d36b424-e1a9-4834-b8a6-b266a7cdd1c0" providerId="AD" clId="Web-{0AF5C51C-FA6F-4F6E-2D68-9C3AB0E9D3AD}" dt="2023-04-28T08:33:30.050" v="2"/>
                <pc2:cmRplyMkLst xmlns:pc2="http://schemas.microsoft.com/office/powerpoint/2019/9/main/command">
                  <pc:docMk/>
                  <pc:sldMk cId="0" sldId="258"/>
                  <pc2:cmMk id="{2C63EFED-ED81-411A-959A-C275F07CB5FD}"/>
                  <pc2:cmRplyMk id="{0AFA58B6-4DD5-4173-BA0C-A41FBD7CEE47}"/>
                </pc2:cmRplyMkLst>
              </pc226:cmRplyChg>
            </pc226:cmChg>
          </p:ext>
        </pc:extLst>
      </pc:sldChg>
      <pc:sldChg chg="addCm">
        <pc:chgData name="Phan Thi Thu Hong (FE FPTU DN)" userId="S::hongptt11@fe.edu.vn::4d36b424-e1a9-4834-b8a6-b266a7cdd1c0" providerId="AD" clId="Web-{0AF5C51C-FA6F-4F6E-2D68-9C3AB0E9D3AD}" dt="2023-04-28T09:23:46.591" v="7"/>
        <pc:sldMkLst>
          <pc:docMk/>
          <pc:sldMk cId="0" sldId="26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23:46.591" v="7"/>
              <pc2:cmMkLst xmlns:pc2="http://schemas.microsoft.com/office/powerpoint/2019/9/main/command">
                <pc:docMk/>
                <pc:sldMk cId="0" sldId="266"/>
                <pc2:cmMk id="{A1F80DA9-2823-409C-BF4C-32124584EF0D}"/>
              </pc2:cmMkLst>
            </pc226:cmChg>
          </p:ext>
        </pc:extLst>
      </pc:sldChg>
      <pc:sldChg chg="addCm">
        <pc:chgData name="Phan Thi Thu Hong (FE FPTU DN)" userId="S::hongptt11@fe.edu.vn::4d36b424-e1a9-4834-b8a6-b266a7cdd1c0" providerId="AD" clId="Web-{0AF5C51C-FA6F-4F6E-2D68-9C3AB0E9D3AD}" dt="2023-04-28T09:55:05.729" v="10"/>
        <pc:sldMkLst>
          <pc:docMk/>
          <pc:sldMk cId="0" sldId="292"/>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55:05.729" v="10"/>
              <pc2:cmMkLst xmlns:pc2="http://schemas.microsoft.com/office/powerpoint/2019/9/main/command">
                <pc:docMk/>
                <pc:sldMk cId="0" sldId="292"/>
                <pc2:cmMk id="{C934F4B6-B88D-406C-A8F6-E34382939A20}"/>
              </pc2:cmMkLst>
            </pc226:cmChg>
          </p:ext>
        </pc:extLst>
      </pc:sldChg>
      <pc:sldChg chg="addCm">
        <pc:chgData name="Phan Thi Thu Hong (FE FPTU DN)" userId="S::hongptt11@fe.edu.vn::4d36b424-e1a9-4834-b8a6-b266a7cdd1c0" providerId="AD" clId="Web-{0AF5C51C-FA6F-4F6E-2D68-9C3AB0E9D3AD}" dt="2023-04-28T09:55:43.511" v="11"/>
        <pc:sldMkLst>
          <pc:docMk/>
          <pc:sldMk cId="0" sldId="295"/>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55:43.511" v="11"/>
              <pc2:cmMkLst xmlns:pc2="http://schemas.microsoft.com/office/powerpoint/2019/9/main/command">
                <pc:docMk/>
                <pc:sldMk cId="0" sldId="295"/>
                <pc2:cmMk id="{98718F3C-A0F2-4BD1-A517-B4EF2477966F}"/>
              </pc2:cmMkLst>
            </pc226:cmChg>
          </p:ext>
        </pc:extLst>
      </pc:sldChg>
      <pc:sldChg chg="addCm">
        <pc:chgData name="Phan Thi Thu Hong (FE FPTU DN)" userId="S::hongptt11@fe.edu.vn::4d36b424-e1a9-4834-b8a6-b266a7cdd1c0" providerId="AD" clId="Web-{0AF5C51C-FA6F-4F6E-2D68-9C3AB0E9D3AD}" dt="2023-04-28T08:34:50.005" v="3"/>
        <pc:sldMkLst>
          <pc:docMk/>
          <pc:sldMk cId="2786571982" sldId="29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8:34:50.005" v="3"/>
              <pc2:cmMkLst xmlns:pc2="http://schemas.microsoft.com/office/powerpoint/2019/9/main/command">
                <pc:docMk/>
                <pc:sldMk cId="2786571982" sldId="296"/>
                <pc2:cmMk id="{AFCD616D-44A1-4CA2-BC3D-7C80E0A1DF11}"/>
              </pc2:cmMkLst>
            </pc226:cmChg>
          </p:ext>
        </pc:extLst>
      </pc:sldChg>
      <pc:sldChg chg="addCm">
        <pc:chgData name="Phan Thi Thu Hong (FE FPTU DN)" userId="S::hongptt11@fe.edu.vn::4d36b424-e1a9-4834-b8a6-b266a7cdd1c0" providerId="AD" clId="Web-{0AF5C51C-FA6F-4F6E-2D68-9C3AB0E9D3AD}" dt="2023-04-28T08:35:39.116" v="4"/>
        <pc:sldMkLst>
          <pc:docMk/>
          <pc:sldMk cId="2398228795" sldId="29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8:35:39.116" v="4"/>
              <pc2:cmMkLst xmlns:pc2="http://schemas.microsoft.com/office/powerpoint/2019/9/main/command">
                <pc:docMk/>
                <pc:sldMk cId="2398228795" sldId="297"/>
                <pc2:cmMk id="{FABFE601-75BD-4F57-9F4E-EE591FAD160B}"/>
              </pc2:cmMkLst>
            </pc226:cmChg>
          </p:ext>
        </pc:extLst>
      </pc:sldChg>
      <pc:sldChg chg="addCm">
        <pc:chgData name="Phan Thi Thu Hong (FE FPTU DN)" userId="S::hongptt11@fe.edu.vn::4d36b424-e1a9-4834-b8a6-b266a7cdd1c0" providerId="AD" clId="Web-{0AF5C51C-FA6F-4F6E-2D68-9C3AB0E9D3AD}" dt="2023-04-28T09:12:34.747" v="6"/>
        <pc:sldMkLst>
          <pc:docMk/>
          <pc:sldMk cId="385652941" sldId="30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12:34.747" v="6"/>
              <pc2:cmMkLst xmlns:pc2="http://schemas.microsoft.com/office/powerpoint/2019/9/main/command">
                <pc:docMk/>
                <pc:sldMk cId="385652941" sldId="301"/>
                <pc2:cmMk id="{C4AC0CE0-555F-42A8-B923-87ADFD5247A6}"/>
              </pc2:cmMkLst>
            </pc226:cmChg>
          </p:ext>
        </pc:extLst>
      </pc:sldChg>
      <pc:sldChg chg="addCm">
        <pc:chgData name="Phan Thi Thu Hong (FE FPTU DN)" userId="S::hongptt11@fe.edu.vn::4d36b424-e1a9-4834-b8a6-b266a7cdd1c0" providerId="AD" clId="Web-{0AF5C51C-FA6F-4F6E-2D68-9C3AB0E9D3AD}" dt="2023-04-28T09:51:36.927" v="8"/>
        <pc:sldMkLst>
          <pc:docMk/>
          <pc:sldMk cId="3160683595" sldId="321"/>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51:36.927" v="8"/>
              <pc2:cmMkLst xmlns:pc2="http://schemas.microsoft.com/office/powerpoint/2019/9/main/command">
                <pc:docMk/>
                <pc:sldMk cId="3160683595" sldId="321"/>
                <pc2:cmMk id="{247DA2FB-5018-4643-B3E0-C54824A633BD}"/>
              </pc2:cmMkLst>
            </pc226:cmChg>
          </p:ext>
        </pc:extLst>
      </pc:sldChg>
      <pc:sldChg chg="addCm">
        <pc:chgData name="Phan Thi Thu Hong (FE FPTU DN)" userId="S::hongptt11@fe.edu.vn::4d36b424-e1a9-4834-b8a6-b266a7cdd1c0" providerId="AD" clId="Web-{0AF5C51C-FA6F-4F6E-2D68-9C3AB0E9D3AD}" dt="2023-04-28T09:52:44.710" v="9"/>
        <pc:sldMkLst>
          <pc:docMk/>
          <pc:sldMk cId="492186678" sldId="323"/>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0AF5C51C-FA6F-4F6E-2D68-9C3AB0E9D3AD}" dt="2023-04-28T09:52:44.710" v="9"/>
              <pc2:cmMkLst xmlns:pc2="http://schemas.microsoft.com/office/powerpoint/2019/9/main/command">
                <pc:docMk/>
                <pc:sldMk cId="492186678" sldId="323"/>
                <pc2:cmMk id="{0F415314-B8A9-46E5-B800-7B45B273F66C}"/>
              </pc2:cmMkLst>
            </pc226:cmChg>
          </p:ext>
        </pc:extLst>
      </pc:sldChg>
    </pc:docChg>
  </pc:docChgLst>
</pc:chgInfo>
</file>

<file path=ppt/comments/modernComment_10A_0.xml><?xml version="1.0" encoding="utf-8"?>
<p188:cmLst xmlns:a="http://schemas.openxmlformats.org/drawingml/2006/main" xmlns:r="http://schemas.openxmlformats.org/officeDocument/2006/relationships" xmlns:p188="http://schemas.microsoft.com/office/powerpoint/2018/8/main">
  <p188:cm id="{A1F80DA9-2823-409C-BF4C-32124584EF0D}" authorId="{F2615FEF-C003-BDE4-A30D-DBA9560B8F91}" created="2023-04-28T09:23:46.591">
    <ac:txMkLst xmlns:ac="http://schemas.microsoft.com/office/drawing/2013/main/command">
      <pc:docMk xmlns:pc="http://schemas.microsoft.com/office/powerpoint/2013/main/command"/>
      <pc:sldMk xmlns:pc="http://schemas.microsoft.com/office/powerpoint/2013/main/command" cId="0" sldId="266"/>
      <ac:spMk id="2" creationId="{00000000-0000-0000-0000-000000000000}"/>
      <ac:txMk cp="731" len="202">
        <ac:context len="934" hash="2611199668"/>
      </ac:txMk>
    </ac:txMkLst>
    <p188:pos x="8927910" y="4640238"/>
    <p188:txBody>
      <a:bodyPr/>
      <a:lstStyle/>
      <a:p>
        <a:r>
          <a:rPr lang="vi-VN"/>
          <a:t>[@Ngo Dang Ha An (FE FPTU HCM)] Nên rút gọn các  câu này anh nhé
 </a:t>
        </a:r>
      </a:p>
    </p188:txBody>
  </p188:cm>
</p188:cmLst>
</file>

<file path=ppt/comments/modernComment_12D_16FC98CD.xml><?xml version="1.0" encoding="utf-8"?>
<p188:cmLst xmlns:a="http://schemas.openxmlformats.org/drawingml/2006/main" xmlns:r="http://schemas.openxmlformats.org/officeDocument/2006/relationships" xmlns:p188="http://schemas.microsoft.com/office/powerpoint/2018/8/main">
  <p188:cm id="{C4AC0CE0-555F-42A8-B923-87ADFD5247A6}" authorId="{F2615FEF-C003-BDE4-A30D-DBA9560B8F91}" created="2023-04-28T09:12:34.747">
    <pc:sldMkLst xmlns:pc="http://schemas.microsoft.com/office/powerpoint/2013/main/command">
      <pc:docMk/>
      <pc:sldMk cId="385652941" sldId="301"/>
    </pc:sldMkLst>
    <p188:txBody>
      <a:bodyPr/>
      <a:lstStyle/>
      <a:p>
        <a:r>
          <a:rPr lang="vi-VN"/>
          <a:t>[@Ngo Dang Ha An (FE FPTU HCM)]  nên rút gọn lại anh ạ</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6CED84AC-2A56-4A80-A62C-8C9E98DC154B}" authorId="{F2615FEF-C003-BDE4-A30D-DBA9560B8F91}" created="2023-04-28T08:37:42.181">
    <pc:sldMkLst xmlns:pc="http://schemas.microsoft.com/office/powerpoint/2013/main/command">
      <pc:docMk/>
      <pc:sldMk cId="0" sldId="257"/>
    </pc:sldMkLst>
    <p188:txBody>
      <a:bodyPr/>
      <a:lstStyle/>
      <a:p>
        <a:r>
          <a:rPr lang="vi-VN"/>
          <a:t>[@Ngo Dang Ha An (FE FPTU HCM)] , [@Nguyen Dinh Chi (FE Ban NCPT)]  Theo em phần này cần nêu bật được vì sao ta cần chia 1 datasset thành train/dev/test set</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2C63EFED-ED81-411A-959A-C275F07CB5FD}" authorId="{F2615FEF-C003-BDE4-A30D-DBA9560B8F91}" created="2023-04-28T08:31:59.610">
    <pc:sldMkLst xmlns:pc="http://schemas.microsoft.com/office/powerpoint/2013/main/command">
      <pc:docMk/>
      <pc:sldMk cId="0" sldId="258"/>
    </pc:sldMkLst>
    <p188:replyLst>
      <p188:reply id="{0AFA58B6-4DD5-4173-BA0C-A41FBD7CEE47}" authorId="{F2615FEF-C003-BDE4-A30D-DBA9560B8F91}" created="2023-04-28T08:33:30.050">
        <p188:txBody>
          <a:bodyPr/>
          <a:lstStyle/>
          <a:p>
            <a:r>
              <a:rPr lang="vi-VN"/>
              <a:t>Khi nhắc đến hyperparameter thì GV sẽ giải thích thêm đó là quá trình try it out ở câu sau</a:t>
            </a:r>
          </a:p>
        </p188:txBody>
      </p188:reply>
    </p188:replyLst>
    <p188:txBody>
      <a:bodyPr/>
      <a:lstStyle/>
      <a:p>
        <a:r>
          <a:rPr lang="vi-VN"/>
          <a:t>[@Ngo Dang Ha An (FE FPTU HCM)] , [@Nguyen Dinh Chi (FE Ban NCPT)] 
Slide thế này nhiều chữ quá và không làm nổi bật nội dung học.  Nên viết những ý chính, ví dụ ở ý 2 có thể trình bày: Hyperparameter of a NN:
- Number of layers
- Number of hidden units
- Learning rate
- Activation functions
Tất cả các ý của slides này anh copy xuống comment để khi dạy GV và SV có thể đọc</a:t>
        </a:r>
      </a:p>
    </p188:txBody>
  </p188:cm>
</p188:cmLst>
</file>

<file path=ppt/comments/modernComment_127_0.xml><?xml version="1.0" encoding="utf-8"?>
<p188:cmLst xmlns:a="http://schemas.openxmlformats.org/drawingml/2006/main" xmlns:r="http://schemas.openxmlformats.org/officeDocument/2006/relationships" xmlns:p188="http://schemas.microsoft.com/office/powerpoint/2018/8/main">
  <p188:cm id="{98718F3C-A0F2-4BD1-A517-B4EF2477966F}" authorId="{F2615FEF-C003-BDE4-A30D-DBA9560B8F91}" created="2023-04-28T09:55:43.511">
    <pc:sldMkLst xmlns:pc="http://schemas.microsoft.com/office/powerpoint/2013/main/command">
      <pc:docMk/>
      <pc:sldMk cId="0" sldId="295"/>
    </pc:sldMkLst>
    <p188:txBody>
      <a:bodyPr/>
      <a:lstStyle/>
      <a:p>
        <a:r>
          <a:rPr lang="vi-VN"/>
          <a:t>[@Ngo Dang Ha An (FE FPTU HCM)] , [@Nguyen Dinh Chi (FE Ban NCPT)] Bổ sung objective và summary của mỗi phần</a:t>
        </a:r>
      </a:p>
    </p188:txBody>
  </p188:cm>
</p188:cmLst>
</file>

<file path=ppt/comments/modernComment_128_A617B6CE.xml><?xml version="1.0" encoding="utf-8"?>
<p188:cmLst xmlns:a="http://schemas.openxmlformats.org/drawingml/2006/main" xmlns:r="http://schemas.openxmlformats.org/officeDocument/2006/relationships" xmlns:p188="http://schemas.microsoft.com/office/powerpoint/2018/8/main">
  <p188:cm id="{AFCD616D-44A1-4CA2-BC3D-7C80E0A1DF11}" authorId="{F2615FEF-C003-BDE4-A30D-DBA9560B8F91}" created="2023-04-28T08:34:50.005">
    <pc:sldMkLst xmlns:pc="http://schemas.microsoft.com/office/powerpoint/2013/main/command">
      <pc:docMk/>
      <pc:sldMk cId="2786571982" sldId="296"/>
    </pc:sldMkLst>
    <p188:txBody>
      <a:bodyPr/>
      <a:lstStyle/>
      <a:p>
        <a:r>
          <a:rPr lang="vi-VN"/>
          <a:t>[@Nguyen Dinh Chi (FE Ban NCPT)] , [@Ngo Dang Ha An (FE FPTU HCM)]  Diễn giải toàn bộ slide trước chính là slide này</a:t>
        </a:r>
      </a:p>
    </p188:txBody>
  </p188:cm>
</p188:cmLst>
</file>

<file path=ppt/comments/modernComment_129_8EF2113B.xml><?xml version="1.0" encoding="utf-8"?>
<p188:cmLst xmlns:a="http://schemas.openxmlformats.org/drawingml/2006/main" xmlns:r="http://schemas.openxmlformats.org/officeDocument/2006/relationships" xmlns:p188="http://schemas.microsoft.com/office/powerpoint/2018/8/main">
  <p188:cm id="{FABFE601-75BD-4F57-9F4E-EE591FAD160B}" authorId="{F2615FEF-C003-BDE4-A30D-DBA9560B8F91}" created="2023-04-28T08:35:39.116">
    <pc:sldMkLst xmlns:pc="http://schemas.microsoft.com/office/powerpoint/2013/main/command">
      <pc:docMk/>
      <pc:sldMk cId="2398228795" sldId="297"/>
    </pc:sldMkLst>
    <p188:txBody>
      <a:bodyPr/>
      <a:lstStyle/>
      <a:p>
        <a:r>
          <a:rPr lang="vi-VN"/>
          <a:t>[@Nguyen Dinh Chi (FE Ban NCPT)] , [@Ngo Dang Ha An (FE FPTU HCM)]  Tương tự như slides trước anh nên summary lại thành các ý chính thôi, không nên viết thành đoạn thế này</a:t>
        </a:r>
      </a:p>
    </p188:txBody>
  </p188:cm>
</p188:cmLst>
</file>

<file path=ppt/comments/modernComment_141_BC64344B.xml><?xml version="1.0" encoding="utf-8"?>
<p188:cmLst xmlns:a="http://schemas.openxmlformats.org/drawingml/2006/main" xmlns:r="http://schemas.openxmlformats.org/officeDocument/2006/relationships" xmlns:p188="http://schemas.microsoft.com/office/powerpoint/2018/8/main">
  <p188:cm id="{247DA2FB-5018-4643-B3E0-C54824A633BD}" authorId="{F2615FEF-C003-BDE4-A30D-DBA9560B8F91}" created="2023-04-28T09:51:36.927">
    <pc:sldMkLst xmlns:pc="http://schemas.microsoft.com/office/powerpoint/2013/main/command">
      <pc:docMk/>
      <pc:sldMk cId="3160683595" sldId="321"/>
    </pc:sldMkLst>
    <p188:txBody>
      <a:bodyPr/>
      <a:lstStyle/>
      <a:p>
        <a:r>
          <a:rPr lang="vi-VN"/>
          <a:t>[@Ngo Dang Ha An (FE FPTU HCM)] , [@Nguyen Dinh Chi (FE Ban NCPT)]  Tất cả các slides nhiều chữ anh nên rút gọn lại thành 1-2 câu cho người đọc dễ focus.</a:t>
        </a:r>
      </a:p>
    </p188:txBody>
  </p188:cm>
</p188:cmLst>
</file>

<file path=ppt/comments/modernComment_143_1D562C36.xml><?xml version="1.0" encoding="utf-8"?>
<p188:cmLst xmlns:a="http://schemas.openxmlformats.org/drawingml/2006/main" xmlns:r="http://schemas.openxmlformats.org/officeDocument/2006/relationships" xmlns:p188="http://schemas.microsoft.com/office/powerpoint/2018/8/main">
  <p188:cm id="{0F415314-B8A9-46E5-B800-7B45B273F66C}" authorId="{F2615FEF-C003-BDE4-A30D-DBA9560B8F91}" created="2023-04-28T09:52:44.710">
    <pc:sldMkLst xmlns:pc="http://schemas.microsoft.com/office/powerpoint/2013/main/command">
      <pc:docMk/>
      <pc:sldMk cId="492186678" sldId="323"/>
    </pc:sldMkLst>
    <p188:txBody>
      <a:bodyPr/>
      <a:lstStyle/>
      <a:p>
        <a:r>
          <a:rPr lang="vi-VN"/>
          <a:t>[@Ngo Dang Ha An (FE FPTU HCM)] , [@Nguyen Dinh Chi (FE Ban NCPT)] Rút gọn slides, và trong trường hợp không phải single neuron thì khởi tạo trọng số nên thế nào?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5283200" cy="3444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6905625" y="0"/>
            <a:ext cx="5283200" cy="3444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5283200" cy="3444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21c9f538093_0_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g21c9f538093_0_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g21c9f538093_0_0: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21c9f538093_0_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g21c9f538093_0_0:notes"/>
          <p:cNvSpPr txBox="1">
            <a:spLocks noGrp="1"/>
          </p:cNvSpPr>
          <p:nvPr>
            <p:ph type="body" idx="1"/>
          </p:nvPr>
        </p:nvSpPr>
        <p:spPr>
          <a:xfrm>
            <a:off x="1219200" y="3300413"/>
            <a:ext cx="9753600" cy="27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 name="Google Shape;46;g21c9f538093_0_0:notes"/>
          <p:cNvSpPr txBox="1">
            <a:spLocks noGrp="1"/>
          </p:cNvSpPr>
          <p:nvPr>
            <p:ph type="sldNum" idx="12"/>
          </p:nvPr>
        </p:nvSpPr>
        <p:spPr>
          <a:xfrm>
            <a:off x="6905625" y="6513513"/>
            <a:ext cx="52833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extLst>
      <p:ext uri="{BB962C8B-B14F-4D97-AF65-F5344CB8AC3E}">
        <p14:creationId xmlns:p14="http://schemas.microsoft.com/office/powerpoint/2010/main" val="1563516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 name="Google Shape;54;p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Deep learning is an iterative process and that making good choices in setting up your training, development, and test sets can make a huge difference in helping you quickly find a good high-performance neural network.</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When training a neural network, you have to make a lot of decisions such as how many </a:t>
            </a:r>
            <a:r>
              <a:rPr lang="en-US" sz="1200" b="1" i="0" u="none" strike="noStrike" cap="none" dirty="0" smtClean="0">
                <a:solidFill>
                  <a:schemeClr val="dk1"/>
                </a:solidFill>
                <a:latin typeface="Calibri"/>
                <a:ea typeface="Century Schoolbook"/>
                <a:cs typeface="Century Schoolbook"/>
                <a:sym typeface="Century Schoolbook"/>
              </a:rPr>
              <a:t>layers</a:t>
            </a:r>
            <a:r>
              <a:rPr lang="en-US" sz="1200" b="0" i="0" u="none" strike="noStrike" cap="none" dirty="0" smtClean="0">
                <a:solidFill>
                  <a:schemeClr val="dk1"/>
                </a:solidFill>
                <a:latin typeface="Calibri"/>
                <a:ea typeface="Century Schoolbook"/>
                <a:cs typeface="Century Schoolbook"/>
                <a:sym typeface="Century Schoolbook"/>
              </a:rPr>
              <a:t> and </a:t>
            </a:r>
            <a:r>
              <a:rPr lang="en-US" sz="1200" b="1" i="0" u="none" strike="noStrike" cap="none" dirty="0" smtClean="0">
                <a:solidFill>
                  <a:schemeClr val="dk1"/>
                </a:solidFill>
                <a:latin typeface="Calibri"/>
                <a:ea typeface="Century Schoolbook"/>
                <a:cs typeface="Century Schoolbook"/>
                <a:sym typeface="Century Schoolbook"/>
              </a:rPr>
              <a:t>hidden units</a:t>
            </a:r>
            <a:r>
              <a:rPr lang="en-US" sz="1200" b="0" i="0" u="none" strike="noStrike" cap="none" dirty="0" smtClean="0">
                <a:solidFill>
                  <a:schemeClr val="dk1"/>
                </a:solidFill>
                <a:latin typeface="Calibri"/>
                <a:ea typeface="Century Schoolbook"/>
                <a:cs typeface="Century Schoolbook"/>
                <a:sym typeface="Century Schoolbook"/>
              </a:rPr>
              <a:t> your network should have, </a:t>
            </a:r>
            <a:r>
              <a:rPr lang="en-US" sz="1200" b="1" i="0" u="none" strike="noStrike" cap="none" dirty="0" smtClean="0">
                <a:solidFill>
                  <a:schemeClr val="dk1"/>
                </a:solidFill>
                <a:latin typeface="Calibri"/>
                <a:ea typeface="Century Schoolbook"/>
                <a:cs typeface="Century Schoolbook"/>
                <a:sym typeface="Century Schoolbook"/>
              </a:rPr>
              <a:t>the learning rate</a:t>
            </a:r>
            <a:r>
              <a:rPr lang="en-US" sz="1200" b="0" i="0" u="none" strike="noStrike" cap="none" dirty="0" smtClean="0">
                <a:solidFill>
                  <a:schemeClr val="dk1"/>
                </a:solidFill>
                <a:latin typeface="Calibri"/>
                <a:ea typeface="Century Schoolbook"/>
                <a:cs typeface="Century Schoolbook"/>
                <a:sym typeface="Century Schoolbook"/>
              </a:rPr>
              <a:t>, and </a:t>
            </a:r>
            <a:r>
              <a:rPr lang="en-US" sz="1200" b="1" i="0" u="none" strike="noStrike" cap="none" dirty="0" smtClean="0">
                <a:solidFill>
                  <a:schemeClr val="dk1"/>
                </a:solidFill>
                <a:latin typeface="Calibri"/>
                <a:ea typeface="Century Schoolbook"/>
                <a:cs typeface="Century Schoolbook"/>
                <a:sym typeface="Century Schoolbook"/>
              </a:rPr>
              <a:t>activation functions</a:t>
            </a:r>
            <a:r>
              <a:rPr lang="en-US" sz="1200" b="0" i="0" u="none" strike="noStrike" cap="none" dirty="0" smtClean="0">
                <a:solidFill>
                  <a:schemeClr val="dk1"/>
                </a:solidFill>
                <a:latin typeface="Calibri"/>
                <a:ea typeface="Century Schoolbook"/>
                <a:cs typeface="Century Schoolbook"/>
                <a:sym typeface="Century Schoolbook"/>
              </a:rPr>
              <a:t>. However, it is almost impossible to correctly guess the right values for all of these on your first attempt. Therefore, applied deep learning is an iterative process where you start with an idea and code it up to try it out, and based on the outcome, you refine your ideas and change your choices until you find a better neural network.</a:t>
            </a:r>
          </a:p>
          <a:p>
            <a:pPr marL="0" lvl="0" indent="0" algn="l" rtl="0">
              <a:lnSpc>
                <a:spcPct val="100000"/>
              </a:lnSpc>
              <a:spcBef>
                <a:spcPts val="0"/>
              </a:spcBef>
              <a:spcAft>
                <a:spcPts val="0"/>
              </a:spcAft>
              <a:buSzPts val="1400"/>
              <a:buNone/>
            </a:pPr>
            <a:endParaRPr dirty="0"/>
          </a:p>
        </p:txBody>
      </p:sp>
      <p:sp>
        <p:nvSpPr>
          <p:cNvPr id="63" name="Google Shape;6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 name="Google Shape;6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29106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Deep learning has found great success in many areas, such as natural language processing, computer vision, speech recognition, and structured data, and the best choices may depend on various factors such as the amount of data you have, the number of input features, and your computer configuration.</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The importance of setting up your data sets well, in terms of your train, development, and test sets, and gives some traditional ratios for splitting the data. However, in the modern big data era, it's also fine to set your dev and test sets to be much smaller than your 20% or even 10% of your data. It might be okay to not have a test set if you don't need an unbiased estimate of the performance of your algorithm.</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Setting up a train dev and test set will allow you to integrate more quickly and efficiently measure the bias and variance of your algorithm so you can more efficiently select ways to improve it.</a:t>
            </a:r>
          </a:p>
          <a:p>
            <a:pPr marL="0" lvl="0" indent="0" algn="l" rtl="0">
              <a:lnSpc>
                <a:spcPct val="100000"/>
              </a:lnSpc>
              <a:spcBef>
                <a:spcPts val="0"/>
              </a:spcBef>
              <a:spcAft>
                <a:spcPts val="0"/>
              </a:spcAft>
              <a:buSzPts val="1400"/>
              <a:buNone/>
            </a:pPr>
            <a:endParaRPr dirty="0"/>
          </a:p>
        </p:txBody>
      </p:sp>
      <p:sp>
        <p:nvSpPr>
          <p:cNvPr id="63" name="Google Shape;63;p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607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 name="Google Shape;77;p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The concept of Bias and Variance is an important one in machine learning. </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Bias refers to the difference between the expected predictions of a model and the true values of the data.</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Variance refers to the amount by which the model's predictions vary for different training sets.</a:t>
            </a:r>
          </a:p>
          <a:p>
            <a:pPr marL="469900" lvl="0" indent="-457200">
              <a:buSzPts val="28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A good machine learning practitioner needs to have a sophisticated understanding of this concept because it is easily learned but difficult to master.</a:t>
            </a:r>
          </a:p>
          <a:p>
            <a:pPr marL="0" lvl="0" indent="0" algn="l" rtl="0">
              <a:lnSpc>
                <a:spcPct val="100000"/>
              </a:lnSpc>
              <a:spcBef>
                <a:spcPts val="0"/>
              </a:spcBef>
              <a:spcAft>
                <a:spcPts val="0"/>
              </a:spcAft>
              <a:buSzPts val="1400"/>
              <a:buNone/>
            </a:pPr>
            <a:endParaRPr dirty="0"/>
          </a:p>
        </p:txBody>
      </p:sp>
      <p:sp>
        <p:nvSpPr>
          <p:cNvPr id="88" name="Google Shape;8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9893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8690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43493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 name="Google Shape;88;p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11650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r>
              <a:rPr lang="en-US" sz="1200" dirty="0" smtClean="0"/>
              <a:t>A basic recipe for machine learning can improve the performance of an algorithm. </a:t>
            </a:r>
          </a:p>
          <a:p>
            <a:pPr marL="342900" indent="-342900">
              <a:buFont typeface="Arial" panose="020B0604020202020204" pitchFamily="34" charset="0"/>
              <a:buChar char="•"/>
            </a:pPr>
            <a:r>
              <a:rPr lang="en-US" sz="1200" dirty="0" smtClean="0"/>
              <a:t>The first step is to diagnose whether the algorithm has a high bias problem, which means it is not even fitting the training set well. </a:t>
            </a:r>
          </a:p>
          <a:p>
            <a:r>
              <a:rPr lang="en-US" sz="1200" dirty="0" smtClean="0"/>
              <a:t>	- If this is the case, trying to pick a larger network with more hidden layers or 	hidden units, train for a longer time, or try a more advanced optimization 	algorithm.</a:t>
            </a:r>
          </a:p>
          <a:p>
            <a:r>
              <a:rPr lang="en-US" sz="1200" dirty="0" smtClean="0"/>
              <a:t>	- If none of these options work, the speaker suggests trying a different 	neural network architecture. </a:t>
            </a:r>
          </a:p>
          <a:p>
            <a:r>
              <a:rPr lang="en-US" sz="1200" dirty="0" smtClean="0"/>
              <a:t>	- The goal is to reduce bias to an acceptable amount.</a:t>
            </a:r>
          </a:p>
          <a:p>
            <a:pPr marL="342900" indent="-342900">
              <a:buFont typeface="Arial" panose="020B0604020202020204" pitchFamily="34" charset="0"/>
              <a:buChar char="•"/>
            </a:pPr>
            <a:r>
              <a:rPr lang="en-US" sz="1200" dirty="0" smtClean="0"/>
              <a:t>Once bias is reduced, the second step is to diagnose whether the algorithm has a high variance problem, which means it is not generalizing well from the training set to the dev set. To reduce variance, the speaker suggests getting more data, using regularization, or trying a more appropriate neural network architecture. Again, the goal is to reduce variance to an acceptable amount.</a:t>
            </a:r>
          </a:p>
          <a:p>
            <a:pPr marL="0" lvl="0" indent="0" algn="l" rtl="0">
              <a:lnSpc>
                <a:spcPct val="100000"/>
              </a:lnSpc>
              <a:spcBef>
                <a:spcPts val="0"/>
              </a:spcBef>
              <a:spcAft>
                <a:spcPts val="0"/>
              </a:spcAft>
              <a:buSzPts val="1400"/>
              <a:buNone/>
            </a:pPr>
            <a:endParaRPr dirty="0"/>
          </a:p>
        </p:txBody>
      </p:sp>
      <p:sp>
        <p:nvSpPr>
          <p:cNvPr id="140" name="Google Shape;140;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85882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1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17244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1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1200" dirty="0" smtClean="0"/>
              <a:t>Regularization helps prevent overfitting in a neural network by adding a penalty term to the cost function that encourages the weights to be small. This smallness of weights can help prevent the network from becoming too complex and overfitting the training data.</a:t>
            </a:r>
          </a:p>
          <a:p>
            <a:pPr marL="342900" indent="-342900">
              <a:buFont typeface="Arial" panose="020B0604020202020204" pitchFamily="34" charset="0"/>
              <a:buChar char="•"/>
            </a:pPr>
            <a:r>
              <a:rPr lang="en-US" sz="1200" dirty="0" smtClean="0"/>
              <a:t>In other words, when a neural network has a large number of parameters, it can fit the training data very well, but it may not generalize well to new, unseen data. By adding a regularization term to the cost function, the neural network is encouraged to find weight values that are not only good at fitting the training data but also simple and smooth.</a:t>
            </a:r>
          </a:p>
          <a:p>
            <a:pPr marL="342900" indent="-342900">
              <a:buFont typeface="Arial" panose="020B0604020202020204" pitchFamily="34" charset="0"/>
              <a:buChar char="•"/>
            </a:pPr>
            <a:r>
              <a:rPr lang="en-US" sz="1200" dirty="0" smtClean="0"/>
              <a:t>There are several types of regularization techniques, but they all work by adding a penalty term to the loss function, which the model tries to minimize during training. The penalty term discourages the model from learning too much from the training data and encourages it to find simpler solutions that generalize better to new data.</a:t>
            </a:r>
          </a:p>
          <a:p>
            <a:pPr marL="0" lvl="0" indent="0" algn="l" rtl="0">
              <a:lnSpc>
                <a:spcPct val="100000"/>
              </a:lnSpc>
              <a:spcBef>
                <a:spcPts val="0"/>
              </a:spcBef>
              <a:spcAft>
                <a:spcPts val="0"/>
              </a:spcAft>
              <a:buSzPts val="1400"/>
              <a:buNone/>
            </a:pPr>
            <a:endParaRPr dirty="0"/>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46571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62061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0264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5: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1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42900" indent="-342900">
              <a:buFont typeface="Arial" panose="020B0604020202020204" pitchFamily="34" charset="0"/>
              <a:buChar char="•"/>
            </a:pPr>
            <a:r>
              <a:rPr lang="en-US" sz="1200" dirty="0" smtClean="0"/>
              <a:t>L2 regularization encourages the model to distribute the weights more evenly across all features rather than relying heavily on a few features. When the regularization parameter λ is set appropriately, it penalizes large weight values, discouraging the model from assigning excessively high weights to any single feature.</a:t>
            </a:r>
          </a:p>
          <a:p>
            <a:pPr marL="342900" indent="-342900">
              <a:buFont typeface="Arial" panose="020B0604020202020204" pitchFamily="34" charset="0"/>
              <a:buChar char="•"/>
            </a:pPr>
            <a:endParaRPr lang="en-US" sz="1200" dirty="0" smtClean="0"/>
          </a:p>
          <a:p>
            <a:pPr marL="342900" indent="-342900">
              <a:buFont typeface="Arial" panose="020B0604020202020204" pitchFamily="34" charset="0"/>
              <a:buChar char="•"/>
            </a:pPr>
            <a:r>
              <a:rPr lang="en-US" sz="1200" dirty="0" smtClean="0"/>
              <a:t>By spreading the importance of the features more evenly and discouraging large weight values, L2 regularization helps to prevent overfitting. Overfitting occurs when a model learns to fit the training data too well, including noise and irrelevant patterns, which leads to poor generalization to unseen data. L2 regularization encourages the model to be more robust and generalize better by regularizing the weights.</a:t>
            </a:r>
          </a:p>
          <a:p>
            <a:pPr marL="342900" indent="-342900">
              <a:buFont typeface="Arial" panose="020B0604020202020204" pitchFamily="34" charset="0"/>
              <a:buChar char="•"/>
            </a:pPr>
            <a:endParaRPr lang="en-US" sz="1200" dirty="0" smtClean="0"/>
          </a:p>
          <a:p>
            <a:pPr marL="342900" indent="-342900">
              <a:buFont typeface="Arial" panose="020B0604020202020204" pitchFamily="34" charset="0"/>
              <a:buChar char="•"/>
            </a:pPr>
            <a:r>
              <a:rPr lang="en-US" sz="1200" dirty="0" smtClean="0"/>
              <a:t>In summary, L2 regularization prevents overfitting by adding a penalty term to the cost function that encourages the model to have smaller and more evenly distributed weights across features. This leads to a more robust and generalizable model, reducing the likelihood of overfitting to the training data.</a:t>
            </a:r>
            <a:endParaRPr lang="en-US" sz="1100" dirty="0" smtClean="0"/>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13163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42900" lvl="1" indent="-342900">
              <a:buFont typeface="Arial" panose="020B0604020202020204" pitchFamily="34" charset="0"/>
              <a:buChar char="•"/>
            </a:pPr>
            <a:r>
              <a:rPr lang="en-US" sz="2400" dirty="0" smtClean="0"/>
              <a:t>L1 regularization has the property of introducing sparsity in the model because it encourages many of the model's weights to be exactly zero. When the regularization parameter λ is set appropriately, it effectively forces less important features to have zero weights, effectively excluding them from the model's calculations. In this way, L1 regularization can help the model focus on the most relevant features and reduce the complexity of the learned model.</a:t>
            </a:r>
          </a:p>
          <a:p>
            <a:pPr marL="342900" lvl="1" indent="-342900">
              <a:buFont typeface="Arial" panose="020B0604020202020204" pitchFamily="34" charset="0"/>
              <a:buChar char="•"/>
            </a:pPr>
            <a:r>
              <a:rPr lang="en-US" sz="2400" dirty="0" smtClean="0"/>
              <a:t>By introducing sparsity and reducing the number of features used in the model, L1 regularization helps to prevent overfitting. Overfitting occurs when a model learns to fit the training data too well, including noise and irrelevant patterns, which leads to poor generalization to unseen data. L1 regularization promotes a more straightforward and interpretable model with fewer features, making it less prone to fitting noise and overfitting.</a:t>
            </a:r>
          </a:p>
          <a:p>
            <a:pPr marL="342900" lvl="1" indent="-342900">
              <a:buFont typeface="Arial" panose="020B0604020202020204" pitchFamily="34" charset="0"/>
              <a:buChar char="•"/>
            </a:pPr>
            <a:endParaRPr lang="en-US" sz="2400" dirty="0" smtClean="0"/>
          </a:p>
          <a:p>
            <a:pPr marL="342900" lvl="1" indent="-342900">
              <a:buFont typeface="Arial" panose="020B0604020202020204" pitchFamily="34" charset="0"/>
              <a:buChar char="•"/>
            </a:pPr>
            <a:r>
              <a:rPr lang="en-US" sz="2400" dirty="0" smtClean="0"/>
              <a:t>In summary, L1 regularization prevents overfitting by adding a penalty term to the cost function that encourages sparsity in the model's weights, leading to a simpler and more generalizable model.</a:t>
            </a:r>
            <a:endParaRPr lang="en-US" sz="2400" dirty="0"/>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7570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1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1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059026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 name="Google Shape;166;p1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3162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2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2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2: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22: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dirty="0" smtClean="0">
                <a:solidFill>
                  <a:schemeClr val="dk1"/>
                </a:solidFill>
                <a:ea typeface="Century Schoolbook"/>
                <a:cs typeface="Century Schoolbook"/>
                <a:sym typeface="Century Schoolbook"/>
              </a:rPr>
              <a:t>Dropout </a:t>
            </a:r>
            <a:r>
              <a:rPr lang="en-US" sz="1200" b="0" i="0" u="none" strike="noStrike" cap="none" dirty="0" smtClean="0">
                <a:solidFill>
                  <a:schemeClr val="dk1"/>
                </a:solidFill>
                <a:latin typeface="Calibri"/>
                <a:ea typeface="Century Schoolbook"/>
                <a:cs typeface="Century Schoolbook"/>
                <a:sym typeface="Century Schoolbook"/>
              </a:rPr>
              <a:t>forces the network to spread out its weights and not rely too heavily on any one input or feature. When a unit's inputs can get randomly eliminated, it can't rely on any one feature because it could go away at random. As a result, the unit will be more motivated to spread out its weights and give a little bit of weight to each of its inputs. By spreading out the weights, this tends to have an effect of shrinking the squared norm of the weights, similar to what we saw with L2 regularization.</a:t>
            </a:r>
          </a:p>
          <a:p>
            <a:pPr marL="355600" marR="5080" lvl="0" indent="-342900">
              <a:lnSpc>
                <a:spcPct val="100699"/>
              </a:lnSpc>
              <a:buSzPts val="3200"/>
              <a:buFont typeface="Arial" panose="020B0604020202020204" pitchFamily="34" charset="0"/>
              <a:buChar char="•"/>
            </a:pPr>
            <a:endParaRPr lang="en-US" sz="1200" b="0" i="0" u="none" strike="noStrike" cap="none" dirty="0" smtClean="0">
              <a:solidFill>
                <a:schemeClr val="dk1"/>
              </a:solidFill>
              <a:latin typeface="Calibri"/>
              <a:ea typeface="Calibri"/>
              <a:cs typeface="Calibri"/>
              <a:sym typeface="Calibri"/>
            </a:endParaRP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alibri"/>
                <a:cs typeface="Calibri"/>
                <a:sym typeface="Calibri"/>
              </a:rPr>
              <a:t>In practice, we choose a "keep prop" parameter, which is the chance of keeping a unit in each layer. We can vary the keep prop by layer, with lower values for layers where we are more worried about overfitting.</a:t>
            </a:r>
            <a:endParaRPr lang="en-US" sz="1200" b="0" i="0" u="none" strike="noStrike" cap="none" dirty="0" smtClean="0">
              <a:solidFill>
                <a:srgbClr val="000000"/>
              </a:solidFill>
              <a:latin typeface="Calibri"/>
              <a:ea typeface="Calibri"/>
              <a:cs typeface="Calibri"/>
              <a:sym typeface="Arial"/>
            </a:endParaRPr>
          </a:p>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838411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83447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4: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4: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62261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508830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94021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7: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21053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63627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04" name="Google Shape;304;p2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33641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056218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624825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2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400" b="0" i="0" u="none" strike="noStrike" cap="none" dirty="0" smtClean="0">
                <a:solidFill>
                  <a:schemeClr val="dk1"/>
                </a:solidFill>
                <a:latin typeface="Calibri"/>
                <a:ea typeface="Century Schoolbook"/>
                <a:cs typeface="Century Schoolbook"/>
                <a:sym typeface="Century Schoolbook"/>
              </a:rPr>
              <a:t>In neural network training, the problem of vanishing and exploding gradients can occur, especially in very deep neural networks. This problem arises when the derivatives or slopes become very large or very small, which makes training difficult.</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 If each weight matrix in a deep network is slightly larger than the identity matrix, then the 	output can explode exponentially</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 While if each matrix is slightly smaller than the identity matrix, then the activations can 	decrease exponentially.</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 Similarly, the derivatives or gradients can increase or decrease exponentially with the 	number of layers in a deep network. This problem makes training difficult, especially if the 	gradients become exponentially small, as gradient descent will take tiny steps and take a 	long time to learn anything.</a:t>
            </a:r>
          </a:p>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28277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1: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31: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8271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3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 name="Google Shape;317;p3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205667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1" i="0" u="none" strike="noStrike" cap="none" dirty="0" smtClean="0">
                <a:solidFill>
                  <a:schemeClr val="dk1"/>
                </a:solidFill>
                <a:latin typeface="Calibri"/>
                <a:ea typeface="Century Schoolbook"/>
                <a:cs typeface="Century Schoolbook"/>
                <a:sym typeface="Century Schoolbook"/>
              </a:rPr>
              <a:t>Zeros initialization</a:t>
            </a:r>
            <a:r>
              <a:rPr lang="en-US" sz="1200" b="0" i="0" u="none" strike="noStrike" cap="none" dirty="0" smtClean="0">
                <a:solidFill>
                  <a:schemeClr val="dk1"/>
                </a:solidFill>
                <a:latin typeface="Calibri"/>
                <a:ea typeface="Century Schoolbook"/>
                <a:cs typeface="Century Schoolbook"/>
                <a:sym typeface="Century Schoolbook"/>
              </a:rPr>
              <a:t> is a weight initialization technique used in neural networks and other machine learning models. In this technique, all the weights and biases of the model are initialized to zero at the beginning of training. It is one of the simplest initialization methods, but it has some significant drawbacks and is generally not recommended for deep neural </a:t>
            </a:r>
            <a:r>
              <a:rPr lang="en-US" sz="1200" b="0" i="0" u="none" strike="noStrike" cap="none" dirty="0" err="1" smtClean="0">
                <a:solidFill>
                  <a:schemeClr val="dk1"/>
                </a:solidFill>
                <a:latin typeface="Calibri"/>
                <a:ea typeface="Century Schoolbook"/>
                <a:cs typeface="Century Schoolbook"/>
                <a:sym typeface="Century Schoolbook"/>
              </a:rPr>
              <a:t>networks.The</a:t>
            </a:r>
            <a:r>
              <a:rPr lang="en-US" sz="1200" b="0" i="0" u="none" strike="noStrike" cap="none" dirty="0" smtClean="0">
                <a:solidFill>
                  <a:schemeClr val="dk1"/>
                </a:solidFill>
                <a:latin typeface="Calibri"/>
                <a:ea typeface="Century Schoolbook"/>
                <a:cs typeface="Century Schoolbook"/>
                <a:sym typeface="Century Schoolbook"/>
              </a:rPr>
              <a:t> main issue with initializing all weights to zero is that it leads to symmetry in the activations during forward and backward propagation. Since all weights have the same value, each neuron's output is identical, and they all update in the same way during backpropagation. As a result, each neuron in a given layer will learn the same features, making the neurons redundant and causing them to behave as if they were a single neuron.</a:t>
            </a:r>
          </a:p>
          <a:p>
            <a:pPr marL="355600" marR="5080" lvl="0" indent="-342900">
              <a:lnSpc>
                <a:spcPct val="100699"/>
              </a:lnSpc>
              <a:buSzPts val="3200"/>
              <a:buFont typeface="Arial" panose="020B0604020202020204" pitchFamily="34" charset="0"/>
              <a:buChar char="•"/>
            </a:pPr>
            <a:r>
              <a:rPr lang="en-US" sz="2400" b="1" i="0" u="none" strike="noStrike" cap="none" dirty="0" smtClean="0">
                <a:solidFill>
                  <a:schemeClr val="dk1"/>
                </a:solidFill>
                <a:latin typeface="Calibri"/>
                <a:ea typeface="Century Schoolbook"/>
                <a:cs typeface="Century Schoolbook"/>
                <a:sym typeface="Century Schoolbook"/>
              </a:rPr>
              <a:t>Random initialization</a:t>
            </a:r>
            <a:r>
              <a:rPr lang="en-US" sz="2400" b="0" i="0" u="none" strike="noStrike" cap="none" dirty="0" smtClean="0">
                <a:solidFill>
                  <a:schemeClr val="dk1"/>
                </a:solidFill>
                <a:latin typeface="Calibri"/>
                <a:ea typeface="Century Schoolbook"/>
                <a:cs typeface="Century Schoolbook"/>
                <a:sym typeface="Century Schoolbook"/>
              </a:rPr>
              <a:t> is a commonly used weight initialization technique in neural networks. In this method, the weights and biases of the neural network are initialized with random values from a chosen probability distribution. Random initialization helps to break the symmetry among neurons and allows the model to learn diverse and meaningful representations during </a:t>
            </a:r>
            <a:r>
              <a:rPr lang="en-US" sz="2400" b="0" i="0" u="none" strike="noStrike" cap="none" dirty="0" err="1" smtClean="0">
                <a:solidFill>
                  <a:schemeClr val="dk1"/>
                </a:solidFill>
                <a:latin typeface="Calibri"/>
                <a:ea typeface="Century Schoolbook"/>
                <a:cs typeface="Century Schoolbook"/>
                <a:sym typeface="Century Schoolbook"/>
              </a:rPr>
              <a:t>training.There</a:t>
            </a:r>
            <a:r>
              <a:rPr lang="en-US" sz="2400" b="0" i="0" u="none" strike="noStrike" cap="none" dirty="0" smtClean="0">
                <a:solidFill>
                  <a:schemeClr val="dk1"/>
                </a:solidFill>
                <a:latin typeface="Calibri"/>
                <a:ea typeface="Century Schoolbook"/>
                <a:cs typeface="Century Schoolbook"/>
                <a:sym typeface="Century Schoolbook"/>
              </a:rPr>
              <a:t> are different strategies for random weight initialization, and the choice of distribution depends on the activation function being used in the neural network. Two widely used random initialization techniques are:</a:t>
            </a:r>
          </a:p>
          <a:p>
            <a:pPr marL="12700" marR="5080" lvl="1">
              <a:lnSpc>
                <a:spcPct val="100699"/>
              </a:lnSpc>
              <a:buSzPts val="3200"/>
            </a:pPr>
            <a:r>
              <a:rPr lang="en-US" sz="2400" b="0" i="0" u="none" strike="noStrike" cap="none" dirty="0" smtClean="0">
                <a:solidFill>
                  <a:schemeClr val="dk1"/>
                </a:solidFill>
                <a:latin typeface="Calibri"/>
                <a:ea typeface="Century Schoolbook"/>
                <a:cs typeface="Century Schoolbook"/>
                <a:sym typeface="Century Schoolbook"/>
              </a:rPr>
              <a:t>		</a:t>
            </a:r>
            <a:r>
              <a:rPr lang="en-US" sz="2000" b="0" i="0" u="none" strike="noStrike" cap="none" dirty="0" smtClean="0">
                <a:solidFill>
                  <a:schemeClr val="dk1"/>
                </a:solidFill>
                <a:latin typeface="Calibri"/>
                <a:ea typeface="Century Schoolbook"/>
                <a:cs typeface="Century Schoolbook"/>
                <a:sym typeface="Century Schoolbook"/>
              </a:rPr>
              <a:t>- Uniform Initialization</a:t>
            </a:r>
          </a:p>
          <a:p>
            <a:pPr marL="12700" marR="5080" lvl="1">
              <a:lnSpc>
                <a:spcPct val="100699"/>
              </a:lnSpc>
              <a:buSzPts val="3200"/>
            </a:pPr>
            <a:r>
              <a:rPr lang="en-US" sz="2000" b="0" i="0" u="none" strike="noStrike" cap="none" dirty="0" smtClean="0">
                <a:solidFill>
                  <a:schemeClr val="dk1"/>
                </a:solidFill>
                <a:latin typeface="Calibri"/>
                <a:ea typeface="Century Schoolbook"/>
                <a:cs typeface="Century Schoolbook"/>
                <a:sym typeface="Century Schoolbook"/>
              </a:rPr>
              <a:t>		- Normal (Gaussian) Initialization</a:t>
            </a:r>
          </a:p>
          <a:p>
            <a:pPr marL="355600" marR="5080" lvl="0" indent="-342900">
              <a:lnSpc>
                <a:spcPct val="100699"/>
              </a:lnSpc>
              <a:buSzPts val="3200"/>
              <a:buFont typeface="Arial" panose="020B0604020202020204" pitchFamily="34" charset="0"/>
              <a:buChar char="•"/>
            </a:pPr>
            <a:endParaRPr lang="en-US" sz="1200" b="0" i="0" u="none" strike="noStrike" cap="none" dirty="0" smtClean="0">
              <a:solidFill>
                <a:schemeClr val="dk1"/>
              </a:solidFill>
              <a:latin typeface="Calibri"/>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endParaRPr lang="en-US" sz="1200" b="0" i="0" u="none" strike="noStrike" cap="none" dirty="0">
              <a:solidFill>
                <a:schemeClr val="dk1"/>
              </a:solidFill>
              <a:latin typeface="Calibri"/>
              <a:ea typeface="Century Schoolbook"/>
              <a:cs typeface="Century Schoolbook"/>
              <a:sym typeface="Century Schoolbook"/>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10904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For the case of </a:t>
            </a:r>
            <a:r>
              <a:rPr lang="en-US" sz="1200" b="0" i="0" u="none" strike="noStrike" cap="none" dirty="0" err="1" smtClean="0">
                <a:solidFill>
                  <a:schemeClr val="dk1"/>
                </a:solidFill>
                <a:latin typeface="Calibri"/>
                <a:ea typeface="Century Schoolbook"/>
                <a:cs typeface="Century Schoolbook"/>
                <a:sym typeface="Century Schoolbook"/>
              </a:rPr>
              <a:t>ReLU</a:t>
            </a:r>
            <a:r>
              <a:rPr lang="en-US" sz="1200" b="0" i="0" u="none" strike="noStrike" cap="none" dirty="0" smtClean="0">
                <a:solidFill>
                  <a:schemeClr val="dk1"/>
                </a:solidFill>
                <a:latin typeface="Calibri"/>
                <a:ea typeface="Century Schoolbook"/>
                <a:cs typeface="Century Schoolbook"/>
                <a:sym typeface="Century Schoolbook"/>
              </a:rPr>
              <a:t> and its variants, the weight initialization are indeed based on the idea of setting the variance of the weight matrix proportional to 1/n. The goal is to control the range of the activations and gradients during training, which helps to prevent vanishing and exploding gradients.</a:t>
            </a: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For activation functions with linear-like characteristics (e.g., sigmoid, </a:t>
            </a:r>
            <a:r>
              <a:rPr lang="en-US" sz="1200" b="0" i="0" u="none" strike="noStrike" cap="none" dirty="0" err="1" smtClean="0">
                <a:solidFill>
                  <a:schemeClr val="dk1"/>
                </a:solidFill>
                <a:latin typeface="Calibri"/>
                <a:ea typeface="Century Schoolbook"/>
                <a:cs typeface="Century Schoolbook"/>
                <a:sym typeface="Century Schoolbook"/>
              </a:rPr>
              <a:t>tanh</a:t>
            </a:r>
            <a:r>
              <a:rPr lang="en-US" sz="1200" b="0" i="0" u="none" strike="noStrike" cap="none" dirty="0" smtClean="0">
                <a:solidFill>
                  <a:schemeClr val="dk1"/>
                </a:solidFill>
                <a:latin typeface="Calibri"/>
                <a:ea typeface="Century Schoolbook"/>
                <a:cs typeface="Century Schoolbook"/>
                <a:sym typeface="Century Schoolbook"/>
              </a:rPr>
              <a:t>), Xavier/</a:t>
            </a:r>
            <a:r>
              <a:rPr lang="en-US" sz="1200" b="0" i="0" u="none" strike="noStrike" cap="none" dirty="0" err="1" smtClean="0">
                <a:solidFill>
                  <a:schemeClr val="dk1"/>
                </a:solidFill>
                <a:latin typeface="Calibri"/>
                <a:ea typeface="Century Schoolbook"/>
                <a:cs typeface="Century Schoolbook"/>
                <a:sym typeface="Century Schoolbook"/>
              </a:rPr>
              <a:t>Glorot</a:t>
            </a:r>
            <a:r>
              <a:rPr lang="en-US" sz="1200" b="0" i="0" u="none" strike="noStrike" cap="none" dirty="0" smtClean="0">
                <a:solidFill>
                  <a:schemeClr val="dk1"/>
                </a:solidFill>
                <a:latin typeface="Calibri"/>
                <a:ea typeface="Century Schoolbook"/>
                <a:cs typeface="Century Schoolbook"/>
                <a:sym typeface="Century Schoolbook"/>
              </a:rPr>
              <a:t> initialization sets the variance of the weight matrix to 1/n(l-1), where n(l-1) is the number of units feeding into each unit in layer l.</a:t>
            </a: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For activation functions with a rectified nature (e.g., </a:t>
            </a:r>
            <a:r>
              <a:rPr lang="en-US" sz="1200" b="0" i="0" u="none" strike="noStrike" cap="none" dirty="0" err="1" smtClean="0">
                <a:solidFill>
                  <a:schemeClr val="dk1"/>
                </a:solidFill>
                <a:latin typeface="Calibri"/>
                <a:ea typeface="Century Schoolbook"/>
                <a:cs typeface="Century Schoolbook"/>
                <a:sym typeface="Century Schoolbook"/>
              </a:rPr>
              <a:t>ReLU</a:t>
            </a:r>
            <a:r>
              <a:rPr lang="en-US" sz="1200" b="0" i="0" u="none" strike="noStrike" cap="none" dirty="0" smtClean="0">
                <a:solidFill>
                  <a:schemeClr val="dk1"/>
                </a:solidFill>
                <a:latin typeface="Calibri"/>
                <a:ea typeface="Century Schoolbook"/>
                <a:cs typeface="Century Schoolbook"/>
                <a:sym typeface="Century Schoolbook"/>
              </a:rPr>
              <a:t>, Leaky </a:t>
            </a:r>
            <a:r>
              <a:rPr lang="en-US" sz="1200" b="0" i="0" u="none" strike="noStrike" cap="none" dirty="0" err="1" smtClean="0">
                <a:solidFill>
                  <a:schemeClr val="dk1"/>
                </a:solidFill>
                <a:latin typeface="Calibri"/>
                <a:ea typeface="Century Schoolbook"/>
                <a:cs typeface="Century Schoolbook"/>
                <a:sym typeface="Century Schoolbook"/>
              </a:rPr>
              <a:t>ReLU</a:t>
            </a:r>
            <a:r>
              <a:rPr lang="en-US" sz="1200" b="0" i="0" u="none" strike="noStrike" cap="none" dirty="0" smtClean="0">
                <a:solidFill>
                  <a:schemeClr val="dk1"/>
                </a:solidFill>
                <a:latin typeface="Calibri"/>
                <a:ea typeface="Century Schoolbook"/>
                <a:cs typeface="Century Schoolbook"/>
                <a:sym typeface="Century Schoolbook"/>
              </a:rPr>
              <a:t>), He initialization sets the variance of the weight matrix to 2/n(l-1), where n(l-1) is the number of units feeding into each unit in layer l.</a:t>
            </a:r>
            <a:endParaRPr lang="en-US" sz="1200" b="0" i="0" u="none" strike="noStrike" cap="none" dirty="0">
              <a:solidFill>
                <a:schemeClr val="dk1"/>
              </a:solidFill>
              <a:latin typeface="Calibri"/>
              <a:ea typeface="Century Schoolbook"/>
              <a:cs typeface="Century Schoolbook"/>
              <a:sym typeface="Century Schoolbook"/>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24381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He initialization" or "He et al. initialization." It is commonly used for weight initialization in deep neural networks, especially when the activation function is a rectified linear unit (</a:t>
            </a:r>
            <a:r>
              <a:rPr lang="en-US" sz="1200" b="0" i="0" u="none" strike="noStrike" cap="none" dirty="0" err="1" smtClean="0">
                <a:solidFill>
                  <a:schemeClr val="dk1"/>
                </a:solidFill>
                <a:latin typeface="Calibri"/>
                <a:ea typeface="Century Schoolbook"/>
                <a:cs typeface="Century Schoolbook"/>
                <a:sym typeface="Century Schoolbook"/>
              </a:rPr>
              <a:t>ReLU</a:t>
            </a:r>
            <a:r>
              <a:rPr lang="en-US" sz="1200" b="0" i="0" u="none" strike="noStrike" cap="none" dirty="0" smtClean="0">
                <a:solidFill>
                  <a:schemeClr val="dk1"/>
                </a:solidFill>
                <a:latin typeface="Calibri"/>
                <a:ea typeface="Century Schoolbook"/>
                <a:cs typeface="Century Schoolbook"/>
                <a:sym typeface="Century Schoolbook"/>
              </a:rPr>
              <a:t>) or its variants. The initialization helps address the vanishing and exploding gradients problem, which can occur during the training of deep neural networks.</a:t>
            </a: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The He initialization formula for the weight matrix of layer l is given as follows:</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W(l) = </a:t>
            </a:r>
            <a:r>
              <a:rPr lang="en-US" sz="1200" b="0" i="0" u="none" strike="noStrike" cap="none" dirty="0" err="1" smtClean="0">
                <a:solidFill>
                  <a:schemeClr val="dk1"/>
                </a:solidFill>
                <a:latin typeface="Calibri"/>
                <a:ea typeface="Century Schoolbook"/>
                <a:cs typeface="Century Schoolbook"/>
                <a:sym typeface="Century Schoolbook"/>
              </a:rPr>
              <a:t>np.random.randn</a:t>
            </a:r>
            <a:r>
              <a:rPr lang="en-US" sz="1200" b="0" i="0" u="none" strike="noStrike" cap="none" dirty="0" smtClean="0">
                <a:solidFill>
                  <a:schemeClr val="dk1"/>
                </a:solidFill>
                <a:latin typeface="Calibri"/>
                <a:ea typeface="Century Schoolbook"/>
                <a:cs typeface="Century Schoolbook"/>
                <a:sym typeface="Century Schoolbook"/>
              </a:rPr>
              <a:t> * </a:t>
            </a:r>
            <a:r>
              <a:rPr lang="en-US" sz="1200" b="0" i="0" u="none" strike="noStrike" cap="none" dirty="0" err="1" smtClean="0">
                <a:solidFill>
                  <a:schemeClr val="dk1"/>
                </a:solidFill>
                <a:latin typeface="Calibri"/>
                <a:ea typeface="Century Schoolbook"/>
                <a:cs typeface="Century Schoolbook"/>
                <a:sym typeface="Century Schoolbook"/>
              </a:rPr>
              <a:t>sqrt</a:t>
            </a:r>
            <a:r>
              <a:rPr lang="en-US" sz="1200" b="0" i="0" u="none" strike="noStrike" cap="none" dirty="0" smtClean="0">
                <a:solidFill>
                  <a:schemeClr val="dk1"/>
                </a:solidFill>
                <a:latin typeface="Calibri"/>
                <a:ea typeface="Century Schoolbook"/>
                <a:cs typeface="Century Schoolbook"/>
                <a:sym typeface="Century Schoolbook"/>
              </a:rPr>
              <a:t>(2/n(l-1)),</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Where:</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W(l): The weight matrix of layer l.</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a:t>
            </a:r>
            <a:r>
              <a:rPr lang="en-US" sz="1200" b="0" i="0" u="none" strike="noStrike" cap="none" dirty="0" err="1" smtClean="0">
                <a:solidFill>
                  <a:schemeClr val="dk1"/>
                </a:solidFill>
                <a:latin typeface="Calibri"/>
                <a:ea typeface="Century Schoolbook"/>
                <a:cs typeface="Century Schoolbook"/>
                <a:sym typeface="Century Schoolbook"/>
              </a:rPr>
              <a:t>np.random.randn</a:t>
            </a:r>
            <a:r>
              <a:rPr lang="en-US" sz="1200" b="0" i="0" u="none" strike="noStrike" cap="none" dirty="0" smtClean="0">
                <a:solidFill>
                  <a:schemeClr val="dk1"/>
                </a:solidFill>
                <a:latin typeface="Calibri"/>
                <a:ea typeface="Century Schoolbook"/>
                <a:cs typeface="Century Schoolbook"/>
                <a:sym typeface="Century Schoolbook"/>
              </a:rPr>
              <a:t>: A random number drawn from a standard normal 		distribution.</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a:t>
            </a:r>
            <a:r>
              <a:rPr lang="en-US" sz="1200" b="0" i="0" u="none" strike="noStrike" cap="none" dirty="0" err="1" smtClean="0">
                <a:solidFill>
                  <a:schemeClr val="dk1"/>
                </a:solidFill>
                <a:latin typeface="Calibri"/>
                <a:ea typeface="Century Schoolbook"/>
                <a:cs typeface="Century Schoolbook"/>
                <a:sym typeface="Century Schoolbook"/>
              </a:rPr>
              <a:t>sqrt</a:t>
            </a:r>
            <a:r>
              <a:rPr lang="en-US" sz="1200" b="0" i="0" u="none" strike="noStrike" cap="none" dirty="0" smtClean="0">
                <a:solidFill>
                  <a:schemeClr val="dk1"/>
                </a:solidFill>
                <a:latin typeface="Calibri"/>
                <a:ea typeface="Century Schoolbook"/>
                <a:cs typeface="Century Schoolbook"/>
                <a:sym typeface="Century Schoolbook"/>
              </a:rPr>
              <a:t>(2/n(l-1)): The scaling factor for the weight initialization.</a:t>
            </a:r>
            <a:endParaRPr lang="en-US" sz="1200" b="0" i="0" u="none" strike="noStrike" cap="none" dirty="0">
              <a:solidFill>
                <a:schemeClr val="dk1"/>
              </a:solidFill>
              <a:latin typeface="Calibri"/>
              <a:ea typeface="Century Schoolbook"/>
              <a:cs typeface="Century Schoolbook"/>
              <a:sym typeface="Century Schoolbook"/>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38123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Other variants of weight initialization for different activation functions:</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 The </a:t>
            </a:r>
            <a:r>
              <a:rPr lang="en-US" sz="1200" b="0" i="0" u="none" strike="noStrike" cap="none" dirty="0" err="1" smtClean="0">
                <a:solidFill>
                  <a:schemeClr val="dk1"/>
                </a:solidFill>
                <a:latin typeface="Calibri"/>
                <a:ea typeface="Century Schoolbook"/>
                <a:cs typeface="Century Schoolbook"/>
                <a:sym typeface="Century Schoolbook"/>
              </a:rPr>
              <a:t>TanH</a:t>
            </a:r>
            <a:r>
              <a:rPr lang="en-US" sz="1200" b="0" i="0" u="none" strike="noStrike" cap="none" dirty="0" smtClean="0">
                <a:solidFill>
                  <a:schemeClr val="dk1"/>
                </a:solidFill>
                <a:latin typeface="Calibri"/>
                <a:ea typeface="Century Schoolbook"/>
                <a:cs typeface="Century Schoolbook"/>
                <a:sym typeface="Century Schoolbook"/>
              </a:rPr>
              <a:t> activation function. The Xavier initialization is used for </a:t>
            </a:r>
            <a:r>
              <a:rPr lang="en-US" sz="1200" b="0" i="0" u="none" strike="noStrike" cap="none" dirty="0" err="1" smtClean="0">
                <a:solidFill>
                  <a:schemeClr val="dk1"/>
                </a:solidFill>
                <a:latin typeface="Calibri"/>
                <a:ea typeface="Century Schoolbook"/>
                <a:cs typeface="Century Schoolbook"/>
                <a:sym typeface="Century Schoolbook"/>
              </a:rPr>
              <a:t>TanH</a:t>
            </a:r>
            <a:r>
              <a:rPr lang="en-US" sz="1200" b="0" i="0" u="none" strike="noStrike" cap="none" dirty="0" smtClean="0">
                <a:solidFill>
                  <a:schemeClr val="dk1"/>
                </a:solidFill>
                <a:latin typeface="Calibri"/>
                <a:ea typeface="Century Schoolbook"/>
                <a:cs typeface="Century Schoolbook"/>
                <a:sym typeface="Century Schoolbook"/>
              </a:rPr>
              <a:t> activation function, and it involves setting the variance to be 1/n instead of 	2/n.</a:t>
            </a:r>
          </a:p>
          <a:p>
            <a:pPr marL="12700" marR="5080" lvl="0">
              <a:lnSpc>
                <a:spcPct val="100699"/>
              </a:lnSpc>
              <a:buSzPts val="3200"/>
            </a:pPr>
            <a:r>
              <a:rPr lang="en-US" sz="1200" b="0" i="0" u="none" strike="noStrike" cap="none" dirty="0" smtClean="0">
                <a:solidFill>
                  <a:schemeClr val="dk1"/>
                </a:solidFill>
                <a:latin typeface="Calibri"/>
                <a:ea typeface="Century Schoolbook"/>
                <a:cs typeface="Century Schoolbook"/>
                <a:sym typeface="Century Schoolbook"/>
              </a:rPr>
              <a:t>	- Another version, taught by </a:t>
            </a:r>
            <a:r>
              <a:rPr lang="en-US" sz="1200" b="0" i="0" u="none" strike="noStrike" cap="none" dirty="0" err="1" smtClean="0">
                <a:solidFill>
                  <a:schemeClr val="dk1"/>
                </a:solidFill>
                <a:latin typeface="Calibri"/>
                <a:ea typeface="Century Schoolbook"/>
                <a:cs typeface="Century Schoolbook"/>
                <a:sym typeface="Century Schoolbook"/>
              </a:rPr>
              <a:t>Yoshua</a:t>
            </a:r>
            <a:r>
              <a:rPr lang="en-US" sz="1200" b="0" i="0" u="none" strike="noStrike" cap="none" dirty="0" smtClean="0">
                <a:solidFill>
                  <a:schemeClr val="dk1"/>
                </a:solidFill>
                <a:latin typeface="Calibri"/>
                <a:ea typeface="Century Schoolbook"/>
                <a:cs typeface="Century Schoolbook"/>
                <a:sym typeface="Century Schoolbook"/>
              </a:rPr>
              <a:t> </a:t>
            </a:r>
            <a:r>
              <a:rPr lang="en-US" sz="1200" b="0" i="0" u="none" strike="noStrike" cap="none" dirty="0" err="1" smtClean="0">
                <a:solidFill>
                  <a:schemeClr val="dk1"/>
                </a:solidFill>
                <a:latin typeface="Calibri"/>
                <a:ea typeface="Century Schoolbook"/>
                <a:cs typeface="Century Schoolbook"/>
                <a:sym typeface="Century Schoolbook"/>
              </a:rPr>
              <a:t>Bengio</a:t>
            </a:r>
            <a:r>
              <a:rPr lang="en-US" sz="1200" b="0" i="0" u="none" strike="noStrike" cap="none" dirty="0" smtClean="0">
                <a:solidFill>
                  <a:schemeClr val="dk1"/>
                </a:solidFill>
                <a:latin typeface="Calibri"/>
                <a:ea typeface="Century Schoolbook"/>
                <a:cs typeface="Century Schoolbook"/>
                <a:sym typeface="Century Schoolbook"/>
              </a:rPr>
              <a:t> and colleagues, uses a different formula that has some theoretical justification.</a:t>
            </a: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In practice, all these formulas give a starting point for the variance of the weight initialization, which can be tuned with </a:t>
            </a:r>
            <a:r>
              <a:rPr lang="en-US" sz="1200" b="0" i="0" u="none" strike="noStrike" cap="none" dirty="0" err="1" smtClean="0">
                <a:solidFill>
                  <a:schemeClr val="dk1"/>
                </a:solidFill>
                <a:latin typeface="Calibri"/>
                <a:ea typeface="Century Schoolbook"/>
                <a:cs typeface="Century Schoolbook"/>
                <a:sym typeface="Century Schoolbook"/>
              </a:rPr>
              <a:t>hyperparameters</a:t>
            </a:r>
            <a:r>
              <a:rPr lang="en-US" sz="1200" b="0" i="0" u="none" strike="noStrike" cap="none" dirty="0" smtClean="0">
                <a:solidFill>
                  <a:schemeClr val="dk1"/>
                </a:solidFill>
                <a:latin typeface="Calibri"/>
                <a:ea typeface="Century Schoolbook"/>
                <a:cs typeface="Century Schoolbook"/>
                <a:sym typeface="Century Schoolbook"/>
              </a:rPr>
              <a:t>. Tuning this parameter can help reduce the vanishing and exploding gradients problem, but it is usually lower down in importance relative to other </a:t>
            </a:r>
            <a:r>
              <a:rPr lang="en-US" sz="1200" b="0" i="0" u="none" strike="noStrike" cap="none" dirty="0" err="1" smtClean="0">
                <a:solidFill>
                  <a:schemeClr val="dk1"/>
                </a:solidFill>
                <a:latin typeface="Calibri"/>
                <a:ea typeface="Century Schoolbook"/>
                <a:cs typeface="Century Schoolbook"/>
                <a:sym typeface="Century Schoolbook"/>
              </a:rPr>
              <a:t>hyperparameters</a:t>
            </a:r>
            <a:r>
              <a:rPr lang="en-US" sz="1200" b="0" i="0" u="none" strike="noStrike" cap="none" dirty="0" smtClean="0">
                <a:solidFill>
                  <a:schemeClr val="dk1"/>
                </a:solidFill>
                <a:latin typeface="Calibri"/>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Overall, careful choice of weight initialization can help make neural networks train much more quickly, and avoid the problem of vanishing or exploding gradients.</a:t>
            </a:r>
          </a:p>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801076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3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Backpropagation is a commonly used algorithm in neural networks to calculate the gradient of the loss function with respect to the network parameters. It is used to train the network by adjusting the weights and biases to minimize the loss. However, implementing backpropagation can be complex and there may be errors in the implementation. To ensure that the implementation is correct, gradient checking can be used.</a:t>
            </a:r>
          </a:p>
          <a:p>
            <a:pPr marL="12700" marR="5080" lvl="0">
              <a:lnSpc>
                <a:spcPct val="100699"/>
              </a:lnSpc>
              <a:buSzPts val="3200"/>
            </a:pPr>
            <a:endParaRPr lang="en-US" sz="1200" b="0" i="0" u="none" strike="noStrike" cap="none" dirty="0" smtClean="0">
              <a:solidFill>
                <a:schemeClr val="dk1"/>
              </a:solidFill>
              <a:latin typeface="Calibri"/>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Gradient checking is a numerical method used to verify whether the gradient of a function is calculated correctly. It works by approximating the derivative using a two-sided difference formula. Instead of just nudging the parameter to the right to get theta plus epsilon, the parameter is nudged to the right and left to get theta minus epsilon and theta plus epsilon, respectively. Then, the height over the width of a larger triangle is computed to get a better estimate of the derivative.</a:t>
            </a:r>
          </a:p>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29638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85488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81314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83369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6: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p3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2400" b="0" i="0" u="none" strike="noStrike" cap="none" dirty="0" smtClean="0">
                <a:solidFill>
                  <a:schemeClr val="dk1"/>
                </a:solidFill>
                <a:latin typeface="Calibri"/>
                <a:ea typeface="Century Schoolbook"/>
                <a:cs typeface="Century Schoolbook"/>
                <a:sym typeface="Century Schoolbook"/>
              </a:rPr>
              <a:t>The steps involved in gradient checking:</a:t>
            </a:r>
          </a:p>
          <a:p>
            <a:pPr marL="469900" marR="5080" lvl="1" indent="-457200">
              <a:lnSpc>
                <a:spcPct val="100699"/>
              </a:lnSpc>
              <a:buSzPct val="100000"/>
              <a:buFont typeface="+mj-lt"/>
              <a:buAutoNum type="arabicPeriod"/>
            </a:pPr>
            <a:r>
              <a:rPr lang="en-US" sz="2000" b="0" i="0" u="none" strike="noStrike" cap="none" dirty="0" smtClean="0">
                <a:solidFill>
                  <a:schemeClr val="dk1"/>
                </a:solidFill>
                <a:latin typeface="Calibri"/>
                <a:ea typeface="Century Schoolbook"/>
                <a:cs typeface="Century Schoolbook"/>
                <a:sym typeface="Century Schoolbook"/>
              </a:rPr>
              <a:t>Reshape Parameters: All the parameters of the neural network, such as weights (W1, W2, etc.) and biases (B1, B2, etc.), are flattened and combined into a single parameter vector called "theta."</a:t>
            </a:r>
          </a:p>
          <a:p>
            <a:pPr marL="469900" marR="5080" lvl="1" indent="-457200">
              <a:lnSpc>
                <a:spcPct val="100699"/>
              </a:lnSpc>
              <a:buSzPct val="100000"/>
              <a:buFont typeface="+mj-lt"/>
              <a:buAutoNum type="arabicPeriod"/>
            </a:pPr>
            <a:r>
              <a:rPr lang="en-US" sz="2000" b="0" i="0" u="none" strike="noStrike" cap="none" dirty="0" smtClean="0">
                <a:solidFill>
                  <a:schemeClr val="dk1"/>
                </a:solidFill>
                <a:latin typeface="Calibri"/>
                <a:ea typeface="Century Schoolbook"/>
                <a:cs typeface="Century Schoolbook"/>
                <a:sym typeface="Century Schoolbook"/>
              </a:rPr>
              <a:t>Define Cost Function: Express the cost function J, which represents the loss function of the neural network, as a function of the parameter vector theta.</a:t>
            </a:r>
          </a:p>
          <a:p>
            <a:pPr marL="469900" marR="5080" lvl="1" indent="-457200">
              <a:lnSpc>
                <a:spcPct val="100699"/>
              </a:lnSpc>
              <a:buSzPct val="100000"/>
              <a:buFont typeface="+mj-lt"/>
              <a:buAutoNum type="arabicPeriod"/>
            </a:pPr>
            <a:r>
              <a:rPr lang="en-US" sz="2000" b="0" i="0" u="none" strike="noStrike" cap="none" dirty="0" smtClean="0">
                <a:solidFill>
                  <a:schemeClr val="dk1"/>
                </a:solidFill>
                <a:latin typeface="Calibri"/>
                <a:ea typeface="Century Schoolbook"/>
                <a:cs typeface="Century Schoolbook"/>
                <a:sym typeface="Century Schoolbook"/>
              </a:rPr>
              <a:t>Numerical Gradient Approximation: Compute the numerical approximation of the gradient for each component of the parameter vector theta using the two-sided difference formula (finite difference approximation).</a:t>
            </a:r>
          </a:p>
          <a:p>
            <a:pPr marL="469900" marR="5080" lvl="1" indent="-457200">
              <a:lnSpc>
                <a:spcPct val="100699"/>
              </a:lnSpc>
              <a:buSzPct val="100000"/>
              <a:buFont typeface="+mj-lt"/>
              <a:buAutoNum type="arabicPeriod"/>
            </a:pPr>
            <a:r>
              <a:rPr lang="en-US" sz="2000" b="0" i="0" u="none" strike="noStrike" cap="none" dirty="0" smtClean="0">
                <a:solidFill>
                  <a:schemeClr val="dk1"/>
                </a:solidFill>
                <a:latin typeface="Calibri"/>
                <a:ea typeface="Century Schoolbook"/>
                <a:cs typeface="Century Schoolbook"/>
                <a:sym typeface="Century Schoolbook"/>
              </a:rPr>
              <a:t>Analytical Gradient Computation: Use backpropagation to compute the analytical gradient of the cost function with respect to each component of theta.</a:t>
            </a:r>
          </a:p>
          <a:p>
            <a:pPr marL="469900" marR="5080" lvl="1" indent="-457200">
              <a:lnSpc>
                <a:spcPct val="100699"/>
              </a:lnSpc>
              <a:buSzPct val="100000"/>
              <a:buFont typeface="+mj-lt"/>
              <a:buAutoNum type="arabicPeriod" startAt="5"/>
            </a:pPr>
            <a:r>
              <a:rPr lang="en-US" sz="1200" b="0" i="0" u="none" strike="noStrike" cap="none" dirty="0" smtClean="0">
                <a:solidFill>
                  <a:schemeClr val="dk1"/>
                </a:solidFill>
                <a:latin typeface="Calibri"/>
                <a:ea typeface="Century Schoolbook"/>
                <a:cs typeface="Century Schoolbook"/>
                <a:sym typeface="Century Schoolbook"/>
              </a:rPr>
              <a:t>Compare Gradients: Compare the numerical gradients (d theta </a:t>
            </a:r>
            <a:r>
              <a:rPr lang="en-US" sz="1200" b="0" i="0" u="none" strike="noStrike" cap="none" dirty="0" err="1" smtClean="0">
                <a:solidFill>
                  <a:schemeClr val="dk1"/>
                </a:solidFill>
                <a:latin typeface="Calibri"/>
                <a:ea typeface="Century Schoolbook"/>
                <a:cs typeface="Century Schoolbook"/>
                <a:sym typeface="Century Schoolbook"/>
              </a:rPr>
              <a:t>approx</a:t>
            </a:r>
            <a:r>
              <a:rPr lang="en-US" sz="1200" b="0" i="0" u="none" strike="noStrike" cap="none" dirty="0" smtClean="0">
                <a:solidFill>
                  <a:schemeClr val="dk1"/>
                </a:solidFill>
                <a:latin typeface="Calibri"/>
                <a:ea typeface="Century Schoolbook"/>
                <a:cs typeface="Century Schoolbook"/>
                <a:sym typeface="Century Schoolbook"/>
              </a:rPr>
              <a:t>) with the analytical gradients (d theta) for each component of theta.</a:t>
            </a:r>
          </a:p>
          <a:p>
            <a:pPr marL="469900" marR="5080" lvl="1" indent="-457200">
              <a:lnSpc>
                <a:spcPct val="100699"/>
              </a:lnSpc>
              <a:buSzPct val="100000"/>
              <a:buFont typeface="+mj-lt"/>
              <a:buAutoNum type="arabicPeriod" startAt="5"/>
            </a:pPr>
            <a:r>
              <a:rPr lang="en-US" sz="1200" b="0" i="0" u="none" strike="noStrike" cap="none" dirty="0" smtClean="0">
                <a:solidFill>
                  <a:schemeClr val="dk1"/>
                </a:solidFill>
                <a:latin typeface="Calibri"/>
                <a:ea typeface="Century Schoolbook"/>
                <a:cs typeface="Century Schoolbook"/>
                <a:sym typeface="Century Schoolbook"/>
              </a:rPr>
              <a:t>Compute Difference: Calculate the difference between the numerical and analytical gradients using the Euclidean distance or some other appropriate distance metric.</a:t>
            </a:r>
          </a:p>
          <a:p>
            <a:pPr marL="469900" marR="5080" lvl="1" indent="-457200">
              <a:lnSpc>
                <a:spcPct val="100699"/>
              </a:lnSpc>
              <a:buSzPct val="100000"/>
              <a:buFont typeface="+mj-lt"/>
              <a:buAutoNum type="arabicPeriod" startAt="5"/>
            </a:pPr>
            <a:r>
              <a:rPr lang="en-US" sz="1200" b="0" i="0" u="none" strike="noStrike" cap="none" dirty="0" smtClean="0">
                <a:solidFill>
                  <a:schemeClr val="dk1"/>
                </a:solidFill>
                <a:latin typeface="Calibri"/>
                <a:ea typeface="Century Schoolbook"/>
                <a:cs typeface="Century Schoolbook"/>
                <a:sym typeface="Century Schoolbook"/>
              </a:rPr>
              <a:t>Check Difference: If the difference between the numerical and analytical gradients is very small (below a predefined threshold), it indicates that the implementation of backpropagation is likely correct. Otherwise, there might be a bug in the gradient computation that needs to be addressed.</a:t>
            </a:r>
          </a:p>
          <a:p>
            <a:pPr marL="12700" marR="5080" lvl="1" indent="0" algn="l" defTabSz="914400" rtl="0" eaLnBrk="1" fontAlgn="auto" latinLnBrk="0" hangingPunct="1">
              <a:lnSpc>
                <a:spcPct val="100699"/>
              </a:lnSpc>
              <a:spcBef>
                <a:spcPts val="0"/>
              </a:spcBef>
              <a:spcAft>
                <a:spcPts val="0"/>
              </a:spcAft>
              <a:buClr>
                <a:srgbClr val="000000"/>
              </a:buClr>
              <a:buSzPct val="100000"/>
              <a:buFont typeface="+mj-lt"/>
              <a:buNone/>
              <a:tabLst/>
              <a:defRPr/>
            </a:pPr>
            <a:r>
              <a:rPr lang="en-US" sz="1200" b="0" i="0" u="none" strike="noStrike" cap="none" dirty="0" smtClean="0">
                <a:solidFill>
                  <a:schemeClr val="dk1"/>
                </a:solidFill>
                <a:latin typeface="Calibri"/>
                <a:ea typeface="Century Schoolbook"/>
                <a:cs typeface="Century Schoolbook"/>
                <a:sym typeface="Century Schoolbook"/>
              </a:rPr>
              <a:t>By performing gradient checking, you can gain confidence in the correctness of your backpropagation implementation, especially in complex neural network architectures. It helps to identify and fix errors, ensuring that the model learns the correct gradients and leads to better training and improved performance on the target task. After validating the gradient computation, you can proceed with training the neural network using optimization algorithms like gradient descent or its variants.</a:t>
            </a:r>
          </a:p>
          <a:p>
            <a:pPr marL="12700" marR="5080" lvl="1" indent="0">
              <a:lnSpc>
                <a:spcPct val="100699"/>
              </a:lnSpc>
              <a:buSzPct val="100000"/>
              <a:buFont typeface="+mj-lt"/>
              <a:buNone/>
            </a:pPr>
            <a:endParaRPr lang="en-US" sz="1200" b="0" i="0" u="none" strike="noStrike" cap="none" dirty="0" smtClean="0">
              <a:solidFill>
                <a:schemeClr val="dk1"/>
              </a:solidFill>
              <a:latin typeface="Calibri"/>
              <a:ea typeface="Century Schoolbook"/>
              <a:cs typeface="Century Schoolbook"/>
              <a:sym typeface="Century Schoolbook"/>
            </a:endParaRPr>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199560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To implement gradient checking, epsilon is typically set to 10</a:t>
            </a:r>
            <a:r>
              <a:rPr lang="en-US" sz="1200" b="0" i="0" u="none" strike="noStrike" cap="none" baseline="30000" dirty="0" smtClean="0">
                <a:solidFill>
                  <a:schemeClr val="dk1"/>
                </a:solidFill>
                <a:latin typeface="Calibri"/>
                <a:ea typeface="Century Schoolbook"/>
                <a:cs typeface="Century Schoolbook"/>
                <a:sym typeface="Century Schoolbook"/>
              </a:rPr>
              <a:t>-7</a:t>
            </a:r>
            <a:r>
              <a:rPr lang="en-US" sz="1200" b="0" i="0" u="none" strike="noStrike" cap="none" dirty="0" smtClean="0">
                <a:solidFill>
                  <a:schemeClr val="dk1"/>
                </a:solidFill>
                <a:latin typeface="Calibri"/>
                <a:ea typeface="Century Schoolbook"/>
                <a:cs typeface="Century Schoolbook"/>
                <a:sym typeface="Century Schoolbook"/>
              </a:rPr>
              <a:t>. If the formula gives a value much smaller than 10</a:t>
            </a:r>
            <a:r>
              <a:rPr lang="en-US" sz="1200" b="0" i="0" u="none" strike="noStrike" cap="none" baseline="30000" dirty="0" smtClean="0">
                <a:solidFill>
                  <a:schemeClr val="dk1"/>
                </a:solidFill>
                <a:latin typeface="Calibri"/>
                <a:ea typeface="Century Schoolbook"/>
                <a:cs typeface="Century Schoolbook"/>
                <a:sym typeface="Century Schoolbook"/>
              </a:rPr>
              <a:t>-7</a:t>
            </a:r>
            <a:r>
              <a:rPr lang="en-US" sz="1200" b="0" i="0" u="none" strike="noStrike" cap="none" dirty="0" smtClean="0">
                <a:solidFill>
                  <a:schemeClr val="dk1"/>
                </a:solidFill>
                <a:latin typeface="Calibri"/>
                <a:ea typeface="Century Schoolbook"/>
                <a:cs typeface="Century Schoolbook"/>
                <a:sym typeface="Century Schoolbook"/>
              </a:rPr>
              <a:t>, it means that the derivative approximation is correct. If the value is in the range of 10</a:t>
            </a:r>
            <a:r>
              <a:rPr lang="en-US" sz="1200" b="0" i="0" u="none" strike="noStrike" cap="none" baseline="30000" dirty="0" smtClean="0">
                <a:solidFill>
                  <a:schemeClr val="dk1"/>
                </a:solidFill>
                <a:latin typeface="Calibri"/>
                <a:ea typeface="Century Schoolbook"/>
                <a:cs typeface="Century Schoolbook"/>
                <a:sym typeface="Century Schoolbook"/>
              </a:rPr>
              <a:t>-5</a:t>
            </a:r>
            <a:r>
              <a:rPr lang="en-US" sz="1200" b="0" i="0" u="none" strike="noStrike" cap="none" dirty="0" smtClean="0">
                <a:solidFill>
                  <a:schemeClr val="dk1"/>
                </a:solidFill>
                <a:latin typeface="Calibri"/>
                <a:ea typeface="Century Schoolbook"/>
                <a:cs typeface="Century Schoolbook"/>
                <a:sym typeface="Century Schoolbook"/>
              </a:rPr>
              <a:t>, then it may be okay, but the components of the vector should be carefully checked. If the value is much larger than 10</a:t>
            </a:r>
            <a:r>
              <a:rPr lang="en-US" sz="1200" b="0" i="0" u="none" strike="noStrike" cap="none" baseline="30000" dirty="0" smtClean="0">
                <a:solidFill>
                  <a:schemeClr val="dk1"/>
                </a:solidFill>
                <a:latin typeface="Calibri"/>
                <a:ea typeface="Century Schoolbook"/>
                <a:cs typeface="Century Schoolbook"/>
                <a:sym typeface="Century Schoolbook"/>
              </a:rPr>
              <a:t>-3</a:t>
            </a:r>
            <a:r>
              <a:rPr lang="en-US" sz="1200" b="0" i="0" u="none" strike="noStrike" cap="none" dirty="0" smtClean="0">
                <a:solidFill>
                  <a:schemeClr val="dk1"/>
                </a:solidFill>
                <a:latin typeface="Calibri"/>
                <a:ea typeface="Century Schoolbook"/>
                <a:cs typeface="Century Schoolbook"/>
                <a:sym typeface="Century Schoolbook"/>
              </a:rPr>
              <a:t>, then there may be a bug somewhere.</a:t>
            </a:r>
          </a:p>
          <a:p>
            <a:pPr marL="355600" marR="5080" lvl="0" indent="-342900">
              <a:lnSpc>
                <a:spcPct val="100699"/>
              </a:lnSpc>
              <a:buSzPts val="3200"/>
              <a:buFont typeface="Arial" panose="020B0604020202020204" pitchFamily="34" charset="0"/>
              <a:buChar char="•"/>
            </a:pPr>
            <a:endParaRPr lang="en-US" sz="1200" b="0" i="0" u="none" strike="noStrike" cap="none" dirty="0" smtClean="0">
              <a:solidFill>
                <a:schemeClr val="dk1"/>
              </a:solidFill>
              <a:latin typeface="Calibri"/>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1200" b="0" i="0" u="none" strike="noStrike" cap="none" dirty="0" smtClean="0">
                <a:solidFill>
                  <a:schemeClr val="dk1"/>
                </a:solidFill>
                <a:latin typeface="Calibri"/>
                <a:ea typeface="Century Schoolbook"/>
                <a:cs typeface="Century Schoolbook"/>
                <a:sym typeface="Century Schoolbook"/>
              </a:rPr>
              <a:t>Gradient checking has helped many people find bugs in their implementations of backpropagation. It can save a lot of time and improve the confidence in the implementation's correctness.</a:t>
            </a:r>
          </a:p>
          <a:p>
            <a:pPr marL="0" lvl="0" indent="0" algn="l" rtl="0">
              <a:lnSpc>
                <a:spcPct val="100000"/>
              </a:lnSpc>
              <a:spcBef>
                <a:spcPts val="0"/>
              </a:spcBef>
              <a:spcAft>
                <a:spcPts val="0"/>
              </a:spcAft>
              <a:buSzPts val="1400"/>
              <a:buNone/>
            </a:pPr>
            <a:endParaRPr dirty="0"/>
          </a:p>
        </p:txBody>
      </p:sp>
      <p:sp>
        <p:nvSpPr>
          <p:cNvPr id="242" name="Google Shape;242;p2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547700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8: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p3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39: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p39: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Train/Dev/Test Sets: Datasets are split into three sets - train (for training the model), dev (for </a:t>
            </a:r>
            <a:r>
              <a:rPr lang="en-US" sz="1200" b="0" i="0" u="none" strike="noStrike" cap="none" dirty="0" err="1" smtClean="0">
                <a:solidFill>
                  <a:schemeClr val="dk1"/>
                </a:solidFill>
                <a:latin typeface="Calibri"/>
                <a:ea typeface="Century Schoolbook"/>
                <a:cs typeface="Century Schoolbook"/>
                <a:sym typeface="Century Schoolbook"/>
              </a:rPr>
              <a:t>hyperparameter</a:t>
            </a:r>
            <a:r>
              <a:rPr lang="en-US" sz="1200" b="0" i="0" u="none" strike="noStrike" cap="none" dirty="0" smtClean="0">
                <a:solidFill>
                  <a:schemeClr val="dk1"/>
                </a:solidFill>
                <a:latin typeface="Calibri"/>
                <a:ea typeface="Century Schoolbook"/>
                <a:cs typeface="Century Schoolbook"/>
                <a:sym typeface="Century Schoolbook"/>
              </a:rPr>
              <a:t> tuning), and test (for final evaluation).</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Bias/Variance: Bias refers to the error from </a:t>
            </a:r>
            <a:r>
              <a:rPr lang="en-US" sz="1200" b="0" i="0" u="none" strike="noStrike" cap="none" dirty="0" err="1" smtClean="0">
                <a:solidFill>
                  <a:schemeClr val="dk1"/>
                </a:solidFill>
                <a:latin typeface="Calibri"/>
                <a:ea typeface="Century Schoolbook"/>
                <a:cs typeface="Century Schoolbook"/>
                <a:sym typeface="Century Schoolbook"/>
              </a:rPr>
              <a:t>underfitting</a:t>
            </a:r>
            <a:r>
              <a:rPr lang="en-US" sz="1200" b="0" i="0" u="none" strike="noStrike" cap="none" dirty="0" smtClean="0">
                <a:solidFill>
                  <a:schemeClr val="dk1"/>
                </a:solidFill>
                <a:latin typeface="Calibri"/>
                <a:ea typeface="Century Schoolbook"/>
                <a:cs typeface="Century Schoolbook"/>
                <a:sym typeface="Century Schoolbook"/>
              </a:rPr>
              <a:t>, and variance refers to sensitivity to data fluctuations, leading to overfitting.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Basic "Recipe" for Machine Learning: Steps for building and evaluating machine learning models, including data gathering, splitting, model selection, initialization, training, validation, and testing.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Regularization: Technique to prevent overfitting by adding penalty terms to the cost function, discouraging complex models.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Why Regularization Reduces Overfitting: Regularization penalizes complexity, leading to more generalizable models.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Dropout Regularization: Randomly drops neurons during training to reduce overfitting.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Understanding Dropout: Dropout improves generalization by avoiding over-reliance on specific neurons.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Other Regularization Methods: L1, L2 regularization, elastic net, and early stopping are alternative regularization techniques.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Normalizing Inputs: Scaling input features to have zero mean and unit variance can enhance convergence in optimization algorithms.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Vanishing/Exploding Gradients: Issues with gradients becoming too small or large during backpropagation in deep networks.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Numerical Approximation of Gradients: Technique to verify the correctness of analytical gradients using finite differences.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Gradient Checking: Process of comparing analytical and numerical gradients to ensure accurate gradient computations.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Gradient Checking Implementation Notes: Implementation steps for gradient checking.</a:t>
            </a:r>
          </a:p>
          <a:p>
            <a:pPr marL="0" lvl="0" indent="0" algn="l" rtl="0">
              <a:lnSpc>
                <a:spcPct val="100000"/>
              </a:lnSpc>
              <a:spcBef>
                <a:spcPts val="0"/>
              </a:spcBef>
              <a:spcAft>
                <a:spcPts val="0"/>
              </a:spcAft>
              <a:buSzPts val="1400"/>
              <a:buNone/>
            </a:pPr>
            <a:endParaRPr dirty="0"/>
          </a:p>
        </p:txBody>
      </p:sp>
      <p:sp>
        <p:nvSpPr>
          <p:cNvPr id="415" name="Google Shape;415;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64246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0: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Train/Dev/Test Sets: Datasets are split into three sets - train (for training the model), dev (for </a:t>
            </a:r>
            <a:r>
              <a:rPr lang="en-US" sz="1200" b="0" i="0" u="none" strike="noStrike" cap="none" dirty="0" err="1" smtClean="0">
                <a:solidFill>
                  <a:schemeClr val="dk1"/>
                </a:solidFill>
                <a:latin typeface="Calibri"/>
                <a:ea typeface="Century Schoolbook"/>
                <a:cs typeface="Century Schoolbook"/>
                <a:sym typeface="Century Schoolbook"/>
              </a:rPr>
              <a:t>hyperparameter</a:t>
            </a:r>
            <a:r>
              <a:rPr lang="en-US" sz="1200" b="0" i="0" u="none" strike="noStrike" cap="none" dirty="0" smtClean="0">
                <a:solidFill>
                  <a:schemeClr val="dk1"/>
                </a:solidFill>
                <a:latin typeface="Calibri"/>
                <a:ea typeface="Century Schoolbook"/>
                <a:cs typeface="Century Schoolbook"/>
                <a:sym typeface="Century Schoolbook"/>
              </a:rPr>
              <a:t> tuning), and test (for final evaluation).</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Bias/Variance: Bias refers to the error from </a:t>
            </a:r>
            <a:r>
              <a:rPr lang="en-US" sz="1200" b="0" i="0" u="none" strike="noStrike" cap="none" dirty="0" err="1" smtClean="0">
                <a:solidFill>
                  <a:schemeClr val="dk1"/>
                </a:solidFill>
                <a:latin typeface="Calibri"/>
                <a:ea typeface="Century Schoolbook"/>
                <a:cs typeface="Century Schoolbook"/>
                <a:sym typeface="Century Schoolbook"/>
              </a:rPr>
              <a:t>underfitting</a:t>
            </a:r>
            <a:r>
              <a:rPr lang="en-US" sz="1200" b="0" i="0" u="none" strike="noStrike" cap="none" dirty="0" smtClean="0">
                <a:solidFill>
                  <a:schemeClr val="dk1"/>
                </a:solidFill>
                <a:latin typeface="Calibri"/>
                <a:ea typeface="Century Schoolbook"/>
                <a:cs typeface="Century Schoolbook"/>
                <a:sym typeface="Century Schoolbook"/>
              </a:rPr>
              <a:t>, and variance refers to sensitivity to data fluctuations, leading to overfitting.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Basic "Recipe" for Machine Learning: Steps for building and evaluating machine learning models, including data gathering, splitting, model selection, initialization, training, validation, and testing.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Regularization: Technique to prevent overfitting by adding penalty terms to the cost function, discouraging complex models.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Why Regularization Reduces Overfitting: Regularization penalizes complexity, leading to more generalizable models.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Dropout Regularization: Randomly drops neurons during training to reduce overfitting.</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Understanding Dropout: Dropout improves generalization by avoiding over-reliance on specific neurons.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Other Regularization Methods: L1, L2 regularization, elastic net, and early stopping are alternative regularization techniques.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Normalizing Inputs: Scaling input features to have zero mean and unit variance can enhance convergence in optimization algorithms.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Vanishing/Exploding Gradients: Issues with gradients becoming too small or large during backpropagation in deep networks.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Numerical Approximation of Gradients: Technique to verify the correctness of analytical gradients using finite differences.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Gradient Checking: Process of comparing analytical and numerical gradients to ensure accurate gradient computations.</a:t>
            </a:r>
          </a:p>
          <a:p>
            <a:pPr marL="229870" lvl="0" indent="-217804">
              <a:buClr>
                <a:schemeClr val="dk1"/>
              </a:buClr>
              <a:buSzPts val="2800"/>
              <a:buFont typeface="Century Schoolbook"/>
              <a:buChar char="-"/>
            </a:pPr>
            <a:r>
              <a:rPr lang="en-US" sz="1200" b="0" i="0" u="none" strike="noStrike" cap="none" dirty="0" smtClean="0">
                <a:solidFill>
                  <a:schemeClr val="dk1"/>
                </a:solidFill>
                <a:latin typeface="Calibri"/>
                <a:ea typeface="Century Schoolbook"/>
                <a:cs typeface="Century Schoolbook"/>
                <a:sym typeface="Century Schoolbook"/>
              </a:rPr>
              <a:t>Gradient Checking Implementation Notes: Implementation steps for gradient checking.</a:t>
            </a:r>
          </a:p>
          <a:p>
            <a:pPr marL="0" lvl="0" indent="0" algn="l" rtl="0">
              <a:lnSpc>
                <a:spcPct val="100000"/>
              </a:lnSpc>
              <a:spcBef>
                <a:spcPts val="0"/>
              </a:spcBef>
              <a:spcAft>
                <a:spcPts val="0"/>
              </a:spcAft>
              <a:buSzPts val="1400"/>
              <a:buNone/>
            </a:pPr>
            <a:endParaRPr dirty="0"/>
          </a:p>
        </p:txBody>
      </p:sp>
      <p:sp>
        <p:nvSpPr>
          <p:cNvPr id="415" name="Google Shape;415;p40: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7936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42"/>
          <p:cNvSpPr txBox="1">
            <a:spLocks noGrp="1"/>
          </p:cNvSpPr>
          <p:nvPr>
            <p:ph type="title"/>
          </p:nvPr>
        </p:nvSpPr>
        <p:spPr>
          <a:xfrm>
            <a:off x="1083284" y="1325025"/>
            <a:ext cx="10025430"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2"/>
          <p:cNvSpPr txBox="1">
            <a:spLocks noGrp="1"/>
          </p:cNvSpPr>
          <p:nvPr>
            <p:ph type="body" idx="1"/>
          </p:nvPr>
        </p:nvSpPr>
        <p:spPr>
          <a:xfrm>
            <a:off x="419735" y="1418166"/>
            <a:ext cx="11352529" cy="176974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8" name="Google Shape;18;p4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1"/>
        <p:cNvGrpSpPr/>
        <p:nvPr/>
      </p:nvGrpSpPr>
      <p:grpSpPr>
        <a:xfrm>
          <a:off x="0" y="0"/>
          <a:ext cx="0" cy="0"/>
          <a:chOff x="0" y="0"/>
          <a:chExt cx="0" cy="0"/>
        </a:xfrm>
      </p:grpSpPr>
      <p:sp>
        <p:nvSpPr>
          <p:cNvPr id="22" name="Google Shape;22;p43"/>
          <p:cNvSpPr txBox="1">
            <a:spLocks noGrp="1"/>
          </p:cNvSpPr>
          <p:nvPr>
            <p:ph type="title"/>
          </p:nvPr>
        </p:nvSpPr>
        <p:spPr>
          <a:xfrm>
            <a:off x="1083284" y="1325025"/>
            <a:ext cx="10025430"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3"/>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
        <p:nvSpPr>
          <p:cNvPr id="27" name="Google Shape;27;p44"/>
          <p:cNvSpPr txBox="1">
            <a:spLocks noGrp="1"/>
          </p:cNvSpPr>
          <p:nvPr>
            <p:ph type="ctrTitle"/>
          </p:nvPr>
        </p:nvSpPr>
        <p:spPr>
          <a:xfrm>
            <a:off x="239453" y="106445"/>
            <a:ext cx="11713093" cy="69596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4"/>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4"/>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4"/>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4"/>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45"/>
          <p:cNvSpPr txBox="1">
            <a:spLocks noGrp="1"/>
          </p:cNvSpPr>
          <p:nvPr>
            <p:ph type="title"/>
          </p:nvPr>
        </p:nvSpPr>
        <p:spPr>
          <a:xfrm>
            <a:off x="1083284" y="1325025"/>
            <a:ext cx="10025430" cy="176974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6000"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5"/>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5" name="Google Shape;35;p45"/>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36" name="Google Shape;36;p45"/>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5"/>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5"/>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9"/>
        <p:cNvGrpSpPr/>
        <p:nvPr/>
      </p:nvGrpSpPr>
      <p:grpSpPr>
        <a:xfrm>
          <a:off x="0" y="0"/>
          <a:ext cx="0" cy="0"/>
          <a:chOff x="0" y="0"/>
          <a:chExt cx="0" cy="0"/>
        </a:xfrm>
      </p:grpSpPr>
      <p:sp>
        <p:nvSpPr>
          <p:cNvPr id="40" name="Google Shape;40;p4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1"/>
          <p:cNvSpPr txBox="1">
            <a:spLocks noGrp="1"/>
          </p:cNvSpPr>
          <p:nvPr>
            <p:ph type="title"/>
          </p:nvPr>
        </p:nvSpPr>
        <p:spPr>
          <a:xfrm>
            <a:off x="1083284" y="1325025"/>
            <a:ext cx="10025430" cy="176974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1"/>
          <p:cNvSpPr txBox="1">
            <a:spLocks noGrp="1"/>
          </p:cNvSpPr>
          <p:nvPr>
            <p:ph type="body" idx="1"/>
          </p:nvPr>
        </p:nvSpPr>
        <p:spPr>
          <a:xfrm>
            <a:off x="419735" y="1418166"/>
            <a:ext cx="11352529" cy="176974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2" name="Google Shape;12;p4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4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18/10/relationships/comments" Target="../comments/modernComment_101_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microsoft.com/office/2018/10/relationships/comments" Target="../comments/modernComment_102_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microsoft.com/office/2018/10/relationships/comments" Target="../comments/modernComment_128_A617B6CE.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microsoft.com/office/2018/10/relationships/comments" Target="../comments/modernComment_129_8EF2113B.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microsoft.com/office/2018/10/relationships/comments" Target="../comments/modernComment_12D_16FC98CD.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microsoft.com/office/2018/10/relationships/comments" Target="../comments/modernComment_10A_0.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0.png"/><Relationship Id="rId12" Type="http://schemas.openxmlformats.org/officeDocument/2006/relationships/image" Target="../media/image25.png"/><Relationship Id="rId17" Type="http://schemas.openxmlformats.org/officeDocument/2006/relationships/image" Target="../media/image30.png"/><Relationship Id="rId2" Type="http://schemas.openxmlformats.org/officeDocument/2006/relationships/notesSlide" Target="../notesSlides/notesSlide42.xml"/><Relationship Id="rId16" Type="http://schemas.openxmlformats.org/officeDocument/2006/relationships/image" Target="../media/image29.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jp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3.xml"/><Relationship Id="rId4" Type="http://schemas.microsoft.com/office/2018/10/relationships/comments" Target="../comments/modernComment_141_BC64344B.xml"/></Relationships>
</file>

<file path=ppt/slides/_rels/slide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3.xml"/><Relationship Id="rId4" Type="http://schemas.microsoft.com/office/2018/10/relationships/comments" Target="../comments/modernComment_143_1D562C36.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microsoft.com/office/2018/10/relationships/comments" Target="../comments/modernComment_143_1D562C36.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microsoft.com/office/2018/10/relationships/comments" Target="../comments/modernComment_143_1D562C36.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microsoft.com/office/2018/10/relationships/comments" Target="../comments/modernComment_127_0.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1.xml"/><Relationship Id="rId4" Type="http://schemas.microsoft.com/office/2018/10/relationships/comments" Target="../comments/modernComment_127_0.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1.xml"/><Relationship Id="rId4" Type="http://schemas.microsoft.com/office/2018/10/relationships/comments" Target="../comments/modernComment_127_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g21c9f538093_0_0"/>
          <p:cNvSpPr txBox="1">
            <a:spLocks noGrp="1"/>
          </p:cNvSpPr>
          <p:nvPr>
            <p:ph type="title"/>
          </p:nvPr>
        </p:nvSpPr>
        <p:spPr>
          <a:xfrm>
            <a:off x="417325" y="152125"/>
            <a:ext cx="11373160" cy="1878976"/>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5400" dirty="0" smtClean="0">
                <a:solidFill>
                  <a:srgbClr val="0F0F0F"/>
                </a:solidFill>
                <a:highlight>
                  <a:srgbClr val="FFFFFF"/>
                </a:highlight>
                <a:latin typeface="Roboto"/>
                <a:ea typeface="Roboto"/>
                <a:cs typeface="Roboto"/>
                <a:sym typeface="Roboto"/>
              </a:rPr>
              <a:t>Practical </a:t>
            </a:r>
            <a:r>
              <a:rPr lang="en-US" sz="5400" dirty="0">
                <a:solidFill>
                  <a:srgbClr val="0F0F0F"/>
                </a:solidFill>
                <a:highlight>
                  <a:srgbClr val="FFFFFF"/>
                </a:highlight>
                <a:latin typeface="Roboto"/>
                <a:ea typeface="Roboto"/>
                <a:cs typeface="Roboto"/>
                <a:sym typeface="Roboto"/>
              </a:rPr>
              <a:t>Aspects of Deep Learning</a:t>
            </a:r>
            <a:endParaRPr sz="5400" dirty="0">
              <a:solidFill>
                <a:srgbClr val="0F0F0F"/>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400"/>
              <a:buNone/>
            </a:pPr>
            <a:endParaRPr dirty="0"/>
          </a:p>
        </p:txBody>
      </p:sp>
      <p:sp>
        <p:nvSpPr>
          <p:cNvPr id="49" name="Google Shape;49;g21c9f538093_0_0"/>
          <p:cNvSpPr txBox="1">
            <a:spLocks noGrp="1"/>
          </p:cNvSpPr>
          <p:nvPr>
            <p:ph type="body" idx="1"/>
          </p:nvPr>
        </p:nvSpPr>
        <p:spPr>
          <a:xfrm>
            <a:off x="4845269" y="1536575"/>
            <a:ext cx="7189076" cy="4124206"/>
          </a:xfrm>
          <a:prstGeom prst="rect">
            <a:avLst/>
          </a:prstGeom>
          <a:noFill/>
          <a:ln>
            <a:noFill/>
          </a:ln>
        </p:spPr>
        <p:txBody>
          <a:bodyPr spcFirstLastPara="1" wrap="square" lIns="0" tIns="0" rIns="0" bIns="0" anchor="t" anchorCtr="0">
            <a:spAutoFit/>
          </a:bodyPr>
          <a:lstStyle/>
          <a:p>
            <a:pPr marL="0" lvl="0" indent="0"/>
            <a:r>
              <a:rPr lang="en-US" sz="2400" b="1" dirty="0" smtClean="0">
                <a:latin typeface="+mj-lt"/>
              </a:rPr>
              <a:t>Learning Objective:</a:t>
            </a:r>
          </a:p>
          <a:p>
            <a:pPr marL="342900" lvl="0" indent="-342900">
              <a:buSzPct val="100000"/>
              <a:buFont typeface="Arial" panose="020B0604020202020204" pitchFamily="34" charset="0"/>
              <a:buChar char="•"/>
            </a:pPr>
            <a:r>
              <a:rPr lang="en-US" sz="2000" dirty="0" smtClean="0">
                <a:latin typeface="+mj-lt"/>
              </a:rPr>
              <a:t>Give </a:t>
            </a:r>
            <a:r>
              <a:rPr lang="en-US" sz="2000" dirty="0">
                <a:latin typeface="+mj-lt"/>
              </a:rPr>
              <a:t>examples of how different types of initializations can lead to different results</a:t>
            </a:r>
          </a:p>
          <a:p>
            <a:pPr marL="342900" lvl="0" indent="-342900">
              <a:buSzPct val="100000"/>
              <a:buFont typeface="Arial" panose="020B0604020202020204" pitchFamily="34" charset="0"/>
              <a:buChar char="•"/>
            </a:pPr>
            <a:r>
              <a:rPr lang="en-US" sz="2000" dirty="0" smtClean="0">
                <a:latin typeface="+mj-lt"/>
              </a:rPr>
              <a:t>Examine </a:t>
            </a:r>
            <a:r>
              <a:rPr lang="en-US" sz="2000" dirty="0">
                <a:latin typeface="+mj-lt"/>
              </a:rPr>
              <a:t>the importance of initialization in complex neural networks</a:t>
            </a:r>
          </a:p>
          <a:p>
            <a:pPr marL="342900" lvl="0" indent="-342900">
              <a:buSzPct val="100000"/>
              <a:buFont typeface="Arial" panose="020B0604020202020204" pitchFamily="34" charset="0"/>
              <a:buChar char="•"/>
            </a:pPr>
            <a:r>
              <a:rPr lang="en-US" sz="2000" dirty="0" smtClean="0">
                <a:latin typeface="+mj-lt"/>
              </a:rPr>
              <a:t>Explain </a:t>
            </a:r>
            <a:r>
              <a:rPr lang="en-US" sz="2000" dirty="0">
                <a:latin typeface="+mj-lt"/>
              </a:rPr>
              <a:t>the difference between train/dev/test sets</a:t>
            </a:r>
          </a:p>
          <a:p>
            <a:pPr marL="342900" lvl="0" indent="-342900">
              <a:buSzPct val="100000"/>
              <a:buFont typeface="Arial" panose="020B0604020202020204" pitchFamily="34" charset="0"/>
              <a:buChar char="•"/>
            </a:pPr>
            <a:r>
              <a:rPr lang="en-US" sz="2000" smtClean="0">
                <a:latin typeface="+mj-lt"/>
              </a:rPr>
              <a:t>Diagnose </a:t>
            </a:r>
            <a:r>
              <a:rPr lang="en-US" sz="2000" dirty="0">
                <a:latin typeface="+mj-lt"/>
              </a:rPr>
              <a:t>the bias and variance issues in your </a:t>
            </a:r>
            <a:r>
              <a:rPr lang="en-US" sz="2000" dirty="0" smtClean="0">
                <a:latin typeface="+mj-lt"/>
              </a:rPr>
              <a:t>model</a:t>
            </a:r>
          </a:p>
          <a:p>
            <a:pPr marL="342900" indent="-342900">
              <a:buSzPct val="100000"/>
              <a:buFont typeface="Arial" panose="020B0604020202020204" pitchFamily="34" charset="0"/>
              <a:buChar char="•"/>
            </a:pPr>
            <a:r>
              <a:rPr lang="en-US" sz="2000" dirty="0" smtClean="0">
                <a:latin typeface="+mj-lt"/>
              </a:rPr>
              <a:t>Assess </a:t>
            </a:r>
            <a:r>
              <a:rPr lang="en-US" sz="2000" dirty="0">
                <a:latin typeface="+mj-lt"/>
              </a:rPr>
              <a:t>the right time and place for using regularization methods such as dropout or L2 </a:t>
            </a:r>
            <a:r>
              <a:rPr lang="en-US" sz="2000" dirty="0" smtClean="0">
                <a:latin typeface="+mj-lt"/>
              </a:rPr>
              <a:t>regularization</a:t>
            </a:r>
          </a:p>
          <a:p>
            <a:pPr marL="342900" lvl="0" indent="-342900">
              <a:buSzPct val="100000"/>
              <a:buFont typeface="Arial" panose="020B0604020202020204" pitchFamily="34" charset="0"/>
              <a:buChar char="•"/>
            </a:pPr>
            <a:r>
              <a:rPr lang="en-US" sz="2000" dirty="0" smtClean="0">
                <a:latin typeface="+mj-lt"/>
              </a:rPr>
              <a:t>Explain </a:t>
            </a:r>
            <a:r>
              <a:rPr lang="en-US" sz="2000" dirty="0">
                <a:latin typeface="+mj-lt"/>
              </a:rPr>
              <a:t>Vanishing and Exploding gradients and how to deal with them</a:t>
            </a:r>
          </a:p>
          <a:p>
            <a:pPr marL="342900" lvl="0" indent="-342900">
              <a:buSzPct val="100000"/>
              <a:buFont typeface="Arial" panose="020B0604020202020204" pitchFamily="34" charset="0"/>
              <a:buChar char="•"/>
            </a:pPr>
            <a:r>
              <a:rPr lang="en-US" sz="2000" dirty="0" smtClean="0">
                <a:latin typeface="+mj-lt"/>
              </a:rPr>
              <a:t>Use </a:t>
            </a:r>
            <a:r>
              <a:rPr lang="en-US" sz="2000" dirty="0">
                <a:latin typeface="+mj-lt"/>
              </a:rPr>
              <a:t>gradient checking to verify the accuracy of your backpropagation </a:t>
            </a:r>
            <a:r>
              <a:rPr lang="en-US" sz="2000" dirty="0" smtClean="0">
                <a:latin typeface="+mj-lt"/>
              </a:rPr>
              <a:t>implementation</a:t>
            </a:r>
            <a:endParaRPr lang="en-US" sz="2000" dirty="0">
              <a:latin typeface="+mj-lt"/>
            </a:endParaRPr>
          </a:p>
        </p:txBody>
      </p:sp>
      <p:pic>
        <p:nvPicPr>
          <p:cNvPr id="50" name="Google Shape;50;g21c9f538093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51" name="Google Shape;51;g21c9f538093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g21c9f538093_0_0"/>
          <p:cNvSpPr txBox="1">
            <a:spLocks noGrp="1"/>
          </p:cNvSpPr>
          <p:nvPr>
            <p:ph type="title"/>
          </p:nvPr>
        </p:nvSpPr>
        <p:spPr>
          <a:xfrm>
            <a:off x="417325" y="152125"/>
            <a:ext cx="11373160" cy="1878976"/>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Clr>
                <a:schemeClr val="dk1"/>
              </a:buClr>
              <a:buSzPts val="1100"/>
              <a:buFont typeface="Arial"/>
              <a:buNone/>
            </a:pPr>
            <a:r>
              <a:rPr lang="en-US" sz="5400" dirty="0" smtClean="0">
                <a:solidFill>
                  <a:srgbClr val="0F0F0F"/>
                </a:solidFill>
                <a:highlight>
                  <a:srgbClr val="FFFFFF"/>
                </a:highlight>
                <a:latin typeface="Roboto"/>
                <a:ea typeface="Roboto"/>
                <a:cs typeface="Roboto"/>
                <a:sym typeface="Roboto"/>
              </a:rPr>
              <a:t>Practical </a:t>
            </a:r>
            <a:r>
              <a:rPr lang="en-US" sz="5400" dirty="0">
                <a:solidFill>
                  <a:srgbClr val="0F0F0F"/>
                </a:solidFill>
                <a:highlight>
                  <a:srgbClr val="FFFFFF"/>
                </a:highlight>
                <a:latin typeface="Roboto"/>
                <a:ea typeface="Roboto"/>
                <a:cs typeface="Roboto"/>
                <a:sym typeface="Roboto"/>
              </a:rPr>
              <a:t>Aspects of Deep Learning</a:t>
            </a:r>
            <a:endParaRPr sz="5400" dirty="0">
              <a:solidFill>
                <a:srgbClr val="0F0F0F"/>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400"/>
              <a:buNone/>
            </a:pPr>
            <a:endParaRPr dirty="0"/>
          </a:p>
        </p:txBody>
      </p:sp>
      <p:sp>
        <p:nvSpPr>
          <p:cNvPr id="49" name="Google Shape;49;g21c9f538093_0_0"/>
          <p:cNvSpPr txBox="1">
            <a:spLocks noGrp="1"/>
          </p:cNvSpPr>
          <p:nvPr>
            <p:ph type="body" idx="1"/>
          </p:nvPr>
        </p:nvSpPr>
        <p:spPr>
          <a:xfrm>
            <a:off x="5315300" y="1536575"/>
            <a:ext cx="5726400" cy="4801314"/>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sz="2400" dirty="0"/>
              <a:t>1 Train/dev/test  sets</a:t>
            </a:r>
            <a:endParaRPr sz="2400" dirty="0"/>
          </a:p>
          <a:p>
            <a:pPr marL="0" lvl="0" indent="0" algn="l" rtl="0">
              <a:lnSpc>
                <a:spcPct val="100000"/>
              </a:lnSpc>
              <a:spcBef>
                <a:spcPts val="0"/>
              </a:spcBef>
              <a:spcAft>
                <a:spcPts val="0"/>
              </a:spcAft>
              <a:buSzPts val="1400"/>
              <a:buNone/>
            </a:pPr>
            <a:r>
              <a:rPr lang="en-US" sz="2400" dirty="0"/>
              <a:t>2 Bias/Variance</a:t>
            </a:r>
            <a:endParaRPr sz="2400" dirty="0"/>
          </a:p>
          <a:p>
            <a:pPr marL="0" lvl="0" indent="0" algn="l" rtl="0">
              <a:lnSpc>
                <a:spcPct val="100000"/>
              </a:lnSpc>
              <a:spcBef>
                <a:spcPts val="0"/>
              </a:spcBef>
              <a:spcAft>
                <a:spcPts val="0"/>
              </a:spcAft>
              <a:buSzPts val="1400"/>
              <a:buNone/>
            </a:pPr>
            <a:r>
              <a:rPr lang="en-US" sz="2400" dirty="0"/>
              <a:t>3 Basic “recipe” for machine learning</a:t>
            </a:r>
            <a:endParaRPr sz="2400" dirty="0"/>
          </a:p>
          <a:p>
            <a:pPr marL="0" lvl="0" indent="0" algn="l" rtl="0">
              <a:lnSpc>
                <a:spcPct val="100000"/>
              </a:lnSpc>
              <a:spcBef>
                <a:spcPts val="0"/>
              </a:spcBef>
              <a:spcAft>
                <a:spcPts val="0"/>
              </a:spcAft>
              <a:buSzPts val="1400"/>
              <a:buNone/>
            </a:pPr>
            <a:r>
              <a:rPr lang="en-US" sz="2400" dirty="0"/>
              <a:t>4 Regularization</a:t>
            </a:r>
            <a:endParaRPr sz="2400" dirty="0"/>
          </a:p>
          <a:p>
            <a:pPr marL="0" lvl="0" indent="0" algn="l" rtl="0">
              <a:lnSpc>
                <a:spcPct val="100000"/>
              </a:lnSpc>
              <a:spcBef>
                <a:spcPts val="0"/>
              </a:spcBef>
              <a:spcAft>
                <a:spcPts val="0"/>
              </a:spcAft>
              <a:buSzPts val="1400"/>
              <a:buNone/>
            </a:pPr>
            <a:r>
              <a:rPr lang="en-US" sz="2400" dirty="0"/>
              <a:t>5 Why regularization reduces overfitting</a:t>
            </a:r>
            <a:endParaRPr sz="2400" dirty="0"/>
          </a:p>
          <a:p>
            <a:pPr marL="0" lvl="0" indent="0" algn="l" rtl="0">
              <a:lnSpc>
                <a:spcPct val="100000"/>
              </a:lnSpc>
              <a:spcBef>
                <a:spcPts val="0"/>
              </a:spcBef>
              <a:spcAft>
                <a:spcPts val="0"/>
              </a:spcAft>
              <a:buSzPts val="1400"/>
              <a:buNone/>
            </a:pPr>
            <a:r>
              <a:rPr lang="en-US" sz="2400" dirty="0"/>
              <a:t>6 Dropout regularization</a:t>
            </a:r>
            <a:endParaRPr sz="2400" dirty="0"/>
          </a:p>
          <a:p>
            <a:pPr marL="0" lvl="0" indent="0" algn="l" rtl="0">
              <a:lnSpc>
                <a:spcPct val="100000"/>
              </a:lnSpc>
              <a:spcBef>
                <a:spcPts val="0"/>
              </a:spcBef>
              <a:spcAft>
                <a:spcPts val="0"/>
              </a:spcAft>
              <a:buSzPts val="1400"/>
              <a:buNone/>
            </a:pPr>
            <a:r>
              <a:rPr lang="en-US" sz="2400" dirty="0"/>
              <a:t>7 Understanding dropout</a:t>
            </a:r>
            <a:endParaRPr sz="2400" dirty="0"/>
          </a:p>
          <a:p>
            <a:pPr marL="0" lvl="0" indent="0" algn="l" rtl="0">
              <a:lnSpc>
                <a:spcPct val="100000"/>
              </a:lnSpc>
              <a:spcBef>
                <a:spcPts val="0"/>
              </a:spcBef>
              <a:spcAft>
                <a:spcPts val="0"/>
              </a:spcAft>
              <a:buSzPts val="1400"/>
              <a:buNone/>
            </a:pPr>
            <a:r>
              <a:rPr lang="en-US" sz="2400" dirty="0"/>
              <a:t>8 Other regularization methods</a:t>
            </a:r>
            <a:endParaRPr sz="2400" dirty="0"/>
          </a:p>
          <a:p>
            <a:pPr marL="0" lvl="0" indent="0" algn="l" rtl="0">
              <a:lnSpc>
                <a:spcPct val="100000"/>
              </a:lnSpc>
              <a:spcBef>
                <a:spcPts val="0"/>
              </a:spcBef>
              <a:spcAft>
                <a:spcPts val="0"/>
              </a:spcAft>
              <a:buSzPts val="1400"/>
              <a:buNone/>
            </a:pPr>
            <a:r>
              <a:rPr lang="en-US" sz="2400" dirty="0"/>
              <a:t>9 Normalizing inputs</a:t>
            </a:r>
            <a:endParaRPr sz="2400" dirty="0"/>
          </a:p>
          <a:p>
            <a:pPr marL="0" lvl="0" indent="0" algn="l" rtl="0">
              <a:lnSpc>
                <a:spcPct val="100000"/>
              </a:lnSpc>
              <a:spcBef>
                <a:spcPts val="0"/>
              </a:spcBef>
              <a:spcAft>
                <a:spcPts val="0"/>
              </a:spcAft>
              <a:buSzPts val="1400"/>
              <a:buNone/>
            </a:pPr>
            <a:r>
              <a:rPr lang="en-US" sz="2400" dirty="0"/>
              <a:t>10 Vanishing/exploding gradients</a:t>
            </a:r>
            <a:endParaRPr sz="2400" dirty="0"/>
          </a:p>
          <a:p>
            <a:pPr marL="0" lvl="0" indent="0" algn="l" rtl="0">
              <a:lnSpc>
                <a:spcPct val="100000"/>
              </a:lnSpc>
              <a:spcBef>
                <a:spcPts val="0"/>
              </a:spcBef>
              <a:spcAft>
                <a:spcPts val="0"/>
              </a:spcAft>
              <a:buSzPts val="1400"/>
              <a:buNone/>
            </a:pPr>
            <a:r>
              <a:rPr lang="en-US" sz="2400" dirty="0"/>
              <a:t>11 Numerical approximation of gradients</a:t>
            </a:r>
            <a:endParaRPr sz="2400" dirty="0"/>
          </a:p>
          <a:p>
            <a:pPr marL="0" lvl="0" indent="0" algn="l" rtl="0">
              <a:lnSpc>
                <a:spcPct val="100000"/>
              </a:lnSpc>
              <a:spcBef>
                <a:spcPts val="0"/>
              </a:spcBef>
              <a:spcAft>
                <a:spcPts val="0"/>
              </a:spcAft>
              <a:buSzPts val="1400"/>
              <a:buNone/>
            </a:pPr>
            <a:r>
              <a:rPr lang="en-US" sz="2400" dirty="0"/>
              <a:t>12 Gradient Checking</a:t>
            </a:r>
            <a:endParaRPr sz="2400" dirty="0"/>
          </a:p>
          <a:p>
            <a:pPr marL="0" lvl="0" indent="0" algn="l" rtl="0">
              <a:lnSpc>
                <a:spcPct val="100000"/>
              </a:lnSpc>
              <a:spcBef>
                <a:spcPts val="0"/>
              </a:spcBef>
              <a:spcAft>
                <a:spcPts val="0"/>
              </a:spcAft>
              <a:buSzPts val="1400"/>
              <a:buNone/>
            </a:pPr>
            <a:r>
              <a:rPr lang="en-US" sz="2400" dirty="0"/>
              <a:t>13 Gradient Checking implementation </a:t>
            </a:r>
            <a:r>
              <a:rPr lang="en-US" sz="2400" dirty="0" smtClean="0"/>
              <a:t>notes</a:t>
            </a:r>
            <a:endParaRPr sz="2400" dirty="0"/>
          </a:p>
        </p:txBody>
      </p:sp>
      <p:pic>
        <p:nvPicPr>
          <p:cNvPr id="50" name="Google Shape;50;g21c9f538093_0_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51" name="Google Shape;51;g21c9f538093_0_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a:t>
            </a:fld>
            <a:endParaRPr/>
          </a:p>
        </p:txBody>
      </p:sp>
    </p:spTree>
    <p:extLst>
      <p:ext uri="{BB962C8B-B14F-4D97-AF65-F5344CB8AC3E}">
        <p14:creationId xmlns:p14="http://schemas.microsoft.com/office/powerpoint/2010/main" val="532299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5"/>
        <p:cNvGrpSpPr/>
        <p:nvPr/>
      </p:nvGrpSpPr>
      <p:grpSpPr>
        <a:xfrm>
          <a:off x="0" y="0"/>
          <a:ext cx="0" cy="0"/>
          <a:chOff x="0" y="0"/>
          <a:chExt cx="0" cy="0"/>
        </a:xfrm>
      </p:grpSpPr>
      <p:sp>
        <p:nvSpPr>
          <p:cNvPr id="56" name="Google Shape;56;p2"/>
          <p:cNvSpPr txBox="1">
            <a:spLocks noGrp="1"/>
          </p:cNvSpPr>
          <p:nvPr>
            <p:ph type="title"/>
          </p:nvPr>
        </p:nvSpPr>
        <p:spPr>
          <a:xfrm>
            <a:off x="1083284" y="1325025"/>
            <a:ext cx="10025430" cy="1769745"/>
          </a:xfrm>
          <a:prstGeom prst="rect">
            <a:avLst/>
          </a:prstGeom>
          <a:noFill/>
          <a:ln>
            <a:noFill/>
          </a:ln>
        </p:spPr>
        <p:txBody>
          <a:bodyPr spcFirstLastPara="1" wrap="square" lIns="0" tIns="110475" rIns="0" bIns="0" anchor="t" anchorCtr="0">
            <a:spAutoFit/>
          </a:bodyPr>
          <a:lstStyle/>
          <a:p>
            <a:pPr marL="5136515" marR="5080" lvl="0" indent="-73660" algn="l" rtl="0">
              <a:lnSpc>
                <a:spcPct val="108833"/>
              </a:lnSpc>
              <a:spcBef>
                <a:spcPts val="0"/>
              </a:spcBef>
              <a:spcAft>
                <a:spcPts val="0"/>
              </a:spcAft>
              <a:buSzPts val="1400"/>
              <a:buNone/>
            </a:pPr>
            <a:r>
              <a:rPr lang="en-US"/>
              <a:t>Setting up your  ML application</a:t>
            </a:r>
            <a:endParaRPr/>
          </a:p>
        </p:txBody>
      </p:sp>
      <p:sp>
        <p:nvSpPr>
          <p:cNvPr id="57" name="Google Shape;57;p2"/>
          <p:cNvSpPr txBox="1"/>
          <p:nvPr/>
        </p:nvSpPr>
        <p:spPr>
          <a:xfrm>
            <a:off x="6042050" y="3644896"/>
            <a:ext cx="4859100" cy="2056200"/>
          </a:xfrm>
          <a:prstGeom prst="rect">
            <a:avLst/>
          </a:prstGeom>
          <a:noFill/>
          <a:ln>
            <a:noFill/>
          </a:ln>
        </p:spPr>
        <p:txBody>
          <a:bodyPr spcFirstLastPara="1" wrap="square" lIns="0" tIns="31100" rIns="0" bIns="0" anchor="t" anchorCtr="0">
            <a:spAutoFit/>
          </a:bodyPr>
          <a:lstStyle/>
          <a:p>
            <a:pPr marL="1753235" marR="5080" lvl="0" indent="-1741170" algn="l" rtl="0">
              <a:lnSpc>
                <a:spcPct val="119242"/>
              </a:lnSpc>
              <a:spcBef>
                <a:spcPts val="0"/>
              </a:spcBef>
              <a:spcAft>
                <a:spcPts val="0"/>
              </a:spcAft>
              <a:buClr>
                <a:srgbClr val="000000"/>
              </a:buClr>
              <a:buSzPts val="6600"/>
              <a:buFont typeface="Arial"/>
              <a:buNone/>
            </a:pPr>
            <a:r>
              <a:rPr lang="en-US" sz="6000" b="0" i="0" u="none" strike="noStrike" cap="none">
                <a:solidFill>
                  <a:schemeClr val="dk1"/>
                </a:solidFill>
                <a:latin typeface="Calibri"/>
                <a:ea typeface="Calibri"/>
                <a:cs typeface="Calibri"/>
                <a:sym typeface="Calibri"/>
              </a:rPr>
              <a:t>Train/dev/test  sets</a:t>
            </a:r>
            <a:endParaRPr sz="6000" b="0" i="0" u="none" strike="noStrike" cap="none">
              <a:solidFill>
                <a:schemeClr val="dk1"/>
              </a:solidFill>
              <a:latin typeface="Calibri"/>
              <a:ea typeface="Calibri"/>
              <a:cs typeface="Calibri"/>
              <a:sym typeface="Calibri"/>
            </a:endParaRPr>
          </a:p>
        </p:txBody>
      </p:sp>
      <p:sp>
        <p:nvSpPr>
          <p:cNvPr id="58" name="Google Shape;58;p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9" name="Google Shape;59;p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60" name="Google Shape;60;p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a:t>
            </a:fld>
            <a:endParaRPr/>
          </a:p>
        </p:txBody>
      </p:sp>
    </p:spTree>
  </p:cSld>
  <p:clrMapOvr>
    <a:masterClrMapping/>
  </p:clrMapOvr>
  <p:extLst>
    <p:ext uri="{6950BFC3-D8DA-4A85-94F7-54DA5524770B}">
      <p188:commentRel xmlns="" xmlns:p188="http://schemas.microsoft.com/office/powerpoint/2018/8/main" r:id="rId4"/>
    </p:ext>
  </p:extLs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261620" y="139696"/>
            <a:ext cx="103320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Applied ML is a highly iterative process</a:t>
            </a:r>
            <a:endParaRPr sz="4400" dirty="0">
              <a:latin typeface="+mj-lt"/>
              <a:ea typeface="Century Schoolbook"/>
              <a:cs typeface="Century Schoolbook"/>
              <a:sym typeface="Century Schoolbook"/>
            </a:endParaRPr>
          </a:p>
        </p:txBody>
      </p:sp>
      <p:sp>
        <p:nvSpPr>
          <p:cNvPr id="72" name="Google Shape;72;p3"/>
          <p:cNvSpPr txBox="1"/>
          <p:nvPr/>
        </p:nvSpPr>
        <p:spPr>
          <a:xfrm>
            <a:off x="606670" y="1485896"/>
            <a:ext cx="11060722" cy="2967479"/>
          </a:xfrm>
          <a:prstGeom prst="rect">
            <a:avLst/>
          </a:prstGeom>
          <a:noFill/>
          <a:ln>
            <a:noFill/>
          </a:ln>
        </p:spPr>
        <p:txBody>
          <a:bodyPr spcFirstLastPara="1" wrap="square" lIns="0" tIns="12700" rIns="0" bIns="0" anchor="t" anchorCtr="0">
            <a:spAutoFit/>
          </a:bodyPr>
          <a:lstStyle/>
          <a:p>
            <a:pPr marL="469900" lvl="0" indent="-457200">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When </a:t>
            </a:r>
            <a:r>
              <a:rPr lang="en-US" sz="2400" dirty="0">
                <a:solidFill>
                  <a:schemeClr val="dk1"/>
                </a:solidFill>
                <a:latin typeface="+mj-lt"/>
                <a:ea typeface="Century Schoolbook"/>
                <a:cs typeface="Century Schoolbook"/>
                <a:sym typeface="Century Schoolbook"/>
              </a:rPr>
              <a:t>training a neural network, you have to make a lot of decisions such as how many </a:t>
            </a:r>
            <a:r>
              <a:rPr lang="en-US" sz="2400" b="1" dirty="0">
                <a:solidFill>
                  <a:schemeClr val="dk1"/>
                </a:solidFill>
                <a:latin typeface="+mj-lt"/>
                <a:ea typeface="Century Schoolbook"/>
                <a:cs typeface="Century Schoolbook"/>
                <a:sym typeface="Century Schoolbook"/>
              </a:rPr>
              <a:t>layers</a:t>
            </a:r>
            <a:r>
              <a:rPr lang="en-US" sz="2400" dirty="0">
                <a:solidFill>
                  <a:schemeClr val="dk1"/>
                </a:solidFill>
                <a:latin typeface="+mj-lt"/>
                <a:ea typeface="Century Schoolbook"/>
                <a:cs typeface="Century Schoolbook"/>
                <a:sym typeface="Century Schoolbook"/>
              </a:rPr>
              <a:t> and </a:t>
            </a:r>
            <a:r>
              <a:rPr lang="en-US" sz="2400" b="1" dirty="0">
                <a:solidFill>
                  <a:schemeClr val="dk1"/>
                </a:solidFill>
                <a:latin typeface="+mj-lt"/>
                <a:ea typeface="Century Schoolbook"/>
                <a:cs typeface="Century Schoolbook"/>
                <a:sym typeface="Century Schoolbook"/>
              </a:rPr>
              <a:t>hidden units</a:t>
            </a:r>
            <a:r>
              <a:rPr lang="en-US" sz="2400" dirty="0">
                <a:solidFill>
                  <a:schemeClr val="dk1"/>
                </a:solidFill>
                <a:latin typeface="+mj-lt"/>
                <a:ea typeface="Century Schoolbook"/>
                <a:cs typeface="Century Schoolbook"/>
                <a:sym typeface="Century Schoolbook"/>
              </a:rPr>
              <a:t> your network should have, </a:t>
            </a:r>
            <a:r>
              <a:rPr lang="en-US" sz="2400" b="1" dirty="0">
                <a:solidFill>
                  <a:schemeClr val="dk1"/>
                </a:solidFill>
                <a:latin typeface="+mj-lt"/>
                <a:ea typeface="Century Schoolbook"/>
                <a:cs typeface="Century Schoolbook"/>
                <a:sym typeface="Century Schoolbook"/>
              </a:rPr>
              <a:t>the learning rate</a:t>
            </a:r>
            <a:r>
              <a:rPr lang="en-US" sz="2400" dirty="0">
                <a:solidFill>
                  <a:schemeClr val="dk1"/>
                </a:solidFill>
                <a:latin typeface="+mj-lt"/>
                <a:ea typeface="Century Schoolbook"/>
                <a:cs typeface="Century Schoolbook"/>
                <a:sym typeface="Century Schoolbook"/>
              </a:rPr>
              <a:t>, and </a:t>
            </a:r>
            <a:r>
              <a:rPr lang="en-US" sz="2400" b="1" dirty="0">
                <a:solidFill>
                  <a:schemeClr val="dk1"/>
                </a:solidFill>
                <a:latin typeface="+mj-lt"/>
                <a:ea typeface="Century Schoolbook"/>
                <a:cs typeface="Century Schoolbook"/>
                <a:sym typeface="Century Schoolbook"/>
              </a:rPr>
              <a:t>activation functions</a:t>
            </a:r>
            <a:r>
              <a:rPr lang="en-US" sz="2400" dirty="0">
                <a:solidFill>
                  <a:schemeClr val="dk1"/>
                </a:solidFill>
                <a:latin typeface="+mj-lt"/>
                <a:ea typeface="Century Schoolbook"/>
                <a:cs typeface="Century Schoolbook"/>
                <a:sym typeface="Century Schoolbook"/>
              </a:rPr>
              <a:t>. </a:t>
            </a:r>
            <a:endParaRPr lang="en-US" sz="2400" dirty="0" smtClean="0">
              <a:solidFill>
                <a:schemeClr val="dk1"/>
              </a:solidFill>
              <a:latin typeface="+mj-lt"/>
              <a:ea typeface="Century Schoolbook"/>
              <a:cs typeface="Century Schoolbook"/>
              <a:sym typeface="Century Schoolbook"/>
            </a:endParaRPr>
          </a:p>
          <a:p>
            <a:pPr marL="469900" lvl="0" indent="-457200">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However</a:t>
            </a:r>
            <a:r>
              <a:rPr lang="en-US" sz="2400" dirty="0">
                <a:solidFill>
                  <a:schemeClr val="dk1"/>
                </a:solidFill>
                <a:latin typeface="+mj-lt"/>
                <a:ea typeface="Century Schoolbook"/>
                <a:cs typeface="Century Schoolbook"/>
                <a:sym typeface="Century Schoolbook"/>
              </a:rPr>
              <a:t>, it is almost impossible to correctly guess the right values for all of these on your first attempt. </a:t>
            </a:r>
            <a:endParaRPr lang="en-US" sz="2400" dirty="0" smtClean="0">
              <a:solidFill>
                <a:schemeClr val="dk1"/>
              </a:solidFill>
              <a:latin typeface="+mj-lt"/>
              <a:ea typeface="Century Schoolbook"/>
              <a:cs typeface="Century Schoolbook"/>
              <a:sym typeface="Century Schoolbook"/>
            </a:endParaRPr>
          </a:p>
          <a:p>
            <a:pPr marL="469900" lvl="0" indent="-457200">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Therefore</a:t>
            </a:r>
            <a:r>
              <a:rPr lang="en-US" sz="2400" dirty="0">
                <a:solidFill>
                  <a:schemeClr val="dk1"/>
                </a:solidFill>
                <a:latin typeface="+mj-lt"/>
                <a:ea typeface="Century Schoolbook"/>
                <a:cs typeface="Century Schoolbook"/>
                <a:sym typeface="Century Schoolbook"/>
              </a:rPr>
              <a:t>, applied deep learning is an iterative process where you start with an idea and code it up to try it out, and based on the outcome, you refine your ideas and change your choices until you find a better neural network.</a:t>
            </a:r>
            <a:endParaRPr sz="2400" b="0" i="0" u="none" strike="noStrike" cap="none" dirty="0">
              <a:solidFill>
                <a:schemeClr val="dk1"/>
              </a:solidFill>
              <a:latin typeface="+mj-lt"/>
              <a:ea typeface="Century Schoolbook"/>
              <a:cs typeface="Century Schoolbook"/>
              <a:sym typeface="Century Schoolbook"/>
            </a:endParaRPr>
          </a:p>
        </p:txBody>
      </p:sp>
      <p:pic>
        <p:nvPicPr>
          <p:cNvPr id="73" name="Google Shape;73;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4" name="Google Shape;74;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a:t>
            </a:fld>
            <a:endParaRPr/>
          </a:p>
        </p:txBody>
      </p:sp>
    </p:spTree>
  </p:cSld>
  <p:clrMapOvr>
    <a:masterClrMapping/>
  </p:clrMapOvr>
  <p:extLst mod="1">
    <p:ext uri="{6950BFC3-D8DA-4A85-94F7-54DA5524770B}">
      <p188:commentRel xmlns=""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261620" y="139696"/>
            <a:ext cx="103320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Applied ML is a highly iterative process</a:t>
            </a:r>
            <a:endParaRPr sz="4400" dirty="0">
              <a:latin typeface="+mj-lt"/>
              <a:ea typeface="Century Schoolbook"/>
              <a:cs typeface="Century Schoolbook"/>
              <a:sym typeface="Century Schoolbook"/>
            </a:endParaRPr>
          </a:p>
        </p:txBody>
      </p:sp>
      <p:sp>
        <p:nvSpPr>
          <p:cNvPr id="66" name="Google Shape;66;p3"/>
          <p:cNvSpPr txBox="1"/>
          <p:nvPr/>
        </p:nvSpPr>
        <p:spPr>
          <a:xfrm>
            <a:off x="8430590" y="1468966"/>
            <a:ext cx="75057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Idea</a:t>
            </a:r>
            <a:endParaRPr sz="2800" b="0" i="0" u="none" strike="noStrike" cap="none">
              <a:solidFill>
                <a:schemeClr val="dk1"/>
              </a:solidFill>
              <a:latin typeface="Century Schoolbook"/>
              <a:ea typeface="Century Schoolbook"/>
              <a:cs typeface="Century Schoolbook"/>
              <a:sym typeface="Century Schoolbook"/>
            </a:endParaRPr>
          </a:p>
        </p:txBody>
      </p:sp>
      <p:sp>
        <p:nvSpPr>
          <p:cNvPr id="67" name="Google Shape;67;p3"/>
          <p:cNvSpPr txBox="1"/>
          <p:nvPr/>
        </p:nvSpPr>
        <p:spPr>
          <a:xfrm>
            <a:off x="5617083" y="4559131"/>
            <a:ext cx="197548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Experiment</a:t>
            </a:r>
            <a:endParaRPr sz="2800" b="0" i="0" u="none" strike="noStrike" cap="none">
              <a:solidFill>
                <a:schemeClr val="dk1"/>
              </a:solidFill>
              <a:latin typeface="Century Schoolbook"/>
              <a:ea typeface="Century Schoolbook"/>
              <a:cs typeface="Century Schoolbook"/>
              <a:sym typeface="Century Schoolbook"/>
            </a:endParaRPr>
          </a:p>
        </p:txBody>
      </p:sp>
      <p:sp>
        <p:nvSpPr>
          <p:cNvPr id="68" name="Google Shape;68;p3"/>
          <p:cNvSpPr txBox="1"/>
          <p:nvPr/>
        </p:nvSpPr>
        <p:spPr>
          <a:xfrm>
            <a:off x="10366832" y="4559131"/>
            <a:ext cx="84328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Code</a:t>
            </a:r>
            <a:endParaRPr sz="2800" b="0" i="0" u="none" strike="noStrike" cap="none">
              <a:solidFill>
                <a:schemeClr val="dk1"/>
              </a:solidFill>
              <a:latin typeface="Century Schoolbook"/>
              <a:ea typeface="Century Schoolbook"/>
              <a:cs typeface="Century Schoolbook"/>
              <a:sym typeface="Century Schoolbook"/>
            </a:endParaRPr>
          </a:p>
        </p:txBody>
      </p:sp>
      <p:grpSp>
        <p:nvGrpSpPr>
          <p:cNvPr id="69" name="Google Shape;69;p3"/>
          <p:cNvGrpSpPr/>
          <p:nvPr/>
        </p:nvGrpSpPr>
        <p:grpSpPr>
          <a:xfrm>
            <a:off x="7179729" y="1845741"/>
            <a:ext cx="3462870" cy="3598329"/>
            <a:chOff x="7179729" y="1845741"/>
            <a:chExt cx="3462870" cy="3598329"/>
          </a:xfrm>
        </p:grpSpPr>
        <p:pic>
          <p:nvPicPr>
            <p:cNvPr id="70" name="Google Shape;70;p3"/>
            <p:cNvPicPr preferRelativeResize="0"/>
            <p:nvPr/>
          </p:nvPicPr>
          <p:blipFill rotWithShape="1">
            <a:blip r:embed="rId3">
              <a:alphaModFix/>
            </a:blip>
            <a:srcRect/>
            <a:stretch/>
          </p:blipFill>
          <p:spPr>
            <a:xfrm>
              <a:off x="7179729" y="1845741"/>
              <a:ext cx="3462870" cy="3598329"/>
            </a:xfrm>
            <a:prstGeom prst="rect">
              <a:avLst/>
            </a:prstGeom>
            <a:noFill/>
            <a:ln>
              <a:noFill/>
            </a:ln>
          </p:spPr>
        </p:pic>
        <p:sp>
          <p:nvSpPr>
            <p:cNvPr id="71" name="Google Shape;71;p3"/>
            <p:cNvSpPr/>
            <p:nvPr/>
          </p:nvSpPr>
          <p:spPr>
            <a:xfrm>
              <a:off x="7650277" y="2178379"/>
              <a:ext cx="2652395" cy="2608580"/>
            </a:xfrm>
            <a:custGeom>
              <a:avLst/>
              <a:gdLst/>
              <a:ahLst/>
              <a:cxnLst/>
              <a:rect l="l" t="t" r="r" b="b"/>
              <a:pathLst>
                <a:path w="2652395" h="2608579" extrusionOk="0">
                  <a:moveTo>
                    <a:pt x="1135799" y="243700"/>
                  </a:moveTo>
                  <a:lnTo>
                    <a:pt x="734009" y="0"/>
                  </a:lnTo>
                  <a:lnTo>
                    <a:pt x="762876" y="170929"/>
                  </a:lnTo>
                  <a:lnTo>
                    <a:pt x="717994" y="192519"/>
                  </a:lnTo>
                  <a:lnTo>
                    <a:pt x="674268" y="215557"/>
                  </a:lnTo>
                  <a:lnTo>
                    <a:pt x="631685" y="239991"/>
                  </a:lnTo>
                  <a:lnTo>
                    <a:pt x="590283" y="265785"/>
                  </a:lnTo>
                  <a:lnTo>
                    <a:pt x="550087" y="292900"/>
                  </a:lnTo>
                  <a:lnTo>
                    <a:pt x="511124" y="321297"/>
                  </a:lnTo>
                  <a:lnTo>
                    <a:pt x="473392" y="350926"/>
                  </a:lnTo>
                  <a:lnTo>
                    <a:pt x="436930" y="381762"/>
                  </a:lnTo>
                  <a:lnTo>
                    <a:pt x="401777" y="413740"/>
                  </a:lnTo>
                  <a:lnTo>
                    <a:pt x="367919" y="446836"/>
                  </a:lnTo>
                  <a:lnTo>
                    <a:pt x="335407" y="480999"/>
                  </a:lnTo>
                  <a:lnTo>
                    <a:pt x="304241" y="516178"/>
                  </a:lnTo>
                  <a:lnTo>
                    <a:pt x="274472" y="552361"/>
                  </a:lnTo>
                  <a:lnTo>
                    <a:pt x="246087" y="589470"/>
                  </a:lnTo>
                  <a:lnTo>
                    <a:pt x="219138" y="627494"/>
                  </a:lnTo>
                  <a:lnTo>
                    <a:pt x="193636" y="666369"/>
                  </a:lnTo>
                  <a:lnTo>
                    <a:pt x="169608" y="706069"/>
                  </a:lnTo>
                  <a:lnTo>
                    <a:pt x="147066" y="746544"/>
                  </a:lnTo>
                  <a:lnTo>
                    <a:pt x="126047" y="787755"/>
                  </a:lnTo>
                  <a:lnTo>
                    <a:pt x="106553" y="829652"/>
                  </a:lnTo>
                  <a:lnTo>
                    <a:pt x="88620" y="872197"/>
                  </a:lnTo>
                  <a:lnTo>
                    <a:pt x="72275" y="915352"/>
                  </a:lnTo>
                  <a:lnTo>
                    <a:pt x="57531" y="959078"/>
                  </a:lnTo>
                  <a:lnTo>
                    <a:pt x="44411" y="1003338"/>
                  </a:lnTo>
                  <a:lnTo>
                    <a:pt x="32943" y="1048067"/>
                  </a:lnTo>
                  <a:lnTo>
                    <a:pt x="23139" y="1093241"/>
                  </a:lnTo>
                  <a:lnTo>
                    <a:pt x="15036" y="1138821"/>
                  </a:lnTo>
                  <a:lnTo>
                    <a:pt x="8648" y="1184744"/>
                  </a:lnTo>
                  <a:lnTo>
                    <a:pt x="4000" y="1230998"/>
                  </a:lnTo>
                  <a:lnTo>
                    <a:pt x="1104" y="1277518"/>
                  </a:lnTo>
                  <a:lnTo>
                    <a:pt x="0" y="1324267"/>
                  </a:lnTo>
                  <a:lnTo>
                    <a:pt x="685" y="1371206"/>
                  </a:lnTo>
                  <a:lnTo>
                    <a:pt x="3213" y="1418297"/>
                  </a:lnTo>
                  <a:lnTo>
                    <a:pt x="7581" y="1465491"/>
                  </a:lnTo>
                  <a:lnTo>
                    <a:pt x="13830" y="1512747"/>
                  </a:lnTo>
                  <a:lnTo>
                    <a:pt x="21971" y="1560029"/>
                  </a:lnTo>
                  <a:lnTo>
                    <a:pt x="377215" y="1492364"/>
                  </a:lnTo>
                  <a:lnTo>
                    <a:pt x="369303" y="1444078"/>
                  </a:lnTo>
                  <a:lnTo>
                    <a:pt x="364197" y="1395806"/>
                  </a:lnTo>
                  <a:lnTo>
                    <a:pt x="361835" y="1347622"/>
                  </a:lnTo>
                  <a:lnTo>
                    <a:pt x="362191" y="1299629"/>
                  </a:lnTo>
                  <a:lnTo>
                    <a:pt x="365201" y="1251915"/>
                  </a:lnTo>
                  <a:lnTo>
                    <a:pt x="370840" y="1204582"/>
                  </a:lnTo>
                  <a:lnTo>
                    <a:pt x="379069" y="1157706"/>
                  </a:lnTo>
                  <a:lnTo>
                    <a:pt x="389826" y="1111377"/>
                  </a:lnTo>
                  <a:lnTo>
                    <a:pt x="403072" y="1065707"/>
                  </a:lnTo>
                  <a:lnTo>
                    <a:pt x="418769" y="1020762"/>
                  </a:lnTo>
                  <a:lnTo>
                    <a:pt x="436867" y="976655"/>
                  </a:lnTo>
                  <a:lnTo>
                    <a:pt x="457339" y="933462"/>
                  </a:lnTo>
                  <a:lnTo>
                    <a:pt x="480123" y="891273"/>
                  </a:lnTo>
                  <a:lnTo>
                    <a:pt x="505193" y="850201"/>
                  </a:lnTo>
                  <a:lnTo>
                    <a:pt x="532485" y="810310"/>
                  </a:lnTo>
                  <a:lnTo>
                    <a:pt x="561975" y="771715"/>
                  </a:lnTo>
                  <a:lnTo>
                    <a:pt x="593610" y="734491"/>
                  </a:lnTo>
                  <a:lnTo>
                    <a:pt x="627341" y="698728"/>
                  </a:lnTo>
                  <a:lnTo>
                    <a:pt x="663143" y="664540"/>
                  </a:lnTo>
                  <a:lnTo>
                    <a:pt x="700951" y="631990"/>
                  </a:lnTo>
                  <a:lnTo>
                    <a:pt x="740740" y="601179"/>
                  </a:lnTo>
                  <a:lnTo>
                    <a:pt x="782459" y="572211"/>
                  </a:lnTo>
                  <a:lnTo>
                    <a:pt x="826071" y="545147"/>
                  </a:lnTo>
                  <a:lnTo>
                    <a:pt x="854456" y="713168"/>
                  </a:lnTo>
                  <a:lnTo>
                    <a:pt x="1135799" y="243700"/>
                  </a:lnTo>
                  <a:close/>
                </a:path>
                <a:path w="2652395" h="2608579" extrusionOk="0">
                  <a:moveTo>
                    <a:pt x="2118753" y="2296236"/>
                  </a:moveTo>
                  <a:lnTo>
                    <a:pt x="1878241" y="2026170"/>
                  </a:lnTo>
                  <a:lnTo>
                    <a:pt x="1840865" y="2057755"/>
                  </a:lnTo>
                  <a:lnTo>
                    <a:pt x="1802053" y="2086940"/>
                  </a:lnTo>
                  <a:lnTo>
                    <a:pt x="1761921" y="2113699"/>
                  </a:lnTo>
                  <a:lnTo>
                    <a:pt x="1720570" y="2138045"/>
                  </a:lnTo>
                  <a:lnTo>
                    <a:pt x="1678076" y="2159965"/>
                  </a:lnTo>
                  <a:lnTo>
                    <a:pt x="1634566" y="2179434"/>
                  </a:lnTo>
                  <a:lnTo>
                    <a:pt x="1590116" y="2196465"/>
                  </a:lnTo>
                  <a:lnTo>
                    <a:pt x="1544840" y="2211019"/>
                  </a:lnTo>
                  <a:lnTo>
                    <a:pt x="1498854" y="2223109"/>
                  </a:lnTo>
                  <a:lnTo>
                    <a:pt x="1452232" y="2232723"/>
                  </a:lnTo>
                  <a:lnTo>
                    <a:pt x="1405077" y="2239835"/>
                  </a:lnTo>
                  <a:lnTo>
                    <a:pt x="1357503" y="2244458"/>
                  </a:lnTo>
                  <a:lnTo>
                    <a:pt x="1309611" y="2246566"/>
                  </a:lnTo>
                  <a:lnTo>
                    <a:pt x="1261491" y="2246160"/>
                  </a:lnTo>
                  <a:lnTo>
                    <a:pt x="1213256" y="2243226"/>
                  </a:lnTo>
                  <a:lnTo>
                    <a:pt x="1164983" y="2237752"/>
                  </a:lnTo>
                  <a:lnTo>
                    <a:pt x="1116799" y="2229726"/>
                  </a:lnTo>
                  <a:lnTo>
                    <a:pt x="1068793" y="2219147"/>
                  </a:lnTo>
                  <a:lnTo>
                    <a:pt x="1021067" y="2205990"/>
                  </a:lnTo>
                  <a:lnTo>
                    <a:pt x="973721" y="2190267"/>
                  </a:lnTo>
                  <a:lnTo>
                    <a:pt x="926846" y="2171941"/>
                  </a:lnTo>
                  <a:lnTo>
                    <a:pt x="880554" y="2151037"/>
                  </a:lnTo>
                  <a:lnTo>
                    <a:pt x="834961" y="2127504"/>
                  </a:lnTo>
                  <a:lnTo>
                    <a:pt x="964552" y="2016861"/>
                  </a:lnTo>
                  <a:lnTo>
                    <a:pt x="417245" y="2016569"/>
                  </a:lnTo>
                  <a:lnTo>
                    <a:pt x="414489" y="2486469"/>
                  </a:lnTo>
                  <a:lnTo>
                    <a:pt x="546328" y="2373922"/>
                  </a:lnTo>
                  <a:lnTo>
                    <a:pt x="587883" y="2401341"/>
                  </a:lnTo>
                  <a:lnTo>
                    <a:pt x="630110" y="2427046"/>
                  </a:lnTo>
                  <a:lnTo>
                    <a:pt x="672947" y="2451023"/>
                  </a:lnTo>
                  <a:lnTo>
                    <a:pt x="716343" y="2473299"/>
                  </a:lnTo>
                  <a:lnTo>
                    <a:pt x="760247" y="2493861"/>
                  </a:lnTo>
                  <a:lnTo>
                    <a:pt x="804633" y="2512720"/>
                  </a:lnTo>
                  <a:lnTo>
                    <a:pt x="849439" y="2529865"/>
                  </a:lnTo>
                  <a:lnTo>
                    <a:pt x="894613" y="2545321"/>
                  </a:lnTo>
                  <a:lnTo>
                    <a:pt x="940104" y="2559062"/>
                  </a:lnTo>
                  <a:lnTo>
                    <a:pt x="985888" y="2571115"/>
                  </a:lnTo>
                  <a:lnTo>
                    <a:pt x="1031900" y="2581465"/>
                  </a:lnTo>
                  <a:lnTo>
                    <a:pt x="1078103" y="2590139"/>
                  </a:lnTo>
                  <a:lnTo>
                    <a:pt x="1124432" y="2597112"/>
                  </a:lnTo>
                  <a:lnTo>
                    <a:pt x="1170851" y="2602395"/>
                  </a:lnTo>
                  <a:lnTo>
                    <a:pt x="1217320" y="2605989"/>
                  </a:lnTo>
                  <a:lnTo>
                    <a:pt x="1263777" y="2607907"/>
                  </a:lnTo>
                  <a:lnTo>
                    <a:pt x="1310182" y="2608135"/>
                  </a:lnTo>
                  <a:lnTo>
                    <a:pt x="1356487" y="2606687"/>
                  </a:lnTo>
                  <a:lnTo>
                    <a:pt x="1402638" y="2603563"/>
                  </a:lnTo>
                  <a:lnTo>
                    <a:pt x="1448600" y="2598775"/>
                  </a:lnTo>
                  <a:lnTo>
                    <a:pt x="1494320" y="2592298"/>
                  </a:lnTo>
                  <a:lnTo>
                    <a:pt x="1539748" y="2584170"/>
                  </a:lnTo>
                  <a:lnTo>
                    <a:pt x="1584833" y="2574366"/>
                  </a:lnTo>
                  <a:lnTo>
                    <a:pt x="1629537" y="2562885"/>
                  </a:lnTo>
                  <a:lnTo>
                    <a:pt x="1673821" y="2549753"/>
                  </a:lnTo>
                  <a:lnTo>
                    <a:pt x="1717611" y="2534970"/>
                  </a:lnTo>
                  <a:lnTo>
                    <a:pt x="1760880" y="2518511"/>
                  </a:lnTo>
                  <a:lnTo>
                    <a:pt x="1803565" y="2500414"/>
                  </a:lnTo>
                  <a:lnTo>
                    <a:pt x="1845640" y="2480653"/>
                  </a:lnTo>
                  <a:lnTo>
                    <a:pt x="1887042" y="2459240"/>
                  </a:lnTo>
                  <a:lnTo>
                    <a:pt x="1927733" y="2436177"/>
                  </a:lnTo>
                  <a:lnTo>
                    <a:pt x="1967649" y="2411476"/>
                  </a:lnTo>
                  <a:lnTo>
                    <a:pt x="2006765" y="2385123"/>
                  </a:lnTo>
                  <a:lnTo>
                    <a:pt x="2045017" y="2357132"/>
                  </a:lnTo>
                  <a:lnTo>
                    <a:pt x="2082355" y="2327503"/>
                  </a:lnTo>
                  <a:lnTo>
                    <a:pt x="2118753" y="2296236"/>
                  </a:lnTo>
                  <a:close/>
                </a:path>
                <a:path w="2652395" h="2608579" extrusionOk="0">
                  <a:moveTo>
                    <a:pt x="2652052" y="1648853"/>
                  </a:moveTo>
                  <a:lnTo>
                    <a:pt x="2500172" y="1565313"/>
                  </a:lnTo>
                  <a:lnTo>
                    <a:pt x="2511120" y="1516748"/>
                  </a:lnTo>
                  <a:lnTo>
                    <a:pt x="2520238" y="1468170"/>
                  </a:lnTo>
                  <a:lnTo>
                    <a:pt x="2527528" y="1419618"/>
                  </a:lnTo>
                  <a:lnTo>
                    <a:pt x="2533027" y="1371155"/>
                  </a:lnTo>
                  <a:lnTo>
                    <a:pt x="2536736" y="1322806"/>
                  </a:lnTo>
                  <a:lnTo>
                    <a:pt x="2538692" y="1274622"/>
                  </a:lnTo>
                  <a:lnTo>
                    <a:pt x="2538895" y="1226654"/>
                  </a:lnTo>
                  <a:lnTo>
                    <a:pt x="2537383" y="1178928"/>
                  </a:lnTo>
                  <a:lnTo>
                    <a:pt x="2534158" y="1131506"/>
                  </a:lnTo>
                  <a:lnTo>
                    <a:pt x="2529243" y="1084427"/>
                  </a:lnTo>
                  <a:lnTo>
                    <a:pt x="2522664" y="1037717"/>
                  </a:lnTo>
                  <a:lnTo>
                    <a:pt x="2514447" y="991450"/>
                  </a:lnTo>
                  <a:lnTo>
                    <a:pt x="2504592" y="945642"/>
                  </a:lnTo>
                  <a:lnTo>
                    <a:pt x="2493124" y="900353"/>
                  </a:lnTo>
                  <a:lnTo>
                    <a:pt x="2480068" y="855611"/>
                  </a:lnTo>
                  <a:lnTo>
                    <a:pt x="2465438" y="811479"/>
                  </a:lnTo>
                  <a:lnTo>
                    <a:pt x="2449245" y="767981"/>
                  </a:lnTo>
                  <a:lnTo>
                    <a:pt x="2431529" y="725182"/>
                  </a:lnTo>
                  <a:lnTo>
                    <a:pt x="2412288" y="683107"/>
                  </a:lnTo>
                  <a:lnTo>
                    <a:pt x="2391562" y="641807"/>
                  </a:lnTo>
                  <a:lnTo>
                    <a:pt x="2369350" y="601332"/>
                  </a:lnTo>
                  <a:lnTo>
                    <a:pt x="2345677" y="561708"/>
                  </a:lnTo>
                  <a:lnTo>
                    <a:pt x="2320569" y="522998"/>
                  </a:lnTo>
                  <a:lnTo>
                    <a:pt x="2294039" y="485228"/>
                  </a:lnTo>
                  <a:lnTo>
                    <a:pt x="2266099" y="448449"/>
                  </a:lnTo>
                  <a:lnTo>
                    <a:pt x="2236787" y="412711"/>
                  </a:lnTo>
                  <a:lnTo>
                    <a:pt x="2206104" y="378053"/>
                  </a:lnTo>
                  <a:lnTo>
                    <a:pt x="2174075" y="344525"/>
                  </a:lnTo>
                  <a:lnTo>
                    <a:pt x="2140724" y="312153"/>
                  </a:lnTo>
                  <a:lnTo>
                    <a:pt x="2106053" y="280987"/>
                  </a:lnTo>
                  <a:lnTo>
                    <a:pt x="2070100" y="251079"/>
                  </a:lnTo>
                  <a:lnTo>
                    <a:pt x="2032889" y="222465"/>
                  </a:lnTo>
                  <a:lnTo>
                    <a:pt x="1994408" y="195199"/>
                  </a:lnTo>
                  <a:lnTo>
                    <a:pt x="1954707" y="169316"/>
                  </a:lnTo>
                  <a:lnTo>
                    <a:pt x="1913788" y="144856"/>
                  </a:lnTo>
                  <a:lnTo>
                    <a:pt x="1871687" y="121856"/>
                  </a:lnTo>
                  <a:lnTo>
                    <a:pt x="1704073" y="442290"/>
                  </a:lnTo>
                  <a:lnTo>
                    <a:pt x="1746821" y="466090"/>
                  </a:lnTo>
                  <a:lnTo>
                    <a:pt x="1787829" y="492074"/>
                  </a:lnTo>
                  <a:lnTo>
                    <a:pt x="1827060" y="520153"/>
                  </a:lnTo>
                  <a:lnTo>
                    <a:pt x="1864448" y="550240"/>
                  </a:lnTo>
                  <a:lnTo>
                    <a:pt x="1899970" y="582244"/>
                  </a:lnTo>
                  <a:lnTo>
                    <a:pt x="1933562" y="616064"/>
                  </a:lnTo>
                  <a:lnTo>
                    <a:pt x="1965198" y="651624"/>
                  </a:lnTo>
                  <a:lnTo>
                    <a:pt x="1994827" y="688822"/>
                  </a:lnTo>
                  <a:lnTo>
                    <a:pt x="2022386" y="727583"/>
                  </a:lnTo>
                  <a:lnTo>
                    <a:pt x="2047862" y="767791"/>
                  </a:lnTo>
                  <a:lnTo>
                    <a:pt x="2071192" y="809383"/>
                  </a:lnTo>
                  <a:lnTo>
                    <a:pt x="2092325" y="852246"/>
                  </a:lnTo>
                  <a:lnTo>
                    <a:pt x="2111222" y="896302"/>
                  </a:lnTo>
                  <a:lnTo>
                    <a:pt x="2127859" y="941463"/>
                  </a:lnTo>
                  <a:lnTo>
                    <a:pt x="2142159" y="987628"/>
                  </a:lnTo>
                  <a:lnTo>
                    <a:pt x="2154097" y="1034719"/>
                  </a:lnTo>
                  <a:lnTo>
                    <a:pt x="2163622" y="1082624"/>
                  </a:lnTo>
                  <a:lnTo>
                    <a:pt x="2170684" y="1131277"/>
                  </a:lnTo>
                  <a:lnTo>
                    <a:pt x="2175256" y="1180579"/>
                  </a:lnTo>
                  <a:lnTo>
                    <a:pt x="2177275" y="1230426"/>
                  </a:lnTo>
                  <a:lnTo>
                    <a:pt x="2176703" y="1280744"/>
                  </a:lnTo>
                  <a:lnTo>
                    <a:pt x="2173503" y="1331442"/>
                  </a:lnTo>
                  <a:lnTo>
                    <a:pt x="2167623" y="1382407"/>
                  </a:lnTo>
                  <a:lnTo>
                    <a:pt x="2018322" y="1300289"/>
                  </a:lnTo>
                  <a:lnTo>
                    <a:pt x="2211501" y="1812378"/>
                  </a:lnTo>
                  <a:lnTo>
                    <a:pt x="2652052" y="1648853"/>
                  </a:lnTo>
                  <a:close/>
                </a:path>
              </a:pathLst>
            </a:custGeom>
            <a:solidFill>
              <a:srgbClr val="B8DAF1">
                <a:alpha val="47058"/>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72;p3"/>
          <p:cNvSpPr txBox="1"/>
          <p:nvPr/>
        </p:nvSpPr>
        <p:spPr>
          <a:xfrm>
            <a:off x="1062320" y="1485896"/>
            <a:ext cx="3287395" cy="354266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 layers</a:t>
            </a:r>
            <a:endParaRPr sz="2800" b="0" i="0" u="none" strike="noStrike" cap="none" dirty="0">
              <a:solidFill>
                <a:schemeClr val="dk1"/>
              </a:solidFill>
              <a:latin typeface="Century Schoolbook"/>
              <a:ea typeface="Century Schoolbook"/>
              <a:cs typeface="Century Schoolbook"/>
              <a:sym typeface="Century Schoolbook"/>
            </a:endParaRPr>
          </a:p>
          <a:p>
            <a:pPr marL="12700" marR="5080" lvl="0" indent="0" algn="l" rtl="0">
              <a:lnSpc>
                <a:spcPct val="180600"/>
              </a:lnSpc>
              <a:spcBef>
                <a:spcPts val="6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 hidden units  learning rates  activation functions</a:t>
            </a:r>
            <a:endParaRPr sz="2800" b="0" i="0" u="none" strike="noStrike" cap="none" dirty="0">
              <a:solidFill>
                <a:schemeClr val="dk1"/>
              </a:solidFill>
              <a:latin typeface="Century Schoolbook"/>
              <a:ea typeface="Century Schoolbook"/>
              <a:cs typeface="Century Schoolbook"/>
              <a:sym typeface="Century Schoolbook"/>
            </a:endParaRPr>
          </a:p>
          <a:p>
            <a:pPr marL="12700" marR="0" lvl="0" indent="0" algn="l" rtl="0">
              <a:lnSpc>
                <a:spcPct val="100000"/>
              </a:lnSpc>
              <a:spcBef>
                <a:spcPts val="271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a:t>
            </a:r>
            <a:endParaRPr sz="2800" b="0" i="0" u="none" strike="noStrike" cap="none" dirty="0">
              <a:solidFill>
                <a:schemeClr val="dk1"/>
              </a:solidFill>
              <a:latin typeface="Century Schoolbook"/>
              <a:ea typeface="Century Schoolbook"/>
              <a:cs typeface="Century Schoolbook"/>
              <a:sym typeface="Century Schoolbook"/>
            </a:endParaRPr>
          </a:p>
        </p:txBody>
      </p:sp>
      <p:pic>
        <p:nvPicPr>
          <p:cNvPr id="73" name="Google Shape;73;p3"/>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74" name="Google Shape;74;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a:t>
            </a:fld>
            <a:endParaRPr/>
          </a:p>
        </p:txBody>
      </p:sp>
    </p:spTree>
    <p:extLst>
      <p:ext uri="{BB962C8B-B14F-4D97-AF65-F5344CB8AC3E}">
        <p14:creationId xmlns:p14="http://schemas.microsoft.com/office/powerpoint/2010/main" val="2786571982"/>
      </p:ext>
    </p:extLst>
  </p:cSld>
  <p:clrMapOvr>
    <a:masterClrMapping/>
  </p:clrMapOvr>
  <p:extLst mod="1">
    <p:ext uri="{6950BFC3-D8DA-4A85-94F7-54DA5524770B}">
      <p188:commentRel xmlns="" xmlns:p188="http://schemas.microsoft.com/office/powerpoint/2018/8/main" r:id="rId5"/>
    </p:ext>
  </p:extLs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261620" y="139696"/>
            <a:ext cx="103320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Applied ML is a highly iterative process</a:t>
            </a:r>
            <a:endParaRPr sz="4400" dirty="0">
              <a:latin typeface="+mj-lt"/>
              <a:ea typeface="Century Schoolbook"/>
              <a:cs typeface="Century Schoolbook"/>
              <a:sym typeface="Century Schoolbook"/>
            </a:endParaRPr>
          </a:p>
        </p:txBody>
      </p:sp>
      <p:sp>
        <p:nvSpPr>
          <p:cNvPr id="72" name="Google Shape;72;p3"/>
          <p:cNvSpPr txBox="1"/>
          <p:nvPr/>
        </p:nvSpPr>
        <p:spPr>
          <a:xfrm>
            <a:off x="606670" y="1485896"/>
            <a:ext cx="11060722" cy="3336811"/>
          </a:xfrm>
          <a:prstGeom prst="rect">
            <a:avLst/>
          </a:prstGeom>
          <a:noFill/>
          <a:ln>
            <a:noFill/>
          </a:ln>
        </p:spPr>
        <p:txBody>
          <a:bodyPr spcFirstLastPara="1" wrap="square" lIns="0" tIns="12700" rIns="0" bIns="0" anchor="t" anchorCtr="0">
            <a:spAutoFit/>
          </a:bodyPr>
          <a:lstStyle/>
          <a:p>
            <a:pPr marL="469900" lvl="0" indent="-457200">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The </a:t>
            </a:r>
            <a:r>
              <a:rPr lang="en-US" sz="2400" dirty="0">
                <a:solidFill>
                  <a:schemeClr val="dk1"/>
                </a:solidFill>
                <a:latin typeface="+mj-lt"/>
                <a:ea typeface="Century Schoolbook"/>
                <a:cs typeface="Century Schoolbook"/>
                <a:sym typeface="Century Schoolbook"/>
              </a:rPr>
              <a:t>importance of setting up your data sets well, in terms of your train, development, and test sets, and gives some traditional ratios for splitting the data. However, in the modern big data era, it's also fine to set your dev and test sets to be much smaller than your 20% or even 10% of your data. It might be okay to not have a test set if you don't need an unbiased estimate of the performance of your algorithm.</a:t>
            </a:r>
          </a:p>
          <a:p>
            <a:pPr marL="469900" lvl="0" indent="-4572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Setting up a train dev and test set will allow you to integrate more quickly and efficiently measure the bias and variance of your algorithm so you can more efficiently select ways to improve it.</a:t>
            </a:r>
            <a:endParaRPr sz="2400" b="0" i="0" u="none" strike="noStrike" cap="none" dirty="0">
              <a:solidFill>
                <a:schemeClr val="dk1"/>
              </a:solidFill>
              <a:latin typeface="+mj-lt"/>
              <a:ea typeface="Century Schoolbook"/>
              <a:cs typeface="Century Schoolbook"/>
              <a:sym typeface="Century Schoolbook"/>
            </a:endParaRPr>
          </a:p>
        </p:txBody>
      </p:sp>
      <p:pic>
        <p:nvPicPr>
          <p:cNvPr id="73" name="Google Shape;73;p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74" name="Google Shape;74;p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a:t>
            </a:fld>
            <a:endParaRPr/>
          </a:p>
        </p:txBody>
      </p:sp>
    </p:spTree>
    <p:extLst>
      <p:ext uri="{BB962C8B-B14F-4D97-AF65-F5344CB8AC3E}">
        <p14:creationId xmlns:p14="http://schemas.microsoft.com/office/powerpoint/2010/main" val="2398228795"/>
      </p:ext>
    </p:extLst>
  </p:cSld>
  <p:clrMapOvr>
    <a:masterClrMapping/>
  </p:clrMapOvr>
  <p:extLst mod="1">
    <p:ext uri="{6950BFC3-D8DA-4A85-94F7-54DA5524770B}">
      <p188:commentRel xmlns="" xmlns:p188="http://schemas.microsoft.com/office/powerpoint/2018/8/main" r:id="rId4"/>
    </p:ext>
  </p:extLs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78"/>
        <p:cNvGrpSpPr/>
        <p:nvPr/>
      </p:nvGrpSpPr>
      <p:grpSpPr>
        <a:xfrm>
          <a:off x="0" y="0"/>
          <a:ext cx="0" cy="0"/>
          <a:chOff x="0" y="0"/>
          <a:chExt cx="0" cy="0"/>
        </a:xfrm>
      </p:grpSpPr>
      <p:sp>
        <p:nvSpPr>
          <p:cNvPr id="79" name="Google Shape;79;p4"/>
          <p:cNvSpPr txBox="1">
            <a:spLocks noGrp="1"/>
          </p:cNvSpPr>
          <p:nvPr>
            <p:ph type="title"/>
          </p:nvPr>
        </p:nvSpPr>
        <p:spPr>
          <a:xfrm>
            <a:off x="261620" y="139696"/>
            <a:ext cx="48291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Train/dev/test sets</a:t>
            </a:r>
            <a:endParaRPr sz="4400" dirty="0">
              <a:latin typeface="+mj-lt"/>
              <a:ea typeface="Century Schoolbook"/>
              <a:cs typeface="Century Schoolbook"/>
              <a:sym typeface="Century Schoolbook"/>
            </a:endParaRPr>
          </a:p>
        </p:txBody>
      </p:sp>
      <p:pic>
        <p:nvPicPr>
          <p:cNvPr id="80" name="Google Shape;80;p4" descr="What is the difference between Training dataset, Testing Dataset,  Validation dataset? What is the Common Ratio? | i2tutorials"/>
          <p:cNvPicPr preferRelativeResize="0"/>
          <p:nvPr/>
        </p:nvPicPr>
        <p:blipFill rotWithShape="1">
          <a:blip r:embed="rId3">
            <a:alphaModFix/>
          </a:blip>
          <a:srcRect/>
          <a:stretch/>
        </p:blipFill>
        <p:spPr>
          <a:xfrm>
            <a:off x="533400" y="3124200"/>
            <a:ext cx="9582150" cy="3429000"/>
          </a:xfrm>
          <a:prstGeom prst="rect">
            <a:avLst/>
          </a:prstGeom>
          <a:noFill/>
          <a:ln>
            <a:noFill/>
          </a:ln>
        </p:spPr>
      </p:pic>
      <p:sp>
        <p:nvSpPr>
          <p:cNvPr id="81" name="Google Shape;81;p4" descr="About Train, Validation and Test Sets in Machine Learning | by Tarang Shah  | Towards Data Scienc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2" name="Google Shape;82;p4" descr="About Train, Validation and Test Sets in Machine Learning | by Tarang Shah  | Towards Data Science"/>
          <p:cNvSpPr/>
          <p:nvPr/>
        </p:nvSpPr>
        <p:spPr>
          <a:xfrm>
            <a:off x="6096000" y="1905000"/>
            <a:ext cx="1828800" cy="182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83" name="Google Shape;83;p4" descr="Train, Validation and Test Sets in Machine Learning: Simplified | Data  Science and Machine Learning | Kaggle"/>
          <p:cNvPicPr preferRelativeResize="0"/>
          <p:nvPr/>
        </p:nvPicPr>
        <p:blipFill rotWithShape="1">
          <a:blip r:embed="rId4">
            <a:alphaModFix/>
          </a:blip>
          <a:srcRect/>
          <a:stretch/>
        </p:blipFill>
        <p:spPr>
          <a:xfrm>
            <a:off x="914400" y="988056"/>
            <a:ext cx="7391400" cy="1762125"/>
          </a:xfrm>
          <a:prstGeom prst="rect">
            <a:avLst/>
          </a:prstGeom>
          <a:noFill/>
          <a:ln>
            <a:noFill/>
          </a:ln>
        </p:spPr>
      </p:pic>
      <p:pic>
        <p:nvPicPr>
          <p:cNvPr id="84" name="Google Shape;84;p4"/>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85" name="Google Shape;85;p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250536" y="117529"/>
            <a:ext cx="89985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Mismatched train/test distribution</a:t>
            </a:r>
            <a:endParaRPr sz="4400" dirty="0">
              <a:latin typeface="+mj-lt"/>
              <a:ea typeface="Century Schoolbook"/>
              <a:cs typeface="Century Schoolbook"/>
              <a:sym typeface="Century Schoolbook"/>
            </a:endParaRPr>
          </a:p>
        </p:txBody>
      </p:sp>
      <p:sp>
        <p:nvSpPr>
          <p:cNvPr id="91" name="Google Shape;91;p5"/>
          <p:cNvSpPr txBox="1"/>
          <p:nvPr/>
        </p:nvSpPr>
        <p:spPr>
          <a:xfrm>
            <a:off x="1062320" y="1485896"/>
            <a:ext cx="2916555" cy="130746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Training set:</a:t>
            </a:r>
            <a:endParaRPr sz="2800" b="0" i="0" u="none" strike="noStrike" cap="none" dirty="0">
              <a:solidFill>
                <a:schemeClr val="dk1"/>
              </a:solidFill>
              <a:latin typeface="Century Schoolbook"/>
              <a:ea typeface="Century Schoolbook"/>
              <a:cs typeface="Century Schoolbook"/>
              <a:sym typeface="Century Schoolbook"/>
            </a:endParaRPr>
          </a:p>
          <a:p>
            <a:pPr marL="12700" marR="5080" lvl="0" indent="0" algn="l" rtl="0">
              <a:lnSpc>
                <a:spcPct val="118892"/>
              </a:lnSpc>
              <a:spcBef>
                <a:spcPts val="17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Cat pictures from  webpages</a:t>
            </a:r>
            <a:endParaRPr sz="2800" b="0" i="0" u="none" strike="noStrike" cap="none" dirty="0">
              <a:solidFill>
                <a:schemeClr val="dk1"/>
              </a:solidFill>
              <a:latin typeface="Century Schoolbook"/>
              <a:ea typeface="Century Schoolbook"/>
              <a:cs typeface="Century Schoolbook"/>
              <a:sym typeface="Century Schoolbook"/>
            </a:endParaRPr>
          </a:p>
        </p:txBody>
      </p:sp>
      <p:sp>
        <p:nvSpPr>
          <p:cNvPr id="92" name="Google Shape;92;p5"/>
          <p:cNvSpPr txBox="1"/>
          <p:nvPr/>
        </p:nvSpPr>
        <p:spPr>
          <a:xfrm>
            <a:off x="6243768" y="1485540"/>
            <a:ext cx="3456940" cy="130746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Dev/test sets:</a:t>
            </a:r>
            <a:endParaRPr sz="2800" b="0" i="0" u="none" strike="noStrike" cap="none">
              <a:solidFill>
                <a:schemeClr val="dk1"/>
              </a:solidFill>
              <a:latin typeface="Century Schoolbook"/>
              <a:ea typeface="Century Schoolbook"/>
              <a:cs typeface="Century Schoolbook"/>
              <a:sym typeface="Century Schoolbook"/>
            </a:endParaRPr>
          </a:p>
          <a:p>
            <a:pPr marL="12700" marR="5080" lvl="0" indent="0" algn="l" rtl="0">
              <a:lnSpc>
                <a:spcPct val="118892"/>
              </a:lnSpc>
              <a:spcBef>
                <a:spcPts val="170"/>
              </a:spcBef>
              <a:spcAft>
                <a:spcPts val="0"/>
              </a:spcAft>
              <a:buClr>
                <a:srgbClr val="000000"/>
              </a:buClr>
              <a:buSzPts val="2800"/>
              <a:buFont typeface="Arial"/>
              <a:buNone/>
            </a:pPr>
            <a:r>
              <a:rPr lang="en-US" sz="2800" b="0" i="0" u="none" strike="noStrike" cap="none">
                <a:solidFill>
                  <a:schemeClr val="dk1"/>
                </a:solidFill>
                <a:latin typeface="Century Schoolbook"/>
                <a:ea typeface="Century Schoolbook"/>
                <a:cs typeface="Century Schoolbook"/>
                <a:sym typeface="Century Schoolbook"/>
              </a:rPr>
              <a:t>Cat pictures from  users using your app</a:t>
            </a:r>
            <a:endParaRPr sz="2800" b="0" i="0" u="none" strike="noStrike" cap="none">
              <a:solidFill>
                <a:schemeClr val="dk1"/>
              </a:solidFill>
              <a:latin typeface="Century Schoolbook"/>
              <a:ea typeface="Century Schoolbook"/>
              <a:cs typeface="Century Schoolbook"/>
              <a:sym typeface="Century Schoolbook"/>
            </a:endParaRPr>
          </a:p>
        </p:txBody>
      </p:sp>
      <p:sp>
        <p:nvSpPr>
          <p:cNvPr id="93" name="Google Shape;93;p5"/>
          <p:cNvSpPr txBox="1"/>
          <p:nvPr/>
        </p:nvSpPr>
        <p:spPr>
          <a:xfrm>
            <a:off x="1289604" y="4581612"/>
            <a:ext cx="845629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Century Schoolbook"/>
                <a:ea typeface="Century Schoolbook"/>
                <a:cs typeface="Century Schoolbook"/>
                <a:sym typeface="Century Schoolbook"/>
              </a:rPr>
              <a:t>Not having a test set might be okay. (Only dev set.)</a:t>
            </a:r>
            <a:endParaRPr sz="2800" b="0" i="0" u="none" strike="noStrike" cap="none" dirty="0">
              <a:solidFill>
                <a:schemeClr val="dk1"/>
              </a:solidFill>
              <a:latin typeface="Century Schoolbook"/>
              <a:ea typeface="Century Schoolbook"/>
              <a:cs typeface="Century Schoolbook"/>
              <a:sym typeface="Century Schoolbook"/>
            </a:endParaRPr>
          </a:p>
        </p:txBody>
      </p:sp>
      <p:pic>
        <p:nvPicPr>
          <p:cNvPr id="94" name="Google Shape;9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5" name="Google Shape;95;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99"/>
        <p:cNvGrpSpPr/>
        <p:nvPr/>
      </p:nvGrpSpPr>
      <p:grpSpPr>
        <a:xfrm>
          <a:off x="0" y="0"/>
          <a:ext cx="0" cy="0"/>
          <a:chOff x="0" y="0"/>
          <a:chExt cx="0" cy="0"/>
        </a:xfrm>
      </p:grpSpPr>
      <p:sp>
        <p:nvSpPr>
          <p:cNvPr id="100" name="Google Shape;100;p6"/>
          <p:cNvSpPr txBox="1">
            <a:spLocks noGrp="1"/>
          </p:cNvSpPr>
          <p:nvPr>
            <p:ph type="title"/>
          </p:nvPr>
        </p:nvSpPr>
        <p:spPr>
          <a:xfrm>
            <a:off x="1083284" y="1325025"/>
            <a:ext cx="10025430" cy="1769745"/>
          </a:xfrm>
          <a:prstGeom prst="rect">
            <a:avLst/>
          </a:prstGeom>
          <a:noFill/>
          <a:ln>
            <a:noFill/>
          </a:ln>
        </p:spPr>
        <p:txBody>
          <a:bodyPr spcFirstLastPara="1" wrap="square" lIns="0" tIns="110475" rIns="0" bIns="0" anchor="t" anchorCtr="0">
            <a:spAutoFit/>
          </a:bodyPr>
          <a:lstStyle/>
          <a:p>
            <a:pPr marL="5136515" marR="5080" lvl="0" indent="-73660" algn="l" rtl="0">
              <a:lnSpc>
                <a:spcPct val="108833"/>
              </a:lnSpc>
              <a:spcBef>
                <a:spcPts val="0"/>
              </a:spcBef>
              <a:spcAft>
                <a:spcPts val="0"/>
              </a:spcAft>
              <a:buSzPts val="1400"/>
              <a:buNone/>
            </a:pPr>
            <a:r>
              <a:rPr lang="en-US"/>
              <a:t>Setting up your  ML application</a:t>
            </a:r>
            <a:endParaRPr/>
          </a:p>
        </p:txBody>
      </p:sp>
      <p:sp>
        <p:nvSpPr>
          <p:cNvPr id="101" name="Google Shape;101;p6"/>
          <p:cNvSpPr txBox="1"/>
          <p:nvPr/>
        </p:nvSpPr>
        <p:spPr>
          <a:xfrm>
            <a:off x="6450933" y="3635696"/>
            <a:ext cx="4657800" cy="936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6000" b="0" i="0" u="none" strike="noStrike" cap="none" dirty="0">
                <a:solidFill>
                  <a:schemeClr val="dk1"/>
                </a:solidFill>
                <a:latin typeface="Calibri"/>
                <a:ea typeface="Calibri"/>
                <a:cs typeface="Calibri"/>
                <a:sym typeface="Calibri"/>
              </a:rPr>
              <a:t>Bias/Variance</a:t>
            </a:r>
            <a:endParaRPr sz="6000" b="0" i="0" u="none" strike="noStrike" cap="none" dirty="0">
              <a:solidFill>
                <a:schemeClr val="dk1"/>
              </a:solidFill>
              <a:latin typeface="Calibri"/>
              <a:ea typeface="Calibri"/>
              <a:cs typeface="Calibri"/>
              <a:sym typeface="Calibri"/>
            </a:endParaRPr>
          </a:p>
        </p:txBody>
      </p:sp>
      <p:sp>
        <p:nvSpPr>
          <p:cNvPr id="102" name="Google Shape;102;p6"/>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 name="Google Shape;103;p6" descr="Understanding Bias and Variance. Bias-Variance Tradeoff | by Deepika Rana |  Udacity-Bertelsmann AI Track Scholars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4" name="Google Shape;104;p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05" name="Google Shape;105;p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250536" y="117529"/>
            <a:ext cx="8998585"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Bias/Variance</a:t>
            </a:r>
          </a:p>
        </p:txBody>
      </p:sp>
      <p:sp>
        <p:nvSpPr>
          <p:cNvPr id="91" name="Google Shape;91;p5"/>
          <p:cNvSpPr txBox="1"/>
          <p:nvPr/>
        </p:nvSpPr>
        <p:spPr>
          <a:xfrm>
            <a:off x="553915" y="1485896"/>
            <a:ext cx="11306908" cy="3029034"/>
          </a:xfrm>
          <a:prstGeom prst="rect">
            <a:avLst/>
          </a:prstGeom>
          <a:noFill/>
          <a:ln>
            <a:noFill/>
          </a:ln>
        </p:spPr>
        <p:txBody>
          <a:bodyPr spcFirstLastPara="1" wrap="square" lIns="0" tIns="12700" rIns="0" bIns="0" anchor="t" anchorCtr="0">
            <a:spAutoFit/>
          </a:bodyPr>
          <a:lstStyle/>
          <a:p>
            <a:pPr marL="469900" lvl="0" indent="-457200">
              <a:buSzPts val="2800"/>
              <a:buFont typeface="Arial" panose="020B0604020202020204" pitchFamily="34" charset="0"/>
              <a:buChar char="•"/>
            </a:pPr>
            <a:r>
              <a:rPr lang="en-US" sz="2800" dirty="0" smtClean="0">
                <a:solidFill>
                  <a:schemeClr val="dk1"/>
                </a:solidFill>
                <a:latin typeface="+mj-lt"/>
                <a:ea typeface="Century Schoolbook"/>
                <a:cs typeface="Century Schoolbook"/>
                <a:sym typeface="Century Schoolbook"/>
              </a:rPr>
              <a:t>Bias </a:t>
            </a:r>
            <a:r>
              <a:rPr lang="en-US" sz="2800" dirty="0">
                <a:solidFill>
                  <a:schemeClr val="dk1"/>
                </a:solidFill>
                <a:latin typeface="+mj-lt"/>
                <a:ea typeface="Century Schoolbook"/>
                <a:cs typeface="Century Schoolbook"/>
                <a:sym typeface="Century Schoolbook"/>
              </a:rPr>
              <a:t>refers to the difference between the expected predictions of a model and the true values of the data.</a:t>
            </a:r>
          </a:p>
          <a:p>
            <a:pPr marL="469900" lvl="0" indent="-457200">
              <a:buSzPts val="2800"/>
              <a:buFont typeface="Arial" panose="020B0604020202020204" pitchFamily="34" charset="0"/>
              <a:buChar char="•"/>
            </a:pPr>
            <a:r>
              <a:rPr lang="en-US" sz="2800" dirty="0" smtClean="0">
                <a:solidFill>
                  <a:schemeClr val="dk1"/>
                </a:solidFill>
                <a:latin typeface="+mj-lt"/>
                <a:ea typeface="Century Schoolbook"/>
                <a:cs typeface="Century Schoolbook"/>
                <a:sym typeface="Century Schoolbook"/>
              </a:rPr>
              <a:t>Variance </a:t>
            </a:r>
            <a:r>
              <a:rPr lang="en-US" sz="2800" dirty="0">
                <a:solidFill>
                  <a:schemeClr val="dk1"/>
                </a:solidFill>
                <a:latin typeface="+mj-lt"/>
                <a:ea typeface="Century Schoolbook"/>
                <a:cs typeface="Century Schoolbook"/>
                <a:sym typeface="Century Schoolbook"/>
              </a:rPr>
              <a:t>refers to the amount by which a model's predictions can vary as new data points are fed into the model.</a:t>
            </a:r>
          </a:p>
          <a:p>
            <a:pPr marL="469900" lvl="0" indent="-457200">
              <a:buSzPts val="2800"/>
              <a:buFont typeface="Arial" panose="020B0604020202020204" pitchFamily="34" charset="0"/>
              <a:buChar char="•"/>
            </a:pPr>
            <a:r>
              <a:rPr lang="en-US" sz="2800" dirty="0">
                <a:solidFill>
                  <a:schemeClr val="dk1"/>
                </a:solidFill>
                <a:latin typeface="+mj-lt"/>
                <a:ea typeface="Century Schoolbook"/>
                <a:cs typeface="Century Schoolbook"/>
                <a:sym typeface="Century Schoolbook"/>
              </a:rPr>
              <a:t>A good machine learning practitioner needs to have a sophisticated understanding of this concept because it is easily learned but difficult to master.</a:t>
            </a:r>
            <a:endParaRPr sz="2800" b="0" i="0" u="none" strike="noStrike" cap="none" dirty="0">
              <a:solidFill>
                <a:schemeClr val="dk1"/>
              </a:solidFill>
              <a:latin typeface="+mj-lt"/>
              <a:ea typeface="Century Schoolbook"/>
              <a:cs typeface="Century Schoolbook"/>
              <a:sym typeface="Century Schoolbook"/>
            </a:endParaRPr>
          </a:p>
        </p:txBody>
      </p:sp>
      <p:pic>
        <p:nvPicPr>
          <p:cNvPr id="94" name="Google Shape;9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5" name="Google Shape;95;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10</a:t>
            </a:fld>
            <a:endParaRPr/>
          </a:p>
        </p:txBody>
      </p:sp>
    </p:spTree>
    <p:extLst>
      <p:ext uri="{BB962C8B-B14F-4D97-AF65-F5344CB8AC3E}">
        <p14:creationId xmlns:p14="http://schemas.microsoft.com/office/powerpoint/2010/main" val="2714597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250536" y="117529"/>
            <a:ext cx="8998585"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Bias/Variance</a:t>
            </a:r>
          </a:p>
        </p:txBody>
      </p:sp>
      <p:sp>
        <p:nvSpPr>
          <p:cNvPr id="91" name="Google Shape;91;p5"/>
          <p:cNvSpPr txBox="1"/>
          <p:nvPr/>
        </p:nvSpPr>
        <p:spPr>
          <a:xfrm>
            <a:off x="553915" y="1485896"/>
            <a:ext cx="11306908" cy="4321696"/>
          </a:xfrm>
          <a:prstGeom prst="rect">
            <a:avLst/>
          </a:prstGeom>
          <a:noFill/>
          <a:ln>
            <a:noFill/>
          </a:ln>
        </p:spPr>
        <p:txBody>
          <a:bodyPr spcFirstLastPara="1" wrap="square" lIns="0" tIns="12700" rIns="0" bIns="0" anchor="t" anchorCtr="0">
            <a:spAutoFit/>
          </a:bodyPr>
          <a:lstStyle/>
          <a:p>
            <a:pPr marL="469900" lvl="0" indent="-457200">
              <a:buSzPts val="2800"/>
              <a:buFont typeface="Arial" panose="020B0604020202020204" pitchFamily="34" charset="0"/>
              <a:buChar char="•"/>
            </a:pPr>
            <a:r>
              <a:rPr lang="en-US" sz="2800" dirty="0">
                <a:solidFill>
                  <a:schemeClr val="dk1"/>
                </a:solidFill>
                <a:latin typeface="+mn-lt"/>
                <a:ea typeface="Century Schoolbook"/>
                <a:cs typeface="Century Schoolbook"/>
                <a:sym typeface="Century Schoolbook"/>
              </a:rPr>
              <a:t>In deep learning, there is less discussion of the bias/variance trade-off because there is less of a trade-off in deep learning errors. </a:t>
            </a:r>
          </a:p>
          <a:p>
            <a:pPr marL="469900" lvl="0" indent="-457200">
              <a:buSzPts val="2800"/>
              <a:buFont typeface="Arial" panose="020B0604020202020204" pitchFamily="34" charset="0"/>
              <a:buChar char="•"/>
            </a:pPr>
            <a:r>
              <a:rPr lang="en-US" sz="2800" dirty="0">
                <a:solidFill>
                  <a:schemeClr val="dk1"/>
                </a:solidFill>
                <a:latin typeface="+mn-lt"/>
                <a:ea typeface="Century Schoolbook"/>
                <a:cs typeface="Century Schoolbook"/>
                <a:sym typeface="Century Schoolbook"/>
              </a:rPr>
              <a:t>The bias/variance trade-off refers to the balance between </a:t>
            </a:r>
            <a:r>
              <a:rPr lang="en-US" sz="2800" dirty="0" err="1">
                <a:solidFill>
                  <a:schemeClr val="dk1"/>
                </a:solidFill>
                <a:latin typeface="+mn-lt"/>
                <a:ea typeface="Century Schoolbook"/>
                <a:cs typeface="Century Schoolbook"/>
                <a:sym typeface="Century Schoolbook"/>
              </a:rPr>
              <a:t>underfitting</a:t>
            </a:r>
            <a:r>
              <a:rPr lang="en-US" sz="2800" dirty="0">
                <a:solidFill>
                  <a:schemeClr val="dk1"/>
                </a:solidFill>
                <a:latin typeface="+mn-lt"/>
                <a:ea typeface="Century Schoolbook"/>
                <a:cs typeface="Century Schoolbook"/>
                <a:sym typeface="Century Schoolbook"/>
              </a:rPr>
              <a:t> and overfitting. </a:t>
            </a:r>
          </a:p>
          <a:p>
            <a:pPr marL="469900" lvl="0" indent="-457200">
              <a:buSzPts val="2800"/>
              <a:buFont typeface="Arial" panose="020B0604020202020204" pitchFamily="34" charset="0"/>
              <a:buChar char="•"/>
            </a:pPr>
            <a:r>
              <a:rPr lang="en-US" sz="2800" dirty="0" err="1">
                <a:solidFill>
                  <a:schemeClr val="dk1"/>
                </a:solidFill>
                <a:latin typeface="+mn-lt"/>
                <a:ea typeface="Century Schoolbook"/>
                <a:cs typeface="Century Schoolbook"/>
                <a:sym typeface="Century Schoolbook"/>
              </a:rPr>
              <a:t>Underfitting</a:t>
            </a:r>
            <a:r>
              <a:rPr lang="en-US" sz="2800" dirty="0">
                <a:solidFill>
                  <a:schemeClr val="dk1"/>
                </a:solidFill>
                <a:latin typeface="+mn-lt"/>
                <a:ea typeface="Century Schoolbook"/>
                <a:cs typeface="Century Schoolbook"/>
                <a:sym typeface="Century Schoolbook"/>
              </a:rPr>
              <a:t> occurs when the model is too simple and cannot capture the complexity of the data.</a:t>
            </a:r>
          </a:p>
          <a:p>
            <a:pPr marL="469900" lvl="0" indent="-457200">
              <a:buSzPts val="2800"/>
              <a:buFont typeface="Arial" panose="020B0604020202020204" pitchFamily="34" charset="0"/>
              <a:buChar char="•"/>
            </a:pPr>
            <a:r>
              <a:rPr lang="en-US" sz="2800" dirty="0">
                <a:solidFill>
                  <a:schemeClr val="dk1"/>
                </a:solidFill>
                <a:latin typeface="+mn-lt"/>
                <a:ea typeface="Century Schoolbook"/>
                <a:cs typeface="Century Schoolbook"/>
                <a:sym typeface="Century Schoolbook"/>
              </a:rPr>
              <a:t>Overfitting occurs when the model is too complex and fits the training data too closely, resulting in poor performance on the test data. The sweet spot is somewhere in between, where the model is just right.</a:t>
            </a:r>
            <a:endParaRPr sz="2800" b="0" i="0" u="none" strike="noStrike" cap="none" dirty="0">
              <a:solidFill>
                <a:schemeClr val="dk1"/>
              </a:solidFill>
              <a:latin typeface="+mn-lt"/>
              <a:ea typeface="Century Schoolbook"/>
              <a:cs typeface="Century Schoolbook"/>
              <a:sym typeface="Century Schoolbook"/>
            </a:endParaRPr>
          </a:p>
        </p:txBody>
      </p:sp>
      <p:pic>
        <p:nvPicPr>
          <p:cNvPr id="94" name="Google Shape;9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5" name="Google Shape;95;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11</a:t>
            </a:fld>
            <a:endParaRPr/>
          </a:p>
        </p:txBody>
      </p:sp>
    </p:spTree>
    <p:extLst>
      <p:ext uri="{BB962C8B-B14F-4D97-AF65-F5344CB8AC3E}">
        <p14:creationId xmlns:p14="http://schemas.microsoft.com/office/powerpoint/2010/main" val="1939834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124"/>
        <p:cNvGrpSpPr/>
        <p:nvPr/>
      </p:nvGrpSpPr>
      <p:grpSpPr>
        <a:xfrm>
          <a:off x="0" y="0"/>
          <a:ext cx="0" cy="0"/>
          <a:chOff x="0" y="0"/>
          <a:chExt cx="0" cy="0"/>
        </a:xfrm>
      </p:grpSpPr>
      <p:sp>
        <p:nvSpPr>
          <p:cNvPr id="125" name="Google Shape;125;p9"/>
          <p:cNvSpPr txBox="1">
            <a:spLocks noGrp="1"/>
          </p:cNvSpPr>
          <p:nvPr>
            <p:ph type="title"/>
          </p:nvPr>
        </p:nvSpPr>
        <p:spPr>
          <a:xfrm>
            <a:off x="335622" y="59319"/>
            <a:ext cx="73342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High bias and high variance</a:t>
            </a:r>
            <a:endParaRPr sz="4400" dirty="0">
              <a:latin typeface="+mj-lt"/>
              <a:ea typeface="Century Schoolbook"/>
              <a:cs typeface="Century Schoolbook"/>
              <a:sym typeface="Century Schoolbook"/>
            </a:endParaRPr>
          </a:p>
        </p:txBody>
      </p:sp>
      <p:pic>
        <p:nvPicPr>
          <p:cNvPr id="126" name="Google Shape;126;p9" descr="machine learning - How to quantify bias and variance given train data  samples - Stack Overflow"/>
          <p:cNvPicPr preferRelativeResize="0"/>
          <p:nvPr/>
        </p:nvPicPr>
        <p:blipFill rotWithShape="1">
          <a:blip r:embed="rId3">
            <a:alphaModFix/>
          </a:blip>
          <a:srcRect/>
          <a:stretch/>
        </p:blipFill>
        <p:spPr>
          <a:xfrm>
            <a:off x="526200" y="1883375"/>
            <a:ext cx="10953941" cy="3731737"/>
          </a:xfrm>
          <a:prstGeom prst="rect">
            <a:avLst/>
          </a:prstGeom>
          <a:noFill/>
          <a:ln>
            <a:noFill/>
          </a:ln>
        </p:spPr>
      </p:pic>
      <p:pic>
        <p:nvPicPr>
          <p:cNvPr id="127" name="Google Shape;127;p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28" name="Google Shape;128;p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250536" y="117529"/>
            <a:ext cx="8998585"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Bias/Variance</a:t>
            </a:r>
          </a:p>
        </p:txBody>
      </p:sp>
      <p:sp>
        <p:nvSpPr>
          <p:cNvPr id="91" name="Google Shape;91;p5"/>
          <p:cNvSpPr txBox="1"/>
          <p:nvPr/>
        </p:nvSpPr>
        <p:spPr>
          <a:xfrm>
            <a:off x="553915" y="1485896"/>
            <a:ext cx="11306908" cy="2598147"/>
          </a:xfrm>
          <a:prstGeom prst="rect">
            <a:avLst/>
          </a:prstGeom>
          <a:noFill/>
          <a:ln>
            <a:noFill/>
          </a:ln>
        </p:spPr>
        <p:txBody>
          <a:bodyPr spcFirstLastPara="1" wrap="square" lIns="0" tIns="12700" rIns="0" bIns="0" anchor="t" anchorCtr="0">
            <a:spAutoFit/>
          </a:bodyPr>
          <a:lstStyle/>
          <a:p>
            <a:pPr marL="12700" lvl="0">
              <a:buSzPts val="2800"/>
            </a:pPr>
            <a:r>
              <a:rPr lang="en-US" sz="2400" dirty="0">
                <a:solidFill>
                  <a:schemeClr val="dk1"/>
                </a:solidFill>
                <a:latin typeface="+mj-lt"/>
                <a:ea typeface="Century Schoolbook"/>
                <a:cs typeface="Century Schoolbook"/>
                <a:sym typeface="Century Schoolbook"/>
              </a:rPr>
              <a:t>To diagnose whether a model has a bias or variance problem, the two key numbers to look at are the train set error and the dev set error:</a:t>
            </a:r>
          </a:p>
          <a:p>
            <a:pPr marL="469900" lvl="3" indent="-457200">
              <a:buSzPts val="2800"/>
              <a:buFont typeface="+mj-lt"/>
              <a:buAutoNum type="arabicPeriod"/>
            </a:pPr>
            <a:r>
              <a:rPr lang="en-US" sz="2000" dirty="0">
                <a:solidFill>
                  <a:schemeClr val="dk1"/>
                </a:solidFill>
                <a:latin typeface="+mj-lt"/>
                <a:ea typeface="Century Schoolbook"/>
                <a:cs typeface="Century Schoolbook"/>
                <a:sym typeface="Century Schoolbook"/>
              </a:rPr>
              <a:t>If the training set error is low, but the dev set error is high, then the model may have high variance. </a:t>
            </a:r>
            <a:endParaRPr lang="en-US" sz="2000" dirty="0" smtClean="0">
              <a:solidFill>
                <a:schemeClr val="dk1"/>
              </a:solidFill>
              <a:latin typeface="+mj-lt"/>
              <a:ea typeface="Century Schoolbook"/>
              <a:cs typeface="Century Schoolbook"/>
              <a:sym typeface="Century Schoolbook"/>
            </a:endParaRPr>
          </a:p>
          <a:p>
            <a:pPr marL="469900" lvl="3" indent="-457200">
              <a:buSzPts val="2800"/>
              <a:buFont typeface="+mj-lt"/>
              <a:buAutoNum type="arabicPeriod"/>
            </a:pPr>
            <a:r>
              <a:rPr lang="en-US" sz="2000" dirty="0" smtClean="0">
                <a:solidFill>
                  <a:schemeClr val="dk1"/>
                </a:solidFill>
                <a:latin typeface="+mj-lt"/>
                <a:ea typeface="Century Schoolbook"/>
                <a:cs typeface="Century Schoolbook"/>
                <a:sym typeface="Century Schoolbook"/>
              </a:rPr>
              <a:t>If </a:t>
            </a:r>
            <a:r>
              <a:rPr lang="en-US" sz="2000" dirty="0">
                <a:solidFill>
                  <a:schemeClr val="dk1"/>
                </a:solidFill>
                <a:latin typeface="+mj-lt"/>
                <a:ea typeface="Century Schoolbook"/>
                <a:cs typeface="Century Schoolbook"/>
                <a:sym typeface="Century Schoolbook"/>
              </a:rPr>
              <a:t>the training set error is high and the dev set error is also high, then the model may have high bias. </a:t>
            </a:r>
            <a:endParaRPr lang="en-US" sz="2000" dirty="0" smtClean="0">
              <a:solidFill>
                <a:schemeClr val="dk1"/>
              </a:solidFill>
              <a:latin typeface="+mj-lt"/>
              <a:ea typeface="Century Schoolbook"/>
              <a:cs typeface="Century Schoolbook"/>
              <a:sym typeface="Century Schoolbook"/>
            </a:endParaRPr>
          </a:p>
          <a:p>
            <a:pPr marL="469900" lvl="3" indent="-457200">
              <a:buSzPts val="2800"/>
              <a:buFont typeface="+mj-lt"/>
              <a:buAutoNum type="arabicPeriod"/>
            </a:pPr>
            <a:r>
              <a:rPr lang="en-US" sz="2000" dirty="0" smtClean="0">
                <a:solidFill>
                  <a:schemeClr val="dk1"/>
                </a:solidFill>
                <a:latin typeface="+mj-lt"/>
                <a:ea typeface="Century Schoolbook"/>
                <a:cs typeface="Century Schoolbook"/>
                <a:sym typeface="Century Schoolbook"/>
              </a:rPr>
              <a:t>If </a:t>
            </a:r>
            <a:r>
              <a:rPr lang="en-US" sz="2000" dirty="0">
                <a:solidFill>
                  <a:schemeClr val="dk1"/>
                </a:solidFill>
                <a:latin typeface="+mj-lt"/>
                <a:ea typeface="Century Schoolbook"/>
                <a:cs typeface="Century Schoolbook"/>
                <a:sym typeface="Century Schoolbook"/>
              </a:rPr>
              <a:t>the training set error is high, but the dev set error is even higher, then the model may have both high bias and high variance.</a:t>
            </a:r>
            <a:endParaRPr sz="2000" b="0" i="0" u="none" strike="noStrike" cap="none" dirty="0">
              <a:solidFill>
                <a:schemeClr val="dk1"/>
              </a:solidFill>
              <a:latin typeface="+mj-lt"/>
              <a:ea typeface="Century Schoolbook"/>
              <a:cs typeface="Century Schoolbook"/>
              <a:sym typeface="Century Schoolbook"/>
            </a:endParaRPr>
          </a:p>
        </p:txBody>
      </p:sp>
      <p:pic>
        <p:nvPicPr>
          <p:cNvPr id="94" name="Google Shape;9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5" name="Google Shape;95;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13</a:t>
            </a:fld>
            <a:endParaRPr/>
          </a:p>
        </p:txBody>
      </p:sp>
    </p:spTree>
    <p:extLst>
      <p:ext uri="{BB962C8B-B14F-4D97-AF65-F5344CB8AC3E}">
        <p14:creationId xmlns:p14="http://schemas.microsoft.com/office/powerpoint/2010/main" val="4132204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109"/>
        <p:cNvGrpSpPr/>
        <p:nvPr/>
      </p:nvGrpSpPr>
      <p:grpSpPr>
        <a:xfrm>
          <a:off x="0" y="0"/>
          <a:ext cx="0" cy="0"/>
          <a:chOff x="0" y="0"/>
          <a:chExt cx="0" cy="0"/>
        </a:xfrm>
      </p:grpSpPr>
      <p:sp>
        <p:nvSpPr>
          <p:cNvPr id="110" name="Google Shape;110;p7"/>
          <p:cNvSpPr txBox="1">
            <a:spLocks noGrp="1"/>
          </p:cNvSpPr>
          <p:nvPr>
            <p:ph type="title"/>
          </p:nvPr>
        </p:nvSpPr>
        <p:spPr>
          <a:xfrm>
            <a:off x="261620" y="139696"/>
            <a:ext cx="47777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Bias and Variance</a:t>
            </a:r>
            <a:endParaRPr sz="4400" dirty="0">
              <a:latin typeface="+mj-lt"/>
              <a:ea typeface="Century Schoolbook"/>
              <a:cs typeface="Century Schoolbook"/>
              <a:sym typeface="Century Schoolbook"/>
            </a:endParaRPr>
          </a:p>
        </p:txBody>
      </p:sp>
      <p:pic>
        <p:nvPicPr>
          <p:cNvPr id="111" name="Google Shape;111;p7" descr="machine learning - why test error and variance has different curve in bias  variance trade off graph? - Cross Validated"/>
          <p:cNvPicPr preferRelativeResize="0"/>
          <p:nvPr/>
        </p:nvPicPr>
        <p:blipFill rotWithShape="1">
          <a:blip r:embed="rId3">
            <a:alphaModFix/>
          </a:blip>
          <a:srcRect/>
          <a:stretch/>
        </p:blipFill>
        <p:spPr>
          <a:xfrm>
            <a:off x="2120875" y="1111300"/>
            <a:ext cx="6857999" cy="5197641"/>
          </a:xfrm>
          <a:prstGeom prst="rect">
            <a:avLst/>
          </a:prstGeom>
          <a:noFill/>
          <a:ln>
            <a:noFill/>
          </a:ln>
        </p:spPr>
      </p:pic>
      <p:pic>
        <p:nvPicPr>
          <p:cNvPr id="112" name="Google Shape;112;p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13" name="Google Shape;113;p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17"/>
        <p:cNvGrpSpPr/>
        <p:nvPr/>
      </p:nvGrpSpPr>
      <p:grpSpPr>
        <a:xfrm>
          <a:off x="0" y="0"/>
          <a:ext cx="0" cy="0"/>
          <a:chOff x="0" y="0"/>
          <a:chExt cx="0" cy="0"/>
        </a:xfrm>
      </p:grpSpPr>
      <p:pic>
        <p:nvPicPr>
          <p:cNvPr id="118" name="Google Shape;118;p8"/>
          <p:cNvPicPr preferRelativeResize="0"/>
          <p:nvPr/>
        </p:nvPicPr>
        <p:blipFill rotWithShape="1">
          <a:blip r:embed="rId3">
            <a:alphaModFix/>
          </a:blip>
          <a:srcRect/>
          <a:stretch/>
        </p:blipFill>
        <p:spPr>
          <a:xfrm>
            <a:off x="0" y="0"/>
            <a:ext cx="11652033" cy="6858000"/>
          </a:xfrm>
          <a:prstGeom prst="rect">
            <a:avLst/>
          </a:prstGeom>
          <a:noFill/>
          <a:ln>
            <a:noFill/>
          </a:ln>
        </p:spPr>
      </p:pic>
      <p:pic>
        <p:nvPicPr>
          <p:cNvPr id="119" name="Google Shape;119;p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20" name="Google Shape;120;p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250536" y="117529"/>
            <a:ext cx="8998585" cy="695960"/>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Bias/Variance</a:t>
            </a:r>
          </a:p>
        </p:txBody>
      </p:sp>
      <p:sp>
        <p:nvSpPr>
          <p:cNvPr id="91" name="Google Shape;91;p5"/>
          <p:cNvSpPr txBox="1"/>
          <p:nvPr/>
        </p:nvSpPr>
        <p:spPr>
          <a:xfrm>
            <a:off x="553915" y="1485896"/>
            <a:ext cx="11306908" cy="2228815"/>
          </a:xfrm>
          <a:prstGeom prst="rect">
            <a:avLst/>
          </a:prstGeom>
          <a:noFill/>
          <a:ln>
            <a:noFill/>
          </a:ln>
        </p:spPr>
        <p:txBody>
          <a:bodyPr spcFirstLastPara="1" wrap="square" lIns="0" tIns="12700" rIns="0" bIns="0" anchor="t" anchorCtr="0">
            <a:spAutoFit/>
          </a:bodyPr>
          <a:lstStyle/>
          <a:p>
            <a:pPr marL="469900" lvl="0" indent="-4572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The assumption in this analysis is that the Bayes error is quite small, and that the training and dev sets are drawn from the same distribution. If these assumptions are violated, a more sophisticated analysis may be needed.</a:t>
            </a:r>
          </a:p>
          <a:p>
            <a:pPr marL="469900" lvl="0" indent="-457200">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By understanding whether a model has high bias or high variance, a machine learning practitioner can try different techniques to improve the model's performance</a:t>
            </a:r>
            <a:r>
              <a:rPr lang="en-US" sz="2400" dirty="0" smtClean="0">
                <a:solidFill>
                  <a:schemeClr val="dk1"/>
                </a:solidFill>
                <a:latin typeface="+mj-lt"/>
                <a:ea typeface="Century Schoolbook"/>
                <a:cs typeface="Century Schoolbook"/>
                <a:sym typeface="Century Schoolbook"/>
              </a:rPr>
              <a:t>.</a:t>
            </a:r>
            <a:endParaRPr sz="2400" b="0" i="0" u="none" strike="noStrike" cap="none" dirty="0">
              <a:solidFill>
                <a:schemeClr val="dk1"/>
              </a:solidFill>
              <a:latin typeface="+mj-lt"/>
              <a:ea typeface="Century Schoolbook"/>
              <a:cs typeface="Century Schoolbook"/>
              <a:sym typeface="Century Schoolbook"/>
            </a:endParaRPr>
          </a:p>
        </p:txBody>
      </p:sp>
      <p:pic>
        <p:nvPicPr>
          <p:cNvPr id="94" name="Google Shape;94;p5"/>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95" name="Google Shape;95;p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16</a:t>
            </a:fld>
            <a:endParaRPr/>
          </a:p>
        </p:txBody>
      </p:sp>
    </p:spTree>
    <p:extLst>
      <p:ext uri="{BB962C8B-B14F-4D97-AF65-F5344CB8AC3E}">
        <p14:creationId xmlns:p14="http://schemas.microsoft.com/office/powerpoint/2010/main" val="385652941"/>
      </p:ext>
    </p:extLst>
  </p:cSld>
  <p:clrMapOvr>
    <a:masterClrMapping/>
  </p:clrMapOvr>
  <p:extLst mod="1">
    <p:ext uri="{6950BFC3-D8DA-4A85-94F7-54DA5524770B}">
      <p188:commentRel xmlns=""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132"/>
        <p:cNvGrpSpPr/>
        <p:nvPr/>
      </p:nvGrpSpPr>
      <p:grpSpPr>
        <a:xfrm>
          <a:off x="0" y="0"/>
          <a:ext cx="0" cy="0"/>
          <a:chOff x="0" y="0"/>
          <a:chExt cx="0" cy="0"/>
        </a:xfrm>
      </p:grpSpPr>
      <p:sp>
        <p:nvSpPr>
          <p:cNvPr id="133" name="Google Shape;133;p10"/>
          <p:cNvSpPr txBox="1">
            <a:spLocks noGrp="1"/>
          </p:cNvSpPr>
          <p:nvPr>
            <p:ph type="title"/>
          </p:nvPr>
        </p:nvSpPr>
        <p:spPr>
          <a:xfrm>
            <a:off x="1451146" y="329032"/>
            <a:ext cx="10025430" cy="3130842"/>
          </a:xfrm>
          <a:prstGeom prst="rect">
            <a:avLst/>
          </a:prstGeom>
          <a:noFill/>
          <a:ln>
            <a:noFill/>
          </a:ln>
        </p:spPr>
        <p:txBody>
          <a:bodyPr spcFirstLastPara="1" wrap="square" lIns="0" tIns="110475" rIns="0" bIns="0" anchor="t" anchorCtr="0">
            <a:spAutoFit/>
          </a:bodyPr>
          <a:lstStyle/>
          <a:p>
            <a:pPr marL="5136515" marR="5080" lvl="0" indent="-73660" algn="l" rtl="0">
              <a:lnSpc>
                <a:spcPct val="108833"/>
              </a:lnSpc>
              <a:spcBef>
                <a:spcPts val="0"/>
              </a:spcBef>
              <a:spcAft>
                <a:spcPts val="0"/>
              </a:spcAft>
              <a:buSzPts val="1400"/>
              <a:buNone/>
            </a:pPr>
            <a:r>
              <a:rPr lang="en-US" dirty="0">
                <a:latin typeface="+mj-lt"/>
              </a:rPr>
              <a:t>Setting up your  ML application</a:t>
            </a:r>
            <a:endParaRPr dirty="0">
              <a:latin typeface="+mj-lt"/>
            </a:endParaRPr>
          </a:p>
        </p:txBody>
      </p:sp>
      <p:sp>
        <p:nvSpPr>
          <p:cNvPr id="134" name="Google Shape;134;p10"/>
          <p:cNvSpPr txBox="1"/>
          <p:nvPr/>
        </p:nvSpPr>
        <p:spPr>
          <a:xfrm>
            <a:off x="5015966" y="3571323"/>
            <a:ext cx="6908800" cy="2505814"/>
          </a:xfrm>
          <a:prstGeom prst="rect">
            <a:avLst/>
          </a:prstGeom>
          <a:noFill/>
          <a:ln>
            <a:noFill/>
          </a:ln>
        </p:spPr>
        <p:txBody>
          <a:bodyPr spcFirstLastPara="1" wrap="square" lIns="0" tIns="12700" rIns="0" bIns="0" anchor="t" anchorCtr="0">
            <a:spAutoFit/>
          </a:bodyPr>
          <a:lstStyle/>
          <a:p>
            <a:pPr marL="12700" marR="5080" lvl="0" indent="1049020"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Calibri"/>
                <a:ea typeface="Calibri"/>
                <a:cs typeface="Calibri"/>
                <a:sym typeface="Calibri"/>
              </a:rPr>
              <a:t>Basic “recipe” </a:t>
            </a:r>
            <a:endParaRPr lang="en-US" sz="5400" b="0" i="0" u="none" strike="noStrike" cap="none" dirty="0" smtClean="0">
              <a:solidFill>
                <a:schemeClr val="dk1"/>
              </a:solidFill>
              <a:latin typeface="Calibri"/>
              <a:ea typeface="Calibri"/>
              <a:cs typeface="Calibri"/>
              <a:sym typeface="Calibri"/>
            </a:endParaRPr>
          </a:p>
          <a:p>
            <a:pPr marL="12700" marR="5080" lvl="0" indent="1049020" algn="ctr" rtl="0">
              <a:lnSpc>
                <a:spcPct val="100000"/>
              </a:lnSpc>
              <a:spcBef>
                <a:spcPts val="0"/>
              </a:spcBef>
              <a:spcAft>
                <a:spcPts val="0"/>
              </a:spcAft>
              <a:buClr>
                <a:srgbClr val="000000"/>
              </a:buClr>
              <a:buSzPts val="6000"/>
              <a:buFont typeface="Arial"/>
              <a:buNone/>
            </a:pPr>
            <a:r>
              <a:rPr lang="en-US" sz="5400" b="0" i="0" u="none" strike="noStrike" cap="none" dirty="0" smtClean="0">
                <a:solidFill>
                  <a:schemeClr val="dk1"/>
                </a:solidFill>
                <a:latin typeface="Calibri"/>
                <a:ea typeface="Calibri"/>
                <a:cs typeface="Calibri"/>
                <a:sym typeface="Calibri"/>
              </a:rPr>
              <a:t>for machine</a:t>
            </a:r>
          </a:p>
          <a:p>
            <a:pPr marL="12700" marR="5080" lvl="0" indent="1049020" algn="ctr" rtl="0">
              <a:lnSpc>
                <a:spcPct val="100000"/>
              </a:lnSpc>
              <a:spcBef>
                <a:spcPts val="0"/>
              </a:spcBef>
              <a:spcAft>
                <a:spcPts val="0"/>
              </a:spcAft>
              <a:buClr>
                <a:srgbClr val="000000"/>
              </a:buClr>
              <a:buSzPts val="6000"/>
              <a:buFont typeface="Arial"/>
              <a:buNone/>
            </a:pPr>
            <a:r>
              <a:rPr lang="en-US" sz="5400" b="0" i="0" u="none" strike="noStrike" cap="none" dirty="0" smtClean="0">
                <a:solidFill>
                  <a:schemeClr val="dk1"/>
                </a:solidFill>
                <a:latin typeface="Calibri"/>
                <a:ea typeface="Calibri"/>
                <a:cs typeface="Calibri"/>
                <a:sym typeface="Calibri"/>
              </a:rPr>
              <a:t>learning</a:t>
            </a:r>
            <a:endParaRPr sz="5400" b="0" i="0" u="none" strike="noStrike" cap="none" dirty="0">
              <a:solidFill>
                <a:schemeClr val="dk1"/>
              </a:solidFill>
              <a:latin typeface="Calibri"/>
              <a:ea typeface="Calibri"/>
              <a:cs typeface="Calibri"/>
              <a:sym typeface="Calibri"/>
            </a:endParaRPr>
          </a:p>
        </p:txBody>
      </p:sp>
      <p:sp>
        <p:nvSpPr>
          <p:cNvPr id="135" name="Google Shape;135;p10"/>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36" name="Google Shape;136;p1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37" name="Google Shape;137;p1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sp>
        <p:nvSpPr>
          <p:cNvPr id="142" name="Google Shape;142;p11"/>
          <p:cNvSpPr txBox="1">
            <a:spLocks noGrp="1"/>
          </p:cNvSpPr>
          <p:nvPr>
            <p:ph type="title"/>
          </p:nvPr>
        </p:nvSpPr>
        <p:spPr>
          <a:xfrm>
            <a:off x="261620" y="139696"/>
            <a:ext cx="86760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Basic recipe for machine learning</a:t>
            </a:r>
            <a:endParaRPr sz="4400" dirty="0">
              <a:latin typeface="+mj-lt"/>
              <a:ea typeface="Century Schoolbook"/>
              <a:cs typeface="Century Schoolbook"/>
              <a:sym typeface="Century Schoolbook"/>
            </a:endParaRPr>
          </a:p>
        </p:txBody>
      </p:sp>
      <p:sp>
        <p:nvSpPr>
          <p:cNvPr id="143" name="Google Shape;143;p11" descr="A Basic Recipe for Machine Learning | by Hafidz Zulkifli | Becoming Human: Artificial  Intelligence Magazin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5" name="Google Shape;145;p1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46" name="Google Shape;146;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18</a:t>
            </a:fld>
            <a:endParaRPr/>
          </a:p>
        </p:txBody>
      </p:sp>
      <p:sp>
        <p:nvSpPr>
          <p:cNvPr id="2" name="TextBox 1"/>
          <p:cNvSpPr txBox="1"/>
          <p:nvPr/>
        </p:nvSpPr>
        <p:spPr>
          <a:xfrm>
            <a:off x="395654" y="1151792"/>
            <a:ext cx="11438792" cy="3847207"/>
          </a:xfrm>
          <a:prstGeom prst="rect">
            <a:avLst/>
          </a:prstGeom>
          <a:noFill/>
        </p:spPr>
        <p:txBody>
          <a:bodyPr wrap="square" rtlCol="0">
            <a:spAutoFit/>
          </a:bodyPr>
          <a:lstStyle/>
          <a:p>
            <a:r>
              <a:rPr lang="en-US" sz="2400" dirty="0"/>
              <a:t>A basic recipe for machine learning can improve the performance of an algorithm. </a:t>
            </a:r>
          </a:p>
          <a:p>
            <a:pPr marL="342900" indent="-342900">
              <a:buFont typeface="Arial" panose="020B0604020202020204" pitchFamily="34" charset="0"/>
              <a:buChar char="•"/>
            </a:pPr>
            <a:r>
              <a:rPr lang="en-US" sz="2400" dirty="0"/>
              <a:t>The first step is to diagnose whether the algorithm has a high bias </a:t>
            </a:r>
            <a:r>
              <a:rPr lang="en-US" sz="2400" dirty="0" smtClean="0"/>
              <a:t>problem. </a:t>
            </a:r>
            <a:endParaRPr lang="en-US" sz="2400" dirty="0"/>
          </a:p>
          <a:p>
            <a:r>
              <a:rPr lang="en-US" sz="2400" dirty="0"/>
              <a:t>	</a:t>
            </a:r>
            <a:r>
              <a:rPr lang="en-US" sz="2000" dirty="0"/>
              <a:t>- If this is the case, trying to pick a larger network with more hidden layers or </a:t>
            </a:r>
            <a:r>
              <a:rPr lang="en-US" sz="2000" dirty="0" smtClean="0"/>
              <a:t>hidden 	units</a:t>
            </a:r>
            <a:r>
              <a:rPr lang="en-US" sz="2000" dirty="0"/>
              <a:t>, train for a longer time, or try a more advanced optimization 	algorithm.</a:t>
            </a:r>
          </a:p>
          <a:p>
            <a:r>
              <a:rPr lang="en-US" sz="2000" dirty="0"/>
              <a:t>	- If none of these options work, </a:t>
            </a:r>
            <a:r>
              <a:rPr lang="en-US" sz="2000" dirty="0" smtClean="0"/>
              <a:t>trying </a:t>
            </a:r>
            <a:r>
              <a:rPr lang="en-US" sz="2000" dirty="0"/>
              <a:t>a different </a:t>
            </a:r>
            <a:r>
              <a:rPr lang="en-US" sz="2000" dirty="0" smtClean="0"/>
              <a:t>neural </a:t>
            </a:r>
            <a:r>
              <a:rPr lang="en-US" sz="2000" dirty="0"/>
              <a:t>network architecture. </a:t>
            </a:r>
          </a:p>
          <a:p>
            <a:r>
              <a:rPr lang="en-US" sz="2000" dirty="0"/>
              <a:t>	- The goal is to reduce bias to an acceptable amount.</a:t>
            </a:r>
          </a:p>
          <a:p>
            <a:pPr marL="342900" indent="-342900">
              <a:buFont typeface="Arial" panose="020B0604020202020204" pitchFamily="34" charset="0"/>
              <a:buChar char="•"/>
            </a:pPr>
            <a:r>
              <a:rPr lang="en-US" sz="2400" dirty="0"/>
              <a:t>T</a:t>
            </a:r>
            <a:r>
              <a:rPr lang="en-US" sz="2400" dirty="0" smtClean="0"/>
              <a:t>he </a:t>
            </a:r>
            <a:r>
              <a:rPr lang="en-US" sz="2400" dirty="0"/>
              <a:t>second step is to diagnose whether the algorithm has a high variance </a:t>
            </a:r>
            <a:r>
              <a:rPr lang="en-US" sz="2400" dirty="0" smtClean="0"/>
              <a:t>problem. </a:t>
            </a:r>
          </a:p>
          <a:p>
            <a:pPr lvl="1"/>
            <a:r>
              <a:rPr lang="en-US" sz="2400" dirty="0"/>
              <a:t>	</a:t>
            </a:r>
            <a:r>
              <a:rPr lang="en-US" sz="2000" dirty="0" smtClean="0"/>
              <a:t>- To </a:t>
            </a:r>
            <a:r>
              <a:rPr lang="en-US" sz="2000" dirty="0"/>
              <a:t>reduce variance, </a:t>
            </a:r>
            <a:r>
              <a:rPr lang="en-US" sz="2000" dirty="0" smtClean="0"/>
              <a:t>getting </a:t>
            </a:r>
            <a:r>
              <a:rPr lang="en-US" sz="2000" dirty="0"/>
              <a:t>more data, using regularization, or trying a </a:t>
            </a:r>
            <a:r>
              <a:rPr lang="en-US" sz="2000" dirty="0" smtClean="0"/>
              <a:t>	more </a:t>
            </a:r>
            <a:r>
              <a:rPr lang="en-US" sz="2000" dirty="0"/>
              <a:t>appropriate </a:t>
            </a:r>
            <a:r>
              <a:rPr lang="en-US" sz="2000" dirty="0" smtClean="0"/>
              <a:t>	neural </a:t>
            </a:r>
            <a:r>
              <a:rPr lang="en-US" sz="2000" dirty="0"/>
              <a:t>network architecture. </a:t>
            </a:r>
            <a:endParaRPr lang="en-US" sz="2000" dirty="0" smtClean="0"/>
          </a:p>
          <a:p>
            <a:pPr lvl="1"/>
            <a:r>
              <a:rPr lang="en-US" sz="2000" dirty="0"/>
              <a:t>	</a:t>
            </a:r>
            <a:r>
              <a:rPr lang="en-US" sz="2000" dirty="0" smtClean="0"/>
              <a:t>- The </a:t>
            </a:r>
            <a:r>
              <a:rPr lang="en-US" sz="2000" dirty="0"/>
              <a:t>goal is to reduce variance to an acceptable amount.</a:t>
            </a:r>
          </a:p>
        </p:txBody>
      </p:sp>
    </p:spTree>
  </p:cSld>
  <p:clrMapOvr>
    <a:masterClrMapping/>
  </p:clrMapOvr>
  <p:extLst mod="1">
    <p:ext uri="{6950BFC3-D8DA-4A85-94F7-54DA5524770B}">
      <p188:commentRel xmlns="" xmlns:p188="http://schemas.microsoft.com/office/powerpoint/2018/8/main" r:id="rId4"/>
    </p:ext>
  </p:extLs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sp>
        <p:nvSpPr>
          <p:cNvPr id="142" name="Google Shape;142;p11"/>
          <p:cNvSpPr txBox="1">
            <a:spLocks noGrp="1"/>
          </p:cNvSpPr>
          <p:nvPr>
            <p:ph type="title"/>
          </p:nvPr>
        </p:nvSpPr>
        <p:spPr>
          <a:xfrm>
            <a:off x="261620" y="139696"/>
            <a:ext cx="86760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Basic recipe for machine learning</a:t>
            </a:r>
            <a:endParaRPr sz="4400" dirty="0">
              <a:latin typeface="+mj-lt"/>
              <a:ea typeface="Century Schoolbook"/>
              <a:cs typeface="Century Schoolbook"/>
              <a:sym typeface="Century Schoolbook"/>
            </a:endParaRPr>
          </a:p>
        </p:txBody>
      </p:sp>
      <p:sp>
        <p:nvSpPr>
          <p:cNvPr id="143" name="Google Shape;143;p11" descr="A Basic Recipe for Machine Learning | by Hafidz Zulkifli | Becoming Human: Artificial  Intelligence Magazin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5" name="Google Shape;145;p11"/>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46" name="Google Shape;146;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19</a:t>
            </a:fld>
            <a:endParaRPr/>
          </a:p>
        </p:txBody>
      </p:sp>
      <p:sp>
        <p:nvSpPr>
          <p:cNvPr id="2" name="TextBox 1"/>
          <p:cNvSpPr txBox="1"/>
          <p:nvPr/>
        </p:nvSpPr>
        <p:spPr>
          <a:xfrm>
            <a:off x="395654" y="1151792"/>
            <a:ext cx="11438792"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set of things to try depends on whether the algorithm has a high bias or high variance problem. </a:t>
            </a:r>
          </a:p>
          <a:p>
            <a:r>
              <a:rPr lang="en-US" sz="2400" b="1" dirty="0"/>
              <a:t>	Note:</a:t>
            </a:r>
            <a:r>
              <a:rPr lang="en-US" sz="2400" dirty="0"/>
              <a:t> in the modern deep learning era, getting a bigger network almost 	always reduces bias without necessarily hurting variance, so long as the 	network is regularized appropriately. The same is true for getting more data, 	which almost always reduces variance without hurting bias much. </a:t>
            </a:r>
          </a:p>
          <a:p>
            <a:pPr marL="342900" indent="-342900">
              <a:buFont typeface="Arial" panose="020B0604020202020204" pitchFamily="34" charset="0"/>
              <a:buChar char="•"/>
            </a:pPr>
            <a:r>
              <a:rPr lang="en-US" sz="2400" dirty="0"/>
              <a:t>Finally, regularization is a useful technique for reducing variance but can increase bias slightly.</a:t>
            </a:r>
          </a:p>
          <a:p>
            <a:endParaRPr lang="en-US" sz="2400" dirty="0"/>
          </a:p>
          <a:p>
            <a:endParaRPr lang="en-US" sz="2400" dirty="0"/>
          </a:p>
          <a:p>
            <a:endParaRPr lang="en-US" sz="2400" dirty="0"/>
          </a:p>
          <a:p>
            <a:endParaRPr lang="en-US" sz="2400" dirty="0"/>
          </a:p>
          <a:p>
            <a:endParaRPr lang="en-US" sz="2400" dirty="0"/>
          </a:p>
          <a:p>
            <a:endParaRPr lang="en-US" sz="2400" dirty="0"/>
          </a:p>
        </p:txBody>
      </p:sp>
    </p:spTree>
    <p:extLst>
      <p:ext uri="{BB962C8B-B14F-4D97-AF65-F5344CB8AC3E}">
        <p14:creationId xmlns:p14="http://schemas.microsoft.com/office/powerpoint/2010/main" val="30195093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141"/>
        <p:cNvGrpSpPr/>
        <p:nvPr/>
      </p:nvGrpSpPr>
      <p:grpSpPr>
        <a:xfrm>
          <a:off x="0" y="0"/>
          <a:ext cx="0" cy="0"/>
          <a:chOff x="0" y="0"/>
          <a:chExt cx="0" cy="0"/>
        </a:xfrm>
      </p:grpSpPr>
      <p:sp>
        <p:nvSpPr>
          <p:cNvPr id="142" name="Google Shape;142;p11"/>
          <p:cNvSpPr txBox="1">
            <a:spLocks noGrp="1"/>
          </p:cNvSpPr>
          <p:nvPr>
            <p:ph type="title"/>
          </p:nvPr>
        </p:nvSpPr>
        <p:spPr>
          <a:xfrm>
            <a:off x="261620" y="139696"/>
            <a:ext cx="86760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Basic recipe for machine learning</a:t>
            </a:r>
            <a:endParaRPr sz="4400" dirty="0">
              <a:latin typeface="+mj-lt"/>
              <a:ea typeface="Century Schoolbook"/>
              <a:cs typeface="Century Schoolbook"/>
              <a:sym typeface="Century Schoolbook"/>
            </a:endParaRPr>
          </a:p>
        </p:txBody>
      </p:sp>
      <p:sp>
        <p:nvSpPr>
          <p:cNvPr id="143" name="Google Shape;143;p11" descr="A Basic Recipe for Machine Learning | by Hafidz Zulkifli | Becoming Human: Artificial  Intelligence Magazin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44" name="Google Shape;144;p11"/>
          <p:cNvPicPr preferRelativeResize="0"/>
          <p:nvPr/>
        </p:nvPicPr>
        <p:blipFill rotWithShape="1">
          <a:blip r:embed="rId3">
            <a:alphaModFix/>
          </a:blip>
          <a:srcRect/>
          <a:stretch/>
        </p:blipFill>
        <p:spPr>
          <a:xfrm>
            <a:off x="1812400" y="1160075"/>
            <a:ext cx="8367776" cy="4863787"/>
          </a:xfrm>
          <a:prstGeom prst="rect">
            <a:avLst/>
          </a:prstGeom>
          <a:noFill/>
          <a:ln>
            <a:noFill/>
          </a:ln>
        </p:spPr>
      </p:pic>
      <p:pic>
        <p:nvPicPr>
          <p:cNvPr id="145" name="Google Shape;145;p1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46" name="Google Shape;146;p1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20</a:t>
            </a:fld>
            <a:endParaRPr/>
          </a:p>
        </p:txBody>
      </p:sp>
    </p:spTree>
    <p:extLst>
      <p:ext uri="{BB962C8B-B14F-4D97-AF65-F5344CB8AC3E}">
        <p14:creationId xmlns:p14="http://schemas.microsoft.com/office/powerpoint/2010/main" val="1208635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150"/>
        <p:cNvGrpSpPr/>
        <p:nvPr/>
      </p:nvGrpSpPr>
      <p:grpSpPr>
        <a:xfrm>
          <a:off x="0" y="0"/>
          <a:ext cx="0" cy="0"/>
          <a:chOff x="0" y="0"/>
          <a:chExt cx="0" cy="0"/>
        </a:xfrm>
      </p:grpSpPr>
      <p:sp>
        <p:nvSpPr>
          <p:cNvPr id="151" name="Google Shape;151;p12"/>
          <p:cNvSpPr txBox="1">
            <a:spLocks noGrp="1"/>
          </p:cNvSpPr>
          <p:nvPr>
            <p:ph type="title"/>
          </p:nvPr>
        </p:nvSpPr>
        <p:spPr>
          <a:xfrm>
            <a:off x="1481959" y="405706"/>
            <a:ext cx="10173988" cy="3130842"/>
          </a:xfrm>
          <a:prstGeom prst="rect">
            <a:avLst/>
          </a:prstGeom>
          <a:noFill/>
          <a:ln>
            <a:noFill/>
          </a:ln>
        </p:spPr>
        <p:txBody>
          <a:bodyPr spcFirstLastPara="1" wrap="square" lIns="0" tIns="110475" rIns="0" bIns="0" anchor="t" anchorCtr="0">
            <a:spAutoFit/>
          </a:bodyPr>
          <a:lstStyle/>
          <a:p>
            <a:pPr marL="5060315" marR="5080" lvl="0" indent="-299720" algn="ctr" rtl="0">
              <a:lnSpc>
                <a:spcPct val="108833"/>
              </a:lnSpc>
              <a:spcBef>
                <a:spcPts val="0"/>
              </a:spcBef>
              <a:spcAft>
                <a:spcPts val="0"/>
              </a:spcAft>
              <a:buSzPts val="1400"/>
              <a:buNone/>
            </a:pPr>
            <a:r>
              <a:rPr lang="en-US" dirty="0">
                <a:latin typeface="+mj-lt"/>
              </a:rPr>
              <a:t>Regularizing your  neural network</a:t>
            </a:r>
            <a:endParaRPr dirty="0">
              <a:latin typeface="+mj-lt"/>
            </a:endParaRPr>
          </a:p>
        </p:txBody>
      </p:sp>
      <p:sp>
        <p:nvSpPr>
          <p:cNvPr id="152" name="Google Shape;152;p12"/>
          <p:cNvSpPr txBox="1"/>
          <p:nvPr/>
        </p:nvSpPr>
        <p:spPr>
          <a:xfrm>
            <a:off x="5015966" y="3644896"/>
            <a:ext cx="6908799" cy="843821"/>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rgbClr val="000000"/>
              </a:buClr>
              <a:buSzPts val="6600"/>
              <a:buFont typeface="Arial"/>
              <a:buNone/>
            </a:pPr>
            <a:r>
              <a:rPr lang="en-US" sz="5400" b="0" i="0" u="none" strike="noStrike" cap="none" dirty="0">
                <a:solidFill>
                  <a:schemeClr val="dk1"/>
                </a:solidFill>
                <a:latin typeface="+mj-lt"/>
                <a:ea typeface="Calibri"/>
                <a:cs typeface="Calibri"/>
                <a:sym typeface="Calibri"/>
              </a:rPr>
              <a:t>Regularization</a:t>
            </a:r>
            <a:endParaRPr sz="5400" b="0" i="0" u="none" strike="noStrike" cap="none" dirty="0">
              <a:solidFill>
                <a:schemeClr val="dk1"/>
              </a:solidFill>
              <a:latin typeface="+mj-lt"/>
              <a:ea typeface="Calibri"/>
              <a:cs typeface="Calibri"/>
              <a:sym typeface="Calibri"/>
            </a:endParaRPr>
          </a:p>
        </p:txBody>
      </p:sp>
      <p:sp>
        <p:nvSpPr>
          <p:cNvPr id="153" name="Google Shape;153;p1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54" name="Google Shape;154;p1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55" name="Google Shape;155;p1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261620" y="139696"/>
            <a:ext cx="5154442"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Regularization</a:t>
            </a:r>
            <a:endParaRPr sz="4400" dirty="0">
              <a:latin typeface="+mj-lt"/>
              <a:ea typeface="Century Schoolbook"/>
              <a:cs typeface="Century Schoolbook"/>
              <a:sym typeface="Century Schoolbook"/>
            </a:endParaRPr>
          </a:p>
        </p:txBody>
      </p:sp>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22</a:t>
            </a:fld>
            <a:endParaRPr/>
          </a:p>
        </p:txBody>
      </p:sp>
      <p:sp>
        <p:nvSpPr>
          <p:cNvPr id="7" name="TextBox 6"/>
          <p:cNvSpPr txBox="1"/>
          <p:nvPr/>
        </p:nvSpPr>
        <p:spPr>
          <a:xfrm>
            <a:off x="395654" y="1151792"/>
            <a:ext cx="11438792"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Regularization helps prevent overfitting in a neural network by adding a penalty term to the cost function that encourages the weights to be small. </a:t>
            </a:r>
            <a:r>
              <a:rPr lang="en-US" sz="2400" dirty="0" smtClean="0"/>
              <a:t>This smallness of weights can help prevent the network from becoming too complex and overfitting the training data.</a:t>
            </a:r>
          </a:p>
          <a:p>
            <a:pPr marL="342900" indent="-342900">
              <a:buFont typeface="Arial" panose="020B0604020202020204" pitchFamily="34" charset="0"/>
              <a:buChar char="•"/>
            </a:pPr>
            <a:r>
              <a:rPr lang="en-US" sz="2400" dirty="0" smtClean="0"/>
              <a:t>There </a:t>
            </a:r>
            <a:r>
              <a:rPr lang="en-US" sz="2400" dirty="0"/>
              <a:t>are several types of regularization </a:t>
            </a:r>
            <a:r>
              <a:rPr lang="en-US" sz="2400" dirty="0" smtClean="0"/>
              <a:t>techniques which </a:t>
            </a:r>
            <a:r>
              <a:rPr lang="en-US" sz="2400" dirty="0"/>
              <a:t>the model tries to minimize during training. The penalty term discourages the model from learning too much from the training data and encourages it to find simpler solutions that generalize better to new data</a:t>
            </a:r>
            <a:r>
              <a:rPr lang="en-US" sz="2400" dirty="0" smtClean="0"/>
              <a:t>.</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23</a:t>
            </a:fld>
            <a:endParaRPr/>
          </a:p>
        </p:txBody>
      </p:sp>
      <p:sp>
        <p:nvSpPr>
          <p:cNvPr id="7" name="TextBox 6"/>
          <p:cNvSpPr txBox="1"/>
          <p:nvPr/>
        </p:nvSpPr>
        <p:spPr>
          <a:xfrm>
            <a:off x="395654" y="1151792"/>
            <a:ext cx="11438792" cy="4893647"/>
          </a:xfrm>
          <a:prstGeom prst="rect">
            <a:avLst/>
          </a:prstGeom>
          <a:noFill/>
        </p:spPr>
        <p:txBody>
          <a:bodyPr wrap="square" rtlCol="0">
            <a:spAutoFit/>
          </a:bodyPr>
          <a:lstStyle/>
          <a:p>
            <a:pPr marL="342900" indent="-342900">
              <a:buFont typeface="Arial" panose="020B0604020202020204" pitchFamily="34" charset="0"/>
              <a:buChar char="•"/>
            </a:pPr>
            <a:r>
              <a:rPr lang="en-US" sz="2400" dirty="0"/>
              <a:t>One common type of regularization is </a:t>
            </a:r>
            <a:r>
              <a:rPr lang="en-US" sz="2400" b="1" dirty="0"/>
              <a:t>L2</a:t>
            </a:r>
            <a:r>
              <a:rPr lang="en-US" sz="2400" dirty="0"/>
              <a:t> regularization, also known as </a:t>
            </a:r>
            <a:r>
              <a:rPr lang="en-US" sz="2400" dirty="0" smtClean="0"/>
              <a:t>Ridge </a:t>
            </a:r>
            <a:r>
              <a:rPr lang="en-US" sz="2400" dirty="0"/>
              <a:t>regression, which adds a penalty term to the loss function proportional to the square of the magnitude of the model weights. This encourages the model to learn small weights and reduces the impact of any individual feature on the prediction.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Another type of regularization is </a:t>
            </a:r>
            <a:r>
              <a:rPr lang="en-US" sz="2400" b="1" dirty="0"/>
              <a:t>L1</a:t>
            </a:r>
            <a:r>
              <a:rPr lang="en-US" sz="2400" dirty="0"/>
              <a:t> regularization, also known as Lasso regression, which adds a penalty term proportional to the absolute value of the model weights. This has the effect of shrinking some weights to zero, effectively performing feature selection and making the model more interpretable.</a:t>
            </a:r>
          </a:p>
          <a:p>
            <a:endParaRPr lang="en-US" sz="2400" dirty="0"/>
          </a:p>
          <a:p>
            <a:endParaRPr lang="en-US" sz="2400" dirty="0"/>
          </a:p>
          <a:p>
            <a:endParaRPr lang="en-US" sz="2400" dirty="0"/>
          </a:p>
        </p:txBody>
      </p:sp>
      <p:sp>
        <p:nvSpPr>
          <p:cNvPr id="8" name="Google Shape;168;p14"/>
          <p:cNvSpPr txBox="1">
            <a:spLocks/>
          </p:cNvSpPr>
          <p:nvPr/>
        </p:nvSpPr>
        <p:spPr>
          <a:xfrm>
            <a:off x="261620" y="139696"/>
            <a:ext cx="5154442" cy="689932"/>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4400" smtClean="0">
                <a:latin typeface="+mj-lt"/>
                <a:ea typeface="Century Schoolbook"/>
                <a:cs typeface="Century Schoolbook"/>
                <a:sym typeface="Century Schoolbook"/>
              </a:rPr>
              <a:t>Regularization</a:t>
            </a:r>
            <a:endParaRPr lang="en-US" sz="4400" dirty="0">
              <a:latin typeface="+mj-lt"/>
              <a:ea typeface="Century Schoolbook"/>
              <a:cs typeface="Century Schoolbook"/>
              <a:sym typeface="Century Schoolbook"/>
            </a:endParaRPr>
          </a:p>
        </p:txBody>
      </p:sp>
    </p:spTree>
    <p:extLst>
      <p:ext uri="{BB962C8B-B14F-4D97-AF65-F5344CB8AC3E}">
        <p14:creationId xmlns:p14="http://schemas.microsoft.com/office/powerpoint/2010/main" val="765230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0" name="Google Shape;170;p14"/>
          <p:cNvPicPr preferRelativeResize="0"/>
          <p:nvPr/>
        </p:nvPicPr>
        <p:blipFill rotWithShape="1">
          <a:blip r:embed="rId3">
            <a:alphaModFix/>
          </a:blip>
          <a:srcRect/>
          <a:stretch/>
        </p:blipFill>
        <p:spPr>
          <a:xfrm>
            <a:off x="1817325" y="1069150"/>
            <a:ext cx="8230949" cy="5655000"/>
          </a:xfrm>
          <a:prstGeom prst="rect">
            <a:avLst/>
          </a:prstGeom>
          <a:noFill/>
          <a:ln>
            <a:noFill/>
          </a:ln>
        </p:spPr>
      </p:pic>
      <p:pic>
        <p:nvPicPr>
          <p:cNvPr id="171" name="Google Shape;171;p14"/>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24</a:t>
            </a:fld>
            <a:endParaRPr/>
          </a:p>
        </p:txBody>
      </p:sp>
      <p:sp>
        <p:nvSpPr>
          <p:cNvPr id="8" name="Google Shape;168;p14"/>
          <p:cNvSpPr txBox="1">
            <a:spLocks/>
          </p:cNvSpPr>
          <p:nvPr/>
        </p:nvSpPr>
        <p:spPr>
          <a:xfrm>
            <a:off x="261620" y="139696"/>
            <a:ext cx="5154442" cy="689932"/>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4400" smtClean="0">
                <a:latin typeface="+mj-lt"/>
                <a:ea typeface="Century Schoolbook"/>
                <a:cs typeface="Century Schoolbook"/>
                <a:sym typeface="Century Schoolbook"/>
              </a:rPr>
              <a:t>Regularization</a:t>
            </a:r>
            <a:endParaRPr lang="en-US" sz="4400" dirty="0">
              <a:latin typeface="+mj-lt"/>
              <a:ea typeface="Century Schoolbook"/>
              <a:cs typeface="Century Schoolbook"/>
              <a:sym typeface="Century Schoolbook"/>
            </a:endParaRPr>
          </a:p>
        </p:txBody>
      </p:sp>
    </p:spTree>
    <p:extLst>
      <p:ext uri="{BB962C8B-B14F-4D97-AF65-F5344CB8AC3E}">
        <p14:creationId xmlns:p14="http://schemas.microsoft.com/office/powerpoint/2010/main" val="3408167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25</a:t>
            </a:fld>
            <a:endParaRPr/>
          </a:p>
        </p:txBody>
      </p:sp>
      <p:sp>
        <p:nvSpPr>
          <p:cNvPr id="7" name="TextBox 6"/>
          <p:cNvSpPr txBox="1"/>
          <p:nvPr/>
        </p:nvSpPr>
        <p:spPr>
          <a:xfrm>
            <a:off x="395654" y="1151792"/>
            <a:ext cx="11438792"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Finally, there is dropout regularization, which randomly drops out some units in the neural network during training, preventing any single unit from becoming too important and reducing the risk of overfitting.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Overall, regularization is an important technique for improving the generalization performance of machine learning models, and it should be considered as a standard part of the modeling process.</a:t>
            </a:r>
          </a:p>
          <a:p>
            <a:endParaRPr lang="en-US" sz="2400" dirty="0"/>
          </a:p>
          <a:p>
            <a:endParaRPr lang="en-US" sz="2400" dirty="0"/>
          </a:p>
        </p:txBody>
      </p:sp>
      <p:sp>
        <p:nvSpPr>
          <p:cNvPr id="8" name="Google Shape;168;p14"/>
          <p:cNvSpPr txBox="1">
            <a:spLocks/>
          </p:cNvSpPr>
          <p:nvPr/>
        </p:nvSpPr>
        <p:spPr>
          <a:xfrm>
            <a:off x="261620" y="139696"/>
            <a:ext cx="5154442" cy="689932"/>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4400" smtClean="0">
                <a:latin typeface="+mj-lt"/>
                <a:ea typeface="Century Schoolbook"/>
                <a:cs typeface="Century Schoolbook"/>
                <a:sym typeface="Century Schoolbook"/>
              </a:rPr>
              <a:t>Regularization</a:t>
            </a:r>
            <a:endParaRPr lang="en-US" sz="4400" dirty="0">
              <a:latin typeface="+mj-lt"/>
              <a:ea typeface="Century Schoolbook"/>
              <a:cs typeface="Century Schoolbook"/>
              <a:sym typeface="Century Schoolbook"/>
            </a:endParaRPr>
          </a:p>
        </p:txBody>
      </p:sp>
    </p:spTree>
    <p:extLst>
      <p:ext uri="{BB962C8B-B14F-4D97-AF65-F5344CB8AC3E}">
        <p14:creationId xmlns:p14="http://schemas.microsoft.com/office/powerpoint/2010/main" val="1419718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176"/>
        <p:cNvGrpSpPr/>
        <p:nvPr/>
      </p:nvGrpSpPr>
      <p:grpSpPr>
        <a:xfrm>
          <a:off x="0" y="0"/>
          <a:ext cx="0" cy="0"/>
          <a:chOff x="0" y="0"/>
          <a:chExt cx="0" cy="0"/>
        </a:xfrm>
      </p:grpSpPr>
      <p:sp>
        <p:nvSpPr>
          <p:cNvPr id="177" name="Google Shape;177;p15"/>
          <p:cNvSpPr txBox="1">
            <a:spLocks noGrp="1"/>
          </p:cNvSpPr>
          <p:nvPr>
            <p:ph type="title"/>
          </p:nvPr>
        </p:nvSpPr>
        <p:spPr>
          <a:xfrm>
            <a:off x="1483270" y="297357"/>
            <a:ext cx="10499100" cy="3130842"/>
          </a:xfrm>
          <a:prstGeom prst="rect">
            <a:avLst/>
          </a:prstGeom>
          <a:noFill/>
          <a:ln>
            <a:noFill/>
          </a:ln>
        </p:spPr>
        <p:txBody>
          <a:bodyPr spcFirstLastPara="1" wrap="square" lIns="0" tIns="110475" rIns="0" bIns="0" anchor="t" anchorCtr="0">
            <a:spAutoFit/>
          </a:bodyPr>
          <a:lstStyle/>
          <a:p>
            <a:pPr marL="5060315" marR="5080" lvl="0" indent="-299720" algn="l" rtl="0">
              <a:lnSpc>
                <a:spcPct val="108833"/>
              </a:lnSpc>
              <a:spcBef>
                <a:spcPts val="0"/>
              </a:spcBef>
              <a:spcAft>
                <a:spcPts val="0"/>
              </a:spcAft>
              <a:buSzPts val="1400"/>
              <a:buNone/>
            </a:pPr>
            <a:r>
              <a:rPr lang="en-US" dirty="0">
                <a:latin typeface="+mj-lt"/>
              </a:rPr>
              <a:t>Regularizing your  neural network</a:t>
            </a:r>
            <a:endParaRPr dirty="0">
              <a:latin typeface="+mj-lt"/>
            </a:endParaRPr>
          </a:p>
        </p:txBody>
      </p:sp>
      <p:sp>
        <p:nvSpPr>
          <p:cNvPr id="178" name="Google Shape;178;p15"/>
          <p:cNvSpPr txBox="1"/>
          <p:nvPr/>
        </p:nvSpPr>
        <p:spPr>
          <a:xfrm>
            <a:off x="5015966" y="3520011"/>
            <a:ext cx="6908800" cy="2009125"/>
          </a:xfrm>
          <a:prstGeom prst="rect">
            <a:avLst/>
          </a:prstGeom>
          <a:noFill/>
          <a:ln>
            <a:noFill/>
          </a:ln>
        </p:spPr>
        <p:txBody>
          <a:bodyPr spcFirstLastPara="1" wrap="square" lIns="0" tIns="31100" rIns="0" bIns="0" anchor="t" anchorCtr="0">
            <a:spAutoFit/>
          </a:bodyPr>
          <a:lstStyle/>
          <a:p>
            <a:pPr marL="15875" marR="5080" lvl="0" indent="-3810" algn="ctr" rtl="0">
              <a:lnSpc>
                <a:spcPct val="119242"/>
              </a:lnSpc>
              <a:spcBef>
                <a:spcPts val="0"/>
              </a:spcBef>
              <a:spcAft>
                <a:spcPts val="0"/>
              </a:spcAft>
              <a:buClr>
                <a:srgbClr val="000000"/>
              </a:buClr>
              <a:buSzPts val="6600"/>
              <a:buFont typeface="Arial"/>
              <a:buNone/>
            </a:pPr>
            <a:r>
              <a:rPr lang="en-US" sz="5400" b="0" i="0" u="none" strike="noStrike" cap="none" dirty="0">
                <a:solidFill>
                  <a:schemeClr val="dk1"/>
                </a:solidFill>
                <a:latin typeface="+mj-lt"/>
                <a:ea typeface="Calibri"/>
                <a:cs typeface="Calibri"/>
                <a:sym typeface="Calibri"/>
              </a:rPr>
              <a:t>Why regularization  reduces overfitting</a:t>
            </a:r>
            <a:endParaRPr sz="5400" b="0" i="0" u="none" strike="noStrike" cap="none" dirty="0">
              <a:solidFill>
                <a:schemeClr val="dk1"/>
              </a:solidFill>
              <a:latin typeface="+mj-lt"/>
              <a:ea typeface="Calibri"/>
              <a:cs typeface="Calibri"/>
              <a:sym typeface="Calibri"/>
            </a:endParaRPr>
          </a:p>
        </p:txBody>
      </p:sp>
      <p:sp>
        <p:nvSpPr>
          <p:cNvPr id="179" name="Google Shape;179;p15"/>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80" name="Google Shape;180;p15"/>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181" name="Google Shape;181;p15"/>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261620" y="139696"/>
            <a:ext cx="10535334" cy="1367041"/>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How does regularization prevent overfitting?</a:t>
            </a:r>
            <a:endParaRPr sz="4400" dirty="0">
              <a:latin typeface="+mj-lt"/>
              <a:ea typeface="Century Schoolbook"/>
              <a:cs typeface="Century Schoolbook"/>
              <a:sym typeface="Century Schoolbook"/>
            </a:endParaRPr>
          </a:p>
        </p:txBody>
      </p:sp>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27</a:t>
            </a:fld>
            <a:endParaRPr/>
          </a:p>
        </p:txBody>
      </p:sp>
      <p:sp>
        <p:nvSpPr>
          <p:cNvPr id="7" name="TextBox 6"/>
          <p:cNvSpPr txBox="1"/>
          <p:nvPr/>
        </p:nvSpPr>
        <p:spPr>
          <a:xfrm>
            <a:off x="376604" y="1646433"/>
            <a:ext cx="11438792"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L2 regularization encourages the model to distribute the weights more evenly across all features rather than relying heavily on a few features. When the regularization parameter λ is set appropriately, it penalizes large weight values, discouraging the model from assigning excessively high weights to any single feature</a:t>
            </a:r>
            <a:r>
              <a:rPr lang="en-US" sz="2400" dirty="0" smtClean="0"/>
              <a:t>.</a:t>
            </a:r>
            <a:endParaRPr lang="en-US" sz="2400" dirty="0"/>
          </a:p>
          <a:p>
            <a:pPr marL="342900" indent="-342900">
              <a:buFont typeface="Arial" panose="020B0604020202020204" pitchFamily="34" charset="0"/>
              <a:buChar char="•"/>
            </a:pPr>
            <a:r>
              <a:rPr lang="en-US" sz="2400" dirty="0" smtClean="0"/>
              <a:t>In </a:t>
            </a:r>
            <a:r>
              <a:rPr lang="en-US" sz="2400" dirty="0"/>
              <a:t>summary, L2 regularization prevents overfitting by adding a penalty term to the cost function that encourages the model to have smaller and more evenly distributed weights across features. This leads to a more robust and generalizable model, reducing the likelihood of overfitting to the training data.</a:t>
            </a:r>
            <a:endParaRPr lang="en-US" sz="2000" dirty="0" smtClean="0"/>
          </a:p>
        </p:txBody>
      </p:sp>
    </p:spTree>
    <p:extLst>
      <p:ext uri="{BB962C8B-B14F-4D97-AF65-F5344CB8AC3E}">
        <p14:creationId xmlns:p14="http://schemas.microsoft.com/office/powerpoint/2010/main" val="1746796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261620" y="139696"/>
            <a:ext cx="10535334" cy="1367041"/>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How does regularization prevent overfitting?</a:t>
            </a:r>
            <a:endParaRPr sz="4400" dirty="0">
              <a:latin typeface="+mj-lt"/>
              <a:ea typeface="Century Schoolbook"/>
              <a:cs typeface="Century Schoolbook"/>
              <a:sym typeface="Century Schoolbook"/>
            </a:endParaRPr>
          </a:p>
        </p:txBody>
      </p:sp>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28</a:t>
            </a:fld>
            <a:endParaRPr/>
          </a:p>
        </p:txBody>
      </p:sp>
      <p:sp>
        <p:nvSpPr>
          <p:cNvPr id="7" name="TextBox 6"/>
          <p:cNvSpPr txBox="1"/>
          <p:nvPr/>
        </p:nvSpPr>
        <p:spPr>
          <a:xfrm>
            <a:off x="376604" y="1646433"/>
            <a:ext cx="11438792" cy="3416320"/>
          </a:xfrm>
          <a:prstGeom prst="rect">
            <a:avLst/>
          </a:prstGeom>
          <a:noFill/>
        </p:spPr>
        <p:txBody>
          <a:bodyPr wrap="square" rtlCol="0">
            <a:spAutoFit/>
          </a:bodyPr>
          <a:lstStyle/>
          <a:p>
            <a:pPr marL="342900" lvl="1" indent="-342900">
              <a:buFont typeface="Arial" panose="020B0604020202020204" pitchFamily="34" charset="0"/>
              <a:buChar char="•"/>
            </a:pPr>
            <a:r>
              <a:rPr lang="en-US" sz="2400" dirty="0"/>
              <a:t>L1 regularization has the property of introducing sparsity in the model because it encourages many of the model's weights to be exactly zero. When the regularization parameter λ is set appropriately, it effectively forces less important features to have zero weights, effectively excluding them from the model's calculations. In this way, L1 regularization can help the model focus on the most relevant features and reduce the complexity of the learned model</a:t>
            </a:r>
            <a:r>
              <a:rPr lang="en-US" sz="2400" dirty="0" smtClean="0"/>
              <a:t>.</a:t>
            </a:r>
            <a:endParaRPr lang="en-US" sz="2400" dirty="0"/>
          </a:p>
          <a:p>
            <a:pPr marL="342900" lvl="1" indent="-342900">
              <a:buFont typeface="Arial" panose="020B0604020202020204" pitchFamily="34" charset="0"/>
              <a:buChar char="•"/>
            </a:pPr>
            <a:r>
              <a:rPr lang="en-US" sz="2400" dirty="0"/>
              <a:t>In summary, L1 regularization prevents overfitting by adding a penalty term to the cost function that encourages sparsity in the model's weights, leading to a simpler and more generalizable model</a:t>
            </a:r>
            <a:r>
              <a:rPr lang="en-US" sz="2400" dirty="0" smtClean="0"/>
              <a:t>.</a:t>
            </a:r>
            <a:endParaRPr lang="en-US" sz="2400" dirty="0"/>
          </a:p>
        </p:txBody>
      </p:sp>
    </p:spTree>
    <p:extLst>
      <p:ext uri="{BB962C8B-B14F-4D97-AF65-F5344CB8AC3E}">
        <p14:creationId xmlns:p14="http://schemas.microsoft.com/office/powerpoint/2010/main" val="3176698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185"/>
        <p:cNvGrpSpPr/>
        <p:nvPr/>
      </p:nvGrpSpPr>
      <p:grpSpPr>
        <a:xfrm>
          <a:off x="0" y="0"/>
          <a:ext cx="0" cy="0"/>
          <a:chOff x="0" y="0"/>
          <a:chExt cx="0" cy="0"/>
        </a:xfrm>
      </p:grpSpPr>
      <p:pic>
        <p:nvPicPr>
          <p:cNvPr id="187" name="Google Shape;187;p16"/>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88" name="Google Shape;188;p1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29</a:t>
            </a:fld>
            <a:endParaRPr/>
          </a:p>
        </p:txBody>
      </p:sp>
      <p:grpSp>
        <p:nvGrpSpPr>
          <p:cNvPr id="3" name="Group 2"/>
          <p:cNvGrpSpPr/>
          <p:nvPr/>
        </p:nvGrpSpPr>
        <p:grpSpPr>
          <a:xfrm>
            <a:off x="56825" y="0"/>
            <a:ext cx="10677640" cy="6061575"/>
            <a:chOff x="56825" y="0"/>
            <a:chExt cx="10677640" cy="6061575"/>
          </a:xfrm>
        </p:grpSpPr>
        <p:pic>
          <p:nvPicPr>
            <p:cNvPr id="186" name="Google Shape;186;p16"/>
            <p:cNvPicPr preferRelativeResize="0"/>
            <p:nvPr/>
          </p:nvPicPr>
          <p:blipFill rotWithShape="1">
            <a:blip r:embed="rId4">
              <a:alphaModFix/>
            </a:blip>
            <a:srcRect/>
            <a:stretch/>
          </p:blipFill>
          <p:spPr>
            <a:xfrm>
              <a:off x="56825" y="0"/>
              <a:ext cx="10677640" cy="6061575"/>
            </a:xfrm>
            <a:prstGeom prst="rect">
              <a:avLst/>
            </a:prstGeom>
            <a:noFill/>
            <a:ln>
              <a:noFill/>
            </a:ln>
          </p:spPr>
        </p:pic>
        <p:sp>
          <p:nvSpPr>
            <p:cNvPr id="2" name="Rectangle 1"/>
            <p:cNvSpPr/>
            <p:nvPr/>
          </p:nvSpPr>
          <p:spPr>
            <a:xfrm>
              <a:off x="4729655" y="1219200"/>
              <a:ext cx="5707117" cy="10300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192"/>
        <p:cNvGrpSpPr/>
        <p:nvPr/>
      </p:nvGrpSpPr>
      <p:grpSpPr>
        <a:xfrm>
          <a:off x="0" y="0"/>
          <a:ext cx="0" cy="0"/>
          <a:chOff x="0" y="0"/>
          <a:chExt cx="0" cy="0"/>
        </a:xfrm>
      </p:grpSpPr>
      <p:sp>
        <p:nvSpPr>
          <p:cNvPr id="193" name="Google Shape;193;p17"/>
          <p:cNvSpPr txBox="1">
            <a:spLocks noGrp="1"/>
          </p:cNvSpPr>
          <p:nvPr>
            <p:ph type="title"/>
          </p:nvPr>
        </p:nvSpPr>
        <p:spPr>
          <a:xfrm>
            <a:off x="261623" y="139700"/>
            <a:ext cx="10403445" cy="13674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Century Schoolbook"/>
                <a:ea typeface="Century Schoolbook"/>
                <a:cs typeface="Century Schoolbook"/>
                <a:sym typeface="Century Schoolbook"/>
              </a:rPr>
              <a:t>How does regularization prevent overfitting?</a:t>
            </a:r>
            <a:endParaRPr sz="4400" dirty="0">
              <a:latin typeface="Century Schoolbook"/>
              <a:ea typeface="Century Schoolbook"/>
              <a:cs typeface="Century Schoolbook"/>
              <a:sym typeface="Century Schoolbook"/>
            </a:endParaRPr>
          </a:p>
        </p:txBody>
      </p:sp>
      <p:sp>
        <p:nvSpPr>
          <p:cNvPr id="194" name="Google Shape;194;p17" descr="Regularization: A Method to Solve Overfitting in Machine Learning | by  Bassant Gamal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95" name="Google Shape;195;p17"/>
          <p:cNvPicPr preferRelativeResize="0"/>
          <p:nvPr/>
        </p:nvPicPr>
        <p:blipFill rotWithShape="1">
          <a:blip r:embed="rId3">
            <a:alphaModFix/>
          </a:blip>
          <a:srcRect/>
          <a:stretch/>
        </p:blipFill>
        <p:spPr>
          <a:xfrm>
            <a:off x="1072800" y="1733124"/>
            <a:ext cx="9415175" cy="4644825"/>
          </a:xfrm>
          <a:prstGeom prst="rect">
            <a:avLst/>
          </a:prstGeom>
          <a:noFill/>
          <a:ln>
            <a:noFill/>
          </a:ln>
        </p:spPr>
      </p:pic>
      <p:pic>
        <p:nvPicPr>
          <p:cNvPr id="196" name="Google Shape;196;p17"/>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197" name="Google Shape;197;p1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201"/>
        <p:cNvGrpSpPr/>
        <p:nvPr/>
      </p:nvGrpSpPr>
      <p:grpSpPr>
        <a:xfrm>
          <a:off x="0" y="0"/>
          <a:ext cx="0" cy="0"/>
          <a:chOff x="0" y="0"/>
          <a:chExt cx="0" cy="0"/>
        </a:xfrm>
      </p:grpSpPr>
      <p:sp>
        <p:nvSpPr>
          <p:cNvPr id="202" name="Google Shape;202;p18"/>
          <p:cNvSpPr txBox="1">
            <a:spLocks noGrp="1"/>
          </p:cNvSpPr>
          <p:nvPr>
            <p:ph type="title"/>
          </p:nvPr>
        </p:nvSpPr>
        <p:spPr>
          <a:xfrm>
            <a:off x="1303866" y="288467"/>
            <a:ext cx="10620900" cy="3130842"/>
          </a:xfrm>
          <a:prstGeom prst="rect">
            <a:avLst/>
          </a:prstGeom>
          <a:noFill/>
          <a:ln>
            <a:noFill/>
          </a:ln>
        </p:spPr>
        <p:txBody>
          <a:bodyPr spcFirstLastPara="1" wrap="square" lIns="0" tIns="110475" rIns="0" bIns="0" anchor="t" anchorCtr="0">
            <a:spAutoFit/>
          </a:bodyPr>
          <a:lstStyle/>
          <a:p>
            <a:pPr marL="5060315" marR="5080" lvl="0" indent="-299720" algn="l" rtl="0">
              <a:lnSpc>
                <a:spcPct val="108833"/>
              </a:lnSpc>
              <a:spcBef>
                <a:spcPts val="0"/>
              </a:spcBef>
              <a:spcAft>
                <a:spcPts val="0"/>
              </a:spcAft>
              <a:buSzPts val="1400"/>
              <a:buNone/>
            </a:pPr>
            <a:r>
              <a:rPr lang="en-US" dirty="0">
                <a:latin typeface="+mj-lt"/>
              </a:rPr>
              <a:t>Regularizing your  neural network</a:t>
            </a:r>
            <a:endParaRPr dirty="0">
              <a:latin typeface="+mj-lt"/>
            </a:endParaRPr>
          </a:p>
        </p:txBody>
      </p:sp>
      <p:sp>
        <p:nvSpPr>
          <p:cNvPr id="203" name="Google Shape;203;p18"/>
          <p:cNvSpPr txBox="1"/>
          <p:nvPr/>
        </p:nvSpPr>
        <p:spPr>
          <a:xfrm>
            <a:off x="5015966" y="3520011"/>
            <a:ext cx="6908800" cy="2009125"/>
          </a:xfrm>
          <a:prstGeom prst="rect">
            <a:avLst/>
          </a:prstGeom>
          <a:noFill/>
          <a:ln>
            <a:noFill/>
          </a:ln>
        </p:spPr>
        <p:txBody>
          <a:bodyPr spcFirstLastPara="1" wrap="square" lIns="0" tIns="31100" rIns="0" bIns="0" anchor="t" anchorCtr="0">
            <a:spAutoFit/>
          </a:bodyPr>
          <a:lstStyle/>
          <a:p>
            <a:pPr marL="12700" marR="5080" lvl="0" indent="919480" algn="ctr" rtl="0">
              <a:lnSpc>
                <a:spcPct val="119242"/>
              </a:lnSpc>
              <a:spcBef>
                <a:spcPts val="0"/>
              </a:spcBef>
              <a:spcAft>
                <a:spcPts val="0"/>
              </a:spcAft>
              <a:buClr>
                <a:srgbClr val="000000"/>
              </a:buClr>
              <a:buSzPts val="6600"/>
              <a:buFont typeface="Arial"/>
              <a:buNone/>
            </a:pPr>
            <a:r>
              <a:rPr lang="en-US" sz="5400" b="0" i="0" u="none" strike="noStrike" cap="none" dirty="0">
                <a:solidFill>
                  <a:schemeClr val="dk1"/>
                </a:solidFill>
                <a:latin typeface="+mj-lt"/>
                <a:ea typeface="Calibri"/>
                <a:cs typeface="Calibri"/>
                <a:sym typeface="Calibri"/>
              </a:rPr>
              <a:t>Dropout  regularization</a:t>
            </a:r>
            <a:endParaRPr sz="5400" b="0" i="0" u="none" strike="noStrike" cap="none" dirty="0">
              <a:solidFill>
                <a:schemeClr val="dk1"/>
              </a:solidFill>
              <a:latin typeface="+mj-lt"/>
              <a:ea typeface="Calibri"/>
              <a:cs typeface="Calibri"/>
              <a:sym typeface="Calibri"/>
            </a:endParaRPr>
          </a:p>
        </p:txBody>
      </p:sp>
      <p:sp>
        <p:nvSpPr>
          <p:cNvPr id="204" name="Google Shape;204;p18"/>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5" name="Google Shape;205;p18"/>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06" name="Google Shape;206;p1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261620" y="139696"/>
            <a:ext cx="10535334"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Dropout regularization</a:t>
            </a:r>
            <a:endParaRPr sz="4400" dirty="0">
              <a:latin typeface="+mj-lt"/>
              <a:ea typeface="Century Schoolbook"/>
              <a:cs typeface="Century Schoolbook"/>
              <a:sym typeface="Century Schoolbook"/>
            </a:endParaRPr>
          </a:p>
        </p:txBody>
      </p:sp>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32</a:t>
            </a:fld>
            <a:endParaRPr/>
          </a:p>
        </p:txBody>
      </p:sp>
      <p:sp>
        <p:nvSpPr>
          <p:cNvPr id="7" name="TextBox 6"/>
          <p:cNvSpPr txBox="1"/>
          <p:nvPr/>
        </p:nvSpPr>
        <p:spPr>
          <a:xfrm>
            <a:off x="376604" y="1646433"/>
            <a:ext cx="11438792"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a:t>Dropout is a powerful regularization technique that can help prevent overfitting in neural networks. The basic idea of dropout is to randomly eliminate, or "drop out," some nodes in the neural network during training. This means that the network is effectively training on a smaller, more reduced version of itself.</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To implement dropout, we first set a probability for each node in each layer of the network. For example, we might set a probability of 0.5 for each node in each layer. Then, for each training example, we toss a coin for each node to determine whether or not to keep it. If the coin lands on heads, we keep the node. If the coin lands on tails, we eliminate the node and all its outgoing connections. We then train the neural network using this reduced version of itself.</a:t>
            </a:r>
          </a:p>
        </p:txBody>
      </p:sp>
    </p:spTree>
    <p:extLst>
      <p:ext uri="{BB962C8B-B14F-4D97-AF65-F5344CB8AC3E}">
        <p14:creationId xmlns:p14="http://schemas.microsoft.com/office/powerpoint/2010/main" val="181525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167"/>
        <p:cNvGrpSpPr/>
        <p:nvPr/>
      </p:nvGrpSpPr>
      <p:grpSpPr>
        <a:xfrm>
          <a:off x="0" y="0"/>
          <a:ext cx="0" cy="0"/>
          <a:chOff x="0" y="0"/>
          <a:chExt cx="0" cy="0"/>
        </a:xfrm>
      </p:grpSpPr>
      <p:sp>
        <p:nvSpPr>
          <p:cNvPr id="168" name="Google Shape;168;p14"/>
          <p:cNvSpPr txBox="1">
            <a:spLocks noGrp="1"/>
          </p:cNvSpPr>
          <p:nvPr>
            <p:ph type="title"/>
          </p:nvPr>
        </p:nvSpPr>
        <p:spPr>
          <a:xfrm>
            <a:off x="261620" y="139696"/>
            <a:ext cx="10535334" cy="689932"/>
          </a:xfrm>
          <a:prstGeom prst="rect">
            <a:avLst/>
          </a:prstGeom>
          <a:noFill/>
          <a:ln>
            <a:noFill/>
          </a:ln>
        </p:spPr>
        <p:txBody>
          <a:bodyPr spcFirstLastPara="1" wrap="square" lIns="0" tIns="12700" rIns="0" bIns="0" anchor="t" anchorCtr="0">
            <a:spAutoFit/>
          </a:bodyPr>
          <a:lstStyle/>
          <a:p>
            <a:pPr marL="12700" lvl="0"/>
            <a:r>
              <a:rPr lang="en-US" sz="4400" dirty="0">
                <a:latin typeface="+mj-lt"/>
                <a:ea typeface="Century Schoolbook"/>
                <a:cs typeface="Century Schoolbook"/>
                <a:sym typeface="Century Schoolbook"/>
              </a:rPr>
              <a:t>Dropout regularization</a:t>
            </a:r>
            <a:endParaRPr sz="4400" dirty="0">
              <a:latin typeface="+mj-lt"/>
              <a:ea typeface="Century Schoolbook"/>
              <a:cs typeface="Century Schoolbook"/>
              <a:sym typeface="Century Schoolbook"/>
            </a:endParaRPr>
          </a:p>
        </p:txBody>
      </p:sp>
      <p:sp>
        <p:nvSpPr>
          <p:cNvPr id="169" name="Google Shape;169;p14" descr="L1 vs L2 Regularization: The intuitive difference | by Dhaval Taunk |  Analytics Vidhya | Medium"/>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1" name="Google Shape;171;p14"/>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172" name="Google Shape;172;p1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33</a:t>
            </a:fld>
            <a:endParaRPr/>
          </a:p>
        </p:txBody>
      </p:sp>
      <p:sp>
        <p:nvSpPr>
          <p:cNvPr id="7" name="TextBox 6"/>
          <p:cNvSpPr txBox="1"/>
          <p:nvPr/>
        </p:nvSpPr>
        <p:spPr>
          <a:xfrm>
            <a:off x="376604" y="1646433"/>
            <a:ext cx="11438792"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t>We implement dropout using a technique called "inverted dropout," which involves scaling up the activations of the remaining nodes by a factor of 1/</a:t>
            </a:r>
            <a:r>
              <a:rPr lang="en-US" sz="2400" dirty="0" err="1"/>
              <a:t>keep.prob</a:t>
            </a:r>
            <a:r>
              <a:rPr lang="en-US" sz="2400" dirty="0"/>
              <a:t>, where </a:t>
            </a:r>
            <a:r>
              <a:rPr lang="en-US" sz="2400" dirty="0" err="1"/>
              <a:t>keep.prob</a:t>
            </a:r>
            <a:r>
              <a:rPr lang="en-US" sz="2400" dirty="0"/>
              <a:t> is the probability of keeping each node. This ensures that the expected value of the activations remains the same.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At test time, we don't use dropout explicitly, since we don't want our predictions to be random. Instead, we use the full, un-dropped-out neural network to make predictions.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reason dropout works is because it helps prevent overfitting by reducing the co-adaptation between neurons. When we drop out some nodes during training, the remaining nodes must learn to perform the task on their own, rather than relying on co-adaptation with other nodes. This can lead to more robust generalization performance on new data.</a:t>
            </a:r>
          </a:p>
        </p:txBody>
      </p:sp>
    </p:spTree>
    <p:extLst>
      <p:ext uri="{BB962C8B-B14F-4D97-AF65-F5344CB8AC3E}">
        <p14:creationId xmlns:p14="http://schemas.microsoft.com/office/powerpoint/2010/main" val="14567012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210"/>
        <p:cNvGrpSpPr/>
        <p:nvPr/>
      </p:nvGrpSpPr>
      <p:grpSpPr>
        <a:xfrm>
          <a:off x="0" y="0"/>
          <a:ext cx="0" cy="0"/>
          <a:chOff x="0" y="0"/>
          <a:chExt cx="0" cy="0"/>
        </a:xfrm>
      </p:grpSpPr>
      <p:pic>
        <p:nvPicPr>
          <p:cNvPr id="211" name="Google Shape;211;p19"/>
          <p:cNvPicPr preferRelativeResize="0"/>
          <p:nvPr/>
        </p:nvPicPr>
        <p:blipFill rotWithShape="1">
          <a:blip r:embed="rId3">
            <a:alphaModFix/>
          </a:blip>
          <a:srcRect/>
          <a:stretch/>
        </p:blipFill>
        <p:spPr>
          <a:xfrm>
            <a:off x="0" y="0"/>
            <a:ext cx="12192000" cy="6365436"/>
          </a:xfrm>
          <a:prstGeom prst="rect">
            <a:avLst/>
          </a:prstGeom>
          <a:noFill/>
          <a:ln>
            <a:noFill/>
          </a:ln>
        </p:spPr>
      </p:pic>
      <p:pic>
        <p:nvPicPr>
          <p:cNvPr id="212" name="Google Shape;212;p19"/>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13" name="Google Shape;213;p1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sp>
        <p:nvSpPr>
          <p:cNvPr id="218" name="Google Shape;218;p20"/>
          <p:cNvSpPr txBox="1">
            <a:spLocks noGrp="1"/>
          </p:cNvSpPr>
          <p:nvPr>
            <p:ph type="title"/>
          </p:nvPr>
        </p:nvSpPr>
        <p:spPr>
          <a:xfrm>
            <a:off x="261625" y="139700"/>
            <a:ext cx="10242000"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000" b="0" dirty="0">
                <a:latin typeface="+mj-lt"/>
                <a:ea typeface="Century Schoolbook"/>
                <a:cs typeface="Century Schoolbook"/>
                <a:sym typeface="Century Schoolbook"/>
              </a:rPr>
              <a:t>Implementing dropout </a:t>
            </a:r>
            <a:r>
              <a:rPr lang="en-US" sz="4000" dirty="0">
                <a:latin typeface="+mj-lt"/>
                <a:ea typeface="Century Schoolbook"/>
                <a:cs typeface="Century Schoolbook"/>
                <a:sym typeface="Century Schoolbook"/>
              </a:rPr>
              <a:t>(“Inverted dropout</a:t>
            </a:r>
            <a:r>
              <a:rPr lang="en-US" sz="4000" dirty="0" smtClean="0">
                <a:latin typeface="+mj-lt"/>
                <a:ea typeface="Century Schoolbook"/>
                <a:cs typeface="Century Schoolbook"/>
                <a:sym typeface="Century Schoolbook"/>
              </a:rPr>
              <a:t>”)</a:t>
            </a:r>
            <a:endParaRPr sz="4000" b="0" dirty="0">
              <a:latin typeface="+mj-lt"/>
              <a:ea typeface="Century Schoolbook"/>
              <a:cs typeface="Century Schoolbook"/>
              <a:sym typeface="Century Schoolbook"/>
            </a:endParaRPr>
          </a:p>
        </p:txBody>
      </p:sp>
      <p:pic>
        <p:nvPicPr>
          <p:cNvPr id="219" name="Google Shape;219;p20"/>
          <p:cNvPicPr preferRelativeResize="0"/>
          <p:nvPr/>
        </p:nvPicPr>
        <p:blipFill rotWithShape="1">
          <a:blip r:embed="rId3">
            <a:alphaModFix/>
          </a:blip>
          <a:srcRect/>
          <a:stretch/>
        </p:blipFill>
        <p:spPr>
          <a:xfrm>
            <a:off x="943900" y="888950"/>
            <a:ext cx="10080026" cy="5766200"/>
          </a:xfrm>
          <a:prstGeom prst="rect">
            <a:avLst/>
          </a:prstGeom>
          <a:noFill/>
          <a:ln>
            <a:noFill/>
          </a:ln>
        </p:spPr>
      </p:pic>
      <p:pic>
        <p:nvPicPr>
          <p:cNvPr id="220" name="Google Shape;220;p20"/>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21" name="Google Shape;221;p2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225"/>
        <p:cNvGrpSpPr/>
        <p:nvPr/>
      </p:nvGrpSpPr>
      <p:grpSpPr>
        <a:xfrm>
          <a:off x="0" y="0"/>
          <a:ext cx="0" cy="0"/>
          <a:chOff x="0" y="0"/>
          <a:chExt cx="0" cy="0"/>
        </a:xfrm>
      </p:grpSpPr>
      <p:sp>
        <p:nvSpPr>
          <p:cNvPr id="226" name="Google Shape;226;p21"/>
          <p:cNvSpPr txBox="1">
            <a:spLocks noGrp="1"/>
          </p:cNvSpPr>
          <p:nvPr>
            <p:ph type="ctrTitle"/>
          </p:nvPr>
        </p:nvSpPr>
        <p:spPr>
          <a:xfrm>
            <a:off x="239453" y="106445"/>
            <a:ext cx="11713093"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Making predictions at test </a:t>
            </a:r>
            <a:r>
              <a:rPr lang="en-US" sz="4400" b="0" dirty="0" smtClean="0">
                <a:latin typeface="+mj-lt"/>
                <a:ea typeface="Century Schoolbook"/>
                <a:cs typeface="Century Schoolbook"/>
                <a:sym typeface="Century Schoolbook"/>
              </a:rPr>
              <a:t>time</a:t>
            </a:r>
            <a:endParaRPr sz="4400" dirty="0">
              <a:latin typeface="+mj-lt"/>
              <a:ea typeface="Century Schoolbook"/>
              <a:cs typeface="Century Schoolbook"/>
              <a:sym typeface="Century Schoolbook"/>
            </a:endParaRPr>
          </a:p>
        </p:txBody>
      </p:sp>
      <p:sp>
        <p:nvSpPr>
          <p:cNvPr id="227" name="Google Shape;227;p21"/>
          <p:cNvSpPr txBox="1">
            <a:spLocks noGrp="1"/>
          </p:cNvSpPr>
          <p:nvPr>
            <p:ph type="subTitle" idx="1"/>
          </p:nvPr>
        </p:nvSpPr>
        <p:spPr>
          <a:xfrm>
            <a:off x="1828803" y="1177800"/>
            <a:ext cx="8534400" cy="9234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No drop-out</a:t>
            </a:r>
            <a:endParaRPr/>
          </a:p>
        </p:txBody>
      </p:sp>
      <p:pic>
        <p:nvPicPr>
          <p:cNvPr id="228" name="Google Shape;228;p21"/>
          <p:cNvPicPr preferRelativeResize="0"/>
          <p:nvPr/>
        </p:nvPicPr>
        <p:blipFill rotWithShape="1">
          <a:blip r:embed="rId3">
            <a:alphaModFix/>
          </a:blip>
          <a:srcRect/>
          <a:stretch/>
        </p:blipFill>
        <p:spPr>
          <a:xfrm>
            <a:off x="1732226" y="2244425"/>
            <a:ext cx="3333760" cy="3052789"/>
          </a:xfrm>
          <a:prstGeom prst="rect">
            <a:avLst/>
          </a:prstGeom>
          <a:noFill/>
          <a:ln>
            <a:noFill/>
          </a:ln>
        </p:spPr>
      </p:pic>
      <p:pic>
        <p:nvPicPr>
          <p:cNvPr id="229" name="Google Shape;229;p2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230" name="Google Shape;230;p2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234"/>
        <p:cNvGrpSpPr/>
        <p:nvPr/>
      </p:nvGrpSpPr>
      <p:grpSpPr>
        <a:xfrm>
          <a:off x="0" y="0"/>
          <a:ext cx="0" cy="0"/>
          <a:chOff x="0" y="0"/>
          <a:chExt cx="0" cy="0"/>
        </a:xfrm>
      </p:grpSpPr>
      <p:sp>
        <p:nvSpPr>
          <p:cNvPr id="235" name="Google Shape;235;p22"/>
          <p:cNvSpPr txBox="1">
            <a:spLocks noGrp="1"/>
          </p:cNvSpPr>
          <p:nvPr>
            <p:ph type="title"/>
          </p:nvPr>
        </p:nvSpPr>
        <p:spPr>
          <a:xfrm>
            <a:off x="1345266" y="329032"/>
            <a:ext cx="10579500" cy="3130842"/>
          </a:xfrm>
          <a:prstGeom prst="rect">
            <a:avLst/>
          </a:prstGeom>
          <a:noFill/>
          <a:ln>
            <a:noFill/>
          </a:ln>
        </p:spPr>
        <p:txBody>
          <a:bodyPr spcFirstLastPara="1" wrap="square" lIns="0" tIns="110475" rIns="0" bIns="0" anchor="t" anchorCtr="0">
            <a:spAutoFit/>
          </a:bodyPr>
          <a:lstStyle/>
          <a:p>
            <a:pPr marL="5060315" marR="5080" lvl="0" indent="-299720" algn="l" rtl="0">
              <a:lnSpc>
                <a:spcPct val="108833"/>
              </a:lnSpc>
              <a:spcBef>
                <a:spcPts val="0"/>
              </a:spcBef>
              <a:spcAft>
                <a:spcPts val="0"/>
              </a:spcAft>
              <a:buSzPts val="1400"/>
              <a:buNone/>
            </a:pPr>
            <a:r>
              <a:rPr lang="en-US" dirty="0">
                <a:latin typeface="+mj-lt"/>
              </a:rPr>
              <a:t>Regularizing your  neural network</a:t>
            </a:r>
            <a:endParaRPr dirty="0">
              <a:latin typeface="+mj-lt"/>
            </a:endParaRPr>
          </a:p>
        </p:txBody>
      </p:sp>
      <p:sp>
        <p:nvSpPr>
          <p:cNvPr id="236" name="Google Shape;236;p22"/>
          <p:cNvSpPr txBox="1"/>
          <p:nvPr/>
        </p:nvSpPr>
        <p:spPr>
          <a:xfrm>
            <a:off x="6032871" y="3520011"/>
            <a:ext cx="5036700" cy="2009125"/>
          </a:xfrm>
          <a:prstGeom prst="rect">
            <a:avLst/>
          </a:prstGeom>
          <a:noFill/>
          <a:ln>
            <a:noFill/>
          </a:ln>
        </p:spPr>
        <p:txBody>
          <a:bodyPr spcFirstLastPara="1" wrap="square" lIns="0" tIns="31100" rIns="0" bIns="0" anchor="t" anchorCtr="0">
            <a:spAutoFit/>
          </a:bodyPr>
          <a:lstStyle/>
          <a:p>
            <a:pPr marL="1137285" marR="5080" lvl="0" indent="-1125220" algn="l" rtl="0">
              <a:lnSpc>
                <a:spcPct val="119242"/>
              </a:lnSpc>
              <a:spcBef>
                <a:spcPts val="0"/>
              </a:spcBef>
              <a:spcAft>
                <a:spcPts val="0"/>
              </a:spcAft>
              <a:buClr>
                <a:srgbClr val="000000"/>
              </a:buClr>
              <a:buSzPts val="6600"/>
              <a:buFont typeface="Arial"/>
              <a:buNone/>
            </a:pPr>
            <a:r>
              <a:rPr lang="en-US" sz="5400" b="0" i="0" u="none" strike="noStrike" cap="none" dirty="0">
                <a:solidFill>
                  <a:schemeClr val="dk1"/>
                </a:solidFill>
                <a:latin typeface="+mj-lt"/>
                <a:ea typeface="Calibri"/>
                <a:cs typeface="Calibri"/>
                <a:sym typeface="Calibri"/>
              </a:rPr>
              <a:t>Understanding  dropout</a:t>
            </a:r>
            <a:endParaRPr sz="5400" b="0" i="0" u="none" strike="noStrike" cap="none" dirty="0">
              <a:solidFill>
                <a:schemeClr val="dk1"/>
              </a:solidFill>
              <a:latin typeface="+mj-lt"/>
              <a:ea typeface="Calibri"/>
              <a:cs typeface="Calibri"/>
              <a:sym typeface="Calibri"/>
            </a:endParaRPr>
          </a:p>
        </p:txBody>
      </p:sp>
      <p:sp>
        <p:nvSpPr>
          <p:cNvPr id="237" name="Google Shape;237;p22"/>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38" name="Google Shape;238;p22"/>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39" name="Google Shape;239;p22"/>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655320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j-lt"/>
                <a:ea typeface="Century Schoolbook"/>
                <a:cs typeface="Century Schoolbook"/>
                <a:sym typeface="Century Schoolbook"/>
              </a:rPr>
              <a:t>Why does drop-out work?</a:t>
            </a:r>
            <a:endParaRPr sz="4400" b="0" i="0" u="none" strike="noStrike" cap="none" dirty="0">
              <a:solidFill>
                <a:schemeClr val="dk1"/>
              </a:solidFill>
              <a:latin typeface="+mj-lt"/>
              <a:ea typeface="Century Schoolbook"/>
              <a:cs typeface="Century Schoolbook"/>
              <a:sym typeface="Century Schoolbook"/>
            </a:endParaRPr>
          </a:p>
        </p:txBody>
      </p:sp>
      <p:sp>
        <p:nvSpPr>
          <p:cNvPr id="245" name="Google Shape;245;p23"/>
          <p:cNvSpPr txBox="1"/>
          <p:nvPr/>
        </p:nvSpPr>
        <p:spPr>
          <a:xfrm>
            <a:off x="553915" y="1350425"/>
            <a:ext cx="11315700" cy="2620318"/>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ea typeface="Century Schoolbook"/>
                <a:cs typeface="Century Schoolbook"/>
                <a:sym typeface="Century Schoolbook"/>
              </a:rPr>
              <a:t>Dropout encourages weight diversification in the network, preventing overreliance on specific inputs. Random elimination of inputs prompts units to evenly distribute weights, reducing the squared norm, similar to L2 regularization</a:t>
            </a:r>
            <a:r>
              <a:rPr lang="en-US" sz="2400" dirty="0" smtClean="0">
                <a:solidFill>
                  <a:schemeClr val="dk1"/>
                </a:solidFill>
                <a:ea typeface="Century Schoolbook"/>
                <a:cs typeface="Century Schoolbook"/>
                <a:sym typeface="Century Schoolbook"/>
              </a:rPr>
              <a:t>.</a:t>
            </a:r>
          </a:p>
          <a:p>
            <a:pPr marL="12700" marR="5080" lvl="0">
              <a:lnSpc>
                <a:spcPct val="100699"/>
              </a:lnSpc>
              <a:buSzPts val="3200"/>
            </a:pPr>
            <a:endParaRPr lang="en-US" sz="2400" dirty="0">
              <a:solidFill>
                <a:schemeClr val="dk1"/>
              </a:solidFill>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ea typeface="Century Schoolbook"/>
                <a:cs typeface="Century Schoolbook"/>
                <a:sym typeface="Century Schoolbook"/>
              </a:rPr>
              <a:t>In practice, we select a "keep prop" parameter representing the likelihood of retaining units in each layer. This parameter can be adjusted per layer, with lower values for layers of concern regarding overfitting</a:t>
            </a:r>
            <a:r>
              <a:rPr lang="en-US" sz="2400" dirty="0" smtClean="0">
                <a:solidFill>
                  <a:schemeClr val="dk1"/>
                </a:solidFill>
                <a:ea typeface="Century Schoolbook"/>
                <a:cs typeface="Century Schoolbook"/>
                <a:sym typeface="Century Schoolbook"/>
              </a:rPr>
              <a:t>.</a:t>
            </a:r>
            <a:endParaRPr lang="en-US" sz="2400" dirty="0">
              <a:solidFill>
                <a:schemeClr val="dk1"/>
              </a:solidFill>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655320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j-lt"/>
                <a:ea typeface="Century Schoolbook"/>
                <a:cs typeface="Century Schoolbook"/>
                <a:sym typeface="Century Schoolbook"/>
              </a:rPr>
              <a:t>Why does drop-out work?</a:t>
            </a:r>
            <a:endParaRPr sz="4400" b="0" i="0" u="none" strike="noStrike" cap="none" dirty="0">
              <a:solidFill>
                <a:schemeClr val="dk1"/>
              </a:solidFill>
              <a:latin typeface="+mj-lt"/>
              <a:ea typeface="Century Schoolbook"/>
              <a:cs typeface="Century Schoolbook"/>
              <a:sym typeface="Century Schoolbook"/>
            </a:endParaRPr>
          </a:p>
        </p:txBody>
      </p:sp>
      <p:sp>
        <p:nvSpPr>
          <p:cNvPr id="245" name="Google Shape;245;p23"/>
          <p:cNvSpPr txBox="1"/>
          <p:nvPr/>
        </p:nvSpPr>
        <p:spPr>
          <a:xfrm>
            <a:off x="944801" y="1350425"/>
            <a:ext cx="9491345" cy="1004569"/>
          </a:xfrm>
          <a:prstGeom prst="rect">
            <a:avLst/>
          </a:prstGeom>
          <a:noFill/>
          <a:ln>
            <a:noFill/>
          </a:ln>
        </p:spPr>
        <p:txBody>
          <a:bodyPr spcFirstLastPara="1" wrap="square" lIns="0" tIns="8875" rIns="0" bIns="0" anchor="t" anchorCtr="0">
            <a:spAutoFit/>
          </a:bodyPr>
          <a:lstStyle/>
          <a:p>
            <a:pPr marL="12700" marR="5080" lvl="0" indent="0" algn="l" rtl="0">
              <a:lnSpc>
                <a:spcPct val="100699"/>
              </a:lnSpc>
              <a:spcBef>
                <a:spcPts val="0"/>
              </a:spcBef>
              <a:spcAft>
                <a:spcPts val="0"/>
              </a:spcAft>
              <a:buClr>
                <a:srgbClr val="000000"/>
              </a:buClr>
              <a:buSzPts val="3200"/>
              <a:buFont typeface="Arial"/>
              <a:buNone/>
            </a:pPr>
            <a:r>
              <a:rPr lang="en-US" sz="3200" b="0" i="0" u="none" strike="noStrike" cap="none">
                <a:solidFill>
                  <a:schemeClr val="dk1"/>
                </a:solidFill>
                <a:latin typeface="Century Schoolbook"/>
                <a:ea typeface="Century Schoolbook"/>
                <a:cs typeface="Century Schoolbook"/>
                <a:sym typeface="Century Schoolbook"/>
              </a:rPr>
              <a:t>Intuition: Can’t rely on any one feature, so have to  spread out weights.</a:t>
            </a:r>
            <a:endParaRPr sz="1400" b="0" i="0" u="none" strike="noStrike" cap="none">
              <a:solidFill>
                <a:srgbClr val="000000"/>
              </a:solidFill>
              <a:latin typeface="Arial"/>
              <a:ea typeface="Arial"/>
              <a:cs typeface="Arial"/>
              <a:sym typeface="Arial"/>
            </a:endParaRPr>
          </a:p>
        </p:txBody>
      </p:sp>
      <p:pic>
        <p:nvPicPr>
          <p:cNvPr id="246" name="Google Shape;246;p23"/>
          <p:cNvPicPr preferRelativeResize="0"/>
          <p:nvPr/>
        </p:nvPicPr>
        <p:blipFill rotWithShape="1">
          <a:blip r:embed="rId3">
            <a:alphaModFix/>
          </a:blip>
          <a:srcRect/>
          <a:stretch/>
        </p:blipFill>
        <p:spPr>
          <a:xfrm>
            <a:off x="746606" y="2354994"/>
            <a:ext cx="9689540" cy="1380237"/>
          </a:xfrm>
          <a:prstGeom prst="rect">
            <a:avLst/>
          </a:prstGeom>
          <a:noFill/>
          <a:ln>
            <a:noFill/>
          </a:ln>
        </p:spPr>
      </p:pic>
      <p:pic>
        <p:nvPicPr>
          <p:cNvPr id="247" name="Google Shape;247;p23"/>
          <p:cNvPicPr preferRelativeResize="0"/>
          <p:nvPr/>
        </p:nvPicPr>
        <p:blipFill rotWithShape="1">
          <a:blip r:embed="rId4">
            <a:alphaModFix/>
          </a:blip>
          <a:srcRect/>
          <a:stretch/>
        </p:blipFill>
        <p:spPr>
          <a:xfrm>
            <a:off x="888576" y="3874332"/>
            <a:ext cx="8839200" cy="2843746"/>
          </a:xfrm>
          <a:prstGeom prst="rect">
            <a:avLst/>
          </a:prstGeom>
          <a:noFill/>
          <a:ln>
            <a:noFill/>
          </a:ln>
        </p:spPr>
      </p:pic>
      <p:pic>
        <p:nvPicPr>
          <p:cNvPr id="248" name="Google Shape;248;p23"/>
          <p:cNvPicPr preferRelativeResize="0"/>
          <p:nvPr/>
        </p:nvPicPr>
        <p:blipFill rotWithShape="1">
          <a:blip r:embed="rId5">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39</a:t>
            </a:fld>
            <a:endParaRPr/>
          </a:p>
        </p:txBody>
      </p:sp>
    </p:spTree>
    <p:extLst>
      <p:ext uri="{BB962C8B-B14F-4D97-AF65-F5344CB8AC3E}">
        <p14:creationId xmlns:p14="http://schemas.microsoft.com/office/powerpoint/2010/main" val="3699438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6553200"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mj-lt"/>
                <a:ea typeface="Century Schoolbook"/>
                <a:cs typeface="Century Schoolbook"/>
                <a:sym typeface="Century Schoolbook"/>
              </a:rPr>
              <a:t>Why does drop-out work?</a:t>
            </a:r>
            <a:endParaRPr sz="4400" b="0" i="0" u="none" strike="noStrike" cap="none" dirty="0">
              <a:solidFill>
                <a:schemeClr val="dk1"/>
              </a:solidFill>
              <a:latin typeface="+mj-lt"/>
              <a:ea typeface="Century Schoolbook"/>
              <a:cs typeface="Century Schoolbook"/>
              <a:sym typeface="Century Schoolbook"/>
            </a:endParaRPr>
          </a:p>
        </p:txBody>
      </p:sp>
      <p:sp>
        <p:nvSpPr>
          <p:cNvPr id="245" name="Google Shape;245;p23"/>
          <p:cNvSpPr txBox="1"/>
          <p:nvPr/>
        </p:nvSpPr>
        <p:spPr>
          <a:xfrm>
            <a:off x="553915" y="1350425"/>
            <a:ext cx="11315700" cy="2993368"/>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One downside of dropout is that it makes the cost function J less well defined on every iteration, as we are randomly knocking out units. This makes it harder to double check the performance of the network, and we may need to turn off dropout to check that our code is working properly.</a:t>
            </a:r>
          </a:p>
          <a:p>
            <a:pPr marL="355600" marR="5080" lvl="0" indent="-342900">
              <a:lnSpc>
                <a:spcPct val="100699"/>
              </a:lnSpc>
              <a:buSzPts val="3200"/>
              <a:buFont typeface="Arial" panose="020B0604020202020204" pitchFamily="34" charset="0"/>
              <a:buChar char="•"/>
            </a:pP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While dropout is frequently used in computer vision, it may be less useful in other application areas where overfitting is less of an issue. There are also other regularization techniques, which we will discuss in the next slides.</a:t>
            </a:r>
            <a:endParaRPr sz="2400" b="0" i="0" u="none" strike="noStrike" cap="none" dirty="0">
              <a:solidFill>
                <a:srgbClr val="000000"/>
              </a:solidFill>
              <a:latin typeface="+mn-lt"/>
              <a:sym typeface="Arial"/>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40</a:t>
            </a:fld>
            <a:endParaRPr/>
          </a:p>
        </p:txBody>
      </p:sp>
    </p:spTree>
    <p:extLst>
      <p:ext uri="{BB962C8B-B14F-4D97-AF65-F5344CB8AC3E}">
        <p14:creationId xmlns:p14="http://schemas.microsoft.com/office/powerpoint/2010/main" val="35059712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253"/>
        <p:cNvGrpSpPr/>
        <p:nvPr/>
      </p:nvGrpSpPr>
      <p:grpSpPr>
        <a:xfrm>
          <a:off x="0" y="0"/>
          <a:ext cx="0" cy="0"/>
          <a:chOff x="0" y="0"/>
          <a:chExt cx="0" cy="0"/>
        </a:xfrm>
      </p:grpSpPr>
      <p:sp>
        <p:nvSpPr>
          <p:cNvPr id="254" name="Google Shape;254;p24"/>
          <p:cNvSpPr txBox="1">
            <a:spLocks noGrp="1"/>
          </p:cNvSpPr>
          <p:nvPr>
            <p:ph type="title"/>
          </p:nvPr>
        </p:nvSpPr>
        <p:spPr>
          <a:xfrm>
            <a:off x="1083274" y="1325025"/>
            <a:ext cx="10901100" cy="2040300"/>
          </a:xfrm>
          <a:prstGeom prst="rect">
            <a:avLst/>
          </a:prstGeom>
          <a:noFill/>
          <a:ln>
            <a:noFill/>
          </a:ln>
        </p:spPr>
        <p:txBody>
          <a:bodyPr spcFirstLastPara="1" wrap="square" lIns="0" tIns="110475" rIns="0" bIns="0" anchor="t" anchorCtr="0">
            <a:spAutoFit/>
          </a:bodyPr>
          <a:lstStyle/>
          <a:p>
            <a:pPr marL="5060315" marR="5080" lvl="0" indent="-299720" algn="l" rtl="0">
              <a:lnSpc>
                <a:spcPct val="108833"/>
              </a:lnSpc>
              <a:spcBef>
                <a:spcPts val="0"/>
              </a:spcBef>
              <a:spcAft>
                <a:spcPts val="0"/>
              </a:spcAft>
              <a:buSzPts val="1400"/>
              <a:buNone/>
            </a:pPr>
            <a:r>
              <a:rPr lang="en-US"/>
              <a:t>Regularizing your  neural network</a:t>
            </a:r>
            <a:endParaRPr/>
          </a:p>
        </p:txBody>
      </p:sp>
      <p:sp>
        <p:nvSpPr>
          <p:cNvPr id="255" name="Google Shape;255;p24"/>
          <p:cNvSpPr txBox="1"/>
          <p:nvPr/>
        </p:nvSpPr>
        <p:spPr>
          <a:xfrm>
            <a:off x="5105946" y="3644896"/>
            <a:ext cx="6878400" cy="2056200"/>
          </a:xfrm>
          <a:prstGeom prst="rect">
            <a:avLst/>
          </a:prstGeom>
          <a:noFill/>
          <a:ln>
            <a:noFill/>
          </a:ln>
        </p:spPr>
        <p:txBody>
          <a:bodyPr spcFirstLastPara="1" wrap="square" lIns="0" tIns="31100" rIns="0" bIns="0" anchor="t" anchorCtr="0">
            <a:spAutoFit/>
          </a:bodyPr>
          <a:lstStyle/>
          <a:p>
            <a:pPr marL="1931670" marR="5080" lvl="0" indent="-1919605" algn="l" rtl="0">
              <a:lnSpc>
                <a:spcPct val="119242"/>
              </a:lnSpc>
              <a:spcBef>
                <a:spcPts val="0"/>
              </a:spcBef>
              <a:spcAft>
                <a:spcPts val="0"/>
              </a:spcAft>
              <a:buClr>
                <a:srgbClr val="000000"/>
              </a:buClr>
              <a:buSzPts val="6600"/>
              <a:buFont typeface="Arial"/>
              <a:buNone/>
            </a:pPr>
            <a:r>
              <a:rPr lang="en-US" sz="6000" b="0" i="0" u="none" strike="noStrike" cap="none">
                <a:solidFill>
                  <a:schemeClr val="dk1"/>
                </a:solidFill>
                <a:latin typeface="Calibri"/>
                <a:ea typeface="Calibri"/>
                <a:cs typeface="Calibri"/>
                <a:sym typeface="Calibri"/>
              </a:rPr>
              <a:t>Other regularization  methods</a:t>
            </a:r>
            <a:endParaRPr sz="6000" b="0" i="0" u="none" strike="noStrike" cap="none">
              <a:solidFill>
                <a:schemeClr val="dk1"/>
              </a:solidFill>
              <a:latin typeface="Calibri"/>
              <a:ea typeface="Calibri"/>
              <a:cs typeface="Calibri"/>
              <a:sym typeface="Calibri"/>
            </a:endParaRPr>
          </a:p>
        </p:txBody>
      </p:sp>
      <p:sp>
        <p:nvSpPr>
          <p:cNvPr id="256" name="Google Shape;256;p24"/>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57" name="Google Shape;257;p24"/>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258" name="Google Shape;258;p24"/>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Century Schoolbook"/>
                <a:ea typeface="Century Schoolbook"/>
                <a:cs typeface="Century Schoolbook"/>
                <a:sym typeface="Century Schoolbook"/>
              </a:rPr>
              <a:t>Other regularization methods</a:t>
            </a:r>
            <a:endParaRPr sz="4400" b="0" i="0" u="none" strike="noStrike" cap="none" dirty="0">
              <a:solidFill>
                <a:schemeClr val="dk1"/>
              </a:solidFill>
              <a:latin typeface="Century Schoolbook"/>
              <a:ea typeface="Century Schoolbook"/>
              <a:cs typeface="Century Schoolbook"/>
              <a:sym typeface="Century Schoolbook"/>
            </a:endParaRPr>
          </a:p>
        </p:txBody>
      </p:sp>
      <p:sp>
        <p:nvSpPr>
          <p:cNvPr id="245" name="Google Shape;245;p23"/>
          <p:cNvSpPr txBox="1"/>
          <p:nvPr/>
        </p:nvSpPr>
        <p:spPr>
          <a:xfrm>
            <a:off x="553915" y="1350425"/>
            <a:ext cx="11315700" cy="1874216"/>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b="1" dirty="0" smtClean="0">
                <a:solidFill>
                  <a:schemeClr val="dk1"/>
                </a:solidFill>
                <a:latin typeface="+mn-lt"/>
                <a:ea typeface="Century Schoolbook"/>
                <a:cs typeface="Century Schoolbook"/>
                <a:sym typeface="Century Schoolbook"/>
              </a:rPr>
              <a:t>data augmentation</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involves creating additional training examples by distorting existing ones, such as flipping images horizontally or taking random crops of an image. By doing this, the algorithm is trained on a more diverse set of examples, which can help it generalize better.</a:t>
            </a:r>
          </a:p>
          <a:p>
            <a:pPr marL="355600" marR="5080" lvl="0" indent="-342900">
              <a:lnSpc>
                <a:spcPct val="100699"/>
              </a:lnSpc>
              <a:buSzPts val="3200"/>
              <a:buFont typeface="Arial" panose="020B0604020202020204" pitchFamily="34" charset="0"/>
              <a:buChar char="•"/>
            </a:pPr>
            <a:endParaRPr sz="2400" b="0" i="0" u="none" strike="noStrike" cap="none" dirty="0">
              <a:solidFill>
                <a:srgbClr val="000000"/>
              </a:solidFill>
              <a:latin typeface="+mn-lt"/>
              <a:sym typeface="Arial"/>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42</a:t>
            </a:fld>
            <a:endParaRPr/>
          </a:p>
        </p:txBody>
      </p:sp>
      <p:grpSp>
        <p:nvGrpSpPr>
          <p:cNvPr id="6" name="Group 5"/>
          <p:cNvGrpSpPr/>
          <p:nvPr/>
        </p:nvGrpSpPr>
        <p:grpSpPr>
          <a:xfrm>
            <a:off x="2486695" y="3137041"/>
            <a:ext cx="7693595" cy="3361915"/>
            <a:chOff x="237067" y="1684870"/>
            <a:chExt cx="11198508" cy="4411129"/>
          </a:xfrm>
        </p:grpSpPr>
        <p:sp>
          <p:nvSpPr>
            <p:cNvPr id="7" name="Google Shape;264;p25"/>
            <p:cNvSpPr txBox="1"/>
            <p:nvPr/>
          </p:nvSpPr>
          <p:spPr>
            <a:xfrm>
              <a:off x="936622" y="3687224"/>
              <a:ext cx="913765" cy="21285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3800"/>
                <a:buFont typeface="Arial"/>
                <a:buNone/>
              </a:pPr>
              <a:r>
                <a:rPr lang="en-US" sz="13800" b="0" i="0" u="none" strike="noStrike" cap="none">
                  <a:solidFill>
                    <a:schemeClr val="dk1"/>
                  </a:solidFill>
                  <a:latin typeface="Calibri"/>
                  <a:ea typeface="Calibri"/>
                  <a:cs typeface="Calibri"/>
                  <a:sym typeface="Calibri"/>
                </a:rPr>
                <a:t>4</a:t>
              </a:r>
              <a:endParaRPr sz="13800" b="0" i="0" u="none" strike="noStrike" cap="none">
                <a:solidFill>
                  <a:schemeClr val="dk1"/>
                </a:solidFill>
                <a:latin typeface="Calibri"/>
                <a:ea typeface="Calibri"/>
                <a:cs typeface="Calibri"/>
                <a:sym typeface="Calibri"/>
              </a:endParaRPr>
            </a:p>
          </p:txBody>
        </p:sp>
        <p:pic>
          <p:nvPicPr>
            <p:cNvPr id="8" name="Google Shape;265;p25"/>
            <p:cNvPicPr preferRelativeResize="0"/>
            <p:nvPr/>
          </p:nvPicPr>
          <p:blipFill rotWithShape="1">
            <a:blip r:embed="rId4">
              <a:alphaModFix/>
            </a:blip>
            <a:srcRect/>
            <a:stretch/>
          </p:blipFill>
          <p:spPr>
            <a:xfrm>
              <a:off x="237067" y="1684870"/>
              <a:ext cx="2269070" cy="1574800"/>
            </a:xfrm>
            <a:prstGeom prst="rect">
              <a:avLst/>
            </a:prstGeom>
            <a:noFill/>
            <a:ln>
              <a:noFill/>
            </a:ln>
          </p:spPr>
        </p:pic>
        <p:sp>
          <p:nvSpPr>
            <p:cNvPr id="9" name="Google Shape;266;p25"/>
            <p:cNvSpPr/>
            <p:nvPr/>
          </p:nvSpPr>
          <p:spPr>
            <a:xfrm>
              <a:off x="3044609" y="2411590"/>
              <a:ext cx="1329055" cy="127000"/>
            </a:xfrm>
            <a:custGeom>
              <a:avLst/>
              <a:gdLst/>
              <a:ahLst/>
              <a:cxnLst/>
              <a:rect l="l" t="t" r="r" b="b"/>
              <a:pathLst>
                <a:path w="1329054" h="127000" extrusionOk="0">
                  <a:moveTo>
                    <a:pt x="1201966" y="0"/>
                  </a:moveTo>
                  <a:lnTo>
                    <a:pt x="1201966" y="127000"/>
                  </a:lnTo>
                  <a:lnTo>
                    <a:pt x="1312024" y="71970"/>
                  </a:lnTo>
                  <a:lnTo>
                    <a:pt x="1214666" y="71970"/>
                  </a:lnTo>
                  <a:lnTo>
                    <a:pt x="1214666" y="55041"/>
                  </a:lnTo>
                  <a:lnTo>
                    <a:pt x="1312049" y="55041"/>
                  </a:lnTo>
                  <a:lnTo>
                    <a:pt x="1201966" y="0"/>
                  </a:lnTo>
                  <a:close/>
                </a:path>
                <a:path w="1329054" h="127000" extrusionOk="0">
                  <a:moveTo>
                    <a:pt x="1201966" y="55041"/>
                  </a:moveTo>
                  <a:lnTo>
                    <a:pt x="0" y="55041"/>
                  </a:lnTo>
                  <a:lnTo>
                    <a:pt x="0" y="71970"/>
                  </a:lnTo>
                  <a:lnTo>
                    <a:pt x="1201966" y="71970"/>
                  </a:lnTo>
                  <a:lnTo>
                    <a:pt x="1201966" y="55041"/>
                  </a:lnTo>
                  <a:close/>
                </a:path>
                <a:path w="1329054" h="127000" extrusionOk="0">
                  <a:moveTo>
                    <a:pt x="1312049" y="55041"/>
                  </a:moveTo>
                  <a:lnTo>
                    <a:pt x="1214666" y="55041"/>
                  </a:lnTo>
                  <a:lnTo>
                    <a:pt x="1214666" y="71970"/>
                  </a:lnTo>
                  <a:lnTo>
                    <a:pt x="1312024" y="71970"/>
                  </a:lnTo>
                  <a:lnTo>
                    <a:pt x="1328966" y="63500"/>
                  </a:lnTo>
                  <a:lnTo>
                    <a:pt x="1312049" y="55041"/>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0" name="Google Shape;267;p25"/>
            <p:cNvPicPr preferRelativeResize="0"/>
            <p:nvPr/>
          </p:nvPicPr>
          <p:blipFill rotWithShape="1">
            <a:blip r:embed="rId5">
              <a:alphaModFix/>
            </a:blip>
            <a:srcRect/>
            <a:stretch/>
          </p:blipFill>
          <p:spPr>
            <a:xfrm>
              <a:off x="4957381" y="1692313"/>
              <a:ext cx="2256650" cy="1565554"/>
            </a:xfrm>
            <a:prstGeom prst="rect">
              <a:avLst/>
            </a:prstGeom>
            <a:noFill/>
            <a:ln>
              <a:noFill/>
            </a:ln>
          </p:spPr>
        </p:pic>
        <p:sp>
          <p:nvSpPr>
            <p:cNvPr id="11" name="Google Shape;268;p25"/>
            <p:cNvSpPr/>
            <p:nvPr/>
          </p:nvSpPr>
          <p:spPr>
            <a:xfrm>
              <a:off x="3044558" y="4804054"/>
              <a:ext cx="1320165" cy="127000"/>
            </a:xfrm>
            <a:custGeom>
              <a:avLst/>
              <a:gdLst/>
              <a:ahLst/>
              <a:cxnLst/>
              <a:rect l="l" t="t" r="r" b="b"/>
              <a:pathLst>
                <a:path w="1320164" h="127000" extrusionOk="0">
                  <a:moveTo>
                    <a:pt x="1304404" y="54940"/>
                  </a:moveTo>
                  <a:lnTo>
                    <a:pt x="1205611" y="54940"/>
                  </a:lnTo>
                  <a:lnTo>
                    <a:pt x="1205737" y="71869"/>
                  </a:lnTo>
                  <a:lnTo>
                    <a:pt x="1193035" y="71960"/>
                  </a:lnTo>
                  <a:lnTo>
                    <a:pt x="1193431" y="127000"/>
                  </a:lnTo>
                  <a:lnTo>
                    <a:pt x="1319974" y="62585"/>
                  </a:lnTo>
                  <a:lnTo>
                    <a:pt x="1304404" y="54940"/>
                  </a:lnTo>
                  <a:close/>
                </a:path>
                <a:path w="1320164" h="127000" extrusionOk="0">
                  <a:moveTo>
                    <a:pt x="1192913" y="55031"/>
                  </a:moveTo>
                  <a:lnTo>
                    <a:pt x="0" y="63614"/>
                  </a:lnTo>
                  <a:lnTo>
                    <a:pt x="114" y="80543"/>
                  </a:lnTo>
                  <a:lnTo>
                    <a:pt x="1193035" y="71960"/>
                  </a:lnTo>
                  <a:lnTo>
                    <a:pt x="1192913" y="55031"/>
                  </a:lnTo>
                  <a:close/>
                </a:path>
                <a:path w="1320164" h="127000" extrusionOk="0">
                  <a:moveTo>
                    <a:pt x="1205611" y="54940"/>
                  </a:moveTo>
                  <a:lnTo>
                    <a:pt x="1192913" y="55031"/>
                  </a:lnTo>
                  <a:lnTo>
                    <a:pt x="1193035" y="71960"/>
                  </a:lnTo>
                  <a:lnTo>
                    <a:pt x="1205737" y="71869"/>
                  </a:lnTo>
                  <a:lnTo>
                    <a:pt x="1205611" y="54940"/>
                  </a:lnTo>
                  <a:close/>
                </a:path>
                <a:path w="1320164" h="127000" extrusionOk="0">
                  <a:moveTo>
                    <a:pt x="1192517" y="0"/>
                  </a:moveTo>
                  <a:lnTo>
                    <a:pt x="1192913" y="55031"/>
                  </a:lnTo>
                  <a:lnTo>
                    <a:pt x="1304404" y="54940"/>
                  </a:lnTo>
                  <a:lnTo>
                    <a:pt x="119251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2" name="Google Shape;269;p25"/>
            <p:cNvPicPr preferRelativeResize="0"/>
            <p:nvPr/>
          </p:nvPicPr>
          <p:blipFill rotWithShape="1">
            <a:blip r:embed="rId6">
              <a:alphaModFix/>
            </a:blip>
            <a:srcRect/>
            <a:stretch/>
          </p:blipFill>
          <p:spPr>
            <a:xfrm>
              <a:off x="8534400" y="1693341"/>
              <a:ext cx="2269070" cy="1566329"/>
            </a:xfrm>
            <a:prstGeom prst="rect">
              <a:avLst/>
            </a:prstGeom>
            <a:noFill/>
            <a:ln>
              <a:noFill/>
            </a:ln>
          </p:spPr>
        </p:pic>
        <p:grpSp>
          <p:nvGrpSpPr>
            <p:cNvPr id="13" name="Google Shape;270;p25"/>
            <p:cNvGrpSpPr/>
            <p:nvPr/>
          </p:nvGrpSpPr>
          <p:grpSpPr>
            <a:xfrm>
              <a:off x="4910670" y="3920070"/>
              <a:ext cx="2091270" cy="2175929"/>
              <a:chOff x="4910670" y="3920070"/>
              <a:chExt cx="2091270" cy="2175929"/>
            </a:xfrm>
          </p:grpSpPr>
          <p:pic>
            <p:nvPicPr>
              <p:cNvPr id="22" name="Google Shape;271;p25"/>
              <p:cNvPicPr preferRelativeResize="0"/>
              <p:nvPr/>
            </p:nvPicPr>
            <p:blipFill rotWithShape="1">
              <a:blip r:embed="rId7">
                <a:alphaModFix/>
              </a:blip>
              <a:srcRect/>
              <a:stretch/>
            </p:blipFill>
            <p:spPr>
              <a:xfrm>
                <a:off x="5698070" y="4326466"/>
                <a:ext cx="685800" cy="753532"/>
              </a:xfrm>
              <a:prstGeom prst="rect">
                <a:avLst/>
              </a:prstGeom>
              <a:noFill/>
              <a:ln>
                <a:noFill/>
              </a:ln>
            </p:spPr>
          </p:pic>
          <p:pic>
            <p:nvPicPr>
              <p:cNvPr id="23" name="Google Shape;272;p25"/>
              <p:cNvPicPr preferRelativeResize="0"/>
              <p:nvPr/>
            </p:nvPicPr>
            <p:blipFill rotWithShape="1">
              <a:blip r:embed="rId8">
                <a:alphaModFix/>
              </a:blip>
              <a:srcRect/>
              <a:stretch/>
            </p:blipFill>
            <p:spPr>
              <a:xfrm>
                <a:off x="6553199" y="4402670"/>
                <a:ext cx="364067" cy="838200"/>
              </a:xfrm>
              <a:prstGeom prst="rect">
                <a:avLst/>
              </a:prstGeom>
              <a:noFill/>
              <a:ln>
                <a:noFill/>
              </a:ln>
            </p:spPr>
          </p:pic>
          <p:pic>
            <p:nvPicPr>
              <p:cNvPr id="24" name="Google Shape;273;p25"/>
              <p:cNvPicPr preferRelativeResize="0"/>
              <p:nvPr/>
            </p:nvPicPr>
            <p:blipFill rotWithShape="1">
              <a:blip r:embed="rId9">
                <a:alphaModFix/>
              </a:blip>
              <a:srcRect/>
              <a:stretch/>
            </p:blipFill>
            <p:spPr>
              <a:xfrm>
                <a:off x="6375399" y="4013199"/>
                <a:ext cx="567267" cy="838200"/>
              </a:xfrm>
              <a:prstGeom prst="rect">
                <a:avLst/>
              </a:prstGeom>
              <a:noFill/>
              <a:ln>
                <a:noFill/>
              </a:ln>
            </p:spPr>
          </p:pic>
          <p:pic>
            <p:nvPicPr>
              <p:cNvPr id="25" name="Google Shape;274;p25"/>
              <p:cNvPicPr preferRelativeResize="0"/>
              <p:nvPr/>
            </p:nvPicPr>
            <p:blipFill rotWithShape="1">
              <a:blip r:embed="rId10">
                <a:alphaModFix/>
              </a:blip>
              <a:srcRect/>
              <a:stretch/>
            </p:blipFill>
            <p:spPr>
              <a:xfrm>
                <a:off x="4910670" y="3920070"/>
                <a:ext cx="2091270" cy="2175929"/>
              </a:xfrm>
              <a:prstGeom prst="rect">
                <a:avLst/>
              </a:prstGeom>
              <a:noFill/>
              <a:ln>
                <a:noFill/>
              </a:ln>
            </p:spPr>
          </p:pic>
        </p:grpSp>
        <p:grpSp>
          <p:nvGrpSpPr>
            <p:cNvPr id="14" name="Google Shape;275;p25"/>
            <p:cNvGrpSpPr/>
            <p:nvPr/>
          </p:nvGrpSpPr>
          <p:grpSpPr>
            <a:xfrm>
              <a:off x="9008529" y="3412070"/>
              <a:ext cx="2427046" cy="2400135"/>
              <a:chOff x="9008529" y="3412070"/>
              <a:chExt cx="2427046" cy="2400135"/>
            </a:xfrm>
          </p:grpSpPr>
          <p:pic>
            <p:nvPicPr>
              <p:cNvPr id="16" name="Google Shape;276;p25"/>
              <p:cNvPicPr preferRelativeResize="0"/>
              <p:nvPr/>
            </p:nvPicPr>
            <p:blipFill rotWithShape="1">
              <a:blip r:embed="rId11">
                <a:alphaModFix/>
              </a:blip>
              <a:srcRect/>
              <a:stretch/>
            </p:blipFill>
            <p:spPr>
              <a:xfrm>
                <a:off x="9818928" y="4137266"/>
                <a:ext cx="488395" cy="1225195"/>
              </a:xfrm>
              <a:prstGeom prst="rect">
                <a:avLst/>
              </a:prstGeom>
              <a:noFill/>
              <a:ln>
                <a:noFill/>
              </a:ln>
            </p:spPr>
          </p:pic>
          <p:pic>
            <p:nvPicPr>
              <p:cNvPr id="17" name="Google Shape;277;p25"/>
              <p:cNvPicPr preferRelativeResize="0"/>
              <p:nvPr/>
            </p:nvPicPr>
            <p:blipFill rotWithShape="1">
              <a:blip r:embed="rId12">
                <a:alphaModFix/>
              </a:blip>
              <a:srcRect/>
              <a:stretch/>
            </p:blipFill>
            <p:spPr>
              <a:xfrm>
                <a:off x="10307320" y="4137266"/>
                <a:ext cx="1128255" cy="449746"/>
              </a:xfrm>
              <a:prstGeom prst="rect">
                <a:avLst/>
              </a:prstGeom>
              <a:noFill/>
              <a:ln>
                <a:noFill/>
              </a:ln>
            </p:spPr>
          </p:pic>
          <p:pic>
            <p:nvPicPr>
              <p:cNvPr id="18" name="Google Shape;278;p25"/>
              <p:cNvPicPr preferRelativeResize="0"/>
              <p:nvPr/>
            </p:nvPicPr>
            <p:blipFill rotWithShape="1">
              <a:blip r:embed="rId13">
                <a:alphaModFix/>
              </a:blip>
              <a:srcRect/>
              <a:stretch/>
            </p:blipFill>
            <p:spPr>
              <a:xfrm>
                <a:off x="9818928" y="4137267"/>
                <a:ext cx="1616637" cy="1674938"/>
              </a:xfrm>
              <a:prstGeom prst="rect">
                <a:avLst/>
              </a:prstGeom>
              <a:noFill/>
              <a:ln>
                <a:noFill/>
              </a:ln>
            </p:spPr>
          </p:pic>
          <p:pic>
            <p:nvPicPr>
              <p:cNvPr id="19" name="Google Shape;279;p25"/>
              <p:cNvPicPr preferRelativeResize="0"/>
              <p:nvPr/>
            </p:nvPicPr>
            <p:blipFill rotWithShape="1">
              <a:blip r:embed="rId14">
                <a:alphaModFix/>
              </a:blip>
              <a:srcRect/>
              <a:stretch/>
            </p:blipFill>
            <p:spPr>
              <a:xfrm>
                <a:off x="9818928" y="5362457"/>
                <a:ext cx="1128246" cy="449747"/>
              </a:xfrm>
              <a:prstGeom prst="rect">
                <a:avLst/>
              </a:prstGeom>
              <a:noFill/>
              <a:ln>
                <a:noFill/>
              </a:ln>
            </p:spPr>
          </p:pic>
          <p:pic>
            <p:nvPicPr>
              <p:cNvPr id="20" name="Google Shape;280;p25"/>
              <p:cNvPicPr preferRelativeResize="0"/>
              <p:nvPr/>
            </p:nvPicPr>
            <p:blipFill rotWithShape="1">
              <a:blip r:embed="rId15">
                <a:alphaModFix/>
              </a:blip>
              <a:srcRect/>
              <a:stretch/>
            </p:blipFill>
            <p:spPr>
              <a:xfrm>
                <a:off x="10947171" y="4587011"/>
                <a:ext cx="488403" cy="1225194"/>
              </a:xfrm>
              <a:prstGeom prst="rect">
                <a:avLst/>
              </a:prstGeom>
              <a:noFill/>
              <a:ln>
                <a:noFill/>
              </a:ln>
            </p:spPr>
          </p:pic>
          <p:pic>
            <p:nvPicPr>
              <p:cNvPr id="21" name="Google Shape;281;p25"/>
              <p:cNvPicPr preferRelativeResize="0"/>
              <p:nvPr/>
            </p:nvPicPr>
            <p:blipFill rotWithShape="1">
              <a:blip r:embed="rId16">
                <a:alphaModFix/>
              </a:blip>
              <a:srcRect/>
              <a:stretch/>
            </p:blipFill>
            <p:spPr>
              <a:xfrm>
                <a:off x="9008529" y="3412070"/>
                <a:ext cx="1346200" cy="1396999"/>
              </a:xfrm>
              <a:prstGeom prst="rect">
                <a:avLst/>
              </a:prstGeom>
              <a:noFill/>
              <a:ln>
                <a:noFill/>
              </a:ln>
            </p:spPr>
          </p:pic>
        </p:grpSp>
        <p:pic>
          <p:nvPicPr>
            <p:cNvPr id="15" name="Google Shape;282;p25"/>
            <p:cNvPicPr preferRelativeResize="0"/>
            <p:nvPr/>
          </p:nvPicPr>
          <p:blipFill rotWithShape="1">
            <a:blip r:embed="rId17">
              <a:alphaModFix/>
            </a:blip>
            <a:srcRect/>
            <a:stretch/>
          </p:blipFill>
          <p:spPr>
            <a:xfrm>
              <a:off x="7806266" y="4334933"/>
              <a:ext cx="1126066" cy="1227666"/>
            </a:xfrm>
            <a:prstGeom prst="rect">
              <a:avLst/>
            </a:prstGeom>
            <a:noFill/>
            <a:ln>
              <a:noFill/>
            </a:ln>
          </p:spPr>
        </p:pic>
      </p:grpSp>
    </p:spTree>
    <p:extLst>
      <p:ext uri="{BB962C8B-B14F-4D97-AF65-F5344CB8AC3E}">
        <p14:creationId xmlns:p14="http://schemas.microsoft.com/office/powerpoint/2010/main" val="24862985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Century Schoolbook"/>
                <a:ea typeface="Century Schoolbook"/>
                <a:cs typeface="Century Schoolbook"/>
                <a:sym typeface="Century Schoolbook"/>
              </a:rPr>
              <a:t>Other regularization methods</a:t>
            </a:r>
            <a:endParaRPr sz="4400" b="0" i="0" u="none" strike="noStrike" cap="none" dirty="0">
              <a:solidFill>
                <a:schemeClr val="dk1"/>
              </a:solidFill>
              <a:latin typeface="Century Schoolbook"/>
              <a:ea typeface="Century Schoolbook"/>
              <a:cs typeface="Century Schoolbook"/>
              <a:sym typeface="Century Schoolbook"/>
            </a:endParaRPr>
          </a:p>
        </p:txBody>
      </p:sp>
      <p:sp>
        <p:nvSpPr>
          <p:cNvPr id="245" name="Google Shape;245;p23"/>
          <p:cNvSpPr txBox="1"/>
          <p:nvPr/>
        </p:nvSpPr>
        <p:spPr>
          <a:xfrm>
            <a:off x="553915" y="1350425"/>
            <a:ext cx="11315700" cy="1874216"/>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b="1" dirty="0">
                <a:solidFill>
                  <a:schemeClr val="dk1"/>
                </a:solidFill>
                <a:latin typeface="+mn-lt"/>
                <a:ea typeface="Century Schoolbook"/>
                <a:cs typeface="Century Schoolbook"/>
                <a:sym typeface="Century Schoolbook"/>
              </a:rPr>
              <a:t>E</a:t>
            </a:r>
            <a:r>
              <a:rPr lang="en-US" sz="2400" b="1" dirty="0" smtClean="0">
                <a:solidFill>
                  <a:schemeClr val="dk1"/>
                </a:solidFill>
                <a:latin typeface="+mn-lt"/>
                <a:ea typeface="Century Schoolbook"/>
                <a:cs typeface="Century Schoolbook"/>
                <a:sym typeface="Century Schoolbook"/>
              </a:rPr>
              <a:t>arly stopping</a:t>
            </a:r>
            <a:r>
              <a:rPr lang="en-US" sz="2400" dirty="0">
                <a:solidFill>
                  <a:schemeClr val="dk1"/>
                </a:solidFill>
                <a:latin typeface="+mn-lt"/>
                <a:ea typeface="Century Schoolbook"/>
                <a:cs typeface="Century Schoolbook"/>
                <a:sym typeface="Century Schoolbook"/>
              </a:rPr>
              <a:t> </a:t>
            </a:r>
            <a:r>
              <a:rPr lang="en-US" sz="2400" dirty="0" smtClean="0">
                <a:solidFill>
                  <a:schemeClr val="dk1"/>
                </a:solidFill>
                <a:latin typeface="+mn-lt"/>
                <a:ea typeface="Century Schoolbook"/>
                <a:cs typeface="Century Schoolbook"/>
                <a:sym typeface="Century Schoolbook"/>
              </a:rPr>
              <a:t>involves </a:t>
            </a:r>
            <a:r>
              <a:rPr lang="en-US" sz="2400" dirty="0">
                <a:solidFill>
                  <a:schemeClr val="dk1"/>
                </a:solidFill>
                <a:latin typeface="+mn-lt"/>
                <a:ea typeface="Century Schoolbook"/>
                <a:cs typeface="Century Schoolbook"/>
                <a:sym typeface="Century Schoolbook"/>
              </a:rPr>
              <a:t>stopping the training process before it reaches the point of overfitting. This is done by monitoring the performance of the model on a validation set during training and stopping when the validation error starts to increase. By doing this, the model is prevented from continuing to fit the noise in the training data and is forced to generalize better.</a:t>
            </a:r>
            <a:endParaRPr sz="2400" b="0" i="0" u="none" strike="noStrike" cap="none" dirty="0">
              <a:solidFill>
                <a:srgbClr val="000000"/>
              </a:solidFill>
              <a:latin typeface="+mn-lt"/>
              <a:sym typeface="Arial"/>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43</a:t>
            </a:fld>
            <a:endParaRPr/>
          </a:p>
        </p:txBody>
      </p:sp>
      <p:pic>
        <p:nvPicPr>
          <p:cNvPr id="26" name="Google Shape;290;p26"/>
          <p:cNvPicPr preferRelativeResize="0"/>
          <p:nvPr/>
        </p:nvPicPr>
        <p:blipFill rotWithShape="1">
          <a:blip r:embed="rId4">
            <a:alphaModFix/>
          </a:blip>
          <a:srcRect/>
          <a:stretch/>
        </p:blipFill>
        <p:spPr>
          <a:xfrm>
            <a:off x="3944103" y="3260992"/>
            <a:ext cx="3837089" cy="3561840"/>
          </a:xfrm>
          <a:prstGeom prst="rect">
            <a:avLst/>
          </a:prstGeom>
          <a:noFill/>
          <a:ln>
            <a:noFill/>
          </a:ln>
        </p:spPr>
      </p:pic>
    </p:spTree>
    <p:extLst>
      <p:ext uri="{BB962C8B-B14F-4D97-AF65-F5344CB8AC3E}">
        <p14:creationId xmlns:p14="http://schemas.microsoft.com/office/powerpoint/2010/main" val="31780591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0" i="0" u="none" strike="noStrike" cap="none" dirty="0">
                <a:solidFill>
                  <a:schemeClr val="dk1"/>
                </a:solidFill>
                <a:latin typeface="Century Schoolbook"/>
                <a:ea typeface="Century Schoolbook"/>
                <a:cs typeface="Century Schoolbook"/>
                <a:sym typeface="Century Schoolbook"/>
              </a:rPr>
              <a:t>Other regularization methods</a:t>
            </a:r>
            <a:endParaRPr sz="4400" b="0" i="0" u="none" strike="noStrike" cap="none" dirty="0">
              <a:solidFill>
                <a:schemeClr val="dk1"/>
              </a:solidFill>
              <a:latin typeface="Century Schoolbook"/>
              <a:ea typeface="Century Schoolbook"/>
              <a:cs typeface="Century Schoolbook"/>
              <a:sym typeface="Century Schoolbook"/>
            </a:endParaRPr>
          </a:p>
        </p:txBody>
      </p:sp>
      <p:sp>
        <p:nvSpPr>
          <p:cNvPr id="245" name="Google Shape;245;p23"/>
          <p:cNvSpPr txBox="1"/>
          <p:nvPr/>
        </p:nvSpPr>
        <p:spPr>
          <a:xfrm>
            <a:off x="553915" y="1350425"/>
            <a:ext cx="11315700" cy="3366419"/>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However, </a:t>
            </a:r>
            <a:r>
              <a:rPr lang="en-US" sz="2400" b="1" dirty="0" smtClean="0">
                <a:solidFill>
                  <a:schemeClr val="dk1"/>
                </a:solidFill>
                <a:latin typeface="+mn-lt"/>
                <a:ea typeface="Century Schoolbook"/>
                <a:cs typeface="Century Schoolbook"/>
                <a:sym typeface="Century Schoolbook"/>
              </a:rPr>
              <a:t>Early </a:t>
            </a:r>
            <a:r>
              <a:rPr lang="en-US" sz="2400" b="1" dirty="0">
                <a:solidFill>
                  <a:schemeClr val="dk1"/>
                </a:solidFill>
                <a:latin typeface="+mn-lt"/>
                <a:ea typeface="Century Schoolbook"/>
                <a:cs typeface="Century Schoolbook"/>
                <a:sym typeface="Century Schoolbook"/>
              </a:rPr>
              <a:t>stopping</a:t>
            </a:r>
            <a:r>
              <a:rPr lang="en-US" sz="2400" dirty="0">
                <a:solidFill>
                  <a:schemeClr val="dk1"/>
                </a:solidFill>
                <a:latin typeface="+mn-lt"/>
                <a:ea typeface="Century Schoolbook"/>
                <a:cs typeface="Century Schoolbook"/>
                <a:sym typeface="Century Schoolbook"/>
              </a:rPr>
              <a:t> can couple the optimization and regularization tasks, making it more complicated to search for </a:t>
            </a:r>
            <a:r>
              <a:rPr lang="en-US" sz="2400" dirty="0" err="1">
                <a:solidFill>
                  <a:schemeClr val="dk1"/>
                </a:solidFill>
                <a:latin typeface="+mn-lt"/>
                <a:ea typeface="Century Schoolbook"/>
                <a:cs typeface="Century Schoolbook"/>
                <a:sym typeface="Century Schoolbook"/>
              </a:rPr>
              <a:t>hyperparameters</a:t>
            </a:r>
            <a:r>
              <a:rPr lang="en-US" sz="2400" dirty="0">
                <a:solidFill>
                  <a:schemeClr val="dk1"/>
                </a:solidFill>
                <a:latin typeface="+mn-lt"/>
                <a:ea typeface="Century Schoolbook"/>
                <a:cs typeface="Century Schoolbook"/>
                <a:sym typeface="Century Schoolbook"/>
              </a:rPr>
              <a:t>. U</a:t>
            </a:r>
            <a:r>
              <a:rPr lang="en-US" sz="2400" dirty="0" smtClean="0">
                <a:solidFill>
                  <a:schemeClr val="dk1"/>
                </a:solidFill>
                <a:latin typeface="+mn-lt"/>
                <a:ea typeface="Century Schoolbook"/>
                <a:cs typeface="Century Schoolbook"/>
                <a:sym typeface="Century Schoolbook"/>
              </a:rPr>
              <a:t>sing </a:t>
            </a:r>
            <a:r>
              <a:rPr lang="en-US" sz="2400" dirty="0">
                <a:solidFill>
                  <a:schemeClr val="dk1"/>
                </a:solidFill>
                <a:latin typeface="+mn-lt"/>
                <a:ea typeface="Century Schoolbook"/>
                <a:cs typeface="Century Schoolbook"/>
                <a:sym typeface="Century Schoolbook"/>
              </a:rPr>
              <a:t>L2 regularization instead and trying different values of the regularization parameter lambda, which can make the search space of </a:t>
            </a:r>
            <a:r>
              <a:rPr lang="en-US" sz="2400" dirty="0" err="1">
                <a:solidFill>
                  <a:schemeClr val="dk1"/>
                </a:solidFill>
                <a:latin typeface="+mn-lt"/>
                <a:ea typeface="Century Schoolbook"/>
                <a:cs typeface="Century Schoolbook"/>
                <a:sym typeface="Century Schoolbook"/>
              </a:rPr>
              <a:t>hyperparameters</a:t>
            </a:r>
            <a:r>
              <a:rPr lang="en-US" sz="2400" dirty="0">
                <a:solidFill>
                  <a:schemeClr val="dk1"/>
                </a:solidFill>
                <a:latin typeface="+mn-lt"/>
                <a:ea typeface="Century Schoolbook"/>
                <a:cs typeface="Century Schoolbook"/>
                <a:sym typeface="Century Schoolbook"/>
              </a:rPr>
              <a:t> easier to decompose and search over.</a:t>
            </a:r>
          </a:p>
          <a:p>
            <a:pPr marL="355600" marR="5080" lvl="0" indent="-342900">
              <a:lnSpc>
                <a:spcPct val="100699"/>
              </a:lnSpc>
              <a:buSzPts val="3200"/>
              <a:buFont typeface="Arial" panose="020B0604020202020204" pitchFamily="34" charset="0"/>
              <a:buChar char="•"/>
            </a:pP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concept of </a:t>
            </a:r>
            <a:r>
              <a:rPr lang="en-US" sz="2400" dirty="0" err="1">
                <a:solidFill>
                  <a:schemeClr val="dk1"/>
                </a:solidFill>
                <a:latin typeface="+mn-lt"/>
                <a:ea typeface="Century Schoolbook"/>
                <a:cs typeface="Century Schoolbook"/>
                <a:sym typeface="Century Schoolbook"/>
              </a:rPr>
              <a:t>orthogonalization</a:t>
            </a:r>
            <a:r>
              <a:rPr lang="en-US" sz="2400" dirty="0">
                <a:solidFill>
                  <a:schemeClr val="dk1"/>
                </a:solidFill>
                <a:latin typeface="+mn-lt"/>
                <a:ea typeface="Century Schoolbook"/>
                <a:cs typeface="Century Schoolbook"/>
                <a:sym typeface="Century Schoolbook"/>
              </a:rPr>
              <a:t> involves separating the tasks of optimizing the cost function and reducing overfitting. By doing this, it becomes easier to search for </a:t>
            </a:r>
            <a:r>
              <a:rPr lang="en-US" sz="2400" dirty="0" err="1">
                <a:solidFill>
                  <a:schemeClr val="dk1"/>
                </a:solidFill>
                <a:latin typeface="+mn-lt"/>
                <a:ea typeface="Century Schoolbook"/>
                <a:cs typeface="Century Schoolbook"/>
                <a:sym typeface="Century Schoolbook"/>
              </a:rPr>
              <a:t>hyperparameters</a:t>
            </a:r>
            <a:r>
              <a:rPr lang="en-US" sz="2400" dirty="0">
                <a:solidFill>
                  <a:schemeClr val="dk1"/>
                </a:solidFill>
                <a:latin typeface="+mn-lt"/>
                <a:ea typeface="Century Schoolbook"/>
                <a:cs typeface="Century Schoolbook"/>
                <a:sym typeface="Century Schoolbook"/>
              </a:rPr>
              <a:t> and optimize the model efficiently.</a:t>
            </a:r>
            <a:endParaRPr sz="2400" b="0" i="0" u="none" strike="noStrike" cap="none" dirty="0">
              <a:solidFill>
                <a:srgbClr val="000000"/>
              </a:solidFill>
              <a:latin typeface="+mn-lt"/>
              <a:sym typeface="Arial"/>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44</a:t>
            </a:fld>
            <a:endParaRPr/>
          </a:p>
        </p:txBody>
      </p:sp>
    </p:spTree>
    <p:extLst>
      <p:ext uri="{BB962C8B-B14F-4D97-AF65-F5344CB8AC3E}">
        <p14:creationId xmlns:p14="http://schemas.microsoft.com/office/powerpoint/2010/main" val="38433915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296"/>
        <p:cNvGrpSpPr/>
        <p:nvPr/>
      </p:nvGrpSpPr>
      <p:grpSpPr>
        <a:xfrm>
          <a:off x="0" y="0"/>
          <a:ext cx="0" cy="0"/>
          <a:chOff x="0" y="0"/>
          <a:chExt cx="0" cy="0"/>
        </a:xfrm>
      </p:grpSpPr>
      <p:sp>
        <p:nvSpPr>
          <p:cNvPr id="297" name="Google Shape;297;p27"/>
          <p:cNvSpPr txBox="1">
            <a:spLocks noGrp="1"/>
          </p:cNvSpPr>
          <p:nvPr>
            <p:ph type="body" idx="1"/>
          </p:nvPr>
        </p:nvSpPr>
        <p:spPr>
          <a:xfrm>
            <a:off x="419725" y="1418176"/>
            <a:ext cx="117723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a:t>Setting up your  optimization problem</a:t>
            </a:r>
            <a:endParaRPr/>
          </a:p>
        </p:txBody>
      </p:sp>
      <p:sp>
        <p:nvSpPr>
          <p:cNvPr id="298" name="Google Shape;298;p27"/>
          <p:cNvSpPr txBox="1"/>
          <p:nvPr/>
        </p:nvSpPr>
        <p:spPr>
          <a:xfrm>
            <a:off x="5257825" y="3704166"/>
            <a:ext cx="6424800" cy="936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6000" b="0" i="0" u="none" strike="noStrike" cap="none" dirty="0">
                <a:solidFill>
                  <a:schemeClr val="dk1"/>
                </a:solidFill>
                <a:latin typeface="Calibri"/>
                <a:ea typeface="Calibri"/>
                <a:cs typeface="Calibri"/>
                <a:sym typeface="Calibri"/>
              </a:rPr>
              <a:t>Normalizing inputs</a:t>
            </a:r>
            <a:endParaRPr sz="6000" b="0" i="0" u="none" strike="noStrike" cap="none" dirty="0">
              <a:solidFill>
                <a:schemeClr val="dk1"/>
              </a:solidFill>
              <a:latin typeface="Calibri"/>
              <a:ea typeface="Calibri"/>
              <a:cs typeface="Calibri"/>
              <a:sym typeface="Calibri"/>
            </a:endParaRPr>
          </a:p>
        </p:txBody>
      </p:sp>
      <p:sp>
        <p:nvSpPr>
          <p:cNvPr id="299" name="Google Shape;299;p27"/>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00" name="Google Shape;300;p27"/>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01" name="Google Shape;301;p27"/>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Normalizing training sets</a:t>
            </a:r>
          </a:p>
        </p:txBody>
      </p:sp>
      <p:sp>
        <p:nvSpPr>
          <p:cNvPr id="245" name="Google Shape;245;p23"/>
          <p:cNvSpPr txBox="1"/>
          <p:nvPr/>
        </p:nvSpPr>
        <p:spPr>
          <a:xfrm>
            <a:off x="553915" y="1350425"/>
            <a:ext cx="11315700" cy="4858623"/>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Normalizing input features means scaling the features so that they are on similar scales. This is done to make the cost function of the neural network more symmetric, which makes it easier and faster to optimize. The normalization process involves two steps:</a:t>
            </a:r>
          </a:p>
          <a:p>
            <a:pPr marL="12700" marR="5080" lvl="1">
              <a:lnSpc>
                <a:spcPct val="100699"/>
              </a:lnSpc>
              <a:buSzPts val="3200"/>
            </a:pPr>
            <a:r>
              <a:rPr lang="en-US" sz="2400" dirty="0">
                <a:solidFill>
                  <a:schemeClr val="dk1"/>
                </a:solidFill>
                <a:latin typeface="+mn-lt"/>
                <a:ea typeface="Century Schoolbook"/>
                <a:cs typeface="Century Schoolbook"/>
                <a:sym typeface="Century Schoolbook"/>
              </a:rPr>
              <a:t>	- The first step is to subtract the mean from each feature, so that the features 	have zero mean.</a:t>
            </a:r>
          </a:p>
          <a:p>
            <a:pPr marL="12700" marR="5080" lvl="1">
              <a:lnSpc>
                <a:spcPct val="100699"/>
              </a:lnSpc>
              <a:buSzPts val="3200"/>
            </a:pPr>
            <a:r>
              <a:rPr lang="en-US" sz="2400" dirty="0">
                <a:solidFill>
                  <a:schemeClr val="dk1"/>
                </a:solidFill>
                <a:latin typeface="+mn-lt"/>
                <a:ea typeface="Century Schoolbook"/>
                <a:cs typeface="Century Schoolbook"/>
                <a:sym typeface="Century Schoolbook"/>
              </a:rPr>
              <a:t>	- The second step is to divide each feature by its standard </a:t>
            </a:r>
            <a:r>
              <a:rPr lang="en-US" sz="2400" dirty="0" smtClean="0">
                <a:solidFill>
                  <a:schemeClr val="dk1"/>
                </a:solidFill>
                <a:latin typeface="+mn-lt"/>
                <a:ea typeface="Century Schoolbook"/>
                <a:cs typeface="Century Schoolbook"/>
                <a:sym typeface="Century Schoolbook"/>
              </a:rPr>
              <a:t>deviation 	(</a:t>
            </a:r>
            <a:r>
              <a:rPr lang="en-US" sz="2400" dirty="0">
                <a:solidFill>
                  <a:schemeClr val="dk1"/>
                </a:solidFill>
                <a:ea typeface="Century Schoolbook"/>
                <a:cs typeface="Century Schoolbook"/>
                <a:sym typeface="Century Schoolbook"/>
              </a:rPr>
              <a:t>variance</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so that </a:t>
            </a:r>
            <a:r>
              <a:rPr lang="en-US" sz="2400" dirty="0" smtClean="0">
                <a:solidFill>
                  <a:schemeClr val="dk1"/>
                </a:solidFill>
                <a:latin typeface="+mn-lt"/>
                <a:ea typeface="Century Schoolbook"/>
                <a:cs typeface="Century Schoolbook"/>
                <a:sym typeface="Century Schoolbook"/>
              </a:rPr>
              <a:t>the </a:t>
            </a:r>
            <a:r>
              <a:rPr lang="en-US" sz="2400" dirty="0">
                <a:solidFill>
                  <a:schemeClr val="dk1"/>
                </a:solidFill>
                <a:latin typeface="+mn-lt"/>
                <a:ea typeface="Century Schoolbook"/>
                <a:cs typeface="Century Schoolbook"/>
                <a:sym typeface="Century Schoolbook"/>
              </a:rPr>
              <a:t>features have unit variance.</a:t>
            </a:r>
            <a:endParaRPr lang="en-US" sz="2400" dirty="0">
              <a:latin typeface="+mn-lt"/>
              <a:ea typeface="Century Schoolbook"/>
            </a:endParaRPr>
          </a:p>
          <a:p>
            <a:pPr marL="355600" marR="5080" lvl="1" indent="-342900">
              <a:lnSpc>
                <a:spcPct val="100699"/>
              </a:lnSpc>
              <a:buSzPts val="3200"/>
              <a:buFont typeface="Arial" panose="020B0604020202020204" pitchFamily="34" charset="0"/>
              <a:buChar char="•"/>
            </a:pPr>
            <a:endParaRPr lang="en-US" sz="2400" dirty="0">
              <a:solidFill>
                <a:schemeClr val="dk1"/>
              </a:solidFill>
              <a:latin typeface="+mn-lt"/>
              <a:ea typeface="Century Schoolbook"/>
              <a:cs typeface="Century Schoolbook"/>
              <a:sym typeface="Century Schoolbook"/>
            </a:endParaRPr>
          </a:p>
          <a:p>
            <a:pPr marL="355600" marR="5080" lvl="1"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Normalizing input features is important when the input features come from very different scales, as this can make it difficult for the optimization algorithm to converge. If the features are on similar scales, normalization is less important, but it is still a good practice to perform.</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46</a:t>
            </a:fld>
            <a:endParaRPr/>
          </a:p>
        </p:txBody>
      </p:sp>
    </p:spTree>
    <p:extLst>
      <p:ext uri="{BB962C8B-B14F-4D97-AF65-F5344CB8AC3E}">
        <p14:creationId xmlns:p14="http://schemas.microsoft.com/office/powerpoint/2010/main" val="1628167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Normalizing training sets</a:t>
            </a:r>
          </a:p>
        </p:txBody>
      </p:sp>
      <p:sp>
        <p:nvSpPr>
          <p:cNvPr id="245" name="Google Shape;245;p23"/>
          <p:cNvSpPr txBox="1"/>
          <p:nvPr/>
        </p:nvSpPr>
        <p:spPr>
          <a:xfrm>
            <a:off x="553915" y="1350425"/>
            <a:ext cx="11315700" cy="1128114"/>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Note </a:t>
            </a:r>
            <a:r>
              <a:rPr lang="en-US" sz="2400" dirty="0" smtClean="0">
                <a:solidFill>
                  <a:schemeClr val="dk1"/>
                </a:solidFill>
                <a:latin typeface="+mn-lt"/>
                <a:ea typeface="Century Schoolbook"/>
                <a:cs typeface="Century Schoolbook"/>
                <a:sym typeface="Century Schoolbook"/>
              </a:rPr>
              <a:t>that in </a:t>
            </a:r>
            <a:r>
              <a:rPr lang="en-US" sz="2400" dirty="0">
                <a:solidFill>
                  <a:schemeClr val="dk1"/>
                </a:solidFill>
                <a:latin typeface="+mn-lt"/>
                <a:ea typeface="Century Schoolbook"/>
                <a:cs typeface="Century Schoolbook"/>
                <a:sym typeface="Century Schoolbook"/>
              </a:rPr>
              <a:t>the following </a:t>
            </a:r>
            <a:r>
              <a:rPr lang="en-US" sz="2400" dirty="0" smtClean="0">
                <a:solidFill>
                  <a:schemeClr val="dk1"/>
                </a:solidFill>
                <a:latin typeface="+mn-lt"/>
                <a:ea typeface="Century Schoolbook"/>
                <a:cs typeface="Century Schoolbook"/>
                <a:sym typeface="Century Schoolbook"/>
              </a:rPr>
              <a:t>diagram </a:t>
            </a:r>
            <a:r>
              <a:rPr lang="en-US" sz="2400" dirty="0">
                <a:solidFill>
                  <a:schemeClr val="dk1"/>
                </a:solidFill>
                <a:latin typeface="+mn-lt"/>
                <a:ea typeface="Century Schoolbook"/>
                <a:cs typeface="Century Schoolbook"/>
                <a:sym typeface="Century Schoolbook"/>
              </a:rPr>
              <a:t>feature </a:t>
            </a:r>
            <a:r>
              <a:rPr lang="en-US" sz="2400" dirty="0" smtClean="0">
                <a:solidFill>
                  <a:schemeClr val="dk1"/>
                </a:solidFill>
                <a:latin typeface="+mn-lt"/>
                <a:ea typeface="Century Schoolbook"/>
                <a:cs typeface="Century Schoolbook"/>
                <a:sym typeface="Century Schoolbook"/>
              </a:rPr>
              <a:t>x</a:t>
            </a:r>
            <a:r>
              <a:rPr lang="en-US" sz="2400" baseline="-25000" dirty="0" smtClean="0">
                <a:solidFill>
                  <a:schemeClr val="dk1"/>
                </a:solidFill>
                <a:latin typeface="+mn-lt"/>
                <a:ea typeface="Century Schoolbook"/>
                <a:cs typeface="Century Schoolbook"/>
                <a:sym typeface="Century Schoolbook"/>
              </a:rPr>
              <a:t>1</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has very much larger variance than feature </a:t>
            </a:r>
            <a:r>
              <a:rPr lang="en-US" sz="2400" dirty="0" smtClean="0">
                <a:solidFill>
                  <a:schemeClr val="dk1"/>
                </a:solidFill>
                <a:latin typeface="+mn-lt"/>
                <a:ea typeface="Century Schoolbook"/>
                <a:cs typeface="Century Schoolbook"/>
                <a:sym typeface="Century Schoolbook"/>
              </a:rPr>
              <a:t>x</a:t>
            </a:r>
            <a:r>
              <a:rPr lang="en-US" sz="2400" baseline="-25000" dirty="0">
                <a:solidFill>
                  <a:schemeClr val="dk1"/>
                </a:solidFill>
                <a:latin typeface="+mn-lt"/>
                <a:ea typeface="Century Schoolbook"/>
                <a:cs typeface="Century Schoolbook"/>
                <a:sym typeface="Century Schoolbook"/>
              </a:rPr>
              <a:t>2</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here. After variance normalization, the variance of </a:t>
            </a:r>
            <a:r>
              <a:rPr lang="en-US" sz="2400" dirty="0" smtClean="0">
                <a:solidFill>
                  <a:schemeClr val="dk1"/>
                </a:solidFill>
                <a:latin typeface="+mn-lt"/>
                <a:ea typeface="Century Schoolbook"/>
                <a:cs typeface="Century Schoolbook"/>
                <a:sym typeface="Century Schoolbook"/>
              </a:rPr>
              <a:t>x</a:t>
            </a:r>
            <a:r>
              <a:rPr lang="en-US" sz="2400" baseline="-25000" dirty="0">
                <a:solidFill>
                  <a:schemeClr val="dk1"/>
                </a:solidFill>
                <a:latin typeface="+mn-lt"/>
                <a:ea typeface="Century Schoolbook"/>
                <a:cs typeface="Century Schoolbook"/>
                <a:sym typeface="Century Schoolbook"/>
              </a:rPr>
              <a:t>1</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and </a:t>
            </a:r>
            <a:r>
              <a:rPr lang="en-US" sz="2400" dirty="0" smtClean="0">
                <a:solidFill>
                  <a:schemeClr val="dk1"/>
                </a:solidFill>
                <a:latin typeface="+mn-lt"/>
                <a:ea typeface="Century Schoolbook"/>
                <a:cs typeface="Century Schoolbook"/>
                <a:sym typeface="Century Schoolbook"/>
              </a:rPr>
              <a:t>x</a:t>
            </a:r>
            <a:r>
              <a:rPr lang="en-US" sz="2400" baseline="-25000" dirty="0">
                <a:solidFill>
                  <a:schemeClr val="dk1"/>
                </a:solidFill>
                <a:latin typeface="+mn-lt"/>
                <a:ea typeface="Century Schoolbook"/>
                <a:cs typeface="Century Schoolbook"/>
                <a:sym typeface="Century Schoolbook"/>
              </a:rPr>
              <a:t>2</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are both equal to 1.</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47</a:t>
            </a:fld>
            <a:endParaRPr/>
          </a:p>
        </p:txBody>
      </p:sp>
    </p:spTree>
    <p:extLst>
      <p:ext uri="{BB962C8B-B14F-4D97-AF65-F5344CB8AC3E}">
        <p14:creationId xmlns:p14="http://schemas.microsoft.com/office/powerpoint/2010/main" val="28030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305"/>
        <p:cNvGrpSpPr/>
        <p:nvPr/>
      </p:nvGrpSpPr>
      <p:grpSpPr>
        <a:xfrm>
          <a:off x="0" y="0"/>
          <a:ext cx="0" cy="0"/>
          <a:chOff x="0" y="0"/>
          <a:chExt cx="0" cy="0"/>
        </a:xfrm>
      </p:grpSpPr>
      <p:pic>
        <p:nvPicPr>
          <p:cNvPr id="307" name="Google Shape;307;p28"/>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308" name="Google Shape;308;p2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48</a:t>
            </a:fld>
            <a:endParaRPr/>
          </a:p>
        </p:txBody>
      </p:sp>
      <p:pic>
        <p:nvPicPr>
          <p:cNvPr id="306" name="Google Shape;306;p28"/>
          <p:cNvPicPr preferRelativeResize="0"/>
          <p:nvPr/>
        </p:nvPicPr>
        <p:blipFill rotWithShape="1">
          <a:blip r:embed="rId4">
            <a:alphaModFix/>
          </a:blip>
          <a:srcRect/>
          <a:stretch/>
        </p:blipFill>
        <p:spPr>
          <a:xfrm>
            <a:off x="0" y="0"/>
            <a:ext cx="12192000" cy="6371877"/>
          </a:xfrm>
          <a:prstGeom prst="rect">
            <a:avLst/>
          </a:prstGeom>
          <a:noFill/>
          <a:ln>
            <a:noFill/>
          </a:ln>
        </p:spPr>
      </p:pic>
      <mc:AlternateContent xmlns:mc="http://schemas.openxmlformats.org/markup-compatibility/2006" xmlns:a14="http://schemas.microsoft.com/office/drawing/2010/main">
        <mc:Choice Requires="a14">
          <p:sp>
            <p:nvSpPr>
              <p:cNvPr id="4" name="TextBox 3"/>
              <p:cNvSpPr txBox="1"/>
              <p:nvPr/>
            </p:nvSpPr>
            <p:spPr>
              <a:xfrm>
                <a:off x="241737" y="4466897"/>
                <a:ext cx="11940761" cy="2184572"/>
              </a:xfrm>
              <a:prstGeom prst="rect">
                <a:avLst/>
              </a:prstGeom>
              <a:solidFill>
                <a:schemeClr val="lt1"/>
              </a:solidFill>
            </p:spPr>
            <p:txBody>
              <a:bodyPr wrap="square" rtlCol="0">
                <a:spAutoFit/>
              </a:bodyPr>
              <a:lstStyle/>
              <a:p>
                <a:r>
                  <a:rPr lang="en-US" sz="2400" dirty="0" smtClean="0"/>
                  <a:t>X = </a:t>
                </a:r>
                <a14:m>
                  <m:oMath xmlns:m="http://schemas.openxmlformats.org/officeDocument/2006/math">
                    <m:d>
                      <m:dPr>
                        <m:begChr m:val="["/>
                        <m:endChr m:val="]"/>
                        <m:ctrlPr>
                          <a:rPr lang="en-US" sz="2400" i="1" smtClean="0">
                            <a:latin typeface="Cambria Math" panose="02040503050406030204" pitchFamily="18" charset="0"/>
                          </a:rPr>
                        </m:ctrlPr>
                      </m:dPr>
                      <m:e>
                        <m:eqArr>
                          <m:eqArrPr>
                            <m:ctrlPr>
                              <a:rPr lang="en-US" sz="2400" b="0" i="1" smtClean="0">
                                <a:latin typeface="Cambria Math" panose="02040503050406030204" pitchFamily="18" charset="0"/>
                              </a:rPr>
                            </m:ctrlPr>
                          </m:eqArr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1</m:t>
                                </m:r>
                              </m:sub>
                            </m:sSub>
                          </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2</m:t>
                                </m:r>
                              </m:sub>
                            </m:sSub>
                          </m:e>
                        </m:eqArr>
                      </m:e>
                    </m:d>
                  </m:oMath>
                </a14:m>
                <a:r>
                  <a:rPr lang="en-US" sz="1800" dirty="0" smtClean="0"/>
                  <a:t>			</a:t>
                </a:r>
                <a:r>
                  <a:rPr lang="en-US" sz="1800" b="1" dirty="0" smtClean="0"/>
                  <a:t>Step </a:t>
                </a:r>
                <a:r>
                  <a:rPr lang="en-US" sz="1800" b="1" dirty="0"/>
                  <a:t>1</a:t>
                </a:r>
                <a:r>
                  <a:rPr lang="en-US" sz="1800" dirty="0"/>
                  <a:t>: </a:t>
                </a:r>
                <a:r>
                  <a:rPr lang="en-US" sz="2000" dirty="0"/>
                  <a:t>Mean</a:t>
                </a:r>
                <a:r>
                  <a:rPr lang="en-US" sz="2400" dirty="0"/>
                  <a:t>: </a:t>
                </a:r>
                <a:r>
                  <a:rPr lang="el-GR" sz="2400" dirty="0"/>
                  <a:t>μ</a:t>
                </a:r>
                <a:r>
                  <a:rPr lang="en-US" sz="2400" dirty="0"/>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𝑚</m:t>
                        </m:r>
                      </m:den>
                    </m:f>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𝑚</m:t>
                        </m:r>
                      </m:sup>
                      <m:e>
                        <m:sSup>
                          <m:sSupPr>
                            <m:ctrlPr>
                              <a:rPr lang="en-US" sz="2400" i="1">
                                <a:latin typeface="Cambria Math" panose="02040503050406030204" pitchFamily="18" charset="0"/>
                              </a:rPr>
                            </m:ctrlPr>
                          </m:sSupPr>
                          <m:e>
                            <m:r>
                              <a:rPr lang="en-US" sz="2400" i="1">
                                <a:latin typeface="Cambria Math" panose="02040503050406030204" pitchFamily="18" charset="0"/>
                              </a:rPr>
                              <m:t>𝑋</m:t>
                            </m:r>
                          </m:e>
                          <m:sup>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sup>
                        </m:sSup>
                      </m:e>
                    </m:nary>
                  </m:oMath>
                </a14:m>
                <a:r>
                  <a:rPr lang="en-US" sz="1800" dirty="0" smtClean="0"/>
                  <a:t>	      </a:t>
                </a:r>
                <a:r>
                  <a:rPr lang="en-US" sz="1800" b="1" dirty="0" smtClean="0"/>
                  <a:t>Step </a:t>
                </a:r>
                <a:r>
                  <a:rPr lang="en-US" sz="1800" dirty="0"/>
                  <a:t>2: Variance: </a:t>
                </a:r>
                <a:r>
                  <a:rPr lang="el-GR" sz="2400" dirty="0"/>
                  <a:t>σ</a:t>
                </a:r>
                <a:r>
                  <a:rPr lang="en-US" sz="2400" baseline="30000" dirty="0"/>
                  <a:t>2</a:t>
                </a:r>
                <a:r>
                  <a:rPr lang="en-US" sz="2400" dirty="0"/>
                  <a:t> =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𝑚</m:t>
                        </m:r>
                      </m:den>
                    </m:f>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𝑚</m:t>
                        </m:r>
                      </m:sup>
                      <m:e>
                        <m:sSup>
                          <m:sSupPr>
                            <m:ctrlPr>
                              <a:rPr lang="en-US" sz="2400" i="1">
                                <a:latin typeface="Cambria Math" panose="02040503050406030204" pitchFamily="18" charset="0"/>
                              </a:rPr>
                            </m:ctrlPr>
                          </m:sSupPr>
                          <m:e>
                            <m:sSup>
                              <m:sSupPr>
                                <m:ctrlPr>
                                  <a:rPr lang="en-US" sz="2400" i="1">
                                    <a:latin typeface="Cambria Math" panose="02040503050406030204" pitchFamily="18" charset="0"/>
                                  </a:rPr>
                                </m:ctrlPr>
                              </m:sSupPr>
                              <m:e>
                                <m:r>
                                  <a:rPr lang="en-US" sz="2400" i="1">
                                    <a:latin typeface="Cambria Math" panose="02040503050406030204" pitchFamily="18" charset="0"/>
                                  </a:rPr>
                                  <m:t>𝑋</m:t>
                                </m:r>
                              </m:e>
                              <m:sup>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sup>
                            </m:sSup>
                          </m:e>
                          <m:sup>
                            <m:r>
                              <a:rPr lang="en-US" sz="2400" i="1">
                                <a:latin typeface="Cambria Math" panose="02040503050406030204" pitchFamily="18" charset="0"/>
                              </a:rPr>
                              <m:t>2</m:t>
                            </m:r>
                          </m:sup>
                        </m:sSup>
                      </m:e>
                    </m:nary>
                  </m:oMath>
                </a14:m>
                <a:endParaRPr lang="en-US" sz="2400" dirty="0" smtClean="0"/>
              </a:p>
              <a:p>
                <a:r>
                  <a:rPr lang="en-US" sz="1800" dirty="0" smtClean="0"/>
                  <a:t>				</a:t>
                </a:r>
                <a:r>
                  <a:rPr lang="en-US" sz="1800" dirty="0"/>
                  <a:t> </a:t>
                </a:r>
                <a:r>
                  <a:rPr lang="en-US" sz="1800" dirty="0" smtClean="0"/>
                  <a:t>	</a:t>
                </a:r>
                <a:r>
                  <a:rPr lang="en-US" sz="2400" dirty="0" smtClean="0"/>
                  <a:t>X </a:t>
                </a:r>
                <a:r>
                  <a:rPr lang="en-US" sz="2400" dirty="0"/>
                  <a:t>= X </a:t>
                </a:r>
                <a:r>
                  <a:rPr lang="en-US" sz="2400" dirty="0" smtClean="0"/>
                  <a:t>– </a:t>
                </a:r>
                <a:r>
                  <a:rPr lang="el-GR" sz="2400" dirty="0" smtClean="0"/>
                  <a:t>μ</a:t>
                </a:r>
                <a:r>
                  <a:rPr lang="en-US" sz="2400" dirty="0" smtClean="0"/>
                  <a:t>			</a:t>
                </a:r>
                <a:r>
                  <a:rPr lang="en-US" sz="2400" dirty="0"/>
                  <a:t> </a:t>
                </a:r>
                <a:r>
                  <a:rPr lang="en-US" sz="2400" dirty="0" smtClean="0"/>
                  <a:t>   X </a:t>
                </a:r>
                <a:r>
                  <a:rPr lang="en-US" sz="2400" dirty="0"/>
                  <a:t>= X/</a:t>
                </a:r>
                <a:r>
                  <a:rPr lang="el-GR" sz="2400" dirty="0"/>
                  <a:t> σ</a:t>
                </a:r>
                <a:endParaRPr lang="en-US" sz="2400" dirty="0"/>
              </a:p>
              <a:p>
                <a:endParaRPr lang="en-US" sz="1800" dirty="0"/>
              </a:p>
              <a:p>
                <a:r>
                  <a:rPr lang="en-US" sz="1800" dirty="0" smtClean="0"/>
                  <a:t> </a:t>
                </a:r>
              </a:p>
              <a:p>
                <a:r>
                  <a:rPr lang="en-US" sz="1800" dirty="0" smtClean="0"/>
                  <a:t>	</a:t>
                </a:r>
              </a:p>
              <a:p>
                <a:endParaRPr lang="en-US" sz="1800" dirty="0" smtClean="0"/>
              </a:p>
            </p:txBody>
          </p:sp>
        </mc:Choice>
        <mc:Fallback xmlns="">
          <p:sp>
            <p:nvSpPr>
              <p:cNvPr id="4" name="TextBox 3"/>
              <p:cNvSpPr txBox="1">
                <a:spLocks noRot="1" noChangeAspect="1" noMove="1" noResize="1" noEditPoints="1" noAdjustHandles="1" noChangeArrowheads="1" noChangeShapeType="1" noTextEdit="1"/>
              </p:cNvSpPr>
              <p:nvPr/>
            </p:nvSpPr>
            <p:spPr>
              <a:xfrm>
                <a:off x="241737" y="4466897"/>
                <a:ext cx="11940761" cy="2184572"/>
              </a:xfrm>
              <a:prstGeom prst="rect">
                <a:avLst/>
              </a:prstGeom>
              <a:blipFill>
                <a:blip r:embed="rId5"/>
                <a:stretch>
                  <a:fillRect l="-817"/>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Normalizing training sets</a:t>
            </a:r>
          </a:p>
        </p:txBody>
      </p:sp>
      <p:sp>
        <p:nvSpPr>
          <p:cNvPr id="245" name="Google Shape;245;p23"/>
          <p:cNvSpPr txBox="1"/>
          <p:nvPr/>
        </p:nvSpPr>
        <p:spPr>
          <a:xfrm>
            <a:off x="553915" y="1350425"/>
            <a:ext cx="11315700" cy="1501165"/>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It is also important to use the same normalization parameters (mean and standard deviation) for both the training and test sets, so that the test set is scaled in the same way as the training set. This ensures that the test set is evaluated on the same features that the neural network was trained on.</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49</a:t>
            </a:fld>
            <a:endParaRPr/>
          </a:p>
        </p:txBody>
      </p:sp>
    </p:spTree>
    <p:extLst>
      <p:ext uri="{BB962C8B-B14F-4D97-AF65-F5344CB8AC3E}">
        <p14:creationId xmlns:p14="http://schemas.microsoft.com/office/powerpoint/2010/main" val="8783964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Why normalize input?</a:t>
            </a:r>
          </a:p>
        </p:txBody>
      </p:sp>
      <p:sp>
        <p:nvSpPr>
          <p:cNvPr id="245" name="Google Shape;245;p23"/>
          <p:cNvSpPr txBox="1"/>
          <p:nvPr/>
        </p:nvSpPr>
        <p:spPr>
          <a:xfrm>
            <a:off x="553915" y="1350425"/>
            <a:ext cx="11315700" cy="4298982"/>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When </a:t>
            </a:r>
            <a:r>
              <a:rPr lang="en-US" sz="2400" dirty="0">
                <a:solidFill>
                  <a:schemeClr val="dk1"/>
                </a:solidFill>
                <a:latin typeface="+mn-lt"/>
                <a:ea typeface="Century Schoolbook"/>
                <a:cs typeface="Century Schoolbook"/>
                <a:sym typeface="Century Schoolbook"/>
              </a:rPr>
              <a:t>you training a deep </a:t>
            </a:r>
            <a:r>
              <a:rPr lang="en-US" sz="2400" dirty="0" smtClean="0">
                <a:solidFill>
                  <a:schemeClr val="dk1"/>
                </a:solidFill>
                <a:latin typeface="+mn-lt"/>
                <a:ea typeface="Century Schoolbook"/>
                <a:cs typeface="Century Schoolbook"/>
                <a:sym typeface="Century Schoolbook"/>
              </a:rPr>
              <a:t>network, the </a:t>
            </a:r>
            <a:r>
              <a:rPr lang="en-US" sz="2400" dirty="0">
                <a:solidFill>
                  <a:schemeClr val="dk1"/>
                </a:solidFill>
                <a:latin typeface="+mn-lt"/>
                <a:ea typeface="Century Schoolbook"/>
                <a:cs typeface="Century Schoolbook"/>
                <a:sym typeface="Century Schoolbook"/>
              </a:rPr>
              <a:t>gradient may be very big or very small and this makes training difficult, namely the problem of vanishing or exploding gradient. You can carefully choose the random weight initialization hopefully that your weight will not explode so quickly or decay to zero quickly, so, you can train a reasonable deep network without your weight exploding or vanishing so much.</a:t>
            </a:r>
          </a:p>
          <a:p>
            <a:pPr marL="355600" marR="5080" lvl="0" indent="-342900">
              <a:lnSpc>
                <a:spcPct val="100699"/>
              </a:lnSpc>
              <a:buSzPts val="3200"/>
              <a:buFont typeface="Arial" panose="020B0604020202020204" pitchFamily="34" charset="0"/>
              <a:buChar char="•"/>
            </a:pP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For </a:t>
            </a:r>
            <a:r>
              <a:rPr lang="en-US" sz="2400" dirty="0" smtClean="0">
                <a:solidFill>
                  <a:schemeClr val="dk1"/>
                </a:solidFill>
                <a:latin typeface="+mn-lt"/>
                <a:ea typeface="Century Schoolbook"/>
                <a:cs typeface="Century Schoolbook"/>
                <a:sym typeface="Century Schoolbook"/>
              </a:rPr>
              <a:t>an example: </a:t>
            </a:r>
            <a:r>
              <a:rPr lang="en-US" sz="2400" dirty="0">
                <a:solidFill>
                  <a:schemeClr val="dk1"/>
                </a:solidFill>
                <a:latin typeface="+mn-lt"/>
                <a:ea typeface="Century Schoolbook"/>
                <a:cs typeface="Century Schoolbook"/>
                <a:sym typeface="Century Schoolbook"/>
              </a:rPr>
              <a:t>deep network with each neuron having the linear function as the activation function, and set </a:t>
            </a:r>
            <a:r>
              <a:rPr lang="en-US" sz="2400" dirty="0" smtClean="0">
                <a:solidFill>
                  <a:schemeClr val="dk1"/>
                </a:solidFill>
                <a:latin typeface="+mn-lt"/>
                <a:ea typeface="Century Schoolbook"/>
                <a:cs typeface="Century Schoolbook"/>
                <a:sym typeface="Century Schoolbook"/>
              </a:rPr>
              <a:t>b</a:t>
            </a:r>
            <a:r>
              <a:rPr lang="en-US" sz="2400" baseline="30000" dirty="0" smtClean="0">
                <a:solidFill>
                  <a:schemeClr val="dk1"/>
                </a:solidFill>
                <a:latin typeface="+mn-lt"/>
                <a:ea typeface="Century Schoolbook"/>
                <a:cs typeface="Century Schoolbook"/>
                <a:sym typeface="Century Schoolbook"/>
              </a:rPr>
              <a:t>[</a:t>
            </a:r>
            <a:r>
              <a:rPr lang="en-US" sz="2400" baseline="30000" dirty="0" err="1" smtClean="0">
                <a:solidFill>
                  <a:schemeClr val="dk1"/>
                </a:solidFill>
                <a:latin typeface="+mn-lt"/>
                <a:ea typeface="Century Schoolbook"/>
                <a:cs typeface="Century Schoolbook"/>
                <a:sym typeface="Century Schoolbook"/>
              </a:rPr>
              <a:t>i</a:t>
            </a:r>
            <a:r>
              <a:rPr lang="en-US" sz="2400" baseline="30000" dirty="0" smtClean="0">
                <a:solidFill>
                  <a:schemeClr val="dk1"/>
                </a:solidFill>
                <a:latin typeface="+mn-lt"/>
                <a:ea typeface="Century Schoolbook"/>
                <a:cs typeface="Century Schoolbook"/>
                <a:sym typeface="Century Schoolbook"/>
              </a:rPr>
              <a:t>]</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being </a:t>
            </a:r>
            <a:r>
              <a:rPr lang="en-US" sz="2400" dirty="0" smtClean="0">
                <a:solidFill>
                  <a:schemeClr val="dk1"/>
                </a:solidFill>
                <a:latin typeface="+mn-lt"/>
                <a:ea typeface="Century Schoolbook"/>
                <a:cs typeface="Century Schoolbook"/>
                <a:sym typeface="Century Schoolbook"/>
              </a:rPr>
              <a:t>zero:</a:t>
            </a:r>
          </a:p>
          <a:p>
            <a:pPr marL="12700" marR="5080" lvl="0">
              <a:lnSpc>
                <a:spcPct val="100699"/>
              </a:lnSpc>
              <a:buSzPts val="3200"/>
            </a:pPr>
            <a:r>
              <a:rPr lang="en-US" sz="2400" dirty="0">
                <a:solidFill>
                  <a:schemeClr val="dk1"/>
                </a:solidFill>
                <a:latin typeface="+mn-lt"/>
                <a:ea typeface="Century Schoolbook"/>
                <a:cs typeface="Century Schoolbook"/>
                <a:sym typeface="Century Schoolbook"/>
              </a:rPr>
              <a:t>	</a:t>
            </a:r>
            <a:r>
              <a:rPr lang="en-US" sz="2000" dirty="0" smtClean="0">
                <a:solidFill>
                  <a:schemeClr val="dk1"/>
                </a:solidFill>
                <a:latin typeface="+mj-lt"/>
                <a:ea typeface="Century Schoolbook"/>
                <a:cs typeface="Century Schoolbook"/>
                <a:sym typeface="Century Schoolbook"/>
              </a:rPr>
              <a:t>- If </a:t>
            </a:r>
            <a:r>
              <a:rPr lang="en-US" sz="2000" dirty="0">
                <a:solidFill>
                  <a:schemeClr val="dk1"/>
                </a:solidFill>
                <a:latin typeface="+mj-lt"/>
                <a:ea typeface="Century Schoolbook"/>
                <a:cs typeface="Century Schoolbook"/>
                <a:sym typeface="Century Schoolbook"/>
              </a:rPr>
              <a:t>we initialize </a:t>
            </a:r>
            <a:r>
              <a:rPr lang="en-US" sz="2000" dirty="0" smtClean="0">
                <a:solidFill>
                  <a:schemeClr val="dk1"/>
                </a:solidFill>
                <a:latin typeface="+mj-lt"/>
                <a:ea typeface="Century Schoolbook"/>
                <a:cs typeface="Century Schoolbook"/>
                <a:sym typeface="Century Schoolbook"/>
              </a:rPr>
              <a:t>W</a:t>
            </a:r>
            <a:r>
              <a:rPr lang="en-US" sz="2000" baseline="30000" dirty="0" smtClean="0">
                <a:solidFill>
                  <a:schemeClr val="dk1"/>
                </a:solidFill>
                <a:latin typeface="+mj-lt"/>
                <a:ea typeface="Century Schoolbook"/>
                <a:cs typeface="Century Schoolbook"/>
                <a:sym typeface="Century Schoolbook"/>
              </a:rPr>
              <a:t>[</a:t>
            </a:r>
            <a:r>
              <a:rPr lang="en-US" sz="2000" baseline="30000" dirty="0" err="1" smtClean="0">
                <a:solidFill>
                  <a:schemeClr val="dk1"/>
                </a:solidFill>
                <a:latin typeface="+mj-lt"/>
                <a:ea typeface="Century Schoolbook"/>
                <a:cs typeface="Century Schoolbook"/>
                <a:sym typeface="Century Schoolbook"/>
              </a:rPr>
              <a:t>i</a:t>
            </a:r>
            <a:r>
              <a:rPr lang="en-US" sz="2000" baseline="30000" dirty="0" smtClean="0">
                <a:solidFill>
                  <a:schemeClr val="dk1"/>
                </a:solidFill>
                <a:latin typeface="+mj-lt"/>
                <a:ea typeface="Century Schoolbook"/>
                <a:cs typeface="Century Schoolbook"/>
                <a:sym typeface="Century Schoolbook"/>
              </a:rPr>
              <a:t>]</a:t>
            </a:r>
            <a:r>
              <a:rPr lang="en-US" sz="2000" dirty="0" smtClean="0">
                <a:solidFill>
                  <a:schemeClr val="dk1"/>
                </a:solidFill>
                <a:latin typeface="+mj-lt"/>
                <a:ea typeface="Century Schoolbook"/>
                <a:cs typeface="Century Schoolbook"/>
                <a:sym typeface="Century Schoolbook"/>
              </a:rPr>
              <a:t> </a:t>
            </a:r>
            <a:r>
              <a:rPr lang="en-US" sz="2000" dirty="0">
                <a:solidFill>
                  <a:schemeClr val="dk1"/>
                </a:solidFill>
                <a:latin typeface="+mj-lt"/>
                <a:ea typeface="Century Schoolbook"/>
                <a:cs typeface="Century Schoolbook"/>
                <a:sym typeface="Century Schoolbook"/>
              </a:rPr>
              <a:t>a little bigger than the identity matrix, then with very deep </a:t>
            </a:r>
            <a:r>
              <a:rPr lang="en-US" sz="2000" dirty="0" smtClean="0">
                <a:solidFill>
                  <a:schemeClr val="dk1"/>
                </a:solidFill>
                <a:latin typeface="+mj-lt"/>
                <a:ea typeface="Century Schoolbook"/>
                <a:cs typeface="Century Schoolbook"/>
                <a:sym typeface="Century Schoolbook"/>
              </a:rPr>
              <a:t>networks 	the </a:t>
            </a:r>
            <a:r>
              <a:rPr lang="en-US" sz="2000" dirty="0">
                <a:solidFill>
                  <a:schemeClr val="dk1"/>
                </a:solidFill>
                <a:latin typeface="+mj-lt"/>
                <a:ea typeface="Century Schoolbook"/>
                <a:cs typeface="Century Schoolbook"/>
                <a:sym typeface="Century Schoolbook"/>
              </a:rPr>
              <a:t>activation can </a:t>
            </a:r>
            <a:r>
              <a:rPr lang="en-US" sz="2000" dirty="0" smtClean="0">
                <a:solidFill>
                  <a:schemeClr val="dk1"/>
                </a:solidFill>
                <a:latin typeface="+mj-lt"/>
                <a:ea typeface="Century Schoolbook"/>
                <a:cs typeface="Century Schoolbook"/>
                <a:sym typeface="Century Schoolbook"/>
              </a:rPr>
              <a:t>explode.</a:t>
            </a:r>
          </a:p>
          <a:p>
            <a:pPr marL="12700" marR="5080" lvl="0">
              <a:lnSpc>
                <a:spcPct val="100699"/>
              </a:lnSpc>
              <a:buSzPts val="3200"/>
            </a:pPr>
            <a:r>
              <a:rPr lang="en-US" sz="2000" dirty="0">
                <a:solidFill>
                  <a:schemeClr val="dk1"/>
                </a:solidFill>
                <a:latin typeface="+mj-lt"/>
                <a:ea typeface="Century Schoolbook"/>
                <a:cs typeface="Century Schoolbook"/>
                <a:sym typeface="Century Schoolbook"/>
              </a:rPr>
              <a:t>	</a:t>
            </a:r>
            <a:r>
              <a:rPr lang="en-US" sz="2000" dirty="0" smtClean="0">
                <a:solidFill>
                  <a:schemeClr val="dk1"/>
                </a:solidFill>
                <a:latin typeface="+mj-lt"/>
                <a:ea typeface="Century Schoolbook"/>
                <a:cs typeface="Century Schoolbook"/>
                <a:sym typeface="Century Schoolbook"/>
              </a:rPr>
              <a:t>- If </a:t>
            </a:r>
            <a:r>
              <a:rPr lang="en-US" sz="2000" dirty="0">
                <a:solidFill>
                  <a:schemeClr val="dk1"/>
                </a:solidFill>
                <a:latin typeface="+mj-lt"/>
                <a:ea typeface="Century Schoolbook"/>
                <a:cs typeface="Century Schoolbook"/>
                <a:sym typeface="Century Schoolbook"/>
              </a:rPr>
              <a:t>W</a:t>
            </a:r>
            <a:r>
              <a:rPr lang="en-US" sz="2000" baseline="30000" dirty="0">
                <a:solidFill>
                  <a:schemeClr val="dk1"/>
                </a:solidFill>
                <a:latin typeface="+mj-lt"/>
                <a:ea typeface="Century Schoolbook"/>
                <a:cs typeface="Century Schoolbook"/>
                <a:sym typeface="Century Schoolbook"/>
              </a:rPr>
              <a:t>[</a:t>
            </a:r>
            <a:r>
              <a:rPr lang="en-US" sz="2000" baseline="30000" dirty="0" err="1">
                <a:solidFill>
                  <a:schemeClr val="dk1"/>
                </a:solidFill>
                <a:latin typeface="+mj-lt"/>
                <a:ea typeface="Century Schoolbook"/>
                <a:cs typeface="Century Schoolbook"/>
                <a:sym typeface="Century Schoolbook"/>
              </a:rPr>
              <a:t>i</a:t>
            </a:r>
            <a:r>
              <a:rPr lang="en-US" sz="2000" baseline="30000" dirty="0">
                <a:solidFill>
                  <a:schemeClr val="dk1"/>
                </a:solidFill>
                <a:latin typeface="+mj-lt"/>
                <a:ea typeface="Century Schoolbook"/>
                <a:cs typeface="Century Schoolbook"/>
                <a:sym typeface="Century Schoolbook"/>
              </a:rPr>
              <a:t>]</a:t>
            </a:r>
            <a:r>
              <a:rPr lang="en-US" sz="2000" dirty="0" smtClean="0">
                <a:solidFill>
                  <a:schemeClr val="dk1"/>
                </a:solidFill>
                <a:latin typeface="+mj-lt"/>
                <a:ea typeface="Century Schoolbook"/>
                <a:cs typeface="Century Schoolbook"/>
                <a:sym typeface="Century Schoolbook"/>
              </a:rPr>
              <a:t> </a:t>
            </a:r>
            <a:r>
              <a:rPr lang="en-US" sz="2000" dirty="0">
                <a:solidFill>
                  <a:schemeClr val="dk1"/>
                </a:solidFill>
                <a:latin typeface="+mj-lt"/>
                <a:ea typeface="Century Schoolbook"/>
                <a:cs typeface="Century Schoolbook"/>
                <a:sym typeface="Century Schoolbook"/>
              </a:rPr>
              <a:t>is just a little bit less than the identity, then the activation will decrease </a:t>
            </a:r>
            <a:r>
              <a:rPr lang="en-US" sz="2000" dirty="0" smtClean="0">
                <a:solidFill>
                  <a:schemeClr val="dk1"/>
                </a:solidFill>
                <a:latin typeface="+mj-lt"/>
                <a:ea typeface="Century Schoolbook"/>
                <a:cs typeface="Century Schoolbook"/>
                <a:sym typeface="Century Schoolbook"/>
              </a:rPr>
              <a:t>	exponentially</a:t>
            </a:r>
            <a:r>
              <a:rPr lang="en-US" sz="2000" dirty="0">
                <a:solidFill>
                  <a:schemeClr val="dk1"/>
                </a:solidFill>
                <a:latin typeface="+mj-lt"/>
                <a:ea typeface="Century Schoolbook"/>
                <a:cs typeface="Century Schoolbook"/>
                <a:sym typeface="Century Schoolbook"/>
              </a:rPr>
              <a:t>.</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50</a:t>
            </a:fld>
            <a:endParaRPr/>
          </a:p>
        </p:txBody>
      </p:sp>
    </p:spTree>
    <p:extLst>
      <p:ext uri="{BB962C8B-B14F-4D97-AF65-F5344CB8AC3E}">
        <p14:creationId xmlns:p14="http://schemas.microsoft.com/office/powerpoint/2010/main" val="40458912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Why normalize input?</a:t>
            </a:r>
          </a:p>
        </p:txBody>
      </p:sp>
      <p:sp>
        <p:nvSpPr>
          <p:cNvPr id="245" name="Google Shape;245;p23"/>
          <p:cNvSpPr txBox="1"/>
          <p:nvPr/>
        </p:nvSpPr>
        <p:spPr>
          <a:xfrm>
            <a:off x="553915" y="1350425"/>
            <a:ext cx="11315700" cy="5417622"/>
          </a:xfrm>
          <a:prstGeom prst="rect">
            <a:avLst/>
          </a:prstGeom>
          <a:noFill/>
          <a:ln>
            <a:noFill/>
          </a:ln>
        </p:spPr>
        <p:txBody>
          <a:bodyPr spcFirstLastPara="1" wrap="square" lIns="0" tIns="8875" rIns="0" bIns="0" anchor="t" anchorCtr="0">
            <a:spAutoFit/>
          </a:bodyPr>
          <a:lstStyle/>
          <a:p>
            <a:pPr marL="12700" marR="5080" lvl="0">
              <a:lnSpc>
                <a:spcPct val="100699"/>
              </a:lnSpc>
              <a:buSzPts val="3200"/>
            </a:pPr>
            <a:r>
              <a:rPr lang="en-US" sz="2400" dirty="0">
                <a:solidFill>
                  <a:schemeClr val="dk1"/>
                </a:solidFill>
                <a:latin typeface="+mn-lt"/>
                <a:ea typeface="Century Schoolbook"/>
                <a:cs typeface="Century Schoolbook"/>
                <a:sym typeface="Century Schoolbook"/>
              </a:rPr>
              <a:t>There are several reasons why normalizing input data is important</a:t>
            </a:r>
            <a:r>
              <a:rPr lang="en-US" sz="2400" dirty="0" smtClean="0">
                <a:solidFill>
                  <a:schemeClr val="dk1"/>
                </a:solidFill>
                <a:latin typeface="+mn-lt"/>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1800" b="1" dirty="0">
                <a:solidFill>
                  <a:schemeClr val="dk1"/>
                </a:solidFill>
                <a:latin typeface="+mj-lt"/>
                <a:ea typeface="Century Schoolbook"/>
                <a:cs typeface="Century Schoolbook"/>
                <a:sym typeface="Century Schoolbook"/>
              </a:rPr>
              <a:t>Improves Convergence</a:t>
            </a:r>
            <a:r>
              <a:rPr lang="en-US" sz="1800" dirty="0">
                <a:solidFill>
                  <a:schemeClr val="dk1"/>
                </a:solidFill>
                <a:latin typeface="+mj-lt"/>
                <a:ea typeface="Century Schoolbook"/>
                <a:cs typeface="Century Schoolbook"/>
                <a:sym typeface="Century Schoolbook"/>
              </a:rPr>
              <a:t>: Many machine learning algorithms, such as gradient-based optimization methods (e.g., gradient descent), converge faster when the input features are on a similar scale. Normalizing the features ensures that all features contribute equally to the learning process, which can speed up the training process and lead to quicker convergence</a:t>
            </a:r>
            <a:r>
              <a:rPr lang="en-US" sz="1800" dirty="0" smtClean="0">
                <a:solidFill>
                  <a:schemeClr val="dk1"/>
                </a:solidFill>
                <a:latin typeface="+mj-lt"/>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1800" b="1" dirty="0">
                <a:solidFill>
                  <a:schemeClr val="dk1"/>
                </a:solidFill>
                <a:latin typeface="+mj-lt"/>
                <a:ea typeface="Century Schoolbook"/>
                <a:cs typeface="Century Schoolbook"/>
                <a:sym typeface="Century Schoolbook"/>
              </a:rPr>
              <a:t>Prevents Dominance of Features</a:t>
            </a:r>
            <a:r>
              <a:rPr lang="en-US" sz="1800" dirty="0">
                <a:solidFill>
                  <a:schemeClr val="dk1"/>
                </a:solidFill>
                <a:latin typeface="+mj-lt"/>
                <a:ea typeface="Century Schoolbook"/>
                <a:cs typeface="Century Schoolbook"/>
                <a:sym typeface="Century Schoolbook"/>
              </a:rPr>
              <a:t>: If features have different scales, those with larger scales can dominate the learning process. Algorithms might give more weight to features with larger values, even if they are not necessarily more important. Normalizing the features prevents this issue and ensures that no single feature dominates the learning algorithm</a:t>
            </a:r>
            <a:r>
              <a:rPr lang="en-US" sz="1800" dirty="0" smtClean="0">
                <a:solidFill>
                  <a:schemeClr val="dk1"/>
                </a:solidFill>
                <a:latin typeface="+mj-lt"/>
                <a:ea typeface="Century Schoolbook"/>
                <a:cs typeface="Century Schoolbook"/>
                <a:sym typeface="Century Schoolbook"/>
              </a:rPr>
              <a:t>.</a:t>
            </a:r>
            <a:endParaRPr lang="en-US" sz="1800" dirty="0">
              <a:solidFill>
                <a:schemeClr val="dk1"/>
              </a:solidFill>
              <a:latin typeface="+mj-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1800" b="1" dirty="0">
                <a:solidFill>
                  <a:schemeClr val="dk1"/>
                </a:solidFill>
                <a:latin typeface="+mj-lt"/>
                <a:ea typeface="Century Schoolbook"/>
                <a:cs typeface="Century Schoolbook"/>
                <a:sym typeface="Century Schoolbook"/>
              </a:rPr>
              <a:t>Enhances Model Performance</a:t>
            </a:r>
            <a:r>
              <a:rPr lang="en-US" sz="1800" dirty="0">
                <a:solidFill>
                  <a:schemeClr val="dk1"/>
                </a:solidFill>
                <a:latin typeface="+mj-lt"/>
                <a:ea typeface="Century Schoolbook"/>
                <a:cs typeface="Century Schoolbook"/>
                <a:sym typeface="Century Schoolbook"/>
              </a:rPr>
              <a:t>: Normalizing input data can improve the performance and accuracy of the machine learning model. Algorithms like support vector machines, k-nearest neighbors, and neural networks are particularly sensitive to feature scales. Normalizing the features helps these algorithms perform better and make more accurate predictions</a:t>
            </a:r>
            <a:r>
              <a:rPr lang="en-US" sz="1800" dirty="0" smtClean="0">
                <a:solidFill>
                  <a:schemeClr val="dk1"/>
                </a:solidFill>
                <a:latin typeface="+mj-lt"/>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1800" b="1" dirty="0">
                <a:solidFill>
                  <a:schemeClr val="dk1"/>
                </a:solidFill>
                <a:latin typeface="+mj-lt"/>
                <a:ea typeface="Century Schoolbook"/>
                <a:cs typeface="Century Schoolbook"/>
                <a:sym typeface="Century Schoolbook"/>
              </a:rPr>
              <a:t>Interpretability</a:t>
            </a:r>
            <a:r>
              <a:rPr lang="en-US" sz="1800" dirty="0">
                <a:solidFill>
                  <a:schemeClr val="dk1"/>
                </a:solidFill>
                <a:latin typeface="+mj-lt"/>
                <a:ea typeface="Century Schoolbook"/>
                <a:cs typeface="Century Schoolbook"/>
                <a:sym typeface="Century Schoolbook"/>
              </a:rPr>
              <a:t>: Normalized features make it easier to interpret the model coefficients or feature importance values. When features are on the same scale, it's simpler to compare their importance and understand their contributions to the model's predictions</a:t>
            </a:r>
            <a:r>
              <a:rPr lang="en-US" sz="1800" dirty="0" smtClean="0">
                <a:solidFill>
                  <a:schemeClr val="dk1"/>
                </a:solidFill>
                <a:latin typeface="+mj-lt"/>
                <a:ea typeface="Century Schoolbook"/>
                <a:cs typeface="Century Schoolbook"/>
                <a:sym typeface="Century Schoolbook"/>
              </a:rPr>
              <a:t>.</a:t>
            </a:r>
            <a:endParaRPr lang="en-US" sz="1800" dirty="0">
              <a:solidFill>
                <a:schemeClr val="dk1"/>
              </a:solidFill>
              <a:latin typeface="+mj-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1800" b="1" dirty="0">
                <a:solidFill>
                  <a:schemeClr val="dk1"/>
                </a:solidFill>
                <a:latin typeface="+mj-lt"/>
                <a:ea typeface="Century Schoolbook"/>
                <a:cs typeface="Century Schoolbook"/>
                <a:sym typeface="Century Schoolbook"/>
              </a:rPr>
              <a:t>Regularization</a:t>
            </a:r>
            <a:r>
              <a:rPr lang="en-US" sz="1800" dirty="0">
                <a:solidFill>
                  <a:schemeClr val="dk1"/>
                </a:solidFill>
                <a:latin typeface="+mj-lt"/>
                <a:ea typeface="Century Schoolbook"/>
                <a:cs typeface="Century Schoolbook"/>
                <a:sym typeface="Century Schoolbook"/>
              </a:rPr>
              <a:t>: Regularization techniques (such as L1 and L2 regularization) penalize large coefficients. Normalizing the input features ensures that the regularization term applies uniformly to all features, preventing some features from being unfairly penalized due to their scale.</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51</a:t>
            </a:fld>
            <a:endParaRPr/>
          </a:p>
        </p:txBody>
      </p:sp>
    </p:spTree>
    <p:extLst>
      <p:ext uri="{BB962C8B-B14F-4D97-AF65-F5344CB8AC3E}">
        <p14:creationId xmlns:p14="http://schemas.microsoft.com/office/powerpoint/2010/main" val="2829068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4" name="Google Shape;314;p2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52</a:t>
            </a:fld>
            <a:endParaRPr/>
          </a:p>
        </p:txBody>
      </p:sp>
      <p:grpSp>
        <p:nvGrpSpPr>
          <p:cNvPr id="6" name="Group 5"/>
          <p:cNvGrpSpPr/>
          <p:nvPr/>
        </p:nvGrpSpPr>
        <p:grpSpPr>
          <a:xfrm>
            <a:off x="-15536" y="0"/>
            <a:ext cx="12158472" cy="6876964"/>
            <a:chOff x="-15536" y="0"/>
            <a:chExt cx="12158472" cy="6876964"/>
          </a:xfrm>
        </p:grpSpPr>
        <p:pic>
          <p:nvPicPr>
            <p:cNvPr id="313" name="Google Shape;313;p29"/>
            <p:cNvPicPr preferRelativeResize="0"/>
            <p:nvPr/>
          </p:nvPicPr>
          <p:blipFill rotWithShape="1">
            <a:blip r:embed="rId3">
              <a:alphaModFix/>
            </a:blip>
            <a:srcRect/>
            <a:stretch/>
          </p:blipFill>
          <p:spPr>
            <a:xfrm>
              <a:off x="-15536" y="0"/>
              <a:ext cx="12158472" cy="6876964"/>
            </a:xfrm>
            <a:prstGeom prst="rect">
              <a:avLst/>
            </a:prstGeom>
            <a:noFill/>
            <a:ln>
              <a:noFill/>
            </a:ln>
          </p:spPr>
        </p:pic>
        <p:sp>
          <p:nvSpPr>
            <p:cNvPr id="4" name="TextBox 3"/>
            <p:cNvSpPr txBox="1"/>
            <p:nvPr/>
          </p:nvSpPr>
          <p:spPr>
            <a:xfrm>
              <a:off x="2638101" y="1828800"/>
              <a:ext cx="462456" cy="461665"/>
            </a:xfrm>
            <a:prstGeom prst="rect">
              <a:avLst/>
            </a:prstGeom>
            <a:noFill/>
          </p:spPr>
          <p:txBody>
            <a:bodyPr wrap="square" rtlCol="0">
              <a:spAutoFit/>
            </a:bodyPr>
            <a:lstStyle/>
            <a:p>
              <a:r>
                <a:rPr lang="en-US" sz="2400" i="1" dirty="0" smtClean="0">
                  <a:latin typeface="Century Gothic" panose="020B0502020202020204" pitchFamily="34" charset="0"/>
                </a:rPr>
                <a:t>J</a:t>
              </a:r>
              <a:endParaRPr lang="en-US" sz="2400" i="1" dirty="0">
                <a:latin typeface="Century Gothic" panose="020B0502020202020204" pitchFamily="34" charset="0"/>
              </a:endParaRPr>
            </a:p>
          </p:txBody>
        </p:sp>
        <p:cxnSp>
          <p:nvCxnSpPr>
            <p:cNvPr id="3" name="Straight Arrow Connector 2"/>
            <p:cNvCxnSpPr/>
            <p:nvPr/>
          </p:nvCxnSpPr>
          <p:spPr>
            <a:xfrm flipV="1">
              <a:off x="2627586" y="1933903"/>
              <a:ext cx="21021" cy="113511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p30"/>
          <p:cNvSpPr txBox="1"/>
          <p:nvPr/>
        </p:nvSpPr>
        <p:spPr>
          <a:xfrm>
            <a:off x="5184064" y="3717966"/>
            <a:ext cx="6931800" cy="2056200"/>
          </a:xfrm>
          <a:prstGeom prst="rect">
            <a:avLst/>
          </a:prstGeom>
          <a:noFill/>
          <a:ln>
            <a:noFill/>
          </a:ln>
        </p:spPr>
        <p:txBody>
          <a:bodyPr spcFirstLastPara="1" wrap="square" lIns="0" tIns="31100" rIns="0" bIns="0" anchor="t" anchorCtr="0">
            <a:spAutoFit/>
          </a:bodyPr>
          <a:lstStyle/>
          <a:p>
            <a:pPr marL="1884045" marR="5080" lvl="0" indent="-1871980" algn="l" rtl="0">
              <a:lnSpc>
                <a:spcPct val="119242"/>
              </a:lnSpc>
              <a:spcBef>
                <a:spcPts val="0"/>
              </a:spcBef>
              <a:spcAft>
                <a:spcPts val="0"/>
              </a:spcAft>
              <a:buClr>
                <a:srgbClr val="000000"/>
              </a:buClr>
              <a:buSzPts val="6600"/>
              <a:buFont typeface="Arial"/>
              <a:buNone/>
            </a:pPr>
            <a:r>
              <a:rPr lang="en-US" sz="6000" b="0" i="0" u="none" strike="noStrike" cap="none">
                <a:solidFill>
                  <a:schemeClr val="dk1"/>
                </a:solidFill>
                <a:latin typeface="Calibri"/>
                <a:ea typeface="Calibri"/>
                <a:cs typeface="Calibri"/>
                <a:sym typeface="Calibri"/>
              </a:rPr>
              <a:t>Vanishing/exploding  gradients</a:t>
            </a:r>
            <a:endParaRPr sz="6000" b="0" i="0" u="none" strike="noStrike" cap="none">
              <a:solidFill>
                <a:schemeClr val="dk1"/>
              </a:solidFill>
              <a:latin typeface="Calibri"/>
              <a:ea typeface="Calibri"/>
              <a:cs typeface="Calibri"/>
              <a:sym typeface="Calibri"/>
            </a:endParaRPr>
          </a:p>
        </p:txBody>
      </p:sp>
      <p:sp>
        <p:nvSpPr>
          <p:cNvPr id="320" name="Google Shape;320;p30"/>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30"/>
          <p:cNvSpPr txBox="1">
            <a:spLocks noGrp="1"/>
          </p:cNvSpPr>
          <p:nvPr>
            <p:ph type="body" idx="1"/>
          </p:nvPr>
        </p:nvSpPr>
        <p:spPr>
          <a:xfrm>
            <a:off x="419724" y="1418175"/>
            <a:ext cx="119466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a:t>Setting up your  optimization problem</a:t>
            </a:r>
            <a:endParaRPr/>
          </a:p>
        </p:txBody>
      </p:sp>
      <p:pic>
        <p:nvPicPr>
          <p:cNvPr id="322" name="Google Shape;322;p3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23" name="Google Shape;323;p3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Vanishing/exploding gradients</a:t>
            </a:r>
          </a:p>
        </p:txBody>
      </p:sp>
      <p:sp>
        <p:nvSpPr>
          <p:cNvPr id="245" name="Google Shape;245;p23"/>
          <p:cNvSpPr txBox="1"/>
          <p:nvPr/>
        </p:nvSpPr>
        <p:spPr>
          <a:xfrm>
            <a:off x="553915" y="1350425"/>
            <a:ext cx="11315700" cy="4174589"/>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In neural network training, the problem of vanishing and exploding gradients can occur, especially in very deep neural networks. This problem arises when the derivatives or slopes become very large or very </a:t>
            </a:r>
            <a:r>
              <a:rPr lang="en-US" sz="2400" dirty="0" smtClean="0">
                <a:solidFill>
                  <a:schemeClr val="dk1"/>
                </a:solidFill>
                <a:latin typeface="+mn-lt"/>
                <a:ea typeface="Century Schoolbook"/>
                <a:cs typeface="Century Schoolbook"/>
                <a:sym typeface="Century Schoolbook"/>
              </a:rPr>
              <a:t>small:</a:t>
            </a:r>
          </a:p>
          <a:p>
            <a:pPr marL="12700" marR="5080" lvl="0">
              <a:lnSpc>
                <a:spcPct val="100699"/>
              </a:lnSpc>
              <a:buSzPts val="3200"/>
            </a:pPr>
            <a:r>
              <a:rPr lang="en-US" sz="2000" dirty="0" smtClean="0">
                <a:solidFill>
                  <a:schemeClr val="dk1"/>
                </a:solidFill>
                <a:latin typeface="+mn-lt"/>
                <a:ea typeface="Century Schoolbook"/>
                <a:cs typeface="Century Schoolbook"/>
                <a:sym typeface="Century Schoolbook"/>
              </a:rPr>
              <a:t>	- If each weight matrix in a deep network is slightly larger than the identity matrix, then the 	output can explode exponentially.</a:t>
            </a:r>
          </a:p>
          <a:p>
            <a:pPr marL="12700" marR="5080" lvl="0">
              <a:lnSpc>
                <a:spcPct val="100699"/>
              </a:lnSpc>
              <a:buSzPts val="3200"/>
            </a:pPr>
            <a:r>
              <a:rPr lang="en-US" sz="2000" dirty="0">
                <a:solidFill>
                  <a:schemeClr val="dk1"/>
                </a:solidFill>
                <a:latin typeface="+mn-lt"/>
                <a:ea typeface="Century Schoolbook"/>
                <a:cs typeface="Century Schoolbook"/>
                <a:sym typeface="Century Schoolbook"/>
              </a:rPr>
              <a:t>	</a:t>
            </a:r>
            <a:r>
              <a:rPr lang="en-US" sz="2000" dirty="0" smtClean="0">
                <a:solidFill>
                  <a:schemeClr val="dk1"/>
                </a:solidFill>
                <a:latin typeface="+mn-lt"/>
                <a:ea typeface="Century Schoolbook"/>
                <a:cs typeface="Century Schoolbook"/>
                <a:sym typeface="Century Schoolbook"/>
              </a:rPr>
              <a:t>- While </a:t>
            </a:r>
            <a:r>
              <a:rPr lang="en-US" sz="2000" dirty="0">
                <a:solidFill>
                  <a:schemeClr val="dk1"/>
                </a:solidFill>
                <a:latin typeface="+mn-lt"/>
                <a:ea typeface="Century Schoolbook"/>
                <a:cs typeface="Century Schoolbook"/>
                <a:sym typeface="Century Schoolbook"/>
              </a:rPr>
              <a:t>if each matrix is slightly smaller than the identity matrix, then the activations can </a:t>
            </a:r>
            <a:r>
              <a:rPr lang="en-US" sz="2000" dirty="0" smtClean="0">
                <a:solidFill>
                  <a:schemeClr val="dk1"/>
                </a:solidFill>
                <a:latin typeface="+mn-lt"/>
                <a:ea typeface="Century Schoolbook"/>
                <a:cs typeface="Century Schoolbook"/>
                <a:sym typeface="Century Schoolbook"/>
              </a:rPr>
              <a:t>	decrease exponentially.</a:t>
            </a:r>
          </a:p>
          <a:p>
            <a:pPr marL="12700" marR="5080" lvl="0">
              <a:lnSpc>
                <a:spcPct val="100699"/>
              </a:lnSpc>
              <a:buSzPts val="3200"/>
            </a:pPr>
            <a:r>
              <a:rPr lang="en-US" sz="2000" dirty="0">
                <a:solidFill>
                  <a:schemeClr val="dk1"/>
                </a:solidFill>
                <a:latin typeface="+mn-lt"/>
                <a:ea typeface="Century Schoolbook"/>
                <a:cs typeface="Century Schoolbook"/>
                <a:sym typeface="Century Schoolbook"/>
              </a:rPr>
              <a:t>	</a:t>
            </a:r>
            <a:r>
              <a:rPr lang="en-US" sz="2000" dirty="0" smtClean="0">
                <a:solidFill>
                  <a:schemeClr val="dk1"/>
                </a:solidFill>
                <a:latin typeface="+mn-lt"/>
                <a:ea typeface="Century Schoolbook"/>
                <a:cs typeface="Century Schoolbook"/>
                <a:sym typeface="Century Schoolbook"/>
              </a:rPr>
              <a:t>- Similarly</a:t>
            </a:r>
            <a:r>
              <a:rPr lang="en-US" sz="2000" dirty="0">
                <a:solidFill>
                  <a:schemeClr val="dk1"/>
                </a:solidFill>
                <a:latin typeface="+mn-lt"/>
                <a:ea typeface="Century Schoolbook"/>
                <a:cs typeface="Century Schoolbook"/>
                <a:sym typeface="Century Schoolbook"/>
              </a:rPr>
              <a:t>, the derivatives or gradients can increase or decrease exponentially with the </a:t>
            </a:r>
            <a:r>
              <a:rPr lang="en-US" sz="2400" dirty="0" smtClean="0">
                <a:solidFill>
                  <a:schemeClr val="dk1"/>
                </a:solidFill>
                <a:latin typeface="+mj-lt"/>
                <a:ea typeface="Century Schoolbook"/>
                <a:cs typeface="Century Schoolbook"/>
                <a:sym typeface="Century Schoolbook"/>
              </a:rPr>
              <a:t>	</a:t>
            </a:r>
            <a:r>
              <a:rPr lang="en-US" sz="2000" dirty="0" smtClean="0">
                <a:solidFill>
                  <a:schemeClr val="dk1"/>
                </a:solidFill>
                <a:latin typeface="+mj-lt"/>
                <a:ea typeface="Century Schoolbook"/>
                <a:cs typeface="Century Schoolbook"/>
                <a:sym typeface="Century Schoolbook"/>
              </a:rPr>
              <a:t>number </a:t>
            </a:r>
            <a:r>
              <a:rPr lang="en-US" sz="2000" dirty="0">
                <a:solidFill>
                  <a:schemeClr val="dk1"/>
                </a:solidFill>
                <a:latin typeface="+mj-lt"/>
                <a:ea typeface="Century Schoolbook"/>
                <a:cs typeface="Century Schoolbook"/>
                <a:sym typeface="Century Schoolbook"/>
              </a:rPr>
              <a:t>of layers in a deep network. </a:t>
            </a:r>
            <a:endParaRPr lang="en-US" sz="2000" dirty="0" smtClean="0">
              <a:solidFill>
                <a:schemeClr val="dk1"/>
              </a:solidFill>
              <a:latin typeface="+mj-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This problem makes training difficult, especially if the </a:t>
            </a:r>
            <a:r>
              <a:rPr lang="en-US" sz="2400" dirty="0" smtClean="0">
                <a:solidFill>
                  <a:schemeClr val="dk1"/>
                </a:solidFill>
                <a:latin typeface="+mj-lt"/>
                <a:ea typeface="Century Schoolbook"/>
                <a:cs typeface="Century Schoolbook"/>
                <a:sym typeface="Century Schoolbook"/>
              </a:rPr>
              <a:t>gradients </a:t>
            </a:r>
            <a:r>
              <a:rPr lang="en-US" sz="2400" dirty="0">
                <a:solidFill>
                  <a:schemeClr val="dk1"/>
                </a:solidFill>
                <a:latin typeface="+mj-lt"/>
                <a:ea typeface="Century Schoolbook"/>
                <a:cs typeface="Century Schoolbook"/>
                <a:sym typeface="Century Schoolbook"/>
              </a:rPr>
              <a:t>become exponentially small, as gradient descent will take tiny steps and take a </a:t>
            </a:r>
            <a:r>
              <a:rPr lang="en-US" sz="2400" dirty="0" smtClean="0">
                <a:solidFill>
                  <a:schemeClr val="dk1"/>
                </a:solidFill>
                <a:latin typeface="+mj-lt"/>
                <a:ea typeface="Century Schoolbook"/>
                <a:cs typeface="Century Schoolbook"/>
                <a:sym typeface="Century Schoolbook"/>
              </a:rPr>
              <a:t>long </a:t>
            </a:r>
            <a:r>
              <a:rPr lang="en-US" sz="2400" dirty="0">
                <a:solidFill>
                  <a:schemeClr val="dk1"/>
                </a:solidFill>
                <a:latin typeface="+mj-lt"/>
                <a:ea typeface="Century Schoolbook"/>
                <a:cs typeface="Century Schoolbook"/>
                <a:sym typeface="Century Schoolbook"/>
              </a:rPr>
              <a:t>time to learn anything.</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54</a:t>
            </a:fld>
            <a:endParaRPr/>
          </a:p>
        </p:txBody>
      </p:sp>
    </p:spTree>
    <p:extLst>
      <p:ext uri="{BB962C8B-B14F-4D97-AF65-F5344CB8AC3E}">
        <p14:creationId xmlns:p14="http://schemas.microsoft.com/office/powerpoint/2010/main" val="3160683595"/>
      </p:ext>
    </p:extLst>
  </p:cSld>
  <p:clrMapOvr>
    <a:masterClrMapping/>
  </p:clrMapOvr>
  <p:extLst mod="1">
    <p:ext uri="{6950BFC3-D8DA-4A85-94F7-54DA5524770B}">
      <p188:commentRel xmlns="" xmlns:p188="http://schemas.microsoft.com/office/powerpoint/2018/8/main" r:id="rId4"/>
    </p:ext>
  </p:extLst>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327"/>
        <p:cNvGrpSpPr/>
        <p:nvPr/>
      </p:nvGrpSpPr>
      <p:grpSpPr>
        <a:xfrm>
          <a:off x="0" y="0"/>
          <a:ext cx="0" cy="0"/>
          <a:chOff x="0" y="0"/>
          <a:chExt cx="0" cy="0"/>
        </a:xfrm>
      </p:grpSpPr>
      <p:pic>
        <p:nvPicPr>
          <p:cNvPr id="328" name="Google Shape;328;p31"/>
          <p:cNvPicPr preferRelativeResize="0"/>
          <p:nvPr/>
        </p:nvPicPr>
        <p:blipFill rotWithShape="1">
          <a:blip r:embed="rId3">
            <a:alphaModFix/>
          </a:blip>
          <a:srcRect/>
          <a:stretch/>
        </p:blipFill>
        <p:spPr>
          <a:xfrm>
            <a:off x="0" y="0"/>
            <a:ext cx="11783376" cy="6858000"/>
          </a:xfrm>
          <a:prstGeom prst="rect">
            <a:avLst/>
          </a:prstGeom>
          <a:noFill/>
          <a:ln>
            <a:noFill/>
          </a:ln>
        </p:spPr>
      </p:pic>
      <p:pic>
        <p:nvPicPr>
          <p:cNvPr id="329" name="Google Shape;329;p31"/>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330" name="Google Shape;330;p31"/>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8240542" cy="695960"/>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Century Schoolbook"/>
                <a:ea typeface="Century Schoolbook"/>
                <a:cs typeface="Century Schoolbook"/>
                <a:sym typeface="Century Schoolbook"/>
              </a:rPr>
              <a:t>Vanishing/exploding gradients</a:t>
            </a:r>
          </a:p>
        </p:txBody>
      </p:sp>
      <p:sp>
        <p:nvSpPr>
          <p:cNvPr id="245" name="Google Shape;245;p23"/>
          <p:cNvSpPr txBox="1"/>
          <p:nvPr/>
        </p:nvSpPr>
        <p:spPr>
          <a:xfrm>
            <a:off x="553915" y="1350425"/>
            <a:ext cx="11315700" cy="1128114"/>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One solution </a:t>
            </a:r>
            <a:r>
              <a:rPr lang="en-US" sz="2400" dirty="0" smtClean="0">
                <a:solidFill>
                  <a:schemeClr val="dk1"/>
                </a:solidFill>
                <a:latin typeface="+mn-lt"/>
                <a:ea typeface="Century Schoolbook"/>
                <a:cs typeface="Century Schoolbook"/>
                <a:sym typeface="Century Schoolbook"/>
              </a:rPr>
              <a:t>is </a:t>
            </a:r>
            <a:r>
              <a:rPr lang="en-US" sz="2400" dirty="0">
                <a:solidFill>
                  <a:schemeClr val="dk1"/>
                </a:solidFill>
                <a:latin typeface="+mn-lt"/>
                <a:ea typeface="Century Schoolbook"/>
                <a:cs typeface="Century Schoolbook"/>
                <a:sym typeface="Century Schoolbook"/>
              </a:rPr>
              <a:t>to carefully initialize the weights to reduce the impact of vanishing or exploding gradients. This can help reduce the problem, but it does not completely solve it.</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56</a:t>
            </a:fld>
            <a:endParaRPr dirty="0"/>
          </a:p>
        </p:txBody>
      </p:sp>
    </p:spTree>
    <p:extLst>
      <p:ext uri="{BB962C8B-B14F-4D97-AF65-F5344CB8AC3E}">
        <p14:creationId xmlns:p14="http://schemas.microsoft.com/office/powerpoint/2010/main" val="9095012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318"/>
        <p:cNvGrpSpPr/>
        <p:nvPr/>
      </p:nvGrpSpPr>
      <p:grpSpPr>
        <a:xfrm>
          <a:off x="0" y="0"/>
          <a:ext cx="0" cy="0"/>
          <a:chOff x="0" y="0"/>
          <a:chExt cx="0" cy="0"/>
        </a:xfrm>
      </p:grpSpPr>
      <p:sp>
        <p:nvSpPr>
          <p:cNvPr id="319" name="Google Shape;319;p30"/>
          <p:cNvSpPr txBox="1"/>
          <p:nvPr/>
        </p:nvSpPr>
        <p:spPr>
          <a:xfrm>
            <a:off x="5015966" y="3717966"/>
            <a:ext cx="7099898" cy="3327691"/>
          </a:xfrm>
          <a:prstGeom prst="rect">
            <a:avLst/>
          </a:prstGeom>
          <a:noFill/>
          <a:ln>
            <a:noFill/>
          </a:ln>
        </p:spPr>
        <p:txBody>
          <a:bodyPr spcFirstLastPara="1" wrap="square" lIns="0" tIns="31100" rIns="0" bIns="0" anchor="t" anchorCtr="0">
            <a:spAutoFit/>
          </a:bodyPr>
          <a:lstStyle/>
          <a:p>
            <a:pPr marL="1884045" marR="5080" lvl="0" indent="-1871980">
              <a:lnSpc>
                <a:spcPct val="119242"/>
              </a:lnSpc>
              <a:buSzPts val="6600"/>
            </a:pPr>
            <a:r>
              <a:rPr lang="en-US" sz="6000" dirty="0">
                <a:solidFill>
                  <a:schemeClr val="dk1"/>
                </a:solidFill>
                <a:latin typeface="Calibri"/>
                <a:ea typeface="Calibri"/>
                <a:cs typeface="Calibri"/>
                <a:sym typeface="Calibri"/>
              </a:rPr>
              <a:t>Weight Initialization for Deep Networks</a:t>
            </a:r>
            <a:endParaRPr sz="6000" b="0" i="0" u="none" strike="noStrike" cap="none" dirty="0">
              <a:solidFill>
                <a:schemeClr val="dk1"/>
              </a:solidFill>
              <a:latin typeface="Calibri"/>
              <a:ea typeface="Calibri"/>
              <a:cs typeface="Calibri"/>
              <a:sym typeface="Calibri"/>
            </a:endParaRPr>
          </a:p>
        </p:txBody>
      </p:sp>
      <p:sp>
        <p:nvSpPr>
          <p:cNvPr id="320" name="Google Shape;320;p30"/>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1" name="Google Shape;321;p30"/>
          <p:cNvSpPr txBox="1">
            <a:spLocks noGrp="1"/>
          </p:cNvSpPr>
          <p:nvPr>
            <p:ph type="body" idx="1"/>
          </p:nvPr>
        </p:nvSpPr>
        <p:spPr>
          <a:xfrm>
            <a:off x="419724" y="1418175"/>
            <a:ext cx="119466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a:t>Setting up your  optimization problem</a:t>
            </a:r>
            <a:endParaRPr/>
          </a:p>
        </p:txBody>
      </p:sp>
      <p:pic>
        <p:nvPicPr>
          <p:cNvPr id="322" name="Google Shape;322;p30"/>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23" name="Google Shape;323;p3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57</a:t>
            </a:fld>
            <a:endParaRPr/>
          </a:p>
        </p:txBody>
      </p:sp>
    </p:spTree>
    <p:extLst>
      <p:ext uri="{BB962C8B-B14F-4D97-AF65-F5344CB8AC3E}">
        <p14:creationId xmlns:p14="http://schemas.microsoft.com/office/powerpoint/2010/main" val="23942660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10552918"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Weight Initialization for Deep Networks</a:t>
            </a:r>
          </a:p>
        </p:txBody>
      </p:sp>
      <p:sp>
        <p:nvSpPr>
          <p:cNvPr id="245" name="Google Shape;245;p23"/>
          <p:cNvSpPr txBox="1"/>
          <p:nvPr/>
        </p:nvSpPr>
        <p:spPr>
          <a:xfrm>
            <a:off x="553915" y="1350425"/>
            <a:ext cx="11315700" cy="2993368"/>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b="1" dirty="0">
                <a:solidFill>
                  <a:schemeClr val="dk1"/>
                </a:solidFill>
                <a:latin typeface="+mn-lt"/>
                <a:ea typeface="Century Schoolbook"/>
                <a:cs typeface="Century Schoolbook"/>
                <a:sym typeface="Century Schoolbook"/>
              </a:rPr>
              <a:t>Zeros </a:t>
            </a:r>
            <a:r>
              <a:rPr lang="en-US" sz="2400" b="1" dirty="0" smtClean="0">
                <a:solidFill>
                  <a:schemeClr val="dk1"/>
                </a:solidFill>
                <a:latin typeface="+mn-lt"/>
                <a:ea typeface="Century Schoolbook"/>
                <a:cs typeface="Century Schoolbook"/>
                <a:sym typeface="Century Schoolbook"/>
              </a:rPr>
              <a:t>initialization</a:t>
            </a:r>
            <a:r>
              <a:rPr lang="en-US" sz="2400" dirty="0">
                <a:solidFill>
                  <a:schemeClr val="dk1"/>
                </a:solidFill>
                <a:latin typeface="+mn-lt"/>
                <a:ea typeface="Century Schoolbook"/>
                <a:cs typeface="Century Schoolbook"/>
                <a:sym typeface="Century Schoolbook"/>
              </a:rPr>
              <a:t>:</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initializing all weights and biases to zero in neural networks, is a simple but discouraged technique. It causes symmetry issues during training, as all neurons in a layer learn the same features, making them redundant and hindering effective learning</a:t>
            </a:r>
            <a:r>
              <a:rPr lang="en-US" sz="2400" dirty="0" smtClean="0">
                <a:solidFill>
                  <a:schemeClr val="dk1"/>
                </a:solidFill>
                <a:latin typeface="+mn-lt"/>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2400" b="1" dirty="0">
                <a:solidFill>
                  <a:schemeClr val="dk1"/>
                </a:solidFill>
                <a:latin typeface="+mn-lt"/>
                <a:ea typeface="Century Schoolbook"/>
                <a:cs typeface="Century Schoolbook"/>
                <a:sym typeface="Century Schoolbook"/>
              </a:rPr>
              <a:t>Random initialization</a:t>
            </a:r>
            <a:r>
              <a:rPr lang="en-US" sz="2400" dirty="0">
                <a:solidFill>
                  <a:schemeClr val="dk1"/>
                </a:solidFill>
                <a:latin typeface="+mn-lt"/>
                <a:ea typeface="Century Schoolbook"/>
                <a:cs typeface="Century Schoolbook"/>
                <a:sym typeface="Century Schoolbook"/>
              </a:rPr>
              <a:t> is a common neural network weight initialization method. It breaks symmetry by assigning random values from a chosen distribution to weights and biases. Techniques include </a:t>
            </a:r>
            <a:r>
              <a:rPr lang="en-US" sz="2400" b="1" dirty="0">
                <a:solidFill>
                  <a:schemeClr val="dk1"/>
                </a:solidFill>
                <a:latin typeface="+mn-lt"/>
                <a:ea typeface="Century Schoolbook"/>
                <a:cs typeface="Century Schoolbook"/>
                <a:sym typeface="Century Schoolbook"/>
              </a:rPr>
              <a:t>Uniform Initialization</a:t>
            </a:r>
            <a:r>
              <a:rPr lang="en-US" sz="2400" dirty="0">
                <a:solidFill>
                  <a:schemeClr val="dk1"/>
                </a:solidFill>
                <a:latin typeface="+mn-lt"/>
                <a:ea typeface="Century Schoolbook"/>
                <a:cs typeface="Century Schoolbook"/>
                <a:sym typeface="Century Schoolbook"/>
              </a:rPr>
              <a:t> and </a:t>
            </a:r>
            <a:r>
              <a:rPr lang="en-US" sz="2400" b="1" dirty="0">
                <a:solidFill>
                  <a:schemeClr val="dk1"/>
                </a:solidFill>
                <a:latin typeface="+mn-lt"/>
                <a:ea typeface="Century Schoolbook"/>
                <a:cs typeface="Century Schoolbook"/>
                <a:sym typeface="Century Schoolbook"/>
              </a:rPr>
              <a:t>Normal (Gaussian) Initialization</a:t>
            </a:r>
            <a:r>
              <a:rPr lang="en-US" sz="2400" dirty="0">
                <a:solidFill>
                  <a:schemeClr val="dk1"/>
                </a:solidFill>
                <a:latin typeface="+mn-lt"/>
                <a:ea typeface="Century Schoolbook"/>
                <a:cs typeface="Century Schoolbook"/>
                <a:sym typeface="Century Schoolbook"/>
              </a:rPr>
              <a:t>, chosen based on the activation function.</a:t>
            </a:r>
            <a:endParaRPr lang="en-US" sz="2400" dirty="0">
              <a:solidFill>
                <a:schemeClr val="dk1"/>
              </a:solidFill>
              <a:latin typeface="+mn-lt"/>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58</a:t>
            </a:fld>
            <a:endParaRPr dirty="0"/>
          </a:p>
        </p:txBody>
      </p:sp>
    </p:spTree>
    <p:extLst>
      <p:ext uri="{BB962C8B-B14F-4D97-AF65-F5344CB8AC3E}">
        <p14:creationId xmlns:p14="http://schemas.microsoft.com/office/powerpoint/2010/main" val="492186678"/>
      </p:ext>
    </p:extLst>
  </p:cSld>
  <p:clrMapOvr>
    <a:masterClrMapping/>
  </p:clrMapOvr>
  <p:extLst mod="1">
    <p:ext uri="{6950BFC3-D8DA-4A85-94F7-54DA5524770B}">
      <p188:commentRel xmlns="" xmlns:p188="http://schemas.microsoft.com/office/powerpoint/2018/8/main" r:id="rId4"/>
    </p:ext>
  </p:extLst>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10552918"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Weight Initialization for Deep Networks</a:t>
            </a:r>
          </a:p>
        </p:txBody>
      </p:sp>
      <p:sp>
        <p:nvSpPr>
          <p:cNvPr id="245" name="Google Shape;245;p23"/>
          <p:cNvSpPr txBox="1"/>
          <p:nvPr/>
        </p:nvSpPr>
        <p:spPr>
          <a:xfrm>
            <a:off x="553915" y="1350425"/>
            <a:ext cx="11315700" cy="2247267"/>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err="1">
                <a:solidFill>
                  <a:schemeClr val="dk1"/>
                </a:solidFill>
                <a:latin typeface="+mn-lt"/>
                <a:ea typeface="Century Schoolbook"/>
                <a:cs typeface="Century Schoolbook"/>
                <a:sym typeface="Century Schoolbook"/>
              </a:rPr>
              <a:t>ReLU</a:t>
            </a:r>
            <a:r>
              <a:rPr lang="en-US" sz="2400" dirty="0">
                <a:solidFill>
                  <a:schemeClr val="dk1"/>
                </a:solidFill>
                <a:latin typeface="+mn-lt"/>
                <a:ea typeface="Century Schoolbook"/>
                <a:cs typeface="Century Schoolbook"/>
                <a:sym typeface="Century Schoolbook"/>
              </a:rPr>
              <a:t> and variants use weight initialization to set the variance proportionate to 1/n, controlling activation and gradient ranges. </a:t>
            </a:r>
            <a:endParaRPr lang="en-US" sz="2400" dirty="0" smtClean="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Xavier/</a:t>
            </a:r>
            <a:r>
              <a:rPr lang="en-US" sz="2400" dirty="0" err="1" smtClean="0">
                <a:solidFill>
                  <a:schemeClr val="dk1"/>
                </a:solidFill>
                <a:latin typeface="+mn-lt"/>
                <a:ea typeface="Century Schoolbook"/>
                <a:cs typeface="Century Schoolbook"/>
                <a:sym typeface="Century Schoolbook"/>
              </a:rPr>
              <a:t>Glorot</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(for linear-like functions) sets variance to 1/n(l-1), </a:t>
            </a:r>
            <a:r>
              <a:rPr lang="en-US" sz="2400" i="1" dirty="0">
                <a:solidFill>
                  <a:schemeClr val="dk1"/>
                </a:solidFill>
                <a:latin typeface="+mn-lt"/>
                <a:ea typeface="Century Schoolbook"/>
                <a:cs typeface="Century Schoolbook"/>
                <a:sym typeface="Century Schoolbook"/>
              </a:rPr>
              <a:t>where n(l-1) is the number of units feeding into each unit in layer </a:t>
            </a:r>
            <a:r>
              <a:rPr lang="en-US" sz="2400" i="1" dirty="0" smtClean="0">
                <a:solidFill>
                  <a:schemeClr val="dk1"/>
                </a:solidFill>
                <a:latin typeface="+mn-lt"/>
                <a:ea typeface="Century Schoolbook"/>
                <a:cs typeface="Century Schoolbook"/>
                <a:sym typeface="Century Schoolbook"/>
              </a:rPr>
              <a:t>l</a:t>
            </a:r>
            <a:r>
              <a:rPr lang="en-US" sz="2400" dirty="0" smtClean="0">
                <a:solidFill>
                  <a:schemeClr val="dk1"/>
                </a:solidFill>
                <a:latin typeface="+mn-lt"/>
                <a:ea typeface="Century Schoolbook"/>
                <a:cs typeface="Century Schoolbook"/>
                <a:sym typeface="Century Schoolbook"/>
              </a:rPr>
              <a:t>.</a:t>
            </a: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He </a:t>
            </a:r>
            <a:r>
              <a:rPr lang="en-US" sz="2400" dirty="0">
                <a:solidFill>
                  <a:schemeClr val="dk1"/>
                </a:solidFill>
                <a:latin typeface="+mn-lt"/>
                <a:ea typeface="Century Schoolbook"/>
                <a:cs typeface="Century Schoolbook"/>
                <a:sym typeface="Century Schoolbook"/>
              </a:rPr>
              <a:t>initialization (for rectified functions) sets variance to 2/n(l-1), </a:t>
            </a:r>
            <a:r>
              <a:rPr lang="en-US" sz="2400" i="1" dirty="0">
                <a:solidFill>
                  <a:schemeClr val="dk1"/>
                </a:solidFill>
                <a:latin typeface="+mn-lt"/>
                <a:ea typeface="Century Schoolbook"/>
                <a:cs typeface="Century Schoolbook"/>
                <a:sym typeface="Century Schoolbook"/>
              </a:rPr>
              <a:t>where n(l-1) is the number of units feeding into each unit in layer </a:t>
            </a:r>
            <a:r>
              <a:rPr lang="en-US" sz="2400" i="1" dirty="0" smtClean="0">
                <a:solidFill>
                  <a:schemeClr val="dk1"/>
                </a:solidFill>
                <a:latin typeface="+mn-lt"/>
                <a:ea typeface="Century Schoolbook"/>
                <a:cs typeface="Century Schoolbook"/>
                <a:sym typeface="Century Schoolbook"/>
              </a:rPr>
              <a:t>l</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59</a:t>
            </a:fld>
            <a:endParaRPr dirty="0"/>
          </a:p>
        </p:txBody>
      </p:sp>
    </p:spTree>
    <p:extLst>
      <p:ext uri="{BB962C8B-B14F-4D97-AF65-F5344CB8AC3E}">
        <p14:creationId xmlns:p14="http://schemas.microsoft.com/office/powerpoint/2010/main" val="1962451800"/>
      </p:ext>
    </p:extLst>
  </p:cSld>
  <p:clrMapOvr>
    <a:masterClrMapping/>
  </p:clrMapOvr>
  <p:extLst mod="1">
    <p:ext uri="{6950BFC3-D8DA-4A85-94F7-54DA5524770B}">
      <p188:commentRel xmlns="" xmlns:p188="http://schemas.microsoft.com/office/powerpoint/2018/8/main" r:id="rId4"/>
    </p:ext>
  </p:extLst>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20" y="139696"/>
            <a:ext cx="10552918"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Weight Initialization for Deep Networks</a:t>
            </a:r>
          </a:p>
        </p:txBody>
      </p:sp>
      <p:sp>
        <p:nvSpPr>
          <p:cNvPr id="245" name="Google Shape;245;p23"/>
          <p:cNvSpPr txBox="1"/>
          <p:nvPr/>
        </p:nvSpPr>
        <p:spPr>
          <a:xfrm>
            <a:off x="553915" y="1350425"/>
            <a:ext cx="11315700" cy="3739470"/>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He initialization" or "He et al. initialization." It is commonly used for weight initialization in deep neural networks, especially when the activation function is a rectified linear unit (</a:t>
            </a:r>
            <a:r>
              <a:rPr lang="en-US" sz="2400" dirty="0" err="1">
                <a:solidFill>
                  <a:schemeClr val="dk1"/>
                </a:solidFill>
                <a:latin typeface="+mn-lt"/>
                <a:ea typeface="Century Schoolbook"/>
                <a:cs typeface="Century Schoolbook"/>
                <a:sym typeface="Century Schoolbook"/>
              </a:rPr>
              <a:t>ReLU</a:t>
            </a:r>
            <a:r>
              <a:rPr lang="en-US" sz="2400" dirty="0">
                <a:solidFill>
                  <a:schemeClr val="dk1"/>
                </a:solidFill>
                <a:latin typeface="+mn-lt"/>
                <a:ea typeface="Century Schoolbook"/>
                <a:cs typeface="Century Schoolbook"/>
                <a:sym typeface="Century Schoolbook"/>
              </a:rPr>
              <a:t>) or its </a:t>
            </a:r>
            <a:r>
              <a:rPr lang="en-US" sz="2400" dirty="0" smtClean="0">
                <a:solidFill>
                  <a:schemeClr val="dk1"/>
                </a:solidFill>
                <a:latin typeface="+mn-lt"/>
                <a:ea typeface="Century Schoolbook"/>
                <a:cs typeface="Century Schoolbook"/>
                <a:sym typeface="Century Schoolbook"/>
              </a:rPr>
              <a:t>variants.</a:t>
            </a: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He initialization formula for the weight matrix of layer l is given as follows</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a:t>
            </a:r>
            <a:r>
              <a:rPr lang="en-US" sz="2400" dirty="0" smtClean="0">
                <a:solidFill>
                  <a:schemeClr val="dk1"/>
                </a:solidFill>
                <a:latin typeface="+mn-lt"/>
                <a:ea typeface="Century Schoolbook"/>
                <a:cs typeface="Century Schoolbook"/>
                <a:sym typeface="Century Schoolbook"/>
              </a:rPr>
              <a:t>W</a:t>
            </a:r>
            <a:r>
              <a:rPr lang="en-US" sz="2400" baseline="30000" dirty="0" smtClean="0">
                <a:solidFill>
                  <a:schemeClr val="dk1"/>
                </a:solidFill>
                <a:latin typeface="+mn-lt"/>
                <a:ea typeface="Century Schoolbook"/>
                <a:cs typeface="Century Schoolbook"/>
                <a:sym typeface="Century Schoolbook"/>
              </a:rPr>
              <a:t>[l]</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 </a:t>
            </a:r>
            <a:r>
              <a:rPr lang="en-US" sz="2400" dirty="0" err="1">
                <a:solidFill>
                  <a:schemeClr val="dk1"/>
                </a:solidFill>
                <a:latin typeface="Cascadia Code Light" panose="020B0609020000020004" pitchFamily="49" charset="0"/>
                <a:ea typeface="Century Schoolbook"/>
                <a:cs typeface="Cascadia Code Light" panose="020B0609020000020004" pitchFamily="49" charset="0"/>
                <a:sym typeface="Century Schoolbook"/>
              </a:rPr>
              <a:t>np.random.randn</a:t>
            </a:r>
            <a:r>
              <a:rPr lang="en-US" sz="2400" dirty="0">
                <a:solidFill>
                  <a:schemeClr val="dk1"/>
                </a:solidFill>
                <a:latin typeface="+mn-lt"/>
                <a:ea typeface="Century Schoolbook"/>
                <a:cs typeface="Century Schoolbook"/>
                <a:sym typeface="Century Schoolbook"/>
              </a:rPr>
              <a:t> * </a:t>
            </a:r>
            <a:r>
              <a:rPr lang="en-US" sz="2400" dirty="0" err="1">
                <a:solidFill>
                  <a:schemeClr val="dk1"/>
                </a:solidFill>
                <a:latin typeface="Cascadia Code Light" panose="020B0609020000020004" pitchFamily="49" charset="0"/>
                <a:ea typeface="Century Schoolbook"/>
                <a:cs typeface="Cascadia Code Light" panose="020B0609020000020004" pitchFamily="49" charset="0"/>
                <a:sym typeface="Century Schoolbook"/>
              </a:rPr>
              <a:t>sqrt</a:t>
            </a:r>
            <a:r>
              <a:rPr lang="en-US" sz="2400" dirty="0">
                <a:solidFill>
                  <a:schemeClr val="dk1"/>
                </a:solidFill>
                <a:latin typeface="Cascadia Code Light" panose="020B0609020000020004" pitchFamily="49" charset="0"/>
                <a:ea typeface="Century Schoolbook"/>
                <a:cs typeface="Cascadia Code Light" panose="020B0609020000020004" pitchFamily="49" charset="0"/>
                <a:sym typeface="Century Schoolbook"/>
              </a:rPr>
              <a:t>(2/n(l-1</a:t>
            </a:r>
            <a:r>
              <a:rPr lang="en-US" sz="2400" dirty="0" smtClean="0">
                <a:solidFill>
                  <a:schemeClr val="dk1"/>
                </a:solidFill>
                <a:latin typeface="Cascadia Code Light" panose="020B0609020000020004" pitchFamily="49" charset="0"/>
                <a:ea typeface="Century Schoolbook"/>
                <a:cs typeface="Cascadia Code Light" panose="020B0609020000020004" pitchFamily="49" charset="0"/>
                <a:sym typeface="Century Schoolbook"/>
              </a:rPr>
              <a:t>))</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Where:</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a:t>
            </a:r>
            <a:r>
              <a:rPr lang="en-US" sz="2400" dirty="0" smtClean="0">
                <a:solidFill>
                  <a:schemeClr val="dk1"/>
                </a:solidFill>
                <a:latin typeface="+mn-lt"/>
                <a:ea typeface="Century Schoolbook"/>
                <a:cs typeface="Century Schoolbook"/>
                <a:sym typeface="Century Schoolbook"/>
              </a:rPr>
              <a:t>W</a:t>
            </a:r>
            <a:r>
              <a:rPr lang="en-US" sz="2400" baseline="30000" dirty="0" smtClean="0">
                <a:solidFill>
                  <a:schemeClr val="dk1"/>
                </a:solidFill>
                <a:latin typeface="+mn-lt"/>
                <a:ea typeface="Century Schoolbook"/>
                <a:cs typeface="Century Schoolbook"/>
                <a:sym typeface="Century Schoolbook"/>
              </a:rPr>
              <a:t>[l]</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The weight matrix of layer l.</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a:t>
            </a:r>
            <a:r>
              <a:rPr lang="en-US" sz="2400" dirty="0" err="1" smtClean="0">
                <a:solidFill>
                  <a:schemeClr val="dk1"/>
                </a:solidFill>
                <a:latin typeface="Cascadia Code Light" panose="020B0609020000020004" pitchFamily="49" charset="0"/>
                <a:ea typeface="Century Schoolbook"/>
                <a:cs typeface="Cascadia Code Light" panose="020B0609020000020004" pitchFamily="49" charset="0"/>
                <a:sym typeface="Century Schoolbook"/>
              </a:rPr>
              <a:t>np.random.randn</a:t>
            </a:r>
            <a:r>
              <a:rPr lang="en-US" sz="2400" dirty="0">
                <a:solidFill>
                  <a:schemeClr val="dk1"/>
                </a:solidFill>
                <a:latin typeface="+mn-lt"/>
                <a:ea typeface="Century Schoolbook"/>
                <a:cs typeface="Century Schoolbook"/>
                <a:sym typeface="Century Schoolbook"/>
              </a:rPr>
              <a:t>: A random number drawn from a standard normal </a:t>
            </a:r>
            <a:r>
              <a:rPr lang="en-US" sz="2400" dirty="0" smtClean="0">
                <a:solidFill>
                  <a:schemeClr val="dk1"/>
                </a:solidFill>
                <a:latin typeface="+mn-lt"/>
                <a:ea typeface="Century Schoolbook"/>
                <a:cs typeface="Century Schoolbook"/>
                <a:sym typeface="Century Schoolbook"/>
              </a:rPr>
              <a:t>		distribution</a:t>
            </a:r>
            <a:r>
              <a:rPr lang="en-US" sz="2400" dirty="0">
                <a:solidFill>
                  <a:schemeClr val="dk1"/>
                </a:solidFill>
                <a:latin typeface="+mn-lt"/>
                <a:ea typeface="Century Schoolbook"/>
                <a:cs typeface="Century Schoolbook"/>
                <a:sym typeface="Century Schoolbook"/>
              </a:rPr>
              <a:t>.</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a:t>
            </a:r>
            <a:r>
              <a:rPr lang="en-US" sz="2400" dirty="0" err="1" smtClean="0">
                <a:solidFill>
                  <a:schemeClr val="dk1"/>
                </a:solidFill>
                <a:latin typeface="Cascadia Code Light" panose="020B0609020000020004" pitchFamily="49" charset="0"/>
                <a:ea typeface="Century Schoolbook"/>
                <a:cs typeface="Cascadia Code Light" panose="020B0609020000020004" pitchFamily="49" charset="0"/>
                <a:sym typeface="Century Schoolbook"/>
              </a:rPr>
              <a:t>sqrt</a:t>
            </a:r>
            <a:r>
              <a:rPr lang="en-US" sz="2400" dirty="0" smtClean="0">
                <a:solidFill>
                  <a:schemeClr val="dk1"/>
                </a:solidFill>
                <a:latin typeface="Cascadia Code Light" panose="020B0609020000020004" pitchFamily="49" charset="0"/>
                <a:ea typeface="Century Schoolbook"/>
                <a:cs typeface="Cascadia Code Light" panose="020B0609020000020004" pitchFamily="49" charset="0"/>
                <a:sym typeface="Century Schoolbook"/>
              </a:rPr>
              <a:t>(2/n(l-1</a:t>
            </a:r>
            <a:r>
              <a:rPr lang="en-US" sz="2400" dirty="0">
                <a:solidFill>
                  <a:schemeClr val="dk1"/>
                </a:solidFill>
                <a:latin typeface="Cascadia Code Light" panose="020B0609020000020004" pitchFamily="49" charset="0"/>
                <a:ea typeface="Century Schoolbook"/>
                <a:cs typeface="Cascadia Code Light" panose="020B0609020000020004" pitchFamily="49" charset="0"/>
                <a:sym typeface="Century Schoolbook"/>
              </a:rPr>
              <a:t>))</a:t>
            </a:r>
            <a:r>
              <a:rPr lang="en-US" sz="2400" dirty="0">
                <a:solidFill>
                  <a:schemeClr val="dk1"/>
                </a:solidFill>
                <a:latin typeface="+mn-lt"/>
                <a:ea typeface="Century Schoolbook"/>
                <a:cs typeface="Century Schoolbook"/>
                <a:sym typeface="Century Schoolbook"/>
              </a:rPr>
              <a:t>: The scaling factor for the weight initialization.</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60</a:t>
            </a:fld>
            <a:endParaRPr dirty="0"/>
          </a:p>
        </p:txBody>
      </p:sp>
    </p:spTree>
    <p:extLst>
      <p:ext uri="{BB962C8B-B14F-4D97-AF65-F5344CB8AC3E}">
        <p14:creationId xmlns:p14="http://schemas.microsoft.com/office/powerpoint/2010/main" val="2697477716"/>
      </p:ext>
    </p:extLst>
  </p:cSld>
  <p:clrMapOvr>
    <a:masterClrMapping/>
  </p:clrMapOvr>
  <p:extLst mod="1">
    <p:ext uri="{6950BFC3-D8DA-4A85-94F7-54DA5524770B}">
      <p188:commentRel xmlns="" xmlns:p188="http://schemas.microsoft.com/office/powerpoint/2018/8/main" r:id="rId4"/>
    </p:ext>
  </p:extLst>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Weight Initialization for Deep Networks</a:t>
            </a:r>
          </a:p>
        </p:txBody>
      </p:sp>
      <p:sp>
        <p:nvSpPr>
          <p:cNvPr id="245" name="Google Shape;245;p23"/>
          <p:cNvSpPr txBox="1"/>
          <p:nvPr/>
        </p:nvSpPr>
        <p:spPr>
          <a:xfrm>
            <a:off x="396260" y="1381956"/>
            <a:ext cx="11606554" cy="2620318"/>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Weight initialization varies for activation functions</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 </a:t>
            </a:r>
            <a:r>
              <a:rPr lang="en-US" sz="2400" dirty="0" err="1" smtClean="0">
                <a:solidFill>
                  <a:schemeClr val="dk1"/>
                </a:solidFill>
                <a:latin typeface="+mn-lt"/>
                <a:ea typeface="Century Schoolbook"/>
                <a:cs typeface="Century Schoolbook"/>
                <a:sym typeface="Century Schoolbook"/>
              </a:rPr>
              <a:t>TanH</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uses Xavier initialization, setting variance to 1/n instead of 2/n.</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 Another version (</a:t>
            </a:r>
            <a:r>
              <a:rPr lang="en-US" sz="2400" dirty="0" err="1" smtClean="0">
                <a:solidFill>
                  <a:schemeClr val="dk1"/>
                </a:solidFill>
                <a:latin typeface="+mn-lt"/>
                <a:ea typeface="Century Schoolbook"/>
                <a:cs typeface="Century Schoolbook"/>
                <a:sym typeface="Century Schoolbook"/>
              </a:rPr>
              <a:t>Yoshua</a:t>
            </a:r>
            <a:r>
              <a:rPr lang="en-US" sz="2400" dirty="0" smtClean="0">
                <a:solidFill>
                  <a:schemeClr val="dk1"/>
                </a:solidFill>
                <a:latin typeface="+mn-lt"/>
                <a:ea typeface="Century Schoolbook"/>
                <a:cs typeface="Century Schoolbook"/>
                <a:sym typeface="Century Schoolbook"/>
              </a:rPr>
              <a:t> </a:t>
            </a:r>
            <a:r>
              <a:rPr lang="en-US" sz="2400" dirty="0" err="1" smtClean="0">
                <a:solidFill>
                  <a:schemeClr val="dk1"/>
                </a:solidFill>
                <a:latin typeface="+mn-lt"/>
                <a:ea typeface="Century Schoolbook"/>
                <a:cs typeface="Century Schoolbook"/>
                <a:sym typeface="Century Schoolbook"/>
              </a:rPr>
              <a:t>Bengio</a:t>
            </a:r>
            <a:r>
              <a:rPr lang="en-US" sz="2400" dirty="0">
                <a:solidFill>
                  <a:schemeClr val="dk1"/>
                </a:solidFill>
                <a:latin typeface="+mn-lt"/>
                <a:ea typeface="Century Schoolbook"/>
                <a:cs typeface="Century Schoolbook"/>
                <a:sym typeface="Century Schoolbook"/>
              </a:rPr>
              <a:t> and colleagues) </a:t>
            </a:r>
            <a:r>
              <a:rPr lang="en-US" sz="2400" dirty="0" smtClean="0">
                <a:solidFill>
                  <a:schemeClr val="dk1"/>
                </a:solidFill>
                <a:latin typeface="+mn-lt"/>
                <a:ea typeface="Century Schoolbook"/>
                <a:cs typeface="Century Schoolbook"/>
                <a:sym typeface="Century Schoolbook"/>
              </a:rPr>
              <a:t>uses </a:t>
            </a:r>
            <a:r>
              <a:rPr lang="en-US" sz="2400" dirty="0">
                <a:solidFill>
                  <a:schemeClr val="dk1"/>
                </a:solidFill>
                <a:latin typeface="+mn-lt"/>
                <a:ea typeface="Century Schoolbook"/>
                <a:cs typeface="Century Schoolbook"/>
                <a:sym typeface="Century Schoolbook"/>
              </a:rPr>
              <a:t>an alternative formula.</a:t>
            </a: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These formulas provide starting points for weight variance, fine-tuned with </a:t>
            </a:r>
            <a:r>
              <a:rPr lang="en-US" sz="2400" dirty="0" err="1">
                <a:solidFill>
                  <a:schemeClr val="dk1"/>
                </a:solidFill>
                <a:latin typeface="+mn-lt"/>
                <a:ea typeface="Century Schoolbook"/>
                <a:cs typeface="Century Schoolbook"/>
                <a:sym typeface="Century Schoolbook"/>
              </a:rPr>
              <a:t>hyperparameters</a:t>
            </a:r>
            <a:r>
              <a:rPr lang="en-US" sz="2400" dirty="0">
                <a:solidFill>
                  <a:schemeClr val="dk1"/>
                </a:solidFill>
                <a:latin typeface="+mn-lt"/>
                <a:ea typeface="Century Schoolbook"/>
                <a:cs typeface="Century Schoolbook"/>
                <a:sym typeface="Century Schoolbook"/>
              </a:rPr>
              <a:t>. </a:t>
            </a:r>
            <a:endParaRPr lang="en-US" sz="2400" dirty="0" smtClean="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Careful </a:t>
            </a:r>
            <a:r>
              <a:rPr lang="en-US" sz="2400" dirty="0">
                <a:solidFill>
                  <a:schemeClr val="dk1"/>
                </a:solidFill>
                <a:latin typeface="+mn-lt"/>
                <a:ea typeface="Century Schoolbook"/>
                <a:cs typeface="Century Schoolbook"/>
                <a:sym typeface="Century Schoolbook"/>
              </a:rPr>
              <a:t>initialization aids faster training and mitigates vanishing/exploding gradient issues.</a:t>
            </a:r>
            <a:endParaRPr lang="en-US" sz="2400" dirty="0">
              <a:solidFill>
                <a:schemeClr val="dk1"/>
              </a:solidFill>
              <a:latin typeface="+mn-lt"/>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61</a:t>
            </a:fld>
            <a:endParaRPr dirty="0"/>
          </a:p>
        </p:txBody>
      </p:sp>
    </p:spTree>
    <p:extLst>
      <p:ext uri="{BB962C8B-B14F-4D97-AF65-F5344CB8AC3E}">
        <p14:creationId xmlns:p14="http://schemas.microsoft.com/office/powerpoint/2010/main" val="31045132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341"/>
        <p:cNvGrpSpPr/>
        <p:nvPr/>
      </p:nvGrpSpPr>
      <p:grpSpPr>
        <a:xfrm>
          <a:off x="0" y="0"/>
          <a:ext cx="0" cy="0"/>
          <a:chOff x="0" y="0"/>
          <a:chExt cx="0" cy="0"/>
        </a:xfrm>
      </p:grpSpPr>
      <p:sp>
        <p:nvSpPr>
          <p:cNvPr id="342" name="Google Shape;342;p33"/>
          <p:cNvSpPr txBox="1"/>
          <p:nvPr/>
        </p:nvSpPr>
        <p:spPr>
          <a:xfrm>
            <a:off x="4919688" y="3653367"/>
            <a:ext cx="7272312" cy="2020671"/>
          </a:xfrm>
          <a:prstGeom prst="rect">
            <a:avLst/>
          </a:prstGeom>
          <a:noFill/>
          <a:ln>
            <a:noFill/>
          </a:ln>
        </p:spPr>
        <p:txBody>
          <a:bodyPr spcFirstLastPara="1" wrap="square" lIns="0" tIns="26025" rIns="0" bIns="0" anchor="t" anchorCtr="0">
            <a:spAutoFit/>
          </a:bodyPr>
          <a:lstStyle/>
          <a:p>
            <a:pPr marL="1892935" marR="5080" lvl="0" indent="-1880870" algn="l" rtl="0">
              <a:lnSpc>
                <a:spcPct val="119814"/>
              </a:lnSpc>
              <a:spcBef>
                <a:spcPts val="0"/>
              </a:spcBef>
              <a:spcAft>
                <a:spcPts val="0"/>
              </a:spcAft>
              <a:buClr>
                <a:srgbClr val="000000"/>
              </a:buClr>
              <a:buSzPts val="5400"/>
              <a:buFont typeface="Arial"/>
              <a:buNone/>
            </a:pPr>
            <a:r>
              <a:rPr lang="en-US" sz="5400" b="0" i="0" u="none" strike="noStrike" cap="none" dirty="0">
                <a:solidFill>
                  <a:schemeClr val="dk1"/>
                </a:solidFill>
                <a:latin typeface="Calibri"/>
                <a:ea typeface="Calibri"/>
                <a:cs typeface="Calibri"/>
                <a:sym typeface="Calibri"/>
              </a:rPr>
              <a:t>Numerical approximation  of gradients</a:t>
            </a:r>
            <a:endParaRPr sz="5400" b="0" i="0" u="none" strike="noStrike" cap="none" dirty="0">
              <a:solidFill>
                <a:schemeClr val="dk1"/>
              </a:solidFill>
              <a:latin typeface="Calibri"/>
              <a:ea typeface="Calibri"/>
              <a:cs typeface="Calibri"/>
              <a:sym typeface="Calibri"/>
            </a:endParaRPr>
          </a:p>
        </p:txBody>
      </p:sp>
      <p:sp>
        <p:nvSpPr>
          <p:cNvPr id="343" name="Google Shape;343;p33"/>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4" name="Google Shape;344;p33"/>
          <p:cNvSpPr txBox="1">
            <a:spLocks noGrp="1"/>
          </p:cNvSpPr>
          <p:nvPr>
            <p:ph type="body" idx="1"/>
          </p:nvPr>
        </p:nvSpPr>
        <p:spPr>
          <a:xfrm>
            <a:off x="419725" y="1418175"/>
            <a:ext cx="118917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dirty="0"/>
              <a:t>Setting up your  optimization problem</a:t>
            </a:r>
            <a:endParaRPr dirty="0"/>
          </a:p>
        </p:txBody>
      </p:sp>
      <p:pic>
        <p:nvPicPr>
          <p:cNvPr id="345" name="Google Shape;345;p33"/>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46" name="Google Shape;346;p3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Numerical approximation  of </a:t>
            </a:r>
            <a:r>
              <a:rPr lang="en-US" sz="4400" dirty="0" smtClean="0">
                <a:solidFill>
                  <a:schemeClr val="dk1"/>
                </a:solidFill>
                <a:latin typeface="+mj-lt"/>
                <a:ea typeface="Century Schoolbook"/>
                <a:cs typeface="Century Schoolbook"/>
                <a:sym typeface="Century Schoolbook"/>
              </a:rPr>
              <a:t>gradients</a:t>
            </a:r>
            <a:endParaRPr lang="en-US" sz="4400" dirty="0">
              <a:solidFill>
                <a:schemeClr val="dk1"/>
              </a:solidFill>
              <a:latin typeface="+mj-lt"/>
              <a:ea typeface="Century Schoolbook"/>
              <a:cs typeface="Century Schoolbook"/>
              <a:sym typeface="Century Schoolbook"/>
            </a:endParaRPr>
          </a:p>
        </p:txBody>
      </p:sp>
      <p:sp>
        <p:nvSpPr>
          <p:cNvPr id="245" name="Google Shape;245;p23"/>
          <p:cNvSpPr txBox="1"/>
          <p:nvPr/>
        </p:nvSpPr>
        <p:spPr>
          <a:xfrm>
            <a:off x="553915" y="1350425"/>
            <a:ext cx="11315700" cy="1874216"/>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Numerical approximation of gradients is a technique used to estimate the gradients of a function with respect to its parameters by computing finite differences. It is commonly used in gradient checking, as described in </a:t>
            </a:r>
            <a:r>
              <a:rPr lang="en-US" sz="2400" b="1" dirty="0">
                <a:solidFill>
                  <a:schemeClr val="dk1"/>
                </a:solidFill>
                <a:latin typeface="+mn-lt"/>
                <a:ea typeface="Century Schoolbook"/>
                <a:cs typeface="Century Schoolbook"/>
                <a:sym typeface="Century Schoolbook"/>
              </a:rPr>
              <a:t>the </a:t>
            </a:r>
            <a:r>
              <a:rPr lang="en-US" sz="2400" b="1" dirty="0" smtClean="0">
                <a:solidFill>
                  <a:schemeClr val="dk1"/>
                </a:solidFill>
                <a:latin typeface="+mn-lt"/>
                <a:ea typeface="Century Schoolbook"/>
                <a:cs typeface="Century Schoolbook"/>
                <a:sym typeface="Century Schoolbook"/>
              </a:rPr>
              <a:t>Gradient checking</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to verify the correctness of analytical gradients computed through methods like backpropagation.</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63</a:t>
            </a:fld>
            <a:endParaRPr dirty="0"/>
          </a:p>
        </p:txBody>
      </p:sp>
    </p:spTree>
    <p:extLst>
      <p:ext uri="{BB962C8B-B14F-4D97-AF65-F5344CB8AC3E}">
        <p14:creationId xmlns:p14="http://schemas.microsoft.com/office/powerpoint/2010/main" val="2718784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ea typeface="Century Schoolbook"/>
                <a:cs typeface="Century Schoolbook"/>
                <a:sym typeface="Century Schoolbook"/>
              </a:rPr>
              <a:t>Numerical approximation  of gradients</a:t>
            </a:r>
          </a:p>
        </p:txBody>
      </p:sp>
      <p:sp>
        <p:nvSpPr>
          <p:cNvPr id="245" name="Google Shape;245;p23"/>
          <p:cNvSpPr txBox="1"/>
          <p:nvPr/>
        </p:nvSpPr>
        <p:spPr>
          <a:xfrm>
            <a:off x="553915" y="1350425"/>
            <a:ext cx="11315700" cy="4485572"/>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Given a function f(θ) that depends on a set of parameters θ, the numerical approximation of the gradient of f with respect to each parameter </a:t>
            </a:r>
            <a:r>
              <a:rPr lang="en-US" sz="2400" dirty="0" err="1">
                <a:solidFill>
                  <a:schemeClr val="dk1"/>
                </a:solidFill>
                <a:latin typeface="+mn-lt"/>
                <a:ea typeface="Century Schoolbook"/>
                <a:cs typeface="Century Schoolbook"/>
                <a:sym typeface="Century Schoolbook"/>
              </a:rPr>
              <a:t>θi</a:t>
            </a:r>
            <a:r>
              <a:rPr lang="en-US" sz="2400" dirty="0">
                <a:solidFill>
                  <a:schemeClr val="dk1"/>
                </a:solidFill>
                <a:latin typeface="+mn-lt"/>
                <a:ea typeface="Century Schoolbook"/>
                <a:cs typeface="Century Schoolbook"/>
                <a:sym typeface="Century Schoolbook"/>
              </a:rPr>
              <a:t> can be calculated using the following formula</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Numerical </a:t>
            </a:r>
            <a:r>
              <a:rPr lang="en-US" sz="2400" dirty="0">
                <a:solidFill>
                  <a:schemeClr val="dk1"/>
                </a:solidFill>
                <a:latin typeface="+mn-lt"/>
                <a:ea typeface="Century Schoolbook"/>
                <a:cs typeface="Century Schoolbook"/>
                <a:sym typeface="Century Schoolbook"/>
              </a:rPr>
              <a:t>gradient for </a:t>
            </a:r>
            <a:r>
              <a:rPr lang="en-US" sz="2400" dirty="0" err="1">
                <a:solidFill>
                  <a:schemeClr val="dk1"/>
                </a:solidFill>
                <a:latin typeface="+mn-lt"/>
                <a:ea typeface="Century Schoolbook"/>
                <a:cs typeface="Century Schoolbook"/>
                <a:sym typeface="Century Schoolbook"/>
              </a:rPr>
              <a:t>θi</a:t>
            </a:r>
            <a:r>
              <a:rPr lang="en-US" sz="2400" dirty="0">
                <a:solidFill>
                  <a:schemeClr val="dk1"/>
                </a:solidFill>
                <a:latin typeface="+mn-lt"/>
                <a:ea typeface="Century Schoolbook"/>
                <a:cs typeface="Century Schoolbook"/>
                <a:sym typeface="Century Schoolbook"/>
              </a:rPr>
              <a:t> = (f(θ + ε * </a:t>
            </a:r>
            <a:r>
              <a:rPr lang="en-US" sz="2400" dirty="0" err="1">
                <a:solidFill>
                  <a:schemeClr val="dk1"/>
                </a:solidFill>
                <a:latin typeface="+mn-lt"/>
                <a:ea typeface="Century Schoolbook"/>
                <a:cs typeface="Century Schoolbook"/>
                <a:sym typeface="Century Schoolbook"/>
              </a:rPr>
              <a:t>ei</a:t>
            </a:r>
            <a:r>
              <a:rPr lang="en-US" sz="2400" dirty="0">
                <a:solidFill>
                  <a:schemeClr val="dk1"/>
                </a:solidFill>
                <a:latin typeface="+mn-lt"/>
                <a:ea typeface="Century Schoolbook"/>
                <a:cs typeface="Century Schoolbook"/>
                <a:sym typeface="Century Schoolbook"/>
              </a:rPr>
              <a:t>) - f(θ - ε * </a:t>
            </a:r>
            <a:r>
              <a:rPr lang="en-US" sz="2400" dirty="0" err="1">
                <a:solidFill>
                  <a:schemeClr val="dk1"/>
                </a:solidFill>
                <a:latin typeface="+mn-lt"/>
                <a:ea typeface="Century Schoolbook"/>
                <a:cs typeface="Century Schoolbook"/>
                <a:sym typeface="Century Schoolbook"/>
              </a:rPr>
              <a:t>ei</a:t>
            </a:r>
            <a:r>
              <a:rPr lang="en-US" sz="2400" dirty="0">
                <a:solidFill>
                  <a:schemeClr val="dk1"/>
                </a:solidFill>
                <a:latin typeface="+mn-lt"/>
                <a:ea typeface="Century Schoolbook"/>
                <a:cs typeface="Century Schoolbook"/>
                <a:sym typeface="Century Schoolbook"/>
              </a:rPr>
              <a:t>)) / (2 * ε</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Where:</a:t>
            </a:r>
            <a:endParaRPr lang="en-US" sz="2400" dirty="0">
              <a:solidFill>
                <a:schemeClr val="dk1"/>
              </a:solidFill>
              <a:latin typeface="+mn-lt"/>
              <a:ea typeface="Century Schoolbook"/>
              <a:cs typeface="Century Schoolbook"/>
              <a:sym typeface="Century Schoolbook"/>
            </a:endParaRP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f(θ </a:t>
            </a:r>
            <a:r>
              <a:rPr lang="en-US" sz="2400" dirty="0">
                <a:solidFill>
                  <a:schemeClr val="dk1"/>
                </a:solidFill>
                <a:latin typeface="+mn-lt"/>
                <a:ea typeface="Century Schoolbook"/>
                <a:cs typeface="Century Schoolbook"/>
                <a:sym typeface="Century Schoolbook"/>
              </a:rPr>
              <a:t>+ ε * </a:t>
            </a:r>
            <a:r>
              <a:rPr lang="en-US" sz="2400" dirty="0" err="1">
                <a:solidFill>
                  <a:schemeClr val="dk1"/>
                </a:solidFill>
                <a:latin typeface="+mn-lt"/>
                <a:ea typeface="Century Schoolbook"/>
                <a:cs typeface="Century Schoolbook"/>
                <a:sym typeface="Century Schoolbook"/>
              </a:rPr>
              <a:t>ei</a:t>
            </a:r>
            <a:r>
              <a:rPr lang="en-US" sz="2400" dirty="0">
                <a:solidFill>
                  <a:schemeClr val="dk1"/>
                </a:solidFill>
                <a:latin typeface="+mn-lt"/>
                <a:ea typeface="Century Schoolbook"/>
                <a:cs typeface="Century Schoolbook"/>
                <a:sym typeface="Century Schoolbook"/>
              </a:rPr>
              <a:t>): The function evaluated at θ with a small perturbation ε </a:t>
            </a:r>
            <a:r>
              <a:rPr lang="en-US" sz="2400" dirty="0" smtClean="0">
                <a:solidFill>
                  <a:schemeClr val="dk1"/>
                </a:solidFill>
                <a:latin typeface="+mn-lt"/>
                <a:ea typeface="Century Schoolbook"/>
                <a:cs typeface="Century Schoolbook"/>
                <a:sym typeface="Century Schoolbook"/>
              </a:rPr>
              <a:t>			added </a:t>
            </a:r>
            <a:r>
              <a:rPr lang="en-US" sz="2400" dirty="0">
                <a:solidFill>
                  <a:schemeClr val="dk1"/>
                </a:solidFill>
                <a:latin typeface="+mn-lt"/>
                <a:ea typeface="Century Schoolbook"/>
                <a:cs typeface="Century Schoolbook"/>
                <a:sym typeface="Century Schoolbook"/>
              </a:rPr>
              <a:t>to the </a:t>
            </a:r>
            <a:r>
              <a:rPr lang="en-US" sz="2400" dirty="0" err="1">
                <a:solidFill>
                  <a:schemeClr val="dk1"/>
                </a:solidFill>
                <a:latin typeface="+mn-lt"/>
                <a:ea typeface="Century Schoolbook"/>
                <a:cs typeface="Century Schoolbook"/>
                <a:sym typeface="Century Schoolbook"/>
              </a:rPr>
              <a:t>ith</a:t>
            </a:r>
            <a:r>
              <a:rPr lang="en-US" sz="2400" dirty="0">
                <a:solidFill>
                  <a:schemeClr val="dk1"/>
                </a:solidFill>
                <a:latin typeface="+mn-lt"/>
                <a:ea typeface="Century Schoolbook"/>
                <a:cs typeface="Century Schoolbook"/>
                <a:sym typeface="Century Schoolbook"/>
              </a:rPr>
              <a:t> parameter (</a:t>
            </a:r>
            <a:r>
              <a:rPr lang="en-US" sz="2400" dirty="0" err="1">
                <a:solidFill>
                  <a:schemeClr val="dk1"/>
                </a:solidFill>
                <a:latin typeface="+mn-lt"/>
                <a:ea typeface="Century Schoolbook"/>
                <a:cs typeface="Century Schoolbook"/>
                <a:sym typeface="Century Schoolbook"/>
              </a:rPr>
              <a:t>θi</a:t>
            </a:r>
            <a:r>
              <a:rPr lang="en-US" sz="2400" dirty="0">
                <a:solidFill>
                  <a:schemeClr val="dk1"/>
                </a:solidFill>
                <a:latin typeface="+mn-lt"/>
                <a:ea typeface="Century Schoolbook"/>
                <a:cs typeface="Century Schoolbook"/>
                <a:sym typeface="Century Schoolbook"/>
              </a:rPr>
              <a:t> + ε).</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f(θ </a:t>
            </a:r>
            <a:r>
              <a:rPr lang="en-US" sz="2400" dirty="0">
                <a:solidFill>
                  <a:schemeClr val="dk1"/>
                </a:solidFill>
                <a:latin typeface="+mn-lt"/>
                <a:ea typeface="Century Schoolbook"/>
                <a:cs typeface="Century Schoolbook"/>
                <a:sym typeface="Century Schoolbook"/>
              </a:rPr>
              <a:t>- ε * </a:t>
            </a:r>
            <a:r>
              <a:rPr lang="en-US" sz="2400" dirty="0" err="1">
                <a:solidFill>
                  <a:schemeClr val="dk1"/>
                </a:solidFill>
                <a:latin typeface="+mn-lt"/>
                <a:ea typeface="Century Schoolbook"/>
                <a:cs typeface="Century Schoolbook"/>
                <a:sym typeface="Century Schoolbook"/>
              </a:rPr>
              <a:t>ei</a:t>
            </a:r>
            <a:r>
              <a:rPr lang="en-US" sz="2400" dirty="0">
                <a:solidFill>
                  <a:schemeClr val="dk1"/>
                </a:solidFill>
                <a:latin typeface="+mn-lt"/>
                <a:ea typeface="Century Schoolbook"/>
                <a:cs typeface="Century Schoolbook"/>
                <a:sym typeface="Century Schoolbook"/>
              </a:rPr>
              <a:t>): The function evaluated at θ with a small perturbation ε </a:t>
            </a:r>
            <a:r>
              <a:rPr lang="en-US" sz="2400" dirty="0" smtClean="0">
                <a:solidFill>
                  <a:schemeClr val="dk1"/>
                </a:solidFill>
                <a:latin typeface="+mn-lt"/>
                <a:ea typeface="Century Schoolbook"/>
                <a:cs typeface="Century Schoolbook"/>
                <a:sym typeface="Century Schoolbook"/>
              </a:rPr>
              <a:t>			subtracted </a:t>
            </a:r>
            <a:r>
              <a:rPr lang="en-US" sz="2400" dirty="0">
                <a:solidFill>
                  <a:schemeClr val="dk1"/>
                </a:solidFill>
                <a:latin typeface="+mn-lt"/>
                <a:ea typeface="Century Schoolbook"/>
                <a:cs typeface="Century Schoolbook"/>
                <a:sym typeface="Century Schoolbook"/>
              </a:rPr>
              <a:t>from the </a:t>
            </a:r>
            <a:r>
              <a:rPr lang="en-US" sz="2400" dirty="0" err="1">
                <a:solidFill>
                  <a:schemeClr val="dk1"/>
                </a:solidFill>
                <a:latin typeface="+mn-lt"/>
                <a:ea typeface="Century Schoolbook"/>
                <a:cs typeface="Century Schoolbook"/>
                <a:sym typeface="Century Schoolbook"/>
              </a:rPr>
              <a:t>ith</a:t>
            </a:r>
            <a:r>
              <a:rPr lang="en-US" sz="2400" dirty="0">
                <a:solidFill>
                  <a:schemeClr val="dk1"/>
                </a:solidFill>
                <a:latin typeface="+mn-lt"/>
                <a:ea typeface="Century Schoolbook"/>
                <a:cs typeface="Century Schoolbook"/>
                <a:sym typeface="Century Schoolbook"/>
              </a:rPr>
              <a:t> parameter (</a:t>
            </a:r>
            <a:r>
              <a:rPr lang="en-US" sz="2400" dirty="0" err="1">
                <a:solidFill>
                  <a:schemeClr val="dk1"/>
                </a:solidFill>
                <a:latin typeface="+mn-lt"/>
                <a:ea typeface="Century Schoolbook"/>
                <a:cs typeface="Century Schoolbook"/>
                <a:sym typeface="Century Schoolbook"/>
              </a:rPr>
              <a:t>θi</a:t>
            </a:r>
            <a:r>
              <a:rPr lang="en-US" sz="2400" dirty="0">
                <a:solidFill>
                  <a:schemeClr val="dk1"/>
                </a:solidFill>
                <a:latin typeface="+mn-lt"/>
                <a:ea typeface="Century Schoolbook"/>
                <a:cs typeface="Century Schoolbook"/>
                <a:sym typeface="Century Schoolbook"/>
              </a:rPr>
              <a:t> - ε).</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ε </a:t>
            </a:r>
            <a:r>
              <a:rPr lang="en-US" sz="2400" dirty="0">
                <a:solidFill>
                  <a:schemeClr val="dk1"/>
                </a:solidFill>
                <a:latin typeface="+mn-lt"/>
                <a:ea typeface="Century Schoolbook"/>
                <a:cs typeface="Century Schoolbook"/>
                <a:sym typeface="Century Schoolbook"/>
              </a:rPr>
              <a:t>(epsilon): A small value used to perturb the parameter slightly.</a:t>
            </a:r>
          </a:p>
          <a:p>
            <a:pPr marL="12700" marR="5080" lvl="0">
              <a:lnSpc>
                <a:spcPct val="100699"/>
              </a:lnSpc>
              <a:buSzPts val="3200"/>
            </a:pPr>
            <a:r>
              <a:rPr lang="en-US" sz="2400" dirty="0" smtClean="0">
                <a:solidFill>
                  <a:schemeClr val="dk1"/>
                </a:solidFill>
                <a:latin typeface="+mn-lt"/>
                <a:ea typeface="Century Schoolbook"/>
                <a:cs typeface="Century Schoolbook"/>
                <a:sym typeface="Century Schoolbook"/>
              </a:rPr>
              <a:t>		</a:t>
            </a:r>
            <a:r>
              <a:rPr lang="en-US" sz="2400" dirty="0" err="1" smtClean="0">
                <a:solidFill>
                  <a:schemeClr val="dk1"/>
                </a:solidFill>
                <a:latin typeface="+mn-lt"/>
                <a:ea typeface="Century Schoolbook"/>
                <a:cs typeface="Century Schoolbook"/>
                <a:sym typeface="Century Schoolbook"/>
              </a:rPr>
              <a:t>ei</a:t>
            </a:r>
            <a:r>
              <a:rPr lang="en-US" sz="2400" dirty="0">
                <a:solidFill>
                  <a:schemeClr val="dk1"/>
                </a:solidFill>
                <a:latin typeface="+mn-lt"/>
                <a:ea typeface="Century Schoolbook"/>
                <a:cs typeface="Century Schoolbook"/>
                <a:sym typeface="Century Schoolbook"/>
              </a:rPr>
              <a:t>: A unit vector in the direction of the </a:t>
            </a:r>
            <a:r>
              <a:rPr lang="en-US" sz="2400" dirty="0" err="1">
                <a:solidFill>
                  <a:schemeClr val="dk1"/>
                </a:solidFill>
                <a:latin typeface="+mn-lt"/>
                <a:ea typeface="Century Schoolbook"/>
                <a:cs typeface="Century Schoolbook"/>
                <a:sym typeface="Century Schoolbook"/>
              </a:rPr>
              <a:t>ith</a:t>
            </a:r>
            <a:r>
              <a:rPr lang="en-US" sz="2400" dirty="0">
                <a:solidFill>
                  <a:schemeClr val="dk1"/>
                </a:solidFill>
                <a:latin typeface="+mn-lt"/>
                <a:ea typeface="Century Schoolbook"/>
                <a:cs typeface="Century Schoolbook"/>
                <a:sym typeface="Century Schoolbook"/>
              </a:rPr>
              <a:t> parameter (all zeros except 	</a:t>
            </a:r>
            <a:r>
              <a:rPr lang="en-US" sz="2400" dirty="0" smtClean="0">
                <a:solidFill>
                  <a:schemeClr val="dk1"/>
                </a:solidFill>
                <a:latin typeface="+mn-lt"/>
                <a:ea typeface="Century Schoolbook"/>
                <a:cs typeface="Century Schoolbook"/>
                <a:sym typeface="Century Schoolbook"/>
              </a:rPr>
              <a:t>	at </a:t>
            </a:r>
            <a:r>
              <a:rPr lang="en-US" sz="2400" dirty="0">
                <a:solidFill>
                  <a:schemeClr val="dk1"/>
                </a:solidFill>
                <a:latin typeface="+mn-lt"/>
                <a:ea typeface="Century Schoolbook"/>
                <a:cs typeface="Century Schoolbook"/>
                <a:sym typeface="Century Schoolbook"/>
              </a:rPr>
              <a:t>position </a:t>
            </a:r>
            <a:r>
              <a:rPr lang="en-US" sz="2400" dirty="0" err="1">
                <a:solidFill>
                  <a:schemeClr val="dk1"/>
                </a:solidFill>
                <a:latin typeface="+mn-lt"/>
                <a:ea typeface="Century Schoolbook"/>
                <a:cs typeface="Century Schoolbook"/>
                <a:sym typeface="Century Schoolbook"/>
              </a:rPr>
              <a:t>i</a:t>
            </a:r>
            <a:r>
              <a:rPr lang="en-US" sz="2400" dirty="0">
                <a:solidFill>
                  <a:schemeClr val="dk1"/>
                </a:solidFill>
                <a:latin typeface="+mn-lt"/>
                <a:ea typeface="Century Schoolbook"/>
                <a:cs typeface="Century Schoolbook"/>
                <a:sym typeface="Century Schoolbook"/>
              </a:rPr>
              <a:t>).</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64</a:t>
            </a:fld>
            <a:endParaRPr dirty="0"/>
          </a:p>
        </p:txBody>
      </p:sp>
    </p:spTree>
    <p:extLst>
      <p:ext uri="{BB962C8B-B14F-4D97-AF65-F5344CB8AC3E}">
        <p14:creationId xmlns:p14="http://schemas.microsoft.com/office/powerpoint/2010/main" val="2614415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ea typeface="Century Schoolbook"/>
                <a:cs typeface="Century Schoolbook"/>
                <a:sym typeface="Century Schoolbook"/>
              </a:rPr>
              <a:t>Numerical approximation  of gradients</a:t>
            </a:r>
          </a:p>
        </p:txBody>
      </p:sp>
      <p:sp>
        <p:nvSpPr>
          <p:cNvPr id="245" name="Google Shape;245;p23"/>
          <p:cNvSpPr txBox="1"/>
          <p:nvPr/>
        </p:nvSpPr>
        <p:spPr>
          <a:xfrm>
            <a:off x="553915" y="1350425"/>
            <a:ext cx="11315700" cy="3366419"/>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The numerical gradient is obtained by calculating the difference between the function evaluations at the perturbed parameter values, divided by 2ε. This finite difference approximation provides an estimate of how the function changes concerning changes in the </a:t>
            </a:r>
            <a:r>
              <a:rPr lang="en-US" sz="2400" dirty="0" err="1">
                <a:solidFill>
                  <a:schemeClr val="dk1"/>
                </a:solidFill>
                <a:latin typeface="+mn-lt"/>
                <a:ea typeface="Century Schoolbook"/>
                <a:cs typeface="Century Schoolbook"/>
                <a:sym typeface="Century Schoolbook"/>
              </a:rPr>
              <a:t>ith</a:t>
            </a:r>
            <a:r>
              <a:rPr lang="en-US" sz="2400" dirty="0">
                <a:solidFill>
                  <a:schemeClr val="dk1"/>
                </a:solidFill>
                <a:latin typeface="+mn-lt"/>
                <a:ea typeface="Century Schoolbook"/>
                <a:cs typeface="Century Schoolbook"/>
                <a:sym typeface="Century Schoolbook"/>
              </a:rPr>
              <a:t> parameter</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When performing numerical gradient approximation, it is crucial to choose an appropriate value for ε. A value that is too large might lead to inaccurate approximations, while a value that is too small may introduce numerical instability due to finite precision errors. Common choices for ε are in the range of 1e-4 to 1e-8, depending on the scale and nature of the problem.</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65</a:t>
            </a:fld>
            <a:endParaRPr dirty="0"/>
          </a:p>
        </p:txBody>
      </p:sp>
    </p:spTree>
    <p:extLst>
      <p:ext uri="{BB962C8B-B14F-4D97-AF65-F5344CB8AC3E}">
        <p14:creationId xmlns:p14="http://schemas.microsoft.com/office/powerpoint/2010/main" val="17608997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ea typeface="Century Schoolbook"/>
                <a:cs typeface="Century Schoolbook"/>
                <a:sym typeface="Century Schoolbook"/>
              </a:rPr>
              <a:t>Numerical approximation  of gradients</a:t>
            </a:r>
          </a:p>
        </p:txBody>
      </p:sp>
      <p:sp>
        <p:nvSpPr>
          <p:cNvPr id="245" name="Google Shape;245;p23"/>
          <p:cNvSpPr txBox="1"/>
          <p:nvPr/>
        </p:nvSpPr>
        <p:spPr>
          <a:xfrm>
            <a:off x="553915" y="1350425"/>
            <a:ext cx="11315700" cy="2993368"/>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Numerical approximation of gradients is a useful tool for verifying the correctness of gradient calculations in complex functions and models. </a:t>
            </a:r>
            <a:endParaRPr lang="en-US" sz="2400" dirty="0" smtClean="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However</a:t>
            </a:r>
            <a:r>
              <a:rPr lang="en-US" sz="2400" dirty="0">
                <a:solidFill>
                  <a:schemeClr val="dk1"/>
                </a:solidFill>
                <a:latin typeface="+mn-lt"/>
                <a:ea typeface="Century Schoolbook"/>
                <a:cs typeface="Century Schoolbook"/>
                <a:sym typeface="Century Schoolbook"/>
              </a:rPr>
              <a:t>, it can be computationally expensive, especially for high-dimensional models, so it is typically used for debugging and validation purposes rather than in regular training iterations. </a:t>
            </a:r>
            <a:endParaRPr lang="en-US" sz="2400" dirty="0" smtClean="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Once </a:t>
            </a:r>
            <a:r>
              <a:rPr lang="en-US" sz="2400" dirty="0">
                <a:solidFill>
                  <a:schemeClr val="dk1"/>
                </a:solidFill>
                <a:latin typeface="+mn-lt"/>
                <a:ea typeface="Century Schoolbook"/>
                <a:cs typeface="Century Schoolbook"/>
                <a:sym typeface="Century Schoolbook"/>
              </a:rPr>
              <a:t>the correctness of gradient computations is confirmed, analytical gradients (e.g., obtained through backpropagation) are generally used for efficient parameter updates during the training process.</a:t>
            </a: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66</a:t>
            </a:fld>
            <a:endParaRPr dirty="0"/>
          </a:p>
        </p:txBody>
      </p:sp>
    </p:spTree>
    <p:extLst>
      <p:ext uri="{BB962C8B-B14F-4D97-AF65-F5344CB8AC3E}">
        <p14:creationId xmlns:p14="http://schemas.microsoft.com/office/powerpoint/2010/main" val="2272055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Shape 382"/>
        <p:cNvGrpSpPr/>
        <p:nvPr/>
      </p:nvGrpSpPr>
      <p:grpSpPr>
        <a:xfrm>
          <a:off x="0" y="0"/>
          <a:ext cx="0" cy="0"/>
          <a:chOff x="0" y="0"/>
          <a:chExt cx="0" cy="0"/>
        </a:xfrm>
      </p:grpSpPr>
      <p:sp>
        <p:nvSpPr>
          <p:cNvPr id="383" name="Google Shape;383;p36"/>
          <p:cNvSpPr txBox="1"/>
          <p:nvPr/>
        </p:nvSpPr>
        <p:spPr>
          <a:xfrm>
            <a:off x="5345709" y="3704166"/>
            <a:ext cx="6248400" cy="9363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6600"/>
              <a:buFont typeface="Arial"/>
              <a:buNone/>
            </a:pPr>
            <a:r>
              <a:rPr lang="en-US" sz="6000" b="0" i="0" u="none" strike="noStrike" cap="none">
                <a:solidFill>
                  <a:schemeClr val="dk1"/>
                </a:solidFill>
                <a:latin typeface="Calibri"/>
                <a:ea typeface="Calibri"/>
                <a:cs typeface="Calibri"/>
                <a:sym typeface="Calibri"/>
              </a:rPr>
              <a:t>Gradient Checking</a:t>
            </a:r>
            <a:endParaRPr sz="6000" b="0" i="0" u="none" strike="noStrike" cap="none">
              <a:solidFill>
                <a:schemeClr val="dk1"/>
              </a:solidFill>
              <a:latin typeface="Calibri"/>
              <a:ea typeface="Calibri"/>
              <a:cs typeface="Calibri"/>
              <a:sym typeface="Calibri"/>
            </a:endParaRPr>
          </a:p>
        </p:txBody>
      </p:sp>
      <p:sp>
        <p:nvSpPr>
          <p:cNvPr id="384" name="Google Shape;384;p36"/>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5" name="Google Shape;385;p36"/>
          <p:cNvSpPr txBox="1">
            <a:spLocks noGrp="1"/>
          </p:cNvSpPr>
          <p:nvPr>
            <p:ph type="body" idx="1"/>
          </p:nvPr>
        </p:nvSpPr>
        <p:spPr>
          <a:xfrm>
            <a:off x="530100" y="970400"/>
            <a:ext cx="117723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a:t>Setting up your  optimization problem</a:t>
            </a:r>
            <a:endParaRPr/>
          </a:p>
        </p:txBody>
      </p:sp>
      <p:pic>
        <p:nvPicPr>
          <p:cNvPr id="386" name="Google Shape;386;p36"/>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387" name="Google Shape;387;p36"/>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67</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a:solidFill>
                  <a:schemeClr val="dk1"/>
                </a:solidFill>
                <a:latin typeface="+mj-lt"/>
                <a:ea typeface="Century Schoolbook"/>
                <a:cs typeface="Century Schoolbook"/>
                <a:sym typeface="Century Schoolbook"/>
              </a:rPr>
              <a:t>Gradient check for a neuron network</a:t>
            </a:r>
          </a:p>
        </p:txBody>
      </p:sp>
      <p:sp>
        <p:nvSpPr>
          <p:cNvPr id="245" name="Google Shape;245;p23"/>
          <p:cNvSpPr txBox="1"/>
          <p:nvPr/>
        </p:nvSpPr>
        <p:spPr>
          <a:xfrm>
            <a:off x="553915" y="1350425"/>
            <a:ext cx="11315700" cy="4547512"/>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Gradient checking is a technique used to verify the correctness of the implementation of backpropagation in neural networks</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Gradient checking steps</a:t>
            </a:r>
            <a:r>
              <a:rPr lang="en-US" sz="2400" dirty="0" smtClean="0">
                <a:solidFill>
                  <a:schemeClr val="dk1"/>
                </a:solidFill>
                <a:latin typeface="+mn-lt"/>
                <a:ea typeface="Century Schoolbook"/>
                <a:cs typeface="Century Schoolbook"/>
                <a:sym typeface="Century Schoolbook"/>
              </a:rPr>
              <a:t>:</a:t>
            </a:r>
            <a:endParaRPr lang="en-US" sz="2400" dirty="0">
              <a:solidFill>
                <a:schemeClr val="dk1"/>
              </a:solidFill>
              <a:latin typeface="+mn-lt"/>
              <a:ea typeface="Century Schoolbook"/>
              <a:cs typeface="Century Schoolbook"/>
              <a:sym typeface="Century Schoolbook"/>
            </a:endParaRP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Flatten all parameters into a vector "theta."</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Define cost function J(theta).</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Compute numerical gradients using finite differences.</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Use backpropagation to compute analytical gradients.</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Compare numerical and analytical gradients.</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Calculate the difference using a suitable metric.</a:t>
            </a:r>
          </a:p>
          <a:p>
            <a:pPr marL="469900" marR="5080" lvl="2" indent="-457200">
              <a:lnSpc>
                <a:spcPct val="100699"/>
              </a:lnSpc>
              <a:buSzPct val="100000"/>
              <a:buFont typeface="+mj-lt"/>
              <a:buAutoNum type="arabicPeriod"/>
            </a:pPr>
            <a:r>
              <a:rPr lang="en-US" sz="2000" dirty="0">
                <a:solidFill>
                  <a:schemeClr val="dk1"/>
                </a:solidFill>
                <a:latin typeface="+mn-lt"/>
                <a:ea typeface="Century Schoolbook"/>
                <a:cs typeface="Century Schoolbook"/>
                <a:sym typeface="Century Schoolbook"/>
              </a:rPr>
              <a:t>Check if the difference is below a predefined threshold to validate the backpropagation implementation</a:t>
            </a:r>
            <a:r>
              <a:rPr lang="en-US" sz="2000" dirty="0" smtClean="0">
                <a:solidFill>
                  <a:schemeClr val="dk1"/>
                </a:solidFill>
                <a:latin typeface="+mn-lt"/>
                <a:ea typeface="Century Schoolbook"/>
                <a:cs typeface="Century Schoolbook"/>
                <a:sym typeface="Century Schoolbook"/>
              </a:rPr>
              <a:t>.</a:t>
            </a:r>
          </a:p>
          <a:p>
            <a:pPr marL="355600" marR="5080" lvl="2" indent="-342900">
              <a:lnSpc>
                <a:spcPct val="100699"/>
              </a:lnSpc>
              <a:buSzPct val="100000"/>
              <a:buFont typeface="Arial" panose="020B0604020202020204" pitchFamily="34" charset="0"/>
              <a:buChar char="•"/>
            </a:pPr>
            <a:r>
              <a:rPr lang="en-US" sz="2000" dirty="0">
                <a:solidFill>
                  <a:schemeClr val="dk1"/>
                </a:solidFill>
                <a:ea typeface="Century Schoolbook"/>
                <a:cs typeface="Century Schoolbook"/>
                <a:sym typeface="Century Schoolbook"/>
              </a:rPr>
              <a:t>Gradient checking validates and corrects errors in gradient computation, ensuring accurate learning and improved model performance during training with optimization algorithms like gradient descent</a:t>
            </a:r>
            <a:r>
              <a:rPr lang="en-US" sz="2000" dirty="0" smtClean="0">
                <a:solidFill>
                  <a:schemeClr val="dk1"/>
                </a:solidFill>
                <a:ea typeface="Century Schoolbook"/>
                <a:cs typeface="Century Schoolbook"/>
                <a:sym typeface="Century Schoolbook"/>
              </a:rPr>
              <a:t>.</a:t>
            </a:r>
            <a:endParaRPr lang="en-US" sz="2000" dirty="0">
              <a:solidFill>
                <a:schemeClr val="dk1"/>
              </a:solidFill>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68</a:t>
            </a:fld>
            <a:endParaRPr dirty="0"/>
          </a:p>
        </p:txBody>
      </p:sp>
    </p:spTree>
    <p:extLst>
      <p:ext uri="{BB962C8B-B14F-4D97-AF65-F5344CB8AC3E}">
        <p14:creationId xmlns:p14="http://schemas.microsoft.com/office/powerpoint/2010/main" val="4378441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Shape 243"/>
        <p:cNvGrpSpPr/>
        <p:nvPr/>
      </p:nvGrpSpPr>
      <p:grpSpPr>
        <a:xfrm>
          <a:off x="0" y="0"/>
          <a:ext cx="0" cy="0"/>
          <a:chOff x="0" y="0"/>
          <a:chExt cx="0" cy="0"/>
        </a:xfrm>
      </p:grpSpPr>
      <p:sp>
        <p:nvSpPr>
          <p:cNvPr id="244" name="Google Shape;244;p23"/>
          <p:cNvSpPr txBox="1"/>
          <p:nvPr/>
        </p:nvSpPr>
        <p:spPr>
          <a:xfrm>
            <a:off x="261619" y="139696"/>
            <a:ext cx="10472853" cy="689932"/>
          </a:xfrm>
          <a:prstGeom prst="rect">
            <a:avLst/>
          </a:prstGeom>
          <a:noFill/>
          <a:ln>
            <a:noFill/>
          </a:ln>
        </p:spPr>
        <p:txBody>
          <a:bodyPr spcFirstLastPara="1" wrap="square" lIns="0" tIns="12700" rIns="0" bIns="0" anchor="t" anchorCtr="0">
            <a:spAutoFit/>
          </a:bodyPr>
          <a:lstStyle/>
          <a:p>
            <a:pPr marL="12700" lvl="0">
              <a:buSzPts val="4400"/>
            </a:pPr>
            <a:r>
              <a:rPr lang="en-US" sz="4400" dirty="0" smtClean="0">
                <a:solidFill>
                  <a:schemeClr val="dk1"/>
                </a:solidFill>
                <a:latin typeface="+mj-lt"/>
                <a:ea typeface="Century Schoolbook"/>
                <a:cs typeface="Century Schoolbook"/>
                <a:sym typeface="Century Schoolbook"/>
              </a:rPr>
              <a:t>Implement Gradient check</a:t>
            </a:r>
            <a:endParaRPr lang="en-US" sz="4400" dirty="0">
              <a:solidFill>
                <a:schemeClr val="dk1"/>
              </a:solidFill>
              <a:latin typeface="+mj-lt"/>
              <a:ea typeface="Century Schoolbook"/>
              <a:cs typeface="Century Schoolbook"/>
              <a:sym typeface="Century Schoolbook"/>
            </a:endParaRPr>
          </a:p>
        </p:txBody>
      </p:sp>
      <p:sp>
        <p:nvSpPr>
          <p:cNvPr id="245" name="Google Shape;245;p23"/>
          <p:cNvSpPr txBox="1"/>
          <p:nvPr/>
        </p:nvSpPr>
        <p:spPr>
          <a:xfrm>
            <a:off x="553915" y="1350425"/>
            <a:ext cx="11315700" cy="2247267"/>
          </a:xfrm>
          <a:prstGeom prst="rect">
            <a:avLst/>
          </a:prstGeom>
          <a:noFill/>
          <a:ln>
            <a:noFill/>
          </a:ln>
        </p:spPr>
        <p:txBody>
          <a:bodyPr spcFirstLastPara="1" wrap="square" lIns="0" tIns="8875" rIns="0" bIns="0" anchor="t" anchorCtr="0">
            <a:spAutoFit/>
          </a:bodyPr>
          <a:lstStyle/>
          <a:p>
            <a:pPr marL="355600" marR="5080" lvl="0" indent="-342900">
              <a:lnSpc>
                <a:spcPct val="100699"/>
              </a:lnSpc>
              <a:buSzPts val="3200"/>
              <a:buFont typeface="Arial" panose="020B0604020202020204" pitchFamily="34" charset="0"/>
              <a:buChar char="•"/>
            </a:pPr>
            <a:r>
              <a:rPr lang="en-US" sz="2400" dirty="0">
                <a:solidFill>
                  <a:schemeClr val="dk1"/>
                </a:solidFill>
                <a:latin typeface="+mn-lt"/>
                <a:ea typeface="Century Schoolbook"/>
                <a:cs typeface="Century Schoolbook"/>
                <a:sym typeface="Century Schoolbook"/>
              </a:rPr>
              <a:t>Setting epsilon to </a:t>
            </a:r>
            <a:r>
              <a:rPr lang="en-US" sz="2400" dirty="0">
                <a:solidFill>
                  <a:schemeClr val="dk1"/>
                </a:solidFill>
                <a:ea typeface="Century Schoolbook"/>
                <a:cs typeface="Century Schoolbook"/>
                <a:sym typeface="Century Schoolbook"/>
              </a:rPr>
              <a:t>10</a:t>
            </a:r>
            <a:r>
              <a:rPr lang="en-US" sz="2400" baseline="30000" dirty="0">
                <a:solidFill>
                  <a:schemeClr val="dk1"/>
                </a:solidFill>
                <a:ea typeface="Century Schoolbook"/>
                <a:cs typeface="Century Schoolbook"/>
                <a:sym typeface="Century Schoolbook"/>
              </a:rPr>
              <a:t>-7</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in gradient checking ensures the correctness of the derivative approximation. Values much smaller than </a:t>
            </a:r>
            <a:r>
              <a:rPr lang="en-US" sz="2400" dirty="0">
                <a:solidFill>
                  <a:schemeClr val="dk1"/>
                </a:solidFill>
                <a:ea typeface="Century Schoolbook"/>
                <a:cs typeface="Century Schoolbook"/>
                <a:sym typeface="Century Schoolbook"/>
              </a:rPr>
              <a:t>10</a:t>
            </a:r>
            <a:r>
              <a:rPr lang="en-US" sz="2400" baseline="30000" dirty="0">
                <a:solidFill>
                  <a:schemeClr val="dk1"/>
                </a:solidFill>
                <a:ea typeface="Century Schoolbook"/>
                <a:cs typeface="Century Schoolbook"/>
                <a:sym typeface="Century Schoolbook"/>
              </a:rPr>
              <a:t>-7</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indicate accuracy, while those in the range of </a:t>
            </a:r>
            <a:r>
              <a:rPr lang="en-US" sz="2400" dirty="0" smtClean="0">
                <a:solidFill>
                  <a:schemeClr val="dk1"/>
                </a:solidFill>
                <a:ea typeface="Century Schoolbook"/>
                <a:cs typeface="Century Schoolbook"/>
                <a:sym typeface="Century Schoolbook"/>
              </a:rPr>
              <a:t>10</a:t>
            </a:r>
            <a:r>
              <a:rPr lang="en-US" sz="2400" baseline="30000" dirty="0" smtClean="0">
                <a:solidFill>
                  <a:schemeClr val="dk1"/>
                </a:solidFill>
                <a:ea typeface="Century Schoolbook"/>
                <a:cs typeface="Century Schoolbook"/>
                <a:sym typeface="Century Schoolbook"/>
              </a:rPr>
              <a:t>-5</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may need careful inspection. If values are significantly larger than </a:t>
            </a:r>
            <a:r>
              <a:rPr lang="en-US" sz="2400" dirty="0" smtClean="0">
                <a:solidFill>
                  <a:schemeClr val="dk1"/>
                </a:solidFill>
                <a:ea typeface="Century Schoolbook"/>
                <a:cs typeface="Century Schoolbook"/>
                <a:sym typeface="Century Schoolbook"/>
              </a:rPr>
              <a:t>10</a:t>
            </a:r>
            <a:r>
              <a:rPr lang="en-US" sz="2400" baseline="30000" dirty="0" smtClean="0">
                <a:solidFill>
                  <a:schemeClr val="dk1"/>
                </a:solidFill>
                <a:ea typeface="Century Schoolbook"/>
                <a:cs typeface="Century Schoolbook"/>
                <a:sym typeface="Century Schoolbook"/>
              </a:rPr>
              <a:t>-3</a:t>
            </a:r>
            <a:r>
              <a:rPr lang="en-US" sz="2400" dirty="0" smtClean="0">
                <a:solidFill>
                  <a:schemeClr val="dk1"/>
                </a:solidFill>
                <a:latin typeface="+mn-lt"/>
                <a:ea typeface="Century Schoolbook"/>
                <a:cs typeface="Century Schoolbook"/>
                <a:sym typeface="Century Schoolbook"/>
              </a:rPr>
              <a:t>, </a:t>
            </a:r>
            <a:r>
              <a:rPr lang="en-US" sz="2400" dirty="0">
                <a:solidFill>
                  <a:schemeClr val="dk1"/>
                </a:solidFill>
                <a:latin typeface="+mn-lt"/>
                <a:ea typeface="Century Schoolbook"/>
                <a:cs typeface="Century Schoolbook"/>
                <a:sym typeface="Century Schoolbook"/>
              </a:rPr>
              <a:t>potential bugs may exist. </a:t>
            </a:r>
            <a:endParaRPr lang="en-US" sz="2400" dirty="0" smtClean="0">
              <a:solidFill>
                <a:schemeClr val="dk1"/>
              </a:solidFill>
              <a:latin typeface="+mn-lt"/>
              <a:ea typeface="Century Schoolbook"/>
              <a:cs typeface="Century Schoolbook"/>
              <a:sym typeface="Century Schoolbook"/>
            </a:endParaRPr>
          </a:p>
          <a:p>
            <a:pPr marL="355600" marR="5080" lvl="0" indent="-342900">
              <a:lnSpc>
                <a:spcPct val="100699"/>
              </a:lnSpc>
              <a:buSzPts val="3200"/>
              <a:buFont typeface="Arial" panose="020B0604020202020204" pitchFamily="34" charset="0"/>
              <a:buChar char="•"/>
            </a:pPr>
            <a:r>
              <a:rPr lang="en-US" sz="2400" dirty="0" smtClean="0">
                <a:solidFill>
                  <a:schemeClr val="dk1"/>
                </a:solidFill>
                <a:latin typeface="+mn-lt"/>
                <a:ea typeface="Century Schoolbook"/>
                <a:cs typeface="Century Schoolbook"/>
                <a:sym typeface="Century Schoolbook"/>
              </a:rPr>
              <a:t>Gradient </a:t>
            </a:r>
            <a:r>
              <a:rPr lang="en-US" sz="2400" dirty="0">
                <a:solidFill>
                  <a:schemeClr val="dk1"/>
                </a:solidFill>
                <a:latin typeface="+mn-lt"/>
                <a:ea typeface="Century Schoolbook"/>
                <a:cs typeface="Century Schoolbook"/>
                <a:sym typeface="Century Schoolbook"/>
              </a:rPr>
              <a:t>checking is a valuable tool for bug detection and boosting confidence in backpropagation implementations.</a:t>
            </a:r>
            <a:endParaRPr lang="en-US" sz="2400" dirty="0">
              <a:solidFill>
                <a:schemeClr val="dk1"/>
              </a:solidFill>
              <a:latin typeface="+mn-lt"/>
              <a:ea typeface="Century Schoolbook"/>
              <a:cs typeface="Century Schoolbook"/>
              <a:sym typeface="Century Schoolbook"/>
            </a:endParaRPr>
          </a:p>
        </p:txBody>
      </p:sp>
      <p:pic>
        <p:nvPicPr>
          <p:cNvPr id="248" name="Google Shape;248;p23"/>
          <p:cNvPicPr preferRelativeResize="0"/>
          <p:nvPr/>
        </p:nvPicPr>
        <p:blipFill rotWithShape="1">
          <a:blip r:embed="rId3">
            <a:alphaModFix/>
          </a:blip>
          <a:srcRect/>
          <a:stretch/>
        </p:blipFill>
        <p:spPr>
          <a:xfrm>
            <a:off x="10734473" y="0"/>
            <a:ext cx="1448025" cy="796414"/>
          </a:xfrm>
          <a:prstGeom prst="rect">
            <a:avLst/>
          </a:prstGeom>
          <a:noFill/>
          <a:ln>
            <a:noFill/>
          </a:ln>
        </p:spPr>
      </p:pic>
      <p:sp>
        <p:nvSpPr>
          <p:cNvPr id="249" name="Google Shape;249;p23"/>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69</a:t>
            </a:fld>
            <a:endParaRPr dirty="0"/>
          </a:p>
        </p:txBody>
      </p:sp>
    </p:spTree>
    <p:extLst>
      <p:ext uri="{BB962C8B-B14F-4D97-AF65-F5344CB8AC3E}">
        <p14:creationId xmlns:p14="http://schemas.microsoft.com/office/powerpoint/2010/main" val="33112291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Shape 399"/>
        <p:cNvGrpSpPr/>
        <p:nvPr/>
      </p:nvGrpSpPr>
      <p:grpSpPr>
        <a:xfrm>
          <a:off x="0" y="0"/>
          <a:ext cx="0" cy="0"/>
          <a:chOff x="0" y="0"/>
          <a:chExt cx="0" cy="0"/>
        </a:xfrm>
      </p:grpSpPr>
      <p:sp>
        <p:nvSpPr>
          <p:cNvPr id="400" name="Google Shape;400;p38"/>
          <p:cNvSpPr txBox="1">
            <a:spLocks noGrp="1"/>
          </p:cNvSpPr>
          <p:nvPr>
            <p:ph type="title"/>
          </p:nvPr>
        </p:nvSpPr>
        <p:spPr>
          <a:xfrm>
            <a:off x="261620" y="139696"/>
            <a:ext cx="82188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Gradient </a:t>
            </a:r>
            <a:r>
              <a:rPr lang="en-US" sz="4400" b="0" dirty="0" smtClean="0">
                <a:latin typeface="+mj-lt"/>
                <a:ea typeface="Century Schoolbook"/>
                <a:cs typeface="Century Schoolbook"/>
                <a:sym typeface="Century Schoolbook"/>
              </a:rPr>
              <a:t>checking</a:t>
            </a:r>
            <a:endParaRPr sz="4400" dirty="0">
              <a:latin typeface="+mj-lt"/>
              <a:ea typeface="Century Schoolbook"/>
              <a:cs typeface="Century Schoolbook"/>
              <a:sym typeface="Century Schoolbook"/>
            </a:endParaRPr>
          </a:p>
        </p:txBody>
      </p:sp>
      <p:pic>
        <p:nvPicPr>
          <p:cNvPr id="401" name="Google Shape;401;p38"/>
          <p:cNvPicPr preferRelativeResize="0"/>
          <p:nvPr/>
        </p:nvPicPr>
        <p:blipFill rotWithShape="1">
          <a:blip r:embed="rId3">
            <a:alphaModFix/>
          </a:blip>
          <a:srcRect/>
          <a:stretch/>
        </p:blipFill>
        <p:spPr>
          <a:xfrm>
            <a:off x="1006775" y="904650"/>
            <a:ext cx="9167988" cy="5858725"/>
          </a:xfrm>
          <a:prstGeom prst="rect">
            <a:avLst/>
          </a:prstGeom>
          <a:noFill/>
          <a:ln>
            <a:noFill/>
          </a:ln>
        </p:spPr>
      </p:pic>
      <p:pic>
        <p:nvPicPr>
          <p:cNvPr id="402" name="Google Shape;402;p38"/>
          <p:cNvPicPr preferRelativeResize="0"/>
          <p:nvPr/>
        </p:nvPicPr>
        <p:blipFill rotWithShape="1">
          <a:blip r:embed="rId4">
            <a:alphaModFix/>
          </a:blip>
          <a:srcRect/>
          <a:stretch/>
        </p:blipFill>
        <p:spPr>
          <a:xfrm>
            <a:off x="10734473" y="0"/>
            <a:ext cx="1448025" cy="796414"/>
          </a:xfrm>
          <a:prstGeom prst="rect">
            <a:avLst/>
          </a:prstGeom>
          <a:noFill/>
          <a:ln>
            <a:noFill/>
          </a:ln>
        </p:spPr>
      </p:pic>
      <p:sp>
        <p:nvSpPr>
          <p:cNvPr id="403" name="Google Shape;403;p38"/>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Shape 407"/>
        <p:cNvGrpSpPr/>
        <p:nvPr/>
      </p:nvGrpSpPr>
      <p:grpSpPr>
        <a:xfrm>
          <a:off x="0" y="0"/>
          <a:ext cx="0" cy="0"/>
          <a:chOff x="0" y="0"/>
          <a:chExt cx="0" cy="0"/>
        </a:xfrm>
      </p:grpSpPr>
      <p:sp>
        <p:nvSpPr>
          <p:cNvPr id="408" name="Google Shape;408;p39"/>
          <p:cNvSpPr txBox="1"/>
          <p:nvPr/>
        </p:nvSpPr>
        <p:spPr>
          <a:xfrm>
            <a:off x="5030723" y="3704167"/>
            <a:ext cx="6878320" cy="1674817"/>
          </a:xfrm>
          <a:prstGeom prst="rect">
            <a:avLst/>
          </a:prstGeom>
          <a:noFill/>
          <a:ln>
            <a:noFill/>
          </a:ln>
        </p:spPr>
        <p:txBody>
          <a:bodyPr spcFirstLastPara="1" wrap="square" lIns="0" tIns="12700" rIns="0" bIns="0" anchor="t" anchorCtr="0">
            <a:spAutoFit/>
          </a:bodyPr>
          <a:lstStyle/>
          <a:p>
            <a:pPr marL="12700" marR="5080" lvl="0" indent="596900" algn="ctr" rtl="0">
              <a:lnSpc>
                <a:spcPct val="100000"/>
              </a:lnSpc>
              <a:spcBef>
                <a:spcPts val="0"/>
              </a:spcBef>
              <a:spcAft>
                <a:spcPts val="0"/>
              </a:spcAft>
              <a:buClr>
                <a:srgbClr val="000000"/>
              </a:buClr>
              <a:buSzPts val="6000"/>
              <a:buFont typeface="Arial"/>
              <a:buNone/>
            </a:pPr>
            <a:r>
              <a:rPr lang="en-US" sz="5400" b="0" i="0" u="none" strike="noStrike" cap="none" dirty="0">
                <a:solidFill>
                  <a:schemeClr val="dk1"/>
                </a:solidFill>
                <a:latin typeface="Calibri"/>
                <a:ea typeface="Calibri"/>
                <a:cs typeface="Calibri"/>
                <a:sym typeface="Calibri"/>
              </a:rPr>
              <a:t>Gradient Checking  implementation notes</a:t>
            </a:r>
            <a:endParaRPr sz="5400" b="0" i="0" u="none" strike="noStrike" cap="none" dirty="0">
              <a:solidFill>
                <a:schemeClr val="dk1"/>
              </a:solidFill>
              <a:latin typeface="Calibri"/>
              <a:ea typeface="Calibri"/>
              <a:cs typeface="Calibri"/>
              <a:sym typeface="Calibri"/>
            </a:endParaRPr>
          </a:p>
        </p:txBody>
      </p:sp>
      <p:sp>
        <p:nvSpPr>
          <p:cNvPr id="409" name="Google Shape;409;p39"/>
          <p:cNvSpPr/>
          <p:nvPr/>
        </p:nvSpPr>
        <p:spPr>
          <a:xfrm>
            <a:off x="5015966"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0" name="Google Shape;410;p39"/>
          <p:cNvSpPr txBox="1">
            <a:spLocks noGrp="1"/>
          </p:cNvSpPr>
          <p:nvPr>
            <p:ph type="body" idx="1"/>
          </p:nvPr>
        </p:nvSpPr>
        <p:spPr>
          <a:xfrm>
            <a:off x="419725" y="1418175"/>
            <a:ext cx="11772300" cy="2040300"/>
          </a:xfrm>
          <a:prstGeom prst="rect">
            <a:avLst/>
          </a:prstGeom>
          <a:noFill/>
          <a:ln>
            <a:noFill/>
          </a:ln>
        </p:spPr>
        <p:txBody>
          <a:bodyPr spcFirstLastPara="1" wrap="square" lIns="0" tIns="110475" rIns="0" bIns="0" anchor="t" anchorCtr="0">
            <a:spAutoFit/>
          </a:bodyPr>
          <a:lstStyle/>
          <a:p>
            <a:pPr marL="4758690" marR="5080" lvl="0" indent="967739" algn="l" rtl="0">
              <a:lnSpc>
                <a:spcPct val="108833"/>
              </a:lnSpc>
              <a:spcBef>
                <a:spcPts val="0"/>
              </a:spcBef>
              <a:spcAft>
                <a:spcPts val="0"/>
              </a:spcAft>
              <a:buSzPts val="1400"/>
              <a:buNone/>
            </a:pPr>
            <a:r>
              <a:rPr lang="en-US" dirty="0"/>
              <a:t>Setting up your  optimization problem</a:t>
            </a:r>
            <a:endParaRPr dirty="0"/>
          </a:p>
        </p:txBody>
      </p:sp>
      <p:pic>
        <p:nvPicPr>
          <p:cNvPr id="411" name="Google Shape;411;p39"/>
          <p:cNvPicPr preferRelativeResize="0"/>
          <p:nvPr/>
        </p:nvPicPr>
        <p:blipFill rotWithShape="1">
          <a:blip r:embed="rId3">
            <a:alphaModFix/>
          </a:blip>
          <a:srcRect/>
          <a:stretch/>
        </p:blipFill>
        <p:spPr>
          <a:xfrm>
            <a:off x="417325" y="2395175"/>
            <a:ext cx="3871626" cy="2129399"/>
          </a:xfrm>
          <a:prstGeom prst="rect">
            <a:avLst/>
          </a:prstGeom>
          <a:noFill/>
          <a:ln>
            <a:noFill/>
          </a:ln>
        </p:spPr>
      </p:pic>
      <p:sp>
        <p:nvSpPr>
          <p:cNvPr id="412" name="Google Shape;412;p39"/>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Shape 416"/>
        <p:cNvGrpSpPr/>
        <p:nvPr/>
      </p:nvGrpSpPr>
      <p:grpSpPr>
        <a:xfrm>
          <a:off x="0" y="0"/>
          <a:ext cx="0" cy="0"/>
          <a:chOff x="0" y="0"/>
          <a:chExt cx="0" cy="0"/>
        </a:xfrm>
      </p:grpSpPr>
      <p:sp>
        <p:nvSpPr>
          <p:cNvPr id="417" name="Google Shape;417;p40"/>
          <p:cNvSpPr txBox="1">
            <a:spLocks noGrp="1"/>
          </p:cNvSpPr>
          <p:nvPr>
            <p:ph type="title"/>
          </p:nvPr>
        </p:nvSpPr>
        <p:spPr>
          <a:xfrm>
            <a:off x="261620" y="139696"/>
            <a:ext cx="10570800" cy="696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4400" b="0" dirty="0">
                <a:latin typeface="+mj-lt"/>
                <a:ea typeface="Century Schoolbook"/>
                <a:cs typeface="Century Schoolbook"/>
                <a:sym typeface="Century Schoolbook"/>
              </a:rPr>
              <a:t>Gradient checking implementation notes</a:t>
            </a:r>
            <a:endParaRPr sz="4400" dirty="0">
              <a:latin typeface="+mj-lt"/>
              <a:ea typeface="Century Schoolbook"/>
              <a:cs typeface="Century Schoolbook"/>
              <a:sym typeface="Century Schoolbook"/>
            </a:endParaRPr>
          </a:p>
        </p:txBody>
      </p:sp>
      <p:sp>
        <p:nvSpPr>
          <p:cNvPr id="418" name="Google Shape;418;p40"/>
          <p:cNvSpPr txBox="1"/>
          <p:nvPr/>
        </p:nvSpPr>
        <p:spPr>
          <a:xfrm>
            <a:off x="359427" y="1595966"/>
            <a:ext cx="11848465" cy="1859483"/>
          </a:xfrm>
          <a:prstGeom prst="rect">
            <a:avLst/>
          </a:prstGeom>
          <a:noFill/>
          <a:ln>
            <a:noFill/>
          </a:ln>
        </p:spPr>
        <p:txBody>
          <a:bodyPr spcFirstLastPara="1" wrap="square" lIns="0" tIns="12700" rIns="0" bIns="0" anchor="t" anchorCtr="0">
            <a:spAutoFit/>
          </a:bodyPr>
          <a:lstStyle/>
          <a:p>
            <a:pPr marL="229870" marR="0" lvl="0" indent="-217804" algn="l" rtl="0">
              <a:lnSpc>
                <a:spcPct val="100000"/>
              </a:lnSpc>
              <a:spcBef>
                <a:spcPts val="0"/>
              </a:spcBef>
              <a:spcAft>
                <a:spcPts val="0"/>
              </a:spcAft>
              <a:buClr>
                <a:schemeClr val="dk1"/>
              </a:buClr>
              <a:buSzPts val="2800"/>
              <a:buFont typeface="Century Schoolbook"/>
              <a:buChar char="-"/>
            </a:pPr>
            <a:r>
              <a:rPr lang="en-US" sz="2400" b="0" i="0" u="none" strike="noStrike" cap="none" dirty="0">
                <a:solidFill>
                  <a:schemeClr val="dk1"/>
                </a:solidFill>
                <a:latin typeface="+mj-lt"/>
                <a:ea typeface="Century Schoolbook"/>
                <a:cs typeface="Century Schoolbook"/>
                <a:sym typeface="Century Schoolbook"/>
              </a:rPr>
              <a:t>Don’t use in training – only to debug</a:t>
            </a:r>
            <a:endParaRPr sz="2400" b="0" i="0" u="none" strike="noStrike" cap="none" dirty="0">
              <a:solidFill>
                <a:schemeClr val="dk1"/>
              </a:solidFill>
              <a:latin typeface="+mj-lt"/>
              <a:ea typeface="Century Schoolbook"/>
              <a:cs typeface="Century Schoolbook"/>
              <a:sym typeface="Century Schoolbook"/>
            </a:endParaRPr>
          </a:p>
          <a:p>
            <a:pPr marL="230504" marR="0" lvl="0" indent="-218440" algn="l" rtl="0">
              <a:lnSpc>
                <a:spcPct val="100000"/>
              </a:lnSpc>
              <a:spcBef>
                <a:spcPts val="0"/>
              </a:spcBef>
              <a:spcAft>
                <a:spcPts val="0"/>
              </a:spcAft>
              <a:buClr>
                <a:schemeClr val="dk1"/>
              </a:buClr>
              <a:buSzPts val="2800"/>
              <a:buFont typeface="Century Schoolbook"/>
              <a:buChar char="-"/>
            </a:pPr>
            <a:r>
              <a:rPr lang="en-US" sz="2400" b="0" i="0" u="none" strike="noStrike" cap="none" dirty="0">
                <a:solidFill>
                  <a:schemeClr val="dk1"/>
                </a:solidFill>
                <a:latin typeface="+mj-lt"/>
                <a:ea typeface="Century Schoolbook"/>
                <a:cs typeface="Century Schoolbook"/>
                <a:sym typeface="Century Schoolbook"/>
              </a:rPr>
              <a:t>If algorithm fails grad check, look at components to try to identify bug.</a:t>
            </a:r>
            <a:endParaRPr sz="2400" b="0" i="0" u="none" strike="noStrike" cap="none" dirty="0">
              <a:solidFill>
                <a:schemeClr val="dk1"/>
              </a:solidFill>
              <a:latin typeface="+mj-lt"/>
              <a:ea typeface="Century Schoolbook"/>
              <a:cs typeface="Century Schoolbook"/>
              <a:sym typeface="Century Schoolbook"/>
            </a:endParaRPr>
          </a:p>
          <a:p>
            <a:pPr marL="230504" marR="0" lvl="0" indent="-218440" algn="l" rtl="0">
              <a:lnSpc>
                <a:spcPct val="100000"/>
              </a:lnSpc>
              <a:spcBef>
                <a:spcPts val="0"/>
              </a:spcBef>
              <a:spcAft>
                <a:spcPts val="0"/>
              </a:spcAft>
              <a:buClr>
                <a:schemeClr val="dk1"/>
              </a:buClr>
              <a:buSzPts val="2800"/>
              <a:buFont typeface="Century Schoolbook"/>
              <a:buChar char="-"/>
            </a:pPr>
            <a:r>
              <a:rPr lang="en-US" sz="2400" b="0" i="0" u="none" strike="noStrike" cap="none" dirty="0">
                <a:solidFill>
                  <a:schemeClr val="dk1"/>
                </a:solidFill>
                <a:latin typeface="+mj-lt"/>
                <a:ea typeface="Century Schoolbook"/>
                <a:cs typeface="Century Schoolbook"/>
                <a:sym typeface="Century Schoolbook"/>
              </a:rPr>
              <a:t>Remember regularization.</a:t>
            </a:r>
            <a:endParaRPr sz="2400" b="0" i="0" u="none" strike="noStrike" cap="none" dirty="0">
              <a:solidFill>
                <a:schemeClr val="dk1"/>
              </a:solidFill>
              <a:latin typeface="+mj-lt"/>
              <a:ea typeface="Century Schoolbook"/>
              <a:cs typeface="Century Schoolbook"/>
              <a:sym typeface="Century Schoolbook"/>
            </a:endParaRPr>
          </a:p>
          <a:p>
            <a:pPr marL="230504" marR="0" lvl="0" indent="-218440" algn="l" rtl="0">
              <a:lnSpc>
                <a:spcPct val="100000"/>
              </a:lnSpc>
              <a:spcBef>
                <a:spcPts val="0"/>
              </a:spcBef>
              <a:spcAft>
                <a:spcPts val="0"/>
              </a:spcAft>
              <a:buClr>
                <a:schemeClr val="dk1"/>
              </a:buClr>
              <a:buSzPts val="2800"/>
              <a:buFont typeface="Century Schoolbook"/>
              <a:buChar char="-"/>
            </a:pPr>
            <a:r>
              <a:rPr lang="en-US" sz="2400" b="0" i="0" u="none" strike="noStrike" cap="none" dirty="0">
                <a:solidFill>
                  <a:schemeClr val="dk1"/>
                </a:solidFill>
                <a:latin typeface="+mj-lt"/>
                <a:ea typeface="Century Schoolbook"/>
                <a:cs typeface="Century Schoolbook"/>
                <a:sym typeface="Century Schoolbook"/>
              </a:rPr>
              <a:t>Doesn’t work with dropout.</a:t>
            </a:r>
            <a:endParaRPr sz="2400" b="0" i="0" u="none" strike="noStrike" cap="none" dirty="0">
              <a:solidFill>
                <a:schemeClr val="dk1"/>
              </a:solidFill>
              <a:latin typeface="+mj-lt"/>
              <a:ea typeface="Century Schoolbook"/>
              <a:cs typeface="Century Schoolbook"/>
              <a:sym typeface="Century Schoolbook"/>
            </a:endParaRPr>
          </a:p>
          <a:p>
            <a:pPr marL="230504" marR="0" lvl="0" indent="-218440" algn="l" rtl="0">
              <a:lnSpc>
                <a:spcPct val="100000"/>
              </a:lnSpc>
              <a:spcBef>
                <a:spcPts val="0"/>
              </a:spcBef>
              <a:spcAft>
                <a:spcPts val="0"/>
              </a:spcAft>
              <a:buClr>
                <a:schemeClr val="dk1"/>
              </a:buClr>
              <a:buSzPts val="2800"/>
              <a:buFont typeface="Century Schoolbook"/>
              <a:buChar char="-"/>
            </a:pPr>
            <a:r>
              <a:rPr lang="en-US" sz="2400" b="0" i="0" u="none" strike="noStrike" cap="none" dirty="0">
                <a:solidFill>
                  <a:schemeClr val="dk1"/>
                </a:solidFill>
                <a:latin typeface="+mj-lt"/>
                <a:ea typeface="Century Schoolbook"/>
                <a:cs typeface="Century Schoolbook"/>
                <a:sym typeface="Century Schoolbook"/>
              </a:rPr>
              <a:t>Run at random initialization; perhaps again after some training.</a:t>
            </a:r>
            <a:endParaRPr sz="2400" b="0" i="0" u="none" strike="noStrike" cap="none" dirty="0">
              <a:solidFill>
                <a:schemeClr val="dk1"/>
              </a:solidFill>
              <a:latin typeface="+mj-lt"/>
              <a:ea typeface="Century Schoolbook"/>
              <a:cs typeface="Century Schoolbook"/>
              <a:sym typeface="Century Schoolbook"/>
            </a:endParaRPr>
          </a:p>
        </p:txBody>
      </p:sp>
      <p:pic>
        <p:nvPicPr>
          <p:cNvPr id="419" name="Google Shape;419;p40"/>
          <p:cNvPicPr preferRelativeResize="0"/>
          <p:nvPr/>
        </p:nvPicPr>
        <p:blipFill rotWithShape="1">
          <a:blip r:embed="rId3">
            <a:alphaModFix/>
          </a:blip>
          <a:srcRect/>
          <a:stretch/>
        </p:blipFill>
        <p:spPr>
          <a:xfrm>
            <a:off x="10917063" y="0"/>
            <a:ext cx="1265436" cy="696000"/>
          </a:xfrm>
          <a:prstGeom prst="rect">
            <a:avLst/>
          </a:prstGeom>
          <a:noFill/>
          <a:ln>
            <a:noFill/>
          </a:ln>
        </p:spPr>
      </p:pic>
      <p:sp>
        <p:nvSpPr>
          <p:cNvPr id="420" name="Google Shape;420;p4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72</a:t>
            </a:fld>
            <a:endParaRPr/>
          </a:p>
        </p:txBody>
      </p:sp>
    </p:spTree>
  </p:cSld>
  <p:clrMapOvr>
    <a:masterClrMapping/>
  </p:clrMapOvr>
  <p:extLst mod="1">
    <p:ext uri="{6950BFC3-D8DA-4A85-94F7-54DA5524770B}">
      <p188:commentRel xmlns="" xmlns:p188="http://schemas.microsoft.com/office/powerpoint/2018/8/main" r:id="rId4"/>
    </p:ext>
  </p:extLst>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Shape 416"/>
        <p:cNvGrpSpPr/>
        <p:nvPr/>
      </p:nvGrpSpPr>
      <p:grpSpPr>
        <a:xfrm>
          <a:off x="0" y="0"/>
          <a:ext cx="0" cy="0"/>
          <a:chOff x="0" y="0"/>
          <a:chExt cx="0" cy="0"/>
        </a:xfrm>
      </p:grpSpPr>
      <p:sp>
        <p:nvSpPr>
          <p:cNvPr id="417" name="Google Shape;417;p40"/>
          <p:cNvSpPr txBox="1">
            <a:spLocks noGrp="1"/>
          </p:cNvSpPr>
          <p:nvPr>
            <p:ph type="title"/>
          </p:nvPr>
        </p:nvSpPr>
        <p:spPr>
          <a:xfrm>
            <a:off x="261620" y="139696"/>
            <a:ext cx="10570800" cy="696000"/>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Century Schoolbook"/>
                <a:cs typeface="Century Schoolbook"/>
                <a:sym typeface="Century Schoolbook"/>
              </a:rPr>
              <a:t>Summarization</a:t>
            </a:r>
            <a:endParaRPr sz="4400" dirty="0">
              <a:latin typeface="+mj-lt"/>
              <a:ea typeface="Century Schoolbook"/>
              <a:cs typeface="Century Schoolbook"/>
              <a:sym typeface="Century Schoolbook"/>
            </a:endParaRPr>
          </a:p>
        </p:txBody>
      </p:sp>
      <p:sp>
        <p:nvSpPr>
          <p:cNvPr id="418" name="Google Shape;418;p40"/>
          <p:cNvSpPr txBox="1"/>
          <p:nvPr/>
        </p:nvSpPr>
        <p:spPr>
          <a:xfrm>
            <a:off x="343535" y="1194470"/>
            <a:ext cx="11848465" cy="5183470"/>
          </a:xfrm>
          <a:prstGeom prst="rect">
            <a:avLst/>
          </a:prstGeom>
          <a:noFill/>
          <a:ln>
            <a:noFill/>
          </a:ln>
        </p:spPr>
        <p:txBody>
          <a:bodyPr spcFirstLastPara="1" wrap="square" lIns="0" tIns="12700" rIns="0" bIns="0" anchor="t" anchorCtr="0">
            <a:spAutoFit/>
          </a:bodyPr>
          <a:lstStyle/>
          <a:p>
            <a:pPr marL="354966" lvl="0" indent="-342900">
              <a:buClr>
                <a:schemeClr val="dk1"/>
              </a:buClr>
              <a:buSzPts val="2800"/>
              <a:buFont typeface="Arial" panose="020B0604020202020204" pitchFamily="34" charset="0"/>
              <a:buChar char="•"/>
            </a:pPr>
            <a:r>
              <a:rPr lang="en-US" sz="2400" dirty="0">
                <a:solidFill>
                  <a:schemeClr val="dk1"/>
                </a:solidFill>
                <a:latin typeface="+mj-lt"/>
                <a:ea typeface="Century Schoolbook"/>
                <a:cs typeface="Century Schoolbook"/>
                <a:sym typeface="Century Schoolbook"/>
              </a:rPr>
              <a:t>Datasets are split into train (for training), dev (for tuning), and test (for evaluation</a:t>
            </a:r>
            <a:r>
              <a:rPr lang="en-US" sz="2400" dirty="0" smtClean="0">
                <a:solidFill>
                  <a:schemeClr val="dk1"/>
                </a:solidFill>
                <a:latin typeface="+mj-lt"/>
                <a:ea typeface="Century Schoolbook"/>
                <a:cs typeface="Century Schoolbook"/>
                <a:sym typeface="Century Schoolbook"/>
              </a:rPr>
              <a:t>).</a:t>
            </a: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Bias </a:t>
            </a:r>
            <a:r>
              <a:rPr lang="en-US" sz="2400" dirty="0">
                <a:solidFill>
                  <a:schemeClr val="dk1"/>
                </a:solidFill>
                <a:latin typeface="+mj-lt"/>
                <a:ea typeface="Century Schoolbook"/>
                <a:cs typeface="Century Schoolbook"/>
                <a:sym typeface="Century Schoolbook"/>
              </a:rPr>
              <a:t>is </a:t>
            </a:r>
            <a:r>
              <a:rPr lang="en-US" sz="2400" dirty="0" err="1">
                <a:solidFill>
                  <a:schemeClr val="dk1"/>
                </a:solidFill>
                <a:latin typeface="+mj-lt"/>
                <a:ea typeface="Century Schoolbook"/>
                <a:cs typeface="Century Schoolbook"/>
                <a:sym typeface="Century Schoolbook"/>
              </a:rPr>
              <a:t>underfitting</a:t>
            </a:r>
            <a:r>
              <a:rPr lang="en-US" sz="2400" dirty="0">
                <a:solidFill>
                  <a:schemeClr val="dk1"/>
                </a:solidFill>
                <a:latin typeface="+mj-lt"/>
                <a:ea typeface="Century Schoolbook"/>
                <a:cs typeface="Century Schoolbook"/>
                <a:sym typeface="Century Schoolbook"/>
              </a:rPr>
              <a:t> error, and variance is sensitivity to data fluctuations, causing overfitting.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The </a:t>
            </a:r>
            <a:r>
              <a:rPr lang="en-US" sz="2400" dirty="0">
                <a:solidFill>
                  <a:schemeClr val="dk1"/>
                </a:solidFill>
                <a:latin typeface="+mj-lt"/>
                <a:ea typeface="Century Schoolbook"/>
                <a:cs typeface="Century Schoolbook"/>
                <a:sym typeface="Century Schoolbook"/>
              </a:rPr>
              <a:t>machine learning "recipe" involves data gathering, splitting, model selection, initialization, training, validation, and testing.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Regularization </a:t>
            </a:r>
            <a:r>
              <a:rPr lang="en-US" sz="2400" dirty="0">
                <a:solidFill>
                  <a:schemeClr val="dk1"/>
                </a:solidFill>
                <a:latin typeface="+mj-lt"/>
                <a:ea typeface="Century Schoolbook"/>
                <a:cs typeface="Century Schoolbook"/>
                <a:sym typeface="Century Schoolbook"/>
              </a:rPr>
              <a:t>prevents overfitting by adding penalty terms to the cost function, discouraging complexity. It reduces overfitting by penalizing complexity, leading to more generalizable models.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Dropout </a:t>
            </a:r>
            <a:r>
              <a:rPr lang="en-US" sz="2400" dirty="0">
                <a:solidFill>
                  <a:schemeClr val="dk1"/>
                </a:solidFill>
                <a:latin typeface="+mj-lt"/>
                <a:ea typeface="Century Schoolbook"/>
                <a:cs typeface="Century Schoolbook"/>
                <a:sym typeface="Century Schoolbook"/>
              </a:rPr>
              <a:t>regularization randomly drops neurons during training to further reduce overfitting.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Normalizing </a:t>
            </a:r>
            <a:r>
              <a:rPr lang="en-US" sz="2400" dirty="0">
                <a:solidFill>
                  <a:schemeClr val="dk1"/>
                </a:solidFill>
                <a:latin typeface="+mj-lt"/>
                <a:ea typeface="Century Schoolbook"/>
                <a:cs typeface="Century Schoolbook"/>
                <a:sym typeface="Century Schoolbook"/>
              </a:rPr>
              <a:t>inputs involves scaling them to zero mean and unit variance for improved optimization convergence.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Vanishing/exploding </a:t>
            </a:r>
            <a:r>
              <a:rPr lang="en-US" sz="2400" dirty="0">
                <a:solidFill>
                  <a:schemeClr val="dk1"/>
                </a:solidFill>
                <a:latin typeface="+mj-lt"/>
                <a:ea typeface="Century Schoolbook"/>
                <a:cs typeface="Century Schoolbook"/>
                <a:sym typeface="Century Schoolbook"/>
              </a:rPr>
              <a:t>gradients in deep networks occur when gradients become too small or large during backpropagation</a:t>
            </a:r>
            <a:r>
              <a:rPr lang="en-US" sz="2400" dirty="0" smtClean="0">
                <a:solidFill>
                  <a:schemeClr val="dk1"/>
                </a:solidFill>
                <a:latin typeface="+mj-lt"/>
                <a:ea typeface="Century Schoolbook"/>
                <a:cs typeface="Century Schoolbook"/>
                <a:sym typeface="Century Schoolbook"/>
              </a:rPr>
              <a:t>.</a:t>
            </a:r>
            <a:endParaRPr sz="2400" b="0" i="0" u="none" strike="noStrike" cap="none" dirty="0">
              <a:solidFill>
                <a:schemeClr val="dk1"/>
              </a:solidFill>
              <a:latin typeface="+mj-lt"/>
              <a:ea typeface="Century Schoolbook"/>
              <a:cs typeface="Century Schoolbook"/>
              <a:sym typeface="Century Schoolbook"/>
            </a:endParaRPr>
          </a:p>
        </p:txBody>
      </p:sp>
      <p:pic>
        <p:nvPicPr>
          <p:cNvPr id="419" name="Google Shape;419;p40"/>
          <p:cNvPicPr preferRelativeResize="0"/>
          <p:nvPr/>
        </p:nvPicPr>
        <p:blipFill rotWithShape="1">
          <a:blip r:embed="rId3">
            <a:alphaModFix/>
          </a:blip>
          <a:srcRect/>
          <a:stretch/>
        </p:blipFill>
        <p:spPr>
          <a:xfrm>
            <a:off x="10917063" y="0"/>
            <a:ext cx="1265436" cy="696000"/>
          </a:xfrm>
          <a:prstGeom prst="rect">
            <a:avLst/>
          </a:prstGeom>
          <a:noFill/>
          <a:ln>
            <a:noFill/>
          </a:ln>
        </p:spPr>
      </p:pic>
      <p:sp>
        <p:nvSpPr>
          <p:cNvPr id="420" name="Google Shape;420;p4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73</a:t>
            </a:fld>
            <a:endParaRPr/>
          </a:p>
        </p:txBody>
      </p:sp>
    </p:spTree>
    <p:extLst>
      <p:ext uri="{BB962C8B-B14F-4D97-AF65-F5344CB8AC3E}">
        <p14:creationId xmlns:p14="http://schemas.microsoft.com/office/powerpoint/2010/main" val="179787111"/>
      </p:ext>
    </p:extLst>
  </p:cSld>
  <p:clrMapOvr>
    <a:masterClrMapping/>
  </p:clrMapOvr>
  <p:extLst mod="1">
    <p:ext uri="{6950BFC3-D8DA-4A85-94F7-54DA5524770B}">
      <p188:commentRel xmlns="" xmlns:p188="http://schemas.microsoft.com/office/powerpoint/2018/8/main" r:id="rId4"/>
    </p:ext>
  </p:extLst>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Shape 416"/>
        <p:cNvGrpSpPr/>
        <p:nvPr/>
      </p:nvGrpSpPr>
      <p:grpSpPr>
        <a:xfrm>
          <a:off x="0" y="0"/>
          <a:ext cx="0" cy="0"/>
          <a:chOff x="0" y="0"/>
          <a:chExt cx="0" cy="0"/>
        </a:xfrm>
      </p:grpSpPr>
      <p:sp>
        <p:nvSpPr>
          <p:cNvPr id="417" name="Google Shape;417;p40"/>
          <p:cNvSpPr txBox="1">
            <a:spLocks noGrp="1"/>
          </p:cNvSpPr>
          <p:nvPr>
            <p:ph type="title"/>
          </p:nvPr>
        </p:nvSpPr>
        <p:spPr>
          <a:xfrm>
            <a:off x="261620" y="139696"/>
            <a:ext cx="10570800" cy="696000"/>
          </a:xfrm>
          <a:prstGeom prst="rect">
            <a:avLst/>
          </a:prstGeom>
          <a:noFill/>
          <a:ln>
            <a:noFill/>
          </a:ln>
        </p:spPr>
        <p:txBody>
          <a:bodyPr spcFirstLastPara="1" wrap="square" lIns="0" tIns="12700" rIns="0" bIns="0" anchor="t" anchorCtr="0">
            <a:spAutoFit/>
          </a:bodyPr>
          <a:lstStyle/>
          <a:p>
            <a:pPr marL="12700" lvl="0" algn="ctr"/>
            <a:r>
              <a:rPr lang="en-US" sz="4400" dirty="0">
                <a:latin typeface="+mj-lt"/>
                <a:ea typeface="Century Schoolbook"/>
                <a:cs typeface="Century Schoolbook"/>
                <a:sym typeface="Century Schoolbook"/>
              </a:rPr>
              <a:t>Summarization</a:t>
            </a:r>
            <a:endParaRPr sz="4400" dirty="0">
              <a:latin typeface="+mj-lt"/>
              <a:ea typeface="Century Schoolbook"/>
              <a:cs typeface="Century Schoolbook"/>
              <a:sym typeface="Century Schoolbook"/>
            </a:endParaRPr>
          </a:p>
        </p:txBody>
      </p:sp>
      <p:sp>
        <p:nvSpPr>
          <p:cNvPr id="418" name="Google Shape;418;p40"/>
          <p:cNvSpPr txBox="1"/>
          <p:nvPr/>
        </p:nvSpPr>
        <p:spPr>
          <a:xfrm>
            <a:off x="359427" y="1595966"/>
            <a:ext cx="11848465" cy="1490152"/>
          </a:xfrm>
          <a:prstGeom prst="rect">
            <a:avLst/>
          </a:prstGeom>
          <a:noFill/>
          <a:ln>
            <a:noFill/>
          </a:ln>
        </p:spPr>
        <p:txBody>
          <a:bodyPr spcFirstLastPara="1" wrap="square" lIns="0" tIns="12700" rIns="0" bIns="0" anchor="t" anchorCtr="0">
            <a:spAutoFit/>
          </a:bodyPr>
          <a:lstStyle/>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Numerical </a:t>
            </a:r>
            <a:r>
              <a:rPr lang="en-US" sz="2400" dirty="0">
                <a:solidFill>
                  <a:schemeClr val="dk1"/>
                </a:solidFill>
                <a:latin typeface="+mj-lt"/>
                <a:ea typeface="Century Schoolbook"/>
                <a:cs typeface="Century Schoolbook"/>
                <a:sym typeface="Century Schoolbook"/>
              </a:rPr>
              <a:t>approximation of gradients using finite differences helps verify the correctness of analytical gradients. </a:t>
            </a:r>
            <a:endParaRPr lang="en-US" sz="2400" dirty="0" smtClean="0">
              <a:solidFill>
                <a:schemeClr val="dk1"/>
              </a:solidFill>
              <a:latin typeface="+mj-lt"/>
              <a:ea typeface="Century Schoolbook"/>
              <a:cs typeface="Century Schoolbook"/>
              <a:sym typeface="Century Schoolbook"/>
            </a:endParaRPr>
          </a:p>
          <a:p>
            <a:pPr marL="354966" lvl="0" indent="-342900">
              <a:buClr>
                <a:schemeClr val="dk1"/>
              </a:buClr>
              <a:buSzPts val="2800"/>
              <a:buFont typeface="Arial" panose="020B0604020202020204" pitchFamily="34" charset="0"/>
              <a:buChar char="•"/>
            </a:pPr>
            <a:r>
              <a:rPr lang="en-US" sz="2400" dirty="0" smtClean="0">
                <a:solidFill>
                  <a:schemeClr val="dk1"/>
                </a:solidFill>
                <a:latin typeface="+mj-lt"/>
                <a:ea typeface="Century Schoolbook"/>
                <a:cs typeface="Century Schoolbook"/>
                <a:sym typeface="Century Schoolbook"/>
              </a:rPr>
              <a:t>Gradient </a:t>
            </a:r>
            <a:r>
              <a:rPr lang="en-US" sz="2400" dirty="0">
                <a:solidFill>
                  <a:schemeClr val="dk1"/>
                </a:solidFill>
                <a:latin typeface="+mj-lt"/>
                <a:ea typeface="Century Schoolbook"/>
                <a:cs typeface="Century Schoolbook"/>
                <a:sym typeface="Century Schoolbook"/>
              </a:rPr>
              <a:t>checking involves comparing analytical and numerical gradients to ensure accuracy.</a:t>
            </a:r>
            <a:endParaRPr sz="2400" b="0" i="0" u="none" strike="noStrike" cap="none" dirty="0">
              <a:solidFill>
                <a:schemeClr val="dk1"/>
              </a:solidFill>
              <a:latin typeface="+mj-lt"/>
              <a:ea typeface="Century Schoolbook"/>
              <a:cs typeface="Century Schoolbook"/>
              <a:sym typeface="Century Schoolbook"/>
            </a:endParaRPr>
          </a:p>
        </p:txBody>
      </p:sp>
      <p:pic>
        <p:nvPicPr>
          <p:cNvPr id="419" name="Google Shape;419;p40"/>
          <p:cNvPicPr preferRelativeResize="0"/>
          <p:nvPr/>
        </p:nvPicPr>
        <p:blipFill rotWithShape="1">
          <a:blip r:embed="rId3">
            <a:alphaModFix/>
          </a:blip>
          <a:srcRect/>
          <a:stretch/>
        </p:blipFill>
        <p:spPr>
          <a:xfrm>
            <a:off x="10917063" y="0"/>
            <a:ext cx="1265436" cy="696000"/>
          </a:xfrm>
          <a:prstGeom prst="rect">
            <a:avLst/>
          </a:prstGeom>
          <a:noFill/>
          <a:ln>
            <a:noFill/>
          </a:ln>
        </p:spPr>
      </p:pic>
      <p:sp>
        <p:nvSpPr>
          <p:cNvPr id="420" name="Google Shape;420;p40"/>
          <p:cNvSpPr txBox="1">
            <a:spLocks noGrp="1"/>
          </p:cNvSpPr>
          <p:nvPr>
            <p:ph type="sldNum" idx="12"/>
          </p:nvPr>
        </p:nvSpPr>
        <p:spPr>
          <a:xfrm>
            <a:off x="8778240" y="6377940"/>
            <a:ext cx="2804100" cy="277200"/>
          </a:xfrm>
          <a:prstGeom prst="rect">
            <a:avLst/>
          </a:prstGeom>
        </p:spPr>
        <p:txBody>
          <a:bodyPr spcFirstLastPara="1" wrap="square" lIns="0" tIns="0" rIns="0" bIns="0" anchor="t" anchorCtr="0">
            <a:spAutoFit/>
          </a:bodyPr>
          <a:lstStyle/>
          <a:p>
            <a:pPr marL="0" lvl="0" indent="0" algn="r" rtl="0">
              <a:spcBef>
                <a:spcPts val="0"/>
              </a:spcBef>
              <a:spcAft>
                <a:spcPts val="0"/>
              </a:spcAft>
              <a:buClr>
                <a:srgbClr val="000000"/>
              </a:buClr>
              <a:buSzPts val="1800"/>
              <a:buFont typeface="Arial"/>
              <a:buNone/>
            </a:pPr>
            <a:fld id="{00000000-1234-1234-1234-123412341234}" type="slidenum">
              <a:rPr lang="en-US"/>
              <a:t>74</a:t>
            </a:fld>
            <a:endParaRPr/>
          </a:p>
        </p:txBody>
      </p:sp>
    </p:spTree>
    <p:extLst>
      <p:ext uri="{BB962C8B-B14F-4D97-AF65-F5344CB8AC3E}">
        <p14:creationId xmlns:p14="http://schemas.microsoft.com/office/powerpoint/2010/main" val="1608835796"/>
      </p:ext>
    </p:extLst>
  </p:cSld>
  <p:clrMapOvr>
    <a:masterClrMapping/>
  </p:clrMapOvr>
  <p:extLst mod="1">
    <p:ext uri="{6950BFC3-D8DA-4A85-94F7-54DA5524770B}">
      <p188:commentRel xmlns="" xmlns:p188="http://schemas.microsoft.com/office/powerpoint/2018/8/main" r:id="rId4"/>
    </p:ext>
  </p:extLs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1468</TotalTime>
  <Words>6466</Words>
  <Application>Microsoft Office PowerPoint</Application>
  <PresentationFormat>Widescreen</PresentationFormat>
  <Paragraphs>440</Paragraphs>
  <Slides>74</Slides>
  <Notes>74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Century Schoolbook</vt:lpstr>
      <vt:lpstr>Calibri</vt:lpstr>
      <vt:lpstr>Roboto</vt:lpstr>
      <vt:lpstr>Cascadia Code Light</vt:lpstr>
      <vt:lpstr>Cambria Math</vt:lpstr>
      <vt:lpstr>Arial</vt:lpstr>
      <vt:lpstr>Century Gothic</vt:lpstr>
      <vt:lpstr>Office Theme</vt:lpstr>
      <vt:lpstr>Practical Aspects of Deep Learning </vt:lpstr>
      <vt:lpstr>Practical Aspects of Deep Learning </vt:lpstr>
      <vt:lpstr>Setting up your  ML application</vt:lpstr>
      <vt:lpstr>Applied ML is a highly iterative process</vt:lpstr>
      <vt:lpstr>Applied ML is a highly iterative process</vt:lpstr>
      <vt:lpstr>Applied ML is a highly iterative process</vt:lpstr>
      <vt:lpstr>Train/dev/test sets</vt:lpstr>
      <vt:lpstr>Mismatched train/test distribution</vt:lpstr>
      <vt:lpstr>Setting up your  ML application</vt:lpstr>
      <vt:lpstr>Bias/Variance</vt:lpstr>
      <vt:lpstr>Bias/Variance</vt:lpstr>
      <vt:lpstr>High bias and high variance</vt:lpstr>
      <vt:lpstr>Bias/Variance</vt:lpstr>
      <vt:lpstr>Bias and Variance</vt:lpstr>
      <vt:lpstr>PowerPoint Presentation</vt:lpstr>
      <vt:lpstr>Bias/Variance</vt:lpstr>
      <vt:lpstr>Setting up your  ML application</vt:lpstr>
      <vt:lpstr>Basic recipe for machine learning</vt:lpstr>
      <vt:lpstr>Basic recipe for machine learning</vt:lpstr>
      <vt:lpstr>Basic recipe for machine learning</vt:lpstr>
      <vt:lpstr>Regularizing your  neural network</vt:lpstr>
      <vt:lpstr>Regularization</vt:lpstr>
      <vt:lpstr>PowerPoint Presentation</vt:lpstr>
      <vt:lpstr>PowerPoint Presentation</vt:lpstr>
      <vt:lpstr>PowerPoint Presentation</vt:lpstr>
      <vt:lpstr>Regularizing your  neural network</vt:lpstr>
      <vt:lpstr>How does regularization prevent overfitting?</vt:lpstr>
      <vt:lpstr>How does regularization prevent overfitting?</vt:lpstr>
      <vt:lpstr>PowerPoint Presentation</vt:lpstr>
      <vt:lpstr>How does regularization prevent overfitting?</vt:lpstr>
      <vt:lpstr>Regularizing your  neural network</vt:lpstr>
      <vt:lpstr>Dropout regularization</vt:lpstr>
      <vt:lpstr>Dropout regularization</vt:lpstr>
      <vt:lpstr>PowerPoint Presentation</vt:lpstr>
      <vt:lpstr>Implementing dropout (“Inverted dropout”)</vt:lpstr>
      <vt:lpstr>Making predictions at test time</vt:lpstr>
      <vt:lpstr>Regularizing your  neural network</vt:lpstr>
      <vt:lpstr>PowerPoint Presentation</vt:lpstr>
      <vt:lpstr>PowerPoint Presentation</vt:lpstr>
      <vt:lpstr>PowerPoint Presentation</vt:lpstr>
      <vt:lpstr>Regularizing your  neural network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Gradient checking</vt:lpstr>
      <vt:lpstr>PowerPoint Presentation</vt:lpstr>
      <vt:lpstr>Gradient checking implementation notes</vt:lpstr>
      <vt:lpstr>Summarization</vt:lpstr>
      <vt:lpstr>Summarization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Setting up your ML application </dc:title>
  <dc:creator>0984729212</dc:creator>
  <cp:lastModifiedBy>Phạm Trọng Nghĩa</cp:lastModifiedBy>
  <cp:revision>166</cp:revision>
  <dcterms:created xsi:type="dcterms:W3CDTF">2023-01-31T08:48:03Z</dcterms:created>
  <dcterms:modified xsi:type="dcterms:W3CDTF">2023-12-14T09:43:38Z</dcterms:modified>
</cp:coreProperties>
</file>