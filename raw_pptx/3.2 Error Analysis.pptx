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omments/modernComment_104_0.xml" ContentType="application/vnd.ms-powerpoint.comments+xml"/>
  <Override PartName="/ppt/comments/modernComment_10A_0.xml" ContentType="application/vnd.ms-powerpoint.comments+xml"/>
  <Override PartName="/ppt/comments/modernComment_111_0.xml" ContentType="application/vnd.ms-powerpoint.comments+xml"/>
  <Override PartName="/ppt/comments/modernComment_120_0.xml" ContentType="application/vnd.ms-powerpoint.comments+xml"/>
  <Override PartName="/ppt/comments/modernComment_12D_0.xml" ContentType="application/vnd.ms-powerpoint.comments+xml"/>
  <Override PartName="/ppt/comments/modernComment_13A_0.xml" ContentType="application/vnd.ms-powerpoint.comments+xml"/>
  <Override PartName="/ppt/comments/modernComment_13D_0.xml" ContentType="application/vnd.ms-powerpoint.comments+xml"/>
  <Override PartName="/ppt/authors.xml" ContentType="application/vnd.ms-powerpoint.author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61"/>
  </p:notesMasterIdLst>
  <p:sldIdLst>
    <p:sldId id="256" r:id="rId2"/>
    <p:sldId id="318" r:id="rId3"/>
    <p:sldId id="257" r:id="rId4"/>
    <p:sldId id="258" r:id="rId5"/>
    <p:sldId id="259" r:id="rId6"/>
    <p:sldId id="260" r:id="rId7"/>
    <p:sldId id="261" r:id="rId8"/>
    <p:sldId id="262" r:id="rId9"/>
    <p:sldId id="263" r:id="rId10"/>
    <p:sldId id="264" r:id="rId11"/>
    <p:sldId id="265" r:id="rId12"/>
    <p:sldId id="266" r:id="rId13"/>
    <p:sldId id="267" r:id="rId14"/>
    <p:sldId id="321" r:id="rId15"/>
    <p:sldId id="269" r:id="rId16"/>
    <p:sldId id="270" r:id="rId17"/>
    <p:sldId id="271" r:id="rId18"/>
    <p:sldId id="272" r:id="rId19"/>
    <p:sldId id="273" r:id="rId20"/>
    <p:sldId id="274" r:id="rId21"/>
    <p:sldId id="275" r:id="rId22"/>
    <p:sldId id="322" r:id="rId23"/>
    <p:sldId id="323" r:id="rId24"/>
    <p:sldId id="279" r:id="rId25"/>
    <p:sldId id="280" r:id="rId26"/>
    <p:sldId id="325" r:id="rId27"/>
    <p:sldId id="326" r:id="rId28"/>
    <p:sldId id="281" r:id="rId29"/>
    <p:sldId id="327" r:id="rId30"/>
    <p:sldId id="328" r:id="rId31"/>
    <p:sldId id="282" r:id="rId32"/>
    <p:sldId id="283" r:id="rId33"/>
    <p:sldId id="285" r:id="rId34"/>
    <p:sldId id="286" r:id="rId35"/>
    <p:sldId id="287" r:id="rId36"/>
    <p:sldId id="288" r:id="rId37"/>
    <p:sldId id="292" r:id="rId38"/>
    <p:sldId id="293" r:id="rId39"/>
    <p:sldId id="294" r:id="rId40"/>
    <p:sldId id="295" r:id="rId41"/>
    <p:sldId id="298" r:id="rId42"/>
    <p:sldId id="299" r:id="rId43"/>
    <p:sldId id="297" r:id="rId44"/>
    <p:sldId id="300" r:id="rId45"/>
    <p:sldId id="301" r:id="rId46"/>
    <p:sldId id="304" r:id="rId47"/>
    <p:sldId id="305" r:id="rId48"/>
    <p:sldId id="306" r:id="rId49"/>
    <p:sldId id="329" r:id="rId50"/>
    <p:sldId id="307" r:id="rId51"/>
    <p:sldId id="308" r:id="rId52"/>
    <p:sldId id="310" r:id="rId53"/>
    <p:sldId id="311" r:id="rId54"/>
    <p:sldId id="312" r:id="rId55"/>
    <p:sldId id="313" r:id="rId56"/>
    <p:sldId id="314" r:id="rId57"/>
    <p:sldId id="316" r:id="rId58"/>
    <p:sldId id="317" r:id="rId59"/>
    <p:sldId id="319" r:id="rId60"/>
  </p:sldIdLst>
  <p:sldSz cx="12192000" cy="6858000"/>
  <p:notesSz cx="12192000" cy="6858000"/>
  <p:embeddedFontLst>
    <p:embeddedFont>
      <p:font typeface="Roboto" panose="020B0604020202020204" charset="0"/>
      <p:regular r:id="rId62"/>
      <p:bold r:id="rId63"/>
      <p:italic r:id="rId64"/>
      <p:boldItalic r:id="rId65"/>
    </p:embeddedFont>
    <p:embeddedFont>
      <p:font typeface="MS Mincho" panose="020B0604020202020204" charset="-128"/>
      <p:regular r:id="rId66"/>
    </p:embeddedFont>
    <p:embeddedFont>
      <p:font typeface="Trebuchet MS" panose="020B0603020202020204" pitchFamily="34" charset="0"/>
      <p:regular r:id="rId67"/>
      <p:bold r:id="rId68"/>
      <p:italic r:id="rId69"/>
      <p:boldItalic r:id="rId70"/>
    </p:embeddedFont>
    <p:embeddedFont>
      <p:font typeface="Palatino Linotype" panose="02040502050505030304" pitchFamily="18" charset="0"/>
      <p:regular r:id="rId71"/>
      <p:bold r:id="rId72"/>
      <p:italic r:id="rId73"/>
      <p:boldItalic r:id="rId74"/>
    </p:embeddedFont>
    <p:embeddedFont>
      <p:font typeface="Tahoma" panose="020B0604030504040204" pitchFamily="34" charset="0"/>
      <p:regular r:id="rId75"/>
      <p:bold r:id="rId76"/>
    </p:embeddedFont>
    <p:embeddedFont>
      <p:font typeface="Calibri" panose="020F0502020204030204" pitchFamily="34" charset="0"/>
      <p:regular r:id="rId77"/>
      <p:bold r:id="rId78"/>
      <p:italic r:id="rId79"/>
      <p:boldItalic r:id="rId80"/>
    </p:embeddedFont>
    <p:embeddedFont>
      <p:font typeface="Century Schoolbook" panose="02040604050505020304" pitchFamily="18" charset="0"/>
      <p:regular r:id="rId81"/>
      <p:bold r:id="rId82"/>
      <p:italic r:id="rId83"/>
      <p:boldItalic r:id="rId84"/>
    </p:embeddedFont>
    <p:embeddedFont>
      <p:font typeface="Cambria" panose="02040503050406030204" pitchFamily="18" charset="0"/>
      <p:regular r:id="rId85"/>
      <p:bold r:id="rId86"/>
      <p:italic r:id="rId87"/>
      <p:boldItalic r:id="rId8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615FEF-C003-BDE4-A30D-DBA9560B8F91}" name="Phan Thi Thu Hong (FE FPTU DN)" initials="PD" userId="S::hongptt11@fe.edu.vn::4d36b424-e1a9-4834-b8a6-b266a7cdd1c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3BC7D7-E141-974E-2A65-CB5C95461E12}" v="8" dt="2023-05-02T20:38:57.977"/>
    <p1510:client id="{94B4D7B1-43F1-4669-4F4D-51A3B7A76738}" v="2" dt="2023-05-02T13:39:57.328"/>
  </p1510:revLst>
</p1510:revInfo>
</file>

<file path=ppt/tableStyles.xml><?xml version="1.0" encoding="utf-8"?>
<a:tblStyleLst xmlns:a="http://schemas.openxmlformats.org/drawingml/2006/main" def="{CFA8550C-8068-4A6D-9CC0-523924F090D1}">
  <a:tblStyle styleId="{CFA8550C-8068-4A6D-9CC0-523924F090D1}"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339" autoAdjust="0"/>
  </p:normalViewPr>
  <p:slideViewPr>
    <p:cSldViewPr snapToGrid="0">
      <p:cViewPr varScale="1">
        <p:scale>
          <a:sx n="97" d="100"/>
          <a:sy n="97" d="100"/>
        </p:scale>
        <p:origin x="1074" y="9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84" Type="http://schemas.openxmlformats.org/officeDocument/2006/relationships/font" Target="fonts/font23.fntdata"/><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3.fntdata"/><Relationship Id="rId79" Type="http://schemas.openxmlformats.org/officeDocument/2006/relationships/font" Target="fonts/font18.fntdata"/><Relationship Id="rId5" Type="http://schemas.openxmlformats.org/officeDocument/2006/relationships/slide" Target="slides/slide4.xml"/><Relationship Id="rId90" Type="http://schemas.openxmlformats.org/officeDocument/2006/relationships/viewProps" Target="viewProps.xml"/><Relationship Id="rId95" Type="http://schemas.microsoft.com/office/2018/10/relationships/authors" Targe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1.fntdata"/><Relationship Id="rId80" Type="http://schemas.openxmlformats.org/officeDocument/2006/relationships/font" Target="fonts/font19.fntdata"/><Relationship Id="rId85" Type="http://schemas.openxmlformats.org/officeDocument/2006/relationships/font" Target="fonts/font2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83" Type="http://schemas.openxmlformats.org/officeDocument/2006/relationships/font" Target="fonts/font22.fntdata"/><Relationship Id="rId88" Type="http://schemas.openxmlformats.org/officeDocument/2006/relationships/font" Target="fonts/font27.fntdata"/><Relationship Id="rId91" Type="http://schemas.openxmlformats.org/officeDocument/2006/relationships/theme" Target="theme/theme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font" Target="fonts/font20.fntdata"/><Relationship Id="rId86" Type="http://schemas.openxmlformats.org/officeDocument/2006/relationships/font" Target="fonts/font2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5.fntdata"/><Relationship Id="rId9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font" Target="fonts/font10.fntdata"/><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5.fntdata"/><Relationship Id="rId87" Type="http://schemas.openxmlformats.org/officeDocument/2006/relationships/font" Target="fonts/font26.fntdata"/><Relationship Id="rId61" Type="http://schemas.openxmlformats.org/officeDocument/2006/relationships/notesMaster" Target="notesMasters/notesMaster1.xml"/><Relationship Id="rId82" Type="http://schemas.openxmlformats.org/officeDocument/2006/relationships/font" Target="fonts/font2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1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 Thi Thu Hong (FE FPTU DN)" userId="S::hongptt11@fe.edu.vn::4d36b424-e1a9-4834-b8a6-b266a7cdd1c0" providerId="AD" clId="Web-{94B4D7B1-43F1-4669-4F4D-51A3B7A76738}"/>
    <pc:docChg chg="mod">
      <pc:chgData name="Phan Thi Thu Hong (FE FPTU DN)" userId="S::hongptt11@fe.edu.vn::4d36b424-e1a9-4834-b8a6-b266a7cdd1c0" providerId="AD" clId="Web-{94B4D7B1-43F1-4669-4F4D-51A3B7A76738}" dt="2023-05-02T13:39:57.328" v="1"/>
      <pc:docMkLst>
        <pc:docMk/>
      </pc:docMkLst>
      <pc:sldChg chg="addCm">
        <pc:chgData name="Phan Thi Thu Hong (FE FPTU DN)" userId="S::hongptt11@fe.edu.vn::4d36b424-e1a9-4834-b8a6-b266a7cdd1c0" providerId="AD" clId="Web-{94B4D7B1-43F1-4669-4F4D-51A3B7A76738}" dt="2023-05-02T13:39:57.328" v="1"/>
        <pc:sldMkLst>
          <pc:docMk/>
          <pc:sldMk cId="0" sldId="260"/>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4B4D7B1-43F1-4669-4F4D-51A3B7A76738}" dt="2023-05-02T13:39:57.328" v="1"/>
              <pc2:cmMkLst xmlns:pc2="http://schemas.microsoft.com/office/powerpoint/2019/9/main/command">
                <pc:docMk/>
                <pc:sldMk cId="0" sldId="260"/>
                <pc2:cmMk id="{6BFD96BD-4B87-4950-9F4D-BE16DF753F84}"/>
              </pc2:cmMkLst>
            </pc226:cmChg>
          </p:ext>
        </pc:extLst>
      </pc:sldChg>
    </pc:docChg>
  </pc:docChgLst>
  <pc:docChgLst>
    <pc:chgData name="Phan Thi Thu Hong (FE FPTU DN)" userId="S::hongptt11@fe.edu.vn::4d36b424-e1a9-4834-b8a6-b266a7cdd1c0" providerId="AD" clId="Web-{2B3BC7D7-E141-974E-2A65-CB5C95461E12}"/>
    <pc:docChg chg="">
      <pc:chgData name="Phan Thi Thu Hong (FE FPTU DN)" userId="S::hongptt11@fe.edu.vn::4d36b424-e1a9-4834-b8a6-b266a7cdd1c0" providerId="AD" clId="Web-{2B3BC7D7-E141-974E-2A65-CB5C95461E12}" dt="2023-05-02T20:38:57.977" v="7"/>
      <pc:docMkLst>
        <pc:docMk/>
      </pc:docMkLst>
      <pc:sldChg chg="addCm">
        <pc:chgData name="Phan Thi Thu Hong (FE FPTU DN)" userId="S::hongptt11@fe.edu.vn::4d36b424-e1a9-4834-b8a6-b266a7cdd1c0" providerId="AD" clId="Web-{2B3BC7D7-E141-974E-2A65-CB5C95461E12}" dt="2023-05-02T20:07:58.678" v="0"/>
        <pc:sldMkLst>
          <pc:docMk/>
          <pc:sldMk cId="0" sldId="26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B3BC7D7-E141-974E-2A65-CB5C95461E12}" dt="2023-05-02T20:07:58.678" v="0"/>
              <pc2:cmMkLst xmlns:pc2="http://schemas.microsoft.com/office/powerpoint/2019/9/main/command">
                <pc:docMk/>
                <pc:sldMk cId="0" sldId="266"/>
                <pc2:cmMk id="{C63EA3F4-C1AA-4AA2-BB4F-278A09CF559E}"/>
              </pc2:cmMkLst>
            </pc226:cmChg>
          </p:ext>
        </pc:extLst>
      </pc:sldChg>
      <pc:sldChg chg="addCm">
        <pc:chgData name="Phan Thi Thu Hong (FE FPTU DN)" userId="S::hongptt11@fe.edu.vn::4d36b424-e1a9-4834-b8a6-b266a7cdd1c0" providerId="AD" clId="Web-{2B3BC7D7-E141-974E-2A65-CB5C95461E12}" dt="2023-05-02T20:27:42.391" v="1"/>
        <pc:sldMkLst>
          <pc:docMk/>
          <pc:sldMk cId="0" sldId="273"/>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B3BC7D7-E141-974E-2A65-CB5C95461E12}" dt="2023-05-02T20:27:42.391" v="1"/>
              <pc2:cmMkLst xmlns:pc2="http://schemas.microsoft.com/office/powerpoint/2019/9/main/command">
                <pc:docMk/>
                <pc:sldMk cId="0" sldId="273"/>
                <pc2:cmMk id="{65B5F463-D4FE-4E6D-884A-45996AD06233}"/>
              </pc2:cmMkLst>
            </pc226:cmChg>
          </p:ext>
        </pc:extLst>
      </pc:sldChg>
      <pc:sldChg chg="addCm">
        <pc:chgData name="Phan Thi Thu Hong (FE FPTU DN)" userId="S::hongptt11@fe.edu.vn::4d36b424-e1a9-4834-b8a6-b266a7cdd1c0" providerId="AD" clId="Web-{2B3BC7D7-E141-974E-2A65-CB5C95461E12}" dt="2023-05-02T20:30:08.865" v="2"/>
        <pc:sldMkLst>
          <pc:docMk/>
          <pc:sldMk cId="0" sldId="27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B3BC7D7-E141-974E-2A65-CB5C95461E12}" dt="2023-05-02T20:30:08.865" v="2"/>
              <pc2:cmMkLst xmlns:pc2="http://schemas.microsoft.com/office/powerpoint/2019/9/main/command">
                <pc:docMk/>
                <pc:sldMk cId="0" sldId="276"/>
                <pc2:cmMk id="{8A45CE32-B0F9-4F02-8D95-18AF5CF8F873}"/>
              </pc2:cmMkLst>
            </pc226:cmChg>
          </p:ext>
        </pc:extLst>
      </pc:sldChg>
      <pc:sldChg chg="addCm">
        <pc:chgData name="Phan Thi Thu Hong (FE FPTU DN)" userId="S::hongptt11@fe.edu.vn::4d36b424-e1a9-4834-b8a6-b266a7cdd1c0" providerId="AD" clId="Web-{2B3BC7D7-E141-974E-2A65-CB5C95461E12}" dt="2023-05-02T20:38:57.977" v="7"/>
        <pc:sldMkLst>
          <pc:docMk/>
          <pc:sldMk cId="0" sldId="288"/>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B3BC7D7-E141-974E-2A65-CB5C95461E12}" dt="2023-05-02T20:38:57.977" v="7"/>
              <pc2:cmMkLst xmlns:pc2="http://schemas.microsoft.com/office/powerpoint/2019/9/main/command">
                <pc:docMk/>
                <pc:sldMk cId="0" sldId="288"/>
                <pc2:cmMk id="{379A0340-6375-4B1B-BD42-56F47ECB25D7}"/>
              </pc2:cmMkLst>
            </pc226:cmChg>
          </p:ext>
        </pc:extLst>
      </pc:sldChg>
      <pc:sldChg chg="addCm">
        <pc:chgData name="Phan Thi Thu Hong (FE FPTU DN)" userId="S::hongptt11@fe.edu.vn::4d36b424-e1a9-4834-b8a6-b266a7cdd1c0" providerId="AD" clId="Web-{2B3BC7D7-E141-974E-2A65-CB5C95461E12}" dt="2023-05-02T20:38:11.366" v="6"/>
        <pc:sldMkLst>
          <pc:docMk/>
          <pc:sldMk cId="0" sldId="301"/>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B3BC7D7-E141-974E-2A65-CB5C95461E12}" dt="2023-05-02T20:38:11.366" v="6"/>
              <pc2:cmMkLst xmlns:pc2="http://schemas.microsoft.com/office/powerpoint/2019/9/main/command">
                <pc:docMk/>
                <pc:sldMk cId="0" sldId="301"/>
                <pc2:cmMk id="{FD8C82CA-EC6A-4972-9CFB-EA8D6A09DE00}"/>
              </pc2:cmMkLst>
            </pc226:cmChg>
          </p:ext>
        </pc:extLst>
      </pc:sldChg>
      <pc:sldChg chg="addCm">
        <pc:chgData name="Phan Thi Thu Hong (FE FPTU DN)" userId="S::hongptt11@fe.edu.vn::4d36b424-e1a9-4834-b8a6-b266a7cdd1c0" providerId="AD" clId="Web-{2B3BC7D7-E141-974E-2A65-CB5C95461E12}" dt="2023-05-02T20:36:57.317" v="5"/>
        <pc:sldMkLst>
          <pc:docMk/>
          <pc:sldMk cId="0" sldId="309"/>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B3BC7D7-E141-974E-2A65-CB5C95461E12}" dt="2023-05-02T20:36:57.317" v="5"/>
              <pc2:cmMkLst xmlns:pc2="http://schemas.microsoft.com/office/powerpoint/2019/9/main/command">
                <pc:docMk/>
                <pc:sldMk cId="0" sldId="309"/>
                <pc2:cmMk id="{6F5A86AC-C4B0-4AF3-B98B-772AB705CC6A}"/>
              </pc2:cmMkLst>
            </pc226:cmChg>
          </p:ext>
        </pc:extLst>
      </pc:sldChg>
      <pc:sldChg chg="addCm">
        <pc:chgData name="Phan Thi Thu Hong (FE FPTU DN)" userId="S::hongptt11@fe.edu.vn::4d36b424-e1a9-4834-b8a6-b266a7cdd1c0" providerId="AD" clId="Web-{2B3BC7D7-E141-974E-2A65-CB5C95461E12}" dt="2023-05-02T20:34:11.217" v="3"/>
        <pc:sldMkLst>
          <pc:docMk/>
          <pc:sldMk cId="0" sldId="314"/>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B3BC7D7-E141-974E-2A65-CB5C95461E12}" dt="2023-05-02T20:34:11.217" v="3"/>
              <pc2:cmMkLst xmlns:pc2="http://schemas.microsoft.com/office/powerpoint/2019/9/main/command">
                <pc:docMk/>
                <pc:sldMk cId="0" sldId="314"/>
                <pc2:cmMk id="{C3C8D8C1-6C8D-4C3B-8751-188B292E823E}"/>
              </pc2:cmMkLst>
            </pc226:cmChg>
          </p:ext>
        </pc:extLst>
      </pc:sldChg>
      <pc:sldChg chg="addCm">
        <pc:chgData name="Phan Thi Thu Hong (FE FPTU DN)" userId="S::hongptt11@fe.edu.vn::4d36b424-e1a9-4834-b8a6-b266a7cdd1c0" providerId="AD" clId="Web-{2B3BC7D7-E141-974E-2A65-CB5C95461E12}" dt="2023-05-02T20:34:48.140" v="4"/>
        <pc:sldMkLst>
          <pc:docMk/>
          <pc:sldMk cId="0" sldId="317"/>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B3BC7D7-E141-974E-2A65-CB5C95461E12}" dt="2023-05-02T20:34:48.140" v="4"/>
              <pc2:cmMkLst xmlns:pc2="http://schemas.microsoft.com/office/powerpoint/2019/9/main/command">
                <pc:docMk/>
                <pc:sldMk cId="0" sldId="317"/>
                <pc2:cmMk id="{79D7E83D-B8FD-41E0-815F-6FD1024D9713}"/>
              </pc2:cmMkLst>
            </pc226:cmChg>
          </p:ext>
        </pc:extLst>
      </pc:sldChg>
    </pc:docChg>
  </pc:docChgLst>
</pc:chgInfo>
</file>

<file path=ppt/comments/modernComment_10A_0.xml><?xml version="1.0" encoding="utf-8"?>
<p188:cmLst xmlns:a="http://schemas.openxmlformats.org/drawingml/2006/main" xmlns:r="http://schemas.openxmlformats.org/officeDocument/2006/relationships" xmlns:p188="http://schemas.microsoft.com/office/powerpoint/2018/8/main">
  <p188:cm id="{C63EA3F4-C1AA-4AA2-BB4F-278A09CF559E}" authorId="{F2615FEF-C003-BDE4-A30D-DBA9560B8F91}" created="2023-05-02T20:07:58.678">
    <pc:sldMkLst xmlns:pc="http://schemas.microsoft.com/office/powerpoint/2013/main/command">
      <pc:docMk/>
      <pc:sldMk cId="0" sldId="266"/>
    </pc:sldMkLst>
    <p188:txBody>
      <a:bodyPr/>
      <a:lstStyle/>
      <a:p>
        <a:r>
          <a:rPr lang="vi-VN"/>
          <a:t>[@Ngo Dang Ha An (FE FPTU HCM)] [@Nguyen Dinh Chi (FE Ban NCPT)] Tóm tắt lại thành các ý chính</a:t>
        </a:r>
      </a:p>
    </p188:txBody>
  </p188:cm>
</p188:cmLst>
</file>

<file path=ppt/comments/modernComment_12D_0.xml><?xml version="1.0" encoding="utf-8"?>
<p188:cmLst xmlns:a="http://schemas.openxmlformats.org/drawingml/2006/main" xmlns:r="http://schemas.openxmlformats.org/officeDocument/2006/relationships" xmlns:p188="http://schemas.microsoft.com/office/powerpoint/2018/8/main">
  <p188:cm id="{FD8C82CA-EC6A-4972-9CFB-EA8D6A09DE00}" authorId="{F2615FEF-C003-BDE4-A30D-DBA9560B8F91}" created="2023-05-02T20:38:11.366">
    <pc:sldMkLst xmlns:pc="http://schemas.microsoft.com/office/powerpoint/2013/main/command">
      <pc:docMk/>
      <pc:sldMk cId="0" sldId="301"/>
    </pc:sldMkLst>
    <p188:txBody>
      <a:bodyPr/>
      <a:lstStyle/>
      <a:p>
        <a:r>
          <a:rPr lang="vi-VN"/>
          <a:t>[@Nguyen Dinh Chi (FE Ban NCPT)] , [@Ngo Dang Ha An (FE FPTU HCM)] Tại sao multi-task leanring lại nói về End2end, trong khi phần sau có trình bày về E2E. Có thể đổi lại thứ tự các phần này</a:t>
        </a:r>
      </a:p>
    </p188:txBody>
  </p188:cm>
</p188:cmLst>
</file>

<file path=ppt/comments/modernComment_13A_0.xml><?xml version="1.0" encoding="utf-8"?>
<p188:cmLst xmlns:a="http://schemas.openxmlformats.org/drawingml/2006/main" xmlns:r="http://schemas.openxmlformats.org/officeDocument/2006/relationships" xmlns:p188="http://schemas.microsoft.com/office/powerpoint/2018/8/main">
  <p188:cm id="{C3C8D8C1-6C8D-4C3B-8751-188B292E823E}" authorId="{F2615FEF-C003-BDE4-A30D-DBA9560B8F91}" created="2023-05-02T20:34:11.217">
    <ac:txMkLst xmlns:ac="http://schemas.microsoft.com/office/drawing/2013/main/command">
      <pc:docMk xmlns:pc="http://schemas.microsoft.com/office/powerpoint/2013/main/command"/>
      <pc:sldMk xmlns:pc="http://schemas.microsoft.com/office/powerpoint/2013/main/command" cId="0" sldId="314"/>
      <ac:spMk id="560" creationId="{00000000-0000-0000-0000-000000000000}"/>
      <ac:txMk cp="0" len="34">
        <ac:context len="35" hash="1895741231"/>
      </ac:txMk>
    </ac:txMkLst>
    <p188:pos x="9587552" y="386686"/>
    <p188:txBody>
      <a:bodyPr/>
      <a:lstStyle/>
      <a:p>
        <a:r>
          <a:rPr lang="vi-VN"/>
          <a:t>[@Ngo Dang Ha An (FE FPTU HCM)] [@Nguyen Dinh Chi (FE Ban NCPT)] Summary  phần này ạ</a:t>
        </a:r>
      </a:p>
    </p188:txBody>
  </p188:cm>
</p188:cmLst>
</file>

<file path=ppt/comments/modernComment_13D_0.xml><?xml version="1.0" encoding="utf-8"?>
<p188:cmLst xmlns:a="http://schemas.openxmlformats.org/drawingml/2006/main" xmlns:r="http://schemas.openxmlformats.org/officeDocument/2006/relationships" xmlns:p188="http://schemas.microsoft.com/office/powerpoint/2018/8/main">
  <p188:cm id="{79D7E83D-B8FD-41E0-815F-6FD1024D9713}" authorId="{F2615FEF-C003-BDE4-A30D-DBA9560B8F91}" created="2023-05-02T20:34:48.140">
    <pc:sldMkLst xmlns:pc="http://schemas.microsoft.com/office/powerpoint/2013/main/command">
      <pc:docMk/>
      <pc:sldMk cId="0" sldId="317"/>
    </pc:sldMkLst>
    <p188:txBody>
      <a:bodyPr/>
      <a:lstStyle/>
      <a:p>
        <a:r>
          <a:rPr lang="vi-VN"/>
          <a:t>[@Ngo Dang Ha An (FE FPTU HCM)] [@Nguyen Dinh Chi (FE Ban NCPT)] Thêm objective and summary vào phần 3.2</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6BFD96BD-4B87-4950-9F4D-BE16DF753F84}" authorId="{F2615FEF-C003-BDE4-A30D-DBA9560B8F91}" created="2023-05-02T13:39:57.328">
    <pc:sldMkLst xmlns:pc="http://schemas.microsoft.com/office/powerpoint/2013/main/command">
      <pc:docMk/>
      <pc:sldMk cId="0" sldId="260"/>
    </pc:sldMkLst>
    <p188:txBody>
      <a:bodyPr/>
      <a:lstStyle/>
      <a:p>
        <a:r>
          <a:rPr lang="vi-VN"/>
          <a:t>[@Nguyen Dinh Chi (FE Ban NCPT)] [@Ngo Dang Ha An (FE FPTU HCM)] Anh nên sửa lại phần này, tương tự comment phần trước: Rút ngắn các ý lại</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65B5F463-D4FE-4E6D-884A-45996AD06233}" authorId="{F2615FEF-C003-BDE4-A30D-DBA9560B8F91}" created="2023-05-02T20:27:42.391">
    <pc:sldMkLst xmlns:pc="http://schemas.microsoft.com/office/powerpoint/2013/main/command">
      <pc:docMk/>
      <pc:sldMk cId="0" sldId="273"/>
    </pc:sldMkLst>
    <p188:txBody>
      <a:bodyPr/>
      <a:lstStyle/>
      <a:p>
        <a:r>
          <a:rPr lang="vi-VN"/>
          <a:t>[@Nguyen Dinh Chi (FE Ban NCPT)] [@Ngo Dang Ha An (FE FPTU HCM)] Summary techinque này ạ</a:t>
        </a:r>
      </a:p>
    </p188:txBody>
  </p188:cm>
</p188:cmLst>
</file>

<file path=ppt/comments/modernComment_120_0.xml><?xml version="1.0" encoding="utf-8"?>
<p188:cmLst xmlns:a="http://schemas.openxmlformats.org/drawingml/2006/main" xmlns:r="http://schemas.openxmlformats.org/officeDocument/2006/relationships" xmlns:p188="http://schemas.microsoft.com/office/powerpoint/2018/8/main">
  <p188:cm id="{379A0340-6375-4B1B-BD42-56F47ECB25D7}" authorId="{F2615FEF-C003-BDE4-A30D-DBA9560B8F91}" created="2023-05-02T20:38:57.977">
    <pc:sldMkLst xmlns:pc="http://schemas.microsoft.com/office/powerpoint/2013/main/command">
      <pc:docMk/>
      <pc:sldMk cId="0" sldId="288"/>
    </pc:sldMkLst>
    <p188:txBody>
      <a:bodyPr/>
      <a:lstStyle/>
      <a:p>
        <a:r>
          <a:rPr lang="vi-VN"/>
          <a:t>[@Nguyen Dinh Chi (FE Ban NCPT)] , [@Ngo Dang Ha An (FE FPTU HCM)]  Summary this slide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02013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0"/>
              </a:spcBef>
              <a:spcAft>
                <a:spcPts val="0"/>
              </a:spcAft>
              <a:buClr>
                <a:schemeClr val="dk1"/>
              </a:buClr>
              <a:buSzPts val="2400"/>
              <a:buChar char="●"/>
            </a:pPr>
            <a:r>
              <a:rPr lang="en-US" sz="2400" dirty="0" smtClean="0">
                <a:solidFill>
                  <a:schemeClr val="dk1"/>
                </a:solidFill>
                <a:highlight>
                  <a:schemeClr val="lt1"/>
                </a:highlight>
              </a:rPr>
              <a:t>Error analysis is a process in machine learning that involves manually examining mistakes made by a learning algorithm to gain insights into how to improve it. </a:t>
            </a:r>
          </a:p>
          <a:p>
            <a:pPr marL="457200" lvl="0" indent="-381000" algn="just" rtl="0">
              <a:lnSpc>
                <a:spcPct val="115000"/>
              </a:lnSpc>
              <a:spcBef>
                <a:spcPts val="0"/>
              </a:spcBef>
              <a:spcAft>
                <a:spcPts val="0"/>
              </a:spcAft>
              <a:buClr>
                <a:schemeClr val="dk1"/>
              </a:buClr>
              <a:buSzPts val="2400"/>
              <a:buChar char="●"/>
            </a:pPr>
            <a:r>
              <a:rPr lang="en-US" sz="2400" dirty="0" smtClean="0">
                <a:solidFill>
                  <a:schemeClr val="dk1"/>
                </a:solidFill>
                <a:highlight>
                  <a:schemeClr val="lt1"/>
                </a:highlight>
              </a:rPr>
              <a:t>It is particularly useful when the algorithm is not yet performing at the level of a human. </a:t>
            </a:r>
          </a:p>
          <a:p>
            <a:pPr marL="457200" lvl="0" indent="-381000" algn="just" rtl="0">
              <a:lnSpc>
                <a:spcPct val="115000"/>
              </a:lnSpc>
              <a:spcBef>
                <a:spcPts val="0"/>
              </a:spcBef>
              <a:spcAft>
                <a:spcPts val="0"/>
              </a:spcAft>
              <a:buClr>
                <a:schemeClr val="dk1"/>
              </a:buClr>
              <a:buSzPts val="2400"/>
              <a:buChar char="●"/>
            </a:pPr>
            <a:r>
              <a:rPr lang="en-US" sz="2400" dirty="0" smtClean="0">
                <a:solidFill>
                  <a:schemeClr val="dk1"/>
                </a:solidFill>
                <a:highlight>
                  <a:schemeClr val="lt1"/>
                </a:highlight>
              </a:rPr>
              <a:t>To carry out error analysis, you start by finding a set of mislabeled examples in your development set, and then manually examine them to see what categories of errors the algorithm is making. </a:t>
            </a:r>
          </a:p>
          <a:p>
            <a:pPr marL="76200" lvl="0" algn="just" rtl="0">
              <a:lnSpc>
                <a:spcPct val="115000"/>
              </a:lnSpc>
              <a:spcBef>
                <a:spcPts val="0"/>
              </a:spcBef>
              <a:spcAft>
                <a:spcPts val="0"/>
              </a:spcAft>
              <a:buClr>
                <a:schemeClr val="dk1"/>
              </a:buClr>
              <a:buSzPts val="2400"/>
            </a:pPr>
            <a:r>
              <a:rPr lang="en-US" sz="2400" dirty="0" smtClean="0">
                <a:solidFill>
                  <a:schemeClr val="dk1"/>
                </a:solidFill>
                <a:highlight>
                  <a:schemeClr val="lt1"/>
                </a:highlight>
              </a:rPr>
              <a:t>	- For example, in the case of a cat classifier that is misclassifying some dogs 	as cats, you might manually examine a set of 100 mislabeled dev set 	examples and count up how many of them are actually pictures of dogs.</a:t>
            </a:r>
          </a:p>
          <a:p>
            <a:pPr marL="0" lvl="0" indent="0" algn="l" rtl="0">
              <a:lnSpc>
                <a:spcPct val="100000"/>
              </a:lnSpc>
              <a:spcBef>
                <a:spcPts val="0"/>
              </a:spcBef>
              <a:spcAft>
                <a:spcPts val="0"/>
              </a:spcAft>
              <a:buSzPts val="1100"/>
              <a:buNone/>
            </a:pPr>
            <a:endParaRPr sz="2400" dirty="0"/>
          </a:p>
        </p:txBody>
      </p:sp>
      <p:sp>
        <p:nvSpPr>
          <p:cNvPr id="56" name="Google Shape;56;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3afdcb60fa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By counting up the number of errors that fall into various different categories, you can get a sense of how worthwhile it might be to work on each of these different categories of errors. This can help you prioritize your efforts and understand how promising different approaches are. </a:t>
            </a:r>
          </a:p>
          <a:p>
            <a:pPr marL="76200" lvl="0" algn="just" rtl="0">
              <a:lnSpc>
                <a:spcPct val="115000"/>
              </a:lnSpc>
              <a:spcBef>
                <a:spcPts val="1500"/>
              </a:spcBef>
              <a:spcAft>
                <a:spcPts val="0"/>
              </a:spcAft>
              <a:buClr>
                <a:schemeClr val="dk1"/>
              </a:buClr>
              <a:buSzPts val="2400"/>
            </a:pPr>
            <a:r>
              <a:rPr lang="en-US" sz="1100" dirty="0" smtClean="0">
                <a:solidFill>
                  <a:schemeClr val="dk1"/>
                </a:solidFill>
                <a:highlight>
                  <a:schemeClr val="lt1"/>
                </a:highlight>
              </a:rPr>
              <a:t>	- For example, if a large percentage of the errors are due to blurry images or 	great cats being misclassified as small cats, then you might focus on 	improving performance in those areas.</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During the error analysis process, you might also notice new categories of errors that you hadn't previously considered. </a:t>
            </a:r>
          </a:p>
          <a:p>
            <a:pPr marL="76200" lvl="0" algn="just" rtl="0">
              <a:lnSpc>
                <a:spcPct val="115000"/>
              </a:lnSpc>
              <a:spcBef>
                <a:spcPts val="0"/>
              </a:spcBef>
              <a:spcAft>
                <a:spcPts val="0"/>
              </a:spcAft>
              <a:buClr>
                <a:schemeClr val="dk1"/>
              </a:buClr>
              <a:buSzPts val="2400"/>
            </a:pPr>
            <a:r>
              <a:rPr lang="en-US" sz="1100" dirty="0" smtClean="0">
                <a:solidFill>
                  <a:schemeClr val="dk1"/>
                </a:solidFill>
                <a:highlight>
                  <a:schemeClr val="lt1"/>
                </a:highlight>
              </a:rPr>
              <a:t>	- For example, you might notice that image filters like those used in Instagram 	or Snapchat are causing errors in your classifier. In that case, you can create 	new categories during the process and count up the fraction of examples that 	are mislabeled in different ways.</a:t>
            </a:r>
          </a:p>
          <a:p>
            <a:pPr marL="76200" lvl="0" algn="just" rtl="0">
              <a:lnSpc>
                <a:spcPct val="115000"/>
              </a:lnSpc>
              <a:spcBef>
                <a:spcPts val="1500"/>
              </a:spcBef>
              <a:spcAft>
                <a:spcPts val="0"/>
              </a:spcAft>
              <a:buClr>
                <a:schemeClr val="dk1"/>
              </a:buClr>
              <a:buSzPts val="2400"/>
            </a:pPr>
            <a:endParaRPr lang="en-US" sz="1100" dirty="0" smtClean="0">
              <a:solidFill>
                <a:schemeClr val="dk1"/>
              </a:solidFill>
              <a:highlight>
                <a:schemeClr val="lt1"/>
              </a:highlight>
            </a:endParaRPr>
          </a:p>
          <a:p>
            <a:pPr marL="0" lvl="0" indent="0" algn="l" rtl="0">
              <a:lnSpc>
                <a:spcPct val="100000"/>
              </a:lnSpc>
              <a:spcBef>
                <a:spcPts val="0"/>
              </a:spcBef>
              <a:spcAft>
                <a:spcPts val="0"/>
              </a:spcAft>
              <a:buSzPts val="1100"/>
              <a:buNone/>
            </a:pPr>
            <a:endParaRPr dirty="0"/>
          </a:p>
        </p:txBody>
      </p:sp>
      <p:sp>
        <p:nvSpPr>
          <p:cNvPr id="63" name="Google Shape;63;g23afdcb60fa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3afdcb60fa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smtClean="0">
                <a:solidFill>
                  <a:schemeClr val="dk1"/>
                </a:solidFill>
                <a:highlight>
                  <a:schemeClr val="lt1"/>
                </a:highlight>
              </a:rPr>
              <a:t>If you find that some of the examples in your dev set are mislabeled, you should correct them as soon as possible. This can involve manually correcting the labels, or using crowd-sourcing or other methods to get additional labeling help. By doing this, you can ensure that your error analysis is more accurate and that your algorithm is trained on the correct data.</a:t>
            </a:r>
          </a:p>
          <a:p>
            <a:pPr marL="0" lvl="0" indent="0" algn="l" rtl="0">
              <a:lnSpc>
                <a:spcPct val="100000"/>
              </a:lnSpc>
              <a:spcBef>
                <a:spcPts val="0"/>
              </a:spcBef>
              <a:spcAft>
                <a:spcPts val="0"/>
              </a:spcAft>
              <a:buSzPts val="1100"/>
              <a:buNone/>
            </a:pPr>
            <a:endParaRPr dirty="0"/>
          </a:p>
        </p:txBody>
      </p:sp>
      <p:sp>
        <p:nvSpPr>
          <p:cNvPr id="70" name="Google Shape;70;g23afdcb60fa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1eaf12ce33_0_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 name="Google Shape;77;g21eaf12ce33_0_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smtClean="0">
                <a:solidFill>
                  <a:schemeClr val="tx1"/>
                </a:solidFill>
                <a:highlight>
                  <a:schemeClr val="lt1"/>
                </a:highlight>
              </a:rPr>
              <a:t>The process of supervised learning involves input X and output labels Y, and sometimes you may find that some of the Y labels are incorrect, meaning they were labeled incorrectly by a human labeler. These errors may or may not be worth fixing. Deep learning algorithms are usually quite robust to random errors in the training set, as long as the errors are not systematic. So, random or near-random errors can be left as they are, and not much effort needs to be spent on fixing them. However, if the errors are systematic, then they could cause the algorithm to learn incorrectly.</a:t>
            </a:r>
          </a:p>
          <a:p>
            <a:pPr marL="0" lvl="0" indent="0" algn="l" rtl="0">
              <a:lnSpc>
                <a:spcPct val="100000"/>
              </a:lnSpc>
              <a:spcBef>
                <a:spcPts val="0"/>
              </a:spcBef>
              <a:spcAft>
                <a:spcPts val="0"/>
              </a:spcAft>
              <a:buSzPts val="1100"/>
              <a:buNone/>
            </a:pPr>
            <a:endParaRPr dirty="0"/>
          </a:p>
        </p:txBody>
      </p:sp>
      <p:sp>
        <p:nvSpPr>
          <p:cNvPr id="104" name="Google Shape;104;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afdcb60fa_0_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In terms of the dev set or test set, if you find that the Y labels are incorrect, you can add an extra column during error analysis to count the number of examples where the label was wrong. </a:t>
            </a:r>
          </a:p>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If the impact of the incorrect labels on your ability to evaluate algorithms on your dev set is significant, it may be worth fixing them. To determine if it is worth fixing the incorrect labels, you should look at the overall dev set error, the percentage of errors due to incorrect labels, and the percentage of errors due to other causes. If the percentage of errors due to incorrect labels is high, then it may be worth fixing them.</a:t>
            </a:r>
          </a:p>
          <a:p>
            <a:pPr marL="0" lvl="0" indent="0" algn="l" rtl="0">
              <a:lnSpc>
                <a:spcPct val="100000"/>
              </a:lnSpc>
              <a:spcBef>
                <a:spcPts val="0"/>
              </a:spcBef>
              <a:spcAft>
                <a:spcPts val="0"/>
              </a:spcAft>
              <a:buSzPts val="1100"/>
              <a:buNone/>
            </a:pPr>
            <a:endParaRPr dirty="0"/>
          </a:p>
        </p:txBody>
      </p:sp>
      <p:sp>
        <p:nvSpPr>
          <p:cNvPr id="111" name="Google Shape;111;g23afdcb60fa_0_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3afdcb60fa_0_1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If you decide to fix the incorrect labels, you should apply the same process to both the dev set and the test set, and you should consider examining examples that your algorithm got right, as well as ones it got wrong. It is not always necessary to correct the labels in your training set, as deep learning algorithms are usually quite robust to random errors in the training set. However, it is important that your dev and test sets come from the same distribution.</a:t>
            </a:r>
          </a:p>
          <a:p>
            <a:pPr marL="457200" lvl="0" indent="-381000" algn="just" rtl="0">
              <a:lnSpc>
                <a:spcPct val="115000"/>
              </a:lnSpc>
              <a:spcBef>
                <a:spcPts val="0"/>
              </a:spcBef>
              <a:spcAft>
                <a:spcPts val="0"/>
              </a:spcAft>
              <a:buClr>
                <a:schemeClr val="dk1"/>
              </a:buClr>
              <a:buSzPts val="2400"/>
              <a:buChar char="●"/>
            </a:pPr>
            <a:endParaRPr lang="en-US" sz="1100" dirty="0" smtClean="0">
              <a:solidFill>
                <a:schemeClr val="dk1"/>
              </a:solidFill>
              <a:highlight>
                <a:schemeClr val="lt1"/>
              </a:highlight>
            </a:endParaRP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In conclusion, error analysis is an important part of building practical machine learning systems. It may require manual effort to examine the data and count the number of errors, but it can help you prioritize where to go next and improve the accuracy of your algorithms.</a:t>
            </a:r>
          </a:p>
          <a:p>
            <a:pPr marL="0" lvl="0" indent="0" algn="l" rtl="0">
              <a:lnSpc>
                <a:spcPct val="100000"/>
              </a:lnSpc>
              <a:spcBef>
                <a:spcPts val="0"/>
              </a:spcBef>
              <a:spcAft>
                <a:spcPts val="0"/>
              </a:spcAft>
              <a:buSzPts val="1100"/>
              <a:buNone/>
            </a:pPr>
            <a:endParaRPr dirty="0"/>
          </a:p>
        </p:txBody>
      </p:sp>
      <p:sp>
        <p:nvSpPr>
          <p:cNvPr id="118" name="Google Shape;118;g23afdcb60fa_0_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1eaf12ce33_0_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21eaf12ce33_0_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1799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When building a new machine learning application, there can be many different directions and techniques you could prioritize to improve the system. This can make it challenging to know where to start, especially if you're not an expert in the particular application area. To overcome this challenge, the advice given is to build your first system quickly and then iterate.</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The first step is to set up a dev/test set and metric to help you decide where to place your target. Then, you can build an initial machine learning system quickly, train it, and see how well it performs against your dev/test set and valuation metric. This initial system will help you to prioritize the next steps by using bias/variance analysis and error analysis to identify the areas where improvements can be made.</a:t>
            </a:r>
          </a:p>
          <a:p>
            <a:pPr marL="0" lvl="0" indent="0" algn="l" rtl="0">
              <a:lnSpc>
                <a:spcPct val="100000"/>
              </a:lnSpc>
              <a:spcBef>
                <a:spcPts val="0"/>
              </a:spcBef>
              <a:spcAft>
                <a:spcPts val="0"/>
              </a:spcAft>
              <a:buSzPts val="1100"/>
              <a:buNone/>
            </a:pPr>
            <a:endParaRPr dirty="0"/>
          </a:p>
        </p:txBody>
      </p:sp>
      <p:sp>
        <p:nvSpPr>
          <p:cNvPr id="178" name="Google Shape;178;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3afdcb60fa_0_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By having some learned system, you can localize bias/variance, prioritize what to do next, and figure out which improvements are the most worthwhile. The value of the initial system lies in its ability to help you focus your efforts and avoid overthinking or making your first system too complicated.</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This advice applies less strongly if you have significant prior experience in the application area or if there is a significant body of academic literature to draw on for the exact same problem you're building. In these cases, it may be okay to build a more complex system from the get-go. However, if you're tackling a new problem for the first time, building something quick and dirty and then using it to prioritize improvements can be a more effective approach.</a:t>
            </a:r>
          </a:p>
          <a:p>
            <a:pPr marL="0" lvl="0" indent="0" algn="l" rtl="0">
              <a:lnSpc>
                <a:spcPct val="100000"/>
              </a:lnSpc>
              <a:spcBef>
                <a:spcPts val="0"/>
              </a:spcBef>
              <a:spcAft>
                <a:spcPts val="0"/>
              </a:spcAft>
              <a:buSzPts val="1100"/>
              <a:buNone/>
            </a:pPr>
            <a:endParaRPr dirty="0"/>
          </a:p>
        </p:txBody>
      </p:sp>
      <p:sp>
        <p:nvSpPr>
          <p:cNvPr id="186" name="Google Shape;186;g23afdcb60fa_0_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3afdcb60fa_0_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23afdcb60fa_0_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1eaf12ce33_0_4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21eaf12ce33_0_4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3afdcb60fa_0_4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By having some learned system, you can localize bias/variance, prioritize what to do next, and figure out which improvements are the most worthwhile. The value of the initial system lies in its ability to help you focus your efforts and avoid overthinking or making your first system too complicated.</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This advice applies less strongly if you have significant prior experience in the application area or if there is a significant body of academic literature to draw on for the exact same problem you're building. In these cases, it may be okay to build a more complex system from the get-go. However, if you're tackling a new problem for the first time, building something quick and dirty and then using it to prioritize improvements can be a more effective approach.</a:t>
            </a:r>
          </a:p>
          <a:p>
            <a:pPr marL="0" lvl="0" indent="0" algn="l" rtl="0">
              <a:lnSpc>
                <a:spcPct val="100000"/>
              </a:lnSpc>
              <a:spcBef>
                <a:spcPts val="0"/>
              </a:spcBef>
              <a:spcAft>
                <a:spcPts val="0"/>
              </a:spcAft>
              <a:buSzPts val="1100"/>
              <a:buNone/>
            </a:pPr>
            <a:endParaRPr dirty="0"/>
          </a:p>
        </p:txBody>
      </p:sp>
      <p:sp>
        <p:nvSpPr>
          <p:cNvPr id="229" name="Google Shape;229;g23afdcb60fa_0_4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8843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3afdcb60fa_0_4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By having some learned system, you can localize bias/variance, prioritize what to do next, and figure out which improvements are the most worthwhile. The value of the initial system lies in its ability to help you focus your efforts and avoid overthinking or making your first system too complicated.</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This advice applies less strongly if you have significant prior experience in the application area or if there is a significant body of academic literature to draw on for the exact same problem you're building. In these cases, it may be okay to build a more complex system from the get-go. However, if you're tackling a new problem for the first time, building something quick and dirty and then using it to prioritize improvements can be a more effective approach.</a:t>
            </a:r>
          </a:p>
          <a:p>
            <a:pPr marL="0" lvl="0" indent="0" algn="l" rtl="0">
              <a:lnSpc>
                <a:spcPct val="100000"/>
              </a:lnSpc>
              <a:spcBef>
                <a:spcPts val="0"/>
              </a:spcBef>
              <a:spcAft>
                <a:spcPts val="0"/>
              </a:spcAft>
              <a:buSzPts val="1100"/>
              <a:buNone/>
            </a:pPr>
            <a:endParaRPr dirty="0"/>
          </a:p>
        </p:txBody>
      </p:sp>
      <p:sp>
        <p:nvSpPr>
          <p:cNvPr id="229" name="Google Shape;229;g23afdcb60fa_0_4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21435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1eaf12ce33_0_5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7" name="Google Shape;247;g21eaf12ce33_0_5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61745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2814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92846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13157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6" name="Google Shape;276;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dirty="0" smtClean="0"/>
              <a:t>To analyze bias and variance when the training set comes from a different distribution than the dev and test sets, one can create a new subset of data called the training-dev set that has the same distribution as the training set but is not explicitly trained on. </a:t>
            </a:r>
          </a:p>
          <a:p>
            <a:pPr marL="342900" indent="-342900">
              <a:buFont typeface="Arial" panose="020B0604020202020204" pitchFamily="34" charset="0"/>
              <a:buChar char="•"/>
            </a:pPr>
            <a:r>
              <a:rPr lang="en-US" sz="1100" dirty="0" smtClean="0"/>
              <a:t>By analyzing the error of the classifier on the training set, training-dev set, and dev set, one can determine the degree of avoidable bias, variance, and data mismatch problems. Training on data from different distributions can help address data mismatch, but there are no systematic ways to do so. Therefore, it is important to carefully monitor the performance of the model and make necessary adjustments to improve its generalization capability.</a:t>
            </a:r>
          </a:p>
          <a:p>
            <a:pPr marL="0" lvl="0" indent="0" algn="l" rtl="0">
              <a:lnSpc>
                <a:spcPct val="100000"/>
              </a:lnSpc>
              <a:spcBef>
                <a:spcPts val="0"/>
              </a:spcBef>
              <a:spcAft>
                <a:spcPts val="0"/>
              </a:spcAft>
              <a:buSzPts val="1100"/>
              <a:buNone/>
            </a:pPr>
            <a:endParaRPr dirty="0"/>
          </a:p>
        </p:txBody>
      </p:sp>
      <p:sp>
        <p:nvSpPr>
          <p:cNvPr id="284" name="Google Shape;284;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1eaf12ce33_1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8" name="Google Shape;298;g21eaf12ce33_1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7" name="Google Shape;317;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7" name="Google Shape;337;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1eaf12ce33_1_3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spcBef>
                <a:spcPts val="0"/>
              </a:spcBef>
              <a:spcAft>
                <a:spcPts val="0"/>
              </a:spcAft>
              <a:buClr>
                <a:schemeClr val="dk1"/>
              </a:buClr>
              <a:buSzPts val="2400"/>
              <a:buChar char="●"/>
            </a:pPr>
            <a:r>
              <a:rPr lang="en-US" sz="1100" dirty="0" smtClean="0">
                <a:solidFill>
                  <a:schemeClr val="dk1"/>
                </a:solidFill>
              </a:rPr>
              <a:t>Learning from multiple types of data at the same time, also known as multi-task learning, can be a powerful technique for improving performance on multiple related tasks. The basic idea is that instead of training a separate neural network for each task, you train a single neural network that can perform well on all tasks simultaneously. Multi-task learning can be especially useful when the tasks share some common structure or information.</a:t>
            </a:r>
          </a:p>
          <a:p>
            <a:pPr marL="457200" lvl="0" indent="-381000" algn="just" rtl="0">
              <a:spcBef>
                <a:spcPts val="0"/>
              </a:spcBef>
              <a:spcAft>
                <a:spcPts val="0"/>
              </a:spcAft>
              <a:buClr>
                <a:schemeClr val="dk1"/>
              </a:buClr>
              <a:buSzPts val="2400"/>
              <a:buChar char="●"/>
            </a:pPr>
            <a:endParaRPr lang="en-US" sz="1100" dirty="0" smtClean="0">
              <a:solidFill>
                <a:schemeClr val="dk1"/>
              </a:solidFill>
            </a:endParaRPr>
          </a:p>
          <a:p>
            <a:pPr marL="457200" lvl="0" indent="-381000" algn="just" rtl="0">
              <a:spcBef>
                <a:spcPts val="0"/>
              </a:spcBef>
              <a:spcAft>
                <a:spcPts val="0"/>
              </a:spcAft>
              <a:buClr>
                <a:schemeClr val="dk1"/>
              </a:buClr>
              <a:buSzPts val="2400"/>
              <a:buChar char="●"/>
            </a:pPr>
            <a:r>
              <a:rPr lang="en-US" sz="1100" dirty="0" smtClean="0">
                <a:solidFill>
                  <a:schemeClr val="dk1"/>
                </a:solidFill>
              </a:rPr>
              <a:t>For example, suppose you are building a system for detecting emotions in text. You might have different tasks for detecting anger, sadness, and happiness. One approach would be to train separate neural networks for each task. However, you might find that these tasks share some common structure, such as certain words or phrases that are associated with specific emotions. In this case, you could use multi-task learning to train a single neural network that can detect all three emotions simultaneously.</a:t>
            </a:r>
          </a:p>
          <a:p>
            <a:pPr marL="457200" lvl="0" indent="-381000" algn="just" rtl="0">
              <a:spcBef>
                <a:spcPts val="0"/>
              </a:spcBef>
              <a:spcAft>
                <a:spcPts val="0"/>
              </a:spcAft>
              <a:buClr>
                <a:schemeClr val="dk1"/>
              </a:buClr>
              <a:buSzPts val="2400"/>
              <a:buChar char="●"/>
            </a:pPr>
            <a:r>
              <a:rPr lang="en-US" sz="1100" dirty="0" smtClean="0">
                <a:solidFill>
                  <a:schemeClr val="dk1"/>
                </a:solidFill>
              </a:rPr>
              <a:t>There are a few key challenges when it comes to multi-task learning. </a:t>
            </a:r>
          </a:p>
          <a:p>
            <a:pPr marL="76200" lvl="0" algn="just" rtl="0">
              <a:spcBef>
                <a:spcPts val="0"/>
              </a:spcBef>
              <a:spcAft>
                <a:spcPts val="0"/>
              </a:spcAft>
              <a:buClr>
                <a:schemeClr val="dk1"/>
              </a:buClr>
              <a:buSzPts val="2400"/>
            </a:pPr>
            <a:r>
              <a:rPr lang="en-US" sz="1100" dirty="0" smtClean="0">
                <a:solidFill>
                  <a:schemeClr val="dk1"/>
                </a:solidFill>
              </a:rPr>
              <a:t>	- One is determining how much to weight each task during training. You don't 	want to give too much weight to one task at the expense of the others, but you 	also don't want to give equal weight to all tasks if some are more important than 	others.</a:t>
            </a:r>
          </a:p>
          <a:p>
            <a:pPr marL="76200" lvl="0" algn="just" rtl="0">
              <a:spcBef>
                <a:spcPts val="0"/>
              </a:spcBef>
              <a:spcAft>
                <a:spcPts val="0"/>
              </a:spcAft>
              <a:buClr>
                <a:schemeClr val="dk1"/>
              </a:buClr>
              <a:buSzPts val="2400"/>
            </a:pPr>
            <a:r>
              <a:rPr lang="en-US" sz="1100" dirty="0" smtClean="0">
                <a:solidFill>
                  <a:schemeClr val="dk1"/>
                </a:solidFill>
              </a:rPr>
              <a:t>	- Another challenge is determining how to share information between the tasks. 	You want to allow the network to learn from each task, but you also want to 	ensure that the network is not overfitting to one task at the expense of the 	others.</a:t>
            </a:r>
          </a:p>
          <a:p>
            <a:pPr marL="457200" lvl="0" indent="-381000" algn="just" rtl="0">
              <a:spcBef>
                <a:spcPts val="0"/>
              </a:spcBef>
              <a:spcAft>
                <a:spcPts val="0"/>
              </a:spcAft>
              <a:buClr>
                <a:schemeClr val="dk1"/>
              </a:buClr>
              <a:buSzPts val="2400"/>
              <a:buChar char="●"/>
            </a:pPr>
            <a:r>
              <a:rPr lang="en-US" sz="1100" dirty="0" smtClean="0">
                <a:solidFill>
                  <a:schemeClr val="dk1"/>
                </a:solidFill>
              </a:rPr>
              <a:t>One common approach to multi-task learning is to use a shared representation. This means that you have a single neural network that takes in all the inputs for all the tasks, and then learns a common representation that is used for all tasks. This can be useful for capturing common structure between the tasks.</a:t>
            </a:r>
          </a:p>
          <a:p>
            <a:pPr marL="457200" lvl="0" indent="-381000" algn="just" rtl="0">
              <a:spcBef>
                <a:spcPts val="0"/>
              </a:spcBef>
              <a:spcAft>
                <a:spcPts val="0"/>
              </a:spcAft>
              <a:buClr>
                <a:schemeClr val="dk1"/>
              </a:buClr>
              <a:buSzPts val="2400"/>
              <a:buChar char="●"/>
            </a:pPr>
            <a:endParaRPr lang="en-US" sz="1100" dirty="0" smtClean="0">
              <a:solidFill>
                <a:schemeClr val="dk1"/>
              </a:solidFill>
            </a:endParaRPr>
          </a:p>
          <a:p>
            <a:pPr marL="457200" lvl="0" indent="-381000" algn="just" rtl="0">
              <a:spcBef>
                <a:spcPts val="0"/>
              </a:spcBef>
              <a:spcAft>
                <a:spcPts val="0"/>
              </a:spcAft>
              <a:buClr>
                <a:schemeClr val="dk1"/>
              </a:buClr>
              <a:buSzPts val="2400"/>
              <a:buChar char="●"/>
            </a:pPr>
            <a:r>
              <a:rPr lang="en-US" sz="1100" dirty="0" smtClean="0">
                <a:solidFill>
                  <a:schemeClr val="dk1"/>
                </a:solidFill>
              </a:rPr>
              <a:t>Another approach is to use task-specific layers, where each task has its own set of layers that are trained on top of the shared representation. This can be useful for capturing task-specific information.</a:t>
            </a:r>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dirty="0" smtClean="0"/>
              <a:t>Overall, multi-task learning can be a powerful technique for improving performance on related tasks. By leveraging common structure between the tasks, you can train a single neural network that can perform well on multiple tasks simultaneously. However, there are also some challenges to multi-task learning, such as determining how much to weight each task and how to share information between the tasks.</a:t>
            </a:r>
          </a:p>
          <a:p>
            <a:pPr marL="171450" lvl="0" indent="-171450" algn="l" rtl="0">
              <a:lnSpc>
                <a:spcPct val="100000"/>
              </a:lnSpc>
              <a:spcBef>
                <a:spcPts val="0"/>
              </a:spcBef>
              <a:spcAft>
                <a:spcPts val="0"/>
              </a:spcAft>
              <a:buSzPts val="1100"/>
            </a:pPr>
            <a:endParaRPr dirty="0"/>
          </a:p>
        </p:txBody>
      </p:sp>
      <p:sp>
        <p:nvSpPr>
          <p:cNvPr id="345" name="Google Shape;345;g21eaf12ce33_1_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4" name="Google Shape;374;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9" name="Google Shape;389;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9" name="Google Shape;399;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1eaf12ce33_1_4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Transfer learning is a powerful idea in deep learning, where you can take the knowledge a neural network has learned from one task and apply it to a separate task. This is especially useful when you have a lot of data for the task you're transferring from and relatively little data for the task you're transferring to.</a:t>
            </a:r>
          </a:p>
          <a:p>
            <a:pPr marL="76200" lvl="0" algn="just" rtl="0">
              <a:lnSpc>
                <a:spcPct val="115000"/>
              </a:lnSpc>
              <a:spcBef>
                <a:spcPts val="0"/>
              </a:spcBef>
              <a:spcAft>
                <a:spcPts val="0"/>
              </a:spcAft>
              <a:buClr>
                <a:schemeClr val="dk1"/>
              </a:buClr>
              <a:buSzPts val="2400"/>
            </a:pPr>
            <a:r>
              <a:rPr lang="en-US" sz="1100" dirty="0" smtClean="0">
                <a:solidFill>
                  <a:schemeClr val="dk1"/>
                </a:solidFill>
                <a:highlight>
                  <a:schemeClr val="lt1"/>
                </a:highlight>
              </a:rPr>
              <a:t>	- For example, if you've trained a neural network on image 	recognition 	with a million images and now you want to build a 	radiology 	diagnosis system with only a hundred x-ray scans, you 	can transfer 	the knowledge learned from image recognition to 	radiology 	diagnosis.</a:t>
            </a:r>
          </a:p>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To implement transfer learning, you first train a neural network on the source task, such as image recognition. Then, you remove the last output layer and create a new set of randomly initialized weights for the last layer to output the target task, such as radiology diagnosis. Depending on the amount of data you have, you may retrain only the last layer's weights or all the layers' weights.</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Transfer learning makes sense when the input for both tasks is the same, such as images or audio clips. It also makes sense when there is more data for the source task than for the target task and when low-level features from the source task could be helpful for learning the target task.</a:t>
            </a:r>
          </a:p>
          <a:p>
            <a:pPr marL="171450" lvl="0" indent="-171450" algn="l" rtl="0">
              <a:lnSpc>
                <a:spcPct val="100000"/>
              </a:lnSpc>
              <a:spcBef>
                <a:spcPts val="0"/>
              </a:spcBef>
              <a:spcAft>
                <a:spcPts val="0"/>
              </a:spcAft>
              <a:buSzPts val="1100"/>
            </a:pPr>
            <a:endParaRPr dirty="0"/>
          </a:p>
        </p:txBody>
      </p:sp>
      <p:sp>
        <p:nvSpPr>
          <p:cNvPr id="407" name="Google Shape;407;g21eaf12ce33_1_4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8" name="Google Shape;428;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5" name="Google Shape;435;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3afdcb60fa_0_8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1" name="Google Shape;421;g23afdcb60fa_0_8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2" name="Google Shape;442;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21eaf12ce33_1_4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In traditional machine learning pipelines, the input data goes through several stages of processing, such as feature extraction, feature selection, and then finally prediction. End-to-end deep learning, on the other hand, seeks to learn a complete task from raw input data to the final output, without the need for manual feature engineering or other intermediate steps.</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In end-to-end learning, the neural network takes raw input data as its input, and directly outputs the final prediction or output. The neural network is trained end-to-end using backpropagation, adjusting the weights and biases of the network to minimize the error or loss between the predicted output and the ground truth labels.</a:t>
            </a:r>
          </a:p>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One benefit of end-to-end learning is that it can often produce better results than traditional machine learning pipelines, especially when dealing with complex tasks that have many intermediate steps. </a:t>
            </a:r>
          </a:p>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Another advantage is that it can be more efficient, since it eliminates the need for manual feature engineering and other intermediate steps, which can be time-consuming and error-prone.</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Some examples of end-to-end deep learning applications include image classification, object detection, speech recognition, and natural language processing. In these applications, the neural network takes the raw input data, such as images or audio, and directly outputs the final prediction, such as the class of the image or the text transcription of the speech.</a:t>
            </a:r>
          </a:p>
          <a:p>
            <a:pPr marL="457200" lvl="0" indent="-381000" algn="just" rtl="0">
              <a:lnSpc>
                <a:spcPct val="115000"/>
              </a:lnSpc>
              <a:spcBef>
                <a:spcPts val="1500"/>
              </a:spcBef>
              <a:spcAft>
                <a:spcPts val="0"/>
              </a:spcAft>
              <a:buClr>
                <a:schemeClr val="dk1"/>
              </a:buClr>
              <a:buSzPts val="2400"/>
              <a:buChar char="●"/>
            </a:pPr>
            <a:r>
              <a:rPr lang="en-US" sz="1100" dirty="0" smtClean="0">
                <a:solidFill>
                  <a:schemeClr val="dk1"/>
                </a:solidFill>
                <a:highlight>
                  <a:schemeClr val="lt1"/>
                </a:highlight>
              </a:rPr>
              <a:t>However, end-to-end learning is not always the best approach for every task. For example, in some cases, it may be more efficient or accurate to use a traditional machine learning pipeline with manual feature engineering. Additionally, end-to-end learning can require large amounts of data and computing resources to train the neural network, which may not be feasible in some settings.</a:t>
            </a:r>
          </a:p>
          <a:p>
            <a:pPr marL="457200" lvl="0" indent="-381000" algn="just" rtl="0">
              <a:lnSpc>
                <a:spcPct val="115000"/>
              </a:lnSpc>
              <a:spcBef>
                <a:spcPts val="0"/>
              </a:spcBef>
              <a:spcAft>
                <a:spcPts val="0"/>
              </a:spcAft>
              <a:buClr>
                <a:schemeClr val="dk1"/>
              </a:buClr>
              <a:buSzPts val="2400"/>
              <a:buChar char="●"/>
            </a:pPr>
            <a:r>
              <a:rPr lang="en-US" sz="1100" dirty="0" smtClean="0">
                <a:solidFill>
                  <a:schemeClr val="dk1"/>
                </a:solidFill>
                <a:highlight>
                  <a:schemeClr val="lt1"/>
                </a:highlight>
              </a:rPr>
              <a:t>Overall, end-to-end learning is a powerful technique in deep learning that can automate the entire machine learning pipeline, from raw input data to final output, without the need for manual feature engineering or other intermediate steps.</a:t>
            </a:r>
          </a:p>
          <a:p>
            <a:pPr marL="457200" lvl="0" indent="0" algn="just" rtl="0">
              <a:lnSpc>
                <a:spcPct val="115000"/>
              </a:lnSpc>
              <a:spcBef>
                <a:spcPts val="0"/>
              </a:spcBef>
              <a:spcAft>
                <a:spcPts val="0"/>
              </a:spcAft>
              <a:buNone/>
            </a:pPr>
            <a:endParaRPr lang="en-US" sz="1100" dirty="0" smtClean="0">
              <a:solidFill>
                <a:schemeClr val="dk1"/>
              </a:solidFill>
              <a:highlight>
                <a:schemeClr val="lt1"/>
              </a:highlight>
            </a:endParaRPr>
          </a:p>
          <a:p>
            <a:pPr marL="457200" lvl="0" indent="-381000" algn="just" rtl="0">
              <a:lnSpc>
                <a:spcPct val="115000"/>
              </a:lnSpc>
              <a:spcBef>
                <a:spcPts val="0"/>
              </a:spcBef>
              <a:spcAft>
                <a:spcPts val="0"/>
              </a:spcAft>
              <a:buClr>
                <a:schemeClr val="dk1"/>
              </a:buClr>
              <a:buSzPts val="2400"/>
              <a:buChar char="●"/>
            </a:pPr>
            <a:endParaRPr lang="en-US" sz="1100" dirty="0" smtClean="0">
              <a:solidFill>
                <a:schemeClr val="dk1"/>
              </a:solidFill>
              <a:highlight>
                <a:schemeClr val="lt1"/>
              </a:highlight>
            </a:endParaRPr>
          </a:p>
        </p:txBody>
      </p:sp>
      <p:sp>
        <p:nvSpPr>
          <p:cNvPr id="450" name="Google Shape;450;g21eaf12ce33_1_4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2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1" name="Google Shape;471;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2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9" name="Google Shape;479;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6" name="Google Shape;486;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6" name="Google Shape;486;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17726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4" name="Google Shape;494;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21eaf12ce33_1_5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spcBef>
                <a:spcPts val="0"/>
              </a:spcBef>
              <a:spcAft>
                <a:spcPts val="0"/>
              </a:spcAft>
              <a:buClr>
                <a:schemeClr val="dk1"/>
              </a:buClr>
              <a:buSzPts val="2400"/>
              <a:buChar char="●"/>
            </a:pPr>
            <a:r>
              <a:rPr lang="en-US" sz="1100" dirty="0" smtClean="0">
                <a:solidFill>
                  <a:schemeClr val="dk1"/>
                </a:solidFill>
              </a:rPr>
              <a:t>End-to-end learning is a deep learning approach that aims to replace multiple stages of processing with a single neural network. Traditionally, many data processing systems required multiple stages of processing to achieve a goal.</a:t>
            </a:r>
          </a:p>
          <a:p>
            <a:pPr marL="76200" lvl="0" algn="just" rtl="0">
              <a:spcBef>
                <a:spcPts val="0"/>
              </a:spcBef>
              <a:spcAft>
                <a:spcPts val="0"/>
              </a:spcAft>
              <a:buClr>
                <a:schemeClr val="dk1"/>
              </a:buClr>
              <a:buSzPts val="2400"/>
            </a:pPr>
            <a:r>
              <a:rPr lang="en-US" sz="1100" dirty="0" smtClean="0">
                <a:solidFill>
                  <a:schemeClr val="dk1"/>
                </a:solidFill>
              </a:rPr>
              <a:t>	- For instance, speech recognition systems needed to extract hand-	designed features of the audio, apply machine learning algorithms to find 	the phonemes in the audio clip, string together phonemes to form 	individual words, and then string those together to form the transcripts of 	the audio clip. In contrast, end-to-end deep learning can train a single 	neural network to input the audio clip and output the transcript directly.</a:t>
            </a:r>
          </a:p>
          <a:p>
            <a:pPr marL="76200" lvl="0" algn="just" rtl="0">
              <a:spcBef>
                <a:spcPts val="0"/>
              </a:spcBef>
              <a:spcAft>
                <a:spcPts val="0"/>
              </a:spcAft>
              <a:buClr>
                <a:schemeClr val="dk1"/>
              </a:buClr>
              <a:buSzPts val="2400"/>
            </a:pPr>
            <a:endParaRPr lang="en-US" sz="1100" dirty="0" smtClean="0">
              <a:solidFill>
                <a:schemeClr val="dk1"/>
              </a:solidFill>
            </a:endParaRPr>
          </a:p>
          <a:p>
            <a:pPr marL="457200" lvl="0" indent="-381000" algn="just" rtl="0">
              <a:spcBef>
                <a:spcPts val="0"/>
              </a:spcBef>
              <a:spcAft>
                <a:spcPts val="0"/>
              </a:spcAft>
              <a:buClr>
                <a:schemeClr val="dk1"/>
              </a:buClr>
              <a:buSzPts val="2400"/>
              <a:buChar char="●"/>
            </a:pPr>
            <a:r>
              <a:rPr lang="en-US" sz="1100" dirty="0" smtClean="0">
                <a:solidFill>
                  <a:schemeClr val="dk1"/>
                </a:solidFill>
              </a:rPr>
              <a:t>However, end-to-end deep learning requires a large amount of data before it works well. There are also intermediate approaches where the neural network learns to output the phonemes of the audio clip and then undergoes other stages.</a:t>
            </a:r>
          </a:p>
          <a:p>
            <a:pPr marL="457200" lvl="0" indent="-381000" algn="just" rtl="0">
              <a:spcBef>
                <a:spcPts val="0"/>
              </a:spcBef>
              <a:spcAft>
                <a:spcPts val="0"/>
              </a:spcAft>
              <a:buSzPts val="2400"/>
              <a:buChar char="●"/>
            </a:pPr>
            <a:r>
              <a:rPr lang="en-US" sz="1100" dirty="0" smtClean="0"/>
              <a:t>End-to-end learning works better for some tasks than others. For example, it works well for machine translation, where large datasets of English-French sentence pairs are available. </a:t>
            </a:r>
          </a:p>
          <a:p>
            <a:pPr marL="457200" lvl="0" indent="-381000" algn="just" rtl="0">
              <a:spcBef>
                <a:spcPts val="0"/>
              </a:spcBef>
              <a:spcAft>
                <a:spcPts val="0"/>
              </a:spcAft>
              <a:buSzPts val="2400"/>
              <a:buChar char="●"/>
            </a:pPr>
            <a:r>
              <a:rPr lang="en-US" sz="1100" dirty="0" smtClean="0"/>
              <a:t>However, it may not work as well for tasks like estimating the age of a child from an X-ray image, where breaking down the problem into two steps may be more effective. In this case, step one involves recognizing the bones in the image, and step two involves estimating the age of the child based on the lengths of the bones.</a:t>
            </a:r>
          </a:p>
          <a:p>
            <a:pPr marL="457200" lvl="0" indent="-381000" algn="just" rtl="0">
              <a:spcBef>
                <a:spcPts val="0"/>
              </a:spcBef>
              <a:spcAft>
                <a:spcPts val="0"/>
              </a:spcAft>
              <a:buSzPts val="2400"/>
              <a:buChar char="●"/>
            </a:pPr>
            <a:r>
              <a:rPr lang="en-US" sz="1100" dirty="0" smtClean="0"/>
              <a:t>In conclusion, end-to-end deep learning is an exciting development in deep learning that can simplify complex machine learning systems. However, it is not always the best approach and requires large amounts of data to work well. Researchers should consider the nature of the task and the availability of data when deciding whether to use end-to-end deep learning or other approaches.</a:t>
            </a:r>
          </a:p>
          <a:p>
            <a:pPr marL="171450" lvl="0" indent="-171450" algn="l" rtl="0">
              <a:lnSpc>
                <a:spcPct val="100000"/>
              </a:lnSpc>
              <a:spcBef>
                <a:spcPts val="0"/>
              </a:spcBef>
              <a:spcAft>
                <a:spcPts val="0"/>
              </a:spcAft>
              <a:buSzPts val="1100"/>
            </a:pPr>
            <a:endParaRPr dirty="0"/>
          </a:p>
        </p:txBody>
      </p:sp>
      <p:sp>
        <p:nvSpPr>
          <p:cNvPr id="502" name="Google Shape;502;g21eaf12ce33_1_5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3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6" name="Google Shape;516;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4" name="Google Shape;524;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3" name="Google Shape;533;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3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0" name="Google Shape;550;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3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lvl="0" indent="-381000" algn="just" rtl="0">
              <a:spcBef>
                <a:spcPts val="0"/>
              </a:spcBef>
              <a:spcAft>
                <a:spcPts val="0"/>
              </a:spcAft>
              <a:buClr>
                <a:schemeClr val="dk1"/>
              </a:buClr>
              <a:buSzPts val="2400"/>
              <a:buChar char="●"/>
            </a:pPr>
            <a:r>
              <a:rPr lang="en-US" sz="1100" dirty="0" smtClean="0">
                <a:solidFill>
                  <a:schemeClr val="dk1"/>
                </a:solidFill>
              </a:rPr>
              <a:t>In machine learning, an end-to-end approach refers to a system where the input data is fed directly into the algorithm and the output is the final result, without any intermediate steps or manual feature engineering. One of the benefits of this approach is that it allows the data to speak for itself, and the algorithm can capture whatever statistics are in the data rather than being forced to reflect human preconceptions. This can result in better performance when dealing with complex problems that are difficult to hand design features for.</a:t>
            </a:r>
          </a:p>
          <a:p>
            <a:pPr marL="457200" lvl="0" indent="-381000" algn="just" rtl="0">
              <a:spcBef>
                <a:spcPts val="0"/>
              </a:spcBef>
              <a:spcAft>
                <a:spcPts val="0"/>
              </a:spcAft>
              <a:buClr>
                <a:schemeClr val="dk1"/>
              </a:buClr>
              <a:buSzPts val="2400"/>
              <a:buChar char="●"/>
            </a:pPr>
            <a:r>
              <a:rPr lang="en-US" sz="1100" dirty="0" smtClean="0">
                <a:solidFill>
                  <a:schemeClr val="dk1"/>
                </a:solidFill>
              </a:rPr>
              <a:t>However, one downside of end-to-end deep learning is that it may require a large amount of data to learn the complex mapping from input to output directly. Another disadvantage is that it excludes potentially useful hand-designed components, which can be helpful when dealing with a small training set. In such cases, hand-designed components can help inject human knowledge into the algorithm, and they can be helpful for learning more from less data.</a:t>
            </a:r>
          </a:p>
          <a:p>
            <a:pPr marL="457200" lvl="0" indent="-381000" algn="just" rtl="0">
              <a:spcBef>
                <a:spcPts val="0"/>
              </a:spcBef>
              <a:spcAft>
                <a:spcPts val="0"/>
              </a:spcAft>
              <a:buSzPts val="2400"/>
              <a:buChar char="●"/>
            </a:pPr>
            <a:r>
              <a:rPr lang="en-US" sz="1100" dirty="0" smtClean="0"/>
              <a:t>When deciding whether or not to use end-to-end deep learning, one should consider the complexity of the task and whether or not there is sufficient data to learn the function mapping from input to output directly. In some cases, it may be more promising to use a combination of machine learning and hand-designed components to solve a problem. For example, in autonomous driving, deep learning can be used to detect other cars and pedestrians, but motion planning and control algorithms may be needed to plan and execute the car's route safely.</a:t>
            </a:r>
          </a:p>
          <a:p>
            <a:pPr marL="457200" lvl="0" indent="-381000" algn="just" rtl="0">
              <a:spcBef>
                <a:spcPts val="0"/>
              </a:spcBef>
              <a:spcAft>
                <a:spcPts val="0"/>
              </a:spcAft>
              <a:buSzPts val="2400"/>
              <a:buChar char="●"/>
            </a:pPr>
            <a:r>
              <a:rPr lang="en-US" sz="1100" dirty="0" smtClean="0"/>
              <a:t>In summary, while end-to-end deep learning can sometimes work well, it is important to be mindful of where it is applied and whether or not there is sufficient data to support it. By carefully choosing what types of X to Y mappings to learn and considering the availability of data, machine learning engineers can create more effective and efficient systems.</a:t>
            </a:r>
          </a:p>
          <a:p>
            <a:pPr marL="171450" lvl="0" indent="-171450" algn="l" rtl="0">
              <a:lnSpc>
                <a:spcPct val="100000"/>
              </a:lnSpc>
              <a:spcBef>
                <a:spcPts val="0"/>
              </a:spcBef>
              <a:spcAft>
                <a:spcPts val="0"/>
              </a:spcAft>
              <a:buSzPts val="1100"/>
            </a:pPr>
            <a:endParaRPr dirty="0"/>
          </a:p>
        </p:txBody>
      </p:sp>
      <p:sp>
        <p:nvSpPr>
          <p:cNvPr id="558" name="Google Shape;558;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21eaf12ce33_1_7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2" name="Google Shape;572;g21eaf12ce33_1_7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3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9" name="Google Shape;579;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Carrying Out Error Analysis: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Involves analyzing errors made by a model to identify patterns, prioritize improvements, and 	refine the training process.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Cleaning Up Incorrectly Labeled Data:</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Addresses inaccuracies in labeled data through careful examination, correction, and 	validation of the labels.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Build Your First System Quickly, Then Iterate: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Suggests creating an initial model promptly to establish a baseline, then iteratively improving it 	based on insights gained from errors and analysis.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Training and Testing on Different Distributions: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need to ensure consistent data distribution between training and testing phases 	for 	accurate evaluation.</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Bias and Variance with Mismatched Data Distributions: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How differing data distributions between training and testing data can lead to bias and 	variance issues.</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Addressing Data Mismatch:</a:t>
            </a:r>
          </a:p>
          <a:p>
            <a:pPr marL="12700" marR="5080" lvl="0">
              <a:lnSpc>
                <a:spcPct val="101800"/>
              </a:lnSpc>
              <a:buSzPts val="2400"/>
            </a:pPr>
            <a:r>
              <a:rPr lang="en-US" sz="2400" dirty="0" smtClean="0">
                <a:ea typeface="Century Schoolbook"/>
                <a:cs typeface="Century Schoolbook"/>
                <a:sym typeface="Century Schoolbook"/>
              </a:rPr>
              <a:t>	</a:t>
            </a:r>
            <a:r>
              <a:rPr lang="en-US" sz="2000" dirty="0" smtClean="0">
                <a:ea typeface="Century Schoolbook"/>
                <a:cs typeface="Century Schoolbook"/>
                <a:sym typeface="Century Schoolbook"/>
              </a:rPr>
              <a:t>Provides strategies to handle data distribution mismatches, like manual data labeling, domain 	adaptation, and re-weighting.</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Transfer Learning:</a:t>
            </a:r>
          </a:p>
          <a:p>
            <a:pPr marL="12700" marR="5080" lvl="0">
              <a:lnSpc>
                <a:spcPct val="101800"/>
              </a:lnSpc>
              <a:buSzPts val="2400"/>
            </a:pPr>
            <a:r>
              <a:rPr lang="en-US" sz="2400" dirty="0" smtClean="0">
                <a:ea typeface="Century Schoolbook"/>
                <a:cs typeface="Century Schoolbook"/>
                <a:sym typeface="Century Schoolbook"/>
              </a:rPr>
              <a:t>	</a:t>
            </a:r>
            <a:r>
              <a:rPr lang="en-US" sz="2000" dirty="0" smtClean="0">
                <a:ea typeface="Century Schoolbook"/>
                <a:cs typeface="Century Schoolbook"/>
                <a:sym typeface="Century Schoolbook"/>
              </a:rPr>
              <a:t>Utilizes pre-trained models on a related task to improve performance on a target task, saving 	time and resources.</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Multi-Task Learning:</a:t>
            </a:r>
          </a:p>
          <a:p>
            <a:pPr marL="12700" marR="5080" lvl="2">
              <a:lnSpc>
                <a:spcPct val="101800"/>
              </a:lnSpc>
              <a:buSzPts val="2400"/>
            </a:pPr>
            <a:r>
              <a:rPr lang="en-US" sz="2400" dirty="0" smtClean="0">
                <a:ea typeface="Century Schoolbook"/>
                <a:cs typeface="Century Schoolbook"/>
                <a:sym typeface="Century Schoolbook"/>
              </a:rPr>
              <a:t>	</a:t>
            </a:r>
            <a:r>
              <a:rPr lang="en-US" sz="2000" dirty="0" smtClean="0">
                <a:ea typeface="Century Schoolbook"/>
                <a:cs typeface="Century Schoolbook"/>
                <a:sym typeface="Century Schoolbook"/>
              </a:rPr>
              <a:t>Involves training a model on multiple tasks concurrently, allowing shared knowledge to benefit 	each task and enhance overall performance.</a:t>
            </a:r>
          </a:p>
          <a:p>
            <a:pPr marL="355600" marR="5080" lvl="2" indent="-342900">
              <a:lnSpc>
                <a:spcPct val="101800"/>
              </a:lnSpc>
              <a:buSzPts val="2400"/>
              <a:buFont typeface="Arial" panose="020B0604020202020204" pitchFamily="34" charset="0"/>
              <a:buChar char="•"/>
            </a:pPr>
            <a:r>
              <a:rPr lang="en-US" sz="2000" dirty="0" smtClean="0">
                <a:ea typeface="Century Schoolbook"/>
                <a:cs typeface="Century Schoolbook"/>
                <a:sym typeface="Century Schoolbook"/>
              </a:rPr>
              <a:t>What Is End-to-End Deep Learning:</a:t>
            </a:r>
          </a:p>
          <a:p>
            <a:pPr marL="12700" marR="5080" lvl="3">
              <a:lnSpc>
                <a:spcPct val="101800"/>
              </a:lnSpc>
              <a:buSzPts val="2400"/>
            </a:pPr>
            <a:r>
              <a:rPr lang="en-US" sz="2000" dirty="0" smtClean="0">
                <a:ea typeface="Century Schoolbook"/>
                <a:cs typeface="Century Schoolbook"/>
                <a:sym typeface="Century Schoolbook"/>
              </a:rPr>
              <a:t>	End-to-end deep </a:t>
            </a:r>
            <a:r>
              <a:rPr lang="en-US" sz="2000" dirty="0" err="1" smtClean="0">
                <a:ea typeface="Century Schoolbook"/>
                <a:cs typeface="Century Schoolbook"/>
                <a:sym typeface="Century Schoolbook"/>
              </a:rPr>
              <a:t>leing</a:t>
            </a:r>
            <a:r>
              <a:rPr lang="en-US" sz="2000" dirty="0" smtClean="0">
                <a:ea typeface="Century Schoolbook"/>
                <a:cs typeface="Century Schoolbook"/>
                <a:sym typeface="Century Schoolbook"/>
              </a:rPr>
              <a:t> aims to automate the entire pipeline, from raw input to the final 	output, minimizing human involvement.</a:t>
            </a:r>
          </a:p>
          <a:p>
            <a:pPr marL="355600" marR="5080" lvl="2" indent="-342900">
              <a:lnSpc>
                <a:spcPct val="101800"/>
              </a:lnSpc>
              <a:buSzPts val="2400"/>
              <a:buFont typeface="Arial" panose="020B0604020202020204" pitchFamily="34" charset="0"/>
              <a:buChar char="•"/>
            </a:pPr>
            <a:r>
              <a:rPr lang="en-US" sz="2000" dirty="0" smtClean="0">
                <a:ea typeface="Century Schoolbook"/>
                <a:cs typeface="Century Schoolbook"/>
                <a:sym typeface="Century Schoolbook"/>
              </a:rPr>
              <a:t>Whether to Use End-to-End Learning:</a:t>
            </a:r>
          </a:p>
          <a:p>
            <a:pPr marL="12700" marR="5080" lvl="2">
              <a:lnSpc>
                <a:spcPct val="101800"/>
              </a:lnSpc>
              <a:buSzPts val="2400"/>
            </a:pPr>
            <a:r>
              <a:rPr lang="en-US" sz="2000" dirty="0" smtClean="0">
                <a:ea typeface="Century Schoolbook"/>
                <a:cs typeface="Century Schoolbook"/>
                <a:sym typeface="Century Schoolbook"/>
              </a:rPr>
              <a:t>	When to opt for end-to-end learning, considering factors like data availability, 	resources, 	and task complexity.</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311874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734898" y="1268310"/>
            <a:ext cx="10722203" cy="176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734898" y="1268310"/>
            <a:ext cx="10722203" cy="17653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 name="Google Shape;14;p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734898" y="1268310"/>
            <a:ext cx="10722203" cy="176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10411" y="2107971"/>
            <a:ext cx="4212590" cy="37801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b="0" i="0" u="sng">
                <a:solidFill>
                  <a:schemeClr val="dk1"/>
                </a:solidFill>
                <a:latin typeface="Cambria"/>
                <a:ea typeface="Cambria"/>
                <a:cs typeface="Cambria"/>
                <a:sym typeface="Cambria"/>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 name="Google Shape;20;p3"/>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734898" y="1268310"/>
            <a:ext cx="10722203" cy="176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9"/>
        <p:cNvGrpSpPr/>
        <p:nvPr/>
      </p:nvGrpSpPr>
      <p:grpSpPr>
        <a:xfrm>
          <a:off x="0" y="0"/>
          <a:ext cx="0" cy="0"/>
          <a:chOff x="0" y="0"/>
          <a:chExt cx="0" cy="0"/>
        </a:xfrm>
      </p:grpSpPr>
      <p:sp>
        <p:nvSpPr>
          <p:cNvPr id="30" name="Google Shape;30;p5"/>
          <p:cNvSpPr txBox="1">
            <a:spLocks noGrp="1"/>
          </p:cNvSpPr>
          <p:nvPr>
            <p:ph type="ctrTitle"/>
          </p:nvPr>
        </p:nvSpPr>
        <p:spPr>
          <a:xfrm>
            <a:off x="261620" y="139700"/>
            <a:ext cx="11668759" cy="6959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34898" y="1268310"/>
            <a:ext cx="10722203" cy="17653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734898" y="1268310"/>
            <a:ext cx="10722203" cy="17653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p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microsoft.com/office/2018/10/relationships/comments" Target="../comments/modernComment_104_0.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microsoft.com/office/2018/10/relationships/comments" Target="../comments/modernComment_10A_0.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microsoft.com/office/2018/10/relationships/comments" Target="../comments/modernComment_111_0.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1.png"/><Relationship Id="rId4" Type="http://schemas.openxmlformats.org/officeDocument/2006/relationships/image" Target="../media/image22.png"/><Relationship Id="rId9" Type="http://schemas.openxmlformats.org/officeDocument/2006/relationships/image" Target="../media/image27.png"/></Relationships>
</file>

<file path=ppt/slides/_rels/slide3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1.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27.png"/><Relationship Id="rId5" Type="http://schemas.openxmlformats.org/officeDocument/2006/relationships/image" Target="../media/image30.png"/><Relationship Id="rId10" Type="http://schemas.openxmlformats.org/officeDocument/2006/relationships/image" Target="../media/image26.png"/><Relationship Id="rId4" Type="http://schemas.openxmlformats.org/officeDocument/2006/relationships/image" Target="../media/image29.png"/><Relationship Id="rId9"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microsoft.com/office/2018/10/relationships/comments" Target="../comments/modernComment_120_0.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image" Target="../media/image40.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microsoft.com/office/2018/10/relationships/comments" Target="../comments/modernComment_12D_0.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1.png"/><Relationship Id="rId4" Type="http://schemas.openxmlformats.org/officeDocument/2006/relationships/image" Target="../media/image49.png"/><Relationship Id="rId9" Type="http://schemas.openxmlformats.org/officeDocument/2006/relationships/image" Target="../media/image54.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microsoft.com/office/2018/10/relationships/comments" Target="../comments/modernComment_13A_0.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48.png"/><Relationship Id="rId7" Type="http://schemas.openxmlformats.org/officeDocument/2006/relationships/image" Target="../media/image58.pn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image" Target="../media/image57.png"/><Relationship Id="rId11" Type="http://schemas.microsoft.com/office/2018/10/relationships/comments" Target="../comments/modernComment_13D_0.xml"/><Relationship Id="rId5" Type="http://schemas.openxmlformats.org/officeDocument/2006/relationships/image" Target="../media/image56.png"/><Relationship Id="rId10" Type="http://schemas.openxmlformats.org/officeDocument/2006/relationships/image" Target="../media/image1.png"/><Relationship Id="rId4" Type="http://schemas.openxmlformats.org/officeDocument/2006/relationships/image" Target="../media/image55.png"/><Relationship Id="rId9" Type="http://schemas.openxmlformats.org/officeDocument/2006/relationships/image" Target="../media/image60.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2694324" y="192750"/>
            <a:ext cx="7795500" cy="106182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b="1" dirty="0">
                <a:solidFill>
                  <a:srgbClr val="0F0F0F"/>
                </a:solidFill>
                <a:highlight>
                  <a:srgbClr val="FFFFFF"/>
                </a:highlight>
                <a:latin typeface="+mj-lt"/>
                <a:ea typeface="Roboto"/>
                <a:cs typeface="Roboto"/>
                <a:sym typeface="Roboto"/>
              </a:rPr>
              <a:t>Error </a:t>
            </a:r>
            <a:r>
              <a:rPr lang="en-US" b="1" dirty="0" smtClean="0">
                <a:solidFill>
                  <a:srgbClr val="0F0F0F"/>
                </a:solidFill>
                <a:highlight>
                  <a:srgbClr val="FFFFFF"/>
                </a:highlight>
                <a:latin typeface="+mj-lt"/>
                <a:ea typeface="Roboto"/>
                <a:cs typeface="Roboto"/>
                <a:sym typeface="Roboto"/>
              </a:rPr>
              <a:t>Analysis</a:t>
            </a:r>
            <a:endParaRPr b="1" dirty="0">
              <a:solidFill>
                <a:srgbClr val="0F0F0F"/>
              </a:solidFill>
              <a:highlight>
                <a:srgbClr val="FFFFFF"/>
              </a:highlight>
              <a:latin typeface="+mj-lt"/>
              <a:ea typeface="Roboto"/>
              <a:cs typeface="Roboto"/>
              <a:sym typeface="Roboto"/>
            </a:endParaRPr>
          </a:p>
        </p:txBody>
      </p:sp>
      <p:sp>
        <p:nvSpPr>
          <p:cNvPr id="44" name="Google Shape;44;p7"/>
          <p:cNvSpPr txBox="1">
            <a:spLocks noGrp="1"/>
          </p:cNvSpPr>
          <p:nvPr>
            <p:ph type="body" idx="1"/>
          </p:nvPr>
        </p:nvSpPr>
        <p:spPr>
          <a:xfrm>
            <a:off x="4805463" y="1944450"/>
            <a:ext cx="6877455" cy="1551194"/>
          </a:xfrm>
          <a:prstGeom prst="rect">
            <a:avLst/>
          </a:prstGeom>
          <a:noFill/>
          <a:ln>
            <a:noFill/>
          </a:ln>
        </p:spPr>
        <p:txBody>
          <a:bodyPr spcFirstLastPara="1" wrap="square" lIns="0" tIns="0" rIns="0" bIns="0" anchor="t" anchorCtr="0">
            <a:spAutoFit/>
          </a:bodyPr>
          <a:lstStyle/>
          <a:p>
            <a:pPr marL="1736725" marR="5080" lvl="0" indent="-1724660" algn="l" rtl="0">
              <a:lnSpc>
                <a:spcPct val="119697"/>
              </a:lnSpc>
              <a:spcBef>
                <a:spcPts val="0"/>
              </a:spcBef>
              <a:spcAft>
                <a:spcPts val="0"/>
              </a:spcAft>
              <a:buSzPts val="1400"/>
              <a:buNone/>
            </a:pPr>
            <a:r>
              <a:rPr lang="en-US" sz="2400" b="1" dirty="0" smtClean="0">
                <a:latin typeface="+mn-lt"/>
              </a:rPr>
              <a:t>Learning Objectives</a:t>
            </a:r>
            <a:r>
              <a:rPr lang="en-US" sz="2400" dirty="0" smtClean="0">
                <a:latin typeface="+mn-lt"/>
              </a:rPr>
              <a:t>:</a:t>
            </a:r>
          </a:p>
          <a:p>
            <a:pPr marL="182880" marR="5080" lvl="0" indent="-182880">
              <a:lnSpc>
                <a:spcPct val="119697"/>
              </a:lnSpc>
              <a:buSzPct val="100000"/>
              <a:buFont typeface="Arial" panose="020B0604020202020204" pitchFamily="34" charset="0"/>
              <a:buChar char="•"/>
            </a:pPr>
            <a:r>
              <a:rPr lang="en-US" sz="2000" dirty="0" smtClean="0">
                <a:latin typeface="+mn-lt"/>
              </a:rPr>
              <a:t>Describe multi-task learning and transfer learning</a:t>
            </a:r>
          </a:p>
          <a:p>
            <a:pPr marL="182880" marR="5080" lvl="0" indent="-182880">
              <a:lnSpc>
                <a:spcPct val="119697"/>
              </a:lnSpc>
              <a:buSzPct val="100000"/>
              <a:buFont typeface="Arial" panose="020B0604020202020204" pitchFamily="34" charset="0"/>
              <a:buChar char="•"/>
            </a:pPr>
            <a:r>
              <a:rPr lang="en-US" sz="2000" dirty="0" smtClean="0">
                <a:latin typeface="+mn-lt"/>
              </a:rPr>
              <a:t>Recognize </a:t>
            </a:r>
            <a:r>
              <a:rPr lang="en-US" sz="2000" dirty="0">
                <a:latin typeface="+mn-lt"/>
              </a:rPr>
              <a:t>bias, variance and data-mismatch by looking </a:t>
            </a:r>
            <a:r>
              <a:rPr lang="en-US" sz="2000" dirty="0" smtClean="0">
                <a:latin typeface="+mn-lt"/>
              </a:rPr>
              <a:t>at the performances </a:t>
            </a:r>
            <a:r>
              <a:rPr lang="en-US" sz="2000" dirty="0">
                <a:latin typeface="+mn-lt"/>
              </a:rPr>
              <a:t>of your algorithm on train/dev/test sets</a:t>
            </a:r>
            <a:endParaRPr sz="2000" dirty="0">
              <a:latin typeface="+mn-lt"/>
            </a:endParaRPr>
          </a:p>
        </p:txBody>
      </p:sp>
      <p:pic>
        <p:nvPicPr>
          <p:cNvPr id="45" name="Google Shape;45;p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2694324" y="192750"/>
            <a:ext cx="7795500" cy="106182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b="1" dirty="0">
                <a:solidFill>
                  <a:srgbClr val="0F0F0F"/>
                </a:solidFill>
                <a:highlight>
                  <a:srgbClr val="FFFFFF"/>
                </a:highlight>
                <a:latin typeface="+mj-lt"/>
                <a:ea typeface="Roboto"/>
                <a:cs typeface="Roboto"/>
                <a:sym typeface="Roboto"/>
              </a:rPr>
              <a:t>Error </a:t>
            </a:r>
            <a:r>
              <a:rPr lang="en-US" b="1" dirty="0" smtClean="0">
                <a:solidFill>
                  <a:srgbClr val="0F0F0F"/>
                </a:solidFill>
                <a:highlight>
                  <a:srgbClr val="FFFFFF"/>
                </a:highlight>
                <a:latin typeface="+mj-lt"/>
                <a:ea typeface="Roboto"/>
                <a:cs typeface="Roboto"/>
                <a:sym typeface="Roboto"/>
              </a:rPr>
              <a:t>Analysis</a:t>
            </a:r>
            <a:endParaRPr b="1" dirty="0">
              <a:solidFill>
                <a:srgbClr val="0F0F0F"/>
              </a:solidFill>
              <a:highlight>
                <a:srgbClr val="FFFFFF"/>
              </a:highlight>
              <a:latin typeface="+mj-lt"/>
              <a:ea typeface="Roboto"/>
              <a:cs typeface="Roboto"/>
              <a:sym typeface="Roboto"/>
            </a:endParaRPr>
          </a:p>
        </p:txBody>
      </p:sp>
      <p:sp>
        <p:nvSpPr>
          <p:cNvPr id="44" name="Google Shape;44;p7"/>
          <p:cNvSpPr txBox="1">
            <a:spLocks noGrp="1"/>
          </p:cNvSpPr>
          <p:nvPr>
            <p:ph type="body" idx="1"/>
          </p:nvPr>
        </p:nvSpPr>
        <p:spPr>
          <a:xfrm>
            <a:off x="4736499" y="1944450"/>
            <a:ext cx="7547100" cy="4417235"/>
          </a:xfrm>
          <a:prstGeom prst="rect">
            <a:avLst/>
          </a:prstGeom>
          <a:noFill/>
          <a:ln>
            <a:noFill/>
          </a:ln>
        </p:spPr>
        <p:txBody>
          <a:bodyPr spcFirstLastPara="1" wrap="square" lIns="0" tIns="0" rIns="0" bIns="0" anchor="t" anchorCtr="0">
            <a:spAutoFit/>
          </a:bodyPr>
          <a:lstStyle/>
          <a:p>
            <a:pPr marL="1736725" marR="5080" lvl="0" indent="-1724660" algn="l" rtl="0">
              <a:lnSpc>
                <a:spcPct val="119697"/>
              </a:lnSpc>
              <a:spcBef>
                <a:spcPts val="0"/>
              </a:spcBef>
              <a:spcAft>
                <a:spcPts val="0"/>
              </a:spcAft>
              <a:buSzPts val="1400"/>
              <a:buNone/>
            </a:pPr>
            <a:r>
              <a:rPr lang="en-US" sz="2400" dirty="0">
                <a:latin typeface="+mj-lt"/>
              </a:rPr>
              <a:t>1 Carrying out error analysis</a:t>
            </a:r>
            <a:endParaRPr sz="2400" dirty="0">
              <a:latin typeface="+mj-lt"/>
            </a:endParaRPr>
          </a:p>
          <a:p>
            <a:pPr marL="1736725" marR="5080" lvl="0" indent="-1724660" algn="l" rtl="0">
              <a:lnSpc>
                <a:spcPct val="119697"/>
              </a:lnSpc>
              <a:spcBef>
                <a:spcPts val="0"/>
              </a:spcBef>
              <a:spcAft>
                <a:spcPts val="0"/>
              </a:spcAft>
              <a:buSzPts val="1400"/>
              <a:buNone/>
            </a:pPr>
            <a:r>
              <a:rPr lang="en-US" sz="2400" dirty="0">
                <a:latin typeface="+mj-lt"/>
              </a:rPr>
              <a:t>2 Cleaning up Incorrectly labeled data</a:t>
            </a:r>
            <a:endParaRPr sz="2400" dirty="0">
              <a:latin typeface="+mj-lt"/>
            </a:endParaRPr>
          </a:p>
          <a:p>
            <a:pPr marL="1736725" marR="5080" lvl="0" indent="-1724660" algn="l" rtl="0">
              <a:lnSpc>
                <a:spcPct val="119697"/>
              </a:lnSpc>
              <a:spcBef>
                <a:spcPts val="0"/>
              </a:spcBef>
              <a:spcAft>
                <a:spcPts val="0"/>
              </a:spcAft>
              <a:buSzPts val="1400"/>
              <a:buNone/>
            </a:pPr>
            <a:r>
              <a:rPr lang="en-US" sz="2400" dirty="0">
                <a:latin typeface="+mj-lt"/>
              </a:rPr>
              <a:t>3 Build your first system quickly, then iterate</a:t>
            </a:r>
            <a:endParaRPr sz="2400" dirty="0">
              <a:latin typeface="+mj-lt"/>
            </a:endParaRPr>
          </a:p>
          <a:p>
            <a:pPr marL="1736725" marR="5080" lvl="0" indent="-1724660" algn="l" rtl="0">
              <a:lnSpc>
                <a:spcPct val="119697"/>
              </a:lnSpc>
              <a:spcBef>
                <a:spcPts val="0"/>
              </a:spcBef>
              <a:spcAft>
                <a:spcPts val="0"/>
              </a:spcAft>
              <a:buSzPts val="1400"/>
              <a:buNone/>
            </a:pPr>
            <a:r>
              <a:rPr lang="en-US" sz="2400" dirty="0">
                <a:latin typeface="+mj-lt"/>
              </a:rPr>
              <a:t>4 Training and testing on different distributions</a:t>
            </a:r>
            <a:endParaRPr sz="2400" dirty="0">
              <a:latin typeface="+mj-lt"/>
            </a:endParaRPr>
          </a:p>
          <a:p>
            <a:pPr marL="1736725" marR="5080" lvl="0" indent="-1724660" algn="l" rtl="0">
              <a:lnSpc>
                <a:spcPct val="119697"/>
              </a:lnSpc>
              <a:spcBef>
                <a:spcPts val="0"/>
              </a:spcBef>
              <a:spcAft>
                <a:spcPts val="0"/>
              </a:spcAft>
              <a:buSzPts val="1400"/>
              <a:buNone/>
            </a:pPr>
            <a:r>
              <a:rPr lang="en-US" sz="2400" dirty="0">
                <a:latin typeface="+mj-lt"/>
              </a:rPr>
              <a:t>5 Bias and Variance with mismatched data distributions</a:t>
            </a:r>
            <a:endParaRPr sz="2400" dirty="0">
              <a:latin typeface="+mj-lt"/>
            </a:endParaRPr>
          </a:p>
          <a:p>
            <a:pPr marL="1736725" marR="5080" lvl="0" indent="-1724660" algn="l" rtl="0">
              <a:lnSpc>
                <a:spcPct val="119697"/>
              </a:lnSpc>
              <a:spcBef>
                <a:spcPts val="0"/>
              </a:spcBef>
              <a:spcAft>
                <a:spcPts val="0"/>
              </a:spcAft>
              <a:buSzPts val="1400"/>
              <a:buNone/>
            </a:pPr>
            <a:r>
              <a:rPr lang="en-US" sz="2400" dirty="0">
                <a:latin typeface="+mj-lt"/>
              </a:rPr>
              <a:t>6 Addressing data mismatch</a:t>
            </a:r>
            <a:endParaRPr sz="2400" dirty="0">
              <a:latin typeface="+mj-lt"/>
            </a:endParaRPr>
          </a:p>
          <a:p>
            <a:pPr marL="1736725" marR="5080" lvl="0" indent="-1724660" algn="l" rtl="0">
              <a:lnSpc>
                <a:spcPct val="119697"/>
              </a:lnSpc>
              <a:spcBef>
                <a:spcPts val="0"/>
              </a:spcBef>
              <a:spcAft>
                <a:spcPts val="0"/>
              </a:spcAft>
              <a:buSzPts val="1400"/>
              <a:buNone/>
            </a:pPr>
            <a:r>
              <a:rPr lang="en-US" sz="2400" dirty="0">
                <a:latin typeface="+mj-lt"/>
              </a:rPr>
              <a:t>7 Transfer learning</a:t>
            </a:r>
            <a:endParaRPr sz="2400" dirty="0">
              <a:latin typeface="+mj-lt"/>
            </a:endParaRPr>
          </a:p>
          <a:p>
            <a:pPr marL="1736725" marR="5080" lvl="0" indent="-1724660" algn="l" rtl="0">
              <a:lnSpc>
                <a:spcPct val="119697"/>
              </a:lnSpc>
              <a:spcBef>
                <a:spcPts val="0"/>
              </a:spcBef>
              <a:spcAft>
                <a:spcPts val="0"/>
              </a:spcAft>
              <a:buSzPts val="1400"/>
              <a:buNone/>
            </a:pPr>
            <a:r>
              <a:rPr lang="en-US" sz="2400" dirty="0">
                <a:latin typeface="+mj-lt"/>
              </a:rPr>
              <a:t>8 Multi-task learning</a:t>
            </a:r>
            <a:endParaRPr sz="2400" dirty="0">
              <a:latin typeface="+mj-lt"/>
            </a:endParaRPr>
          </a:p>
          <a:p>
            <a:pPr marL="1736725" marR="5080" lvl="0" indent="-1724660" algn="l" rtl="0">
              <a:lnSpc>
                <a:spcPct val="119697"/>
              </a:lnSpc>
              <a:spcBef>
                <a:spcPts val="0"/>
              </a:spcBef>
              <a:spcAft>
                <a:spcPts val="0"/>
              </a:spcAft>
              <a:buSzPts val="1400"/>
              <a:buNone/>
            </a:pPr>
            <a:r>
              <a:rPr lang="en-US" sz="2400" dirty="0">
                <a:latin typeface="+mj-lt"/>
              </a:rPr>
              <a:t>9 What is end-to-end deep learning</a:t>
            </a:r>
            <a:endParaRPr sz="2400" dirty="0">
              <a:latin typeface="+mj-lt"/>
            </a:endParaRPr>
          </a:p>
          <a:p>
            <a:pPr marL="0" lvl="0" indent="0" algn="l" rtl="0">
              <a:lnSpc>
                <a:spcPct val="115757"/>
              </a:lnSpc>
              <a:spcBef>
                <a:spcPts val="0"/>
              </a:spcBef>
              <a:spcAft>
                <a:spcPts val="0"/>
              </a:spcAft>
              <a:buClr>
                <a:schemeClr val="dk1"/>
              </a:buClr>
              <a:buSzPts val="1400"/>
              <a:buFont typeface="Arial"/>
              <a:buNone/>
            </a:pPr>
            <a:r>
              <a:rPr lang="en-US" sz="2400" dirty="0">
                <a:latin typeface="+mj-lt"/>
              </a:rPr>
              <a:t>10 Whether to use end-to-end learning</a:t>
            </a:r>
            <a:endParaRPr sz="2400" dirty="0">
              <a:latin typeface="+mj-lt"/>
            </a:endParaRPr>
          </a:p>
        </p:txBody>
      </p:sp>
      <p:pic>
        <p:nvPicPr>
          <p:cNvPr id="45" name="Google Shape;45;p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049608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836350" y="2307316"/>
            <a:ext cx="6830250" cy="9398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dirty="0">
                <a:latin typeface="+mj-lt"/>
              </a:rPr>
              <a:t>Error Analysis</a:t>
            </a:r>
            <a:endParaRPr dirty="0">
              <a:latin typeface="+mj-lt"/>
            </a:endParaRPr>
          </a:p>
        </p:txBody>
      </p:sp>
      <p:sp>
        <p:nvSpPr>
          <p:cNvPr id="51" name="Google Shape;51;p8"/>
          <p:cNvSpPr txBox="1"/>
          <p:nvPr/>
        </p:nvSpPr>
        <p:spPr>
          <a:xfrm>
            <a:off x="4836350" y="3560573"/>
            <a:ext cx="6908800" cy="2465788"/>
          </a:xfrm>
          <a:prstGeom prst="rect">
            <a:avLst/>
          </a:prstGeom>
          <a:noFill/>
          <a:ln>
            <a:noFill/>
          </a:ln>
        </p:spPr>
        <p:txBody>
          <a:bodyPr spcFirstLastPara="1" wrap="square" lIns="0" tIns="27925" rIns="0" bIns="0" anchor="t" anchorCtr="0">
            <a:spAutoFit/>
          </a:bodyPr>
          <a:lstStyle/>
          <a:p>
            <a:pPr marL="1736725" marR="5080" lvl="0" indent="-1724660" algn="ctr" rtl="0">
              <a:lnSpc>
                <a:spcPct val="119696"/>
              </a:lnSpc>
              <a:spcBef>
                <a:spcPts val="0"/>
              </a:spcBef>
              <a:spcAft>
                <a:spcPts val="0"/>
              </a:spcAft>
              <a:buClr>
                <a:srgbClr val="000000"/>
              </a:buClr>
              <a:buSzPts val="6600"/>
              <a:buFont typeface="Arial"/>
              <a:buNone/>
            </a:pPr>
            <a:r>
              <a:rPr lang="en-US" sz="6600" b="0" i="0" u="none" strike="noStrike" cap="none" dirty="0">
                <a:solidFill>
                  <a:srgbClr val="000000"/>
                </a:solidFill>
                <a:latin typeface="+mj-lt"/>
                <a:ea typeface="Calibri"/>
                <a:cs typeface="Calibri"/>
                <a:sym typeface="Calibri"/>
              </a:rPr>
              <a:t>Carrying out error</a:t>
            </a:r>
          </a:p>
          <a:p>
            <a:pPr marL="1736725" marR="5080" lvl="0" indent="-1724660" algn="ctr" rtl="0">
              <a:lnSpc>
                <a:spcPct val="119696"/>
              </a:lnSpc>
              <a:spcBef>
                <a:spcPts val="0"/>
              </a:spcBef>
              <a:spcAft>
                <a:spcPts val="0"/>
              </a:spcAft>
              <a:buClr>
                <a:srgbClr val="000000"/>
              </a:buClr>
              <a:buSzPts val="6600"/>
              <a:buFont typeface="Arial"/>
              <a:buNone/>
            </a:pPr>
            <a:r>
              <a:rPr lang="en-US" sz="6600" b="0" i="0" u="none" strike="noStrike" cap="none" dirty="0">
                <a:solidFill>
                  <a:srgbClr val="000000"/>
                </a:solidFill>
                <a:latin typeface="+mj-lt"/>
                <a:ea typeface="Calibri"/>
                <a:cs typeface="Calibri"/>
                <a:sym typeface="Calibri"/>
              </a:rPr>
              <a:t>analysis</a:t>
            </a:r>
            <a:endParaRPr sz="6600" b="0" i="0" u="none" strike="noStrike" cap="none" dirty="0">
              <a:solidFill>
                <a:srgbClr val="000000"/>
              </a:solidFill>
              <a:latin typeface="+mj-lt"/>
              <a:ea typeface="Calibri"/>
              <a:cs typeface="Calibri"/>
              <a:sym typeface="Calibri"/>
            </a:endParaRPr>
          </a:p>
        </p:txBody>
      </p:sp>
      <p:sp>
        <p:nvSpPr>
          <p:cNvPr id="52" name="Google Shape;52;p8"/>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3" name="Google Shape;53;p8"/>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261625" y="139700"/>
            <a:ext cx="10129500" cy="825354"/>
          </a:xfrm>
          <a:prstGeom prst="rect">
            <a:avLst/>
          </a:prstGeom>
          <a:noFill/>
          <a:ln>
            <a:noFill/>
          </a:ln>
        </p:spPr>
        <p:txBody>
          <a:bodyPr spcFirstLastPara="1" wrap="square" lIns="0" tIns="12700" rIns="0" bIns="0" anchor="t" anchorCtr="0">
            <a:spAutoFit/>
          </a:bodyPr>
          <a:lstStyle/>
          <a:p>
            <a:pPr marL="1736725" marR="5080" lvl="0" indent="-1724660" algn="l" rtl="0">
              <a:lnSpc>
                <a:spcPct val="119696"/>
              </a:lnSpc>
              <a:spcBef>
                <a:spcPts val="0"/>
              </a:spcBef>
              <a:spcAft>
                <a:spcPts val="0"/>
              </a:spcAft>
              <a:buClr>
                <a:schemeClr val="dk1"/>
              </a:buClr>
              <a:buSzPts val="6600"/>
              <a:buFont typeface="Arial"/>
              <a:buNone/>
            </a:pPr>
            <a:r>
              <a:rPr lang="en-US" sz="4400" dirty="0">
                <a:latin typeface="+mj-lt"/>
              </a:rPr>
              <a:t>Carrying out error </a:t>
            </a:r>
            <a:r>
              <a:rPr lang="en-US" sz="4400" dirty="0" smtClean="0">
                <a:latin typeface="+mj-lt"/>
              </a:rPr>
              <a:t>analysis</a:t>
            </a:r>
            <a:endParaRPr sz="4400" dirty="0">
              <a:latin typeface="+mj-lt"/>
            </a:endParaRPr>
          </a:p>
        </p:txBody>
      </p:sp>
      <p:pic>
        <p:nvPicPr>
          <p:cNvPr id="59" name="Google Shape;59;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0" name="Google Shape;60;p9"/>
          <p:cNvSpPr txBox="1"/>
          <p:nvPr/>
        </p:nvSpPr>
        <p:spPr>
          <a:xfrm>
            <a:off x="332750" y="1637525"/>
            <a:ext cx="11584500" cy="3157757"/>
          </a:xfrm>
          <a:prstGeom prst="rect">
            <a:avLst/>
          </a:prstGeom>
          <a:noFill/>
          <a:ln>
            <a:noFill/>
          </a:ln>
        </p:spPr>
        <p:txBody>
          <a:bodyPr spcFirstLastPara="1" wrap="square" lIns="91425" tIns="91425" rIns="91425" bIns="91425" anchor="t" anchorCtr="0">
            <a:spAutoFit/>
          </a:bodyPr>
          <a:lstStyle/>
          <a:p>
            <a:pPr marL="457200" lvl="0" indent="-381000" algn="just">
              <a:lnSpc>
                <a:spcPct val="115000"/>
              </a:lnSpc>
              <a:buClr>
                <a:schemeClr val="dk1"/>
              </a:buClr>
              <a:buSzPts val="2400"/>
              <a:buChar char="●"/>
            </a:pPr>
            <a:r>
              <a:rPr lang="en-US" sz="2400" dirty="0">
                <a:solidFill>
                  <a:schemeClr val="dk1"/>
                </a:solidFill>
                <a:highlight>
                  <a:schemeClr val="lt1"/>
                </a:highlight>
              </a:rPr>
              <a:t>After identifying the categories of errors the algorithm is making, you can prioritize which ones to focus on and come up with potential solutions to address them, such as collecting more labeled data, adjusting the model architecture, or changing the optimization algorithm. </a:t>
            </a:r>
            <a:endParaRPr lang="en-US" sz="2400" dirty="0" smtClean="0">
              <a:solidFill>
                <a:schemeClr val="dk1"/>
              </a:solidFill>
              <a:highlight>
                <a:schemeClr val="lt1"/>
              </a:highlight>
            </a:endParaRPr>
          </a:p>
          <a:p>
            <a:pPr marL="457200" lvl="0" indent="-381000" algn="just">
              <a:lnSpc>
                <a:spcPct val="115000"/>
              </a:lnSpc>
              <a:buClr>
                <a:schemeClr val="dk1"/>
              </a:buClr>
              <a:buSzPts val="2400"/>
              <a:buChar char="●"/>
            </a:pPr>
            <a:r>
              <a:rPr lang="en-US" sz="2400" dirty="0" smtClean="0">
                <a:solidFill>
                  <a:schemeClr val="dk1"/>
                </a:solidFill>
                <a:highlight>
                  <a:schemeClr val="lt1"/>
                </a:highlight>
              </a:rPr>
              <a:t>It </a:t>
            </a:r>
            <a:r>
              <a:rPr lang="en-US" sz="2400" dirty="0">
                <a:solidFill>
                  <a:schemeClr val="dk1"/>
                </a:solidFill>
                <a:highlight>
                  <a:schemeClr val="lt1"/>
                </a:highlight>
              </a:rPr>
              <a:t>is also important to track the impact of these changes on the development and test set performance to ensure that they are actually improving the algorithm's performance.</a:t>
            </a:r>
            <a:endParaRPr sz="2400" dirty="0">
              <a:solidFill>
                <a:schemeClr val="dk1"/>
              </a:solidFill>
              <a:highlight>
                <a:schemeClr val="lt1"/>
              </a:highligh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4"/>
        <p:cNvGrpSpPr/>
        <p:nvPr/>
      </p:nvGrpSpPr>
      <p:grpSpPr>
        <a:xfrm>
          <a:off x="0" y="0"/>
          <a:ext cx="0" cy="0"/>
          <a:chOff x="0" y="0"/>
          <a:chExt cx="0" cy="0"/>
        </a:xfrm>
      </p:grpSpPr>
      <p:pic>
        <p:nvPicPr>
          <p:cNvPr id="66" name="Google Shape;66;p1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7" name="Google Shape;67;p10"/>
          <p:cNvSpPr txBox="1"/>
          <p:nvPr/>
        </p:nvSpPr>
        <p:spPr>
          <a:xfrm>
            <a:off x="90803" y="1346123"/>
            <a:ext cx="11584500" cy="4584302"/>
          </a:xfrm>
          <a:prstGeom prst="rect">
            <a:avLst/>
          </a:prstGeom>
          <a:noFill/>
          <a:ln>
            <a:noFill/>
          </a:ln>
        </p:spPr>
        <p:txBody>
          <a:bodyPr spcFirstLastPara="1" wrap="square" lIns="91425" tIns="91425" rIns="91425" bIns="91425" anchor="t" anchorCtr="0">
            <a:spAutoFit/>
          </a:bodyPr>
          <a:lstStyle/>
          <a:p>
            <a:pPr marL="800100" lvl="0" indent="-342900" algn="just">
              <a:lnSpc>
                <a:spcPct val="115000"/>
              </a:lnSpc>
              <a:spcBef>
                <a:spcPts val="1500"/>
              </a:spcBef>
              <a:buFont typeface="Arial" panose="020B0604020202020204" pitchFamily="34" charset="0"/>
              <a:buChar char="•"/>
            </a:pPr>
            <a:r>
              <a:rPr lang="en-US" sz="2400" dirty="0">
                <a:solidFill>
                  <a:schemeClr val="dk1"/>
                </a:solidFill>
                <a:highlight>
                  <a:schemeClr val="lt1"/>
                </a:highlight>
              </a:rPr>
              <a:t>By understanding the types of errors the model is making, machine learning engineers can prioritize their efforts and focus on the areas that will have the biggest impact on improving the model's performance</a:t>
            </a:r>
            <a:r>
              <a:rPr lang="en-US" sz="2400" dirty="0" smtClean="0">
                <a:solidFill>
                  <a:schemeClr val="dk1"/>
                </a:solidFill>
                <a:highlight>
                  <a:schemeClr val="lt1"/>
                </a:highlight>
              </a:rPr>
              <a:t>.</a:t>
            </a:r>
          </a:p>
          <a:p>
            <a:pPr marL="800100" lvl="0" indent="-342900" algn="just">
              <a:lnSpc>
                <a:spcPct val="115000"/>
              </a:lnSpc>
              <a:spcBef>
                <a:spcPts val="1500"/>
              </a:spcBef>
              <a:buFont typeface="Arial" panose="020B0604020202020204" pitchFamily="34" charset="0"/>
              <a:buChar char="•"/>
            </a:pPr>
            <a:r>
              <a:rPr lang="en-US" sz="2400" dirty="0">
                <a:solidFill>
                  <a:schemeClr val="dk1"/>
                </a:solidFill>
                <a:highlight>
                  <a:schemeClr val="lt1"/>
                </a:highlight>
              </a:rPr>
              <a:t>Error analysis can reveal new categories of errors that were not previously considered and provide insights into how to improve the algorithm's performance. </a:t>
            </a:r>
            <a:endParaRPr lang="en-US" sz="2400" dirty="0" smtClean="0">
              <a:solidFill>
                <a:schemeClr val="dk1"/>
              </a:solidFill>
              <a:highlight>
                <a:schemeClr val="lt1"/>
              </a:highlight>
            </a:endParaRPr>
          </a:p>
          <a:p>
            <a:pPr marL="800100" lvl="0" indent="-342900" algn="just">
              <a:lnSpc>
                <a:spcPct val="115000"/>
              </a:lnSpc>
              <a:spcBef>
                <a:spcPts val="1500"/>
              </a:spcBef>
              <a:buFont typeface="Arial" panose="020B0604020202020204" pitchFamily="34" charset="0"/>
              <a:buChar char="•"/>
            </a:pPr>
            <a:r>
              <a:rPr lang="en-US" sz="2400" dirty="0" smtClean="0">
                <a:solidFill>
                  <a:schemeClr val="dk1"/>
                </a:solidFill>
                <a:highlight>
                  <a:schemeClr val="lt1"/>
                </a:highlight>
              </a:rPr>
              <a:t>By </a:t>
            </a:r>
            <a:r>
              <a:rPr lang="en-US" sz="2400" dirty="0">
                <a:solidFill>
                  <a:schemeClr val="dk1"/>
                </a:solidFill>
                <a:highlight>
                  <a:schemeClr val="lt1"/>
                </a:highlight>
              </a:rPr>
              <a:t>examining the errors in detail, you can identify patterns and trends that might not have been apparent otherwise. This can help you to develop more effective strategies for improving the algorithm's accuracy and efficiency.</a:t>
            </a:r>
            <a:endParaRPr sz="2400" dirty="0">
              <a:solidFill>
                <a:schemeClr val="dk1"/>
              </a:solidFill>
              <a:highlight>
                <a:schemeClr val="lt1"/>
              </a:highlight>
            </a:endParaRPr>
          </a:p>
        </p:txBody>
      </p:sp>
      <p:sp>
        <p:nvSpPr>
          <p:cNvPr id="6" name="Google Shape;58;p9"/>
          <p:cNvSpPr txBox="1">
            <a:spLocks/>
          </p:cNvSpPr>
          <p:nvPr/>
        </p:nvSpPr>
        <p:spPr>
          <a:xfrm>
            <a:off x="261625" y="139700"/>
            <a:ext cx="10129500" cy="825354"/>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736725" marR="5080" indent="-1724660">
              <a:lnSpc>
                <a:spcPct val="119696"/>
              </a:lnSpc>
              <a:buClr>
                <a:schemeClr val="dk1"/>
              </a:buClr>
              <a:buSzPts val="6600"/>
            </a:pPr>
            <a:r>
              <a:rPr lang="en-US" sz="4400" dirty="0" smtClean="0">
                <a:latin typeface="+mj-lt"/>
              </a:rPr>
              <a:t>Carrying out error analysis</a:t>
            </a:r>
            <a:endParaRPr lang="en-US" sz="4400" dirty="0">
              <a:latin typeface="+mj-l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pic>
        <p:nvPicPr>
          <p:cNvPr id="73" name="Google Shape;73;p1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4" name="Google Shape;74;p11"/>
          <p:cNvSpPr txBox="1"/>
          <p:nvPr/>
        </p:nvSpPr>
        <p:spPr>
          <a:xfrm>
            <a:off x="332750" y="1637525"/>
            <a:ext cx="11584500" cy="2693015"/>
          </a:xfrm>
          <a:prstGeom prst="rect">
            <a:avLst/>
          </a:prstGeom>
          <a:noFill/>
          <a:ln>
            <a:noFill/>
          </a:ln>
        </p:spPr>
        <p:txBody>
          <a:bodyPr spcFirstLastPara="1" wrap="square" lIns="91425" tIns="91425" rIns="91425" bIns="91425" anchor="t" anchorCtr="0">
            <a:spAutoFit/>
          </a:bodyPr>
          <a:lstStyle/>
          <a:p>
            <a:pPr marL="457200" lvl="0" indent="-381000" algn="just">
              <a:lnSpc>
                <a:spcPct val="115000"/>
              </a:lnSpc>
              <a:spcBef>
                <a:spcPts val="1500"/>
              </a:spcBef>
              <a:buClr>
                <a:schemeClr val="dk1"/>
              </a:buClr>
              <a:buSzPts val="2400"/>
              <a:buChar char="●"/>
            </a:pPr>
            <a:r>
              <a:rPr lang="en-US" sz="2400" dirty="0" smtClean="0">
                <a:solidFill>
                  <a:schemeClr val="dk1"/>
                </a:solidFill>
                <a:highlight>
                  <a:schemeClr val="lt1"/>
                </a:highlight>
              </a:rPr>
              <a:t>Correcting </a:t>
            </a:r>
            <a:r>
              <a:rPr lang="en-US" sz="2400" dirty="0">
                <a:solidFill>
                  <a:schemeClr val="dk1"/>
                </a:solidFill>
                <a:highlight>
                  <a:schemeClr val="lt1"/>
                </a:highlight>
              </a:rPr>
              <a:t>mislabeled examples in </a:t>
            </a:r>
            <a:r>
              <a:rPr lang="en-US" sz="2400" dirty="0" smtClean="0">
                <a:solidFill>
                  <a:schemeClr val="dk1"/>
                </a:solidFill>
                <a:highlight>
                  <a:schemeClr val="lt1"/>
                </a:highlight>
              </a:rPr>
              <a:t>development </a:t>
            </a:r>
            <a:r>
              <a:rPr lang="en-US" sz="2400" dirty="0">
                <a:solidFill>
                  <a:schemeClr val="dk1"/>
                </a:solidFill>
                <a:highlight>
                  <a:schemeClr val="lt1"/>
                </a:highlight>
              </a:rPr>
              <a:t>set is essential for accurate error analysis and algorithm training. This can be done manually or with the help of crowd-sourcing or other methods. </a:t>
            </a:r>
            <a:endParaRPr lang="en-US" sz="2400" dirty="0" smtClean="0">
              <a:solidFill>
                <a:schemeClr val="dk1"/>
              </a:solidFill>
              <a:highlight>
                <a:schemeClr val="lt1"/>
              </a:highlight>
            </a:endParaRPr>
          </a:p>
          <a:p>
            <a:pPr marL="457200" lvl="0" indent="-381000" algn="just">
              <a:lnSpc>
                <a:spcPct val="115000"/>
              </a:lnSpc>
              <a:spcBef>
                <a:spcPts val="1500"/>
              </a:spcBef>
              <a:buClr>
                <a:schemeClr val="dk1"/>
              </a:buClr>
              <a:buSzPts val="2400"/>
              <a:buChar char="●"/>
            </a:pPr>
            <a:r>
              <a:rPr lang="en-US" sz="2400" dirty="0" smtClean="0">
                <a:solidFill>
                  <a:schemeClr val="dk1"/>
                </a:solidFill>
                <a:highlight>
                  <a:schemeClr val="lt1"/>
                </a:highlight>
              </a:rPr>
              <a:t>By </a:t>
            </a:r>
            <a:r>
              <a:rPr lang="en-US" sz="2400" dirty="0">
                <a:solidFill>
                  <a:schemeClr val="dk1"/>
                </a:solidFill>
                <a:highlight>
                  <a:schemeClr val="lt1"/>
                </a:highlight>
              </a:rPr>
              <a:t>correcting mislabeled examples, you can improve the accuracy of your error analysis and ensure that your algorithm is being trained on the correct data.</a:t>
            </a:r>
            <a:endParaRPr sz="2400" dirty="0">
              <a:solidFill>
                <a:schemeClr val="dk1"/>
              </a:solidFill>
              <a:highlight>
                <a:schemeClr val="lt1"/>
              </a:highlight>
            </a:endParaRPr>
          </a:p>
        </p:txBody>
      </p:sp>
      <p:sp>
        <p:nvSpPr>
          <p:cNvPr id="6" name="Google Shape;58;p9"/>
          <p:cNvSpPr txBox="1">
            <a:spLocks/>
          </p:cNvSpPr>
          <p:nvPr/>
        </p:nvSpPr>
        <p:spPr>
          <a:xfrm>
            <a:off x="261625" y="139700"/>
            <a:ext cx="10129500" cy="825354"/>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736725" marR="5080" indent="-1724660">
              <a:lnSpc>
                <a:spcPct val="119696"/>
              </a:lnSpc>
              <a:buClr>
                <a:schemeClr val="dk1"/>
              </a:buClr>
              <a:buSzPts val="6600"/>
            </a:pPr>
            <a:r>
              <a:rPr lang="en-US" sz="4400" smtClean="0">
                <a:latin typeface="+mj-lt"/>
              </a:rPr>
              <a:t>Carrying out error analysis</a:t>
            </a:r>
            <a:endParaRPr lang="en-US" sz="4400" dirty="0">
              <a:latin typeface="+mj-l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a:off x="261620" y="139700"/>
            <a:ext cx="101295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Look at dev examples to evaluate ideas</a:t>
            </a:r>
            <a:endParaRPr sz="4400" dirty="0">
              <a:latin typeface="+mj-lt"/>
              <a:ea typeface="Cambria"/>
              <a:cs typeface="Cambria"/>
              <a:sym typeface="Cambria"/>
            </a:endParaRPr>
          </a:p>
        </p:txBody>
      </p:sp>
      <p:sp>
        <p:nvSpPr>
          <p:cNvPr id="80" name="Google Shape;80;p12"/>
          <p:cNvSpPr txBox="1"/>
          <p:nvPr/>
        </p:nvSpPr>
        <p:spPr>
          <a:xfrm>
            <a:off x="450764" y="3405949"/>
            <a:ext cx="8503800" cy="1864800"/>
          </a:xfrm>
          <a:prstGeom prst="rect">
            <a:avLst/>
          </a:prstGeom>
          <a:noFill/>
          <a:ln>
            <a:noFill/>
          </a:ln>
        </p:spPr>
        <p:txBody>
          <a:bodyPr spcFirstLastPara="1" wrap="square" lIns="0" tIns="12700" rIns="0" bIns="0" anchor="t" anchorCtr="0">
            <a:spAutoFit/>
          </a:bodyPr>
          <a:lstStyle/>
          <a:p>
            <a:pPr marL="12700" marR="5080" lvl="0" indent="0" algn="l" rtl="0">
              <a:lnSpc>
                <a:spcPct val="142000"/>
              </a:lnSpc>
              <a:spcBef>
                <a:spcPts val="0"/>
              </a:spcBef>
              <a:spcAft>
                <a:spcPts val="0"/>
              </a:spcAft>
              <a:buClr>
                <a:srgbClr val="000000"/>
              </a:buClr>
              <a:buSzPts val="2400"/>
              <a:buFont typeface="Arial"/>
              <a:buNone/>
            </a:pPr>
            <a:r>
              <a:rPr lang="en-US" sz="2400" b="0" i="0" u="none" strike="noStrike" cap="none" dirty="0">
                <a:solidFill>
                  <a:srgbClr val="000000"/>
                </a:solidFill>
                <a:latin typeface="+mn-lt"/>
                <a:ea typeface="Cambria"/>
                <a:cs typeface="Cambria"/>
                <a:sym typeface="Cambria"/>
              </a:rPr>
              <a:t>Should you try to make your cat classifier do better on dogs? Error analysis:</a:t>
            </a:r>
            <a:endParaRPr sz="2400" b="0" i="0" u="none" strike="noStrike" cap="none" dirty="0">
              <a:solidFill>
                <a:srgbClr val="000000"/>
              </a:solidFill>
              <a:latin typeface="+mn-lt"/>
              <a:ea typeface="Cambria"/>
              <a:cs typeface="Cambria"/>
              <a:sym typeface="Cambria"/>
            </a:endParaRPr>
          </a:p>
          <a:p>
            <a:pPr marL="355600" marR="0" lvl="0" indent="-342900" algn="l" rtl="0">
              <a:lnSpc>
                <a:spcPct val="116666"/>
              </a:lnSpc>
              <a:spcBef>
                <a:spcPts val="0"/>
              </a:spcBef>
              <a:spcAft>
                <a:spcPts val="0"/>
              </a:spcAft>
              <a:buClr>
                <a:srgbClr val="000000"/>
              </a:buClr>
              <a:buSzPts val="2400"/>
              <a:buFont typeface="Arial"/>
              <a:buChar char="•"/>
            </a:pPr>
            <a:r>
              <a:rPr lang="en-US" sz="2400" b="0" i="0" u="none" strike="noStrike" cap="none" dirty="0">
                <a:solidFill>
                  <a:srgbClr val="000000"/>
                </a:solidFill>
                <a:latin typeface="+mn-lt"/>
                <a:ea typeface="Cambria"/>
                <a:cs typeface="Cambria"/>
                <a:sym typeface="Cambria"/>
              </a:rPr>
              <a:t>Get ~100 mislabeled dev set examples.</a:t>
            </a:r>
            <a:endParaRPr sz="2400" b="0" i="0" u="none" strike="noStrike" cap="none" dirty="0">
              <a:solidFill>
                <a:srgbClr val="000000"/>
              </a:solidFill>
              <a:latin typeface="+mn-lt"/>
              <a:ea typeface="Cambria"/>
              <a:cs typeface="Cambria"/>
              <a:sym typeface="Cambria"/>
            </a:endParaRPr>
          </a:p>
          <a:p>
            <a:pPr marL="355600" marR="0" lvl="0" indent="-342900" algn="l" rtl="0">
              <a:lnSpc>
                <a:spcPct val="100000"/>
              </a:lnSpc>
              <a:spcBef>
                <a:spcPts val="20"/>
              </a:spcBef>
              <a:spcAft>
                <a:spcPts val="0"/>
              </a:spcAft>
              <a:buClr>
                <a:srgbClr val="000000"/>
              </a:buClr>
              <a:buSzPts val="2400"/>
              <a:buFont typeface="Arial"/>
              <a:buChar char="•"/>
            </a:pPr>
            <a:r>
              <a:rPr lang="en-US" sz="2400" b="0" i="0" u="none" strike="noStrike" cap="none" dirty="0">
                <a:solidFill>
                  <a:srgbClr val="000000"/>
                </a:solidFill>
                <a:latin typeface="+mn-lt"/>
                <a:ea typeface="Cambria"/>
                <a:cs typeface="Cambria"/>
                <a:sym typeface="Cambria"/>
              </a:rPr>
              <a:t>Count up how many are dogs.</a:t>
            </a:r>
            <a:endParaRPr sz="2400" b="0" i="0" u="none" strike="noStrike" cap="none" dirty="0">
              <a:solidFill>
                <a:srgbClr val="000000"/>
              </a:solidFill>
              <a:latin typeface="+mn-lt"/>
              <a:ea typeface="Cambria"/>
              <a:cs typeface="Cambria"/>
              <a:sym typeface="Cambria"/>
            </a:endParaRPr>
          </a:p>
        </p:txBody>
      </p:sp>
      <p:pic>
        <p:nvPicPr>
          <p:cNvPr id="81" name="Google Shape;81;p12"/>
          <p:cNvPicPr preferRelativeResize="0"/>
          <p:nvPr/>
        </p:nvPicPr>
        <p:blipFill rotWithShape="1">
          <a:blip r:embed="rId3">
            <a:alphaModFix/>
          </a:blip>
          <a:srcRect/>
          <a:stretch/>
        </p:blipFill>
        <p:spPr>
          <a:xfrm>
            <a:off x="1069602" y="1081189"/>
            <a:ext cx="3420291" cy="2282240"/>
          </a:xfrm>
          <a:prstGeom prst="rect">
            <a:avLst/>
          </a:prstGeom>
          <a:noFill/>
          <a:ln>
            <a:noFill/>
          </a:ln>
        </p:spPr>
      </p:pic>
      <p:pic>
        <p:nvPicPr>
          <p:cNvPr id="82" name="Google Shape;82;p12"/>
          <p:cNvPicPr preferRelativeResize="0"/>
          <p:nvPr/>
        </p:nvPicPr>
        <p:blipFill rotWithShape="1">
          <a:blip r:embed="rId4">
            <a:alphaModFix/>
          </a:blip>
          <a:srcRect/>
          <a:stretch/>
        </p:blipFill>
        <p:spPr>
          <a:xfrm>
            <a:off x="5142788" y="1081189"/>
            <a:ext cx="2257463" cy="2286038"/>
          </a:xfrm>
          <a:prstGeom prst="rect">
            <a:avLst/>
          </a:prstGeom>
          <a:noFill/>
          <a:ln>
            <a:noFill/>
          </a:ln>
        </p:spPr>
      </p:pic>
      <p:pic>
        <p:nvPicPr>
          <p:cNvPr id="83" name="Google Shape;83;p12"/>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261620" y="139700"/>
            <a:ext cx="90316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n-lt"/>
                <a:ea typeface="Cambria"/>
                <a:cs typeface="Cambria"/>
                <a:sym typeface="Cambria"/>
              </a:rPr>
              <a:t>Evaluate multiple ideas in parallel</a:t>
            </a:r>
            <a:endParaRPr sz="4400" dirty="0">
              <a:latin typeface="+mn-lt"/>
              <a:ea typeface="Cambria"/>
              <a:cs typeface="Cambria"/>
              <a:sym typeface="Cambria"/>
            </a:endParaRPr>
          </a:p>
        </p:txBody>
      </p:sp>
      <p:sp>
        <p:nvSpPr>
          <p:cNvPr id="89" name="Google Shape;89;p13"/>
          <p:cNvSpPr txBox="1"/>
          <p:nvPr/>
        </p:nvSpPr>
        <p:spPr>
          <a:xfrm>
            <a:off x="844284" y="930364"/>
            <a:ext cx="9834245" cy="2601994"/>
          </a:xfrm>
          <a:prstGeom prst="rect">
            <a:avLst/>
          </a:prstGeom>
          <a:noFill/>
          <a:ln>
            <a:noFill/>
          </a:ln>
        </p:spPr>
        <p:txBody>
          <a:bodyPr spcFirstLastPara="1" wrap="square" lIns="0" tIns="2222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000000"/>
                </a:solidFill>
                <a:latin typeface="+mn-lt"/>
                <a:ea typeface="Cambria"/>
                <a:cs typeface="Cambria"/>
                <a:sym typeface="Cambria"/>
              </a:rPr>
              <a:t>Ideas for cat detection:</a:t>
            </a:r>
            <a:endParaRPr sz="2800" b="0" i="0" u="none" strike="noStrike" cap="none" dirty="0">
              <a:solidFill>
                <a:srgbClr val="000000"/>
              </a:solidFill>
              <a:latin typeface="+mn-lt"/>
              <a:ea typeface="Cambria"/>
              <a:cs typeface="Cambria"/>
              <a:sym typeface="Cambria"/>
            </a:endParaRPr>
          </a:p>
          <a:p>
            <a:pPr marL="469900" marR="0" lvl="0" indent="-457833" algn="l" rtl="0">
              <a:lnSpc>
                <a:spcPct val="100000"/>
              </a:lnSpc>
              <a:spcBef>
                <a:spcPts val="1650"/>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Fix pictures of dogs being recognized as cats</a:t>
            </a:r>
            <a:endParaRPr sz="2800" b="0" i="0" u="none" strike="noStrike" cap="none" dirty="0">
              <a:solidFill>
                <a:srgbClr val="000000"/>
              </a:solidFill>
              <a:latin typeface="+mn-lt"/>
              <a:ea typeface="Cambria"/>
              <a:cs typeface="Cambria"/>
              <a:sym typeface="Cambria"/>
            </a:endParaRPr>
          </a:p>
          <a:p>
            <a:pPr marL="469900" marR="0" lvl="0" indent="-457833" algn="l" rtl="0">
              <a:lnSpc>
                <a:spcPct val="100000"/>
              </a:lnSpc>
              <a:spcBef>
                <a:spcPts val="1655"/>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Fix great cats (lions, panthers, etc..) being misrecognized</a:t>
            </a:r>
            <a:endParaRPr sz="2800" b="0" i="0" u="none" strike="noStrike" cap="none" dirty="0">
              <a:solidFill>
                <a:srgbClr val="000000"/>
              </a:solidFill>
              <a:latin typeface="+mn-lt"/>
              <a:ea typeface="Cambria"/>
              <a:cs typeface="Cambria"/>
              <a:sym typeface="Cambria"/>
            </a:endParaRPr>
          </a:p>
          <a:p>
            <a:pPr marL="469900" marR="0" lvl="0" indent="-457833" algn="l" rtl="0">
              <a:lnSpc>
                <a:spcPct val="100000"/>
              </a:lnSpc>
              <a:spcBef>
                <a:spcPts val="1650"/>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Improve performance on blurry images</a:t>
            </a:r>
            <a:endParaRPr sz="2800" b="0" i="0" u="none" strike="noStrike" cap="none" dirty="0">
              <a:solidFill>
                <a:srgbClr val="000000"/>
              </a:solidFill>
              <a:latin typeface="+mn-lt"/>
              <a:ea typeface="Cambria"/>
              <a:cs typeface="Cambria"/>
              <a:sym typeface="Cambria"/>
            </a:endParaRPr>
          </a:p>
        </p:txBody>
      </p:sp>
      <p:sp>
        <p:nvSpPr>
          <p:cNvPr id="90" name="Google Shape;90;p13" descr="7 Useful Suggestions from Andrew Ng “Machine Learning Yearning” - KDnuggets"/>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1" name="Google Shape;91;p13" descr="Table&#10;&#10;Description automatically generated"/>
          <p:cNvPicPr preferRelativeResize="0"/>
          <p:nvPr/>
        </p:nvPicPr>
        <p:blipFill rotWithShape="1">
          <a:blip r:embed="rId3">
            <a:alphaModFix/>
          </a:blip>
          <a:srcRect/>
          <a:stretch/>
        </p:blipFill>
        <p:spPr>
          <a:xfrm>
            <a:off x="844285" y="3596818"/>
            <a:ext cx="9366516" cy="3164208"/>
          </a:xfrm>
          <a:prstGeom prst="rect">
            <a:avLst/>
          </a:prstGeom>
          <a:noFill/>
          <a:ln>
            <a:noFill/>
          </a:ln>
        </p:spPr>
      </p:pic>
      <p:pic>
        <p:nvPicPr>
          <p:cNvPr id="92" name="Google Shape;92;p13"/>
          <p:cNvPicPr preferRelativeResize="0"/>
          <p:nvPr/>
        </p:nvPicPr>
        <p:blipFill rotWithShape="1">
          <a:blip r:embed="rId4">
            <a:alphaModFix/>
          </a:blip>
          <a:srcRect/>
          <a:stretch/>
        </p:blipFill>
        <p:spPr>
          <a:xfrm>
            <a:off x="10734473" y="0"/>
            <a:ext cx="1448025" cy="796414"/>
          </a:xfrm>
          <a:prstGeom prst="rect">
            <a:avLst/>
          </a:prstGeom>
          <a:noFill/>
          <a:ln>
            <a:noFill/>
          </a:ln>
        </p:spPr>
      </p:pic>
      <p:pic>
        <p:nvPicPr>
          <p:cNvPr id="93" name="Google Shape;93;p13"/>
          <p:cNvPicPr preferRelativeResize="0"/>
          <p:nvPr/>
        </p:nvPicPr>
        <p:blipFill rotWithShape="1">
          <a:blip r:embed="rId4">
            <a:alphaModFix/>
          </a:blip>
          <a:srcRect/>
          <a:stretch/>
        </p:blipFill>
        <p:spPr>
          <a:xfrm>
            <a:off x="10886873" y="15240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836351" y="2395175"/>
            <a:ext cx="6908799" cy="9398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dirty="0"/>
              <a:t>Error Analysis</a:t>
            </a:r>
            <a:endParaRPr dirty="0"/>
          </a:p>
        </p:txBody>
      </p:sp>
      <p:sp>
        <p:nvSpPr>
          <p:cNvPr id="99" name="Google Shape;99;p14"/>
          <p:cNvSpPr txBox="1"/>
          <p:nvPr/>
        </p:nvSpPr>
        <p:spPr>
          <a:xfrm>
            <a:off x="4836350" y="3389566"/>
            <a:ext cx="6908800" cy="3684583"/>
          </a:xfrm>
          <a:prstGeom prst="rect">
            <a:avLst/>
          </a:prstGeom>
          <a:noFill/>
          <a:ln>
            <a:noFill/>
          </a:ln>
        </p:spPr>
        <p:txBody>
          <a:bodyPr spcFirstLastPara="1" wrap="square" lIns="0" tIns="27925" rIns="0" bIns="0" anchor="t" anchorCtr="0">
            <a:spAutoFit/>
          </a:bodyPr>
          <a:lstStyle/>
          <a:p>
            <a:pPr marL="12700" marR="5080" lvl="0" indent="4445" algn="ctr" rtl="0">
              <a:lnSpc>
                <a:spcPct val="119696"/>
              </a:lnSpc>
              <a:spcBef>
                <a:spcPts val="0"/>
              </a:spcBef>
              <a:spcAft>
                <a:spcPts val="0"/>
              </a:spcAft>
              <a:buClr>
                <a:srgbClr val="000000"/>
              </a:buClr>
              <a:buSzPts val="6600"/>
              <a:buFont typeface="Arial"/>
              <a:buNone/>
            </a:pPr>
            <a:r>
              <a:rPr lang="en-US" sz="6600" b="0" i="0" u="none" strike="noStrike" cap="none" dirty="0">
                <a:solidFill>
                  <a:srgbClr val="000000"/>
                </a:solidFill>
                <a:latin typeface="Calibri"/>
                <a:ea typeface="Calibri"/>
                <a:cs typeface="Calibri"/>
                <a:sym typeface="Calibri"/>
              </a:rPr>
              <a:t>Cleaning up Incorrectly labeled data</a:t>
            </a:r>
            <a:endParaRPr sz="6600" b="0" i="0" u="none" strike="noStrike" cap="none" dirty="0">
              <a:solidFill>
                <a:srgbClr val="000000"/>
              </a:solidFill>
              <a:latin typeface="Calibri"/>
              <a:ea typeface="Calibri"/>
              <a:cs typeface="Calibri"/>
              <a:sym typeface="Calibri"/>
            </a:endParaRPr>
          </a:p>
        </p:txBody>
      </p:sp>
      <p:sp>
        <p:nvSpPr>
          <p:cNvPr id="100" name="Google Shape;100;p14"/>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01" name="Google Shape;101;p1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261627" y="139700"/>
            <a:ext cx="10472846" cy="936154"/>
          </a:xfrm>
          <a:prstGeom prst="rect">
            <a:avLst/>
          </a:prstGeom>
          <a:noFill/>
          <a:ln>
            <a:noFill/>
          </a:ln>
        </p:spPr>
        <p:txBody>
          <a:bodyPr spcFirstLastPara="1" wrap="square" lIns="0" tIns="12700" rIns="0" bIns="0" anchor="t" anchorCtr="0">
            <a:spAutoFit/>
          </a:bodyPr>
          <a:lstStyle/>
          <a:p>
            <a:pPr marL="12700" marR="5080" lvl="0" indent="4445" algn="ctr" rtl="0">
              <a:lnSpc>
                <a:spcPct val="119696"/>
              </a:lnSpc>
              <a:spcBef>
                <a:spcPts val="0"/>
              </a:spcBef>
              <a:spcAft>
                <a:spcPts val="0"/>
              </a:spcAft>
              <a:buClr>
                <a:schemeClr val="dk1"/>
              </a:buClr>
              <a:buSzPts val="6600"/>
              <a:buFont typeface="Arial"/>
              <a:buNone/>
            </a:pPr>
            <a:r>
              <a:rPr lang="en-US" sz="5000" dirty="0">
                <a:latin typeface="+mn-lt"/>
              </a:rPr>
              <a:t>Cleaning up Incorrectly </a:t>
            </a:r>
            <a:r>
              <a:rPr lang="en-US" sz="5000" dirty="0" smtClean="0">
                <a:latin typeface="+mn-lt"/>
              </a:rPr>
              <a:t>labeled data</a:t>
            </a:r>
            <a:endParaRPr sz="5000" dirty="0">
              <a:latin typeface="+mn-lt"/>
            </a:endParaRPr>
          </a:p>
        </p:txBody>
      </p:sp>
      <p:sp>
        <p:nvSpPr>
          <p:cNvPr id="107" name="Google Shape;107;p15"/>
          <p:cNvSpPr txBox="1"/>
          <p:nvPr/>
        </p:nvSpPr>
        <p:spPr>
          <a:xfrm>
            <a:off x="347873" y="1315864"/>
            <a:ext cx="11398650" cy="3827053"/>
          </a:xfrm>
          <a:prstGeom prst="rect">
            <a:avLst/>
          </a:prstGeom>
          <a:noFill/>
          <a:ln>
            <a:noFill/>
          </a:ln>
        </p:spPr>
        <p:txBody>
          <a:bodyPr spcFirstLastPara="1" wrap="square" lIns="0" tIns="4425" rIns="0" bIns="0" anchor="t" anchorCtr="0">
            <a:spAutoFit/>
          </a:bodyPr>
          <a:lstStyle/>
          <a:p>
            <a:pPr marL="457200" lvl="0" indent="-381000" algn="just" rtl="0">
              <a:lnSpc>
                <a:spcPct val="115000"/>
              </a:lnSpc>
              <a:spcBef>
                <a:spcPts val="0"/>
              </a:spcBef>
              <a:spcAft>
                <a:spcPts val="0"/>
              </a:spcAft>
              <a:buClr>
                <a:schemeClr val="dk1"/>
              </a:buClr>
              <a:buSzPts val="2400"/>
              <a:buChar char="●"/>
            </a:pPr>
            <a:r>
              <a:rPr lang="en-US" sz="2400" dirty="0">
                <a:solidFill>
                  <a:schemeClr val="tx1"/>
                </a:solidFill>
                <a:highlight>
                  <a:schemeClr val="lt1"/>
                </a:highlight>
              </a:rPr>
              <a:t>The process of supervised learning involves input X and output labels Y, and sometimes you may find that some of the Y labels are incorrect, meaning they were labeled incorrectly by a human labeler. These errors may or may not be worth fixing. </a:t>
            </a:r>
            <a:endParaRPr lang="en-US" sz="2400" dirty="0" smtClean="0">
              <a:solidFill>
                <a:schemeClr val="tx1"/>
              </a:solidFill>
              <a:highlight>
                <a:schemeClr val="lt1"/>
              </a:highlight>
            </a:endParaRPr>
          </a:p>
          <a:p>
            <a:pPr marL="457200" lvl="0" indent="-381000" algn="just" rtl="0">
              <a:lnSpc>
                <a:spcPct val="115000"/>
              </a:lnSpc>
              <a:spcBef>
                <a:spcPts val="0"/>
              </a:spcBef>
              <a:spcAft>
                <a:spcPts val="0"/>
              </a:spcAft>
              <a:buClr>
                <a:schemeClr val="dk1"/>
              </a:buClr>
              <a:buSzPts val="2400"/>
              <a:buChar char="●"/>
            </a:pPr>
            <a:r>
              <a:rPr lang="en-US" sz="2400" dirty="0" smtClean="0">
                <a:solidFill>
                  <a:schemeClr val="tx1"/>
                </a:solidFill>
                <a:highlight>
                  <a:schemeClr val="lt1"/>
                </a:highlight>
              </a:rPr>
              <a:t>Deep </a:t>
            </a:r>
            <a:r>
              <a:rPr lang="en-US" sz="2400" dirty="0">
                <a:solidFill>
                  <a:schemeClr val="tx1"/>
                </a:solidFill>
                <a:highlight>
                  <a:schemeClr val="lt1"/>
                </a:highlight>
              </a:rPr>
              <a:t>learning algorithms are usually quite robust to random errors in the training set, as long as the errors are not systematic. So, random or near-random errors can be left as they are, and not much effort needs to be spent on fixing them. However, if the errors are systematic, then they could cause the algorithm to learn incorrectly.</a:t>
            </a:r>
            <a:endParaRPr sz="2400" dirty="0">
              <a:solidFill>
                <a:schemeClr val="tx1"/>
              </a:solidFill>
              <a:highlight>
                <a:schemeClr val="lt1"/>
              </a:highlight>
            </a:endParaRPr>
          </a:p>
        </p:txBody>
      </p:sp>
      <p:pic>
        <p:nvPicPr>
          <p:cNvPr id="108" name="Google Shape;108;p1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4" name="Google Shape;114;p16"/>
          <p:cNvSpPr txBox="1"/>
          <p:nvPr/>
        </p:nvSpPr>
        <p:spPr>
          <a:xfrm>
            <a:off x="347873" y="1236520"/>
            <a:ext cx="10386600" cy="3169950"/>
          </a:xfrm>
          <a:prstGeom prst="rect">
            <a:avLst/>
          </a:prstGeom>
          <a:noFill/>
          <a:ln>
            <a:noFill/>
          </a:ln>
        </p:spPr>
        <p:txBody>
          <a:bodyPr spcFirstLastPara="1" wrap="square" lIns="0" tIns="4425" rIns="0" bIns="0" anchor="t" anchorCtr="0">
            <a:spAutoFit/>
          </a:bodyPr>
          <a:lstStyle/>
          <a:p>
            <a:pPr marL="457200" lvl="0" indent="-381000" algn="just">
              <a:lnSpc>
                <a:spcPct val="115000"/>
              </a:lnSpc>
              <a:spcBef>
                <a:spcPts val="1500"/>
              </a:spcBef>
              <a:buClr>
                <a:schemeClr val="dk1"/>
              </a:buClr>
              <a:buSzPts val="2400"/>
              <a:buChar char="●"/>
            </a:pPr>
            <a:r>
              <a:rPr lang="en-US" sz="2400" dirty="0">
                <a:solidFill>
                  <a:schemeClr val="dk1"/>
                </a:solidFill>
                <a:highlight>
                  <a:schemeClr val="lt1"/>
                </a:highlight>
              </a:rPr>
              <a:t>Additionally, if you decide to fix the incorrect labels in your dev set or test set, it's important to make sure that you correct all instances of the incorrect label, not just the ones that you noticed during error analysis. You can do this by going through the entire dev or test set and checking all labels. Finally, it's important to note that fixing incorrect labels in the dev or test set may require retraining your algorithm, which can be time-consuming and may also require additional labeled data.</a:t>
            </a:r>
            <a:endParaRPr sz="2400" dirty="0">
              <a:solidFill>
                <a:schemeClr val="dk1"/>
              </a:solidFill>
              <a:highlight>
                <a:schemeClr val="lt1"/>
              </a:highlight>
            </a:endParaRPr>
          </a:p>
        </p:txBody>
      </p:sp>
      <p:pic>
        <p:nvPicPr>
          <p:cNvPr id="115" name="Google Shape;115;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 name="Google Shape;106;p15"/>
          <p:cNvSpPr txBox="1">
            <a:spLocks noGrp="1"/>
          </p:cNvSpPr>
          <p:nvPr>
            <p:ph type="title"/>
          </p:nvPr>
        </p:nvSpPr>
        <p:spPr>
          <a:xfrm>
            <a:off x="261627" y="139700"/>
            <a:ext cx="10472846" cy="936154"/>
          </a:xfrm>
          <a:prstGeom prst="rect">
            <a:avLst/>
          </a:prstGeom>
          <a:noFill/>
          <a:ln>
            <a:noFill/>
          </a:ln>
        </p:spPr>
        <p:txBody>
          <a:bodyPr spcFirstLastPara="1" wrap="square" lIns="0" tIns="12700" rIns="0" bIns="0" anchor="t" anchorCtr="0">
            <a:spAutoFit/>
          </a:bodyPr>
          <a:lstStyle/>
          <a:p>
            <a:pPr marL="12700" marR="5080" lvl="0" indent="4445" algn="ctr" rtl="0">
              <a:lnSpc>
                <a:spcPct val="119696"/>
              </a:lnSpc>
              <a:spcBef>
                <a:spcPts val="0"/>
              </a:spcBef>
              <a:spcAft>
                <a:spcPts val="0"/>
              </a:spcAft>
              <a:buClr>
                <a:schemeClr val="dk1"/>
              </a:buClr>
              <a:buSzPts val="6600"/>
              <a:buFont typeface="Arial"/>
              <a:buNone/>
            </a:pPr>
            <a:r>
              <a:rPr lang="en-US" sz="5000" dirty="0">
                <a:latin typeface="+mn-lt"/>
              </a:rPr>
              <a:t>Cleaning up Incorrectly </a:t>
            </a:r>
            <a:r>
              <a:rPr lang="en-US" sz="5000" dirty="0" smtClean="0">
                <a:latin typeface="+mn-lt"/>
              </a:rPr>
              <a:t>labeled data</a:t>
            </a:r>
            <a:endParaRPr sz="5000" dirty="0">
              <a:latin typeface="+mn-l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19"/>
        <p:cNvGrpSpPr/>
        <p:nvPr/>
      </p:nvGrpSpPr>
      <p:grpSpPr>
        <a:xfrm>
          <a:off x="0" y="0"/>
          <a:ext cx="0" cy="0"/>
          <a:chOff x="0" y="0"/>
          <a:chExt cx="0" cy="0"/>
        </a:xfrm>
      </p:grpSpPr>
      <p:sp>
        <p:nvSpPr>
          <p:cNvPr id="121" name="Google Shape;121;p17"/>
          <p:cNvSpPr txBox="1"/>
          <p:nvPr/>
        </p:nvSpPr>
        <p:spPr>
          <a:xfrm>
            <a:off x="444587" y="1236520"/>
            <a:ext cx="11187635" cy="1895755"/>
          </a:xfrm>
          <a:prstGeom prst="rect">
            <a:avLst/>
          </a:prstGeom>
          <a:noFill/>
          <a:ln>
            <a:noFill/>
          </a:ln>
        </p:spPr>
        <p:txBody>
          <a:bodyPr spcFirstLastPara="1" wrap="square" lIns="0" tIns="4425" rIns="0" bIns="0" anchor="t" anchorCtr="0">
            <a:spAutoFit/>
          </a:bodyPr>
          <a:lstStyle/>
          <a:p>
            <a:pPr marL="457200" lvl="0" indent="-381000" algn="just">
              <a:lnSpc>
                <a:spcPct val="115000"/>
              </a:lnSpc>
              <a:spcBef>
                <a:spcPts val="1500"/>
              </a:spcBef>
              <a:buClr>
                <a:schemeClr val="dk1"/>
              </a:buClr>
              <a:buSzPts val="2400"/>
              <a:buChar char="●"/>
            </a:pPr>
            <a:r>
              <a:rPr lang="en-US" sz="2400" dirty="0">
                <a:solidFill>
                  <a:schemeClr val="dk1"/>
                </a:solidFill>
                <a:highlight>
                  <a:schemeClr val="lt1"/>
                </a:highlight>
              </a:rPr>
              <a:t>Error analysis is indeed a crucial step in improving the accuracy of machine learning algorithms. By examining the errors made by the algorithm, you can gain insights into what areas need improvement and prioritize your efforts accordingly.</a:t>
            </a:r>
            <a:endParaRPr sz="2400" dirty="0">
              <a:solidFill>
                <a:schemeClr val="dk1"/>
              </a:solidFill>
              <a:highlight>
                <a:schemeClr val="lt1"/>
              </a:highlight>
            </a:endParaRPr>
          </a:p>
        </p:txBody>
      </p:sp>
      <p:pic>
        <p:nvPicPr>
          <p:cNvPr id="122" name="Google Shape;122;p1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 name="Google Shape;106;p15"/>
          <p:cNvSpPr txBox="1">
            <a:spLocks noGrp="1"/>
          </p:cNvSpPr>
          <p:nvPr>
            <p:ph type="title"/>
          </p:nvPr>
        </p:nvSpPr>
        <p:spPr>
          <a:xfrm>
            <a:off x="261627" y="139700"/>
            <a:ext cx="10472846" cy="936154"/>
          </a:xfrm>
          <a:prstGeom prst="rect">
            <a:avLst/>
          </a:prstGeom>
          <a:noFill/>
          <a:ln>
            <a:noFill/>
          </a:ln>
        </p:spPr>
        <p:txBody>
          <a:bodyPr spcFirstLastPara="1" wrap="square" lIns="0" tIns="12700" rIns="0" bIns="0" anchor="t" anchorCtr="0">
            <a:spAutoFit/>
          </a:bodyPr>
          <a:lstStyle/>
          <a:p>
            <a:pPr marL="12700" marR="5080" lvl="0" indent="4445" algn="ctr" rtl="0">
              <a:lnSpc>
                <a:spcPct val="119696"/>
              </a:lnSpc>
              <a:spcBef>
                <a:spcPts val="0"/>
              </a:spcBef>
              <a:spcAft>
                <a:spcPts val="0"/>
              </a:spcAft>
              <a:buClr>
                <a:schemeClr val="dk1"/>
              </a:buClr>
              <a:buSzPts val="6600"/>
              <a:buFont typeface="Arial"/>
              <a:buNone/>
            </a:pPr>
            <a:r>
              <a:rPr lang="en-US" sz="5000" dirty="0">
                <a:latin typeface="+mn-lt"/>
              </a:rPr>
              <a:t>Cleaning up Incorrectly </a:t>
            </a:r>
            <a:r>
              <a:rPr lang="en-US" sz="5000" dirty="0" smtClean="0">
                <a:latin typeface="+mn-lt"/>
              </a:rPr>
              <a:t>labeled data</a:t>
            </a:r>
            <a:endParaRPr sz="5000" dirty="0">
              <a:latin typeface="+mn-l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18"/>
          <p:cNvSpPr txBox="1">
            <a:spLocks noGrp="1"/>
          </p:cNvSpPr>
          <p:nvPr>
            <p:ph type="title"/>
          </p:nvPr>
        </p:nvSpPr>
        <p:spPr>
          <a:xfrm>
            <a:off x="261620" y="139700"/>
            <a:ext cx="74232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n-lt"/>
                <a:ea typeface="Cambria"/>
                <a:cs typeface="Cambria"/>
                <a:sym typeface="Cambria"/>
              </a:rPr>
              <a:t>Incorrectly labeled examples</a:t>
            </a:r>
            <a:endParaRPr sz="4400" dirty="0">
              <a:latin typeface="+mn-lt"/>
              <a:ea typeface="Cambria"/>
              <a:cs typeface="Cambria"/>
              <a:sym typeface="Cambria"/>
            </a:endParaRPr>
          </a:p>
        </p:txBody>
      </p:sp>
      <p:sp>
        <p:nvSpPr>
          <p:cNvPr id="143" name="Google Shape;143;p18"/>
          <p:cNvSpPr txBox="1"/>
          <p:nvPr/>
        </p:nvSpPr>
        <p:spPr>
          <a:xfrm>
            <a:off x="277579" y="3664226"/>
            <a:ext cx="11394831" cy="1009102"/>
          </a:xfrm>
          <a:prstGeom prst="rect">
            <a:avLst/>
          </a:prstGeom>
          <a:noFill/>
          <a:ln>
            <a:noFill/>
          </a:ln>
        </p:spPr>
        <p:txBody>
          <a:bodyPr spcFirstLastPara="1" wrap="square" lIns="0" tIns="4425" rIns="0" bIns="0" anchor="t" anchorCtr="0">
            <a:spAutoFit/>
          </a:bodyPr>
          <a:lstStyle/>
          <a:p>
            <a:pPr marL="12700" marR="5080" lvl="0" indent="0" algn="l" rtl="0">
              <a:lnSpc>
                <a:spcPct val="101600"/>
              </a:lnSpc>
              <a:spcBef>
                <a:spcPts val="0"/>
              </a:spcBef>
              <a:spcAft>
                <a:spcPts val="0"/>
              </a:spcAft>
              <a:buClr>
                <a:srgbClr val="000000"/>
              </a:buClr>
              <a:buSzPts val="3200"/>
              <a:buFont typeface="Arial"/>
              <a:buNone/>
            </a:pPr>
            <a:r>
              <a:rPr lang="en-US" sz="3200" b="0" i="0" u="none" strike="noStrike" cap="none" dirty="0">
                <a:solidFill>
                  <a:srgbClr val="000000"/>
                </a:solidFill>
                <a:latin typeface="+mj-lt"/>
                <a:ea typeface="Cambria"/>
                <a:cs typeface="Cambria"/>
                <a:sym typeface="Cambria"/>
              </a:rPr>
              <a:t>DL algorithms are quite robust to random errors in the training set.</a:t>
            </a:r>
            <a:endParaRPr sz="3200" b="0" i="0" u="none" strike="noStrike" cap="none" dirty="0">
              <a:solidFill>
                <a:srgbClr val="000000"/>
              </a:solidFill>
              <a:latin typeface="+mj-lt"/>
              <a:ea typeface="Cambria"/>
              <a:cs typeface="Cambria"/>
              <a:sym typeface="Cambria"/>
            </a:endParaRPr>
          </a:p>
        </p:txBody>
      </p:sp>
      <p:grpSp>
        <p:nvGrpSpPr>
          <p:cNvPr id="2" name="Group 1"/>
          <p:cNvGrpSpPr/>
          <p:nvPr/>
        </p:nvGrpSpPr>
        <p:grpSpPr>
          <a:xfrm>
            <a:off x="155629" y="1728251"/>
            <a:ext cx="11822125" cy="1610386"/>
            <a:chOff x="62419" y="1508443"/>
            <a:chExt cx="11822125" cy="1610386"/>
          </a:xfrm>
        </p:grpSpPr>
        <p:pic>
          <p:nvPicPr>
            <p:cNvPr id="128" name="Google Shape;128;p18"/>
            <p:cNvPicPr preferRelativeResize="0"/>
            <p:nvPr/>
          </p:nvPicPr>
          <p:blipFill rotWithShape="1">
            <a:blip r:embed="rId3">
              <a:alphaModFix/>
            </a:blip>
            <a:srcRect/>
            <a:stretch/>
          </p:blipFill>
          <p:spPr>
            <a:xfrm>
              <a:off x="3831069" y="1540865"/>
              <a:ext cx="1375359" cy="914400"/>
            </a:xfrm>
            <a:prstGeom prst="rect">
              <a:avLst/>
            </a:prstGeom>
            <a:noFill/>
            <a:ln>
              <a:noFill/>
            </a:ln>
          </p:spPr>
        </p:pic>
        <p:pic>
          <p:nvPicPr>
            <p:cNvPr id="129" name="Google Shape;129;p18"/>
            <p:cNvPicPr preferRelativeResize="0"/>
            <p:nvPr/>
          </p:nvPicPr>
          <p:blipFill rotWithShape="1">
            <a:blip r:embed="rId4">
              <a:alphaModFix/>
            </a:blip>
            <a:srcRect/>
            <a:stretch/>
          </p:blipFill>
          <p:spPr>
            <a:xfrm>
              <a:off x="5490616" y="1530603"/>
              <a:ext cx="1443901" cy="924661"/>
            </a:xfrm>
            <a:prstGeom prst="rect">
              <a:avLst/>
            </a:prstGeom>
            <a:noFill/>
            <a:ln>
              <a:noFill/>
            </a:ln>
          </p:spPr>
        </p:pic>
        <p:pic>
          <p:nvPicPr>
            <p:cNvPr id="130" name="Google Shape;130;p18"/>
            <p:cNvPicPr preferRelativeResize="0"/>
            <p:nvPr/>
          </p:nvPicPr>
          <p:blipFill rotWithShape="1">
            <a:blip r:embed="rId5">
              <a:alphaModFix/>
            </a:blip>
            <a:srcRect/>
            <a:stretch/>
          </p:blipFill>
          <p:spPr>
            <a:xfrm>
              <a:off x="10565091" y="1508443"/>
              <a:ext cx="1319453" cy="946821"/>
            </a:xfrm>
            <a:prstGeom prst="rect">
              <a:avLst/>
            </a:prstGeom>
            <a:noFill/>
            <a:ln>
              <a:noFill/>
            </a:ln>
          </p:spPr>
        </p:pic>
        <p:pic>
          <p:nvPicPr>
            <p:cNvPr id="131" name="Google Shape;131;p18"/>
            <p:cNvPicPr preferRelativeResize="0"/>
            <p:nvPr/>
          </p:nvPicPr>
          <p:blipFill rotWithShape="1">
            <a:blip r:embed="rId6">
              <a:alphaModFix/>
            </a:blip>
            <a:srcRect/>
            <a:stretch/>
          </p:blipFill>
          <p:spPr>
            <a:xfrm>
              <a:off x="7218705" y="1508445"/>
              <a:ext cx="1362963" cy="946820"/>
            </a:xfrm>
            <a:prstGeom prst="rect">
              <a:avLst/>
            </a:prstGeom>
            <a:noFill/>
            <a:ln>
              <a:noFill/>
            </a:ln>
          </p:spPr>
        </p:pic>
        <p:pic>
          <p:nvPicPr>
            <p:cNvPr id="132" name="Google Shape;132;p18"/>
            <p:cNvPicPr preferRelativeResize="0"/>
            <p:nvPr/>
          </p:nvPicPr>
          <p:blipFill rotWithShape="1">
            <a:blip r:embed="rId7">
              <a:alphaModFix/>
            </a:blip>
            <a:srcRect/>
            <a:stretch/>
          </p:blipFill>
          <p:spPr>
            <a:xfrm>
              <a:off x="2173122" y="1540865"/>
              <a:ext cx="1373746" cy="914400"/>
            </a:xfrm>
            <a:prstGeom prst="rect">
              <a:avLst/>
            </a:prstGeom>
            <a:noFill/>
            <a:ln>
              <a:noFill/>
            </a:ln>
          </p:spPr>
        </p:pic>
        <p:pic>
          <p:nvPicPr>
            <p:cNvPr id="133" name="Google Shape;133;p18"/>
            <p:cNvPicPr preferRelativeResize="0"/>
            <p:nvPr/>
          </p:nvPicPr>
          <p:blipFill rotWithShape="1">
            <a:blip r:embed="rId8">
              <a:alphaModFix/>
            </a:blip>
            <a:srcRect/>
            <a:stretch/>
          </p:blipFill>
          <p:spPr>
            <a:xfrm>
              <a:off x="8865857" y="1508445"/>
              <a:ext cx="1415032" cy="946820"/>
            </a:xfrm>
            <a:prstGeom prst="rect">
              <a:avLst/>
            </a:prstGeom>
            <a:noFill/>
            <a:ln>
              <a:noFill/>
            </a:ln>
          </p:spPr>
        </p:pic>
        <p:sp>
          <p:nvSpPr>
            <p:cNvPr id="134" name="Google Shape;134;p18"/>
            <p:cNvSpPr txBox="1"/>
            <p:nvPr/>
          </p:nvSpPr>
          <p:spPr>
            <a:xfrm>
              <a:off x="62419" y="1689582"/>
              <a:ext cx="2439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x</a:t>
              </a:r>
              <a:endParaRPr sz="3200" b="0" i="0" u="none" strike="noStrike" cap="none">
                <a:solidFill>
                  <a:srgbClr val="000000"/>
                </a:solidFill>
                <a:latin typeface="+mn-lt"/>
                <a:ea typeface="Cambria"/>
                <a:cs typeface="Cambria"/>
                <a:sym typeface="Cambria"/>
              </a:endParaRPr>
            </a:p>
          </p:txBody>
        </p:sp>
        <p:sp>
          <p:nvSpPr>
            <p:cNvPr id="135" name="Google Shape;135;p18"/>
            <p:cNvSpPr txBox="1"/>
            <p:nvPr/>
          </p:nvSpPr>
          <p:spPr>
            <a:xfrm>
              <a:off x="62419" y="2567000"/>
              <a:ext cx="2439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y</a:t>
              </a:r>
              <a:endParaRPr sz="3200" b="0" i="0" u="none" strike="noStrike" cap="none">
                <a:solidFill>
                  <a:srgbClr val="000000"/>
                </a:solidFill>
                <a:latin typeface="+mn-lt"/>
                <a:ea typeface="Cambria"/>
                <a:cs typeface="Cambria"/>
                <a:sym typeface="Cambria"/>
              </a:endParaRPr>
            </a:p>
          </p:txBody>
        </p:sp>
        <p:sp>
          <p:nvSpPr>
            <p:cNvPr id="136" name="Google Shape;136;p18"/>
            <p:cNvSpPr txBox="1"/>
            <p:nvPr/>
          </p:nvSpPr>
          <p:spPr>
            <a:xfrm>
              <a:off x="1352332" y="2613329"/>
              <a:ext cx="2514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1</a:t>
              </a:r>
              <a:endParaRPr sz="3200" b="0" i="0" u="none" strike="noStrike" cap="none">
                <a:solidFill>
                  <a:srgbClr val="000000"/>
                </a:solidFill>
                <a:latin typeface="+mn-lt"/>
                <a:ea typeface="Cambria"/>
                <a:cs typeface="Cambria"/>
                <a:sym typeface="Cambria"/>
              </a:endParaRPr>
            </a:p>
          </p:txBody>
        </p:sp>
        <p:sp>
          <p:nvSpPr>
            <p:cNvPr id="137" name="Google Shape;137;p18"/>
            <p:cNvSpPr txBox="1"/>
            <p:nvPr/>
          </p:nvSpPr>
          <p:spPr>
            <a:xfrm>
              <a:off x="2688982" y="2613329"/>
              <a:ext cx="2514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0</a:t>
              </a:r>
              <a:endParaRPr sz="3200" b="0" i="0" u="none" strike="noStrike" cap="none">
                <a:solidFill>
                  <a:srgbClr val="000000"/>
                </a:solidFill>
                <a:latin typeface="+mn-lt"/>
                <a:ea typeface="Cambria"/>
                <a:cs typeface="Cambria"/>
                <a:sym typeface="Cambria"/>
              </a:endParaRPr>
            </a:p>
          </p:txBody>
        </p:sp>
        <p:sp>
          <p:nvSpPr>
            <p:cNvPr id="138" name="Google Shape;138;p18"/>
            <p:cNvSpPr txBox="1"/>
            <p:nvPr/>
          </p:nvSpPr>
          <p:spPr>
            <a:xfrm>
              <a:off x="4335715" y="2613329"/>
              <a:ext cx="2514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1</a:t>
              </a:r>
              <a:endParaRPr sz="3200" b="0" i="0" u="none" strike="noStrike" cap="none">
                <a:solidFill>
                  <a:srgbClr val="000000"/>
                </a:solidFill>
                <a:latin typeface="+mn-lt"/>
                <a:ea typeface="Cambria"/>
                <a:cs typeface="Cambria"/>
                <a:sym typeface="Cambria"/>
              </a:endParaRPr>
            </a:p>
          </p:txBody>
        </p:sp>
        <p:sp>
          <p:nvSpPr>
            <p:cNvPr id="139" name="Google Shape;139;p18"/>
            <p:cNvSpPr txBox="1"/>
            <p:nvPr/>
          </p:nvSpPr>
          <p:spPr>
            <a:xfrm>
              <a:off x="6013334" y="2613329"/>
              <a:ext cx="2514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1</a:t>
              </a:r>
              <a:endParaRPr sz="3200" b="0" i="0" u="none" strike="noStrike" cap="none">
                <a:solidFill>
                  <a:srgbClr val="000000"/>
                </a:solidFill>
                <a:latin typeface="+mn-lt"/>
                <a:ea typeface="Cambria"/>
                <a:cs typeface="Cambria"/>
                <a:sym typeface="Cambria"/>
              </a:endParaRPr>
            </a:p>
          </p:txBody>
        </p:sp>
        <p:sp>
          <p:nvSpPr>
            <p:cNvPr id="140" name="Google Shape;140;p18"/>
            <p:cNvSpPr txBox="1"/>
            <p:nvPr/>
          </p:nvSpPr>
          <p:spPr>
            <a:xfrm>
              <a:off x="7690953" y="2613329"/>
              <a:ext cx="2514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0</a:t>
              </a:r>
              <a:endParaRPr sz="3200" b="0" i="0" u="none" strike="noStrike" cap="none">
                <a:solidFill>
                  <a:srgbClr val="000000"/>
                </a:solidFill>
                <a:latin typeface="+mn-lt"/>
                <a:ea typeface="Cambria"/>
                <a:cs typeface="Cambria"/>
                <a:sym typeface="Cambria"/>
              </a:endParaRPr>
            </a:p>
          </p:txBody>
        </p:sp>
        <p:sp>
          <p:nvSpPr>
            <p:cNvPr id="141" name="Google Shape;141;p18"/>
            <p:cNvSpPr txBox="1"/>
            <p:nvPr/>
          </p:nvSpPr>
          <p:spPr>
            <a:xfrm>
              <a:off x="9429126" y="2613329"/>
              <a:ext cx="2514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1</a:t>
              </a:r>
              <a:endParaRPr sz="3200" b="0" i="0" u="none" strike="noStrike" cap="none">
                <a:solidFill>
                  <a:srgbClr val="000000"/>
                </a:solidFill>
                <a:latin typeface="+mn-lt"/>
                <a:ea typeface="Cambria"/>
                <a:cs typeface="Cambria"/>
                <a:sym typeface="Cambria"/>
              </a:endParaRPr>
            </a:p>
          </p:txBody>
        </p:sp>
        <p:sp>
          <p:nvSpPr>
            <p:cNvPr id="142" name="Google Shape;142;p18"/>
            <p:cNvSpPr txBox="1"/>
            <p:nvPr/>
          </p:nvSpPr>
          <p:spPr>
            <a:xfrm>
              <a:off x="11097398" y="2613329"/>
              <a:ext cx="2514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mn-lt"/>
                  <a:ea typeface="Cambria"/>
                  <a:cs typeface="Cambria"/>
                  <a:sym typeface="Cambria"/>
                </a:rPr>
                <a:t>1</a:t>
              </a:r>
              <a:endParaRPr sz="3200" b="0" i="0" u="none" strike="noStrike" cap="none">
                <a:solidFill>
                  <a:srgbClr val="000000"/>
                </a:solidFill>
                <a:latin typeface="+mn-lt"/>
                <a:ea typeface="Cambria"/>
                <a:cs typeface="Cambria"/>
                <a:sym typeface="Cambria"/>
              </a:endParaRPr>
            </a:p>
          </p:txBody>
        </p:sp>
        <p:pic>
          <p:nvPicPr>
            <p:cNvPr id="144" name="Google Shape;144;p18"/>
            <p:cNvPicPr preferRelativeResize="0"/>
            <p:nvPr/>
          </p:nvPicPr>
          <p:blipFill rotWithShape="1">
            <a:blip r:embed="rId9">
              <a:alphaModFix/>
            </a:blip>
            <a:srcRect/>
            <a:stretch/>
          </p:blipFill>
          <p:spPr>
            <a:xfrm>
              <a:off x="515200" y="1539660"/>
              <a:ext cx="1373739" cy="915605"/>
            </a:xfrm>
            <a:prstGeom prst="rect">
              <a:avLst/>
            </a:prstGeom>
            <a:noFill/>
            <a:ln>
              <a:noFill/>
            </a:ln>
          </p:spPr>
        </p:pic>
      </p:grpSp>
      <p:pic>
        <p:nvPicPr>
          <p:cNvPr id="145" name="Google Shape;145;p18"/>
          <p:cNvPicPr preferRelativeResize="0"/>
          <p:nvPr/>
        </p:nvPicPr>
        <p:blipFill rotWithShape="1">
          <a:blip r:embed="rId10">
            <a:alphaModFix/>
          </a:blip>
          <a:srcRect/>
          <a:stretch/>
        </p:blipFill>
        <p:spPr>
          <a:xfrm>
            <a:off x="10734473" y="0"/>
            <a:ext cx="1448025" cy="796414"/>
          </a:xfrm>
          <a:prstGeom prst="rect">
            <a:avLst/>
          </a:prstGeom>
          <a:noFill/>
          <a:ln>
            <a:noFill/>
          </a:ln>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19"/>
          <p:cNvSpPr txBox="1">
            <a:spLocks noGrp="1"/>
          </p:cNvSpPr>
          <p:nvPr>
            <p:ph type="title"/>
          </p:nvPr>
        </p:nvSpPr>
        <p:spPr>
          <a:xfrm>
            <a:off x="261620" y="139700"/>
            <a:ext cx="37401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Error analysis</a:t>
            </a:r>
            <a:endParaRPr sz="4400" dirty="0">
              <a:latin typeface="+mj-lt"/>
              <a:ea typeface="Cambria"/>
              <a:cs typeface="Cambria"/>
              <a:sym typeface="Cambria"/>
            </a:endParaRPr>
          </a:p>
        </p:txBody>
      </p:sp>
      <p:graphicFrame>
        <p:nvGraphicFramePr>
          <p:cNvPr id="152" name="Google Shape;152;p19"/>
          <p:cNvGraphicFramePr/>
          <p:nvPr>
            <p:extLst>
              <p:ext uri="{D42A27DB-BD31-4B8C-83A1-F6EECF244321}">
                <p14:modId xmlns:p14="http://schemas.microsoft.com/office/powerpoint/2010/main" val="1926193279"/>
              </p:ext>
            </p:extLst>
          </p:nvPr>
        </p:nvGraphicFramePr>
        <p:xfrm>
          <a:off x="1820477" y="926464"/>
          <a:ext cx="8756025" cy="2939883"/>
        </p:xfrm>
        <a:graphic>
          <a:graphicData uri="http://schemas.openxmlformats.org/drawingml/2006/table">
            <a:tbl>
              <a:tblPr firstRow="1" bandRow="1">
                <a:noFill/>
                <a:tableStyleId>{CFA8550C-8068-4A6D-9CC0-523924F090D1}</a:tableStyleId>
              </a:tblPr>
              <a:tblGrid>
                <a:gridCol w="1376675">
                  <a:extLst>
                    <a:ext uri="{9D8B030D-6E8A-4147-A177-3AD203B41FA5}">
                      <a16:colId xmlns:a16="http://schemas.microsoft.com/office/drawing/2014/main" val="20000"/>
                    </a:ext>
                  </a:extLst>
                </a:gridCol>
                <a:gridCol w="1134100">
                  <a:extLst>
                    <a:ext uri="{9D8B030D-6E8A-4147-A177-3AD203B41FA5}">
                      <a16:colId xmlns:a16="http://schemas.microsoft.com/office/drawing/2014/main" val="20001"/>
                    </a:ext>
                  </a:extLst>
                </a:gridCol>
                <a:gridCol w="1447175">
                  <a:extLst>
                    <a:ext uri="{9D8B030D-6E8A-4147-A177-3AD203B41FA5}">
                      <a16:colId xmlns:a16="http://schemas.microsoft.com/office/drawing/2014/main" val="20002"/>
                    </a:ext>
                  </a:extLst>
                </a:gridCol>
                <a:gridCol w="1348750">
                  <a:extLst>
                    <a:ext uri="{9D8B030D-6E8A-4147-A177-3AD203B41FA5}">
                      <a16:colId xmlns:a16="http://schemas.microsoft.com/office/drawing/2014/main" val="20003"/>
                    </a:ext>
                  </a:extLst>
                </a:gridCol>
                <a:gridCol w="1659250">
                  <a:extLst>
                    <a:ext uri="{9D8B030D-6E8A-4147-A177-3AD203B41FA5}">
                      <a16:colId xmlns:a16="http://schemas.microsoft.com/office/drawing/2014/main" val="20004"/>
                    </a:ext>
                  </a:extLst>
                </a:gridCol>
                <a:gridCol w="1790075">
                  <a:extLst>
                    <a:ext uri="{9D8B030D-6E8A-4147-A177-3AD203B41FA5}">
                      <a16:colId xmlns:a16="http://schemas.microsoft.com/office/drawing/2014/main" val="20005"/>
                    </a:ext>
                  </a:extLst>
                </a:gridCol>
              </a:tblGrid>
              <a:tr h="639450">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rgbClr val="FFFFFF"/>
                          </a:solidFill>
                          <a:latin typeface="Cambria"/>
                          <a:ea typeface="Cambria"/>
                          <a:cs typeface="Cambria"/>
                          <a:sym typeface="Cambria"/>
                        </a:rPr>
                        <a:t>Image</a:t>
                      </a:r>
                      <a:endParaRPr sz="1800" u="none" strike="noStrike" cap="none">
                        <a:latin typeface="Cambria"/>
                        <a:ea typeface="Cambria"/>
                        <a:cs typeface="Cambria"/>
                        <a:sym typeface="Cambria"/>
                      </a:endParaRPr>
                    </a:p>
                  </a:txBody>
                  <a:tcPr marL="0" marR="0" marT="18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B0F0"/>
                    </a:solidFill>
                  </a:tcPr>
                </a:tc>
                <a:tc>
                  <a:txBody>
                    <a:bodyPr/>
                    <a:lstStyle/>
                    <a:p>
                      <a:pPr marL="1905" marR="0" lvl="0" indent="0" algn="ctr" rtl="0">
                        <a:lnSpc>
                          <a:spcPct val="100000"/>
                        </a:lnSpc>
                        <a:spcBef>
                          <a:spcPts val="0"/>
                        </a:spcBef>
                        <a:spcAft>
                          <a:spcPts val="0"/>
                        </a:spcAft>
                        <a:buClr>
                          <a:srgbClr val="000000"/>
                        </a:buClr>
                        <a:buSzPts val="1800"/>
                        <a:buFont typeface="Arial"/>
                        <a:buNone/>
                      </a:pPr>
                      <a:r>
                        <a:rPr lang="en-US" sz="1800" b="1" u="none" strike="noStrike" cap="none">
                          <a:solidFill>
                            <a:srgbClr val="FFFFFF"/>
                          </a:solidFill>
                          <a:latin typeface="Cambria"/>
                          <a:ea typeface="Cambria"/>
                          <a:cs typeface="Cambria"/>
                          <a:sym typeface="Cambria"/>
                        </a:rPr>
                        <a:t>Dog</a:t>
                      </a:r>
                      <a:endParaRPr sz="1800" u="none" strike="noStrike" cap="none">
                        <a:latin typeface="Cambria"/>
                        <a:ea typeface="Cambria"/>
                        <a:cs typeface="Cambria"/>
                        <a:sym typeface="Cambria"/>
                      </a:endParaRPr>
                    </a:p>
                  </a:txBody>
                  <a:tcPr marL="0" marR="0" marT="18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B0F0"/>
                    </a:solidFill>
                  </a:tcPr>
                </a:tc>
                <a:tc>
                  <a:txBody>
                    <a:bodyPr/>
                    <a:lstStyle/>
                    <a:p>
                      <a:pPr marL="3810" marR="0" lvl="0" indent="0" algn="ctr" rtl="0">
                        <a:lnSpc>
                          <a:spcPct val="100000"/>
                        </a:lnSpc>
                        <a:spcBef>
                          <a:spcPts val="0"/>
                        </a:spcBef>
                        <a:spcAft>
                          <a:spcPts val="0"/>
                        </a:spcAft>
                        <a:buClr>
                          <a:srgbClr val="000000"/>
                        </a:buClr>
                        <a:buSzPts val="1800"/>
                        <a:buFont typeface="Arial"/>
                        <a:buNone/>
                      </a:pPr>
                      <a:r>
                        <a:rPr lang="en-US" sz="1800" b="1" u="none" strike="noStrike" cap="none">
                          <a:solidFill>
                            <a:srgbClr val="FFFFFF"/>
                          </a:solidFill>
                          <a:latin typeface="Cambria"/>
                          <a:ea typeface="Cambria"/>
                          <a:cs typeface="Cambria"/>
                          <a:sym typeface="Cambria"/>
                        </a:rPr>
                        <a:t>Great Cat</a:t>
                      </a:r>
                      <a:endParaRPr sz="1800" u="none" strike="noStrike" cap="none">
                        <a:latin typeface="Cambria"/>
                        <a:ea typeface="Cambria"/>
                        <a:cs typeface="Cambria"/>
                        <a:sym typeface="Cambria"/>
                      </a:endParaRPr>
                    </a:p>
                  </a:txBody>
                  <a:tcPr marL="0" marR="0" marT="18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B0F0"/>
                    </a:solidFill>
                  </a:tcPr>
                </a:tc>
                <a:tc>
                  <a:txBody>
                    <a:bodyPr/>
                    <a:lstStyle/>
                    <a:p>
                      <a:pPr marL="4445" marR="0" lvl="0" indent="0" algn="ctr" rtl="0">
                        <a:lnSpc>
                          <a:spcPct val="100000"/>
                        </a:lnSpc>
                        <a:spcBef>
                          <a:spcPts val="0"/>
                        </a:spcBef>
                        <a:spcAft>
                          <a:spcPts val="0"/>
                        </a:spcAft>
                        <a:buClr>
                          <a:srgbClr val="000000"/>
                        </a:buClr>
                        <a:buSzPts val="1800"/>
                        <a:buFont typeface="Arial"/>
                        <a:buNone/>
                      </a:pPr>
                      <a:r>
                        <a:rPr lang="en-US" sz="1800" b="1" u="none" strike="noStrike" cap="none">
                          <a:solidFill>
                            <a:srgbClr val="FFFFFF"/>
                          </a:solidFill>
                          <a:latin typeface="Cambria"/>
                          <a:ea typeface="Cambria"/>
                          <a:cs typeface="Cambria"/>
                          <a:sym typeface="Cambria"/>
                        </a:rPr>
                        <a:t>Blurry</a:t>
                      </a:r>
                      <a:endParaRPr sz="1800" u="none" strike="noStrike" cap="none">
                        <a:latin typeface="Cambria"/>
                        <a:ea typeface="Cambria"/>
                        <a:cs typeface="Cambria"/>
                        <a:sym typeface="Cambria"/>
                      </a:endParaRPr>
                    </a:p>
                  </a:txBody>
                  <a:tcPr marL="0" marR="0" marT="18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B0F0"/>
                    </a:solidFill>
                  </a:tcPr>
                </a:tc>
                <a:tc>
                  <a:txBody>
                    <a:bodyPr/>
                    <a:lstStyle/>
                    <a:p>
                      <a:pPr marL="400050" marR="148590" lvl="0" indent="-237490" algn="l" rtl="0">
                        <a:lnSpc>
                          <a:spcPct val="116666"/>
                        </a:lnSpc>
                        <a:spcBef>
                          <a:spcPts val="0"/>
                        </a:spcBef>
                        <a:spcAft>
                          <a:spcPts val="0"/>
                        </a:spcAft>
                        <a:buClr>
                          <a:srgbClr val="000000"/>
                        </a:buClr>
                        <a:buSzPts val="1800"/>
                        <a:buFont typeface="Arial"/>
                        <a:buNone/>
                      </a:pPr>
                      <a:r>
                        <a:rPr lang="en-US" sz="1800" b="1" u="none" strike="noStrike" cap="none">
                          <a:solidFill>
                            <a:srgbClr val="FFFFFF"/>
                          </a:solidFill>
                          <a:latin typeface="Cambria"/>
                          <a:ea typeface="Cambria"/>
                          <a:cs typeface="Cambria"/>
                          <a:sym typeface="Cambria"/>
                        </a:rPr>
                        <a:t>Incorrectly labeled</a:t>
                      </a:r>
                      <a:endParaRPr sz="1800" u="none" strike="noStrike" cap="none">
                        <a:latin typeface="Cambria"/>
                        <a:ea typeface="Cambria"/>
                        <a:cs typeface="Cambria"/>
                        <a:sym typeface="Cambria"/>
                      </a:endParaRPr>
                    </a:p>
                  </a:txBody>
                  <a:tcPr marL="0" marR="0" marT="609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B0F0"/>
                    </a:solidFill>
                  </a:tcPr>
                </a:tc>
                <a:tc>
                  <a:txBody>
                    <a:bodyPr/>
                    <a:lstStyle/>
                    <a:p>
                      <a:pPr marL="26924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FFFFFF"/>
                          </a:solidFill>
                          <a:latin typeface="Cambria"/>
                          <a:ea typeface="Cambria"/>
                          <a:cs typeface="Cambria"/>
                          <a:sym typeface="Cambria"/>
                        </a:rPr>
                        <a:t>Comments</a:t>
                      </a:r>
                      <a:endParaRPr sz="1800" u="none" strike="noStrike" cap="none">
                        <a:latin typeface="Cambria"/>
                        <a:ea typeface="Cambria"/>
                        <a:cs typeface="Cambria"/>
                        <a:sym typeface="Cambria"/>
                      </a:endParaRPr>
                    </a:p>
                  </a:txBody>
                  <a:tcPr marL="0" marR="0" marT="18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B0F0"/>
                    </a:solidFill>
                  </a:tcPr>
                </a:tc>
                <a:extLst>
                  <a:ext uri="{0D108BD9-81ED-4DB2-BD59-A6C34878D82A}">
                    <a16:rowId xmlns:a16="http://schemas.microsoft.com/office/drawing/2014/main" val="10000"/>
                  </a:ext>
                </a:extLst>
              </a:tr>
              <a:tr h="40067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a:t>
                      </a:r>
                      <a:endParaRPr sz="1800" u="none" strike="noStrike" cap="none">
                        <a:latin typeface="Cambria"/>
                        <a:ea typeface="Cambria"/>
                        <a:cs typeface="Cambria"/>
                        <a:sym typeface="Cambria"/>
                      </a:endParaRPr>
                    </a:p>
                  </a:txBody>
                  <a:tcPr marL="0" marR="0" marT="635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DD0DA"/>
                    </a:solidFill>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5175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98</a:t>
                      </a:r>
                      <a:endParaRPr sz="1800" u="none" strike="noStrike" cap="none">
                        <a:latin typeface="Cambria"/>
                        <a:ea typeface="Cambria"/>
                        <a:cs typeface="Cambria"/>
                        <a:sym typeface="Cambria"/>
                      </a:endParaRPr>
                    </a:p>
                  </a:txBody>
                  <a:tcPr marL="0" marR="0" marT="1225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DD0DA"/>
                    </a:solidFill>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5715" marR="0" lvl="0" indent="0" algn="ctr" rtl="0">
                        <a:lnSpc>
                          <a:spcPct val="100000"/>
                        </a:lnSpc>
                        <a:spcBef>
                          <a:spcPts val="0"/>
                        </a:spcBef>
                        <a:spcAft>
                          <a:spcPts val="0"/>
                        </a:spcAft>
                        <a:buClr>
                          <a:srgbClr val="000000"/>
                        </a:buClr>
                        <a:buSzPts val="2000"/>
                        <a:buFont typeface="Arial"/>
                        <a:buNone/>
                      </a:pPr>
                      <a:r>
                        <a:rPr lang="en-US" sz="2000" u="none" strike="noStrike" cap="none">
                          <a:latin typeface="MS Mincho"/>
                          <a:ea typeface="MS Mincho"/>
                          <a:cs typeface="MS Mincho"/>
                          <a:sym typeface="MS Mincho"/>
                        </a:rPr>
                        <a:t>✓</a:t>
                      </a:r>
                      <a:endParaRPr sz="2000" u="none" strike="noStrike" cap="none">
                        <a:latin typeface="MS Mincho"/>
                        <a:ea typeface="MS Mincho"/>
                        <a:cs typeface="MS Mincho"/>
                        <a:sym typeface="MS Mincho"/>
                      </a:endParaRPr>
                    </a:p>
                  </a:txBody>
                  <a:tcPr marL="0" marR="0" marT="1073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311150" marR="111125" lvl="0" indent="-185420" algn="l" rtl="0">
                        <a:lnSpc>
                          <a:spcPct val="1012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Labeler missed cat in background</a:t>
                      </a:r>
                      <a:endParaRPr sz="1400" u="none" strike="noStrike" cap="none">
                        <a:latin typeface="Cambria"/>
                        <a:ea typeface="Cambria"/>
                        <a:cs typeface="Cambria"/>
                        <a:sym typeface="Cambria"/>
                      </a:endParaRPr>
                    </a:p>
                  </a:txBody>
                  <a:tcPr marL="0" marR="0" marT="438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extLst>
                  <a:ext uri="{0D108BD9-81ED-4DB2-BD59-A6C34878D82A}">
                    <a16:rowId xmlns:a16="http://schemas.microsoft.com/office/drawing/2014/main" val="10002"/>
                  </a:ext>
                </a:extLst>
              </a:tr>
              <a:tr h="400675">
                <a:tc>
                  <a:txBody>
                    <a:bodyPr/>
                    <a:lstStyle/>
                    <a:p>
                      <a:pPr marL="635"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99</a:t>
                      </a:r>
                      <a:endParaRPr sz="1800" u="none" strike="noStrike" cap="none">
                        <a:latin typeface="Cambria"/>
                        <a:ea typeface="Cambria"/>
                        <a:cs typeface="Cambria"/>
                        <a:sym typeface="Cambria"/>
                      </a:endParaRPr>
                    </a:p>
                  </a:txBody>
                  <a:tcPr marL="0" marR="0" marT="64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DD0DA"/>
                    </a:solidFill>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Clr>
                          <a:srgbClr val="000000"/>
                        </a:buClr>
                        <a:buSzPts val="2000"/>
                        <a:buFont typeface="Arial"/>
                        <a:buNone/>
                      </a:pPr>
                      <a:r>
                        <a:rPr lang="en-US" sz="2000" u="none" strike="noStrike" cap="none">
                          <a:latin typeface="MS Mincho"/>
                          <a:ea typeface="MS Mincho"/>
                          <a:cs typeface="MS Mincho"/>
                          <a:sym typeface="MS Mincho"/>
                        </a:rPr>
                        <a:t>✓</a:t>
                      </a:r>
                      <a:endParaRPr sz="2000" u="none" strike="noStrike" cap="none">
                        <a:latin typeface="MS Mincho"/>
                        <a:ea typeface="MS Mincho"/>
                        <a:cs typeface="MS Mincho"/>
                        <a:sym typeface="MS Mincho"/>
                      </a:endParaRPr>
                    </a:p>
                  </a:txBody>
                  <a:tcPr marL="0" marR="0" marT="489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517525">
                <a:tc>
                  <a:txBody>
                    <a:bodyPr/>
                    <a:lstStyle/>
                    <a:p>
                      <a:pPr marL="635"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100</a:t>
                      </a:r>
                      <a:endParaRPr sz="1800" u="none" strike="noStrike" cap="none">
                        <a:latin typeface="Cambria"/>
                        <a:ea typeface="Cambria"/>
                        <a:cs typeface="Cambria"/>
                        <a:sym typeface="Cambria"/>
                      </a:endParaRPr>
                    </a:p>
                  </a:txBody>
                  <a:tcPr marL="0" marR="0" marT="1225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DD0DA"/>
                    </a:solidFill>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5715" marR="0" lvl="0" indent="0" algn="ctr" rtl="0">
                        <a:lnSpc>
                          <a:spcPct val="100000"/>
                        </a:lnSpc>
                        <a:spcBef>
                          <a:spcPts val="0"/>
                        </a:spcBef>
                        <a:spcAft>
                          <a:spcPts val="0"/>
                        </a:spcAft>
                        <a:buClr>
                          <a:srgbClr val="000000"/>
                        </a:buClr>
                        <a:buSzPts val="2000"/>
                        <a:buFont typeface="Arial"/>
                        <a:buNone/>
                      </a:pPr>
                      <a:r>
                        <a:rPr lang="en-US" sz="2000" u="none" strike="noStrike" cap="none">
                          <a:latin typeface="MS Mincho"/>
                          <a:ea typeface="MS Mincho"/>
                          <a:cs typeface="MS Mincho"/>
                          <a:sym typeface="MS Mincho"/>
                        </a:rPr>
                        <a:t>✓</a:t>
                      </a:r>
                      <a:endParaRPr sz="2000" u="none" strike="noStrike" cap="none">
                        <a:latin typeface="MS Mincho"/>
                        <a:ea typeface="MS Mincho"/>
                        <a:cs typeface="MS Mincho"/>
                        <a:sym typeface="MS Mincho"/>
                      </a:endParaRPr>
                    </a:p>
                  </a:txBody>
                  <a:tcPr marL="0" marR="0" marT="1073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314325" marR="180975" lvl="0" indent="-118110" algn="l" rtl="0">
                        <a:lnSpc>
                          <a:spcPct val="1012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Drawing of a cat; Not a real cat.</a:t>
                      </a:r>
                      <a:endParaRPr sz="1400" u="none" strike="noStrike" cap="none">
                        <a:latin typeface="Cambria"/>
                        <a:ea typeface="Cambria"/>
                        <a:cs typeface="Cambria"/>
                        <a:sym typeface="Cambria"/>
                      </a:endParaRPr>
                    </a:p>
                  </a:txBody>
                  <a:tcPr marL="0" marR="0" marT="438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extLst>
                  <a:ext uri="{0D108BD9-81ED-4DB2-BD59-A6C34878D82A}">
                    <a16:rowId xmlns:a16="http://schemas.microsoft.com/office/drawing/2014/main" val="10004"/>
                  </a:ext>
                </a:extLst>
              </a:tr>
              <a:tr h="400675">
                <a:tc>
                  <a:txBody>
                    <a:bodyPr/>
                    <a:lstStyle/>
                    <a:p>
                      <a:pPr marL="127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 of total</a:t>
                      </a:r>
                      <a:endParaRPr sz="1800" u="none" strike="noStrike" cap="none">
                        <a:latin typeface="Cambria"/>
                        <a:ea typeface="Cambria"/>
                        <a:cs typeface="Cambria"/>
                        <a:sym typeface="Cambria"/>
                      </a:endParaRPr>
                    </a:p>
                  </a:txBody>
                  <a:tcPr marL="0" marR="0" marT="64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DD0DA"/>
                    </a:solidFill>
                  </a:tcPr>
                </a:tc>
                <a:tc>
                  <a:txBody>
                    <a:bodyPr/>
                    <a:lstStyle/>
                    <a:p>
                      <a:pPr marL="1270" marR="0" lvl="0" indent="0" algn="ctr" rtl="0">
                        <a:lnSpc>
                          <a:spcPct val="100000"/>
                        </a:lnSpc>
                        <a:spcBef>
                          <a:spcPts val="0"/>
                        </a:spcBef>
                        <a:spcAft>
                          <a:spcPts val="0"/>
                        </a:spcAft>
                        <a:buClr>
                          <a:srgbClr val="000000"/>
                        </a:buClr>
                        <a:buSzPts val="1800"/>
                        <a:buFont typeface="Arial"/>
                        <a:buNone/>
                      </a:pPr>
                      <a:r>
                        <a:rPr lang="en-US" sz="1800" u="none" strike="noStrike" cap="none" dirty="0">
                          <a:latin typeface="Cambria"/>
                          <a:ea typeface="Cambria"/>
                          <a:cs typeface="Cambria"/>
                          <a:sym typeface="Cambria"/>
                        </a:rPr>
                        <a:t>8%</a:t>
                      </a:r>
                      <a:endParaRPr sz="1800" u="none" strike="noStrike" cap="none" dirty="0">
                        <a:latin typeface="Cambria"/>
                        <a:ea typeface="Cambria"/>
                        <a:cs typeface="Cambria"/>
                        <a:sym typeface="Cambria"/>
                      </a:endParaRPr>
                    </a:p>
                  </a:txBody>
                  <a:tcPr marL="0" marR="0" marT="64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254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43%</a:t>
                      </a:r>
                      <a:endParaRPr sz="1800" u="none" strike="noStrike" cap="none">
                        <a:latin typeface="Cambria"/>
                        <a:ea typeface="Cambria"/>
                        <a:cs typeface="Cambria"/>
                        <a:sym typeface="Cambria"/>
                      </a:endParaRPr>
                    </a:p>
                  </a:txBody>
                  <a:tcPr marL="0" marR="0" marT="64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4445"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61%</a:t>
                      </a:r>
                      <a:endParaRPr sz="1800" u="none" strike="noStrike" cap="none">
                        <a:latin typeface="Cambria"/>
                        <a:ea typeface="Cambria"/>
                        <a:cs typeface="Cambria"/>
                        <a:sym typeface="Cambria"/>
                      </a:endParaRPr>
                    </a:p>
                  </a:txBody>
                  <a:tcPr marL="0" marR="0" marT="64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5715"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6%</a:t>
                      </a:r>
                      <a:endParaRPr sz="1800" u="none" strike="noStrike" cap="none">
                        <a:latin typeface="Cambria"/>
                        <a:ea typeface="Cambria"/>
                        <a:cs typeface="Cambria"/>
                        <a:sym typeface="Cambria"/>
                      </a:endParaRPr>
                    </a:p>
                  </a:txBody>
                  <a:tcPr marL="0" marR="0" marT="64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a:buNone/>
                      </a:pPr>
                      <a:endParaRPr sz="21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59" name="Google Shape;159;p19"/>
          <p:cNvPicPr preferRelativeResize="0"/>
          <p:nvPr/>
        </p:nvPicPr>
        <p:blipFill rotWithShape="1">
          <a:blip r:embed="rId3">
            <a:alphaModFix/>
          </a:blip>
          <a:srcRect/>
          <a:stretch/>
        </p:blipFill>
        <p:spPr>
          <a:xfrm rot="-5400000">
            <a:off x="5955552" y="4464508"/>
            <a:ext cx="1697802" cy="312447"/>
          </a:xfrm>
          <a:prstGeom prst="rect">
            <a:avLst/>
          </a:prstGeom>
          <a:noFill/>
          <a:ln>
            <a:noFill/>
          </a:ln>
        </p:spPr>
      </p:pic>
      <p:pic>
        <p:nvPicPr>
          <p:cNvPr id="160" name="Google Shape;160;p1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3" name="TextBox 2"/>
          <p:cNvSpPr txBox="1"/>
          <p:nvPr/>
        </p:nvSpPr>
        <p:spPr>
          <a:xfrm>
            <a:off x="749030" y="4036979"/>
            <a:ext cx="11258370" cy="1938992"/>
          </a:xfrm>
          <a:prstGeom prst="rect">
            <a:avLst/>
          </a:prstGeom>
          <a:noFill/>
        </p:spPr>
        <p:txBody>
          <a:bodyPr wrap="square" rtlCol="0">
            <a:spAutoFit/>
          </a:bodyPr>
          <a:lstStyle/>
          <a:p>
            <a:pPr lvl="0"/>
            <a:r>
              <a:rPr lang="en-US" sz="2400" dirty="0">
                <a:ea typeface="Cambria"/>
                <a:cs typeface="Cambria"/>
                <a:sym typeface="Cambria"/>
              </a:rPr>
              <a:t>Overall dev set error		10%		2%</a:t>
            </a:r>
          </a:p>
          <a:p>
            <a:r>
              <a:rPr lang="en-US" sz="2400" dirty="0">
                <a:ea typeface="Cambria"/>
                <a:cs typeface="Cambria"/>
                <a:sym typeface="Cambria"/>
              </a:rPr>
              <a:t>Errors due incorrect labels            0.6</a:t>
            </a:r>
            <a:r>
              <a:rPr lang="en-US" sz="2400" dirty="0" smtClean="0">
                <a:ea typeface="Cambria"/>
                <a:cs typeface="Cambria"/>
                <a:sym typeface="Cambria"/>
              </a:rPr>
              <a:t>%		0.6%</a:t>
            </a:r>
          </a:p>
          <a:p>
            <a:pPr lvl="0"/>
            <a:r>
              <a:rPr lang="en-US" sz="2400" dirty="0">
                <a:ea typeface="Cambria"/>
                <a:cs typeface="Cambria"/>
                <a:sym typeface="Cambria"/>
              </a:rPr>
              <a:t>Errors due to other </a:t>
            </a:r>
            <a:r>
              <a:rPr lang="en-US" sz="2400" dirty="0" smtClean="0">
                <a:ea typeface="Cambria"/>
                <a:cs typeface="Cambria"/>
                <a:sym typeface="Cambria"/>
              </a:rPr>
              <a:t>causes		9.4%		1.4%</a:t>
            </a:r>
          </a:p>
          <a:p>
            <a:endParaRPr lang="en-US" sz="2400" dirty="0" smtClean="0">
              <a:ea typeface="Cambria"/>
              <a:cs typeface="Cambria"/>
              <a:sym typeface="Cambria"/>
            </a:endParaRPr>
          </a:p>
          <a:p>
            <a:r>
              <a:rPr lang="en-US" sz="2400" dirty="0" smtClean="0">
                <a:ea typeface="Cambria"/>
                <a:cs typeface="Cambria"/>
                <a:sym typeface="Cambria"/>
              </a:rPr>
              <a:t>Goal </a:t>
            </a:r>
            <a:r>
              <a:rPr lang="en-US" sz="2400" dirty="0">
                <a:ea typeface="Cambria"/>
                <a:cs typeface="Cambria"/>
                <a:sym typeface="Cambria"/>
              </a:rPr>
              <a:t>of dev set is to help you select between two classifiers A &amp; B</a:t>
            </a:r>
            <a:r>
              <a:rPr lang="en-US" sz="2400" dirty="0" smtClean="0">
                <a:ea typeface="Cambria"/>
                <a:cs typeface="Cambria"/>
                <a:sym typeface="Cambria"/>
              </a:rPr>
              <a:t>.</a:t>
            </a:r>
            <a:endParaRPr lang="en-US" sz="2400" dirty="0">
              <a:ea typeface="Cambria"/>
              <a:cs typeface="Cambria"/>
              <a:sym typeface="Cambria"/>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757910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64"/>
        <p:cNvGrpSpPr/>
        <p:nvPr/>
      </p:nvGrpSpPr>
      <p:grpSpPr>
        <a:xfrm>
          <a:off x="0" y="0"/>
          <a:ext cx="0" cy="0"/>
          <a:chOff x="0" y="0"/>
          <a:chExt cx="0" cy="0"/>
        </a:xfrm>
      </p:grpSpPr>
      <p:sp>
        <p:nvSpPr>
          <p:cNvPr id="165" name="Google Shape;165;p20"/>
          <p:cNvSpPr txBox="1">
            <a:spLocks noGrp="1"/>
          </p:cNvSpPr>
          <p:nvPr>
            <p:ph type="title"/>
          </p:nvPr>
        </p:nvSpPr>
        <p:spPr>
          <a:xfrm>
            <a:off x="261620" y="139700"/>
            <a:ext cx="1087501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n-lt"/>
                <a:ea typeface="Cambria"/>
                <a:cs typeface="Cambria"/>
                <a:sym typeface="Cambria"/>
              </a:rPr>
              <a:t>Correcting incorrect dev/test set examples</a:t>
            </a:r>
            <a:endParaRPr sz="4400" dirty="0">
              <a:latin typeface="+mn-lt"/>
              <a:ea typeface="Cambria"/>
              <a:cs typeface="Cambria"/>
              <a:sym typeface="Cambria"/>
            </a:endParaRPr>
          </a:p>
        </p:txBody>
      </p:sp>
      <p:sp>
        <p:nvSpPr>
          <p:cNvPr id="166" name="Google Shape;166;p20"/>
          <p:cNvSpPr txBox="1"/>
          <p:nvPr/>
        </p:nvSpPr>
        <p:spPr>
          <a:xfrm>
            <a:off x="561622" y="1559290"/>
            <a:ext cx="11237654" cy="2941559"/>
          </a:xfrm>
          <a:prstGeom prst="rect">
            <a:avLst/>
          </a:prstGeom>
          <a:noFill/>
          <a:ln>
            <a:noFill/>
          </a:ln>
        </p:spPr>
        <p:txBody>
          <a:bodyPr spcFirstLastPara="1" wrap="square" lIns="0" tIns="8875" rIns="0" bIns="0" anchor="t" anchorCtr="0">
            <a:spAutoFit/>
          </a:bodyPr>
          <a:lstStyle/>
          <a:p>
            <a:pPr marL="469900" marR="328930" lvl="0" indent="-457200" algn="l" rtl="0">
              <a:lnSpc>
                <a:spcPct val="100699"/>
              </a:lnSpc>
              <a:spcBef>
                <a:spcPts val="0"/>
              </a:spcBef>
              <a:spcAft>
                <a:spcPts val="0"/>
              </a:spcAft>
              <a:buClr>
                <a:srgbClr val="000000"/>
              </a:buClr>
              <a:buSzPts val="3600"/>
              <a:buFont typeface="Arial"/>
              <a:buChar char="•"/>
            </a:pPr>
            <a:r>
              <a:rPr lang="en-US" sz="2400" b="0" i="0" u="none" strike="noStrike" cap="none" dirty="0">
                <a:solidFill>
                  <a:srgbClr val="000000"/>
                </a:solidFill>
                <a:latin typeface="+mn-lt"/>
                <a:ea typeface="Cambria"/>
                <a:cs typeface="Cambria"/>
                <a:sym typeface="Cambria"/>
              </a:rPr>
              <a:t>Apply same process to your dev and test sets to make sure they continue to come from the same distribution</a:t>
            </a:r>
            <a:endParaRPr sz="2400" b="0" i="0" u="none" strike="noStrike" cap="none" dirty="0">
              <a:solidFill>
                <a:srgbClr val="000000"/>
              </a:solidFill>
              <a:latin typeface="+mn-lt"/>
              <a:ea typeface="Cambria"/>
              <a:cs typeface="Cambria"/>
              <a:sym typeface="Cambria"/>
            </a:endParaRPr>
          </a:p>
          <a:p>
            <a:pPr marL="469900" marR="5080" lvl="0" indent="-457200" algn="l" rtl="0">
              <a:lnSpc>
                <a:spcPct val="101800"/>
              </a:lnSpc>
              <a:spcBef>
                <a:spcPts val="2695"/>
              </a:spcBef>
              <a:spcAft>
                <a:spcPts val="0"/>
              </a:spcAft>
              <a:buClr>
                <a:srgbClr val="000000"/>
              </a:buClr>
              <a:buSzPts val="3600"/>
              <a:buFont typeface="Arial"/>
              <a:buChar char="•"/>
            </a:pPr>
            <a:r>
              <a:rPr lang="en-US" sz="2400" b="0" i="0" u="none" strike="noStrike" cap="none" dirty="0">
                <a:solidFill>
                  <a:srgbClr val="000000"/>
                </a:solidFill>
                <a:latin typeface="+mn-lt"/>
                <a:ea typeface="Cambria"/>
                <a:cs typeface="Cambria"/>
                <a:sym typeface="Cambria"/>
              </a:rPr>
              <a:t>Consider examining examples your algorithm got right as well as ones it got wrong.</a:t>
            </a:r>
            <a:endParaRPr sz="2400" b="0" i="0" u="none" strike="noStrike" cap="none" dirty="0">
              <a:solidFill>
                <a:srgbClr val="000000"/>
              </a:solidFill>
              <a:latin typeface="+mn-lt"/>
              <a:ea typeface="Cambria"/>
              <a:cs typeface="Cambria"/>
              <a:sym typeface="Cambria"/>
            </a:endParaRPr>
          </a:p>
          <a:p>
            <a:pPr marL="469900" marR="1125855" lvl="0" indent="-457200" algn="l" rtl="0">
              <a:lnSpc>
                <a:spcPct val="101899"/>
              </a:lnSpc>
              <a:spcBef>
                <a:spcPts val="2625"/>
              </a:spcBef>
              <a:spcAft>
                <a:spcPts val="0"/>
              </a:spcAft>
              <a:buClr>
                <a:srgbClr val="000000"/>
              </a:buClr>
              <a:buSzPts val="3600"/>
              <a:buFont typeface="Arial"/>
              <a:buChar char="•"/>
            </a:pPr>
            <a:r>
              <a:rPr lang="en-US" sz="2400" b="0" i="0" u="none" strike="noStrike" cap="none" dirty="0">
                <a:solidFill>
                  <a:srgbClr val="000000"/>
                </a:solidFill>
                <a:latin typeface="+mn-lt"/>
                <a:ea typeface="Cambria"/>
                <a:cs typeface="Cambria"/>
                <a:sym typeface="Cambria"/>
              </a:rPr>
              <a:t>Train and dev/test data may now come from slightly different distributions.</a:t>
            </a:r>
            <a:endParaRPr sz="2400" b="0" i="0" u="none" strike="noStrike" cap="none" dirty="0">
              <a:solidFill>
                <a:srgbClr val="000000"/>
              </a:solidFill>
              <a:latin typeface="+mn-lt"/>
              <a:ea typeface="Cambria"/>
              <a:cs typeface="Cambria"/>
              <a:sym typeface="Cambria"/>
            </a:endParaRPr>
          </a:p>
        </p:txBody>
      </p:sp>
      <p:pic>
        <p:nvPicPr>
          <p:cNvPr id="167" name="Google Shape;167;p2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4836351" y="2395175"/>
            <a:ext cx="6908799" cy="9398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dirty="0">
                <a:latin typeface="+mj-lt"/>
              </a:rPr>
              <a:t>Error Analysis</a:t>
            </a:r>
            <a:endParaRPr dirty="0">
              <a:latin typeface="+mj-lt"/>
            </a:endParaRPr>
          </a:p>
        </p:txBody>
      </p:sp>
      <p:sp>
        <p:nvSpPr>
          <p:cNvPr id="173" name="Google Shape;173;p21"/>
          <p:cNvSpPr txBox="1"/>
          <p:nvPr/>
        </p:nvSpPr>
        <p:spPr>
          <a:xfrm>
            <a:off x="4517650" y="3503643"/>
            <a:ext cx="7546200" cy="2022590"/>
          </a:xfrm>
          <a:prstGeom prst="rect">
            <a:avLst/>
          </a:prstGeom>
          <a:noFill/>
          <a:ln>
            <a:noFill/>
          </a:ln>
        </p:spPr>
        <p:txBody>
          <a:bodyPr spcFirstLastPara="1" wrap="square" lIns="0" tIns="27925" rIns="0" bIns="0" anchor="t" anchorCtr="0">
            <a:spAutoFit/>
          </a:bodyPr>
          <a:lstStyle/>
          <a:p>
            <a:pPr marL="409575" marR="5080" lvl="0" indent="-397510"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mn-lt"/>
                <a:ea typeface="Calibri"/>
                <a:cs typeface="Calibri"/>
                <a:sym typeface="Calibri"/>
              </a:rPr>
              <a:t>Build your first system quickly, then iterate</a:t>
            </a:r>
            <a:endParaRPr sz="5400" b="0" i="0" u="none" strike="noStrike" cap="none" dirty="0">
              <a:solidFill>
                <a:srgbClr val="000000"/>
              </a:solidFill>
              <a:latin typeface="+mn-lt"/>
              <a:ea typeface="Calibri"/>
              <a:cs typeface="Calibri"/>
              <a:sym typeface="Calibri"/>
            </a:endParaRPr>
          </a:p>
        </p:txBody>
      </p:sp>
      <p:sp>
        <p:nvSpPr>
          <p:cNvPr id="174" name="Google Shape;174;p21"/>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75" name="Google Shape;175;p2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79"/>
        <p:cNvGrpSpPr/>
        <p:nvPr/>
      </p:nvGrpSpPr>
      <p:grpSpPr>
        <a:xfrm>
          <a:off x="0" y="0"/>
          <a:ext cx="0" cy="0"/>
          <a:chOff x="0" y="0"/>
          <a:chExt cx="0" cy="0"/>
        </a:xfrm>
      </p:grpSpPr>
      <p:sp>
        <p:nvSpPr>
          <p:cNvPr id="180" name="Google Shape;180;p22"/>
          <p:cNvSpPr txBox="1">
            <a:spLocks noGrp="1"/>
          </p:cNvSpPr>
          <p:nvPr>
            <p:ph type="title"/>
          </p:nvPr>
        </p:nvSpPr>
        <p:spPr>
          <a:xfrm>
            <a:off x="261626" y="139700"/>
            <a:ext cx="10640835" cy="1502463"/>
          </a:xfrm>
          <a:prstGeom prst="rect">
            <a:avLst/>
          </a:prstGeom>
          <a:noFill/>
          <a:ln>
            <a:noFill/>
          </a:ln>
        </p:spPr>
        <p:txBody>
          <a:bodyPr spcFirstLastPara="1" wrap="square" lIns="0" tIns="12700" rIns="0" bIns="0" anchor="t" anchorCtr="0">
            <a:spAutoFit/>
          </a:bodyPr>
          <a:lstStyle/>
          <a:p>
            <a:pPr marL="409575" marR="5080" lvl="0" indent="-397510" algn="l" rtl="0">
              <a:lnSpc>
                <a:spcPct val="119696"/>
              </a:lnSpc>
              <a:spcBef>
                <a:spcPts val="0"/>
              </a:spcBef>
              <a:spcAft>
                <a:spcPts val="0"/>
              </a:spcAft>
              <a:buClr>
                <a:schemeClr val="dk1"/>
              </a:buClr>
              <a:buSzPts val="6600"/>
              <a:buFont typeface="Arial"/>
              <a:buNone/>
            </a:pPr>
            <a:r>
              <a:rPr lang="en-US" sz="4400" dirty="0">
                <a:latin typeface="+mj-lt"/>
              </a:rPr>
              <a:t>Build your first system quickly, then iterate</a:t>
            </a:r>
            <a:endParaRPr sz="4400" dirty="0">
              <a:latin typeface="+mj-lt"/>
            </a:endParaRPr>
          </a:p>
          <a:p>
            <a:pPr marL="12700" lvl="0" indent="0" algn="l" rtl="0">
              <a:lnSpc>
                <a:spcPct val="100000"/>
              </a:lnSpc>
              <a:spcBef>
                <a:spcPts val="0"/>
              </a:spcBef>
              <a:spcAft>
                <a:spcPts val="0"/>
              </a:spcAft>
              <a:buSzPts val="1400"/>
              <a:buNone/>
            </a:pPr>
            <a:endParaRPr sz="4400" dirty="0">
              <a:latin typeface="+mj-lt"/>
              <a:ea typeface="Cambria"/>
              <a:cs typeface="Cambria"/>
              <a:sym typeface="Cambria"/>
            </a:endParaRPr>
          </a:p>
        </p:txBody>
      </p:sp>
      <p:pic>
        <p:nvPicPr>
          <p:cNvPr id="181" name="Google Shape;181;p22"/>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182" name="Google Shape;182;p2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83" name="Google Shape;183;p22"/>
          <p:cNvSpPr txBox="1"/>
          <p:nvPr/>
        </p:nvSpPr>
        <p:spPr>
          <a:xfrm>
            <a:off x="261625" y="1406600"/>
            <a:ext cx="10473000" cy="3582489"/>
          </a:xfrm>
          <a:prstGeom prst="rect">
            <a:avLst/>
          </a:prstGeom>
          <a:noFill/>
          <a:ln>
            <a:noFill/>
          </a:ln>
        </p:spPr>
        <p:txBody>
          <a:bodyPr spcFirstLastPara="1" wrap="square" lIns="91425" tIns="91425" rIns="91425" bIns="91425" anchor="t" anchorCtr="0">
            <a:spAutoFit/>
          </a:bodyPr>
          <a:lstStyle/>
          <a:p>
            <a:pPr marL="457200" lvl="0" indent="-381000" algn="just">
              <a:lnSpc>
                <a:spcPct val="115000"/>
              </a:lnSpc>
              <a:buClr>
                <a:schemeClr val="dk1"/>
              </a:buClr>
              <a:buSzPts val="2400"/>
              <a:buChar char="●"/>
            </a:pPr>
            <a:r>
              <a:rPr lang="en-US" sz="2400" dirty="0">
                <a:solidFill>
                  <a:schemeClr val="dk1"/>
                </a:solidFill>
                <a:highlight>
                  <a:schemeClr val="lt1"/>
                </a:highlight>
              </a:rPr>
              <a:t>When building a machine learning application, it can be overwhelming to decide which techniques to prioritize. To tackle this challenge, it is recommended to quickly build an initial system, set up a dev/test set and metric, and evaluate the performance of the system against the set and metric. Then, use bias/variance analysis and error analysis to identify areas for improvement and prioritize the next steps accordingly. This iterative process can help to gradually improve the system and achieve better performance.</a:t>
            </a:r>
            <a:endParaRPr sz="2400" dirty="0">
              <a:solidFill>
                <a:schemeClr val="dk1"/>
              </a:solidFill>
              <a:highlight>
                <a:schemeClr val="lt1"/>
              </a:highligh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87"/>
        <p:cNvGrpSpPr/>
        <p:nvPr/>
      </p:nvGrpSpPr>
      <p:grpSpPr>
        <a:xfrm>
          <a:off x="0" y="0"/>
          <a:ext cx="0" cy="0"/>
          <a:chOff x="0" y="0"/>
          <a:chExt cx="0" cy="0"/>
        </a:xfrm>
      </p:grpSpPr>
      <p:sp>
        <p:nvSpPr>
          <p:cNvPr id="188" name="Google Shape;188;p23"/>
          <p:cNvSpPr txBox="1">
            <a:spLocks noGrp="1"/>
          </p:cNvSpPr>
          <p:nvPr>
            <p:ph type="title"/>
          </p:nvPr>
        </p:nvSpPr>
        <p:spPr>
          <a:xfrm>
            <a:off x="261627" y="139700"/>
            <a:ext cx="10297500" cy="806888"/>
          </a:xfrm>
          <a:prstGeom prst="rect">
            <a:avLst/>
          </a:prstGeom>
          <a:noFill/>
          <a:ln>
            <a:noFill/>
          </a:ln>
        </p:spPr>
        <p:txBody>
          <a:bodyPr spcFirstLastPara="1" wrap="square" lIns="0" tIns="12700" rIns="0" bIns="0" anchor="t" anchorCtr="0">
            <a:spAutoFit/>
          </a:bodyPr>
          <a:lstStyle/>
          <a:p>
            <a:pPr marL="409575" marR="5080" lvl="0" indent="-397510" algn="l" rtl="0">
              <a:lnSpc>
                <a:spcPct val="119696"/>
              </a:lnSpc>
              <a:spcBef>
                <a:spcPts val="0"/>
              </a:spcBef>
              <a:spcAft>
                <a:spcPts val="0"/>
              </a:spcAft>
              <a:buClr>
                <a:schemeClr val="dk1"/>
              </a:buClr>
              <a:buSzPts val="6600"/>
              <a:buFont typeface="Arial"/>
              <a:buNone/>
            </a:pPr>
            <a:r>
              <a:rPr lang="en-US" sz="4300" dirty="0">
                <a:latin typeface="+mj-lt"/>
              </a:rPr>
              <a:t>Build your first system quickly, then iterate</a:t>
            </a:r>
            <a:endParaRPr sz="4300" dirty="0">
              <a:latin typeface="+mj-lt"/>
            </a:endParaRPr>
          </a:p>
        </p:txBody>
      </p:sp>
      <p:pic>
        <p:nvPicPr>
          <p:cNvPr id="189" name="Google Shape;189;p23"/>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190" name="Google Shape;190;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91" name="Google Shape;191;p23"/>
          <p:cNvSpPr txBox="1"/>
          <p:nvPr/>
        </p:nvSpPr>
        <p:spPr>
          <a:xfrm>
            <a:off x="422399" y="1396552"/>
            <a:ext cx="11263834" cy="4159570"/>
          </a:xfrm>
          <a:prstGeom prst="rect">
            <a:avLst/>
          </a:prstGeom>
          <a:noFill/>
          <a:ln>
            <a:noFill/>
          </a:ln>
        </p:spPr>
        <p:txBody>
          <a:bodyPr spcFirstLastPara="1" wrap="square" lIns="91425" tIns="91425" rIns="91425" bIns="91425" anchor="t" anchorCtr="0">
            <a:spAutoFit/>
          </a:bodyPr>
          <a:lstStyle/>
          <a:p>
            <a:pPr marL="457200" lvl="0" indent="-381000" algn="just">
              <a:lnSpc>
                <a:spcPct val="115000"/>
              </a:lnSpc>
              <a:spcBef>
                <a:spcPts val="1500"/>
              </a:spcBef>
              <a:buClr>
                <a:schemeClr val="dk1"/>
              </a:buClr>
              <a:buSzPts val="2400"/>
              <a:buChar char="●"/>
            </a:pPr>
            <a:r>
              <a:rPr lang="en-US" sz="2400" dirty="0">
                <a:solidFill>
                  <a:schemeClr val="dk1"/>
                </a:solidFill>
                <a:highlight>
                  <a:schemeClr val="lt1"/>
                </a:highlight>
              </a:rPr>
              <a:t>The initial system in machine learning helps to identify bias and variance, prioritize improvements, and avoid overthinking or making the system too complex. </a:t>
            </a:r>
            <a:endParaRPr lang="en-US" sz="2400" dirty="0" smtClean="0">
              <a:solidFill>
                <a:schemeClr val="dk1"/>
              </a:solidFill>
              <a:highlight>
                <a:schemeClr val="lt1"/>
              </a:highlight>
            </a:endParaRPr>
          </a:p>
          <a:p>
            <a:pPr marL="457200" lvl="0" indent="-381000" algn="just">
              <a:lnSpc>
                <a:spcPct val="115000"/>
              </a:lnSpc>
              <a:spcBef>
                <a:spcPts val="1500"/>
              </a:spcBef>
              <a:buClr>
                <a:schemeClr val="dk1"/>
              </a:buClr>
              <a:buSzPts val="2400"/>
              <a:buChar char="●"/>
            </a:pPr>
            <a:r>
              <a:rPr lang="en-US" sz="2400" dirty="0" smtClean="0">
                <a:solidFill>
                  <a:schemeClr val="dk1"/>
                </a:solidFill>
                <a:highlight>
                  <a:schemeClr val="lt1"/>
                </a:highlight>
              </a:rPr>
              <a:t>This </a:t>
            </a:r>
            <a:r>
              <a:rPr lang="en-US" sz="2400" dirty="0">
                <a:solidFill>
                  <a:schemeClr val="dk1"/>
                </a:solidFill>
                <a:highlight>
                  <a:schemeClr val="lt1"/>
                </a:highlight>
              </a:rPr>
              <a:t>approach is particularly useful for those who are new to the problem or lack expertise in the application area. </a:t>
            </a:r>
            <a:endParaRPr lang="en-US" sz="2400" dirty="0" smtClean="0">
              <a:solidFill>
                <a:schemeClr val="dk1"/>
              </a:solidFill>
              <a:highlight>
                <a:schemeClr val="lt1"/>
              </a:highlight>
            </a:endParaRPr>
          </a:p>
          <a:p>
            <a:pPr marL="457200" lvl="0" indent="-381000" algn="just">
              <a:lnSpc>
                <a:spcPct val="115000"/>
              </a:lnSpc>
              <a:spcBef>
                <a:spcPts val="1500"/>
              </a:spcBef>
              <a:buClr>
                <a:schemeClr val="dk1"/>
              </a:buClr>
              <a:buSzPts val="2400"/>
              <a:buChar char="●"/>
            </a:pPr>
            <a:r>
              <a:rPr lang="en-US" sz="2400" dirty="0" smtClean="0">
                <a:solidFill>
                  <a:schemeClr val="dk1"/>
                </a:solidFill>
                <a:highlight>
                  <a:schemeClr val="lt1"/>
                </a:highlight>
              </a:rPr>
              <a:t>However</a:t>
            </a:r>
            <a:r>
              <a:rPr lang="en-US" sz="2400" dirty="0">
                <a:solidFill>
                  <a:schemeClr val="dk1"/>
                </a:solidFill>
                <a:highlight>
                  <a:schemeClr val="lt1"/>
                </a:highlight>
              </a:rPr>
              <a:t>, for those with significant prior experience or a significant body of literature to draw from, it may be appropriate to build a more complex system from the start.</a:t>
            </a:r>
            <a:endParaRPr sz="2400" dirty="0">
              <a:solidFill>
                <a:schemeClr val="dk1"/>
              </a:solidFill>
              <a:highlight>
                <a:schemeClr val="lt1"/>
              </a:highligh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95"/>
        <p:cNvGrpSpPr/>
        <p:nvPr/>
      </p:nvGrpSpPr>
      <p:grpSpPr>
        <a:xfrm>
          <a:off x="0" y="0"/>
          <a:ext cx="0" cy="0"/>
          <a:chOff x="0" y="0"/>
          <a:chExt cx="0" cy="0"/>
        </a:xfrm>
      </p:grpSpPr>
      <p:sp>
        <p:nvSpPr>
          <p:cNvPr id="196" name="Google Shape;196;p24"/>
          <p:cNvSpPr txBox="1">
            <a:spLocks noGrp="1"/>
          </p:cNvSpPr>
          <p:nvPr>
            <p:ph type="title"/>
          </p:nvPr>
        </p:nvSpPr>
        <p:spPr>
          <a:xfrm>
            <a:off x="261627" y="139700"/>
            <a:ext cx="10297500" cy="806888"/>
          </a:xfrm>
          <a:prstGeom prst="rect">
            <a:avLst/>
          </a:prstGeom>
          <a:noFill/>
          <a:ln>
            <a:noFill/>
          </a:ln>
        </p:spPr>
        <p:txBody>
          <a:bodyPr spcFirstLastPara="1" wrap="square" lIns="0" tIns="12700" rIns="0" bIns="0" anchor="t" anchorCtr="0">
            <a:spAutoFit/>
          </a:bodyPr>
          <a:lstStyle/>
          <a:p>
            <a:pPr marL="409575" marR="5080" lvl="0" indent="-397510" algn="l" rtl="0">
              <a:lnSpc>
                <a:spcPct val="119696"/>
              </a:lnSpc>
              <a:spcBef>
                <a:spcPts val="0"/>
              </a:spcBef>
              <a:spcAft>
                <a:spcPts val="0"/>
              </a:spcAft>
              <a:buClr>
                <a:schemeClr val="dk1"/>
              </a:buClr>
              <a:buSzPts val="6600"/>
              <a:buFont typeface="Arial"/>
              <a:buNone/>
            </a:pPr>
            <a:r>
              <a:rPr lang="en-US" sz="4300" dirty="0">
                <a:latin typeface="+mj-lt"/>
              </a:rPr>
              <a:t>Build your first system quickly, then iterate</a:t>
            </a:r>
            <a:endParaRPr sz="4300" dirty="0">
              <a:latin typeface="+mj-lt"/>
            </a:endParaRPr>
          </a:p>
        </p:txBody>
      </p:sp>
      <p:pic>
        <p:nvPicPr>
          <p:cNvPr id="197" name="Google Shape;197;p24"/>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198" name="Google Shape;198;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99" name="Google Shape;199;p24"/>
          <p:cNvSpPr txBox="1"/>
          <p:nvPr/>
        </p:nvSpPr>
        <p:spPr>
          <a:xfrm>
            <a:off x="261625" y="1406600"/>
            <a:ext cx="10473000" cy="2253300"/>
          </a:xfrm>
          <a:prstGeom prst="rect">
            <a:avLst/>
          </a:prstGeom>
          <a:noFill/>
          <a:ln>
            <a:noFill/>
          </a:ln>
        </p:spPr>
        <p:txBody>
          <a:bodyPr spcFirstLastPara="1" wrap="square" lIns="91425" tIns="91425" rIns="91425" bIns="91425" anchor="t" anchorCtr="0">
            <a:spAutoFit/>
          </a:bodyPr>
          <a:lstStyle/>
          <a:p>
            <a:pPr marL="457200" lvl="0" indent="-381000" algn="just" rtl="0">
              <a:lnSpc>
                <a:spcPct val="115000"/>
              </a:lnSpc>
              <a:spcBef>
                <a:spcPts val="1500"/>
              </a:spcBef>
              <a:spcAft>
                <a:spcPts val="0"/>
              </a:spcAft>
              <a:buClr>
                <a:schemeClr val="dk1"/>
              </a:buClr>
              <a:buSzPts val="2400"/>
              <a:buChar char="●"/>
            </a:pPr>
            <a:r>
              <a:rPr lang="en-US" sz="2400" dirty="0">
                <a:solidFill>
                  <a:schemeClr val="dk1"/>
                </a:solidFill>
                <a:highlight>
                  <a:schemeClr val="lt1"/>
                </a:highlight>
              </a:rPr>
              <a:t>Overall, the goal of building a machine learning application is to get something that works well. By building your first system quickly and then iterating based on bias/variance analysis and error analysis, you can improve the system and prioritize the areas where the most significant improvements can be made.</a:t>
            </a:r>
            <a:endParaRPr sz="2400" dirty="0">
              <a:solidFill>
                <a:schemeClr val="dk1"/>
              </a:solidFill>
              <a:highlight>
                <a:schemeClr val="lt1"/>
              </a:highligh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03"/>
        <p:cNvGrpSpPr/>
        <p:nvPr/>
      </p:nvGrpSpPr>
      <p:grpSpPr>
        <a:xfrm>
          <a:off x="0" y="0"/>
          <a:ext cx="0" cy="0"/>
          <a:chOff x="0" y="0"/>
          <a:chExt cx="0" cy="0"/>
        </a:xfrm>
      </p:grpSpPr>
      <p:sp>
        <p:nvSpPr>
          <p:cNvPr id="204" name="Google Shape;204;p25"/>
          <p:cNvSpPr txBox="1">
            <a:spLocks noGrp="1"/>
          </p:cNvSpPr>
          <p:nvPr>
            <p:ph type="title"/>
          </p:nvPr>
        </p:nvSpPr>
        <p:spPr>
          <a:xfrm>
            <a:off x="261620" y="139700"/>
            <a:ext cx="7206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Speech recognition example</a:t>
            </a:r>
            <a:endParaRPr sz="4400" dirty="0">
              <a:latin typeface="+mj-lt"/>
              <a:ea typeface="Cambria"/>
              <a:cs typeface="Cambria"/>
              <a:sym typeface="Cambria"/>
            </a:endParaRPr>
          </a:p>
        </p:txBody>
      </p:sp>
      <p:sp>
        <p:nvSpPr>
          <p:cNvPr id="205" name="Google Shape;205;p25"/>
          <p:cNvSpPr txBox="1"/>
          <p:nvPr/>
        </p:nvSpPr>
        <p:spPr>
          <a:xfrm>
            <a:off x="531922" y="1369695"/>
            <a:ext cx="5630400" cy="3868880"/>
          </a:xfrm>
          <a:prstGeom prst="rect">
            <a:avLst/>
          </a:prstGeom>
          <a:noFill/>
          <a:ln>
            <a:noFill/>
          </a:ln>
        </p:spPr>
        <p:txBody>
          <a:bodyPr spcFirstLastPara="1" wrap="square" lIns="0" tIns="12700" rIns="0" bIns="0" anchor="t" anchorCtr="0">
            <a:spAutoFit/>
          </a:bodyPr>
          <a:lstStyle/>
          <a:p>
            <a:pPr marL="520700" marR="0" lvl="0" indent="-457200" algn="l" rtl="0">
              <a:lnSpc>
                <a:spcPct val="100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mn-lt"/>
                <a:ea typeface="Cambria"/>
                <a:cs typeface="Cambria"/>
                <a:sym typeface="Cambria"/>
              </a:rPr>
              <a:t>Noisy background</a:t>
            </a:r>
            <a:endParaRPr sz="2800" b="0" i="0" u="none" strike="noStrike" cap="none" dirty="0">
              <a:solidFill>
                <a:srgbClr val="000000"/>
              </a:solidFill>
              <a:latin typeface="+mn-lt"/>
              <a:ea typeface="Cambria"/>
              <a:cs typeface="Cambria"/>
              <a:sym typeface="Cambria"/>
            </a:endParaRPr>
          </a:p>
          <a:p>
            <a:pPr marL="977900" marR="0" lvl="1" indent="-457200" algn="l" rtl="0">
              <a:lnSpc>
                <a:spcPct val="119722"/>
              </a:lnSpc>
              <a:spcBef>
                <a:spcPts val="80"/>
              </a:spcBef>
              <a:spcAft>
                <a:spcPts val="0"/>
              </a:spcAft>
              <a:buClr>
                <a:srgbClr val="000000"/>
              </a:buClr>
              <a:buSzPts val="3600"/>
              <a:buFont typeface="Arial"/>
              <a:buChar char="•"/>
            </a:pPr>
            <a:r>
              <a:rPr lang="en-US" sz="2400" b="0" i="0" u="none" strike="noStrike" cap="none" dirty="0">
                <a:solidFill>
                  <a:srgbClr val="000000"/>
                </a:solidFill>
                <a:latin typeface="+mn-lt"/>
                <a:ea typeface="Cambria"/>
                <a:cs typeface="Cambria"/>
                <a:sym typeface="Cambria"/>
              </a:rPr>
              <a:t>Café noise</a:t>
            </a:r>
            <a:endParaRPr sz="2400" b="0" i="0" u="none" strike="noStrike" cap="none" dirty="0">
              <a:solidFill>
                <a:srgbClr val="000000"/>
              </a:solidFill>
              <a:latin typeface="+mn-lt"/>
              <a:ea typeface="Cambria"/>
              <a:cs typeface="Cambria"/>
              <a:sym typeface="Cambria"/>
            </a:endParaRPr>
          </a:p>
          <a:p>
            <a:pPr marL="977900" marR="0" lvl="1" indent="-457200" algn="l" rtl="0">
              <a:lnSpc>
                <a:spcPct val="109444"/>
              </a:lnSpc>
              <a:spcBef>
                <a:spcPts val="0"/>
              </a:spcBef>
              <a:spcAft>
                <a:spcPts val="0"/>
              </a:spcAft>
              <a:buClr>
                <a:srgbClr val="000000"/>
              </a:buClr>
              <a:buSzPts val="3600"/>
              <a:buFont typeface="Arial"/>
              <a:buChar char="•"/>
            </a:pPr>
            <a:r>
              <a:rPr lang="en-US" sz="2400" b="0" i="0" u="none" strike="noStrike" cap="none" dirty="0">
                <a:solidFill>
                  <a:srgbClr val="000000"/>
                </a:solidFill>
                <a:latin typeface="+mn-lt"/>
                <a:ea typeface="Cambria"/>
                <a:cs typeface="Cambria"/>
                <a:sym typeface="Cambria"/>
              </a:rPr>
              <a:t>Car noise</a:t>
            </a:r>
            <a:endParaRPr sz="2400" b="0" i="0" u="none" strike="noStrike" cap="none" dirty="0">
              <a:solidFill>
                <a:srgbClr val="000000"/>
              </a:solidFill>
              <a:latin typeface="+mn-lt"/>
              <a:ea typeface="Cambria"/>
              <a:cs typeface="Cambria"/>
              <a:sym typeface="Cambria"/>
            </a:endParaRPr>
          </a:p>
          <a:p>
            <a:pPr marL="631190" marR="0" lvl="0" indent="-568325" algn="l" rtl="0">
              <a:lnSpc>
                <a:spcPct val="73833"/>
              </a:lnSpc>
              <a:spcBef>
                <a:spcPts val="0"/>
              </a:spcBef>
              <a:spcAft>
                <a:spcPts val="0"/>
              </a:spcAft>
              <a:buClr>
                <a:srgbClr val="000000"/>
              </a:buClr>
              <a:buSzPts val="3600"/>
              <a:buFont typeface="Arial"/>
              <a:buChar char="•"/>
            </a:pPr>
            <a:r>
              <a:rPr lang="en-US" sz="2800" b="0" i="0" u="none" strike="noStrike" cap="none" dirty="0">
                <a:solidFill>
                  <a:srgbClr val="000000"/>
                </a:solidFill>
                <a:latin typeface="+mn-lt"/>
                <a:ea typeface="Palatino Linotype"/>
                <a:cs typeface="Palatino Linotype"/>
                <a:sym typeface="Palatino Linotype"/>
              </a:rPr>
              <a:t>Accented speech</a:t>
            </a:r>
            <a:endParaRPr sz="2800" b="0" i="0" u="none" strike="noStrike" cap="none" baseline="-25000" dirty="0">
              <a:solidFill>
                <a:srgbClr val="000000"/>
              </a:solidFill>
              <a:latin typeface="+mn-lt"/>
              <a:ea typeface="Calibri"/>
              <a:cs typeface="Calibri"/>
              <a:sym typeface="Calibri"/>
            </a:endParaRPr>
          </a:p>
          <a:p>
            <a:pPr marL="520700" marR="0" lvl="0" indent="-457200" algn="l" rtl="0">
              <a:lnSpc>
                <a:spcPct val="119722"/>
              </a:lnSpc>
              <a:spcBef>
                <a:spcPts val="215"/>
              </a:spcBef>
              <a:spcAft>
                <a:spcPts val="0"/>
              </a:spcAft>
              <a:buClr>
                <a:srgbClr val="000000"/>
              </a:buClr>
              <a:buSzPts val="3600"/>
              <a:buFont typeface="Arial"/>
              <a:buChar char="•"/>
            </a:pPr>
            <a:r>
              <a:rPr lang="en-US" sz="2800" b="0" i="0" u="none" strike="noStrike" cap="none" dirty="0">
                <a:solidFill>
                  <a:srgbClr val="000000"/>
                </a:solidFill>
                <a:latin typeface="+mn-lt"/>
                <a:ea typeface="Cambria"/>
                <a:cs typeface="Cambria"/>
                <a:sym typeface="Cambria"/>
              </a:rPr>
              <a:t>Far from microphone</a:t>
            </a:r>
            <a:endParaRPr sz="2800" b="0" i="0" u="none" strike="noStrike" cap="none" dirty="0">
              <a:solidFill>
                <a:srgbClr val="000000"/>
              </a:solidFill>
              <a:latin typeface="+mn-lt"/>
              <a:ea typeface="Cambria"/>
              <a:cs typeface="Cambria"/>
              <a:sym typeface="Cambria"/>
            </a:endParaRPr>
          </a:p>
          <a:p>
            <a:pPr marL="520700" marR="0" lvl="0" indent="-457200" algn="l" rtl="0">
              <a:lnSpc>
                <a:spcPct val="119722"/>
              </a:lnSpc>
              <a:spcBef>
                <a:spcPts val="0"/>
              </a:spcBef>
              <a:spcAft>
                <a:spcPts val="0"/>
              </a:spcAft>
              <a:buClr>
                <a:srgbClr val="000000"/>
              </a:buClr>
              <a:buSzPts val="3600"/>
              <a:buFont typeface="Arial"/>
              <a:buChar char="•"/>
            </a:pPr>
            <a:r>
              <a:rPr lang="en-US" sz="2800" b="0" i="0" u="none" strike="noStrike" cap="none" dirty="0">
                <a:solidFill>
                  <a:srgbClr val="000000"/>
                </a:solidFill>
                <a:latin typeface="+mn-lt"/>
                <a:ea typeface="Cambria"/>
                <a:cs typeface="Cambria"/>
                <a:sym typeface="Cambria"/>
              </a:rPr>
              <a:t>Young children’s speech</a:t>
            </a:r>
            <a:endParaRPr sz="2800" b="0" i="0" u="none" strike="noStrike" cap="none" dirty="0">
              <a:solidFill>
                <a:srgbClr val="000000"/>
              </a:solidFill>
              <a:latin typeface="+mn-lt"/>
              <a:ea typeface="Cambria"/>
              <a:cs typeface="Cambria"/>
              <a:sym typeface="Cambria"/>
            </a:endParaRPr>
          </a:p>
          <a:p>
            <a:pPr marL="520700" marR="0" lvl="0" indent="-457200" algn="l" rtl="0">
              <a:lnSpc>
                <a:spcPct val="119722"/>
              </a:lnSpc>
              <a:spcBef>
                <a:spcPts val="80"/>
              </a:spcBef>
              <a:spcAft>
                <a:spcPts val="0"/>
              </a:spcAft>
              <a:buClr>
                <a:srgbClr val="000000"/>
              </a:buClr>
              <a:buSzPts val="3600"/>
              <a:buFont typeface="Arial"/>
              <a:buChar char="•"/>
            </a:pPr>
            <a:r>
              <a:rPr lang="en-US" sz="2800" b="0" i="0" u="none" strike="noStrike" cap="none" dirty="0">
                <a:solidFill>
                  <a:srgbClr val="000000"/>
                </a:solidFill>
                <a:latin typeface="+mn-lt"/>
                <a:ea typeface="Cambria"/>
                <a:cs typeface="Cambria"/>
                <a:sym typeface="Cambria"/>
              </a:rPr>
              <a:t>Stuttering</a:t>
            </a:r>
            <a:endParaRPr sz="2800" b="0" i="0" u="none" strike="noStrike" cap="none" dirty="0">
              <a:solidFill>
                <a:srgbClr val="000000"/>
              </a:solidFill>
              <a:latin typeface="+mn-lt"/>
              <a:ea typeface="Cambria"/>
              <a:cs typeface="Cambria"/>
              <a:sym typeface="Cambria"/>
            </a:endParaRPr>
          </a:p>
          <a:p>
            <a:pPr marL="520700" marR="0" lvl="0" indent="-457200" algn="l" rtl="0">
              <a:lnSpc>
                <a:spcPct val="119722"/>
              </a:lnSpc>
              <a:spcBef>
                <a:spcPts val="0"/>
              </a:spcBef>
              <a:spcAft>
                <a:spcPts val="0"/>
              </a:spcAft>
              <a:buClr>
                <a:srgbClr val="000000"/>
              </a:buClr>
              <a:buSzPts val="3600"/>
              <a:buFont typeface="Arial"/>
              <a:buChar char="•"/>
            </a:pPr>
            <a:r>
              <a:rPr lang="en-US" sz="2800" b="0" i="0" u="none" strike="noStrike" cap="none" dirty="0">
                <a:solidFill>
                  <a:srgbClr val="000000"/>
                </a:solidFill>
                <a:latin typeface="+mn-lt"/>
                <a:ea typeface="Cambria"/>
                <a:cs typeface="Cambria"/>
                <a:sym typeface="Cambria"/>
              </a:rPr>
              <a:t>…</a:t>
            </a:r>
            <a:endParaRPr sz="2800" b="0" i="0" u="none" strike="noStrike" cap="none" dirty="0">
              <a:solidFill>
                <a:srgbClr val="000000"/>
              </a:solidFill>
              <a:latin typeface="+mn-lt"/>
              <a:ea typeface="Cambria"/>
              <a:cs typeface="Cambria"/>
              <a:sym typeface="Cambria"/>
            </a:endParaRPr>
          </a:p>
        </p:txBody>
      </p:sp>
      <p:sp>
        <p:nvSpPr>
          <p:cNvPr id="206" name="Google Shape;206;p25"/>
          <p:cNvSpPr txBox="1"/>
          <p:nvPr/>
        </p:nvSpPr>
        <p:spPr>
          <a:xfrm>
            <a:off x="7572926" y="1369695"/>
            <a:ext cx="4386600" cy="4496409"/>
          </a:xfrm>
          <a:prstGeom prst="rect">
            <a:avLst/>
          </a:prstGeom>
          <a:noFill/>
          <a:ln>
            <a:noFill/>
          </a:ln>
        </p:spPr>
        <p:txBody>
          <a:bodyPr spcFirstLastPara="1" wrap="square" lIns="0" tIns="2525" rIns="0" bIns="0" anchor="t" anchorCtr="0">
            <a:spAutoFit/>
          </a:bodyPr>
          <a:lstStyle/>
          <a:p>
            <a:pPr marL="469900" marR="14603" lvl="0" indent="-457200" algn="l" rtl="0">
              <a:lnSpc>
                <a:spcPct val="1018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mn-lt"/>
                <a:ea typeface="Cambria"/>
                <a:cs typeface="Cambria"/>
                <a:sym typeface="Cambria"/>
              </a:rPr>
              <a:t>Set up dev/test set and metric</a:t>
            </a:r>
            <a:endParaRPr sz="2800" b="0" i="0" u="none" strike="noStrike" cap="none" dirty="0">
              <a:solidFill>
                <a:srgbClr val="000000"/>
              </a:solidFill>
              <a:latin typeface="+mn-lt"/>
              <a:ea typeface="Cambria"/>
              <a:cs typeface="Cambria"/>
              <a:sym typeface="Cambria"/>
            </a:endParaRPr>
          </a:p>
          <a:p>
            <a:pPr marL="469900" marR="758190" lvl="0" indent="-457200" algn="l" rtl="0">
              <a:lnSpc>
                <a:spcPct val="119444"/>
              </a:lnSpc>
              <a:spcBef>
                <a:spcPts val="140"/>
              </a:spcBef>
              <a:spcAft>
                <a:spcPts val="0"/>
              </a:spcAft>
              <a:buClr>
                <a:srgbClr val="000000"/>
              </a:buClr>
              <a:buSzPts val="3600"/>
              <a:buFont typeface="Arial"/>
              <a:buChar char="•"/>
            </a:pPr>
            <a:r>
              <a:rPr lang="en-US" sz="2800" b="0" i="0" u="none" strike="noStrike" cap="none" dirty="0">
                <a:solidFill>
                  <a:srgbClr val="000000"/>
                </a:solidFill>
                <a:latin typeface="+mn-lt"/>
                <a:ea typeface="Cambria"/>
                <a:cs typeface="Cambria"/>
                <a:sym typeface="Cambria"/>
              </a:rPr>
              <a:t>Build initial system quickly</a:t>
            </a:r>
            <a:endParaRPr sz="2800" b="0" i="0" u="none" strike="noStrike" cap="none" dirty="0">
              <a:solidFill>
                <a:srgbClr val="000000"/>
              </a:solidFill>
              <a:latin typeface="+mn-lt"/>
              <a:ea typeface="Cambria"/>
              <a:cs typeface="Cambria"/>
              <a:sym typeface="Cambria"/>
            </a:endParaRPr>
          </a:p>
          <a:p>
            <a:pPr marL="469900" marR="0" lvl="0" indent="-457200" algn="l" rtl="0">
              <a:lnSpc>
                <a:spcPct val="115138"/>
              </a:lnSpc>
              <a:spcBef>
                <a:spcPts val="0"/>
              </a:spcBef>
              <a:spcAft>
                <a:spcPts val="0"/>
              </a:spcAft>
              <a:buClr>
                <a:srgbClr val="000000"/>
              </a:buClr>
              <a:buSzPts val="3600"/>
              <a:buFont typeface="Arial"/>
              <a:buChar char="•"/>
            </a:pPr>
            <a:r>
              <a:rPr lang="en-US" sz="2800" b="0" i="0" u="none" strike="noStrike" cap="none" dirty="0">
                <a:solidFill>
                  <a:srgbClr val="000000"/>
                </a:solidFill>
                <a:latin typeface="+mn-lt"/>
                <a:ea typeface="Cambria"/>
                <a:cs typeface="Cambria"/>
                <a:sym typeface="Cambria"/>
              </a:rPr>
              <a:t>Use Bias/Variance</a:t>
            </a:r>
            <a:endParaRPr sz="2800" b="0" i="0" u="none" strike="noStrike" cap="none" dirty="0">
              <a:solidFill>
                <a:srgbClr val="000000"/>
              </a:solidFill>
              <a:latin typeface="+mn-lt"/>
              <a:ea typeface="Cambria"/>
              <a:cs typeface="Cambria"/>
              <a:sym typeface="Cambria"/>
            </a:endParaRPr>
          </a:p>
          <a:p>
            <a:pPr marL="469900" marR="0" lvl="0" indent="0" algn="l" rtl="0">
              <a:lnSpc>
                <a:spcPct val="119722"/>
              </a:lnSpc>
              <a:spcBef>
                <a:spcPts val="0"/>
              </a:spcBef>
              <a:spcAft>
                <a:spcPts val="0"/>
              </a:spcAft>
              <a:buClr>
                <a:srgbClr val="000000"/>
              </a:buClr>
              <a:buSzPts val="3600"/>
              <a:buFont typeface="Arial"/>
              <a:buNone/>
            </a:pPr>
            <a:r>
              <a:rPr lang="en-US" sz="2800" b="0" i="0" u="none" strike="noStrike" cap="none" dirty="0">
                <a:solidFill>
                  <a:srgbClr val="000000"/>
                </a:solidFill>
                <a:latin typeface="+mn-lt"/>
                <a:ea typeface="Cambria"/>
                <a:cs typeface="Cambria"/>
                <a:sym typeface="Cambria"/>
              </a:rPr>
              <a:t>analysis &amp; Error</a:t>
            </a:r>
            <a:endParaRPr sz="2800" b="0" i="0" u="none" strike="noStrike" cap="none" dirty="0">
              <a:solidFill>
                <a:srgbClr val="000000"/>
              </a:solidFill>
              <a:latin typeface="+mn-lt"/>
              <a:ea typeface="Cambria"/>
              <a:cs typeface="Cambria"/>
              <a:sym typeface="Cambria"/>
            </a:endParaRPr>
          </a:p>
          <a:p>
            <a:pPr marL="469900" marR="892175" lvl="0" indent="0" algn="l" rtl="0">
              <a:lnSpc>
                <a:spcPct val="119444"/>
              </a:lnSpc>
              <a:spcBef>
                <a:spcPts val="195"/>
              </a:spcBef>
              <a:spcAft>
                <a:spcPts val="0"/>
              </a:spcAft>
              <a:buClr>
                <a:srgbClr val="000000"/>
              </a:buClr>
              <a:buSzPts val="3600"/>
              <a:buFont typeface="Arial"/>
              <a:buNone/>
            </a:pPr>
            <a:r>
              <a:rPr lang="en-US" sz="2800" b="0" i="0" u="none" strike="noStrike" cap="none" dirty="0">
                <a:solidFill>
                  <a:srgbClr val="000000"/>
                </a:solidFill>
                <a:latin typeface="+mn-lt"/>
                <a:ea typeface="Cambria"/>
                <a:cs typeface="Cambria"/>
                <a:sym typeface="Cambria"/>
              </a:rPr>
              <a:t>analysis to prioritize next steps.</a:t>
            </a:r>
            <a:endParaRPr sz="2800" b="0" i="0" u="none" strike="noStrike" cap="none" dirty="0">
              <a:solidFill>
                <a:srgbClr val="000000"/>
              </a:solidFill>
              <a:latin typeface="+mn-lt"/>
              <a:ea typeface="Cambria"/>
              <a:cs typeface="Cambria"/>
              <a:sym typeface="Cambria"/>
            </a:endParaRPr>
          </a:p>
        </p:txBody>
      </p:sp>
      <p:pic>
        <p:nvPicPr>
          <p:cNvPr id="207" name="Google Shape;207;p25"/>
          <p:cNvPicPr preferRelativeResize="0"/>
          <p:nvPr/>
        </p:nvPicPr>
        <p:blipFill rotWithShape="1">
          <a:blip r:embed="rId3">
            <a:alphaModFix/>
          </a:blip>
          <a:srcRect/>
          <a:stretch/>
        </p:blipFill>
        <p:spPr>
          <a:xfrm>
            <a:off x="115498" y="5362701"/>
            <a:ext cx="7352722" cy="503403"/>
          </a:xfrm>
          <a:prstGeom prst="rect">
            <a:avLst/>
          </a:prstGeom>
          <a:noFill/>
          <a:ln>
            <a:noFill/>
          </a:ln>
        </p:spPr>
      </p:pic>
      <p:pic>
        <p:nvPicPr>
          <p:cNvPr id="208" name="Google Shape;208;p25"/>
          <p:cNvPicPr preferRelativeResize="0"/>
          <p:nvPr/>
        </p:nvPicPr>
        <p:blipFill rotWithShape="1">
          <a:blip r:embed="rId4">
            <a:alphaModFix/>
          </a:blip>
          <a:srcRect/>
          <a:stretch/>
        </p:blipFill>
        <p:spPr>
          <a:xfrm>
            <a:off x="10734473" y="0"/>
            <a:ext cx="1448025" cy="796414"/>
          </a:xfrm>
          <a:prstGeom prst="rect">
            <a:avLst/>
          </a:prstGeom>
          <a:noFill/>
          <a:ln>
            <a:noFill/>
          </a:ln>
        </p:spPr>
      </p:pic>
      <p:pic>
        <p:nvPicPr>
          <p:cNvPr id="209" name="Google Shape;209;p25"/>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13"/>
        <p:cNvGrpSpPr/>
        <p:nvPr/>
      </p:nvGrpSpPr>
      <p:grpSpPr>
        <a:xfrm>
          <a:off x="0" y="0"/>
          <a:ext cx="0" cy="0"/>
          <a:chOff x="0" y="0"/>
          <a:chExt cx="0" cy="0"/>
        </a:xfrm>
      </p:grpSpPr>
      <p:sp>
        <p:nvSpPr>
          <p:cNvPr id="214" name="Google Shape;214;p26"/>
          <p:cNvSpPr txBox="1">
            <a:spLocks noGrp="1"/>
          </p:cNvSpPr>
          <p:nvPr>
            <p:ph type="title"/>
          </p:nvPr>
        </p:nvSpPr>
        <p:spPr>
          <a:xfrm>
            <a:off x="4836350" y="1170063"/>
            <a:ext cx="6904989" cy="2109152"/>
          </a:xfrm>
          <a:prstGeom prst="rect">
            <a:avLst/>
          </a:prstGeom>
          <a:noFill/>
          <a:ln>
            <a:noFill/>
          </a:ln>
        </p:spPr>
        <p:txBody>
          <a:bodyPr spcFirstLastPara="1" wrap="square" lIns="0" tIns="113650" rIns="0" bIns="0" anchor="t" anchorCtr="0">
            <a:spAutoFit/>
          </a:bodyPr>
          <a:lstStyle/>
          <a:p>
            <a:pPr marL="477519" marR="5080" lvl="0" indent="-464819" algn="ctr" rtl="0">
              <a:lnSpc>
                <a:spcPct val="108333"/>
              </a:lnSpc>
              <a:spcBef>
                <a:spcPts val="0"/>
              </a:spcBef>
              <a:spcAft>
                <a:spcPts val="0"/>
              </a:spcAft>
              <a:buSzPts val="1400"/>
              <a:buNone/>
            </a:pPr>
            <a:r>
              <a:rPr lang="en-US" dirty="0">
                <a:latin typeface="+mj-lt"/>
              </a:rPr>
              <a:t>Mismatched training</a:t>
            </a:r>
            <a:br>
              <a:rPr lang="en-US" dirty="0">
                <a:latin typeface="+mj-lt"/>
              </a:rPr>
            </a:br>
            <a:r>
              <a:rPr lang="en-US" dirty="0">
                <a:latin typeface="+mj-lt"/>
              </a:rPr>
              <a:t>and	dev/test data</a:t>
            </a:r>
            <a:endParaRPr dirty="0">
              <a:latin typeface="+mj-lt"/>
            </a:endParaRPr>
          </a:p>
        </p:txBody>
      </p:sp>
      <p:sp>
        <p:nvSpPr>
          <p:cNvPr id="215" name="Google Shape;215;p26"/>
          <p:cNvSpPr txBox="1"/>
          <p:nvPr/>
        </p:nvSpPr>
        <p:spPr>
          <a:xfrm>
            <a:off x="4893703" y="3424059"/>
            <a:ext cx="6692265" cy="3019786"/>
          </a:xfrm>
          <a:prstGeom prst="rect">
            <a:avLst/>
          </a:prstGeom>
          <a:noFill/>
          <a:ln>
            <a:noFill/>
          </a:ln>
        </p:spPr>
        <p:txBody>
          <a:bodyPr spcFirstLastPara="1" wrap="square" lIns="0" tIns="27925" rIns="0" bIns="0" anchor="t" anchorCtr="0">
            <a:spAutoFit/>
          </a:bodyPr>
          <a:lstStyle/>
          <a:p>
            <a:pPr marL="12700" marR="5080" lvl="0" indent="0"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Training and testing on different distributions</a:t>
            </a:r>
            <a:endParaRPr sz="5400" b="0" i="0" u="none" strike="noStrike" cap="none" dirty="0">
              <a:solidFill>
                <a:srgbClr val="000000"/>
              </a:solidFill>
              <a:latin typeface="+mj-lt"/>
              <a:ea typeface="Calibri"/>
              <a:cs typeface="Calibri"/>
              <a:sym typeface="Calibri"/>
            </a:endParaRPr>
          </a:p>
        </p:txBody>
      </p:sp>
      <p:sp>
        <p:nvSpPr>
          <p:cNvPr id="216" name="Google Shape;216;p26"/>
          <p:cNvSpPr/>
          <p:nvPr/>
        </p:nvSpPr>
        <p:spPr>
          <a:xfrm>
            <a:off x="4836350" y="3410419"/>
            <a:ext cx="6904990" cy="17780"/>
          </a:xfrm>
          <a:custGeom>
            <a:avLst/>
            <a:gdLst/>
            <a:ahLst/>
            <a:cxnLst/>
            <a:rect l="l" t="t" r="r" b="b"/>
            <a:pathLst>
              <a:path w="6904990" h="17779" extrusionOk="0">
                <a:moveTo>
                  <a:pt x="0" y="0"/>
                </a:moveTo>
                <a:lnTo>
                  <a:pt x="6904806" y="17727"/>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7" name="Google Shape;217;p26"/>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30"/>
        <p:cNvGrpSpPr/>
        <p:nvPr/>
      </p:nvGrpSpPr>
      <p:grpSpPr>
        <a:xfrm>
          <a:off x="0" y="0"/>
          <a:ext cx="0" cy="0"/>
          <a:chOff x="0" y="0"/>
          <a:chExt cx="0" cy="0"/>
        </a:xfrm>
      </p:grpSpPr>
      <p:pic>
        <p:nvPicPr>
          <p:cNvPr id="231" name="Google Shape;231;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32" name="Google Shape;232;p28"/>
          <p:cNvSpPr txBox="1"/>
          <p:nvPr/>
        </p:nvSpPr>
        <p:spPr>
          <a:xfrm>
            <a:off x="3557450" y="2940650"/>
            <a:ext cx="636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33" name="Google Shape;233;p28"/>
          <p:cNvSpPr txBox="1"/>
          <p:nvPr/>
        </p:nvSpPr>
        <p:spPr>
          <a:xfrm>
            <a:off x="3237175" y="3448650"/>
            <a:ext cx="636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34" name="Google Shape;234;p28"/>
          <p:cNvSpPr txBox="1"/>
          <p:nvPr/>
        </p:nvSpPr>
        <p:spPr>
          <a:xfrm>
            <a:off x="365850" y="-66842"/>
            <a:ext cx="10499946" cy="1809696"/>
          </a:xfrm>
          <a:prstGeom prst="rect">
            <a:avLst/>
          </a:prstGeom>
          <a:noFill/>
          <a:ln>
            <a:noFill/>
          </a:ln>
        </p:spPr>
        <p:txBody>
          <a:bodyPr spcFirstLastPara="1" wrap="square" lIns="91425" tIns="91425" rIns="91425" bIns="91425" anchor="t" anchorCtr="0">
            <a:spAutoFit/>
          </a:bodyPr>
          <a:lstStyle/>
          <a:p>
            <a:pPr marR="5080" lvl="0">
              <a:lnSpc>
                <a:spcPct val="119696"/>
              </a:lnSpc>
              <a:buClr>
                <a:schemeClr val="dk1"/>
              </a:buClr>
              <a:buSzPts val="6600"/>
            </a:pPr>
            <a:r>
              <a:rPr lang="en-US" sz="4400" dirty="0">
                <a:solidFill>
                  <a:schemeClr val="dk1"/>
                </a:solidFill>
                <a:ea typeface="Calibri"/>
                <a:cs typeface="Calibri"/>
                <a:sym typeface="Calibri"/>
              </a:rPr>
              <a:t>Training and testing on different </a:t>
            </a:r>
          </a:p>
          <a:p>
            <a:pPr marR="5080" lvl="0">
              <a:lnSpc>
                <a:spcPct val="119696"/>
              </a:lnSpc>
              <a:buClr>
                <a:schemeClr val="dk1"/>
              </a:buClr>
              <a:buSzPts val="6600"/>
            </a:pPr>
            <a:r>
              <a:rPr lang="en-US" sz="4400" dirty="0">
                <a:solidFill>
                  <a:schemeClr val="dk1"/>
                </a:solidFill>
                <a:ea typeface="Calibri"/>
                <a:cs typeface="Calibri"/>
                <a:sym typeface="Calibri"/>
              </a:rPr>
              <a:t>distributions</a:t>
            </a:r>
          </a:p>
        </p:txBody>
      </p:sp>
      <p:sp>
        <p:nvSpPr>
          <p:cNvPr id="235" name="Google Shape;235;p28"/>
          <p:cNvSpPr txBox="1"/>
          <p:nvPr/>
        </p:nvSpPr>
        <p:spPr>
          <a:xfrm>
            <a:off x="365850" y="1942931"/>
            <a:ext cx="11402133" cy="2693015"/>
          </a:xfrm>
          <a:prstGeom prst="rect">
            <a:avLst/>
          </a:prstGeom>
          <a:noFill/>
          <a:ln>
            <a:noFill/>
          </a:ln>
        </p:spPr>
        <p:txBody>
          <a:bodyPr spcFirstLastPara="1" wrap="square" lIns="91425" tIns="91425" rIns="91425" bIns="91425" anchor="t" anchorCtr="0">
            <a:spAutoFit/>
          </a:bodyPr>
          <a:lstStyle/>
          <a:p>
            <a:pPr marL="457200" lvl="0" indent="-381000" algn="just">
              <a:lnSpc>
                <a:spcPct val="115000"/>
              </a:lnSpc>
              <a:spcBef>
                <a:spcPts val="1500"/>
              </a:spcBef>
              <a:buClr>
                <a:schemeClr val="dk1"/>
              </a:buClr>
              <a:buSzPts val="2400"/>
              <a:buChar char="●"/>
            </a:pPr>
            <a:r>
              <a:rPr lang="en-US" sz="2400" dirty="0" smtClean="0">
                <a:solidFill>
                  <a:schemeClr val="dk1"/>
                </a:solidFill>
                <a:highlight>
                  <a:schemeClr val="lt1"/>
                </a:highlight>
              </a:rPr>
              <a:t>A </a:t>
            </a:r>
            <a:r>
              <a:rPr lang="en-US" sz="2400" dirty="0">
                <a:solidFill>
                  <a:schemeClr val="dk1"/>
                </a:solidFill>
                <a:highlight>
                  <a:schemeClr val="lt1"/>
                </a:highlight>
              </a:rPr>
              <a:t>lot of teams are working with deep learning applications that have training sets that are different from the dev/test sets due to the hunger of deep learning to </a:t>
            </a:r>
            <a:r>
              <a:rPr lang="en-US" sz="2400" dirty="0" smtClean="0">
                <a:solidFill>
                  <a:schemeClr val="dk1"/>
                </a:solidFill>
                <a:highlight>
                  <a:schemeClr val="lt1"/>
                </a:highlight>
              </a:rPr>
              <a:t>data.</a:t>
            </a:r>
          </a:p>
          <a:p>
            <a:pPr marL="457200" indent="-381000" algn="just">
              <a:lnSpc>
                <a:spcPct val="115000"/>
              </a:lnSpc>
              <a:spcBef>
                <a:spcPts val="1500"/>
              </a:spcBef>
              <a:buClr>
                <a:schemeClr val="dk1"/>
              </a:buClr>
              <a:buSzPts val="2400"/>
              <a:buFont typeface="Arial"/>
              <a:buChar char="●"/>
            </a:pPr>
            <a:r>
              <a:rPr lang="en-US" sz="2400" dirty="0">
                <a:solidFill>
                  <a:schemeClr val="dk1"/>
                </a:solidFill>
                <a:highlight>
                  <a:schemeClr val="lt1"/>
                </a:highlight>
              </a:rPr>
              <a:t>There are some strategies to follow up when training set distribution differs from dev/test sets </a:t>
            </a:r>
            <a:r>
              <a:rPr lang="en-US" sz="2400" dirty="0" smtClean="0">
                <a:solidFill>
                  <a:schemeClr val="dk1"/>
                </a:solidFill>
                <a:highlight>
                  <a:schemeClr val="lt1"/>
                </a:highlight>
              </a:rPr>
              <a:t>distribution</a:t>
            </a:r>
            <a:r>
              <a:rPr lang="en-US" sz="2400" dirty="0">
                <a:solidFill>
                  <a:schemeClr val="dk1"/>
                </a:solidFill>
                <a:highlight>
                  <a:schemeClr val="lt1"/>
                </a:highlight>
              </a:rPr>
              <a:t> </a:t>
            </a:r>
            <a:r>
              <a:rPr lang="en-US" sz="2400" dirty="0" smtClean="0">
                <a:solidFill>
                  <a:schemeClr val="dk1"/>
                </a:solidFill>
                <a:highlight>
                  <a:schemeClr val="lt1"/>
                </a:highlight>
              </a:rPr>
              <a:t>(see the next slide).</a:t>
            </a:r>
            <a:endParaRPr lang="en-US" sz="2400" dirty="0">
              <a:solidFill>
                <a:schemeClr val="dk1"/>
              </a:solidFill>
              <a:highlight>
                <a:schemeClr val="lt1"/>
              </a:highligh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2291985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30"/>
        <p:cNvGrpSpPr/>
        <p:nvPr/>
      </p:nvGrpSpPr>
      <p:grpSpPr>
        <a:xfrm>
          <a:off x="0" y="0"/>
          <a:ext cx="0" cy="0"/>
          <a:chOff x="0" y="0"/>
          <a:chExt cx="0" cy="0"/>
        </a:xfrm>
      </p:grpSpPr>
      <p:pic>
        <p:nvPicPr>
          <p:cNvPr id="231" name="Google Shape;231;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32" name="Google Shape;232;p28"/>
          <p:cNvSpPr txBox="1"/>
          <p:nvPr/>
        </p:nvSpPr>
        <p:spPr>
          <a:xfrm>
            <a:off x="3557450" y="2940650"/>
            <a:ext cx="636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33" name="Google Shape;233;p28"/>
          <p:cNvSpPr txBox="1"/>
          <p:nvPr/>
        </p:nvSpPr>
        <p:spPr>
          <a:xfrm>
            <a:off x="3237175" y="3448650"/>
            <a:ext cx="636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34" name="Google Shape;234;p28"/>
          <p:cNvSpPr txBox="1"/>
          <p:nvPr/>
        </p:nvSpPr>
        <p:spPr>
          <a:xfrm>
            <a:off x="365850" y="-86298"/>
            <a:ext cx="10499946" cy="1809696"/>
          </a:xfrm>
          <a:prstGeom prst="rect">
            <a:avLst/>
          </a:prstGeom>
          <a:noFill/>
          <a:ln>
            <a:noFill/>
          </a:ln>
        </p:spPr>
        <p:txBody>
          <a:bodyPr spcFirstLastPara="1" wrap="square" lIns="91425" tIns="91425" rIns="91425" bIns="91425" anchor="t" anchorCtr="0">
            <a:spAutoFit/>
          </a:bodyPr>
          <a:lstStyle/>
          <a:p>
            <a:pPr marL="12700" marR="5080" lvl="0">
              <a:lnSpc>
                <a:spcPct val="119696"/>
              </a:lnSpc>
              <a:buClr>
                <a:schemeClr val="dk1"/>
              </a:buClr>
              <a:buSzPts val="6600"/>
            </a:pPr>
            <a:r>
              <a:rPr lang="en-US" sz="4400" dirty="0">
                <a:solidFill>
                  <a:schemeClr val="dk1"/>
                </a:solidFill>
                <a:ea typeface="Calibri"/>
                <a:cs typeface="Calibri"/>
                <a:sym typeface="Calibri"/>
              </a:rPr>
              <a:t>Training and testing on different </a:t>
            </a:r>
          </a:p>
          <a:p>
            <a:pPr marL="12700" marR="5080" lvl="0">
              <a:lnSpc>
                <a:spcPct val="119696"/>
              </a:lnSpc>
              <a:buClr>
                <a:schemeClr val="dk1"/>
              </a:buClr>
              <a:buSzPts val="6600"/>
            </a:pPr>
            <a:r>
              <a:rPr lang="en-US" sz="4400" dirty="0">
                <a:solidFill>
                  <a:schemeClr val="dk1"/>
                </a:solidFill>
                <a:ea typeface="Calibri"/>
                <a:cs typeface="Calibri"/>
                <a:sym typeface="Calibri"/>
              </a:rPr>
              <a:t>distributions</a:t>
            </a:r>
          </a:p>
        </p:txBody>
      </p:sp>
      <p:sp>
        <p:nvSpPr>
          <p:cNvPr id="235" name="Google Shape;235;p28"/>
          <p:cNvSpPr txBox="1"/>
          <p:nvPr/>
        </p:nvSpPr>
        <p:spPr>
          <a:xfrm>
            <a:off x="180267" y="1503130"/>
            <a:ext cx="11402133" cy="5433765"/>
          </a:xfrm>
          <a:prstGeom prst="rect">
            <a:avLst/>
          </a:prstGeom>
          <a:noFill/>
          <a:ln>
            <a:noFill/>
          </a:ln>
        </p:spPr>
        <p:txBody>
          <a:bodyPr spcFirstLastPara="1" wrap="square" lIns="91425" tIns="91425" rIns="91425" bIns="91425" anchor="t" anchorCtr="0">
            <a:spAutoFit/>
          </a:bodyPr>
          <a:lstStyle/>
          <a:p>
            <a:pPr marL="76200" lvl="1" algn="just">
              <a:lnSpc>
                <a:spcPct val="115000"/>
              </a:lnSpc>
              <a:buClr>
                <a:schemeClr val="dk1"/>
              </a:buClr>
              <a:buSzPts val="2400"/>
            </a:pPr>
            <a:r>
              <a:rPr lang="en-US" sz="2400" dirty="0">
                <a:solidFill>
                  <a:schemeClr val="dk1"/>
                </a:solidFill>
                <a:highlight>
                  <a:schemeClr val="lt1"/>
                </a:highlight>
              </a:rPr>
              <a:t>	</a:t>
            </a:r>
            <a:r>
              <a:rPr lang="en-US" sz="2400" dirty="0" smtClean="0">
                <a:solidFill>
                  <a:schemeClr val="dk1"/>
                </a:solidFill>
                <a:highlight>
                  <a:schemeClr val="lt1"/>
                </a:highlight>
              </a:rPr>
              <a:t>1. Option </a:t>
            </a:r>
            <a:r>
              <a:rPr lang="en-US" sz="2400" dirty="0">
                <a:solidFill>
                  <a:schemeClr val="dk1"/>
                </a:solidFill>
                <a:highlight>
                  <a:schemeClr val="lt1"/>
                </a:highlight>
              </a:rPr>
              <a:t>one (not recommended): shuffle all the data together and extract randomly training and dev/test </a:t>
            </a:r>
            <a:r>
              <a:rPr lang="en-US" sz="2400" dirty="0" smtClean="0">
                <a:solidFill>
                  <a:schemeClr val="dk1"/>
                </a:solidFill>
                <a:highlight>
                  <a:schemeClr val="lt1"/>
                </a:highlight>
              </a:rPr>
              <a:t>sets.</a:t>
            </a:r>
          </a:p>
          <a:p>
            <a:pPr marL="76200" lvl="1" algn="just">
              <a:lnSpc>
                <a:spcPct val="115000"/>
              </a:lnSpc>
              <a:buClr>
                <a:schemeClr val="dk1"/>
              </a:buClr>
              <a:buSzPts val="2400"/>
            </a:pPr>
            <a:r>
              <a:rPr lang="en-US" sz="2400" dirty="0">
                <a:solidFill>
                  <a:schemeClr val="dk1"/>
                </a:solidFill>
                <a:highlight>
                  <a:schemeClr val="lt1"/>
                </a:highlight>
              </a:rPr>
              <a:t>	</a:t>
            </a:r>
            <a:r>
              <a:rPr lang="en-US" sz="2400" dirty="0" smtClean="0">
                <a:solidFill>
                  <a:schemeClr val="dk1"/>
                </a:solidFill>
                <a:highlight>
                  <a:schemeClr val="lt1"/>
                </a:highlight>
              </a:rPr>
              <a:t>	- </a:t>
            </a:r>
            <a:r>
              <a:rPr lang="en-US" sz="2400" b="1" dirty="0" smtClean="0">
                <a:solidFill>
                  <a:schemeClr val="dk1"/>
                </a:solidFill>
                <a:highlight>
                  <a:schemeClr val="lt1"/>
                </a:highlight>
              </a:rPr>
              <a:t>Advantages</a:t>
            </a:r>
            <a:r>
              <a:rPr lang="en-US" sz="2400" dirty="0">
                <a:solidFill>
                  <a:schemeClr val="dk1"/>
                </a:solidFill>
                <a:highlight>
                  <a:schemeClr val="lt1"/>
                </a:highlight>
              </a:rPr>
              <a:t>: all the sets now come from the same distribution.   </a:t>
            </a:r>
            <a:endParaRPr lang="en-US" sz="2400" dirty="0" smtClean="0">
              <a:solidFill>
                <a:schemeClr val="dk1"/>
              </a:solidFill>
              <a:highlight>
                <a:schemeClr val="lt1"/>
              </a:highlight>
            </a:endParaRPr>
          </a:p>
          <a:p>
            <a:pPr marL="76200" lvl="1" algn="just">
              <a:lnSpc>
                <a:spcPct val="115000"/>
              </a:lnSpc>
              <a:buClr>
                <a:schemeClr val="dk1"/>
              </a:buClr>
              <a:buSzPts val="2400"/>
            </a:pPr>
            <a:r>
              <a:rPr lang="en-US" sz="2400" dirty="0">
                <a:solidFill>
                  <a:schemeClr val="dk1"/>
                </a:solidFill>
                <a:highlight>
                  <a:schemeClr val="lt1"/>
                </a:highlight>
              </a:rPr>
              <a:t>	</a:t>
            </a:r>
            <a:r>
              <a:rPr lang="en-US" sz="2400" dirty="0" smtClean="0">
                <a:solidFill>
                  <a:schemeClr val="dk1"/>
                </a:solidFill>
                <a:highlight>
                  <a:schemeClr val="lt1"/>
                </a:highlight>
              </a:rPr>
              <a:t>	- </a:t>
            </a:r>
            <a:r>
              <a:rPr lang="en-US" sz="2400" b="1" dirty="0" smtClean="0">
                <a:solidFill>
                  <a:schemeClr val="dk1"/>
                </a:solidFill>
                <a:highlight>
                  <a:schemeClr val="lt1"/>
                </a:highlight>
              </a:rPr>
              <a:t>Disadvantages</a:t>
            </a:r>
            <a:r>
              <a:rPr lang="en-US" sz="2400" dirty="0">
                <a:solidFill>
                  <a:schemeClr val="dk1"/>
                </a:solidFill>
                <a:highlight>
                  <a:schemeClr val="lt1"/>
                </a:highlight>
              </a:rPr>
              <a:t>: the other (real world) distribution that was in the </a:t>
            </a:r>
            <a:r>
              <a:rPr lang="en-US" sz="2400" dirty="0" smtClean="0">
                <a:solidFill>
                  <a:schemeClr val="dk1"/>
                </a:solidFill>
                <a:highlight>
                  <a:schemeClr val="lt1"/>
                </a:highlight>
              </a:rPr>
              <a:t>			dev/test </a:t>
            </a:r>
            <a:r>
              <a:rPr lang="en-US" sz="2400" dirty="0">
                <a:solidFill>
                  <a:schemeClr val="dk1"/>
                </a:solidFill>
                <a:highlight>
                  <a:schemeClr val="lt1"/>
                </a:highlight>
              </a:rPr>
              <a:t>sets will occur less in the new dev/test sets and that might be </a:t>
            </a:r>
            <a:r>
              <a:rPr lang="en-US" sz="2400" dirty="0" smtClean="0">
                <a:solidFill>
                  <a:schemeClr val="dk1"/>
                </a:solidFill>
                <a:highlight>
                  <a:schemeClr val="lt1"/>
                </a:highlight>
              </a:rPr>
              <a:t>		not </a:t>
            </a:r>
            <a:r>
              <a:rPr lang="en-US" sz="2400" dirty="0">
                <a:solidFill>
                  <a:schemeClr val="dk1"/>
                </a:solidFill>
                <a:highlight>
                  <a:schemeClr val="lt1"/>
                </a:highlight>
              </a:rPr>
              <a:t>what you want to </a:t>
            </a:r>
            <a:r>
              <a:rPr lang="en-US" sz="2400" dirty="0" smtClean="0">
                <a:solidFill>
                  <a:schemeClr val="dk1"/>
                </a:solidFill>
                <a:highlight>
                  <a:schemeClr val="lt1"/>
                </a:highlight>
              </a:rPr>
              <a:t>achieve.</a:t>
            </a:r>
          </a:p>
          <a:p>
            <a:pPr marL="76200" lvl="1" algn="just">
              <a:lnSpc>
                <a:spcPct val="115000"/>
              </a:lnSpc>
              <a:spcBef>
                <a:spcPts val="1500"/>
              </a:spcBef>
              <a:buClr>
                <a:schemeClr val="dk1"/>
              </a:buClr>
              <a:buSzPts val="2400"/>
            </a:pPr>
            <a:r>
              <a:rPr lang="en-US" sz="2400" dirty="0">
                <a:solidFill>
                  <a:schemeClr val="dk1"/>
                </a:solidFill>
                <a:highlight>
                  <a:schemeClr val="lt1"/>
                </a:highlight>
              </a:rPr>
              <a:t>	2. Option two: take some of the dev/test set examples and add them to the training set.</a:t>
            </a:r>
          </a:p>
          <a:p>
            <a:pPr marL="76200" lvl="1" algn="just">
              <a:lnSpc>
                <a:spcPct val="115000"/>
              </a:lnSpc>
              <a:spcBef>
                <a:spcPts val="1500"/>
              </a:spcBef>
              <a:buClr>
                <a:schemeClr val="dk1"/>
              </a:buClr>
              <a:buSzPts val="2400"/>
            </a:pPr>
            <a:r>
              <a:rPr lang="en-US" sz="2400" dirty="0">
                <a:solidFill>
                  <a:schemeClr val="dk1"/>
                </a:solidFill>
                <a:highlight>
                  <a:schemeClr val="lt1"/>
                </a:highlight>
              </a:rPr>
              <a:t>		- </a:t>
            </a:r>
            <a:r>
              <a:rPr lang="en-US" sz="2400" b="1" dirty="0">
                <a:solidFill>
                  <a:schemeClr val="dk1"/>
                </a:solidFill>
                <a:highlight>
                  <a:schemeClr val="lt1"/>
                </a:highlight>
              </a:rPr>
              <a:t>Advantages</a:t>
            </a:r>
            <a:r>
              <a:rPr lang="en-US" sz="2400" dirty="0">
                <a:solidFill>
                  <a:schemeClr val="dk1"/>
                </a:solidFill>
                <a:highlight>
                  <a:schemeClr val="lt1"/>
                </a:highlight>
              </a:rPr>
              <a:t>: the distribution you care about is your target now.    			- </a:t>
            </a:r>
            <a:r>
              <a:rPr lang="en-US" sz="2400" b="1" dirty="0">
                <a:solidFill>
                  <a:schemeClr val="dk1"/>
                </a:solidFill>
                <a:highlight>
                  <a:schemeClr val="lt1"/>
                </a:highlight>
              </a:rPr>
              <a:t>Disadvantage</a:t>
            </a:r>
            <a:r>
              <a:rPr lang="en-US" sz="2400" dirty="0">
                <a:solidFill>
                  <a:schemeClr val="dk1"/>
                </a:solidFill>
                <a:highlight>
                  <a:schemeClr val="lt1"/>
                </a:highlight>
              </a:rPr>
              <a:t>: the distributions in training and dev/test sets are </a:t>
            </a:r>
            <a:r>
              <a:rPr lang="en-US" sz="2400" dirty="0" smtClean="0">
                <a:solidFill>
                  <a:schemeClr val="dk1"/>
                </a:solidFill>
                <a:highlight>
                  <a:schemeClr val="lt1"/>
                </a:highlight>
              </a:rPr>
              <a:t>			now different</a:t>
            </a:r>
            <a:r>
              <a:rPr lang="en-US" sz="2400" dirty="0">
                <a:solidFill>
                  <a:schemeClr val="dk1"/>
                </a:solidFill>
                <a:highlight>
                  <a:schemeClr val="lt1"/>
                </a:highlight>
              </a:rPr>
              <a:t>. But you will get a better performance over a long time</a:t>
            </a:r>
            <a:r>
              <a:rPr lang="en-US" sz="2400" dirty="0" smtClean="0">
                <a:solidFill>
                  <a:schemeClr val="dk1"/>
                </a:solidFill>
                <a:highlight>
                  <a:schemeClr val="lt1"/>
                </a:highlight>
              </a:rPr>
              <a:t>.</a:t>
            </a:r>
            <a:endParaRPr lang="en-US" sz="2400" dirty="0">
              <a:solidFill>
                <a:schemeClr val="dk1"/>
              </a:solidFill>
              <a:highlight>
                <a:schemeClr val="lt1"/>
              </a:highligh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746294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48"/>
        <p:cNvGrpSpPr/>
        <p:nvPr/>
      </p:nvGrpSpPr>
      <p:grpSpPr>
        <a:xfrm>
          <a:off x="0" y="0"/>
          <a:ext cx="0" cy="0"/>
          <a:chOff x="0" y="0"/>
          <a:chExt cx="0" cy="0"/>
        </a:xfrm>
      </p:grpSpPr>
      <p:sp>
        <p:nvSpPr>
          <p:cNvPr id="249" name="Google Shape;249;p30"/>
          <p:cNvSpPr txBox="1">
            <a:spLocks noGrp="1"/>
          </p:cNvSpPr>
          <p:nvPr>
            <p:ph type="title"/>
          </p:nvPr>
        </p:nvSpPr>
        <p:spPr>
          <a:xfrm>
            <a:off x="261620" y="28551"/>
            <a:ext cx="4837918" cy="1376400"/>
          </a:xfrm>
          <a:prstGeom prst="rect">
            <a:avLst/>
          </a:prstGeom>
          <a:noFill/>
          <a:ln>
            <a:noFill/>
          </a:ln>
        </p:spPr>
        <p:txBody>
          <a:bodyPr spcFirstLastPara="1" wrap="square" lIns="0" tIns="123825"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Cat app example</a:t>
            </a:r>
            <a:endParaRPr sz="4400" dirty="0">
              <a:latin typeface="+mj-lt"/>
              <a:ea typeface="Cambria"/>
              <a:cs typeface="Cambria"/>
              <a:sym typeface="Cambria"/>
            </a:endParaRPr>
          </a:p>
          <a:p>
            <a:pPr marL="673100" lvl="0" indent="0" algn="ctr" rtl="0">
              <a:lnSpc>
                <a:spcPct val="100000"/>
              </a:lnSpc>
              <a:spcBef>
                <a:spcPts val="635"/>
              </a:spcBef>
              <a:spcAft>
                <a:spcPts val="0"/>
              </a:spcAft>
              <a:buSzPts val="1400"/>
              <a:buNone/>
            </a:pPr>
            <a:r>
              <a:rPr lang="en-US" sz="3200" b="0" dirty="0">
                <a:latin typeface="+mj-lt"/>
                <a:ea typeface="Cambria"/>
                <a:cs typeface="Cambria"/>
                <a:sym typeface="Cambria"/>
              </a:rPr>
              <a:t>Data from webpages</a:t>
            </a:r>
            <a:endParaRPr sz="3200" dirty="0">
              <a:latin typeface="+mj-lt"/>
              <a:ea typeface="Cambria"/>
              <a:cs typeface="Cambria"/>
              <a:sym typeface="Cambria"/>
            </a:endParaRPr>
          </a:p>
        </p:txBody>
      </p:sp>
      <p:sp>
        <p:nvSpPr>
          <p:cNvPr id="250" name="Google Shape;250;p30"/>
          <p:cNvSpPr txBox="1"/>
          <p:nvPr/>
        </p:nvSpPr>
        <p:spPr>
          <a:xfrm>
            <a:off x="7160145" y="891095"/>
            <a:ext cx="41136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dirty="0">
                <a:solidFill>
                  <a:srgbClr val="000000"/>
                </a:solidFill>
                <a:latin typeface="+mj-lt"/>
                <a:ea typeface="Cambria"/>
                <a:cs typeface="Cambria"/>
                <a:sym typeface="Cambria"/>
              </a:rPr>
              <a:t>Data from mobile app</a:t>
            </a:r>
            <a:endParaRPr sz="3200" b="0" i="0" u="none" strike="noStrike" cap="none" dirty="0">
              <a:solidFill>
                <a:srgbClr val="000000"/>
              </a:solidFill>
              <a:latin typeface="+mj-lt"/>
              <a:ea typeface="Cambria"/>
              <a:cs typeface="Cambria"/>
              <a:sym typeface="Cambria"/>
            </a:endParaRPr>
          </a:p>
        </p:txBody>
      </p:sp>
      <p:pic>
        <p:nvPicPr>
          <p:cNvPr id="251" name="Google Shape;251;p30"/>
          <p:cNvPicPr preferRelativeResize="0"/>
          <p:nvPr/>
        </p:nvPicPr>
        <p:blipFill rotWithShape="1">
          <a:blip r:embed="rId3">
            <a:alphaModFix/>
          </a:blip>
          <a:srcRect/>
          <a:stretch/>
        </p:blipFill>
        <p:spPr>
          <a:xfrm>
            <a:off x="2053132" y="1508442"/>
            <a:ext cx="1675002" cy="1470901"/>
          </a:xfrm>
          <a:prstGeom prst="rect">
            <a:avLst/>
          </a:prstGeom>
          <a:noFill/>
          <a:ln>
            <a:noFill/>
          </a:ln>
        </p:spPr>
      </p:pic>
      <p:pic>
        <p:nvPicPr>
          <p:cNvPr id="252" name="Google Shape;252;p30"/>
          <p:cNvPicPr preferRelativeResize="0"/>
          <p:nvPr/>
        </p:nvPicPr>
        <p:blipFill rotWithShape="1">
          <a:blip r:embed="rId4">
            <a:alphaModFix/>
          </a:blip>
          <a:srcRect/>
          <a:stretch/>
        </p:blipFill>
        <p:spPr>
          <a:xfrm>
            <a:off x="3888155" y="1508442"/>
            <a:ext cx="1675002" cy="1470901"/>
          </a:xfrm>
          <a:prstGeom prst="rect">
            <a:avLst/>
          </a:prstGeom>
          <a:noFill/>
          <a:ln>
            <a:noFill/>
          </a:ln>
        </p:spPr>
      </p:pic>
      <p:pic>
        <p:nvPicPr>
          <p:cNvPr id="253" name="Google Shape;253;p30"/>
          <p:cNvPicPr preferRelativeResize="0"/>
          <p:nvPr/>
        </p:nvPicPr>
        <p:blipFill rotWithShape="1">
          <a:blip r:embed="rId5">
            <a:alphaModFix/>
          </a:blip>
          <a:srcRect/>
          <a:stretch/>
        </p:blipFill>
        <p:spPr>
          <a:xfrm>
            <a:off x="218097" y="1508442"/>
            <a:ext cx="1675002" cy="1470901"/>
          </a:xfrm>
          <a:prstGeom prst="rect">
            <a:avLst/>
          </a:prstGeom>
          <a:noFill/>
          <a:ln>
            <a:noFill/>
          </a:ln>
        </p:spPr>
      </p:pic>
      <p:pic>
        <p:nvPicPr>
          <p:cNvPr id="254" name="Google Shape;254;p30"/>
          <p:cNvPicPr preferRelativeResize="0"/>
          <p:nvPr/>
        </p:nvPicPr>
        <p:blipFill rotWithShape="1">
          <a:blip r:embed="rId6">
            <a:alphaModFix/>
          </a:blip>
          <a:srcRect/>
          <a:stretch/>
        </p:blipFill>
        <p:spPr>
          <a:xfrm>
            <a:off x="6565074" y="1508442"/>
            <a:ext cx="1680591" cy="1470901"/>
          </a:xfrm>
          <a:prstGeom prst="rect">
            <a:avLst/>
          </a:prstGeom>
          <a:noFill/>
          <a:ln>
            <a:noFill/>
          </a:ln>
        </p:spPr>
      </p:pic>
      <p:pic>
        <p:nvPicPr>
          <p:cNvPr id="255" name="Google Shape;255;p30"/>
          <p:cNvPicPr preferRelativeResize="0"/>
          <p:nvPr/>
        </p:nvPicPr>
        <p:blipFill rotWithShape="1">
          <a:blip r:embed="rId7">
            <a:alphaModFix/>
          </a:blip>
          <a:srcRect/>
          <a:stretch/>
        </p:blipFill>
        <p:spPr>
          <a:xfrm>
            <a:off x="8397316" y="1508442"/>
            <a:ext cx="1680591" cy="1470901"/>
          </a:xfrm>
          <a:prstGeom prst="rect">
            <a:avLst/>
          </a:prstGeom>
          <a:noFill/>
          <a:ln>
            <a:noFill/>
          </a:ln>
        </p:spPr>
      </p:pic>
      <p:pic>
        <p:nvPicPr>
          <p:cNvPr id="256" name="Google Shape;256;p30"/>
          <p:cNvPicPr preferRelativeResize="0"/>
          <p:nvPr/>
        </p:nvPicPr>
        <p:blipFill rotWithShape="1">
          <a:blip r:embed="rId8">
            <a:alphaModFix/>
          </a:blip>
          <a:srcRect/>
          <a:stretch/>
        </p:blipFill>
        <p:spPr>
          <a:xfrm>
            <a:off x="10229545" y="1508442"/>
            <a:ext cx="1680591" cy="1470901"/>
          </a:xfrm>
          <a:prstGeom prst="rect">
            <a:avLst/>
          </a:prstGeom>
          <a:noFill/>
          <a:ln>
            <a:noFill/>
          </a:ln>
        </p:spPr>
      </p:pic>
      <p:pic>
        <p:nvPicPr>
          <p:cNvPr id="257" name="Google Shape;257;p30"/>
          <p:cNvPicPr preferRelativeResize="0"/>
          <p:nvPr/>
        </p:nvPicPr>
        <p:blipFill rotWithShape="1">
          <a:blip r:embed="rId9">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1"/>
          <p:cNvSpPr txBox="1">
            <a:spLocks noGrp="1"/>
          </p:cNvSpPr>
          <p:nvPr>
            <p:ph type="title"/>
          </p:nvPr>
        </p:nvSpPr>
        <p:spPr>
          <a:xfrm>
            <a:off x="228601" y="228600"/>
            <a:ext cx="10505872" cy="677108"/>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4400" b="0" dirty="0" smtClean="0">
                <a:latin typeface="+mj-lt"/>
                <a:ea typeface="Cambria"/>
                <a:cs typeface="Cambria"/>
                <a:sym typeface="Cambria"/>
              </a:rPr>
              <a:t>Cat </a:t>
            </a:r>
            <a:r>
              <a:rPr lang="en-US" sz="4400" b="0" dirty="0">
                <a:latin typeface="+mj-lt"/>
                <a:ea typeface="Cambria"/>
                <a:cs typeface="Cambria"/>
                <a:sym typeface="Cambria"/>
              </a:rPr>
              <a:t>app example</a:t>
            </a:r>
            <a:endParaRPr sz="4400" dirty="0">
              <a:latin typeface="+mj-lt"/>
            </a:endParaRPr>
          </a:p>
        </p:txBody>
      </p:sp>
      <p:pic>
        <p:nvPicPr>
          <p:cNvPr id="264" name="Google Shape;264;p3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TextBox 1"/>
          <p:cNvSpPr txBox="1"/>
          <p:nvPr/>
        </p:nvSpPr>
        <p:spPr>
          <a:xfrm>
            <a:off x="340468" y="1303506"/>
            <a:ext cx="11215992" cy="4524315"/>
          </a:xfrm>
          <a:prstGeom prst="rect">
            <a:avLst/>
          </a:prstGeom>
          <a:noFill/>
        </p:spPr>
        <p:txBody>
          <a:bodyPr wrap="square" rtlCol="0">
            <a:spAutoFit/>
          </a:bodyPr>
          <a:lstStyle/>
          <a:p>
            <a:r>
              <a:rPr lang="en-US" sz="2400" dirty="0"/>
              <a:t>There are two sources of data used to develop the mobile app. </a:t>
            </a:r>
            <a:endParaRPr lang="en-US" sz="2400" dirty="0" smtClean="0"/>
          </a:p>
          <a:p>
            <a:pPr marL="457200" lvl="1" indent="-457200">
              <a:buFont typeface="+mj-lt"/>
              <a:buAutoNum type="arabicPeriod"/>
            </a:pPr>
            <a:r>
              <a:rPr lang="en-US" sz="2400" dirty="0" smtClean="0"/>
              <a:t>The </a:t>
            </a:r>
            <a:r>
              <a:rPr lang="en-US" sz="2400" dirty="0"/>
              <a:t>first data distribution is small, 10 000 pictures uploaded from the mobile application. Since they are from amateur users, the pictures are not professionally shot, not well framed and blurrier. </a:t>
            </a:r>
            <a:endParaRPr lang="en-US" sz="2400" dirty="0" smtClean="0"/>
          </a:p>
          <a:p>
            <a:pPr marL="457200" lvl="1" indent="-457200">
              <a:buFont typeface="+mj-lt"/>
              <a:buAutoNum type="arabicPeriod"/>
            </a:pPr>
            <a:r>
              <a:rPr lang="en-US" sz="2400" dirty="0" smtClean="0"/>
              <a:t>The </a:t>
            </a:r>
            <a:r>
              <a:rPr lang="en-US" sz="2400" dirty="0"/>
              <a:t>second source is from the web, you downloaded 200 000 pictures where cat's pictures are professionally framed and in high resolution. </a:t>
            </a:r>
            <a:endParaRPr lang="en-US" sz="2400" dirty="0" smtClean="0"/>
          </a:p>
          <a:p>
            <a:pPr lvl="1"/>
            <a:r>
              <a:rPr lang="en-US" sz="2400" dirty="0" smtClean="0"/>
              <a:t>The </a:t>
            </a:r>
            <a:r>
              <a:rPr lang="en-US" sz="2400" dirty="0"/>
              <a:t>problem is that you have a different distribution: </a:t>
            </a:r>
            <a:endParaRPr lang="en-US" sz="2400" dirty="0" smtClean="0"/>
          </a:p>
          <a:p>
            <a:pPr marL="457200" lvl="1" indent="-457200">
              <a:buFont typeface="Arial" panose="020B0604020202020204" pitchFamily="34" charset="0"/>
              <a:buChar char="•"/>
            </a:pPr>
            <a:r>
              <a:rPr lang="en-US" sz="2400" dirty="0"/>
              <a:t>S</a:t>
            </a:r>
            <a:r>
              <a:rPr lang="en-US" sz="2400" dirty="0" smtClean="0"/>
              <a:t>mall </a:t>
            </a:r>
            <a:r>
              <a:rPr lang="en-US" sz="2400" dirty="0"/>
              <a:t>data set from pictures uploaded by users. This distribution is important for the mobile </a:t>
            </a:r>
            <a:r>
              <a:rPr lang="en-US" sz="2400" dirty="0" smtClean="0"/>
              <a:t>app.</a:t>
            </a:r>
          </a:p>
          <a:p>
            <a:pPr marL="457200" lvl="1" indent="-457200">
              <a:buFont typeface="Arial" panose="020B0604020202020204" pitchFamily="34" charset="0"/>
              <a:buChar char="•"/>
            </a:pPr>
            <a:r>
              <a:rPr lang="en-US" sz="2400" dirty="0"/>
              <a:t>B</a:t>
            </a:r>
            <a:r>
              <a:rPr lang="en-US" sz="2400" dirty="0" smtClean="0"/>
              <a:t>igger </a:t>
            </a:r>
            <a:r>
              <a:rPr lang="en-US" sz="2400" dirty="0"/>
              <a:t>data set from the web. </a:t>
            </a:r>
            <a:endParaRPr lang="en-US" sz="2400" dirty="0" smtClean="0"/>
          </a:p>
          <a:p>
            <a:pPr lvl="1"/>
            <a:r>
              <a:rPr lang="en-US" sz="2400" dirty="0" smtClean="0"/>
              <a:t>The </a:t>
            </a:r>
            <a:r>
              <a:rPr lang="en-US" sz="2400" dirty="0"/>
              <a:t>guideline used is that you have to choose a development set and test set to reflect data you expect to get in the future and consider important to do well.</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1"/>
          <p:cNvSpPr txBox="1">
            <a:spLocks noGrp="1"/>
          </p:cNvSpPr>
          <p:nvPr>
            <p:ph type="title"/>
          </p:nvPr>
        </p:nvSpPr>
        <p:spPr>
          <a:xfrm>
            <a:off x="228601" y="228600"/>
            <a:ext cx="5867400" cy="677108"/>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4400" b="0" dirty="0">
                <a:latin typeface="+mj-lt"/>
                <a:ea typeface="Cambria"/>
                <a:cs typeface="Cambria"/>
                <a:sym typeface="Cambria"/>
              </a:rPr>
              <a:t>Cat app example</a:t>
            </a:r>
            <a:endParaRPr sz="4400" dirty="0">
              <a:latin typeface="+mj-lt"/>
            </a:endParaRPr>
          </a:p>
        </p:txBody>
      </p:sp>
      <p:pic>
        <p:nvPicPr>
          <p:cNvPr id="264" name="Google Shape;264;p3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TextBox 1"/>
          <p:cNvSpPr txBox="1"/>
          <p:nvPr/>
        </p:nvSpPr>
        <p:spPr>
          <a:xfrm>
            <a:off x="340468" y="1303506"/>
            <a:ext cx="11215992" cy="4154984"/>
          </a:xfrm>
          <a:prstGeom prst="rect">
            <a:avLst/>
          </a:prstGeom>
          <a:noFill/>
        </p:spPr>
        <p:txBody>
          <a:bodyPr wrap="square" rtlCol="0">
            <a:spAutoFit/>
          </a:bodyPr>
          <a:lstStyle/>
          <a:p>
            <a:r>
              <a:rPr lang="en-US" sz="2400" b="1" dirty="0" smtClean="0"/>
              <a:t>Option 1</a:t>
            </a:r>
            <a:r>
              <a:rPr lang="en-US" sz="2400" dirty="0"/>
              <a:t>: randomly shuffle </a:t>
            </a:r>
            <a:r>
              <a:rPr lang="en-US" sz="2400" dirty="0" smtClean="0"/>
              <a:t>210,000 images </a:t>
            </a:r>
            <a:r>
              <a:rPr lang="en-US" sz="2400" dirty="0"/>
              <a:t>into a train, dev, and test </a:t>
            </a:r>
            <a:r>
              <a:rPr lang="en-US" sz="2400" dirty="0" smtClean="0"/>
              <a:t>set</a:t>
            </a:r>
          </a:p>
          <a:p>
            <a:endParaRPr lang="en-US" sz="2400" dirty="0" smtClean="0"/>
          </a:p>
          <a:p>
            <a:endParaRPr lang="en-US" sz="2400" dirty="0"/>
          </a:p>
          <a:p>
            <a:r>
              <a:rPr lang="en-US" sz="2400" dirty="0" smtClean="0"/>
              <a:t>				</a:t>
            </a:r>
          </a:p>
          <a:p>
            <a:r>
              <a:rPr lang="en-US" sz="2400" dirty="0"/>
              <a:t>	</a:t>
            </a:r>
            <a:r>
              <a:rPr lang="en-US" sz="2400" dirty="0" smtClean="0"/>
              <a:t>			</a:t>
            </a:r>
            <a:r>
              <a:rPr lang="en-US" sz="2000" dirty="0" smtClean="0"/>
              <a:t>Train					       Dev	Test</a:t>
            </a:r>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400" b="1" dirty="0" smtClean="0"/>
              <a:t>Advantage</a:t>
            </a:r>
            <a:r>
              <a:rPr lang="en-US" sz="2400" dirty="0" smtClean="0"/>
              <a:t>: training</a:t>
            </a:r>
            <a:r>
              <a:rPr lang="en-US" sz="2400" dirty="0"/>
              <a:t>, dev and test sets will all come from the same distribution, so that makes it easier to manage. </a:t>
            </a:r>
            <a:endParaRPr lang="en-US" sz="2400" dirty="0" smtClean="0"/>
          </a:p>
          <a:p>
            <a:pPr marL="342900" indent="-342900">
              <a:buFont typeface="Arial" panose="020B0604020202020204" pitchFamily="34" charset="0"/>
              <a:buChar char="•"/>
            </a:pPr>
            <a:r>
              <a:rPr lang="en-US" sz="2400" b="1" dirty="0" smtClean="0"/>
              <a:t>Disadvantage</a:t>
            </a:r>
            <a:r>
              <a:rPr lang="en-US" sz="2400" dirty="0" smtClean="0"/>
              <a:t>: in dev </a:t>
            </a:r>
            <a:r>
              <a:rPr lang="en-US" sz="2400" dirty="0"/>
              <a:t>set, of these 2,500 examples, a lot of it will come from the web page distribution of images, rather than what you actually care about, which is the mobile app distribution of images</a:t>
            </a:r>
            <a:r>
              <a:rPr lang="en-US" sz="2400" dirty="0" smtClean="0"/>
              <a:t>.</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78771489"/>
              </p:ext>
            </p:extLst>
          </p:nvPr>
        </p:nvGraphicFramePr>
        <p:xfrm>
          <a:off x="2032000" y="719666"/>
          <a:ext cx="8127999" cy="370840"/>
        </p:xfrm>
        <a:graphic>
          <a:graphicData uri="http://schemas.openxmlformats.org/drawingml/2006/table">
            <a:tbl>
              <a:tblPr firstRow="1" bandRow="1">
                <a:tableStyleId>{CFA8550C-8068-4A6D-9CC0-523924F090D1}</a:tableStyleId>
              </a:tblPr>
              <a:tblGrid>
                <a:gridCol w="2709333">
                  <a:extLst>
                    <a:ext uri="{9D8B030D-6E8A-4147-A177-3AD203B41FA5}">
                      <a16:colId xmlns:a16="http://schemas.microsoft.com/office/drawing/2014/main" val="4251534610"/>
                    </a:ext>
                  </a:extLst>
                </a:gridCol>
                <a:gridCol w="2709333">
                  <a:extLst>
                    <a:ext uri="{9D8B030D-6E8A-4147-A177-3AD203B41FA5}">
                      <a16:colId xmlns:a16="http://schemas.microsoft.com/office/drawing/2014/main" val="573876943"/>
                    </a:ext>
                  </a:extLst>
                </a:gridCol>
                <a:gridCol w="2709333">
                  <a:extLst>
                    <a:ext uri="{9D8B030D-6E8A-4147-A177-3AD203B41FA5}">
                      <a16:colId xmlns:a16="http://schemas.microsoft.com/office/drawing/2014/main" val="1135470223"/>
                    </a:ext>
                  </a:extLst>
                </a:gridCol>
              </a:tblGrid>
              <a:tr h="370840">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6260024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8287357"/>
              </p:ext>
            </p:extLst>
          </p:nvPr>
        </p:nvGraphicFramePr>
        <p:xfrm>
          <a:off x="758756" y="2032907"/>
          <a:ext cx="10603149" cy="661663"/>
        </p:xfrm>
        <a:graphic>
          <a:graphicData uri="http://schemas.openxmlformats.org/drawingml/2006/table">
            <a:tbl>
              <a:tblPr firstRow="1" bandRow="1">
                <a:tableStyleId>{CFA8550C-8068-4A6D-9CC0-523924F090D1}</a:tableStyleId>
              </a:tblPr>
              <a:tblGrid>
                <a:gridCol w="8120210">
                  <a:extLst>
                    <a:ext uri="{9D8B030D-6E8A-4147-A177-3AD203B41FA5}">
                      <a16:colId xmlns:a16="http://schemas.microsoft.com/office/drawing/2014/main" val="1098753503"/>
                    </a:ext>
                  </a:extLst>
                </a:gridCol>
                <a:gridCol w="1274429">
                  <a:extLst>
                    <a:ext uri="{9D8B030D-6E8A-4147-A177-3AD203B41FA5}">
                      <a16:colId xmlns:a16="http://schemas.microsoft.com/office/drawing/2014/main" val="1465610247"/>
                    </a:ext>
                  </a:extLst>
                </a:gridCol>
                <a:gridCol w="1208510">
                  <a:extLst>
                    <a:ext uri="{9D8B030D-6E8A-4147-A177-3AD203B41FA5}">
                      <a16:colId xmlns:a16="http://schemas.microsoft.com/office/drawing/2014/main" val="3104108687"/>
                    </a:ext>
                  </a:extLst>
                </a:gridCol>
              </a:tblGrid>
              <a:tr h="661663">
                <a:tc>
                  <a:txBody>
                    <a:bodyPr/>
                    <a:lstStyle/>
                    <a:p>
                      <a:pPr algn="ctr"/>
                      <a:r>
                        <a:rPr lang="en-US" sz="2400" b="1" dirty="0" smtClean="0"/>
                        <a:t>205,000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2,500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2,500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654415"/>
                  </a:ext>
                </a:extLst>
              </a:tr>
            </a:tbl>
          </a:graphicData>
        </a:graphic>
      </p:graphicFrame>
    </p:spTree>
    <p:extLst>
      <p:ext uri="{BB962C8B-B14F-4D97-AF65-F5344CB8AC3E}">
        <p14:creationId xmlns:p14="http://schemas.microsoft.com/office/powerpoint/2010/main" val="1912486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1"/>
          <p:cNvSpPr txBox="1">
            <a:spLocks noGrp="1"/>
          </p:cNvSpPr>
          <p:nvPr>
            <p:ph type="title"/>
          </p:nvPr>
        </p:nvSpPr>
        <p:spPr>
          <a:xfrm>
            <a:off x="228601" y="228600"/>
            <a:ext cx="5867400" cy="677108"/>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4400" b="0" dirty="0">
                <a:latin typeface="+mj-lt"/>
                <a:ea typeface="Cambria"/>
                <a:cs typeface="Cambria"/>
                <a:sym typeface="Cambria"/>
              </a:rPr>
              <a:t>Cat app example</a:t>
            </a:r>
            <a:endParaRPr sz="4400" dirty="0">
              <a:latin typeface="+mj-lt"/>
            </a:endParaRPr>
          </a:p>
        </p:txBody>
      </p:sp>
      <p:pic>
        <p:nvPicPr>
          <p:cNvPr id="264" name="Google Shape;264;p3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TextBox 1"/>
          <p:cNvSpPr txBox="1"/>
          <p:nvPr/>
        </p:nvSpPr>
        <p:spPr>
          <a:xfrm>
            <a:off x="340468" y="1303506"/>
            <a:ext cx="11595370" cy="4524315"/>
          </a:xfrm>
          <a:prstGeom prst="rect">
            <a:avLst/>
          </a:prstGeom>
          <a:noFill/>
        </p:spPr>
        <p:txBody>
          <a:bodyPr wrap="square" rtlCol="0">
            <a:spAutoFit/>
          </a:bodyPr>
          <a:lstStyle/>
          <a:p>
            <a:r>
              <a:rPr lang="en-US" sz="2400" b="1" dirty="0" smtClean="0"/>
              <a:t>Option 2</a:t>
            </a:r>
            <a:r>
              <a:rPr lang="en-US" sz="2400" dirty="0"/>
              <a:t>: the training set will include 200,000 images from the web and 5,000 from the mobile app. The dev set will be 2,500 images from the mobile app, and the test set will be 2,500 images also from the mobile app</a:t>
            </a:r>
            <a:endParaRPr lang="en-US" sz="2400" dirty="0" smtClean="0"/>
          </a:p>
          <a:p>
            <a:endParaRPr lang="en-US" sz="2400" dirty="0" smtClean="0"/>
          </a:p>
          <a:p>
            <a:endParaRPr lang="en-US" sz="2400" dirty="0"/>
          </a:p>
          <a:p>
            <a:r>
              <a:rPr lang="en-US" sz="2400" dirty="0" smtClean="0"/>
              <a:t>				</a:t>
            </a:r>
          </a:p>
          <a:p>
            <a:r>
              <a:rPr lang="en-US" sz="2400" dirty="0"/>
              <a:t>	</a:t>
            </a:r>
            <a:r>
              <a:rPr lang="en-US" sz="2400" dirty="0" smtClean="0"/>
              <a:t>		    </a:t>
            </a:r>
            <a:r>
              <a:rPr lang="en-US" sz="2000" dirty="0" smtClean="0"/>
              <a:t>Train		</a:t>
            </a:r>
            <a:r>
              <a:rPr lang="en-US" sz="2000" dirty="0"/>
              <a:t>	</a:t>
            </a:r>
            <a:r>
              <a:rPr lang="en-US" sz="2000" dirty="0" smtClean="0"/>
              <a:t>	App	         Dev (app)    Test(app)</a:t>
            </a:r>
          </a:p>
          <a:p>
            <a:endParaRPr lang="en-US" sz="2400" dirty="0" smtClean="0"/>
          </a:p>
          <a:p>
            <a:pPr marL="342900" indent="-342900">
              <a:buFont typeface="Arial" panose="020B0604020202020204" pitchFamily="34" charset="0"/>
              <a:buChar char="•"/>
            </a:pPr>
            <a:r>
              <a:rPr lang="en-US" sz="2400" b="1" dirty="0" smtClean="0"/>
              <a:t>Advantage</a:t>
            </a:r>
            <a:r>
              <a:rPr lang="en-US" sz="2400" dirty="0" smtClean="0"/>
              <a:t>: the </a:t>
            </a:r>
            <a:r>
              <a:rPr lang="en-US" sz="2400" dirty="0"/>
              <a:t>target </a:t>
            </a:r>
            <a:r>
              <a:rPr lang="en-US" sz="2400" dirty="0" smtClean="0"/>
              <a:t>is well defined. </a:t>
            </a:r>
          </a:p>
          <a:p>
            <a:pPr marL="342900" indent="-342900">
              <a:buFont typeface="Arial" panose="020B0604020202020204" pitchFamily="34" charset="0"/>
              <a:buChar char="•"/>
            </a:pPr>
            <a:r>
              <a:rPr lang="en-US" sz="2400" b="1" dirty="0" smtClean="0"/>
              <a:t>Disadvantage</a:t>
            </a:r>
            <a:r>
              <a:rPr lang="en-US" sz="2400" dirty="0" smtClean="0"/>
              <a:t>: </a:t>
            </a:r>
            <a:r>
              <a:rPr lang="en-US" sz="2400" dirty="0"/>
              <a:t>the training distribution is different from the development and test set distributions. However, this way of splitting the data has a better performance in long term..</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78771489"/>
              </p:ext>
            </p:extLst>
          </p:nvPr>
        </p:nvGraphicFramePr>
        <p:xfrm>
          <a:off x="2032000" y="719666"/>
          <a:ext cx="8127999" cy="370840"/>
        </p:xfrm>
        <a:graphic>
          <a:graphicData uri="http://schemas.openxmlformats.org/drawingml/2006/table">
            <a:tbl>
              <a:tblPr firstRow="1" bandRow="1">
                <a:tableStyleId>{CFA8550C-8068-4A6D-9CC0-523924F090D1}</a:tableStyleId>
              </a:tblPr>
              <a:tblGrid>
                <a:gridCol w="2709333">
                  <a:extLst>
                    <a:ext uri="{9D8B030D-6E8A-4147-A177-3AD203B41FA5}">
                      <a16:colId xmlns:a16="http://schemas.microsoft.com/office/drawing/2014/main" val="4251534610"/>
                    </a:ext>
                  </a:extLst>
                </a:gridCol>
                <a:gridCol w="2709333">
                  <a:extLst>
                    <a:ext uri="{9D8B030D-6E8A-4147-A177-3AD203B41FA5}">
                      <a16:colId xmlns:a16="http://schemas.microsoft.com/office/drawing/2014/main" val="573876943"/>
                    </a:ext>
                  </a:extLst>
                </a:gridCol>
                <a:gridCol w="2709333">
                  <a:extLst>
                    <a:ext uri="{9D8B030D-6E8A-4147-A177-3AD203B41FA5}">
                      <a16:colId xmlns:a16="http://schemas.microsoft.com/office/drawing/2014/main" val="1135470223"/>
                    </a:ext>
                  </a:extLst>
                </a:gridCol>
              </a:tblGrid>
              <a:tr h="370840">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62600248"/>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696620793"/>
              </p:ext>
            </p:extLst>
          </p:nvPr>
        </p:nvGraphicFramePr>
        <p:xfrm>
          <a:off x="583660" y="2606846"/>
          <a:ext cx="11108986" cy="661663"/>
        </p:xfrm>
        <a:graphic>
          <a:graphicData uri="http://schemas.openxmlformats.org/drawingml/2006/table">
            <a:tbl>
              <a:tblPr firstRow="1" bandRow="1">
                <a:tableStyleId>{CFA8550C-8068-4A6D-9CC0-523924F090D1}</a:tableStyleId>
              </a:tblPr>
              <a:tblGrid>
                <a:gridCol w="6245157">
                  <a:extLst>
                    <a:ext uri="{9D8B030D-6E8A-4147-A177-3AD203B41FA5}">
                      <a16:colId xmlns:a16="http://schemas.microsoft.com/office/drawing/2014/main" val="1249479662"/>
                    </a:ext>
                  </a:extLst>
                </a:gridCol>
                <a:gridCol w="2247090">
                  <a:extLst>
                    <a:ext uri="{9D8B030D-6E8A-4147-A177-3AD203B41FA5}">
                      <a16:colId xmlns:a16="http://schemas.microsoft.com/office/drawing/2014/main" val="1493685558"/>
                    </a:ext>
                  </a:extLst>
                </a:gridCol>
                <a:gridCol w="1313234">
                  <a:extLst>
                    <a:ext uri="{9D8B030D-6E8A-4147-A177-3AD203B41FA5}">
                      <a16:colId xmlns:a16="http://schemas.microsoft.com/office/drawing/2014/main" val="3016157662"/>
                    </a:ext>
                  </a:extLst>
                </a:gridCol>
                <a:gridCol w="1303505">
                  <a:extLst>
                    <a:ext uri="{9D8B030D-6E8A-4147-A177-3AD203B41FA5}">
                      <a16:colId xmlns:a16="http://schemas.microsoft.com/office/drawing/2014/main" val="843280069"/>
                    </a:ext>
                  </a:extLst>
                </a:gridCol>
              </a:tblGrid>
              <a:tr h="661663">
                <a:tc>
                  <a:txBody>
                    <a:bodyPr/>
                    <a:lstStyle/>
                    <a:p>
                      <a:pPr algn="ctr"/>
                      <a:r>
                        <a:rPr lang="en-US" sz="2400" b="1" dirty="0" smtClean="0"/>
                        <a:t>200,000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205,000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2,500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2,500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490544"/>
                  </a:ext>
                </a:extLst>
              </a:tr>
            </a:tbl>
          </a:graphicData>
        </a:graphic>
      </p:graphicFrame>
    </p:spTree>
    <p:extLst>
      <p:ext uri="{BB962C8B-B14F-4D97-AF65-F5344CB8AC3E}">
        <p14:creationId xmlns:p14="http://schemas.microsoft.com/office/powerpoint/2010/main" val="3448545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32"/>
          <p:cNvSpPr txBox="1">
            <a:spLocks noGrp="1"/>
          </p:cNvSpPr>
          <p:nvPr>
            <p:ph type="title"/>
          </p:nvPr>
        </p:nvSpPr>
        <p:spPr>
          <a:xfrm>
            <a:off x="261620" y="139700"/>
            <a:ext cx="7206615" cy="689932"/>
          </a:xfrm>
          <a:prstGeom prst="rect">
            <a:avLst/>
          </a:prstGeom>
          <a:noFill/>
          <a:ln>
            <a:noFill/>
          </a:ln>
        </p:spPr>
        <p:txBody>
          <a:bodyPr spcFirstLastPara="1" wrap="square" lIns="0" tIns="12700" rIns="0" bIns="0" anchor="t" anchorCtr="0">
            <a:spAutoFit/>
          </a:bodyPr>
          <a:lstStyle/>
          <a:p>
            <a:pPr marL="12700" lvl="0"/>
            <a:r>
              <a:rPr lang="en-US" sz="4400" dirty="0" smtClean="0">
                <a:latin typeface="+mj-lt"/>
                <a:ea typeface="Cambria"/>
                <a:cs typeface="Cambria"/>
                <a:sym typeface="Cambria"/>
              </a:rPr>
              <a:t>Speech recognition example</a:t>
            </a:r>
            <a:endParaRPr sz="4400" dirty="0">
              <a:latin typeface="+mj-lt"/>
              <a:ea typeface="Cambria"/>
              <a:cs typeface="Cambria"/>
              <a:sym typeface="Cambria"/>
            </a:endParaRPr>
          </a:p>
        </p:txBody>
      </p:sp>
      <p:sp>
        <p:nvSpPr>
          <p:cNvPr id="270" name="Google Shape;270;p32"/>
          <p:cNvSpPr txBox="1">
            <a:spLocks noGrp="1"/>
          </p:cNvSpPr>
          <p:nvPr>
            <p:ph type="body" idx="1"/>
          </p:nvPr>
        </p:nvSpPr>
        <p:spPr>
          <a:xfrm>
            <a:off x="411576" y="2597786"/>
            <a:ext cx="5279105" cy="3842334"/>
          </a:xfrm>
          <a:prstGeom prst="rect">
            <a:avLst/>
          </a:prstGeom>
          <a:noFill/>
          <a:ln>
            <a:noFill/>
          </a:ln>
        </p:spPr>
        <p:txBody>
          <a:bodyPr spcFirstLastPara="1" wrap="square" lIns="0" tIns="12700" rIns="0" bIns="0" anchor="t" anchorCtr="0">
            <a:spAutoFit/>
          </a:bodyPr>
          <a:lstStyle/>
          <a:p>
            <a:pPr marL="12700" lvl="0" indent="0"/>
            <a:r>
              <a:rPr lang="en-US" sz="2800" dirty="0" smtClean="0">
                <a:latin typeface="+mj-lt"/>
              </a:rPr>
              <a:t>Training: </a:t>
            </a:r>
            <a:r>
              <a:rPr lang="en-US" sz="2800" u="none" dirty="0">
                <a:latin typeface="+mj-lt"/>
              </a:rPr>
              <a:t>500,000 </a:t>
            </a:r>
            <a:r>
              <a:rPr lang="en-US" sz="2800" u="none" dirty="0" err="1" smtClean="0">
                <a:latin typeface="+mj-lt"/>
              </a:rPr>
              <a:t>utterences</a:t>
            </a:r>
            <a:r>
              <a:rPr lang="en-US" sz="2800" u="none" dirty="0" smtClean="0">
                <a:latin typeface="+mj-lt"/>
              </a:rPr>
              <a:t> from:</a:t>
            </a:r>
            <a:endParaRPr sz="2800" dirty="0">
              <a:latin typeface="+mj-lt"/>
            </a:endParaRPr>
          </a:p>
          <a:p>
            <a:pPr marL="0" lvl="0" indent="0" algn="l" rtl="0">
              <a:lnSpc>
                <a:spcPct val="100000"/>
              </a:lnSpc>
              <a:spcBef>
                <a:spcPts val="2585"/>
              </a:spcBef>
              <a:spcAft>
                <a:spcPts val="0"/>
              </a:spcAft>
              <a:buSzPts val="1400"/>
              <a:buNone/>
            </a:pPr>
            <a:r>
              <a:rPr lang="en-US" sz="2800" u="none" dirty="0" smtClean="0">
                <a:latin typeface="+mj-lt"/>
              </a:rPr>
              <a:t>- Purchased </a:t>
            </a:r>
            <a:r>
              <a:rPr lang="en-US" sz="2800" u="none" dirty="0">
                <a:latin typeface="+mj-lt"/>
              </a:rPr>
              <a:t>data</a:t>
            </a:r>
            <a:endParaRPr sz="2800" dirty="0">
              <a:latin typeface="+mj-lt"/>
            </a:endParaRPr>
          </a:p>
          <a:p>
            <a:pPr marL="0" marR="5080" lvl="0" indent="0">
              <a:lnSpc>
                <a:spcPct val="167400"/>
              </a:lnSpc>
              <a:spcBef>
                <a:spcPts val="5"/>
              </a:spcBef>
            </a:pPr>
            <a:r>
              <a:rPr lang="en-US" sz="2800" u="none" dirty="0">
                <a:latin typeface="+mj-lt"/>
              </a:rPr>
              <a:t>- </a:t>
            </a:r>
            <a:r>
              <a:rPr lang="en-US" sz="2800" u="none" dirty="0" smtClean="0">
                <a:latin typeface="+mj-lt"/>
              </a:rPr>
              <a:t>Smart </a:t>
            </a:r>
            <a:r>
              <a:rPr lang="en-US" sz="2800" u="none" dirty="0">
                <a:latin typeface="+mj-lt"/>
              </a:rPr>
              <a:t>voice activated speakers </a:t>
            </a:r>
            <a:endParaRPr lang="en-US" sz="2800" u="none" dirty="0" smtClean="0">
              <a:latin typeface="+mj-lt"/>
            </a:endParaRPr>
          </a:p>
          <a:p>
            <a:pPr marL="0" marR="5080" lvl="0" indent="0">
              <a:lnSpc>
                <a:spcPct val="167400"/>
              </a:lnSpc>
              <a:spcBef>
                <a:spcPts val="5"/>
              </a:spcBef>
            </a:pPr>
            <a:r>
              <a:rPr lang="en-US" sz="2800" u="none" dirty="0">
                <a:latin typeface="+mj-lt"/>
              </a:rPr>
              <a:t>- V</a:t>
            </a:r>
            <a:r>
              <a:rPr lang="en-US" sz="2800" u="none" dirty="0" smtClean="0">
                <a:latin typeface="+mj-lt"/>
              </a:rPr>
              <a:t>oice </a:t>
            </a:r>
            <a:r>
              <a:rPr lang="en-US" sz="2800" u="none" dirty="0">
                <a:latin typeface="+mj-lt"/>
              </a:rPr>
              <a:t>activated keyboards</a:t>
            </a:r>
            <a:endParaRPr sz="2800" dirty="0">
              <a:latin typeface="+mj-lt"/>
            </a:endParaRPr>
          </a:p>
          <a:p>
            <a:pPr marL="0" lvl="0" indent="0" algn="l" rtl="0">
              <a:lnSpc>
                <a:spcPct val="100000"/>
              </a:lnSpc>
              <a:spcBef>
                <a:spcPts val="2595"/>
              </a:spcBef>
              <a:spcAft>
                <a:spcPts val="0"/>
              </a:spcAft>
              <a:buSzPts val="1400"/>
              <a:buNone/>
            </a:pPr>
            <a:r>
              <a:rPr lang="en-US" sz="2800" u="none" dirty="0">
                <a:latin typeface="+mj-lt"/>
              </a:rPr>
              <a:t>…</a:t>
            </a:r>
            <a:endParaRPr sz="2800" dirty="0">
              <a:latin typeface="+mj-lt"/>
            </a:endParaRPr>
          </a:p>
        </p:txBody>
      </p:sp>
      <p:sp>
        <p:nvSpPr>
          <p:cNvPr id="271" name="Google Shape;271;p32"/>
          <p:cNvSpPr txBox="1"/>
          <p:nvPr/>
        </p:nvSpPr>
        <p:spPr>
          <a:xfrm>
            <a:off x="6770451" y="2597786"/>
            <a:ext cx="5262664" cy="2112630"/>
          </a:xfrm>
          <a:prstGeom prst="rect">
            <a:avLst/>
          </a:prstGeom>
          <a:noFill/>
          <a:ln>
            <a:noFill/>
          </a:ln>
        </p:spPr>
        <p:txBody>
          <a:bodyPr spcFirstLastPara="1" wrap="square" lIns="0" tIns="12700" rIns="0" bIns="0" anchor="t" anchorCtr="0">
            <a:spAutoFit/>
          </a:bodyPr>
          <a:lstStyle/>
          <a:p>
            <a:pPr marL="12700" lvl="0">
              <a:buSzPts val="3200"/>
            </a:pPr>
            <a:r>
              <a:rPr lang="en-US" sz="2800" b="0" i="0" u="sng" strike="noStrike" cap="none" dirty="0" smtClean="0">
                <a:solidFill>
                  <a:srgbClr val="000000"/>
                </a:solidFill>
                <a:latin typeface="+mn-lt"/>
                <a:ea typeface="Cambria"/>
                <a:cs typeface="Cambria"/>
                <a:sym typeface="Cambria"/>
              </a:rPr>
              <a:t>Dev/test: </a:t>
            </a:r>
            <a:r>
              <a:rPr lang="en-US" sz="2800" dirty="0">
                <a:latin typeface="+mn-lt"/>
                <a:ea typeface="Cambria"/>
                <a:cs typeface="Cambria"/>
                <a:sym typeface="Cambria"/>
              </a:rPr>
              <a:t>20,000 </a:t>
            </a:r>
            <a:r>
              <a:rPr lang="en-US" sz="2800" dirty="0" err="1" smtClean="0">
                <a:latin typeface="+mn-lt"/>
                <a:ea typeface="Cambria"/>
                <a:cs typeface="Cambria"/>
                <a:sym typeface="Cambria"/>
              </a:rPr>
              <a:t>utterences</a:t>
            </a:r>
            <a:r>
              <a:rPr lang="en-US" sz="2800" dirty="0" smtClean="0">
                <a:latin typeface="+mn-lt"/>
                <a:ea typeface="Cambria"/>
                <a:cs typeface="Cambria"/>
                <a:sym typeface="Cambria"/>
              </a:rPr>
              <a:t> from: </a:t>
            </a:r>
            <a:endParaRPr sz="2800" b="0" i="0" u="none" strike="noStrike" cap="none" dirty="0">
              <a:solidFill>
                <a:srgbClr val="000000"/>
              </a:solidFill>
              <a:latin typeface="+mn-lt"/>
              <a:ea typeface="Cambria"/>
              <a:cs typeface="Cambria"/>
              <a:sym typeface="Cambria"/>
            </a:endParaRPr>
          </a:p>
          <a:p>
            <a:pPr marL="12700" marR="5080" lvl="0">
              <a:lnSpc>
                <a:spcPct val="101600"/>
              </a:lnSpc>
              <a:spcBef>
                <a:spcPts val="2805"/>
              </a:spcBef>
              <a:buSzPts val="3200"/>
            </a:pPr>
            <a:r>
              <a:rPr lang="en-US" sz="2800" dirty="0" smtClean="0">
                <a:latin typeface="+mn-lt"/>
                <a:ea typeface="Cambria"/>
                <a:cs typeface="Cambria"/>
                <a:sym typeface="Cambria"/>
              </a:rPr>
              <a:t>- A </a:t>
            </a:r>
            <a:r>
              <a:rPr lang="en-US" sz="2800" dirty="0">
                <a:latin typeface="+mn-lt"/>
                <a:ea typeface="Cambria"/>
                <a:cs typeface="Cambria"/>
                <a:sym typeface="Cambria"/>
              </a:rPr>
              <a:t>speech activated rearview mirror.</a:t>
            </a:r>
            <a:endParaRPr sz="2800" b="0" i="0" u="none" strike="noStrike" cap="none" dirty="0">
              <a:solidFill>
                <a:srgbClr val="000000"/>
              </a:solidFill>
              <a:latin typeface="+mn-lt"/>
              <a:ea typeface="Cambria"/>
              <a:cs typeface="Cambria"/>
              <a:sym typeface="Cambria"/>
            </a:endParaRPr>
          </a:p>
        </p:txBody>
      </p:sp>
      <p:pic>
        <p:nvPicPr>
          <p:cNvPr id="272" name="Google Shape;272;p32"/>
          <p:cNvPicPr preferRelativeResize="0"/>
          <p:nvPr/>
        </p:nvPicPr>
        <p:blipFill rotWithShape="1">
          <a:blip r:embed="rId3">
            <a:alphaModFix/>
          </a:blip>
          <a:srcRect/>
          <a:stretch/>
        </p:blipFill>
        <p:spPr>
          <a:xfrm>
            <a:off x="7554582" y="139702"/>
            <a:ext cx="3093554" cy="1845767"/>
          </a:xfrm>
          <a:prstGeom prst="rect">
            <a:avLst/>
          </a:prstGeom>
          <a:noFill/>
          <a:ln>
            <a:noFill/>
          </a:ln>
        </p:spPr>
      </p:pic>
      <p:pic>
        <p:nvPicPr>
          <p:cNvPr id="273" name="Google Shape;273;p32"/>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3" name="TextBox 2"/>
          <p:cNvSpPr txBox="1"/>
          <p:nvPr/>
        </p:nvSpPr>
        <p:spPr>
          <a:xfrm>
            <a:off x="261620" y="1079770"/>
            <a:ext cx="7206615" cy="523220"/>
          </a:xfrm>
          <a:prstGeom prst="rect">
            <a:avLst/>
          </a:prstGeom>
          <a:noFill/>
        </p:spPr>
        <p:txBody>
          <a:bodyPr wrap="square" rtlCol="0">
            <a:spAutoFit/>
          </a:bodyPr>
          <a:lstStyle/>
          <a:p>
            <a:r>
              <a:rPr lang="en-US" sz="2800" dirty="0" smtClean="0"/>
              <a:t>A </a:t>
            </a:r>
            <a:r>
              <a:rPr lang="en-US" sz="2800" dirty="0"/>
              <a:t>speech activated rearview mirror for a car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1"/>
          <p:cNvSpPr txBox="1">
            <a:spLocks noGrp="1"/>
          </p:cNvSpPr>
          <p:nvPr>
            <p:ph type="title"/>
          </p:nvPr>
        </p:nvSpPr>
        <p:spPr>
          <a:xfrm>
            <a:off x="228601" y="228600"/>
            <a:ext cx="8146914" cy="677108"/>
          </a:xfrm>
          <a:prstGeom prst="rect">
            <a:avLst/>
          </a:prstGeom>
          <a:noFill/>
          <a:ln>
            <a:noFill/>
          </a:ln>
        </p:spPr>
        <p:txBody>
          <a:bodyPr spcFirstLastPara="1" wrap="square" lIns="0" tIns="0" rIns="0" bIns="0" anchor="t" anchorCtr="0">
            <a:spAutoFit/>
          </a:bodyPr>
          <a:lstStyle/>
          <a:p>
            <a:pPr lvl="0"/>
            <a:r>
              <a:rPr lang="en-US" sz="4400" dirty="0">
                <a:ea typeface="Cambria"/>
                <a:cs typeface="Cambria"/>
                <a:sym typeface="Cambria"/>
              </a:rPr>
              <a:t>Speech recognition example</a:t>
            </a:r>
            <a:endParaRPr sz="4400" dirty="0">
              <a:latin typeface="+mj-lt"/>
            </a:endParaRPr>
          </a:p>
        </p:txBody>
      </p:sp>
      <p:pic>
        <p:nvPicPr>
          <p:cNvPr id="264" name="Google Shape;264;p3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TextBox 1"/>
          <p:cNvSpPr txBox="1"/>
          <p:nvPr/>
        </p:nvSpPr>
        <p:spPr>
          <a:xfrm>
            <a:off x="340468" y="1303506"/>
            <a:ext cx="11215992" cy="4524315"/>
          </a:xfrm>
          <a:prstGeom prst="rect">
            <a:avLst/>
          </a:prstGeom>
          <a:noFill/>
        </p:spPr>
        <p:txBody>
          <a:bodyPr wrap="square" rtlCol="0">
            <a:spAutoFit/>
          </a:bodyPr>
          <a:lstStyle/>
          <a:p>
            <a:r>
              <a:rPr lang="en-US" sz="2400" b="1" dirty="0" smtClean="0"/>
              <a:t>Option 1</a:t>
            </a:r>
            <a:r>
              <a:rPr lang="en-US" sz="2400" dirty="0"/>
              <a:t>: </a:t>
            </a:r>
            <a:r>
              <a:rPr lang="en-US" sz="2400" dirty="0" smtClean="0"/>
              <a:t>the training </a:t>
            </a:r>
            <a:r>
              <a:rPr lang="en-US" sz="2400" dirty="0"/>
              <a:t>set </a:t>
            </a:r>
            <a:r>
              <a:rPr lang="en-US" sz="2400" dirty="0" smtClean="0"/>
              <a:t>includes the </a:t>
            </a:r>
            <a:r>
              <a:rPr lang="en-US" sz="2400" dirty="0"/>
              <a:t>500,000 utterances </a:t>
            </a:r>
            <a:r>
              <a:rPr lang="en-US" sz="2400" dirty="0" smtClean="0"/>
              <a:t>and the dev </a:t>
            </a:r>
            <a:r>
              <a:rPr lang="en-US" sz="2400" dirty="0"/>
              <a:t>and test sets </a:t>
            </a:r>
            <a:r>
              <a:rPr lang="en-US" sz="2400" dirty="0" smtClean="0"/>
              <a:t>10,000 </a:t>
            </a:r>
            <a:r>
              <a:rPr lang="en-US" sz="2400" dirty="0"/>
              <a:t>utterances </a:t>
            </a:r>
            <a:r>
              <a:rPr lang="en-US" sz="2400" dirty="0" smtClean="0"/>
              <a:t>each.</a:t>
            </a:r>
            <a:endParaRPr lang="en-US" sz="2400" dirty="0"/>
          </a:p>
          <a:p>
            <a:r>
              <a:rPr lang="en-US" sz="2400" dirty="0" smtClean="0"/>
              <a:t>				</a:t>
            </a:r>
          </a:p>
          <a:p>
            <a:endParaRPr lang="en-US" sz="2400" dirty="0" smtClean="0"/>
          </a:p>
          <a:p>
            <a:endParaRPr lang="en-US" sz="2400" dirty="0" smtClean="0"/>
          </a:p>
          <a:p>
            <a:r>
              <a:rPr lang="en-US" sz="2400" dirty="0" smtClean="0"/>
              <a:t>				</a:t>
            </a:r>
            <a:r>
              <a:rPr lang="en-US" sz="2000" dirty="0" smtClean="0"/>
              <a:t>Train					       Dev	Test</a:t>
            </a:r>
          </a:p>
          <a:p>
            <a:r>
              <a:rPr lang="en-US" sz="2400" b="1" dirty="0"/>
              <a:t>Option 2</a:t>
            </a:r>
            <a:r>
              <a:rPr lang="en-US" sz="2400" dirty="0"/>
              <a:t>: the training set includes all 500 from there and 10,000 from the rearview mirror, the dev and test sets include 5,000 utterances each.			</a:t>
            </a:r>
          </a:p>
          <a:p>
            <a:endParaRPr lang="en-US" sz="2400" dirty="0"/>
          </a:p>
          <a:p>
            <a:r>
              <a:rPr lang="en-US" sz="2400" dirty="0"/>
              <a:t>			</a:t>
            </a:r>
          </a:p>
          <a:p>
            <a:r>
              <a:rPr lang="en-US" sz="2400" dirty="0"/>
              <a:t>				</a:t>
            </a:r>
            <a:r>
              <a:rPr lang="en-US" sz="2000" dirty="0" smtClean="0"/>
              <a:t>Train					        Dev</a:t>
            </a:r>
            <a:r>
              <a:rPr lang="en-US" sz="2000" dirty="0"/>
              <a:t>	Test</a:t>
            </a:r>
            <a:endParaRPr lang="en-US" sz="2400" dirty="0" smtClean="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78771489"/>
              </p:ext>
            </p:extLst>
          </p:nvPr>
        </p:nvGraphicFramePr>
        <p:xfrm>
          <a:off x="2032000" y="719666"/>
          <a:ext cx="8127999" cy="370840"/>
        </p:xfrm>
        <a:graphic>
          <a:graphicData uri="http://schemas.openxmlformats.org/drawingml/2006/table">
            <a:tbl>
              <a:tblPr firstRow="1" bandRow="1">
                <a:tableStyleId>{CFA8550C-8068-4A6D-9CC0-523924F090D1}</a:tableStyleId>
              </a:tblPr>
              <a:tblGrid>
                <a:gridCol w="2709333">
                  <a:extLst>
                    <a:ext uri="{9D8B030D-6E8A-4147-A177-3AD203B41FA5}">
                      <a16:colId xmlns:a16="http://schemas.microsoft.com/office/drawing/2014/main" val="4251534610"/>
                    </a:ext>
                  </a:extLst>
                </a:gridCol>
                <a:gridCol w="2709333">
                  <a:extLst>
                    <a:ext uri="{9D8B030D-6E8A-4147-A177-3AD203B41FA5}">
                      <a16:colId xmlns:a16="http://schemas.microsoft.com/office/drawing/2014/main" val="573876943"/>
                    </a:ext>
                  </a:extLst>
                </a:gridCol>
                <a:gridCol w="2709333">
                  <a:extLst>
                    <a:ext uri="{9D8B030D-6E8A-4147-A177-3AD203B41FA5}">
                      <a16:colId xmlns:a16="http://schemas.microsoft.com/office/drawing/2014/main" val="1135470223"/>
                    </a:ext>
                  </a:extLst>
                </a:gridCol>
              </a:tblGrid>
              <a:tr h="370840">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6260024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3735662"/>
              </p:ext>
            </p:extLst>
          </p:nvPr>
        </p:nvGraphicFramePr>
        <p:xfrm>
          <a:off x="646889" y="2418119"/>
          <a:ext cx="10603149" cy="661663"/>
        </p:xfrm>
        <a:graphic>
          <a:graphicData uri="http://schemas.openxmlformats.org/drawingml/2006/table">
            <a:tbl>
              <a:tblPr firstRow="1" bandRow="1">
                <a:tableStyleId>{CFA8550C-8068-4A6D-9CC0-523924F090D1}</a:tableStyleId>
              </a:tblPr>
              <a:tblGrid>
                <a:gridCol w="8120210">
                  <a:extLst>
                    <a:ext uri="{9D8B030D-6E8A-4147-A177-3AD203B41FA5}">
                      <a16:colId xmlns:a16="http://schemas.microsoft.com/office/drawing/2014/main" val="1098753503"/>
                    </a:ext>
                  </a:extLst>
                </a:gridCol>
                <a:gridCol w="1274429">
                  <a:extLst>
                    <a:ext uri="{9D8B030D-6E8A-4147-A177-3AD203B41FA5}">
                      <a16:colId xmlns:a16="http://schemas.microsoft.com/office/drawing/2014/main" val="1465610247"/>
                    </a:ext>
                  </a:extLst>
                </a:gridCol>
                <a:gridCol w="1208510">
                  <a:extLst>
                    <a:ext uri="{9D8B030D-6E8A-4147-A177-3AD203B41FA5}">
                      <a16:colId xmlns:a16="http://schemas.microsoft.com/office/drawing/2014/main" val="3104108687"/>
                    </a:ext>
                  </a:extLst>
                </a:gridCol>
              </a:tblGrid>
              <a:tr h="661663">
                <a:tc>
                  <a:txBody>
                    <a:bodyPr/>
                    <a:lstStyle/>
                    <a:p>
                      <a:pPr algn="ctr"/>
                      <a:r>
                        <a:rPr lang="en-US" sz="2400" b="1" dirty="0" smtClean="0"/>
                        <a:t>500,000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10,000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10,000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65441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467295509"/>
              </p:ext>
            </p:extLst>
          </p:nvPr>
        </p:nvGraphicFramePr>
        <p:xfrm>
          <a:off x="646888" y="4617209"/>
          <a:ext cx="10603149" cy="661663"/>
        </p:xfrm>
        <a:graphic>
          <a:graphicData uri="http://schemas.openxmlformats.org/drawingml/2006/table">
            <a:tbl>
              <a:tblPr firstRow="1" bandRow="1">
                <a:tableStyleId>{CFA8550C-8068-4A6D-9CC0-523924F090D1}</a:tableStyleId>
              </a:tblPr>
              <a:tblGrid>
                <a:gridCol w="8120210">
                  <a:extLst>
                    <a:ext uri="{9D8B030D-6E8A-4147-A177-3AD203B41FA5}">
                      <a16:colId xmlns:a16="http://schemas.microsoft.com/office/drawing/2014/main" val="1098753503"/>
                    </a:ext>
                  </a:extLst>
                </a:gridCol>
                <a:gridCol w="1274429">
                  <a:extLst>
                    <a:ext uri="{9D8B030D-6E8A-4147-A177-3AD203B41FA5}">
                      <a16:colId xmlns:a16="http://schemas.microsoft.com/office/drawing/2014/main" val="1465610247"/>
                    </a:ext>
                  </a:extLst>
                </a:gridCol>
                <a:gridCol w="1208510">
                  <a:extLst>
                    <a:ext uri="{9D8B030D-6E8A-4147-A177-3AD203B41FA5}">
                      <a16:colId xmlns:a16="http://schemas.microsoft.com/office/drawing/2014/main" val="3104108687"/>
                    </a:ext>
                  </a:extLst>
                </a:gridCol>
              </a:tblGrid>
              <a:tr h="661663">
                <a:tc>
                  <a:txBody>
                    <a:bodyPr/>
                    <a:lstStyle/>
                    <a:p>
                      <a:pPr algn="ctr"/>
                      <a:r>
                        <a:rPr lang="en-US" sz="2400" b="1" dirty="0" smtClean="0"/>
                        <a:t>500,000 + 10,000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5,000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smtClean="0"/>
                        <a:t>5,000</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654415"/>
                  </a:ext>
                </a:extLst>
              </a:tr>
            </a:tbl>
          </a:graphicData>
        </a:graphic>
      </p:graphicFrame>
    </p:spTree>
    <p:extLst>
      <p:ext uri="{BB962C8B-B14F-4D97-AF65-F5344CB8AC3E}">
        <p14:creationId xmlns:p14="http://schemas.microsoft.com/office/powerpoint/2010/main" val="1598744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1"/>
          <p:cNvSpPr txBox="1">
            <a:spLocks noGrp="1"/>
          </p:cNvSpPr>
          <p:nvPr>
            <p:ph type="title"/>
          </p:nvPr>
        </p:nvSpPr>
        <p:spPr>
          <a:xfrm>
            <a:off x="228601" y="228600"/>
            <a:ext cx="10505872" cy="1354217"/>
          </a:xfrm>
          <a:prstGeom prst="rect">
            <a:avLst/>
          </a:prstGeom>
          <a:noFill/>
          <a:ln>
            <a:noFill/>
          </a:ln>
        </p:spPr>
        <p:txBody>
          <a:bodyPr spcFirstLastPara="1" wrap="square" lIns="0" tIns="0" rIns="0" bIns="0" anchor="t" anchorCtr="0">
            <a:spAutoFit/>
          </a:bodyPr>
          <a:lstStyle/>
          <a:p>
            <a:pPr lvl="0"/>
            <a:r>
              <a:rPr lang="en-US" sz="4400" dirty="0">
                <a:ea typeface="Cambria"/>
                <a:cs typeface="Cambria"/>
                <a:sym typeface="Cambria"/>
              </a:rPr>
              <a:t>Training and testing on different </a:t>
            </a:r>
            <a:br>
              <a:rPr lang="en-US" sz="4400" dirty="0">
                <a:ea typeface="Cambria"/>
                <a:cs typeface="Cambria"/>
                <a:sym typeface="Cambria"/>
              </a:rPr>
            </a:br>
            <a:r>
              <a:rPr lang="en-US" sz="4400" dirty="0">
                <a:ea typeface="Cambria"/>
                <a:cs typeface="Cambria"/>
                <a:sym typeface="Cambria"/>
              </a:rPr>
              <a:t>distributions</a:t>
            </a:r>
          </a:p>
        </p:txBody>
      </p:sp>
      <p:pic>
        <p:nvPicPr>
          <p:cNvPr id="264" name="Google Shape;264;p3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TextBox 1"/>
          <p:cNvSpPr txBox="1"/>
          <p:nvPr/>
        </p:nvSpPr>
        <p:spPr>
          <a:xfrm>
            <a:off x="366408" y="2073883"/>
            <a:ext cx="11215992" cy="1200329"/>
          </a:xfrm>
          <a:prstGeom prst="rect">
            <a:avLst/>
          </a:prstGeom>
          <a:noFill/>
        </p:spPr>
        <p:txBody>
          <a:bodyPr wrap="square" rtlCol="0">
            <a:spAutoFit/>
          </a:bodyPr>
          <a:lstStyle/>
          <a:p>
            <a:r>
              <a:rPr lang="en-US" sz="2400" dirty="0" smtClean="0">
                <a:solidFill>
                  <a:schemeClr val="tx1"/>
                </a:solidFill>
              </a:rPr>
              <a:t>When </a:t>
            </a:r>
            <a:r>
              <a:rPr lang="en-US" sz="2400" dirty="0">
                <a:solidFill>
                  <a:schemeClr val="tx1"/>
                </a:solidFill>
              </a:rPr>
              <a:t>allowing your training set data to come from a different distribution than your dev and test set allows you to have much more training </a:t>
            </a:r>
            <a:r>
              <a:rPr lang="en-US" sz="2400" dirty="0" smtClean="0">
                <a:solidFill>
                  <a:schemeClr val="tx1"/>
                </a:solidFill>
              </a:rPr>
              <a:t>data and it </a:t>
            </a:r>
            <a:r>
              <a:rPr lang="en-US" sz="2400" dirty="0">
                <a:solidFill>
                  <a:schemeClr val="tx1"/>
                </a:solidFill>
              </a:rPr>
              <a:t>will cause your learning algorithm to perform </a:t>
            </a:r>
            <a:r>
              <a:rPr lang="en-US" sz="2400" dirty="0" smtClean="0">
                <a:solidFill>
                  <a:schemeClr val="tx1"/>
                </a:solidFill>
              </a:rPr>
              <a:t>better.</a:t>
            </a:r>
            <a:endParaRPr lang="en-US" sz="2400" dirty="0">
              <a:solidFill>
                <a:schemeClr val="tx1"/>
              </a:solidFil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78771489"/>
              </p:ext>
            </p:extLst>
          </p:nvPr>
        </p:nvGraphicFramePr>
        <p:xfrm>
          <a:off x="2032000" y="719666"/>
          <a:ext cx="8127999" cy="370840"/>
        </p:xfrm>
        <a:graphic>
          <a:graphicData uri="http://schemas.openxmlformats.org/drawingml/2006/table">
            <a:tbl>
              <a:tblPr firstRow="1" bandRow="1">
                <a:tableStyleId>{CFA8550C-8068-4A6D-9CC0-523924F090D1}</a:tableStyleId>
              </a:tblPr>
              <a:tblGrid>
                <a:gridCol w="2709333">
                  <a:extLst>
                    <a:ext uri="{9D8B030D-6E8A-4147-A177-3AD203B41FA5}">
                      <a16:colId xmlns:a16="http://schemas.microsoft.com/office/drawing/2014/main" val="4251534610"/>
                    </a:ext>
                  </a:extLst>
                </a:gridCol>
                <a:gridCol w="2709333">
                  <a:extLst>
                    <a:ext uri="{9D8B030D-6E8A-4147-A177-3AD203B41FA5}">
                      <a16:colId xmlns:a16="http://schemas.microsoft.com/office/drawing/2014/main" val="573876943"/>
                    </a:ext>
                  </a:extLst>
                </a:gridCol>
                <a:gridCol w="2709333">
                  <a:extLst>
                    <a:ext uri="{9D8B030D-6E8A-4147-A177-3AD203B41FA5}">
                      <a16:colId xmlns:a16="http://schemas.microsoft.com/office/drawing/2014/main" val="1135470223"/>
                    </a:ext>
                  </a:extLst>
                </a:gridCol>
              </a:tblGrid>
              <a:tr h="370840">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62600248"/>
                  </a:ext>
                </a:extLst>
              </a:tr>
            </a:tbl>
          </a:graphicData>
        </a:graphic>
      </p:graphicFrame>
    </p:spTree>
    <p:extLst>
      <p:ext uri="{BB962C8B-B14F-4D97-AF65-F5344CB8AC3E}">
        <p14:creationId xmlns:p14="http://schemas.microsoft.com/office/powerpoint/2010/main" val="1902869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77"/>
        <p:cNvGrpSpPr/>
        <p:nvPr/>
      </p:nvGrpSpPr>
      <p:grpSpPr>
        <a:xfrm>
          <a:off x="0" y="0"/>
          <a:ext cx="0" cy="0"/>
          <a:chOff x="0" y="0"/>
          <a:chExt cx="0" cy="0"/>
        </a:xfrm>
      </p:grpSpPr>
      <p:sp>
        <p:nvSpPr>
          <p:cNvPr id="278" name="Google Shape;278;p33"/>
          <p:cNvSpPr txBox="1"/>
          <p:nvPr/>
        </p:nvSpPr>
        <p:spPr>
          <a:xfrm>
            <a:off x="4791189" y="3479858"/>
            <a:ext cx="6998334" cy="2505814"/>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Clr>
                <a:srgbClr val="000000"/>
              </a:buClr>
              <a:buSzPts val="6000"/>
              <a:buFont typeface="Arial"/>
              <a:buNone/>
            </a:pPr>
            <a:r>
              <a:rPr lang="en-US" sz="5400" b="0" i="0" u="none" strike="noStrike" cap="none" dirty="0">
                <a:solidFill>
                  <a:srgbClr val="000000"/>
                </a:solidFill>
                <a:latin typeface="+mn-lt"/>
                <a:ea typeface="Calibri"/>
                <a:cs typeface="Calibri"/>
                <a:sym typeface="Calibri"/>
              </a:rPr>
              <a:t>Bias and Variance with mismatched data distributions</a:t>
            </a:r>
            <a:endParaRPr sz="5400" b="0" i="0" u="none" strike="noStrike" cap="none" dirty="0">
              <a:solidFill>
                <a:srgbClr val="000000"/>
              </a:solidFill>
              <a:latin typeface="+mn-lt"/>
              <a:ea typeface="Calibri"/>
              <a:cs typeface="Calibri"/>
              <a:sym typeface="Calibri"/>
            </a:endParaRPr>
          </a:p>
        </p:txBody>
      </p:sp>
      <p:sp>
        <p:nvSpPr>
          <p:cNvPr id="279" name="Google Shape;279;p33"/>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80" name="Google Shape;280;p33"/>
          <p:cNvSpPr txBox="1">
            <a:spLocks noGrp="1"/>
          </p:cNvSpPr>
          <p:nvPr>
            <p:ph type="body" idx="1"/>
          </p:nvPr>
        </p:nvSpPr>
        <p:spPr>
          <a:xfrm>
            <a:off x="618166" y="1300611"/>
            <a:ext cx="11457102" cy="2109808"/>
          </a:xfrm>
          <a:prstGeom prst="rect">
            <a:avLst/>
          </a:prstGeom>
          <a:noFill/>
          <a:ln>
            <a:noFill/>
          </a:ln>
        </p:spPr>
        <p:txBody>
          <a:bodyPr spcFirstLastPara="1" wrap="square" lIns="0" tIns="114300" rIns="0" bIns="0" anchor="t" anchorCtr="0">
            <a:spAutoFit/>
          </a:bodyPr>
          <a:lstStyle/>
          <a:p>
            <a:pPr marL="4866005" marR="5080" lvl="0" indent="-465453" algn="l" rtl="0">
              <a:lnSpc>
                <a:spcPct val="108333"/>
              </a:lnSpc>
              <a:spcBef>
                <a:spcPts val="0"/>
              </a:spcBef>
              <a:spcAft>
                <a:spcPts val="0"/>
              </a:spcAft>
              <a:buSzPts val="1400"/>
              <a:buNone/>
            </a:pPr>
            <a:r>
              <a:rPr lang="en-US" dirty="0">
                <a:latin typeface="+mj-lt"/>
              </a:rPr>
              <a:t>Mismatched training and	dev/test data</a:t>
            </a:r>
            <a:endParaRPr dirty="0">
              <a:latin typeface="+mj-lt"/>
            </a:endParaRPr>
          </a:p>
        </p:txBody>
      </p:sp>
      <p:pic>
        <p:nvPicPr>
          <p:cNvPr id="281" name="Google Shape;281;p33"/>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85"/>
        <p:cNvGrpSpPr/>
        <p:nvPr/>
      </p:nvGrpSpPr>
      <p:grpSpPr>
        <a:xfrm>
          <a:off x="0" y="0"/>
          <a:ext cx="0" cy="0"/>
          <a:chOff x="0" y="0"/>
          <a:chExt cx="0" cy="0"/>
        </a:xfrm>
      </p:grpSpPr>
      <p:pic>
        <p:nvPicPr>
          <p:cNvPr id="286" name="Google Shape;286;p3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87" name="Google Shape;287;p34"/>
          <p:cNvSpPr txBox="1"/>
          <p:nvPr/>
        </p:nvSpPr>
        <p:spPr>
          <a:xfrm>
            <a:off x="200225" y="63221"/>
            <a:ext cx="10534200" cy="1538853"/>
          </a:xfrm>
          <a:prstGeom prst="rect">
            <a:avLst/>
          </a:prstGeom>
          <a:noFill/>
          <a:ln>
            <a:noFill/>
          </a:ln>
        </p:spPr>
        <p:txBody>
          <a:bodyPr spcFirstLastPara="1" wrap="square" lIns="91425" tIns="91425" rIns="91425" bIns="91425" anchor="t" anchorCtr="0">
            <a:spAutoFit/>
          </a:bodyPr>
          <a:lstStyle/>
          <a:p>
            <a:pPr marL="12700" marR="5080" lvl="0" indent="0" algn="ctr" rtl="0">
              <a:spcBef>
                <a:spcPts val="0"/>
              </a:spcBef>
              <a:spcAft>
                <a:spcPts val="0"/>
              </a:spcAft>
              <a:buClr>
                <a:schemeClr val="dk1"/>
              </a:buClr>
              <a:buSzPts val="6000"/>
              <a:buFont typeface="Arial"/>
              <a:buNone/>
            </a:pPr>
            <a:r>
              <a:rPr lang="en-US" sz="4400" dirty="0">
                <a:solidFill>
                  <a:schemeClr val="dk1"/>
                </a:solidFill>
                <a:latin typeface="+mj-lt"/>
                <a:ea typeface="Calibri"/>
                <a:cs typeface="Calibri"/>
                <a:sym typeface="Calibri"/>
              </a:rPr>
              <a:t>Bias and Variance with mismatched data distributions</a:t>
            </a:r>
            <a:endParaRPr sz="4400" dirty="0">
              <a:solidFill>
                <a:schemeClr val="dk1"/>
              </a:solidFill>
              <a:latin typeface="+mj-lt"/>
              <a:ea typeface="Calibri"/>
              <a:cs typeface="Calibri"/>
              <a:sym typeface="Calibri"/>
            </a:endParaRPr>
          </a:p>
        </p:txBody>
      </p:sp>
      <p:sp>
        <p:nvSpPr>
          <p:cNvPr id="2" name="TextBox 1"/>
          <p:cNvSpPr txBox="1"/>
          <p:nvPr/>
        </p:nvSpPr>
        <p:spPr>
          <a:xfrm>
            <a:off x="391885" y="2039815"/>
            <a:ext cx="11374734"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t>To assess bias and variance discrepancies arising from different data distributions, a training-dev set, reflecting the training set's distribution, can be utilized</a:t>
            </a:r>
            <a:r>
              <a:rPr lang="en-US" sz="2400"/>
              <a:t>. </a:t>
            </a:r>
            <a:endParaRPr lang="en-US" sz="2400" smtClean="0"/>
          </a:p>
          <a:p>
            <a:pPr marL="342900" indent="-342900">
              <a:buFont typeface="Arial" panose="020B0604020202020204" pitchFamily="34" charset="0"/>
              <a:buChar char="•"/>
            </a:pPr>
            <a:r>
              <a:rPr lang="en-US" sz="2400" smtClean="0"/>
              <a:t>Analyzing </a:t>
            </a:r>
            <a:r>
              <a:rPr lang="en-US" sz="2400" dirty="0"/>
              <a:t>the classifier's errors on the training, training-dev, and dev sets aids in identifying avoidable bias, variance, and data mismatch issues. Addressing data mismatch involves monitoring the model's performance and making necessary adjustments to enhance its generalization.</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99"/>
        <p:cNvGrpSpPr/>
        <p:nvPr/>
      </p:nvGrpSpPr>
      <p:grpSpPr>
        <a:xfrm>
          <a:off x="0" y="0"/>
          <a:ext cx="0" cy="0"/>
          <a:chOff x="0" y="0"/>
          <a:chExt cx="0" cy="0"/>
        </a:xfrm>
      </p:grpSpPr>
      <p:sp>
        <p:nvSpPr>
          <p:cNvPr id="300" name="Google Shape;300;p36"/>
          <p:cNvSpPr txBox="1">
            <a:spLocks noGrp="1"/>
          </p:cNvSpPr>
          <p:nvPr>
            <p:ph type="title"/>
          </p:nvPr>
        </p:nvSpPr>
        <p:spPr>
          <a:xfrm>
            <a:off x="261620" y="139700"/>
            <a:ext cx="57492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Cat classifier example</a:t>
            </a:r>
            <a:endParaRPr sz="4400" dirty="0">
              <a:latin typeface="+mj-lt"/>
              <a:ea typeface="Cambria"/>
              <a:cs typeface="Cambria"/>
              <a:sym typeface="Cambria"/>
            </a:endParaRPr>
          </a:p>
        </p:txBody>
      </p:sp>
      <p:sp>
        <p:nvSpPr>
          <p:cNvPr id="301" name="Google Shape;301;p36"/>
          <p:cNvSpPr txBox="1"/>
          <p:nvPr/>
        </p:nvSpPr>
        <p:spPr>
          <a:xfrm>
            <a:off x="261620" y="1018247"/>
            <a:ext cx="5271000" cy="1522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000000"/>
                </a:solidFill>
                <a:latin typeface="Cambria"/>
                <a:ea typeface="Cambria"/>
                <a:cs typeface="Cambria"/>
                <a:sym typeface="Cambria"/>
              </a:rPr>
              <a:t>Assume humans get </a:t>
            </a:r>
            <a:r>
              <a:rPr lang="en-US" sz="2800" b="0" i="0" u="none" strike="noStrike" cap="none" dirty="0">
                <a:solidFill>
                  <a:srgbClr val="000000"/>
                </a:solidFill>
                <a:latin typeface="Tahoma"/>
                <a:ea typeface="Tahoma"/>
                <a:cs typeface="Tahoma"/>
                <a:sym typeface="Tahoma"/>
              </a:rPr>
              <a:t>≈ </a:t>
            </a:r>
            <a:r>
              <a:rPr lang="en-US" sz="2800" b="0" i="0" u="none" strike="noStrike" cap="none" dirty="0">
                <a:solidFill>
                  <a:srgbClr val="000000"/>
                </a:solidFill>
                <a:latin typeface="Cambria"/>
                <a:ea typeface="Cambria"/>
                <a:cs typeface="Cambria"/>
                <a:sym typeface="Cambria"/>
              </a:rPr>
              <a:t>0% error.</a:t>
            </a:r>
            <a:endParaRPr sz="2650" b="0" i="0" u="none" strike="noStrike" cap="none" dirty="0">
              <a:solidFill>
                <a:srgbClr val="000000"/>
              </a:solidFill>
              <a:latin typeface="Cambria"/>
              <a:ea typeface="Cambria"/>
              <a:cs typeface="Cambria"/>
              <a:sym typeface="Cambria"/>
            </a:endParaRPr>
          </a:p>
          <a:p>
            <a:pPr marL="261620" marR="2289810" lvl="0" indent="0" algn="l" rtl="0">
              <a:lnSpc>
                <a:spcPct val="118750"/>
              </a:lnSpc>
              <a:spcBef>
                <a:spcPts val="5"/>
              </a:spcBef>
              <a:spcAft>
                <a:spcPts val="0"/>
              </a:spcAft>
              <a:buClr>
                <a:srgbClr val="000000"/>
              </a:buClr>
              <a:buSzPts val="3200"/>
              <a:buFont typeface="Arial"/>
              <a:buNone/>
            </a:pPr>
            <a:r>
              <a:rPr lang="en-US" sz="3200" b="0" i="0" u="none" strike="noStrike" cap="none" dirty="0">
                <a:solidFill>
                  <a:srgbClr val="000000"/>
                </a:solidFill>
                <a:latin typeface="Cambria"/>
                <a:ea typeface="Cambria"/>
                <a:cs typeface="Cambria"/>
                <a:sym typeface="Cambria"/>
              </a:rPr>
              <a:t>Training error </a:t>
            </a:r>
            <a:endParaRPr sz="1400" b="0" i="0" u="none" strike="noStrike" cap="none" dirty="0">
              <a:solidFill>
                <a:srgbClr val="000000"/>
              </a:solidFill>
              <a:latin typeface="Arial"/>
              <a:ea typeface="Arial"/>
              <a:cs typeface="Arial"/>
              <a:sym typeface="Arial"/>
            </a:endParaRPr>
          </a:p>
          <a:p>
            <a:pPr marL="261620" marR="2289810" lvl="0" indent="0" algn="l" rtl="0">
              <a:lnSpc>
                <a:spcPct val="118750"/>
              </a:lnSpc>
              <a:spcBef>
                <a:spcPts val="5"/>
              </a:spcBef>
              <a:spcAft>
                <a:spcPts val="0"/>
              </a:spcAft>
              <a:buClr>
                <a:srgbClr val="000000"/>
              </a:buClr>
              <a:buSzPts val="3200"/>
              <a:buFont typeface="Arial"/>
              <a:buNone/>
            </a:pPr>
            <a:r>
              <a:rPr lang="en-US" sz="3200" b="0" i="0" u="none" strike="noStrike" cap="none" dirty="0">
                <a:solidFill>
                  <a:srgbClr val="000000"/>
                </a:solidFill>
                <a:latin typeface="Cambria"/>
                <a:ea typeface="Cambria"/>
                <a:cs typeface="Cambria"/>
                <a:sym typeface="Cambria"/>
              </a:rPr>
              <a:t> Dev error</a:t>
            </a:r>
            <a:endParaRPr sz="3200" b="0" i="0" u="none" strike="noStrike" cap="none" dirty="0">
              <a:solidFill>
                <a:srgbClr val="000000"/>
              </a:solidFill>
              <a:latin typeface="Cambria"/>
              <a:ea typeface="Cambria"/>
              <a:cs typeface="Cambria"/>
              <a:sym typeface="Cambria"/>
            </a:endParaRPr>
          </a:p>
        </p:txBody>
      </p:sp>
      <p:sp>
        <p:nvSpPr>
          <p:cNvPr id="302" name="Google Shape;302;p36"/>
          <p:cNvSpPr txBox="1"/>
          <p:nvPr/>
        </p:nvSpPr>
        <p:spPr>
          <a:xfrm>
            <a:off x="511007" y="4273105"/>
            <a:ext cx="11136532" cy="1003721"/>
          </a:xfrm>
          <a:prstGeom prst="rect">
            <a:avLst/>
          </a:prstGeom>
          <a:noFill/>
          <a:ln>
            <a:noFill/>
          </a:ln>
        </p:spPr>
        <p:txBody>
          <a:bodyPr spcFirstLastPara="1" wrap="square" lIns="0" tIns="8875" rIns="0" bIns="0" anchor="t" anchorCtr="0">
            <a:spAutoFit/>
          </a:bodyPr>
          <a:lstStyle/>
          <a:p>
            <a:pPr marL="12700" marR="5080" lvl="0" indent="0" algn="l" rtl="0">
              <a:lnSpc>
                <a:spcPct val="100699"/>
              </a:lnSpc>
              <a:spcBef>
                <a:spcPts val="0"/>
              </a:spcBef>
              <a:spcAft>
                <a:spcPts val="0"/>
              </a:spcAft>
              <a:buClr>
                <a:srgbClr val="000000"/>
              </a:buClr>
              <a:buSzPts val="3200"/>
              <a:buFont typeface="Arial"/>
              <a:buNone/>
            </a:pPr>
            <a:r>
              <a:rPr lang="en-US" sz="3200" b="0" i="0" u="none" strike="noStrike" cap="none" dirty="0">
                <a:solidFill>
                  <a:srgbClr val="000000"/>
                </a:solidFill>
                <a:latin typeface="+mn-lt"/>
                <a:ea typeface="Cambria"/>
                <a:cs typeface="Cambria"/>
                <a:sym typeface="Cambria"/>
              </a:rPr>
              <a:t>Training-dev set: Same distribution as training set, but not used for training</a:t>
            </a:r>
            <a:endParaRPr sz="3200" b="0" i="0" u="none" strike="noStrike" cap="none" dirty="0">
              <a:solidFill>
                <a:srgbClr val="000000"/>
              </a:solidFill>
              <a:latin typeface="+mn-lt"/>
              <a:ea typeface="Cambria"/>
              <a:cs typeface="Cambria"/>
              <a:sym typeface="Cambria"/>
            </a:endParaRPr>
          </a:p>
        </p:txBody>
      </p:sp>
      <p:pic>
        <p:nvPicPr>
          <p:cNvPr id="303" name="Google Shape;303;p36"/>
          <p:cNvPicPr preferRelativeResize="0"/>
          <p:nvPr/>
        </p:nvPicPr>
        <p:blipFill rotWithShape="1">
          <a:blip r:embed="rId3">
            <a:alphaModFix/>
          </a:blip>
          <a:srcRect/>
          <a:stretch/>
        </p:blipFill>
        <p:spPr>
          <a:xfrm>
            <a:off x="3810000" y="1439755"/>
            <a:ext cx="649556" cy="575320"/>
          </a:xfrm>
          <a:prstGeom prst="rect">
            <a:avLst/>
          </a:prstGeom>
          <a:noFill/>
          <a:ln>
            <a:noFill/>
          </a:ln>
        </p:spPr>
      </p:pic>
      <p:pic>
        <p:nvPicPr>
          <p:cNvPr id="304" name="Google Shape;304;p36"/>
          <p:cNvPicPr preferRelativeResize="0"/>
          <p:nvPr/>
        </p:nvPicPr>
        <p:blipFill rotWithShape="1">
          <a:blip r:embed="rId4">
            <a:alphaModFix/>
          </a:blip>
          <a:srcRect/>
          <a:stretch/>
        </p:blipFill>
        <p:spPr>
          <a:xfrm>
            <a:off x="3860450" y="1969113"/>
            <a:ext cx="649556" cy="467470"/>
          </a:xfrm>
          <a:prstGeom prst="rect">
            <a:avLst/>
          </a:prstGeom>
          <a:noFill/>
          <a:ln>
            <a:noFill/>
          </a:ln>
        </p:spPr>
      </p:pic>
      <p:pic>
        <p:nvPicPr>
          <p:cNvPr id="305" name="Google Shape;305;p36"/>
          <p:cNvPicPr preferRelativeResize="0"/>
          <p:nvPr/>
        </p:nvPicPr>
        <p:blipFill rotWithShape="1">
          <a:blip r:embed="rId5">
            <a:alphaModFix/>
          </a:blip>
          <a:srcRect/>
          <a:stretch/>
        </p:blipFill>
        <p:spPr>
          <a:xfrm>
            <a:off x="6934200" y="1153194"/>
            <a:ext cx="3078950" cy="415300"/>
          </a:xfrm>
          <a:prstGeom prst="rect">
            <a:avLst/>
          </a:prstGeom>
          <a:noFill/>
          <a:ln>
            <a:noFill/>
          </a:ln>
        </p:spPr>
      </p:pic>
      <p:pic>
        <p:nvPicPr>
          <p:cNvPr id="306" name="Google Shape;306;p36"/>
          <p:cNvPicPr preferRelativeResize="0"/>
          <p:nvPr/>
        </p:nvPicPr>
        <p:blipFill rotWithShape="1">
          <a:blip r:embed="rId6">
            <a:alphaModFix/>
          </a:blip>
          <a:srcRect/>
          <a:stretch/>
        </p:blipFill>
        <p:spPr>
          <a:xfrm>
            <a:off x="5778909" y="1969112"/>
            <a:ext cx="4875949" cy="496149"/>
          </a:xfrm>
          <a:prstGeom prst="rect">
            <a:avLst/>
          </a:prstGeom>
          <a:noFill/>
          <a:ln>
            <a:noFill/>
          </a:ln>
        </p:spPr>
      </p:pic>
      <p:pic>
        <p:nvPicPr>
          <p:cNvPr id="307" name="Google Shape;307;p36"/>
          <p:cNvPicPr preferRelativeResize="0"/>
          <p:nvPr/>
        </p:nvPicPr>
        <p:blipFill rotWithShape="1">
          <a:blip r:embed="rId7">
            <a:alphaModFix/>
          </a:blip>
          <a:srcRect/>
          <a:stretch/>
        </p:blipFill>
        <p:spPr>
          <a:xfrm>
            <a:off x="6946500" y="2767119"/>
            <a:ext cx="3873058" cy="585681"/>
          </a:xfrm>
          <a:prstGeom prst="rect">
            <a:avLst/>
          </a:prstGeom>
          <a:noFill/>
          <a:ln>
            <a:noFill/>
          </a:ln>
        </p:spPr>
      </p:pic>
      <p:pic>
        <p:nvPicPr>
          <p:cNvPr id="308" name="Google Shape;308;p36"/>
          <p:cNvPicPr preferRelativeResize="0"/>
          <p:nvPr/>
        </p:nvPicPr>
        <p:blipFill rotWithShape="1">
          <a:blip r:embed="rId8">
            <a:alphaModFix/>
          </a:blip>
          <a:srcRect/>
          <a:stretch/>
        </p:blipFill>
        <p:spPr>
          <a:xfrm>
            <a:off x="7606445" y="1594299"/>
            <a:ext cx="1030430" cy="290945"/>
          </a:xfrm>
          <a:prstGeom prst="rect">
            <a:avLst/>
          </a:prstGeom>
          <a:noFill/>
          <a:ln>
            <a:noFill/>
          </a:ln>
        </p:spPr>
      </p:pic>
      <p:cxnSp>
        <p:nvCxnSpPr>
          <p:cNvPr id="309" name="Google Shape;309;p36"/>
          <p:cNvCxnSpPr/>
          <p:nvPr/>
        </p:nvCxnSpPr>
        <p:spPr>
          <a:xfrm>
            <a:off x="8883029" y="1559995"/>
            <a:ext cx="0" cy="446700"/>
          </a:xfrm>
          <a:prstGeom prst="straightConnector1">
            <a:avLst/>
          </a:prstGeom>
          <a:noFill/>
          <a:ln w="9525" cap="flat" cmpd="sng">
            <a:solidFill>
              <a:srgbClr val="4A7DBA"/>
            </a:solidFill>
            <a:prstDash val="solid"/>
            <a:round/>
            <a:headEnd type="triangle" w="med" len="med"/>
            <a:tailEnd type="triangle" w="med" len="med"/>
          </a:ln>
        </p:spPr>
      </p:cxnSp>
      <p:pic>
        <p:nvPicPr>
          <p:cNvPr id="310" name="Google Shape;310;p36"/>
          <p:cNvPicPr preferRelativeResize="0"/>
          <p:nvPr/>
        </p:nvPicPr>
        <p:blipFill rotWithShape="1">
          <a:blip r:embed="rId8">
            <a:alphaModFix/>
          </a:blip>
          <a:srcRect/>
          <a:stretch/>
        </p:blipFill>
        <p:spPr>
          <a:xfrm>
            <a:off x="8367814" y="3453240"/>
            <a:ext cx="1030430" cy="290945"/>
          </a:xfrm>
          <a:prstGeom prst="rect">
            <a:avLst/>
          </a:prstGeom>
          <a:noFill/>
          <a:ln>
            <a:noFill/>
          </a:ln>
        </p:spPr>
      </p:pic>
      <p:cxnSp>
        <p:nvCxnSpPr>
          <p:cNvPr id="311" name="Google Shape;311;p36"/>
          <p:cNvCxnSpPr/>
          <p:nvPr/>
        </p:nvCxnSpPr>
        <p:spPr>
          <a:xfrm>
            <a:off x="9988569" y="1563088"/>
            <a:ext cx="0" cy="446700"/>
          </a:xfrm>
          <a:prstGeom prst="straightConnector1">
            <a:avLst/>
          </a:prstGeom>
          <a:noFill/>
          <a:ln w="9525" cap="flat" cmpd="sng">
            <a:solidFill>
              <a:srgbClr val="4A7DBA"/>
            </a:solidFill>
            <a:prstDash val="solid"/>
            <a:round/>
            <a:headEnd type="triangle" w="med" len="med"/>
            <a:tailEnd type="triangle" w="med" len="med"/>
          </a:ln>
        </p:spPr>
      </p:cxnSp>
      <p:cxnSp>
        <p:nvCxnSpPr>
          <p:cNvPr id="312" name="Google Shape;312;p36"/>
          <p:cNvCxnSpPr/>
          <p:nvPr/>
        </p:nvCxnSpPr>
        <p:spPr>
          <a:xfrm>
            <a:off x="9988569" y="2465261"/>
            <a:ext cx="0" cy="446700"/>
          </a:xfrm>
          <a:prstGeom prst="straightConnector1">
            <a:avLst/>
          </a:prstGeom>
          <a:noFill/>
          <a:ln w="9525" cap="flat" cmpd="sng">
            <a:solidFill>
              <a:srgbClr val="4A7DBA"/>
            </a:solidFill>
            <a:prstDash val="solid"/>
            <a:round/>
            <a:headEnd type="triangle" w="med" len="med"/>
            <a:tailEnd type="triangle" w="med" len="med"/>
          </a:ln>
        </p:spPr>
      </p:cxnSp>
      <p:pic>
        <p:nvPicPr>
          <p:cNvPr id="313" name="Google Shape;313;p36"/>
          <p:cNvPicPr preferRelativeResize="0"/>
          <p:nvPr/>
        </p:nvPicPr>
        <p:blipFill rotWithShape="1">
          <a:blip r:embed="rId9">
            <a:alphaModFix/>
          </a:blip>
          <a:srcRect/>
          <a:stretch/>
        </p:blipFill>
        <p:spPr>
          <a:xfrm>
            <a:off x="10134600" y="2509751"/>
            <a:ext cx="1512939" cy="304764"/>
          </a:xfrm>
          <a:prstGeom prst="rect">
            <a:avLst/>
          </a:prstGeom>
          <a:noFill/>
          <a:ln>
            <a:noFill/>
          </a:ln>
        </p:spPr>
      </p:pic>
      <p:pic>
        <p:nvPicPr>
          <p:cNvPr id="314" name="Google Shape;314;p36"/>
          <p:cNvPicPr preferRelativeResize="0"/>
          <p:nvPr/>
        </p:nvPicPr>
        <p:blipFill rotWithShape="1">
          <a:blip r:embed="rId10">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18"/>
        <p:cNvGrpSpPr/>
        <p:nvPr/>
      </p:nvGrpSpPr>
      <p:grpSpPr>
        <a:xfrm>
          <a:off x="0" y="0"/>
          <a:ext cx="0" cy="0"/>
          <a:chOff x="0" y="0"/>
          <a:chExt cx="0" cy="0"/>
        </a:xfrm>
      </p:grpSpPr>
      <p:sp>
        <p:nvSpPr>
          <p:cNvPr id="319" name="Google Shape;319;p37"/>
          <p:cNvSpPr txBox="1">
            <a:spLocks noGrp="1"/>
          </p:cNvSpPr>
          <p:nvPr>
            <p:ph type="title"/>
          </p:nvPr>
        </p:nvSpPr>
        <p:spPr>
          <a:xfrm>
            <a:off x="261620" y="139700"/>
            <a:ext cx="11018520" cy="1560663"/>
          </a:xfrm>
          <a:prstGeom prst="rect">
            <a:avLst/>
          </a:prstGeom>
          <a:noFill/>
          <a:ln>
            <a:noFill/>
          </a:ln>
        </p:spPr>
        <p:txBody>
          <a:bodyPr spcFirstLastPara="1" wrap="square" lIns="0" tIns="83800" rIns="0" bIns="0" anchor="t" anchorCtr="0">
            <a:spAutoFit/>
          </a:bodyPr>
          <a:lstStyle/>
          <a:p>
            <a:pPr marL="12700" marR="5080" lvl="0" indent="0" algn="l" rtl="0">
              <a:lnSpc>
                <a:spcPct val="109090"/>
              </a:lnSpc>
              <a:spcBef>
                <a:spcPts val="0"/>
              </a:spcBef>
              <a:spcAft>
                <a:spcPts val="0"/>
              </a:spcAft>
              <a:buSzPts val="1400"/>
              <a:buNone/>
            </a:pPr>
            <a:r>
              <a:rPr lang="en-US" sz="4400" b="0" dirty="0">
                <a:latin typeface="+mj-lt"/>
                <a:ea typeface="Cambria"/>
                <a:cs typeface="Cambria"/>
                <a:sym typeface="Cambria"/>
              </a:rPr>
              <a:t>Bias/variance on mismatched training and dev/test sets</a:t>
            </a:r>
            <a:endParaRPr sz="4400" dirty="0">
              <a:latin typeface="+mj-lt"/>
              <a:ea typeface="Cambria"/>
              <a:cs typeface="Cambria"/>
              <a:sym typeface="Cambria"/>
            </a:endParaRPr>
          </a:p>
        </p:txBody>
      </p:sp>
      <p:pic>
        <p:nvPicPr>
          <p:cNvPr id="320" name="Google Shape;320;p37"/>
          <p:cNvPicPr preferRelativeResize="0"/>
          <p:nvPr/>
        </p:nvPicPr>
        <p:blipFill rotWithShape="1">
          <a:blip r:embed="rId3">
            <a:alphaModFix/>
          </a:blip>
          <a:srcRect/>
          <a:stretch/>
        </p:blipFill>
        <p:spPr>
          <a:xfrm>
            <a:off x="1524000" y="2971800"/>
            <a:ext cx="2278577" cy="1790855"/>
          </a:xfrm>
          <a:prstGeom prst="rect">
            <a:avLst/>
          </a:prstGeom>
          <a:noFill/>
          <a:ln>
            <a:noFill/>
          </a:ln>
        </p:spPr>
      </p:pic>
      <p:pic>
        <p:nvPicPr>
          <p:cNvPr id="321" name="Google Shape;321;p37"/>
          <p:cNvPicPr preferRelativeResize="0"/>
          <p:nvPr/>
        </p:nvPicPr>
        <p:blipFill rotWithShape="1">
          <a:blip r:embed="rId4">
            <a:alphaModFix/>
          </a:blip>
          <a:srcRect/>
          <a:stretch/>
        </p:blipFill>
        <p:spPr>
          <a:xfrm>
            <a:off x="2366696" y="2514600"/>
            <a:ext cx="2509346" cy="381000"/>
          </a:xfrm>
          <a:prstGeom prst="rect">
            <a:avLst/>
          </a:prstGeom>
          <a:noFill/>
          <a:ln>
            <a:noFill/>
          </a:ln>
        </p:spPr>
      </p:pic>
      <p:pic>
        <p:nvPicPr>
          <p:cNvPr id="322" name="Google Shape;322;p37"/>
          <p:cNvPicPr preferRelativeResize="0"/>
          <p:nvPr/>
        </p:nvPicPr>
        <p:blipFill rotWithShape="1">
          <a:blip r:embed="rId5">
            <a:alphaModFix/>
          </a:blip>
          <a:srcRect/>
          <a:stretch/>
        </p:blipFill>
        <p:spPr>
          <a:xfrm>
            <a:off x="2209800" y="4838855"/>
            <a:ext cx="2819400" cy="498457"/>
          </a:xfrm>
          <a:prstGeom prst="rect">
            <a:avLst/>
          </a:prstGeom>
          <a:noFill/>
          <a:ln>
            <a:noFill/>
          </a:ln>
        </p:spPr>
      </p:pic>
      <p:pic>
        <p:nvPicPr>
          <p:cNvPr id="323" name="Google Shape;323;p37"/>
          <p:cNvPicPr preferRelativeResize="0"/>
          <p:nvPr/>
        </p:nvPicPr>
        <p:blipFill rotWithShape="1">
          <a:blip r:embed="rId6">
            <a:alphaModFix/>
          </a:blip>
          <a:srcRect/>
          <a:stretch/>
        </p:blipFill>
        <p:spPr>
          <a:xfrm>
            <a:off x="4402115" y="3040479"/>
            <a:ext cx="441972" cy="343755"/>
          </a:xfrm>
          <a:prstGeom prst="rect">
            <a:avLst/>
          </a:prstGeom>
          <a:noFill/>
          <a:ln>
            <a:noFill/>
          </a:ln>
        </p:spPr>
      </p:pic>
      <p:pic>
        <p:nvPicPr>
          <p:cNvPr id="324" name="Google Shape;324;p37"/>
          <p:cNvPicPr preferRelativeResize="0"/>
          <p:nvPr/>
        </p:nvPicPr>
        <p:blipFill rotWithShape="1">
          <a:blip r:embed="rId7">
            <a:alphaModFix/>
          </a:blip>
          <a:srcRect/>
          <a:stretch/>
        </p:blipFill>
        <p:spPr>
          <a:xfrm>
            <a:off x="4336639" y="3767790"/>
            <a:ext cx="572923" cy="343754"/>
          </a:xfrm>
          <a:prstGeom prst="rect">
            <a:avLst/>
          </a:prstGeom>
          <a:noFill/>
          <a:ln>
            <a:noFill/>
          </a:ln>
        </p:spPr>
      </p:pic>
      <p:pic>
        <p:nvPicPr>
          <p:cNvPr id="325" name="Google Shape;325;p37"/>
          <p:cNvPicPr preferRelativeResize="0"/>
          <p:nvPr/>
        </p:nvPicPr>
        <p:blipFill rotWithShape="1">
          <a:blip r:embed="rId8">
            <a:alphaModFix/>
          </a:blip>
          <a:srcRect/>
          <a:stretch/>
        </p:blipFill>
        <p:spPr>
          <a:xfrm>
            <a:off x="4336639" y="4433647"/>
            <a:ext cx="572923" cy="352567"/>
          </a:xfrm>
          <a:prstGeom prst="rect">
            <a:avLst/>
          </a:prstGeom>
          <a:noFill/>
          <a:ln>
            <a:noFill/>
          </a:ln>
        </p:spPr>
      </p:pic>
      <p:pic>
        <p:nvPicPr>
          <p:cNvPr id="326" name="Google Shape;326;p37"/>
          <p:cNvPicPr preferRelativeResize="0"/>
          <p:nvPr/>
        </p:nvPicPr>
        <p:blipFill rotWithShape="1">
          <a:blip r:embed="rId9">
            <a:alphaModFix/>
          </a:blip>
          <a:srcRect/>
          <a:stretch/>
        </p:blipFill>
        <p:spPr>
          <a:xfrm>
            <a:off x="5415512" y="2748509"/>
            <a:ext cx="1508819" cy="341411"/>
          </a:xfrm>
          <a:prstGeom prst="rect">
            <a:avLst/>
          </a:prstGeom>
          <a:noFill/>
          <a:ln>
            <a:noFill/>
          </a:ln>
        </p:spPr>
      </p:pic>
      <p:cxnSp>
        <p:nvCxnSpPr>
          <p:cNvPr id="327" name="Google Shape;327;p37"/>
          <p:cNvCxnSpPr/>
          <p:nvPr/>
        </p:nvCxnSpPr>
        <p:spPr>
          <a:xfrm>
            <a:off x="5053364" y="2748509"/>
            <a:ext cx="0" cy="446581"/>
          </a:xfrm>
          <a:prstGeom prst="straightConnector1">
            <a:avLst/>
          </a:prstGeom>
          <a:noFill/>
          <a:ln w="9525" cap="flat" cmpd="sng">
            <a:solidFill>
              <a:srgbClr val="4A7DBA"/>
            </a:solidFill>
            <a:prstDash val="solid"/>
            <a:round/>
            <a:headEnd type="triangle" w="med" len="med"/>
            <a:tailEnd type="triangle" w="med" len="med"/>
          </a:ln>
        </p:spPr>
      </p:cxnSp>
      <p:cxnSp>
        <p:nvCxnSpPr>
          <p:cNvPr id="328" name="Google Shape;328;p37"/>
          <p:cNvCxnSpPr/>
          <p:nvPr/>
        </p:nvCxnSpPr>
        <p:spPr>
          <a:xfrm>
            <a:off x="5053364" y="3429000"/>
            <a:ext cx="0" cy="446581"/>
          </a:xfrm>
          <a:prstGeom prst="straightConnector1">
            <a:avLst/>
          </a:prstGeom>
          <a:noFill/>
          <a:ln w="9525" cap="flat" cmpd="sng">
            <a:solidFill>
              <a:srgbClr val="4A7DBA"/>
            </a:solidFill>
            <a:prstDash val="solid"/>
            <a:round/>
            <a:headEnd type="triangle" w="med" len="med"/>
            <a:tailEnd type="triangle" w="med" len="med"/>
          </a:ln>
        </p:spPr>
      </p:cxnSp>
      <p:cxnSp>
        <p:nvCxnSpPr>
          <p:cNvPr id="329" name="Google Shape;329;p37"/>
          <p:cNvCxnSpPr/>
          <p:nvPr/>
        </p:nvCxnSpPr>
        <p:spPr>
          <a:xfrm>
            <a:off x="5053364" y="3987066"/>
            <a:ext cx="0" cy="446581"/>
          </a:xfrm>
          <a:prstGeom prst="straightConnector1">
            <a:avLst/>
          </a:prstGeom>
          <a:noFill/>
          <a:ln w="9525" cap="flat" cmpd="sng">
            <a:solidFill>
              <a:srgbClr val="4A7DBA"/>
            </a:solidFill>
            <a:prstDash val="solid"/>
            <a:round/>
            <a:headEnd type="triangle" w="med" len="med"/>
            <a:tailEnd type="triangle" w="med" len="med"/>
          </a:ln>
        </p:spPr>
      </p:cxnSp>
      <p:cxnSp>
        <p:nvCxnSpPr>
          <p:cNvPr id="330" name="Google Shape;330;p37"/>
          <p:cNvCxnSpPr/>
          <p:nvPr/>
        </p:nvCxnSpPr>
        <p:spPr>
          <a:xfrm>
            <a:off x="5053364" y="4658540"/>
            <a:ext cx="0" cy="446581"/>
          </a:xfrm>
          <a:prstGeom prst="straightConnector1">
            <a:avLst/>
          </a:prstGeom>
          <a:noFill/>
          <a:ln w="9525" cap="flat" cmpd="sng">
            <a:solidFill>
              <a:srgbClr val="4A7DBA"/>
            </a:solidFill>
            <a:prstDash val="solid"/>
            <a:round/>
            <a:headEnd type="triangle" w="med" len="med"/>
            <a:tailEnd type="triangle" w="med" len="med"/>
          </a:ln>
        </p:spPr>
      </p:cxnSp>
      <p:pic>
        <p:nvPicPr>
          <p:cNvPr id="331" name="Google Shape;331;p37"/>
          <p:cNvPicPr preferRelativeResize="0"/>
          <p:nvPr/>
        </p:nvPicPr>
        <p:blipFill rotWithShape="1">
          <a:blip r:embed="rId10">
            <a:alphaModFix/>
          </a:blip>
          <a:srcRect/>
          <a:stretch/>
        </p:blipFill>
        <p:spPr>
          <a:xfrm>
            <a:off x="5427802" y="3439974"/>
            <a:ext cx="1030430" cy="290945"/>
          </a:xfrm>
          <a:prstGeom prst="rect">
            <a:avLst/>
          </a:prstGeom>
          <a:noFill/>
          <a:ln>
            <a:noFill/>
          </a:ln>
        </p:spPr>
      </p:pic>
      <p:pic>
        <p:nvPicPr>
          <p:cNvPr id="332" name="Google Shape;332;p37"/>
          <p:cNvPicPr preferRelativeResize="0"/>
          <p:nvPr/>
        </p:nvPicPr>
        <p:blipFill rotWithShape="1">
          <a:blip r:embed="rId11">
            <a:alphaModFix/>
          </a:blip>
          <a:srcRect/>
          <a:stretch/>
        </p:blipFill>
        <p:spPr>
          <a:xfrm>
            <a:off x="5427802" y="3992375"/>
            <a:ext cx="1512939" cy="304764"/>
          </a:xfrm>
          <a:prstGeom prst="rect">
            <a:avLst/>
          </a:prstGeom>
          <a:noFill/>
          <a:ln>
            <a:noFill/>
          </a:ln>
        </p:spPr>
      </p:pic>
      <p:pic>
        <p:nvPicPr>
          <p:cNvPr id="333" name="Google Shape;333;p37"/>
          <p:cNvPicPr preferRelativeResize="0"/>
          <p:nvPr/>
        </p:nvPicPr>
        <p:blipFill rotWithShape="1">
          <a:blip r:embed="rId12">
            <a:alphaModFix/>
          </a:blip>
          <a:srcRect/>
          <a:stretch/>
        </p:blipFill>
        <p:spPr>
          <a:xfrm>
            <a:off x="5415512" y="4746673"/>
            <a:ext cx="2876119" cy="341410"/>
          </a:xfrm>
          <a:prstGeom prst="rect">
            <a:avLst/>
          </a:prstGeom>
          <a:noFill/>
          <a:ln>
            <a:noFill/>
          </a:ln>
        </p:spPr>
      </p:pic>
      <p:pic>
        <p:nvPicPr>
          <p:cNvPr id="334" name="Google Shape;334;p37"/>
          <p:cNvPicPr preferRelativeResize="0"/>
          <p:nvPr/>
        </p:nvPicPr>
        <p:blipFill rotWithShape="1">
          <a:blip r:embed="rId1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38"/>
        <p:cNvGrpSpPr/>
        <p:nvPr/>
      </p:nvGrpSpPr>
      <p:grpSpPr>
        <a:xfrm>
          <a:off x="0" y="0"/>
          <a:ext cx="0" cy="0"/>
          <a:chOff x="0" y="0"/>
          <a:chExt cx="0" cy="0"/>
        </a:xfrm>
      </p:grpSpPr>
      <p:sp>
        <p:nvSpPr>
          <p:cNvPr id="339" name="Google Shape;339;p38"/>
          <p:cNvSpPr txBox="1"/>
          <p:nvPr/>
        </p:nvSpPr>
        <p:spPr>
          <a:xfrm>
            <a:off x="4836350" y="3444685"/>
            <a:ext cx="6908800" cy="2022590"/>
          </a:xfrm>
          <a:prstGeom prst="rect">
            <a:avLst/>
          </a:prstGeom>
          <a:noFill/>
          <a:ln>
            <a:noFill/>
          </a:ln>
        </p:spPr>
        <p:txBody>
          <a:bodyPr spcFirstLastPara="1" wrap="square" lIns="0" tIns="27925" rIns="0" bIns="0" anchor="t" anchorCtr="0">
            <a:spAutoFit/>
          </a:bodyPr>
          <a:lstStyle/>
          <a:p>
            <a:pPr marL="1074420" marR="5080" lvl="0" indent="-1062355"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Addressing data mismatch</a:t>
            </a:r>
            <a:endParaRPr sz="5400" b="0" i="0" u="none" strike="noStrike" cap="none" dirty="0">
              <a:solidFill>
                <a:srgbClr val="000000"/>
              </a:solidFill>
              <a:latin typeface="+mj-lt"/>
              <a:ea typeface="Calibri"/>
              <a:cs typeface="Calibri"/>
              <a:sym typeface="Calibri"/>
            </a:endParaRPr>
          </a:p>
        </p:txBody>
      </p:sp>
      <p:sp>
        <p:nvSpPr>
          <p:cNvPr id="340" name="Google Shape;340;p38"/>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1" name="Google Shape;341;p38"/>
          <p:cNvSpPr txBox="1">
            <a:spLocks noGrp="1"/>
          </p:cNvSpPr>
          <p:nvPr>
            <p:ph type="body" idx="1"/>
          </p:nvPr>
        </p:nvSpPr>
        <p:spPr>
          <a:xfrm>
            <a:off x="241156" y="321195"/>
            <a:ext cx="11073171" cy="3107004"/>
          </a:xfrm>
          <a:prstGeom prst="rect">
            <a:avLst/>
          </a:prstGeom>
          <a:noFill/>
          <a:ln>
            <a:noFill/>
          </a:ln>
        </p:spPr>
        <p:txBody>
          <a:bodyPr spcFirstLastPara="1" wrap="square" lIns="0" tIns="114300" rIns="0" bIns="0" anchor="t" anchorCtr="0">
            <a:spAutoFit/>
          </a:bodyPr>
          <a:lstStyle/>
          <a:p>
            <a:pPr marL="4866005" marR="5080" lvl="0" indent="-465453" algn="ctr" rtl="0">
              <a:lnSpc>
                <a:spcPct val="108333"/>
              </a:lnSpc>
              <a:spcBef>
                <a:spcPts val="0"/>
              </a:spcBef>
              <a:spcAft>
                <a:spcPts val="0"/>
              </a:spcAft>
              <a:buSzPts val="1400"/>
              <a:buNone/>
            </a:pPr>
            <a:r>
              <a:rPr lang="en-US" dirty="0">
                <a:latin typeface="+mj-lt"/>
              </a:rPr>
              <a:t>Mismatched training and	dev/test data</a:t>
            </a:r>
            <a:endParaRPr dirty="0">
              <a:latin typeface="+mj-lt"/>
            </a:endParaRPr>
          </a:p>
        </p:txBody>
      </p:sp>
      <p:pic>
        <p:nvPicPr>
          <p:cNvPr id="342" name="Google Shape;342;p38"/>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46"/>
        <p:cNvGrpSpPr/>
        <p:nvPr/>
      </p:nvGrpSpPr>
      <p:grpSpPr>
        <a:xfrm>
          <a:off x="0" y="0"/>
          <a:ext cx="0" cy="0"/>
          <a:chOff x="0" y="0"/>
          <a:chExt cx="0" cy="0"/>
        </a:xfrm>
      </p:grpSpPr>
      <p:sp>
        <p:nvSpPr>
          <p:cNvPr id="347" name="Google Shape;347;p39"/>
          <p:cNvSpPr txBox="1">
            <a:spLocks noGrp="1"/>
          </p:cNvSpPr>
          <p:nvPr>
            <p:ph type="title"/>
          </p:nvPr>
        </p:nvSpPr>
        <p:spPr>
          <a:xfrm>
            <a:off x="261625" y="139700"/>
            <a:ext cx="10472848" cy="825354"/>
          </a:xfrm>
          <a:prstGeom prst="rect">
            <a:avLst/>
          </a:prstGeom>
          <a:noFill/>
          <a:ln>
            <a:noFill/>
          </a:ln>
        </p:spPr>
        <p:txBody>
          <a:bodyPr spcFirstLastPara="1" wrap="square" lIns="0" tIns="12700" rIns="0" bIns="0" anchor="t" anchorCtr="0">
            <a:spAutoFit/>
          </a:bodyPr>
          <a:lstStyle/>
          <a:p>
            <a:pPr marL="1074420" marR="5080" lvl="0" indent="-1062355" algn="l" rtl="0">
              <a:lnSpc>
                <a:spcPct val="119696"/>
              </a:lnSpc>
              <a:spcBef>
                <a:spcPts val="0"/>
              </a:spcBef>
              <a:spcAft>
                <a:spcPts val="0"/>
              </a:spcAft>
              <a:buClr>
                <a:schemeClr val="dk1"/>
              </a:buClr>
              <a:buSzPts val="6600"/>
              <a:buFont typeface="Arial"/>
              <a:buNone/>
            </a:pPr>
            <a:r>
              <a:rPr lang="en-US" sz="4400" dirty="0">
                <a:latin typeface="+mj-lt"/>
              </a:rPr>
              <a:t>Addressing data mismatch</a:t>
            </a:r>
            <a:endParaRPr sz="4400" dirty="0">
              <a:latin typeface="+mj-lt"/>
            </a:endParaRPr>
          </a:p>
        </p:txBody>
      </p:sp>
      <p:sp>
        <p:nvSpPr>
          <p:cNvPr id="348" name="Google Shape;348;p39"/>
          <p:cNvSpPr txBox="1"/>
          <p:nvPr/>
        </p:nvSpPr>
        <p:spPr>
          <a:xfrm>
            <a:off x="261618" y="1380672"/>
            <a:ext cx="11454759" cy="5019303"/>
          </a:xfrm>
          <a:prstGeom prst="rect">
            <a:avLst/>
          </a:prstGeom>
          <a:noFill/>
          <a:ln>
            <a:noFill/>
          </a:ln>
        </p:spPr>
        <p:txBody>
          <a:bodyPr spcFirstLastPara="1" wrap="square" lIns="0" tIns="33000" rIns="0" bIns="0" anchor="t" anchorCtr="0">
            <a:spAutoFit/>
          </a:bodyPr>
          <a:lstStyle/>
          <a:p>
            <a:pPr marL="419100" lvl="0" indent="-342900" algn="just">
              <a:buClr>
                <a:schemeClr val="dk1"/>
              </a:buClr>
              <a:buSzPts val="2400"/>
              <a:buFont typeface="Arial" panose="020B0604020202020204" pitchFamily="34" charset="0"/>
              <a:buChar char="•"/>
            </a:pPr>
            <a:r>
              <a:rPr lang="en-US" sz="2400" dirty="0" smtClean="0">
                <a:solidFill>
                  <a:schemeClr val="dk1"/>
                </a:solidFill>
              </a:rPr>
              <a:t>There </a:t>
            </a:r>
            <a:r>
              <a:rPr lang="en-US" sz="2400" dirty="0">
                <a:solidFill>
                  <a:schemeClr val="dk1"/>
                </a:solidFill>
              </a:rPr>
              <a:t>aren't completely systematic solutions to this, but </a:t>
            </a:r>
            <a:r>
              <a:rPr lang="en-US" sz="2400" dirty="0" smtClean="0">
                <a:solidFill>
                  <a:schemeClr val="dk1"/>
                </a:solidFill>
              </a:rPr>
              <a:t>there are </a:t>
            </a:r>
            <a:r>
              <a:rPr lang="en-US" sz="2400" dirty="0">
                <a:solidFill>
                  <a:schemeClr val="dk1"/>
                </a:solidFill>
              </a:rPr>
              <a:t>some things you could try</a:t>
            </a:r>
            <a:r>
              <a:rPr lang="en-US" sz="2400" dirty="0" smtClean="0">
                <a:solidFill>
                  <a:schemeClr val="dk1"/>
                </a:solidFill>
              </a:rPr>
              <a:t>.</a:t>
            </a:r>
          </a:p>
          <a:p>
            <a:pPr marL="533400" lvl="0" indent="-457200" algn="just">
              <a:buClr>
                <a:schemeClr val="dk1"/>
              </a:buClr>
              <a:buSzPct val="100000"/>
              <a:buFont typeface="+mj-lt"/>
              <a:buAutoNum type="arabicPeriod"/>
            </a:pPr>
            <a:r>
              <a:rPr lang="en-US" sz="2000" dirty="0" smtClean="0">
                <a:solidFill>
                  <a:schemeClr val="dk1"/>
                </a:solidFill>
              </a:rPr>
              <a:t>Carry </a:t>
            </a:r>
            <a:r>
              <a:rPr lang="en-US" sz="2000" dirty="0">
                <a:solidFill>
                  <a:schemeClr val="dk1"/>
                </a:solidFill>
              </a:rPr>
              <a:t>out manual error analysis to try to understand the difference between training and dev/test </a:t>
            </a:r>
            <a:r>
              <a:rPr lang="en-US" sz="2000" dirty="0" smtClean="0">
                <a:solidFill>
                  <a:schemeClr val="dk1"/>
                </a:solidFill>
              </a:rPr>
              <a:t>sets.</a:t>
            </a:r>
          </a:p>
          <a:p>
            <a:pPr marL="533400" lvl="0" indent="-457200" algn="just">
              <a:buClr>
                <a:schemeClr val="dk1"/>
              </a:buClr>
              <a:buSzPct val="100000"/>
              <a:buFont typeface="+mj-lt"/>
              <a:buAutoNum type="arabicPeriod"/>
            </a:pPr>
            <a:r>
              <a:rPr lang="en-US" sz="2000" dirty="0" smtClean="0">
                <a:solidFill>
                  <a:schemeClr val="dk1"/>
                </a:solidFill>
              </a:rPr>
              <a:t>Make </a:t>
            </a:r>
            <a:r>
              <a:rPr lang="en-US" sz="2000" dirty="0">
                <a:solidFill>
                  <a:schemeClr val="dk1"/>
                </a:solidFill>
              </a:rPr>
              <a:t>training data more similar, or collect more data similar to dev/test sets</a:t>
            </a:r>
            <a:r>
              <a:rPr lang="en-US" sz="2000" dirty="0" smtClean="0">
                <a:solidFill>
                  <a:schemeClr val="dk1"/>
                </a:solidFill>
              </a:rPr>
              <a:t>.</a:t>
            </a:r>
          </a:p>
          <a:p>
            <a:pPr marL="419100" lvl="0" indent="-342900" algn="just">
              <a:buClr>
                <a:schemeClr val="dk1"/>
              </a:buClr>
              <a:buSzPct val="100000"/>
              <a:buFont typeface="Arial" panose="020B0604020202020204" pitchFamily="34" charset="0"/>
              <a:buChar char="•"/>
            </a:pPr>
            <a:r>
              <a:rPr lang="en-US" sz="2400" dirty="0" smtClean="0"/>
              <a:t>If </a:t>
            </a:r>
            <a:r>
              <a:rPr lang="en-US" sz="2400" dirty="0"/>
              <a:t>your goal is to make the training data more similar to your dev set one of the techniques you can use </a:t>
            </a:r>
            <a:r>
              <a:rPr lang="en-US" sz="2400" b="1" dirty="0" smtClean="0"/>
              <a:t>Artificial </a:t>
            </a:r>
            <a:r>
              <a:rPr lang="en-US" sz="2400" b="1" dirty="0"/>
              <a:t>data </a:t>
            </a:r>
            <a:r>
              <a:rPr lang="en-US" sz="2400" b="1" dirty="0" smtClean="0"/>
              <a:t>synthesis</a:t>
            </a:r>
            <a:r>
              <a:rPr lang="en-US" sz="2400" dirty="0" smtClean="0"/>
              <a:t> </a:t>
            </a:r>
            <a:r>
              <a:rPr lang="en-US" sz="2400" dirty="0"/>
              <a:t>that can help you make more training </a:t>
            </a:r>
            <a:r>
              <a:rPr lang="en-US" sz="2400" dirty="0" smtClean="0"/>
              <a:t>data.</a:t>
            </a:r>
          </a:p>
          <a:p>
            <a:pPr marL="76200" lvl="0" algn="just">
              <a:buClr>
                <a:schemeClr val="dk1"/>
              </a:buClr>
              <a:buSzPct val="100000"/>
            </a:pPr>
            <a:r>
              <a:rPr lang="en-US" sz="2400" dirty="0"/>
              <a:t>	</a:t>
            </a:r>
            <a:r>
              <a:rPr lang="en-US" sz="2400" dirty="0" smtClean="0"/>
              <a:t>- </a:t>
            </a:r>
            <a:r>
              <a:rPr lang="en-US" sz="2000" dirty="0" smtClean="0"/>
              <a:t>Combine </a:t>
            </a:r>
            <a:r>
              <a:rPr lang="en-US" sz="2000" dirty="0"/>
              <a:t>some of your training data with something that can convert it to the dev/test set </a:t>
            </a:r>
            <a:r>
              <a:rPr lang="en-US" sz="2000" dirty="0" smtClean="0"/>
              <a:t>	distribution. Examples:</a:t>
            </a:r>
          </a:p>
          <a:p>
            <a:pPr marL="76200" lvl="0" algn="just">
              <a:buClr>
                <a:schemeClr val="dk1"/>
              </a:buClr>
              <a:buSzPct val="100000"/>
            </a:pPr>
            <a:r>
              <a:rPr lang="en-US" sz="2000" dirty="0"/>
              <a:t>	</a:t>
            </a:r>
            <a:r>
              <a:rPr lang="en-US" sz="2000" dirty="0" smtClean="0"/>
              <a:t>	1</a:t>
            </a:r>
            <a:r>
              <a:rPr lang="en-US" sz="2000" dirty="0"/>
              <a:t>. Combine normal audio with car noise to get audio with car noise example. </a:t>
            </a:r>
            <a:endParaRPr lang="en-US" sz="2000" dirty="0" smtClean="0"/>
          </a:p>
          <a:p>
            <a:pPr marL="76200" lvl="0" algn="just">
              <a:buClr>
                <a:schemeClr val="dk1"/>
              </a:buClr>
              <a:buSzPct val="100000"/>
            </a:pPr>
            <a:r>
              <a:rPr lang="en-US" sz="2000" dirty="0"/>
              <a:t>	</a:t>
            </a:r>
            <a:r>
              <a:rPr lang="en-US" sz="2000" dirty="0" smtClean="0"/>
              <a:t>	2</a:t>
            </a:r>
            <a:r>
              <a:rPr lang="en-US" sz="2000" dirty="0"/>
              <a:t>. Generate cars using 3D graphics in a car classification </a:t>
            </a:r>
            <a:r>
              <a:rPr lang="en-US" sz="2000" dirty="0" smtClean="0"/>
              <a:t>example.</a:t>
            </a:r>
          </a:p>
          <a:p>
            <a:pPr marL="76200" lvl="0" algn="just">
              <a:buClr>
                <a:schemeClr val="dk1"/>
              </a:buClr>
              <a:buSzPct val="100000"/>
            </a:pPr>
            <a:r>
              <a:rPr lang="en-US" sz="2000" dirty="0"/>
              <a:t>	</a:t>
            </a:r>
            <a:r>
              <a:rPr lang="en-US" sz="2000" dirty="0" smtClean="0"/>
              <a:t>- Be </a:t>
            </a:r>
            <a:r>
              <a:rPr lang="en-US" sz="2000" dirty="0"/>
              <a:t>cautious and bear in mind whether or not you might be accidentally simulating data only from a tiny subset of the space of all possible examples because your NN might </a:t>
            </a:r>
            <a:r>
              <a:rPr lang="en-US" sz="2000" dirty="0" err="1"/>
              <a:t>overfit</a:t>
            </a:r>
            <a:r>
              <a:rPr lang="en-US" sz="2000" dirty="0"/>
              <a:t> these generated data (like particular car noise or a particular design of 3D graphics cars).</a:t>
            </a:r>
            <a:endParaRPr sz="2000" dirty="0"/>
          </a:p>
        </p:txBody>
      </p:sp>
      <p:pic>
        <p:nvPicPr>
          <p:cNvPr id="349" name="Google Shape;349;p3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75"/>
        <p:cNvGrpSpPr/>
        <p:nvPr/>
      </p:nvGrpSpPr>
      <p:grpSpPr>
        <a:xfrm>
          <a:off x="0" y="0"/>
          <a:ext cx="0" cy="0"/>
          <a:chOff x="0" y="0"/>
          <a:chExt cx="0" cy="0"/>
        </a:xfrm>
      </p:grpSpPr>
      <p:sp>
        <p:nvSpPr>
          <p:cNvPr id="376" name="Google Shape;376;p43"/>
          <p:cNvSpPr txBox="1">
            <a:spLocks noGrp="1"/>
          </p:cNvSpPr>
          <p:nvPr>
            <p:ph type="title"/>
          </p:nvPr>
        </p:nvSpPr>
        <p:spPr>
          <a:xfrm>
            <a:off x="261620" y="139700"/>
            <a:ext cx="62458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Artificial data synthesis</a:t>
            </a:r>
            <a:endParaRPr sz="4400" dirty="0">
              <a:latin typeface="+mj-lt"/>
              <a:ea typeface="Cambria"/>
              <a:cs typeface="Cambria"/>
              <a:sym typeface="Cambria"/>
            </a:endParaRPr>
          </a:p>
        </p:txBody>
      </p:sp>
      <p:sp>
        <p:nvSpPr>
          <p:cNvPr id="377" name="Google Shape;377;p43"/>
          <p:cNvSpPr txBox="1"/>
          <p:nvPr/>
        </p:nvSpPr>
        <p:spPr>
          <a:xfrm>
            <a:off x="6112281" y="2926334"/>
            <a:ext cx="158750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Car noise</a:t>
            </a:r>
            <a:endParaRPr sz="2800" b="0" i="0" u="none" strike="noStrike" cap="none">
              <a:solidFill>
                <a:srgbClr val="000000"/>
              </a:solidFill>
              <a:latin typeface="Cambria"/>
              <a:ea typeface="Cambria"/>
              <a:cs typeface="Cambria"/>
              <a:sym typeface="Cambria"/>
            </a:endParaRPr>
          </a:p>
        </p:txBody>
      </p:sp>
      <p:pic>
        <p:nvPicPr>
          <p:cNvPr id="378" name="Google Shape;378;p43"/>
          <p:cNvPicPr preferRelativeResize="0"/>
          <p:nvPr/>
        </p:nvPicPr>
        <p:blipFill rotWithShape="1">
          <a:blip r:embed="rId3">
            <a:alphaModFix/>
          </a:blip>
          <a:srcRect/>
          <a:stretch/>
        </p:blipFill>
        <p:spPr>
          <a:xfrm>
            <a:off x="1426629" y="1633918"/>
            <a:ext cx="812800" cy="812800"/>
          </a:xfrm>
          <a:prstGeom prst="rect">
            <a:avLst/>
          </a:prstGeom>
          <a:noFill/>
          <a:ln>
            <a:noFill/>
          </a:ln>
        </p:spPr>
      </p:pic>
      <p:sp>
        <p:nvSpPr>
          <p:cNvPr id="379" name="Google Shape;379;p43"/>
          <p:cNvSpPr txBox="1"/>
          <p:nvPr/>
        </p:nvSpPr>
        <p:spPr>
          <a:xfrm>
            <a:off x="313030" y="2972498"/>
            <a:ext cx="3040380" cy="1303655"/>
          </a:xfrm>
          <a:prstGeom prst="rect">
            <a:avLst/>
          </a:prstGeom>
          <a:noFill/>
          <a:ln>
            <a:noFill/>
          </a:ln>
        </p:spPr>
        <p:txBody>
          <a:bodyPr spcFirstLastPara="1" wrap="square" lIns="0" tIns="33000" rIns="0" bIns="0" anchor="t" anchorCtr="0">
            <a:spAutoFit/>
          </a:bodyPr>
          <a:lstStyle/>
          <a:p>
            <a:pPr marL="673735" marR="67310" lvl="0" indent="-599440" algn="l" rtl="0">
              <a:lnSpc>
                <a:spcPct val="117857"/>
              </a:lnSpc>
              <a:spcBef>
                <a:spcPts val="0"/>
              </a:spcBef>
              <a:spcAft>
                <a:spcPts val="0"/>
              </a:spcAft>
              <a:buClr>
                <a:srgbClr val="000000"/>
              </a:buClr>
              <a:buSzPts val="2800"/>
              <a:buFont typeface="Arial"/>
              <a:buNone/>
            </a:pPr>
            <a:r>
              <a:rPr lang="en-US" sz="2800" b="0" i="0" u="none" strike="noStrike" cap="none" dirty="0">
                <a:solidFill>
                  <a:srgbClr val="000000"/>
                </a:solidFill>
                <a:latin typeface="Cambria"/>
                <a:ea typeface="Cambria"/>
                <a:cs typeface="Cambria"/>
                <a:sym typeface="Cambria"/>
              </a:rPr>
              <a:t>“The quick brown fox jumps</a:t>
            </a:r>
            <a:endParaRPr sz="2800" b="0" i="0" u="none" strike="noStrike" cap="none" dirty="0">
              <a:solidFill>
                <a:srgbClr val="000000"/>
              </a:solidFill>
              <a:latin typeface="Cambria"/>
              <a:ea typeface="Cambria"/>
              <a:cs typeface="Cambria"/>
              <a:sym typeface="Cambria"/>
            </a:endParaRPr>
          </a:p>
          <a:p>
            <a:pPr marL="12700" marR="0" lvl="0" indent="0" algn="l" rtl="0">
              <a:lnSpc>
                <a:spcPct val="117857"/>
              </a:lnSpc>
              <a:spcBef>
                <a:spcPts val="0"/>
              </a:spcBef>
              <a:spcAft>
                <a:spcPts val="0"/>
              </a:spcAft>
              <a:buClr>
                <a:srgbClr val="000000"/>
              </a:buClr>
              <a:buSzPts val="2800"/>
              <a:buFont typeface="Arial"/>
              <a:buNone/>
            </a:pPr>
            <a:r>
              <a:rPr lang="en-US" sz="2800" b="0" i="0" u="none" strike="noStrike" cap="none" dirty="0">
                <a:solidFill>
                  <a:srgbClr val="000000"/>
                </a:solidFill>
                <a:latin typeface="Cambria"/>
                <a:ea typeface="Cambria"/>
                <a:cs typeface="Cambria"/>
                <a:sym typeface="Cambria"/>
              </a:rPr>
              <a:t>over the lazy dog.”</a:t>
            </a:r>
            <a:endParaRPr sz="2800" b="0" i="0" u="none" strike="noStrike" cap="none" dirty="0">
              <a:solidFill>
                <a:srgbClr val="000000"/>
              </a:solidFill>
              <a:latin typeface="Cambria"/>
              <a:ea typeface="Cambria"/>
              <a:cs typeface="Cambria"/>
              <a:sym typeface="Cambria"/>
            </a:endParaRPr>
          </a:p>
        </p:txBody>
      </p:sp>
      <p:sp>
        <p:nvSpPr>
          <p:cNvPr id="380" name="Google Shape;380;p43"/>
          <p:cNvSpPr txBox="1"/>
          <p:nvPr/>
        </p:nvSpPr>
        <p:spPr>
          <a:xfrm>
            <a:off x="4500854" y="1768246"/>
            <a:ext cx="271780"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a:ea typeface="Cambria"/>
                <a:cs typeface="Cambria"/>
                <a:sym typeface="Cambria"/>
              </a:rPr>
              <a:t>+</a:t>
            </a:r>
            <a:endParaRPr sz="3200" b="0" i="0" u="none" strike="noStrike" cap="none">
              <a:solidFill>
                <a:srgbClr val="000000"/>
              </a:solidFill>
              <a:latin typeface="Cambria"/>
              <a:ea typeface="Cambria"/>
              <a:cs typeface="Cambria"/>
              <a:sym typeface="Cambria"/>
            </a:endParaRPr>
          </a:p>
        </p:txBody>
      </p:sp>
      <p:sp>
        <p:nvSpPr>
          <p:cNvPr id="381" name="Google Shape;381;p43"/>
          <p:cNvSpPr txBox="1"/>
          <p:nvPr/>
        </p:nvSpPr>
        <p:spPr>
          <a:xfrm>
            <a:off x="8951747" y="1755647"/>
            <a:ext cx="227965"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a:t>
            </a:r>
            <a:endParaRPr sz="3200" b="0" i="0" u="none" strike="noStrike" cap="none">
              <a:solidFill>
                <a:srgbClr val="000000"/>
              </a:solidFill>
              <a:latin typeface="Calibri"/>
              <a:ea typeface="Calibri"/>
              <a:cs typeface="Calibri"/>
              <a:sym typeface="Calibri"/>
            </a:endParaRPr>
          </a:p>
        </p:txBody>
      </p:sp>
      <p:sp>
        <p:nvSpPr>
          <p:cNvPr id="382" name="Google Shape;382;p43"/>
          <p:cNvSpPr txBox="1"/>
          <p:nvPr/>
        </p:nvSpPr>
        <p:spPr>
          <a:xfrm>
            <a:off x="9341472" y="2972498"/>
            <a:ext cx="2022475" cy="871855"/>
          </a:xfrm>
          <a:prstGeom prst="rect">
            <a:avLst/>
          </a:prstGeom>
          <a:noFill/>
          <a:ln>
            <a:noFill/>
          </a:ln>
        </p:spPr>
        <p:txBody>
          <a:bodyPr spcFirstLastPara="1" wrap="square" lIns="0" tIns="33000" rIns="0" bIns="0" anchor="t" anchorCtr="0">
            <a:spAutoFit/>
          </a:bodyPr>
          <a:lstStyle/>
          <a:p>
            <a:pPr marL="12700" marR="5080" lvl="0" indent="0" algn="l" rtl="0">
              <a:lnSpc>
                <a:spcPct val="117857"/>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Synthesized in-car audio</a:t>
            </a:r>
            <a:endParaRPr sz="2800" b="0" i="0" u="none" strike="noStrike" cap="none">
              <a:solidFill>
                <a:srgbClr val="000000"/>
              </a:solidFill>
              <a:latin typeface="Cambria"/>
              <a:ea typeface="Cambria"/>
              <a:cs typeface="Cambria"/>
              <a:sym typeface="Cambria"/>
            </a:endParaRPr>
          </a:p>
        </p:txBody>
      </p:sp>
      <p:pic>
        <p:nvPicPr>
          <p:cNvPr id="383" name="Google Shape;383;p43"/>
          <p:cNvPicPr preferRelativeResize="0"/>
          <p:nvPr/>
        </p:nvPicPr>
        <p:blipFill rotWithShape="1">
          <a:blip r:embed="rId3">
            <a:alphaModFix/>
          </a:blip>
          <a:srcRect/>
          <a:stretch/>
        </p:blipFill>
        <p:spPr>
          <a:xfrm>
            <a:off x="6457657" y="1633918"/>
            <a:ext cx="812800" cy="812800"/>
          </a:xfrm>
          <a:prstGeom prst="rect">
            <a:avLst/>
          </a:prstGeom>
          <a:noFill/>
          <a:ln>
            <a:noFill/>
          </a:ln>
        </p:spPr>
      </p:pic>
      <p:pic>
        <p:nvPicPr>
          <p:cNvPr id="384" name="Google Shape;384;p43"/>
          <p:cNvPicPr preferRelativeResize="0"/>
          <p:nvPr/>
        </p:nvPicPr>
        <p:blipFill rotWithShape="1">
          <a:blip r:embed="rId3">
            <a:alphaModFix/>
          </a:blip>
          <a:srcRect/>
          <a:stretch/>
        </p:blipFill>
        <p:spPr>
          <a:xfrm>
            <a:off x="9976993" y="1633918"/>
            <a:ext cx="812800" cy="812800"/>
          </a:xfrm>
          <a:prstGeom prst="rect">
            <a:avLst/>
          </a:prstGeom>
          <a:noFill/>
          <a:ln>
            <a:noFill/>
          </a:ln>
        </p:spPr>
      </p:pic>
      <p:pic>
        <p:nvPicPr>
          <p:cNvPr id="385" name="Google Shape;385;p43"/>
          <p:cNvPicPr preferRelativeResize="0"/>
          <p:nvPr/>
        </p:nvPicPr>
        <p:blipFill rotWithShape="1">
          <a:blip r:embed="rId4">
            <a:alphaModFix/>
          </a:blip>
          <a:srcRect/>
          <a:stretch/>
        </p:blipFill>
        <p:spPr>
          <a:xfrm>
            <a:off x="381000" y="4716145"/>
            <a:ext cx="11330354" cy="1736092"/>
          </a:xfrm>
          <a:prstGeom prst="rect">
            <a:avLst/>
          </a:prstGeom>
          <a:noFill/>
          <a:ln>
            <a:noFill/>
          </a:ln>
        </p:spPr>
      </p:pic>
      <p:pic>
        <p:nvPicPr>
          <p:cNvPr id="386" name="Google Shape;386;p43"/>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90"/>
        <p:cNvGrpSpPr/>
        <p:nvPr/>
      </p:nvGrpSpPr>
      <p:grpSpPr>
        <a:xfrm>
          <a:off x="0" y="0"/>
          <a:ext cx="0" cy="0"/>
          <a:chOff x="0" y="0"/>
          <a:chExt cx="0" cy="0"/>
        </a:xfrm>
      </p:grpSpPr>
      <p:sp>
        <p:nvSpPr>
          <p:cNvPr id="391" name="Google Shape;391;p44"/>
          <p:cNvSpPr txBox="1"/>
          <p:nvPr/>
        </p:nvSpPr>
        <p:spPr>
          <a:xfrm>
            <a:off x="261620" y="139700"/>
            <a:ext cx="6247130"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mbria"/>
                <a:ea typeface="Cambria"/>
                <a:cs typeface="Cambria"/>
                <a:sym typeface="Cambria"/>
              </a:rPr>
              <a:t>Artificial data synthesis</a:t>
            </a:r>
            <a:endParaRPr sz="4400" b="0" i="0" u="none" strike="noStrike" cap="none">
              <a:solidFill>
                <a:srgbClr val="000000"/>
              </a:solidFill>
              <a:latin typeface="Cambria"/>
              <a:ea typeface="Cambria"/>
              <a:cs typeface="Cambria"/>
              <a:sym typeface="Cambria"/>
            </a:endParaRPr>
          </a:p>
        </p:txBody>
      </p:sp>
      <p:sp>
        <p:nvSpPr>
          <p:cNvPr id="392" name="Google Shape;392;p44"/>
          <p:cNvSpPr txBox="1"/>
          <p:nvPr/>
        </p:nvSpPr>
        <p:spPr>
          <a:xfrm>
            <a:off x="261620" y="1672640"/>
            <a:ext cx="267271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Car recognition:</a:t>
            </a:r>
            <a:endParaRPr sz="2800" b="0" i="0" u="none" strike="noStrike" cap="none">
              <a:solidFill>
                <a:srgbClr val="000000"/>
              </a:solidFill>
              <a:latin typeface="Cambria"/>
              <a:ea typeface="Cambria"/>
              <a:cs typeface="Cambria"/>
              <a:sym typeface="Cambria"/>
            </a:endParaRPr>
          </a:p>
        </p:txBody>
      </p:sp>
      <p:pic>
        <p:nvPicPr>
          <p:cNvPr id="393" name="Google Shape;393;p44"/>
          <p:cNvPicPr preferRelativeResize="0"/>
          <p:nvPr/>
        </p:nvPicPr>
        <p:blipFill rotWithShape="1">
          <a:blip r:embed="rId3">
            <a:alphaModFix/>
          </a:blip>
          <a:srcRect/>
          <a:stretch/>
        </p:blipFill>
        <p:spPr>
          <a:xfrm>
            <a:off x="4503051" y="2463876"/>
            <a:ext cx="3366147" cy="2243226"/>
          </a:xfrm>
          <a:prstGeom prst="rect">
            <a:avLst/>
          </a:prstGeom>
          <a:noFill/>
          <a:ln>
            <a:noFill/>
          </a:ln>
        </p:spPr>
      </p:pic>
      <p:pic>
        <p:nvPicPr>
          <p:cNvPr id="394" name="Google Shape;394;p44"/>
          <p:cNvPicPr preferRelativeResize="0"/>
          <p:nvPr/>
        </p:nvPicPr>
        <p:blipFill rotWithShape="1">
          <a:blip r:embed="rId4">
            <a:alphaModFix/>
          </a:blip>
          <a:srcRect/>
          <a:stretch/>
        </p:blipFill>
        <p:spPr>
          <a:xfrm>
            <a:off x="8528748" y="2463876"/>
            <a:ext cx="3366147" cy="2243226"/>
          </a:xfrm>
          <a:prstGeom prst="rect">
            <a:avLst/>
          </a:prstGeom>
          <a:noFill/>
          <a:ln>
            <a:noFill/>
          </a:ln>
        </p:spPr>
      </p:pic>
      <p:pic>
        <p:nvPicPr>
          <p:cNvPr id="395" name="Google Shape;395;p44"/>
          <p:cNvPicPr preferRelativeResize="0"/>
          <p:nvPr/>
        </p:nvPicPr>
        <p:blipFill rotWithShape="1">
          <a:blip r:embed="rId5">
            <a:alphaModFix/>
          </a:blip>
          <a:srcRect/>
          <a:stretch/>
        </p:blipFill>
        <p:spPr>
          <a:xfrm>
            <a:off x="685800" y="2461418"/>
            <a:ext cx="3366135" cy="2243226"/>
          </a:xfrm>
          <a:prstGeom prst="rect">
            <a:avLst/>
          </a:prstGeom>
          <a:noFill/>
          <a:ln>
            <a:noFill/>
          </a:ln>
        </p:spPr>
      </p:pic>
      <p:pic>
        <p:nvPicPr>
          <p:cNvPr id="396" name="Google Shape;396;p44"/>
          <p:cNvPicPr preferRelativeResize="0"/>
          <p:nvPr/>
        </p:nvPicPr>
        <p:blipFill rotWithShape="1">
          <a:blip r:embed="rId6">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400"/>
        <p:cNvGrpSpPr/>
        <p:nvPr/>
      </p:nvGrpSpPr>
      <p:grpSpPr>
        <a:xfrm>
          <a:off x="0" y="0"/>
          <a:ext cx="0" cy="0"/>
          <a:chOff x="0" y="0"/>
          <a:chExt cx="0" cy="0"/>
        </a:xfrm>
      </p:grpSpPr>
      <p:sp>
        <p:nvSpPr>
          <p:cNvPr id="401" name="Google Shape;401;p45"/>
          <p:cNvSpPr txBox="1">
            <a:spLocks noGrp="1"/>
          </p:cNvSpPr>
          <p:nvPr>
            <p:ph type="title"/>
          </p:nvPr>
        </p:nvSpPr>
        <p:spPr>
          <a:xfrm>
            <a:off x="4836350" y="1268310"/>
            <a:ext cx="6908800" cy="2109808"/>
          </a:xfrm>
          <a:prstGeom prst="rect">
            <a:avLst/>
          </a:prstGeom>
          <a:noFill/>
          <a:ln>
            <a:noFill/>
          </a:ln>
        </p:spPr>
        <p:txBody>
          <a:bodyPr spcFirstLastPara="1" wrap="square" lIns="0" tIns="114300" rIns="0" bIns="0" anchor="t" anchorCtr="0">
            <a:spAutoFit/>
          </a:bodyPr>
          <a:lstStyle/>
          <a:p>
            <a:pPr marL="43180" marR="5080" lvl="0" indent="-31115" algn="ctr" rtl="0">
              <a:lnSpc>
                <a:spcPct val="108333"/>
              </a:lnSpc>
              <a:spcBef>
                <a:spcPts val="0"/>
              </a:spcBef>
              <a:spcAft>
                <a:spcPts val="0"/>
              </a:spcAft>
              <a:buSzPts val="1400"/>
              <a:buNone/>
            </a:pPr>
            <a:r>
              <a:rPr lang="en-US" dirty="0">
                <a:latin typeface="+mj-lt"/>
              </a:rPr>
              <a:t>Learning from multiple tasks</a:t>
            </a:r>
            <a:endParaRPr dirty="0">
              <a:latin typeface="+mj-lt"/>
            </a:endParaRPr>
          </a:p>
        </p:txBody>
      </p:sp>
      <p:sp>
        <p:nvSpPr>
          <p:cNvPr id="402" name="Google Shape;402;p45"/>
          <p:cNvSpPr txBox="1"/>
          <p:nvPr/>
        </p:nvSpPr>
        <p:spPr>
          <a:xfrm>
            <a:off x="4836350" y="3459874"/>
            <a:ext cx="6908800" cy="84382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Transfer learning</a:t>
            </a:r>
            <a:endParaRPr sz="5400" b="0" i="0" u="none" strike="noStrike" cap="none" dirty="0">
              <a:solidFill>
                <a:srgbClr val="000000"/>
              </a:solidFill>
              <a:latin typeface="+mj-lt"/>
              <a:ea typeface="Calibri"/>
              <a:cs typeface="Calibri"/>
              <a:sym typeface="Calibri"/>
            </a:endParaRPr>
          </a:p>
        </p:txBody>
      </p:sp>
      <p:sp>
        <p:nvSpPr>
          <p:cNvPr id="403" name="Google Shape;403;p4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04" name="Google Shape;404;p4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408"/>
        <p:cNvGrpSpPr/>
        <p:nvPr/>
      </p:nvGrpSpPr>
      <p:grpSpPr>
        <a:xfrm>
          <a:off x="0" y="0"/>
          <a:ext cx="0" cy="0"/>
          <a:chOff x="0" y="0"/>
          <a:chExt cx="0" cy="0"/>
        </a:xfrm>
      </p:grpSpPr>
      <p:sp>
        <p:nvSpPr>
          <p:cNvPr id="409" name="Google Shape;409;p46"/>
          <p:cNvSpPr txBox="1">
            <a:spLocks noGrp="1"/>
          </p:cNvSpPr>
          <p:nvPr>
            <p:ph type="title"/>
          </p:nvPr>
        </p:nvSpPr>
        <p:spPr>
          <a:xfrm>
            <a:off x="261620" y="139700"/>
            <a:ext cx="7686626"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Transfer learning</a:t>
            </a:r>
            <a:endParaRPr sz="4400" dirty="0">
              <a:latin typeface="+mj-lt"/>
              <a:ea typeface="Cambria"/>
              <a:cs typeface="Cambria"/>
              <a:sym typeface="Cambria"/>
            </a:endParaRPr>
          </a:p>
        </p:txBody>
      </p:sp>
      <p:pic>
        <p:nvPicPr>
          <p:cNvPr id="410" name="Google Shape;410;p4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411" name="Google Shape;411;p46"/>
          <p:cNvSpPr txBox="1"/>
          <p:nvPr/>
        </p:nvSpPr>
        <p:spPr>
          <a:xfrm>
            <a:off x="151092" y="1131151"/>
            <a:ext cx="11645674" cy="5281416"/>
          </a:xfrm>
          <a:prstGeom prst="rect">
            <a:avLst/>
          </a:prstGeom>
          <a:noFill/>
          <a:ln>
            <a:noFill/>
          </a:ln>
        </p:spPr>
        <p:txBody>
          <a:bodyPr spcFirstLastPara="1" wrap="square" lIns="91425" tIns="91425" rIns="91425" bIns="91425" anchor="t" anchorCtr="0">
            <a:spAutoFit/>
          </a:bodyPr>
          <a:lstStyle/>
          <a:p>
            <a:pPr marL="457200" lvl="0" indent="-381000" algn="just">
              <a:lnSpc>
                <a:spcPct val="115000"/>
              </a:lnSpc>
              <a:buClr>
                <a:schemeClr val="dk1"/>
              </a:buClr>
              <a:buSzPts val="2400"/>
              <a:buChar char="●"/>
            </a:pPr>
            <a:r>
              <a:rPr lang="en-US" sz="2400" dirty="0">
                <a:solidFill>
                  <a:schemeClr val="dk1"/>
                </a:solidFill>
                <a:highlight>
                  <a:schemeClr val="lt1"/>
                </a:highlight>
              </a:rPr>
              <a:t>Transfer learning is a technique in deep learning that enables one to take knowledge learned from a neural network on one task and apply it to another task. This is particularly useful when you have a significant amount of data for the task you're transferring from but relatively little data for the task you're transferring to. </a:t>
            </a:r>
            <a:endParaRPr lang="en-US" sz="2400" dirty="0" smtClean="0">
              <a:solidFill>
                <a:schemeClr val="dk1"/>
              </a:solidFill>
              <a:highlight>
                <a:schemeClr val="lt1"/>
              </a:highlight>
            </a:endParaRPr>
          </a:p>
          <a:p>
            <a:pPr marL="457200" lvl="0" indent="-381000" algn="just">
              <a:lnSpc>
                <a:spcPct val="115000"/>
              </a:lnSpc>
              <a:buClr>
                <a:schemeClr val="dk1"/>
              </a:buClr>
              <a:buSzPts val="2400"/>
              <a:buChar char="●"/>
            </a:pPr>
            <a:r>
              <a:rPr lang="en-US" sz="2400" dirty="0" smtClean="0">
                <a:solidFill>
                  <a:schemeClr val="dk1"/>
                </a:solidFill>
                <a:highlight>
                  <a:schemeClr val="lt1"/>
                </a:highlight>
              </a:rPr>
              <a:t>To </a:t>
            </a:r>
            <a:r>
              <a:rPr lang="en-US" sz="2400" dirty="0">
                <a:solidFill>
                  <a:schemeClr val="dk1"/>
                </a:solidFill>
                <a:highlight>
                  <a:schemeClr val="lt1"/>
                </a:highlight>
              </a:rPr>
              <a:t>implement transfer learning, you train a neural network on the source task and then remove the last output layer and create a new set of randomly initialized weights for the last layer to output the target task. Depending on the amount of data, you may retrain only the last layer's weights or all the layers' weights. </a:t>
            </a:r>
            <a:endParaRPr lang="en-US" sz="2400" dirty="0" smtClean="0">
              <a:solidFill>
                <a:schemeClr val="dk1"/>
              </a:solidFill>
              <a:highlight>
                <a:schemeClr val="lt1"/>
              </a:highlight>
            </a:endParaRPr>
          </a:p>
          <a:p>
            <a:pPr marL="457200" lvl="0" indent="-381000" algn="just">
              <a:lnSpc>
                <a:spcPct val="115000"/>
              </a:lnSpc>
              <a:buClr>
                <a:schemeClr val="dk1"/>
              </a:buClr>
              <a:buSzPts val="2400"/>
              <a:buChar char="●"/>
            </a:pPr>
            <a:r>
              <a:rPr lang="en-US" sz="2400" dirty="0" smtClean="0">
                <a:solidFill>
                  <a:schemeClr val="dk1"/>
                </a:solidFill>
                <a:highlight>
                  <a:schemeClr val="lt1"/>
                </a:highlight>
              </a:rPr>
              <a:t>Transfer </a:t>
            </a:r>
            <a:r>
              <a:rPr lang="en-US" sz="2400" dirty="0">
                <a:solidFill>
                  <a:schemeClr val="dk1"/>
                </a:solidFill>
                <a:highlight>
                  <a:schemeClr val="lt1"/>
                </a:highlight>
              </a:rPr>
              <a:t>learning is useful when the input for both tasks is the same, and there is more data for the source task than for the target task. It is also helpful when low-level features from the source task could be beneficial for learning the target task.</a:t>
            </a:r>
            <a:endParaRPr sz="2400" dirty="0">
              <a:solidFill>
                <a:schemeClr val="dk1"/>
              </a:solidFill>
              <a:highlight>
                <a:schemeClr val="lt1"/>
              </a:highligh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429"/>
        <p:cNvGrpSpPr/>
        <p:nvPr/>
      </p:nvGrpSpPr>
      <p:grpSpPr>
        <a:xfrm>
          <a:off x="0" y="0"/>
          <a:ext cx="0" cy="0"/>
          <a:chOff x="0" y="0"/>
          <a:chExt cx="0" cy="0"/>
        </a:xfrm>
      </p:grpSpPr>
      <p:sp>
        <p:nvSpPr>
          <p:cNvPr id="430" name="Google Shape;430;p49"/>
          <p:cNvSpPr txBox="1">
            <a:spLocks noGrp="1"/>
          </p:cNvSpPr>
          <p:nvPr>
            <p:ph type="title"/>
          </p:nvPr>
        </p:nvSpPr>
        <p:spPr>
          <a:xfrm>
            <a:off x="261620" y="139700"/>
            <a:ext cx="45993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Transfer learning</a:t>
            </a:r>
            <a:endParaRPr sz="4400" dirty="0">
              <a:latin typeface="+mj-lt"/>
              <a:ea typeface="Cambria"/>
              <a:cs typeface="Cambria"/>
              <a:sym typeface="Cambria"/>
            </a:endParaRPr>
          </a:p>
        </p:txBody>
      </p:sp>
      <p:pic>
        <p:nvPicPr>
          <p:cNvPr id="431" name="Google Shape;431;p49" descr="An Ultimate Guide To Transfer Learning In NLP"/>
          <p:cNvPicPr preferRelativeResize="0"/>
          <p:nvPr/>
        </p:nvPicPr>
        <p:blipFill rotWithShape="1">
          <a:blip r:embed="rId3">
            <a:alphaModFix/>
          </a:blip>
          <a:srcRect/>
          <a:stretch/>
        </p:blipFill>
        <p:spPr>
          <a:xfrm>
            <a:off x="0" y="835660"/>
            <a:ext cx="12039600" cy="6019800"/>
          </a:xfrm>
          <a:prstGeom prst="rect">
            <a:avLst/>
          </a:prstGeom>
          <a:noFill/>
          <a:ln>
            <a:noFill/>
          </a:ln>
        </p:spPr>
      </p:pic>
      <p:pic>
        <p:nvPicPr>
          <p:cNvPr id="432" name="Google Shape;432;p4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436"/>
        <p:cNvGrpSpPr/>
        <p:nvPr/>
      </p:nvGrpSpPr>
      <p:grpSpPr>
        <a:xfrm>
          <a:off x="0" y="0"/>
          <a:ext cx="0" cy="0"/>
          <a:chOff x="0" y="0"/>
          <a:chExt cx="0" cy="0"/>
        </a:xfrm>
      </p:grpSpPr>
      <p:sp>
        <p:nvSpPr>
          <p:cNvPr id="437" name="Google Shape;437;p50"/>
          <p:cNvSpPr txBox="1">
            <a:spLocks noGrp="1"/>
          </p:cNvSpPr>
          <p:nvPr>
            <p:ph type="title"/>
          </p:nvPr>
        </p:nvSpPr>
        <p:spPr>
          <a:xfrm>
            <a:off x="261620" y="139700"/>
            <a:ext cx="951611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When transfer learning makes sense</a:t>
            </a:r>
            <a:endParaRPr sz="4400" dirty="0">
              <a:latin typeface="+mj-lt"/>
              <a:ea typeface="Cambria"/>
              <a:cs typeface="Cambria"/>
              <a:sym typeface="Cambria"/>
            </a:endParaRPr>
          </a:p>
        </p:txBody>
      </p:sp>
      <p:sp>
        <p:nvSpPr>
          <p:cNvPr id="438" name="Google Shape;438;p50"/>
          <p:cNvSpPr txBox="1"/>
          <p:nvPr/>
        </p:nvSpPr>
        <p:spPr>
          <a:xfrm>
            <a:off x="483577" y="1937727"/>
            <a:ext cx="11519600" cy="1490152"/>
          </a:xfrm>
          <a:prstGeom prst="rect">
            <a:avLst/>
          </a:prstGeom>
          <a:noFill/>
          <a:ln>
            <a:noFill/>
          </a:ln>
        </p:spPr>
        <p:txBody>
          <a:bodyPr spcFirstLastPara="1" wrap="square" lIns="0" tIns="12700" rIns="0" bIns="0" anchor="t" anchorCtr="0">
            <a:spAutoFit/>
          </a:bodyPr>
          <a:lstStyle/>
          <a:p>
            <a:pPr marL="297815" marR="0" lvl="0" indent="-285750" algn="l"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Task A and B have the same input x.</a:t>
            </a:r>
            <a:endParaRPr sz="4450" b="0" i="0" u="none" strike="noStrike" cap="none" dirty="0">
              <a:solidFill>
                <a:srgbClr val="000000"/>
              </a:solidFill>
              <a:latin typeface="Cambria"/>
              <a:ea typeface="Cambria"/>
              <a:cs typeface="Cambria"/>
              <a:sym typeface="Cambria"/>
            </a:endParaRPr>
          </a:p>
          <a:p>
            <a:pPr marL="297815" marR="0" lvl="0" indent="-285750" algn="l"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You have a lot more data for Task A than Task B.</a:t>
            </a:r>
            <a:endParaRPr sz="4450" b="0" i="0" u="none" strike="noStrike" cap="none" dirty="0">
              <a:solidFill>
                <a:srgbClr val="000000"/>
              </a:solidFill>
              <a:latin typeface="Cambria"/>
              <a:ea typeface="Cambria"/>
              <a:cs typeface="Cambria"/>
              <a:sym typeface="Cambria"/>
            </a:endParaRPr>
          </a:p>
          <a:p>
            <a:pPr marL="297815" marR="0" lvl="0" indent="-285750" algn="l"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Low level features from A could be helpful for learning B.</a:t>
            </a:r>
            <a:endParaRPr sz="3200" b="0" i="0" u="none" strike="noStrike" cap="none" dirty="0">
              <a:solidFill>
                <a:srgbClr val="000000"/>
              </a:solidFill>
              <a:latin typeface="Cambria"/>
              <a:ea typeface="Cambria"/>
              <a:cs typeface="Cambria"/>
              <a:sym typeface="Cambria"/>
            </a:endParaRPr>
          </a:p>
        </p:txBody>
      </p:sp>
      <p:pic>
        <p:nvPicPr>
          <p:cNvPr id="439" name="Google Shape;439;p5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422"/>
        <p:cNvGrpSpPr/>
        <p:nvPr/>
      </p:nvGrpSpPr>
      <p:grpSpPr>
        <a:xfrm>
          <a:off x="0" y="0"/>
          <a:ext cx="0" cy="0"/>
          <a:chOff x="0" y="0"/>
          <a:chExt cx="0" cy="0"/>
        </a:xfrm>
      </p:grpSpPr>
      <p:sp>
        <p:nvSpPr>
          <p:cNvPr id="423" name="Google Shape;423;p48"/>
          <p:cNvSpPr txBox="1">
            <a:spLocks noGrp="1"/>
          </p:cNvSpPr>
          <p:nvPr>
            <p:ph type="title"/>
          </p:nvPr>
        </p:nvSpPr>
        <p:spPr>
          <a:xfrm>
            <a:off x="261620" y="139700"/>
            <a:ext cx="45993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Transfer learning</a:t>
            </a:r>
            <a:endParaRPr sz="4400" dirty="0">
              <a:latin typeface="+mj-lt"/>
              <a:ea typeface="Cambria"/>
              <a:cs typeface="Cambria"/>
              <a:sym typeface="Cambria"/>
            </a:endParaRPr>
          </a:p>
        </p:txBody>
      </p:sp>
      <p:pic>
        <p:nvPicPr>
          <p:cNvPr id="424" name="Google Shape;424;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425" name="Google Shape;425;p48"/>
          <p:cNvSpPr txBox="1"/>
          <p:nvPr/>
        </p:nvSpPr>
        <p:spPr>
          <a:xfrm>
            <a:off x="261625" y="1273100"/>
            <a:ext cx="10473000" cy="4144181"/>
          </a:xfrm>
          <a:prstGeom prst="rect">
            <a:avLst/>
          </a:prstGeom>
          <a:noFill/>
          <a:ln>
            <a:noFill/>
          </a:ln>
        </p:spPr>
        <p:txBody>
          <a:bodyPr spcFirstLastPara="1" wrap="square" lIns="91425" tIns="91425" rIns="91425" bIns="91425" anchor="t" anchorCtr="0">
            <a:spAutoFit/>
          </a:bodyPr>
          <a:lstStyle/>
          <a:p>
            <a:pPr marL="457200" lvl="0" indent="-381000" algn="just" rtl="0">
              <a:lnSpc>
                <a:spcPct val="115000"/>
              </a:lnSpc>
              <a:spcBef>
                <a:spcPts val="1500"/>
              </a:spcBef>
              <a:spcAft>
                <a:spcPts val="0"/>
              </a:spcAft>
              <a:buClr>
                <a:schemeClr val="dk1"/>
              </a:buClr>
              <a:buSzPts val="2400"/>
              <a:buChar char="●"/>
            </a:pPr>
            <a:r>
              <a:rPr lang="en-US" sz="2400" dirty="0">
                <a:solidFill>
                  <a:schemeClr val="dk1"/>
                </a:solidFill>
                <a:highlight>
                  <a:schemeClr val="lt1"/>
                </a:highlight>
              </a:rPr>
              <a:t>In summary, transfer learning has been most useful when you're trying to do well on a problem with relatively little data, such as radiology diagnosis. It helps the performance of the learning task significantly when the conditions for transfer learning are met. However, transfer learning may not be helpful if the source task has less data than the target task.</a:t>
            </a:r>
            <a:endParaRPr sz="2400" dirty="0">
              <a:solidFill>
                <a:schemeClr val="dk1"/>
              </a:solidFill>
              <a:highlight>
                <a:schemeClr val="lt1"/>
              </a:highlight>
            </a:endParaRPr>
          </a:p>
          <a:p>
            <a:pPr marL="457200" lvl="0" indent="-381000" algn="just" rtl="0">
              <a:lnSpc>
                <a:spcPct val="115000"/>
              </a:lnSpc>
              <a:spcBef>
                <a:spcPts val="0"/>
              </a:spcBef>
              <a:spcAft>
                <a:spcPts val="0"/>
              </a:spcAft>
              <a:buClr>
                <a:schemeClr val="dk1"/>
              </a:buClr>
              <a:buSzPts val="2400"/>
              <a:buChar char="●"/>
            </a:pPr>
            <a:r>
              <a:rPr lang="en-US" sz="2400" dirty="0">
                <a:solidFill>
                  <a:schemeClr val="dk1"/>
                </a:solidFill>
                <a:highlight>
                  <a:schemeClr val="lt1"/>
                </a:highlight>
              </a:rPr>
              <a:t>Multitask learning is another version of learning from multiple tasks simultaneously, and it will be discussed in the next section.</a:t>
            </a:r>
            <a:endParaRPr sz="2400" dirty="0">
              <a:solidFill>
                <a:schemeClr val="dk1"/>
              </a:solidFill>
              <a:highlight>
                <a:schemeClr val="lt1"/>
              </a:highlight>
            </a:endParaRPr>
          </a:p>
          <a:p>
            <a:pPr marL="0" lvl="0" indent="0" algn="just" rtl="0">
              <a:spcBef>
                <a:spcPts val="0"/>
              </a:spcBef>
              <a:spcAft>
                <a:spcPts val="0"/>
              </a:spcAft>
              <a:buNone/>
            </a:pPr>
            <a:endParaRPr sz="2400" dirty="0">
              <a:solidFill>
                <a:schemeClr val="dk1"/>
              </a:solidFill>
              <a:highlight>
                <a:schemeClr val="lt1"/>
              </a:highligh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443"/>
        <p:cNvGrpSpPr/>
        <p:nvPr/>
      </p:nvGrpSpPr>
      <p:grpSpPr>
        <a:xfrm>
          <a:off x="0" y="0"/>
          <a:ext cx="0" cy="0"/>
          <a:chOff x="0" y="0"/>
          <a:chExt cx="0" cy="0"/>
        </a:xfrm>
      </p:grpSpPr>
      <p:sp>
        <p:nvSpPr>
          <p:cNvPr id="444" name="Google Shape;444;p51"/>
          <p:cNvSpPr txBox="1">
            <a:spLocks noGrp="1"/>
          </p:cNvSpPr>
          <p:nvPr>
            <p:ph type="title"/>
          </p:nvPr>
        </p:nvSpPr>
        <p:spPr>
          <a:xfrm>
            <a:off x="4836350" y="1268310"/>
            <a:ext cx="6908800" cy="2109808"/>
          </a:xfrm>
          <a:prstGeom prst="rect">
            <a:avLst/>
          </a:prstGeom>
          <a:noFill/>
          <a:ln>
            <a:noFill/>
          </a:ln>
        </p:spPr>
        <p:txBody>
          <a:bodyPr spcFirstLastPara="1" wrap="square" lIns="0" tIns="114300" rIns="0" bIns="0" anchor="t" anchorCtr="0">
            <a:spAutoFit/>
          </a:bodyPr>
          <a:lstStyle/>
          <a:p>
            <a:pPr marL="43180" marR="5080" lvl="0" indent="-31115" algn="ctr" rtl="0">
              <a:lnSpc>
                <a:spcPct val="108333"/>
              </a:lnSpc>
              <a:spcBef>
                <a:spcPts val="0"/>
              </a:spcBef>
              <a:spcAft>
                <a:spcPts val="0"/>
              </a:spcAft>
              <a:buSzPts val="1400"/>
              <a:buNone/>
            </a:pPr>
            <a:r>
              <a:rPr lang="en-US" dirty="0">
                <a:latin typeface="+mj-lt"/>
              </a:rPr>
              <a:t>Learning from multiple tasks</a:t>
            </a:r>
            <a:endParaRPr dirty="0">
              <a:latin typeface="+mj-lt"/>
            </a:endParaRPr>
          </a:p>
        </p:txBody>
      </p:sp>
      <p:sp>
        <p:nvSpPr>
          <p:cNvPr id="445" name="Google Shape;445;p51"/>
          <p:cNvSpPr txBox="1"/>
          <p:nvPr/>
        </p:nvSpPr>
        <p:spPr>
          <a:xfrm>
            <a:off x="4836350" y="3444685"/>
            <a:ext cx="6908800" cy="1025394"/>
          </a:xfrm>
          <a:prstGeom prst="rect">
            <a:avLst/>
          </a:prstGeom>
          <a:noFill/>
          <a:ln>
            <a:noFill/>
          </a:ln>
        </p:spPr>
        <p:txBody>
          <a:bodyPr spcFirstLastPara="1" wrap="square" lIns="0" tIns="27925" rIns="0" bIns="0" anchor="t" anchorCtr="0">
            <a:spAutoFit/>
          </a:bodyPr>
          <a:lstStyle/>
          <a:p>
            <a:pPr marL="357505" marR="5080" lvl="0" indent="-345440"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Multi-task learning</a:t>
            </a:r>
            <a:endParaRPr sz="5400" b="0" i="0" u="none" strike="noStrike" cap="none" dirty="0">
              <a:solidFill>
                <a:srgbClr val="000000"/>
              </a:solidFill>
              <a:latin typeface="+mj-lt"/>
              <a:ea typeface="Calibri"/>
              <a:cs typeface="Calibri"/>
              <a:sym typeface="Calibri"/>
            </a:endParaRPr>
          </a:p>
        </p:txBody>
      </p:sp>
      <p:sp>
        <p:nvSpPr>
          <p:cNvPr id="446" name="Google Shape;446;p51"/>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47" name="Google Shape;447;p5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451"/>
        <p:cNvGrpSpPr/>
        <p:nvPr/>
      </p:nvGrpSpPr>
      <p:grpSpPr>
        <a:xfrm>
          <a:off x="0" y="0"/>
          <a:ext cx="0" cy="0"/>
          <a:chOff x="0" y="0"/>
          <a:chExt cx="0" cy="0"/>
        </a:xfrm>
      </p:grpSpPr>
      <p:sp>
        <p:nvSpPr>
          <p:cNvPr id="452" name="Google Shape;452;p52"/>
          <p:cNvSpPr txBox="1">
            <a:spLocks noGrp="1"/>
          </p:cNvSpPr>
          <p:nvPr>
            <p:ph type="title"/>
          </p:nvPr>
        </p:nvSpPr>
        <p:spPr>
          <a:xfrm>
            <a:off x="261620" y="139700"/>
            <a:ext cx="10325700" cy="825354"/>
          </a:xfrm>
          <a:prstGeom prst="rect">
            <a:avLst/>
          </a:prstGeom>
          <a:noFill/>
          <a:ln>
            <a:noFill/>
          </a:ln>
        </p:spPr>
        <p:txBody>
          <a:bodyPr spcFirstLastPara="1" wrap="square" lIns="0" tIns="12700" rIns="0" bIns="0" anchor="t" anchorCtr="0">
            <a:spAutoFit/>
          </a:bodyPr>
          <a:lstStyle/>
          <a:p>
            <a:pPr marL="357505" marR="5080" lvl="0" indent="-345440" algn="l" rtl="0">
              <a:lnSpc>
                <a:spcPct val="119696"/>
              </a:lnSpc>
              <a:spcBef>
                <a:spcPts val="0"/>
              </a:spcBef>
              <a:spcAft>
                <a:spcPts val="0"/>
              </a:spcAft>
              <a:buClr>
                <a:schemeClr val="dk1"/>
              </a:buClr>
              <a:buSzPts val="6600"/>
              <a:buFont typeface="Arial"/>
              <a:buNone/>
            </a:pPr>
            <a:r>
              <a:rPr lang="en-US" sz="4400" dirty="0">
                <a:latin typeface="+mj-lt"/>
              </a:rPr>
              <a:t>Multi-task learning</a:t>
            </a:r>
            <a:endParaRPr sz="4400" dirty="0">
              <a:latin typeface="+mj-lt"/>
            </a:endParaRPr>
          </a:p>
        </p:txBody>
      </p:sp>
      <p:pic>
        <p:nvPicPr>
          <p:cNvPr id="453" name="Google Shape;453;p5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454" name="Google Shape;454;p52"/>
          <p:cNvSpPr txBox="1"/>
          <p:nvPr/>
        </p:nvSpPr>
        <p:spPr>
          <a:xfrm>
            <a:off x="385524" y="1228925"/>
            <a:ext cx="11440129" cy="2733026"/>
          </a:xfrm>
          <a:prstGeom prst="rect">
            <a:avLst/>
          </a:prstGeom>
          <a:noFill/>
          <a:ln>
            <a:noFill/>
          </a:ln>
        </p:spPr>
        <p:txBody>
          <a:bodyPr spcFirstLastPara="1" wrap="square" lIns="91425" tIns="91425" rIns="91425" bIns="91425" anchor="t" anchorCtr="0">
            <a:spAutoFit/>
          </a:bodyPr>
          <a:lstStyle/>
          <a:p>
            <a:pPr marL="419100" lvl="0" indent="-342900" algn="just">
              <a:lnSpc>
                <a:spcPct val="115000"/>
              </a:lnSpc>
              <a:buClr>
                <a:schemeClr val="dk1"/>
              </a:buClr>
              <a:buSzPts val="2400"/>
              <a:buFont typeface="Arial" panose="020B0604020202020204" pitchFamily="34" charset="0"/>
              <a:buChar char="•"/>
            </a:pPr>
            <a:r>
              <a:rPr lang="en-US" sz="2400" dirty="0" smtClean="0">
                <a:solidFill>
                  <a:schemeClr val="dk1"/>
                </a:solidFill>
                <a:highlight>
                  <a:schemeClr val="lt1"/>
                </a:highlight>
              </a:rPr>
              <a:t>Whereas </a:t>
            </a:r>
            <a:r>
              <a:rPr lang="en-US" sz="2400" dirty="0">
                <a:solidFill>
                  <a:schemeClr val="dk1"/>
                </a:solidFill>
                <a:highlight>
                  <a:schemeClr val="lt1"/>
                </a:highlight>
              </a:rPr>
              <a:t>in transfer learning, you have a sequential process where you learn from task A and then transfer that to task B. In multi-task learning, you start off simultaneously, trying to have one neural network do several things at the same time. And then each of these tasks helps hopefully all of the other </a:t>
            </a:r>
            <a:r>
              <a:rPr lang="en-US" sz="2400" dirty="0" smtClean="0">
                <a:solidFill>
                  <a:schemeClr val="dk1"/>
                </a:solidFill>
                <a:highlight>
                  <a:schemeClr val="lt1"/>
                </a:highlight>
              </a:rPr>
              <a:t>tasks.</a:t>
            </a:r>
          </a:p>
          <a:p>
            <a:pPr marL="419100" lvl="0" indent="-342900" algn="just">
              <a:lnSpc>
                <a:spcPct val="115000"/>
              </a:lnSpc>
              <a:buClr>
                <a:schemeClr val="dk1"/>
              </a:buClr>
              <a:buSzPts val="2400"/>
              <a:buFont typeface="Arial" panose="020B0604020202020204" pitchFamily="34" charset="0"/>
              <a:buChar char="•"/>
            </a:pPr>
            <a:r>
              <a:rPr lang="en-US" sz="2400" dirty="0" smtClean="0">
                <a:solidFill>
                  <a:schemeClr val="dk1"/>
                </a:solidFill>
                <a:highlight>
                  <a:schemeClr val="lt1"/>
                </a:highlight>
              </a:rPr>
              <a:t>Example: You </a:t>
            </a:r>
            <a:r>
              <a:rPr lang="en-US" sz="2400" dirty="0">
                <a:solidFill>
                  <a:schemeClr val="dk1"/>
                </a:solidFill>
                <a:highlight>
                  <a:schemeClr val="lt1"/>
                </a:highlight>
              </a:rPr>
              <a:t>want to build an object recognition system that detects pedestrians, cars, stop signs, and traffic lights (image has multiple labels</a:t>
            </a:r>
            <a:r>
              <a:rPr lang="en-US" sz="2400" dirty="0" smtClean="0">
                <a:solidFill>
                  <a:schemeClr val="dk1"/>
                </a:solidFill>
                <a:highlight>
                  <a:schemeClr val="lt1"/>
                </a:highlight>
              </a:rPr>
              <a:t>). </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472"/>
        <p:cNvGrpSpPr/>
        <p:nvPr/>
      </p:nvGrpSpPr>
      <p:grpSpPr>
        <a:xfrm>
          <a:off x="0" y="0"/>
          <a:ext cx="0" cy="0"/>
          <a:chOff x="0" y="0"/>
          <a:chExt cx="0" cy="0"/>
        </a:xfrm>
      </p:grpSpPr>
      <p:sp>
        <p:nvSpPr>
          <p:cNvPr id="473" name="Google Shape;473;p55"/>
          <p:cNvSpPr txBox="1">
            <a:spLocks noGrp="1"/>
          </p:cNvSpPr>
          <p:nvPr>
            <p:ph type="title"/>
          </p:nvPr>
        </p:nvSpPr>
        <p:spPr>
          <a:xfrm>
            <a:off x="261620" y="139700"/>
            <a:ext cx="103257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Simplified autonomous driving example</a:t>
            </a:r>
            <a:endParaRPr sz="4400" dirty="0">
              <a:latin typeface="+mj-lt"/>
              <a:ea typeface="Cambria"/>
              <a:cs typeface="Cambria"/>
              <a:sym typeface="Cambria"/>
            </a:endParaRPr>
          </a:p>
        </p:txBody>
      </p:sp>
      <p:pic>
        <p:nvPicPr>
          <p:cNvPr id="474" name="Google Shape;474;p55"/>
          <p:cNvPicPr preferRelativeResize="0"/>
          <p:nvPr/>
        </p:nvPicPr>
        <p:blipFill rotWithShape="1">
          <a:blip r:embed="rId3">
            <a:alphaModFix/>
          </a:blip>
          <a:srcRect/>
          <a:stretch/>
        </p:blipFill>
        <p:spPr>
          <a:xfrm>
            <a:off x="762000" y="1158687"/>
            <a:ext cx="4027281" cy="3489513"/>
          </a:xfrm>
          <a:prstGeom prst="rect">
            <a:avLst/>
          </a:prstGeom>
          <a:noFill/>
          <a:ln>
            <a:noFill/>
          </a:ln>
        </p:spPr>
      </p:pic>
      <p:pic>
        <p:nvPicPr>
          <p:cNvPr id="475" name="Google Shape;475;p55"/>
          <p:cNvPicPr preferRelativeResize="0"/>
          <p:nvPr/>
        </p:nvPicPr>
        <p:blipFill rotWithShape="1">
          <a:blip r:embed="rId4">
            <a:alphaModFix/>
          </a:blip>
          <a:srcRect/>
          <a:stretch/>
        </p:blipFill>
        <p:spPr>
          <a:xfrm>
            <a:off x="5486400" y="1158687"/>
            <a:ext cx="5558400" cy="3657600"/>
          </a:xfrm>
          <a:prstGeom prst="rect">
            <a:avLst/>
          </a:prstGeom>
          <a:noFill/>
          <a:ln>
            <a:noFill/>
          </a:ln>
        </p:spPr>
      </p:pic>
      <p:pic>
        <p:nvPicPr>
          <p:cNvPr id="476" name="Google Shape;476;p55"/>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480"/>
        <p:cNvGrpSpPr/>
        <p:nvPr/>
      </p:nvGrpSpPr>
      <p:grpSpPr>
        <a:xfrm>
          <a:off x="0" y="0"/>
          <a:ext cx="0" cy="0"/>
          <a:chOff x="0" y="0"/>
          <a:chExt cx="0" cy="0"/>
        </a:xfrm>
      </p:grpSpPr>
      <p:sp>
        <p:nvSpPr>
          <p:cNvPr id="481" name="Google Shape;481;p56"/>
          <p:cNvSpPr txBox="1">
            <a:spLocks noGrp="1"/>
          </p:cNvSpPr>
          <p:nvPr>
            <p:ph type="title"/>
          </p:nvPr>
        </p:nvSpPr>
        <p:spPr>
          <a:xfrm>
            <a:off x="261620" y="139700"/>
            <a:ext cx="74339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Neural network architecture</a:t>
            </a:r>
            <a:endParaRPr sz="4400" dirty="0">
              <a:latin typeface="+mj-lt"/>
              <a:ea typeface="Cambria"/>
              <a:cs typeface="Cambria"/>
              <a:sym typeface="Cambria"/>
            </a:endParaRPr>
          </a:p>
        </p:txBody>
      </p:sp>
      <p:pic>
        <p:nvPicPr>
          <p:cNvPr id="482" name="Google Shape;482;p56"/>
          <p:cNvPicPr preferRelativeResize="0"/>
          <p:nvPr/>
        </p:nvPicPr>
        <p:blipFill rotWithShape="1">
          <a:blip r:embed="rId3">
            <a:alphaModFix/>
          </a:blip>
          <a:srcRect/>
          <a:stretch/>
        </p:blipFill>
        <p:spPr>
          <a:xfrm>
            <a:off x="539263" y="1283677"/>
            <a:ext cx="11231454" cy="3985355"/>
          </a:xfrm>
          <a:prstGeom prst="rect">
            <a:avLst/>
          </a:prstGeom>
          <a:noFill/>
          <a:ln>
            <a:noFill/>
          </a:ln>
        </p:spPr>
      </p:pic>
      <p:pic>
        <p:nvPicPr>
          <p:cNvPr id="483" name="Google Shape;483;p56"/>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487"/>
        <p:cNvGrpSpPr/>
        <p:nvPr/>
      </p:nvGrpSpPr>
      <p:grpSpPr>
        <a:xfrm>
          <a:off x="0" y="0"/>
          <a:ext cx="0" cy="0"/>
          <a:chOff x="0" y="0"/>
          <a:chExt cx="0" cy="0"/>
        </a:xfrm>
      </p:grpSpPr>
      <p:sp>
        <p:nvSpPr>
          <p:cNvPr id="488" name="Google Shape;488;p57"/>
          <p:cNvSpPr txBox="1">
            <a:spLocks noGrp="1"/>
          </p:cNvSpPr>
          <p:nvPr>
            <p:ph type="title"/>
          </p:nvPr>
        </p:nvSpPr>
        <p:spPr>
          <a:xfrm>
            <a:off x="261620" y="139700"/>
            <a:ext cx="101390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When multi-task learning makes sense</a:t>
            </a:r>
            <a:endParaRPr sz="4400" dirty="0">
              <a:latin typeface="+mj-lt"/>
              <a:ea typeface="Cambria"/>
              <a:cs typeface="Cambria"/>
              <a:sym typeface="Cambria"/>
            </a:endParaRPr>
          </a:p>
        </p:txBody>
      </p:sp>
      <p:sp>
        <p:nvSpPr>
          <p:cNvPr id="489" name="Google Shape;489;p57"/>
          <p:cNvSpPr txBox="1"/>
          <p:nvPr/>
        </p:nvSpPr>
        <p:spPr>
          <a:xfrm>
            <a:off x="520175" y="1486695"/>
            <a:ext cx="11081385" cy="1409084"/>
          </a:xfrm>
          <a:prstGeom prst="rect">
            <a:avLst/>
          </a:prstGeom>
          <a:noFill/>
          <a:ln>
            <a:noFill/>
          </a:ln>
        </p:spPr>
        <p:txBody>
          <a:bodyPr spcFirstLastPara="1" wrap="square" lIns="0" tIns="4425" rIns="0" bIns="0" anchor="t" anchorCtr="0">
            <a:spAutoFit/>
          </a:bodyPr>
          <a:lstStyle/>
          <a:p>
            <a:pPr marL="469265" marR="5080" lvl="0" indent="-457200" algn="l" rtl="0">
              <a:lnSpc>
                <a:spcPct val="101600"/>
              </a:lnSpc>
              <a:spcBef>
                <a:spcPts val="0"/>
              </a:spcBef>
              <a:spcAft>
                <a:spcPts val="0"/>
              </a:spcAft>
              <a:buClr>
                <a:srgbClr val="000000"/>
              </a:buClr>
              <a:buSzPts val="3200"/>
              <a:buFont typeface="Arial"/>
              <a:buChar char="•"/>
            </a:pPr>
            <a:r>
              <a:rPr lang="en-US" sz="2800" b="0" i="0" u="none" strike="noStrike" cap="none" dirty="0">
                <a:solidFill>
                  <a:srgbClr val="000000"/>
                </a:solidFill>
                <a:latin typeface="+mn-lt"/>
                <a:ea typeface="Cambria"/>
                <a:cs typeface="Cambria"/>
                <a:sym typeface="Cambria"/>
              </a:rPr>
              <a:t>Training on a set of tasks that could benefit from having shared lower-level features.</a:t>
            </a:r>
            <a:endParaRPr sz="2800" b="0" i="0" u="none" strike="noStrike" cap="none" dirty="0">
              <a:solidFill>
                <a:srgbClr val="000000"/>
              </a:solidFill>
              <a:latin typeface="+mn-lt"/>
              <a:ea typeface="Cambria"/>
              <a:cs typeface="Cambria"/>
              <a:sym typeface="Cambria"/>
            </a:endParaRPr>
          </a:p>
          <a:p>
            <a:pPr marL="469900" marR="162560" lvl="0" indent="-457200" algn="l" rtl="0">
              <a:lnSpc>
                <a:spcPct val="121875"/>
              </a:lnSpc>
              <a:spcBef>
                <a:spcPts val="0"/>
              </a:spcBef>
              <a:spcAft>
                <a:spcPts val="0"/>
              </a:spcAft>
              <a:buClr>
                <a:srgbClr val="000000"/>
              </a:buClr>
              <a:buSzPts val="3200"/>
              <a:buFont typeface="Arial"/>
              <a:buChar char="•"/>
            </a:pPr>
            <a:r>
              <a:rPr lang="en-US" sz="2800" b="0" i="0" u="none" strike="noStrike" cap="none" dirty="0">
                <a:solidFill>
                  <a:srgbClr val="000000"/>
                </a:solidFill>
                <a:latin typeface="+mn-lt"/>
                <a:ea typeface="Cambria"/>
                <a:cs typeface="Cambria"/>
                <a:sym typeface="Cambria"/>
              </a:rPr>
              <a:t>Usually: Amount of data you have for each task is quite similar.</a:t>
            </a:r>
            <a:endParaRPr sz="2800" b="0" i="0" u="none" strike="noStrike" cap="none" dirty="0">
              <a:solidFill>
                <a:srgbClr val="000000"/>
              </a:solidFill>
              <a:latin typeface="+mn-lt"/>
              <a:ea typeface="Cambria"/>
              <a:cs typeface="Cambria"/>
              <a:sym typeface="Cambria"/>
            </a:endParaRPr>
          </a:p>
        </p:txBody>
      </p:sp>
      <p:sp>
        <p:nvSpPr>
          <p:cNvPr id="490" name="Google Shape;490;p57"/>
          <p:cNvSpPr txBox="1"/>
          <p:nvPr/>
        </p:nvSpPr>
        <p:spPr>
          <a:xfrm>
            <a:off x="520175" y="2899293"/>
            <a:ext cx="10888980" cy="443947"/>
          </a:xfrm>
          <a:prstGeom prst="rect">
            <a:avLst/>
          </a:prstGeom>
          <a:noFill/>
          <a:ln>
            <a:noFill/>
          </a:ln>
        </p:spPr>
        <p:txBody>
          <a:bodyPr spcFirstLastPara="1" wrap="square" lIns="0" tIns="4425" rIns="0" bIns="0" anchor="t" anchorCtr="0">
            <a:spAutoFit/>
          </a:bodyPr>
          <a:lstStyle/>
          <a:p>
            <a:pPr marL="469900" marR="5080" lvl="0" indent="-457200" algn="l" rtl="0">
              <a:lnSpc>
                <a:spcPct val="101600"/>
              </a:lnSpc>
              <a:spcBef>
                <a:spcPts val="0"/>
              </a:spcBef>
              <a:spcAft>
                <a:spcPts val="0"/>
              </a:spcAft>
              <a:buClr>
                <a:srgbClr val="000000"/>
              </a:buClr>
              <a:buSzPts val="3200"/>
              <a:buFont typeface="Arial"/>
              <a:buChar char="•"/>
            </a:pPr>
            <a:r>
              <a:rPr lang="en-US" sz="2800" b="0" i="0" u="none" strike="noStrike" cap="none" dirty="0">
                <a:solidFill>
                  <a:srgbClr val="000000"/>
                </a:solidFill>
                <a:latin typeface="+mn-lt"/>
                <a:ea typeface="Cambria"/>
                <a:cs typeface="Cambria"/>
                <a:sym typeface="Cambria"/>
              </a:rPr>
              <a:t>Can train a big enough neural network to do well on all the tasks</a:t>
            </a:r>
            <a:r>
              <a:rPr lang="en-US" sz="2800" b="0" i="0" u="none" strike="noStrike" cap="none" dirty="0" smtClean="0">
                <a:solidFill>
                  <a:srgbClr val="000000"/>
                </a:solidFill>
                <a:latin typeface="+mn-lt"/>
                <a:ea typeface="Cambria"/>
                <a:cs typeface="Cambria"/>
                <a:sym typeface="Cambria"/>
              </a:rPr>
              <a:t>.</a:t>
            </a:r>
            <a:endParaRPr sz="2800" b="0" i="0" u="none" strike="noStrike" cap="none" dirty="0">
              <a:solidFill>
                <a:srgbClr val="000000"/>
              </a:solidFill>
              <a:latin typeface="+mn-lt"/>
              <a:ea typeface="Cambria"/>
              <a:cs typeface="Cambria"/>
              <a:sym typeface="Cambria"/>
            </a:endParaRPr>
          </a:p>
        </p:txBody>
      </p:sp>
      <p:pic>
        <p:nvPicPr>
          <p:cNvPr id="491" name="Google Shape;491;p5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487"/>
        <p:cNvGrpSpPr/>
        <p:nvPr/>
      </p:nvGrpSpPr>
      <p:grpSpPr>
        <a:xfrm>
          <a:off x="0" y="0"/>
          <a:ext cx="0" cy="0"/>
          <a:chOff x="0" y="0"/>
          <a:chExt cx="0" cy="0"/>
        </a:xfrm>
      </p:grpSpPr>
      <p:sp>
        <p:nvSpPr>
          <p:cNvPr id="488" name="Google Shape;488;p57"/>
          <p:cNvSpPr txBox="1">
            <a:spLocks noGrp="1"/>
          </p:cNvSpPr>
          <p:nvPr>
            <p:ph type="title"/>
          </p:nvPr>
        </p:nvSpPr>
        <p:spPr>
          <a:xfrm>
            <a:off x="261620" y="139700"/>
            <a:ext cx="10139045"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Multi-task learning</a:t>
            </a:r>
          </a:p>
        </p:txBody>
      </p:sp>
      <p:sp>
        <p:nvSpPr>
          <p:cNvPr id="489" name="Google Shape;489;p57"/>
          <p:cNvSpPr txBox="1"/>
          <p:nvPr/>
        </p:nvSpPr>
        <p:spPr>
          <a:xfrm>
            <a:off x="520175" y="1486695"/>
            <a:ext cx="11081385" cy="1322906"/>
          </a:xfrm>
          <a:prstGeom prst="rect">
            <a:avLst/>
          </a:prstGeom>
          <a:noFill/>
          <a:ln>
            <a:noFill/>
          </a:ln>
        </p:spPr>
        <p:txBody>
          <a:bodyPr spcFirstLastPara="1" wrap="square" lIns="0" tIns="4425" rIns="0" bIns="0" anchor="t" anchorCtr="0">
            <a:spAutoFit/>
          </a:bodyPr>
          <a:lstStyle/>
          <a:p>
            <a:pPr marL="469265" marR="5080" lvl="0" indent="-457200">
              <a:lnSpc>
                <a:spcPct val="101600"/>
              </a:lnSpc>
              <a:buSzPts val="3200"/>
              <a:buFont typeface="Arial"/>
              <a:buChar char="•"/>
            </a:pPr>
            <a:r>
              <a:rPr lang="en-US" sz="2800" dirty="0" smtClean="0">
                <a:latin typeface="+mn-lt"/>
                <a:ea typeface="Cambria"/>
                <a:cs typeface="Cambria"/>
                <a:sym typeface="Cambria"/>
              </a:rPr>
              <a:t>If </a:t>
            </a:r>
            <a:r>
              <a:rPr lang="en-US" sz="2800" dirty="0">
                <a:latin typeface="+mn-lt"/>
                <a:ea typeface="Cambria"/>
                <a:cs typeface="Cambria"/>
                <a:sym typeface="Cambria"/>
              </a:rPr>
              <a:t>you can train a big enough NN, the performance of the multi-task learning compared to splitting the tasks is </a:t>
            </a:r>
            <a:r>
              <a:rPr lang="en-US" sz="2800" dirty="0" smtClean="0">
                <a:latin typeface="+mn-lt"/>
                <a:ea typeface="Cambria"/>
                <a:cs typeface="Cambria"/>
                <a:sym typeface="Cambria"/>
              </a:rPr>
              <a:t>better.</a:t>
            </a:r>
          </a:p>
          <a:p>
            <a:pPr marL="469265" marR="5080" lvl="0" indent="-457200">
              <a:lnSpc>
                <a:spcPct val="101600"/>
              </a:lnSpc>
              <a:buSzPts val="3200"/>
              <a:buFont typeface="Arial"/>
              <a:buChar char="•"/>
            </a:pPr>
            <a:r>
              <a:rPr lang="en-US" sz="2800" dirty="0" smtClean="0">
                <a:latin typeface="+mn-lt"/>
                <a:ea typeface="Cambria"/>
                <a:cs typeface="Cambria"/>
                <a:sym typeface="Cambria"/>
              </a:rPr>
              <a:t>Today </a:t>
            </a:r>
            <a:r>
              <a:rPr lang="en-US" sz="2800" dirty="0">
                <a:latin typeface="+mn-lt"/>
                <a:ea typeface="Cambria"/>
                <a:cs typeface="Cambria"/>
                <a:sym typeface="Cambria"/>
              </a:rPr>
              <a:t>transfer learning is used more often than multi-task learning.</a:t>
            </a:r>
            <a:endParaRPr sz="2800" b="0" i="0" u="none" strike="noStrike" cap="none" dirty="0">
              <a:solidFill>
                <a:srgbClr val="000000"/>
              </a:solidFill>
              <a:latin typeface="+mn-lt"/>
              <a:ea typeface="Cambria"/>
              <a:cs typeface="Cambria"/>
              <a:sym typeface="Cambria"/>
            </a:endParaRPr>
          </a:p>
        </p:txBody>
      </p:sp>
      <p:pic>
        <p:nvPicPr>
          <p:cNvPr id="491" name="Google Shape;491;p5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extLst>
      <p:ext uri="{BB962C8B-B14F-4D97-AF65-F5344CB8AC3E}">
        <p14:creationId xmlns:p14="http://schemas.microsoft.com/office/powerpoint/2010/main" val="37822539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495"/>
        <p:cNvGrpSpPr/>
        <p:nvPr/>
      </p:nvGrpSpPr>
      <p:grpSpPr>
        <a:xfrm>
          <a:off x="0" y="0"/>
          <a:ext cx="0" cy="0"/>
          <a:chOff x="0" y="0"/>
          <a:chExt cx="0" cy="0"/>
        </a:xfrm>
      </p:grpSpPr>
      <p:sp>
        <p:nvSpPr>
          <p:cNvPr id="496" name="Google Shape;496;p58"/>
          <p:cNvSpPr txBox="1"/>
          <p:nvPr/>
        </p:nvSpPr>
        <p:spPr>
          <a:xfrm>
            <a:off x="4836351" y="3440429"/>
            <a:ext cx="6908800" cy="2009899"/>
          </a:xfrm>
          <a:prstGeom prst="rect">
            <a:avLst/>
          </a:prstGeom>
          <a:noFill/>
          <a:ln>
            <a:noFill/>
          </a:ln>
        </p:spPr>
        <p:txBody>
          <a:bodyPr spcFirstLastPara="1" wrap="square" lIns="0" tIns="48250" rIns="0" bIns="0" anchor="t" anchorCtr="0">
            <a:spAutoFit/>
          </a:bodyPr>
          <a:lstStyle/>
          <a:p>
            <a:pPr marL="437515" marR="430530" lvl="0" indent="-1905"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What is end-to-end</a:t>
            </a:r>
            <a:endParaRPr sz="5400" b="0" i="0" u="none" strike="noStrike" cap="none" dirty="0">
              <a:solidFill>
                <a:srgbClr val="000000"/>
              </a:solidFill>
              <a:latin typeface="+mj-lt"/>
              <a:ea typeface="Calibri"/>
              <a:cs typeface="Calibri"/>
              <a:sym typeface="Calibri"/>
            </a:endParaRPr>
          </a:p>
          <a:p>
            <a:pPr marL="0" marR="0" lvl="0" indent="0" algn="ctr" rtl="0">
              <a:lnSpc>
                <a:spcPct val="115757"/>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deep learning</a:t>
            </a:r>
            <a:endParaRPr sz="5400" b="0" i="0" u="none" strike="noStrike" cap="none" dirty="0">
              <a:solidFill>
                <a:srgbClr val="000000"/>
              </a:solidFill>
              <a:latin typeface="+mj-lt"/>
              <a:ea typeface="Calibri"/>
              <a:cs typeface="Calibri"/>
              <a:sym typeface="Calibri"/>
            </a:endParaRPr>
          </a:p>
        </p:txBody>
      </p:sp>
      <p:sp>
        <p:nvSpPr>
          <p:cNvPr id="497" name="Google Shape;497;p58"/>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98" name="Google Shape;498;p58"/>
          <p:cNvSpPr txBox="1">
            <a:spLocks noGrp="1"/>
          </p:cNvSpPr>
          <p:nvPr>
            <p:ph type="title"/>
          </p:nvPr>
        </p:nvSpPr>
        <p:spPr>
          <a:xfrm>
            <a:off x="4836350" y="1292067"/>
            <a:ext cx="6908800" cy="2109808"/>
          </a:xfrm>
          <a:prstGeom prst="rect">
            <a:avLst/>
          </a:prstGeom>
          <a:noFill/>
          <a:ln>
            <a:noFill/>
          </a:ln>
        </p:spPr>
        <p:txBody>
          <a:bodyPr spcFirstLastPara="1" wrap="square" lIns="0" tIns="114300" rIns="0" bIns="0" anchor="t" anchorCtr="0">
            <a:spAutoFit/>
          </a:bodyPr>
          <a:lstStyle/>
          <a:p>
            <a:pPr marL="1348740" marR="5080" lvl="0" indent="-1336675" algn="ctr" rtl="0">
              <a:lnSpc>
                <a:spcPct val="108333"/>
              </a:lnSpc>
              <a:spcBef>
                <a:spcPts val="0"/>
              </a:spcBef>
              <a:spcAft>
                <a:spcPts val="0"/>
              </a:spcAft>
              <a:buSzPts val="1400"/>
              <a:buNone/>
            </a:pPr>
            <a:r>
              <a:rPr lang="en-US" dirty="0">
                <a:latin typeface="+mj-lt"/>
              </a:rPr>
              <a:t>End-to-end deep</a:t>
            </a:r>
            <a:br>
              <a:rPr lang="en-US" dirty="0">
                <a:latin typeface="+mj-lt"/>
              </a:rPr>
            </a:br>
            <a:r>
              <a:rPr lang="en-US" dirty="0">
                <a:latin typeface="+mj-lt"/>
              </a:rPr>
              <a:t>learning</a:t>
            </a:r>
            <a:endParaRPr dirty="0">
              <a:latin typeface="+mj-lt"/>
            </a:endParaRPr>
          </a:p>
        </p:txBody>
      </p:sp>
      <p:pic>
        <p:nvPicPr>
          <p:cNvPr id="499" name="Google Shape;499;p58"/>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503"/>
        <p:cNvGrpSpPr/>
        <p:nvPr/>
      </p:nvGrpSpPr>
      <p:grpSpPr>
        <a:xfrm>
          <a:off x="0" y="0"/>
          <a:ext cx="0" cy="0"/>
          <a:chOff x="0" y="0"/>
          <a:chExt cx="0" cy="0"/>
        </a:xfrm>
      </p:grpSpPr>
      <p:sp>
        <p:nvSpPr>
          <p:cNvPr id="504" name="Google Shape;504;p59"/>
          <p:cNvSpPr txBox="1"/>
          <p:nvPr/>
        </p:nvSpPr>
        <p:spPr>
          <a:xfrm>
            <a:off x="404445" y="7013"/>
            <a:ext cx="10066129" cy="825354"/>
          </a:xfrm>
          <a:prstGeom prst="rect">
            <a:avLst/>
          </a:prstGeom>
          <a:noFill/>
          <a:ln>
            <a:noFill/>
          </a:ln>
        </p:spPr>
        <p:txBody>
          <a:bodyPr spcFirstLastPara="1" wrap="square" lIns="0" tIns="12700" rIns="0" bIns="0" anchor="t" anchorCtr="0">
            <a:spAutoFit/>
          </a:bodyPr>
          <a:lstStyle/>
          <a:p>
            <a:pPr marL="437515" marR="430530" lvl="0" indent="-1905" algn="l" rtl="0">
              <a:lnSpc>
                <a:spcPct val="119696"/>
              </a:lnSpc>
              <a:spcBef>
                <a:spcPts val="0"/>
              </a:spcBef>
              <a:spcAft>
                <a:spcPts val="0"/>
              </a:spcAft>
              <a:buClr>
                <a:schemeClr val="dk1"/>
              </a:buClr>
              <a:buSzPts val="6600"/>
              <a:buFont typeface="Arial"/>
              <a:buNone/>
            </a:pPr>
            <a:r>
              <a:rPr lang="en-US" sz="4400" dirty="0">
                <a:solidFill>
                  <a:schemeClr val="dk1"/>
                </a:solidFill>
                <a:latin typeface="+mj-lt"/>
                <a:ea typeface="Calibri"/>
                <a:cs typeface="Calibri"/>
                <a:sym typeface="Calibri"/>
              </a:rPr>
              <a:t>What is end-to-end deep learning</a:t>
            </a:r>
            <a:endParaRPr sz="4400" dirty="0">
              <a:latin typeface="+mj-lt"/>
              <a:ea typeface="Cambria"/>
              <a:cs typeface="Cambria"/>
              <a:sym typeface="Cambria"/>
            </a:endParaRPr>
          </a:p>
        </p:txBody>
      </p:sp>
      <p:pic>
        <p:nvPicPr>
          <p:cNvPr id="505" name="Google Shape;505;p5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06" name="Google Shape;506;p59"/>
          <p:cNvSpPr txBox="1"/>
          <p:nvPr/>
        </p:nvSpPr>
        <p:spPr>
          <a:xfrm>
            <a:off x="518782" y="1148177"/>
            <a:ext cx="11290597" cy="3877954"/>
          </a:xfrm>
          <a:prstGeom prst="rect">
            <a:avLst/>
          </a:prstGeom>
          <a:noFill/>
          <a:ln>
            <a:noFill/>
          </a:ln>
        </p:spPr>
        <p:txBody>
          <a:bodyPr spcFirstLastPara="1" wrap="square" lIns="91425" tIns="91425" rIns="91425" bIns="91425" anchor="t" anchorCtr="0">
            <a:spAutoFit/>
          </a:bodyPr>
          <a:lstStyle/>
          <a:p>
            <a:pPr marL="457200" lvl="0" indent="-381000" algn="just">
              <a:buClr>
                <a:schemeClr val="dk1"/>
              </a:buClr>
              <a:buSzPts val="2400"/>
              <a:buChar char="●"/>
            </a:pPr>
            <a:r>
              <a:rPr lang="en-US" sz="2400" dirty="0">
                <a:solidFill>
                  <a:schemeClr val="dk1"/>
                </a:solidFill>
              </a:rPr>
              <a:t>End-to-end deep learning is a technique that aims to replace multiple stages of processing with a single neural network, making it simpler and more efficient. While traditional data processing systems require multiple stages to achieve a goal, end-to-end learning trains a single neural network to input the data and output the final prediction directly. </a:t>
            </a:r>
            <a:endParaRPr lang="en-US" sz="2400" dirty="0" smtClean="0">
              <a:solidFill>
                <a:schemeClr val="dk1"/>
              </a:solidFill>
            </a:endParaRPr>
          </a:p>
          <a:p>
            <a:pPr marL="457200" lvl="0" indent="-381000" algn="just">
              <a:buClr>
                <a:schemeClr val="dk1"/>
              </a:buClr>
              <a:buSzPts val="2400"/>
              <a:buChar char="●"/>
            </a:pPr>
            <a:r>
              <a:rPr lang="en-US" sz="2400" dirty="0" smtClean="0">
                <a:solidFill>
                  <a:schemeClr val="dk1"/>
                </a:solidFill>
              </a:rPr>
              <a:t>However</a:t>
            </a:r>
            <a:r>
              <a:rPr lang="en-US" sz="2400" dirty="0">
                <a:solidFill>
                  <a:schemeClr val="dk1"/>
                </a:solidFill>
              </a:rPr>
              <a:t>, end-to-end learning requires a large amount of data to work well, and may not work for all tasks. In some cases, intermediate approaches that break down the problem into multiple steps may be more effective. Therefore, researchers should consider the nature of the task and the availability of data when deciding whether to use end-to-end deep learning or other approaches.</a:t>
            </a:r>
            <a:endParaRPr sz="2400" dirty="0">
              <a:solidFill>
                <a:schemeClr val="dk1"/>
              </a:solidFil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517"/>
        <p:cNvGrpSpPr/>
        <p:nvPr/>
      </p:nvGrpSpPr>
      <p:grpSpPr>
        <a:xfrm>
          <a:off x="0" y="0"/>
          <a:ext cx="0" cy="0"/>
          <a:chOff x="0" y="0"/>
          <a:chExt cx="0" cy="0"/>
        </a:xfrm>
      </p:grpSpPr>
      <p:sp>
        <p:nvSpPr>
          <p:cNvPr id="518" name="Google Shape;518;p61"/>
          <p:cNvSpPr txBox="1"/>
          <p:nvPr/>
        </p:nvSpPr>
        <p:spPr>
          <a:xfrm>
            <a:off x="261620" y="139700"/>
            <a:ext cx="751776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What is end-to-end learning?</a:t>
            </a:r>
            <a:endParaRPr sz="4400" b="0" i="0" u="none" strike="noStrike" cap="none" dirty="0">
              <a:solidFill>
                <a:srgbClr val="000000"/>
              </a:solidFill>
              <a:latin typeface="+mj-lt"/>
              <a:ea typeface="Cambria"/>
              <a:cs typeface="Cambria"/>
              <a:sym typeface="Cambria"/>
            </a:endParaRPr>
          </a:p>
        </p:txBody>
      </p:sp>
      <p:sp>
        <p:nvSpPr>
          <p:cNvPr id="519" name="Google Shape;519;p61"/>
          <p:cNvSpPr txBox="1"/>
          <p:nvPr/>
        </p:nvSpPr>
        <p:spPr>
          <a:xfrm>
            <a:off x="845185" y="835660"/>
            <a:ext cx="5250815"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a:ea typeface="Cambria"/>
                <a:cs typeface="Cambria"/>
                <a:sym typeface="Cambria"/>
              </a:rPr>
              <a:t>Speech recognition example</a:t>
            </a:r>
            <a:endParaRPr sz="3200" b="0" i="0" u="none" strike="noStrike" cap="none">
              <a:solidFill>
                <a:srgbClr val="000000"/>
              </a:solidFill>
              <a:latin typeface="Cambria"/>
              <a:ea typeface="Cambria"/>
              <a:cs typeface="Cambria"/>
              <a:sym typeface="Cambria"/>
            </a:endParaRPr>
          </a:p>
        </p:txBody>
      </p:sp>
      <p:pic>
        <p:nvPicPr>
          <p:cNvPr id="520" name="Google Shape;520;p61"/>
          <p:cNvPicPr preferRelativeResize="0"/>
          <p:nvPr/>
        </p:nvPicPr>
        <p:blipFill rotWithShape="1">
          <a:blip r:embed="rId3">
            <a:alphaModFix/>
          </a:blip>
          <a:srcRect/>
          <a:stretch/>
        </p:blipFill>
        <p:spPr>
          <a:xfrm>
            <a:off x="0" y="1430659"/>
            <a:ext cx="9147080" cy="5427341"/>
          </a:xfrm>
          <a:prstGeom prst="rect">
            <a:avLst/>
          </a:prstGeom>
          <a:noFill/>
          <a:ln>
            <a:noFill/>
          </a:ln>
        </p:spPr>
      </p:pic>
      <p:pic>
        <p:nvPicPr>
          <p:cNvPr id="521" name="Google Shape;521;p6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525"/>
        <p:cNvGrpSpPr/>
        <p:nvPr/>
      </p:nvGrpSpPr>
      <p:grpSpPr>
        <a:xfrm>
          <a:off x="0" y="0"/>
          <a:ext cx="0" cy="0"/>
          <a:chOff x="0" y="0"/>
          <a:chExt cx="0" cy="0"/>
        </a:xfrm>
      </p:grpSpPr>
      <p:sp>
        <p:nvSpPr>
          <p:cNvPr id="526" name="Google Shape;526;p62"/>
          <p:cNvSpPr txBox="1">
            <a:spLocks noGrp="1"/>
          </p:cNvSpPr>
          <p:nvPr>
            <p:ph type="title"/>
          </p:nvPr>
        </p:nvSpPr>
        <p:spPr>
          <a:xfrm>
            <a:off x="261620" y="139700"/>
            <a:ext cx="42779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Face recognition</a:t>
            </a:r>
            <a:endParaRPr sz="4400" dirty="0">
              <a:latin typeface="+mj-lt"/>
              <a:ea typeface="Cambria"/>
              <a:cs typeface="Cambria"/>
              <a:sym typeface="Cambria"/>
            </a:endParaRPr>
          </a:p>
        </p:txBody>
      </p:sp>
      <p:pic>
        <p:nvPicPr>
          <p:cNvPr id="527" name="Google Shape;527;p62"/>
          <p:cNvPicPr preferRelativeResize="0"/>
          <p:nvPr/>
        </p:nvPicPr>
        <p:blipFill rotWithShape="1">
          <a:blip r:embed="rId3">
            <a:alphaModFix/>
          </a:blip>
          <a:srcRect/>
          <a:stretch/>
        </p:blipFill>
        <p:spPr>
          <a:xfrm>
            <a:off x="625364" y="1823758"/>
            <a:ext cx="4939851" cy="3293237"/>
          </a:xfrm>
          <a:prstGeom prst="rect">
            <a:avLst/>
          </a:prstGeom>
          <a:noFill/>
          <a:ln>
            <a:noFill/>
          </a:ln>
        </p:spPr>
      </p:pic>
      <p:sp>
        <p:nvSpPr>
          <p:cNvPr id="528" name="Google Shape;528;p62"/>
          <p:cNvSpPr txBox="1"/>
          <p:nvPr/>
        </p:nvSpPr>
        <p:spPr>
          <a:xfrm>
            <a:off x="632984" y="5158917"/>
            <a:ext cx="2444750" cy="2692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[Image courtesy of Baidu]</a:t>
            </a:r>
            <a:endParaRPr sz="1600" b="0" i="0" u="none" strike="noStrike" cap="none">
              <a:solidFill>
                <a:srgbClr val="000000"/>
              </a:solidFill>
              <a:latin typeface="Cambria"/>
              <a:ea typeface="Cambria"/>
              <a:cs typeface="Cambria"/>
              <a:sym typeface="Cambria"/>
            </a:endParaRPr>
          </a:p>
        </p:txBody>
      </p:sp>
      <p:pic>
        <p:nvPicPr>
          <p:cNvPr id="529" name="Google Shape;529;p62" descr="An optimized solution for face recognition | MIT News | Massachusetts  Institute of Technology"/>
          <p:cNvPicPr preferRelativeResize="0"/>
          <p:nvPr/>
        </p:nvPicPr>
        <p:blipFill rotWithShape="1">
          <a:blip r:embed="rId4">
            <a:alphaModFix/>
          </a:blip>
          <a:srcRect/>
          <a:stretch/>
        </p:blipFill>
        <p:spPr>
          <a:xfrm>
            <a:off x="152400" y="1147914"/>
            <a:ext cx="6967386" cy="4644924"/>
          </a:xfrm>
          <a:prstGeom prst="rect">
            <a:avLst/>
          </a:prstGeom>
          <a:noFill/>
          <a:ln>
            <a:noFill/>
          </a:ln>
        </p:spPr>
      </p:pic>
      <p:pic>
        <p:nvPicPr>
          <p:cNvPr id="530" name="Google Shape;530;p62"/>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534"/>
        <p:cNvGrpSpPr/>
        <p:nvPr/>
      </p:nvGrpSpPr>
      <p:grpSpPr>
        <a:xfrm>
          <a:off x="0" y="0"/>
          <a:ext cx="0" cy="0"/>
          <a:chOff x="0" y="0"/>
          <a:chExt cx="0" cy="0"/>
        </a:xfrm>
      </p:grpSpPr>
      <p:sp>
        <p:nvSpPr>
          <p:cNvPr id="535" name="Google Shape;535;p63"/>
          <p:cNvSpPr txBox="1">
            <a:spLocks noGrp="1"/>
          </p:cNvSpPr>
          <p:nvPr>
            <p:ph type="title"/>
          </p:nvPr>
        </p:nvSpPr>
        <p:spPr>
          <a:xfrm>
            <a:off x="261620" y="139700"/>
            <a:ext cx="393636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More examples</a:t>
            </a:r>
            <a:endParaRPr sz="4400" dirty="0">
              <a:latin typeface="+mj-lt"/>
              <a:ea typeface="Cambria"/>
              <a:cs typeface="Cambria"/>
              <a:sym typeface="Cambria"/>
            </a:endParaRPr>
          </a:p>
        </p:txBody>
      </p:sp>
      <p:sp>
        <p:nvSpPr>
          <p:cNvPr id="536" name="Google Shape;536;p63"/>
          <p:cNvSpPr txBox="1"/>
          <p:nvPr/>
        </p:nvSpPr>
        <p:spPr>
          <a:xfrm>
            <a:off x="232123" y="1066800"/>
            <a:ext cx="3850640"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a:ea typeface="Cambria"/>
                <a:cs typeface="Cambria"/>
                <a:sym typeface="Cambria"/>
              </a:rPr>
              <a:t>Machine translation</a:t>
            </a:r>
            <a:endParaRPr sz="3200" b="0" i="0" u="none" strike="noStrike" cap="none">
              <a:solidFill>
                <a:srgbClr val="000000"/>
              </a:solidFill>
              <a:latin typeface="Cambria"/>
              <a:ea typeface="Cambria"/>
              <a:cs typeface="Cambria"/>
              <a:sym typeface="Cambria"/>
            </a:endParaRPr>
          </a:p>
        </p:txBody>
      </p:sp>
      <p:sp>
        <p:nvSpPr>
          <p:cNvPr id="537" name="Google Shape;537;p63"/>
          <p:cNvSpPr txBox="1"/>
          <p:nvPr/>
        </p:nvSpPr>
        <p:spPr>
          <a:xfrm>
            <a:off x="113819" y="3581400"/>
            <a:ext cx="4314190"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a:ea typeface="Cambria"/>
                <a:cs typeface="Cambria"/>
                <a:sym typeface="Cambria"/>
              </a:rPr>
              <a:t>Estimating child’s age:</a:t>
            </a:r>
            <a:endParaRPr sz="3200" b="0" i="0" u="none" strike="noStrike" cap="none">
              <a:solidFill>
                <a:srgbClr val="000000"/>
              </a:solidFill>
              <a:latin typeface="Cambria"/>
              <a:ea typeface="Cambria"/>
              <a:cs typeface="Cambria"/>
              <a:sym typeface="Cambria"/>
            </a:endParaRPr>
          </a:p>
        </p:txBody>
      </p:sp>
      <p:pic>
        <p:nvPicPr>
          <p:cNvPr id="538" name="Google Shape;538;p63"/>
          <p:cNvPicPr preferRelativeResize="0"/>
          <p:nvPr/>
        </p:nvPicPr>
        <p:blipFill rotWithShape="1">
          <a:blip r:embed="rId3">
            <a:alphaModFix/>
          </a:blip>
          <a:srcRect/>
          <a:stretch/>
        </p:blipFill>
        <p:spPr>
          <a:xfrm>
            <a:off x="762000" y="4281697"/>
            <a:ext cx="1281341" cy="1541458"/>
          </a:xfrm>
          <a:prstGeom prst="rect">
            <a:avLst/>
          </a:prstGeom>
          <a:noFill/>
          <a:ln>
            <a:noFill/>
          </a:ln>
        </p:spPr>
      </p:pic>
      <p:pic>
        <p:nvPicPr>
          <p:cNvPr id="539" name="Google Shape;539;p63"/>
          <p:cNvPicPr preferRelativeResize="0"/>
          <p:nvPr/>
        </p:nvPicPr>
        <p:blipFill rotWithShape="1">
          <a:blip r:embed="rId4">
            <a:alphaModFix/>
          </a:blip>
          <a:srcRect/>
          <a:stretch/>
        </p:blipFill>
        <p:spPr>
          <a:xfrm>
            <a:off x="3505200" y="4325620"/>
            <a:ext cx="3886200" cy="557661"/>
          </a:xfrm>
          <a:prstGeom prst="rect">
            <a:avLst/>
          </a:prstGeom>
          <a:noFill/>
          <a:ln>
            <a:noFill/>
          </a:ln>
        </p:spPr>
      </p:pic>
      <p:pic>
        <p:nvPicPr>
          <p:cNvPr id="540" name="Google Shape;540;p63"/>
          <p:cNvPicPr preferRelativeResize="0"/>
          <p:nvPr/>
        </p:nvPicPr>
        <p:blipFill rotWithShape="1">
          <a:blip r:embed="rId5">
            <a:alphaModFix/>
          </a:blip>
          <a:srcRect/>
          <a:stretch/>
        </p:blipFill>
        <p:spPr>
          <a:xfrm>
            <a:off x="3505201" y="4987886"/>
            <a:ext cx="3200400" cy="573481"/>
          </a:xfrm>
          <a:prstGeom prst="rect">
            <a:avLst/>
          </a:prstGeom>
          <a:noFill/>
          <a:ln>
            <a:noFill/>
          </a:ln>
        </p:spPr>
      </p:pic>
      <p:pic>
        <p:nvPicPr>
          <p:cNvPr id="541" name="Google Shape;541;p63"/>
          <p:cNvPicPr preferRelativeResize="0"/>
          <p:nvPr/>
        </p:nvPicPr>
        <p:blipFill rotWithShape="1">
          <a:blip r:embed="rId6">
            <a:alphaModFix/>
          </a:blip>
          <a:srcRect/>
          <a:stretch/>
        </p:blipFill>
        <p:spPr>
          <a:xfrm>
            <a:off x="1580535" y="1710569"/>
            <a:ext cx="6900043" cy="513080"/>
          </a:xfrm>
          <a:prstGeom prst="rect">
            <a:avLst/>
          </a:prstGeom>
          <a:noFill/>
          <a:ln>
            <a:noFill/>
          </a:ln>
        </p:spPr>
      </p:pic>
      <p:pic>
        <p:nvPicPr>
          <p:cNvPr id="542" name="Google Shape;542;p63"/>
          <p:cNvPicPr preferRelativeResize="0"/>
          <p:nvPr/>
        </p:nvPicPr>
        <p:blipFill rotWithShape="1">
          <a:blip r:embed="rId7">
            <a:alphaModFix/>
          </a:blip>
          <a:srcRect/>
          <a:stretch/>
        </p:blipFill>
        <p:spPr>
          <a:xfrm>
            <a:off x="1402670" y="2253146"/>
            <a:ext cx="1411533" cy="609922"/>
          </a:xfrm>
          <a:prstGeom prst="rect">
            <a:avLst/>
          </a:prstGeom>
          <a:noFill/>
          <a:ln>
            <a:noFill/>
          </a:ln>
        </p:spPr>
      </p:pic>
      <p:cxnSp>
        <p:nvCxnSpPr>
          <p:cNvPr id="543" name="Google Shape;543;p63"/>
          <p:cNvCxnSpPr/>
          <p:nvPr/>
        </p:nvCxnSpPr>
        <p:spPr>
          <a:xfrm>
            <a:off x="2514600" y="2733666"/>
            <a:ext cx="289771" cy="238134"/>
          </a:xfrm>
          <a:prstGeom prst="straightConnector1">
            <a:avLst/>
          </a:prstGeom>
          <a:noFill/>
          <a:ln w="9525" cap="flat" cmpd="sng">
            <a:solidFill>
              <a:srgbClr val="4A7DBA"/>
            </a:solidFill>
            <a:prstDash val="solid"/>
            <a:round/>
            <a:headEnd type="none" w="sm" len="sm"/>
            <a:tailEnd type="triangle" w="med" len="med"/>
          </a:ln>
        </p:spPr>
      </p:cxnSp>
      <p:pic>
        <p:nvPicPr>
          <p:cNvPr id="544" name="Google Shape;544;p63"/>
          <p:cNvPicPr preferRelativeResize="0"/>
          <p:nvPr/>
        </p:nvPicPr>
        <p:blipFill rotWithShape="1">
          <a:blip r:embed="rId8">
            <a:alphaModFix/>
          </a:blip>
          <a:srcRect/>
          <a:stretch/>
        </p:blipFill>
        <p:spPr>
          <a:xfrm>
            <a:off x="2717764" y="3076405"/>
            <a:ext cx="952583" cy="449619"/>
          </a:xfrm>
          <a:prstGeom prst="rect">
            <a:avLst/>
          </a:prstGeom>
          <a:noFill/>
          <a:ln>
            <a:noFill/>
          </a:ln>
        </p:spPr>
      </p:pic>
      <p:cxnSp>
        <p:nvCxnSpPr>
          <p:cNvPr id="545" name="Google Shape;545;p63"/>
          <p:cNvCxnSpPr/>
          <p:nvPr/>
        </p:nvCxnSpPr>
        <p:spPr>
          <a:xfrm flipH="1">
            <a:off x="1402670" y="2863068"/>
            <a:ext cx="197530" cy="261132"/>
          </a:xfrm>
          <a:prstGeom prst="straightConnector1">
            <a:avLst/>
          </a:prstGeom>
          <a:noFill/>
          <a:ln w="9525" cap="flat" cmpd="sng">
            <a:solidFill>
              <a:srgbClr val="4A7DBA"/>
            </a:solidFill>
            <a:prstDash val="solid"/>
            <a:round/>
            <a:headEnd type="none" w="sm" len="sm"/>
            <a:tailEnd type="triangle" w="med" len="med"/>
          </a:ln>
        </p:spPr>
      </p:cxnSp>
      <p:pic>
        <p:nvPicPr>
          <p:cNvPr id="546" name="Google Shape;546;p63"/>
          <p:cNvPicPr preferRelativeResize="0"/>
          <p:nvPr/>
        </p:nvPicPr>
        <p:blipFill rotWithShape="1">
          <a:blip r:embed="rId9">
            <a:alphaModFix/>
          </a:blip>
          <a:srcRect/>
          <a:stretch/>
        </p:blipFill>
        <p:spPr>
          <a:xfrm>
            <a:off x="911137" y="3137372"/>
            <a:ext cx="983065" cy="365792"/>
          </a:xfrm>
          <a:prstGeom prst="rect">
            <a:avLst/>
          </a:prstGeom>
          <a:noFill/>
          <a:ln>
            <a:noFill/>
          </a:ln>
        </p:spPr>
      </p:pic>
      <p:pic>
        <p:nvPicPr>
          <p:cNvPr id="547" name="Google Shape;547;p63"/>
          <p:cNvPicPr preferRelativeResize="0"/>
          <p:nvPr/>
        </p:nvPicPr>
        <p:blipFill rotWithShape="1">
          <a:blip r:embed="rId10">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551"/>
        <p:cNvGrpSpPr/>
        <p:nvPr/>
      </p:nvGrpSpPr>
      <p:grpSpPr>
        <a:xfrm>
          <a:off x="0" y="0"/>
          <a:ext cx="0" cy="0"/>
          <a:chOff x="0" y="0"/>
          <a:chExt cx="0" cy="0"/>
        </a:xfrm>
      </p:grpSpPr>
      <p:sp>
        <p:nvSpPr>
          <p:cNvPr id="552" name="Google Shape;552;p64"/>
          <p:cNvSpPr txBox="1"/>
          <p:nvPr/>
        </p:nvSpPr>
        <p:spPr>
          <a:xfrm>
            <a:off x="4886718" y="3708450"/>
            <a:ext cx="6803390" cy="2022590"/>
          </a:xfrm>
          <a:prstGeom prst="rect">
            <a:avLst/>
          </a:prstGeom>
          <a:noFill/>
          <a:ln>
            <a:noFill/>
          </a:ln>
        </p:spPr>
        <p:txBody>
          <a:bodyPr spcFirstLastPara="1" wrap="square" lIns="0" tIns="27925" rIns="0" bIns="0" anchor="t" anchorCtr="0">
            <a:spAutoFit/>
          </a:bodyPr>
          <a:lstStyle/>
          <a:p>
            <a:pPr marL="12700" marR="5080" lvl="0" indent="736600"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Whether to use end-to-end learning</a:t>
            </a:r>
            <a:endParaRPr sz="5400" b="0" i="0" u="none" strike="noStrike" cap="none" dirty="0">
              <a:solidFill>
                <a:srgbClr val="000000"/>
              </a:solidFill>
              <a:latin typeface="+mj-lt"/>
              <a:ea typeface="Calibri"/>
              <a:cs typeface="Calibri"/>
              <a:sym typeface="Calibri"/>
            </a:endParaRPr>
          </a:p>
        </p:txBody>
      </p:sp>
      <p:sp>
        <p:nvSpPr>
          <p:cNvPr id="553" name="Google Shape;553;p64"/>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4" name="Google Shape;554;p64"/>
          <p:cNvSpPr txBox="1">
            <a:spLocks noGrp="1"/>
          </p:cNvSpPr>
          <p:nvPr>
            <p:ph type="body" idx="1"/>
          </p:nvPr>
        </p:nvSpPr>
        <p:spPr>
          <a:xfrm>
            <a:off x="734898" y="1268310"/>
            <a:ext cx="11010252" cy="2109808"/>
          </a:xfrm>
          <a:prstGeom prst="rect">
            <a:avLst/>
          </a:prstGeom>
          <a:noFill/>
          <a:ln>
            <a:noFill/>
          </a:ln>
        </p:spPr>
        <p:txBody>
          <a:bodyPr spcFirstLastPara="1" wrap="square" lIns="0" tIns="114300" rIns="0" bIns="0" anchor="t" anchorCtr="0">
            <a:spAutoFit/>
          </a:bodyPr>
          <a:lstStyle/>
          <a:p>
            <a:pPr marL="6314440" marR="5080" lvl="0" indent="-1336675" algn="l" rtl="0">
              <a:lnSpc>
                <a:spcPct val="108333"/>
              </a:lnSpc>
              <a:spcBef>
                <a:spcPts val="0"/>
              </a:spcBef>
              <a:spcAft>
                <a:spcPts val="0"/>
              </a:spcAft>
              <a:buSzPts val="1400"/>
              <a:buNone/>
            </a:pPr>
            <a:r>
              <a:rPr lang="en-US" dirty="0">
                <a:latin typeface="+mj-lt"/>
              </a:rPr>
              <a:t>End-to-end deep learning</a:t>
            </a:r>
            <a:endParaRPr dirty="0">
              <a:latin typeface="+mj-lt"/>
            </a:endParaRPr>
          </a:p>
        </p:txBody>
      </p:sp>
      <p:pic>
        <p:nvPicPr>
          <p:cNvPr id="555" name="Google Shape;555;p6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559"/>
        <p:cNvGrpSpPr/>
        <p:nvPr/>
      </p:nvGrpSpPr>
      <p:grpSpPr>
        <a:xfrm>
          <a:off x="0" y="0"/>
          <a:ext cx="0" cy="0"/>
          <a:chOff x="0" y="0"/>
          <a:chExt cx="0" cy="0"/>
        </a:xfrm>
      </p:grpSpPr>
      <p:sp>
        <p:nvSpPr>
          <p:cNvPr id="560" name="Google Shape;560;p65"/>
          <p:cNvSpPr txBox="1">
            <a:spLocks noGrp="1"/>
          </p:cNvSpPr>
          <p:nvPr>
            <p:ph type="title"/>
          </p:nvPr>
        </p:nvSpPr>
        <p:spPr>
          <a:xfrm>
            <a:off x="261625" y="139700"/>
            <a:ext cx="10308475" cy="843821"/>
          </a:xfrm>
          <a:prstGeom prst="rect">
            <a:avLst/>
          </a:prstGeom>
          <a:noFill/>
          <a:ln>
            <a:noFill/>
          </a:ln>
        </p:spPr>
        <p:txBody>
          <a:bodyPr spcFirstLastPara="1" wrap="square" lIns="0" tIns="12700" rIns="0" bIns="0" anchor="t" anchorCtr="0">
            <a:spAutoFit/>
          </a:bodyPr>
          <a:lstStyle/>
          <a:p>
            <a:pPr marL="12700" marR="5080" lvl="0" indent="736600" rtl="0">
              <a:lnSpc>
                <a:spcPct val="119696"/>
              </a:lnSpc>
              <a:spcBef>
                <a:spcPts val="0"/>
              </a:spcBef>
              <a:spcAft>
                <a:spcPts val="0"/>
              </a:spcAft>
              <a:buClr>
                <a:schemeClr val="dk1"/>
              </a:buClr>
              <a:buSzPts val="6600"/>
              <a:buFont typeface="Arial"/>
              <a:buNone/>
            </a:pPr>
            <a:r>
              <a:rPr lang="en-US" sz="4400" dirty="0">
                <a:latin typeface="+mj-lt"/>
              </a:rPr>
              <a:t>Whether to use end-to-end learning</a:t>
            </a:r>
            <a:endParaRPr sz="4400" dirty="0">
              <a:latin typeface="+mj-lt"/>
            </a:endParaRPr>
          </a:p>
        </p:txBody>
      </p:sp>
      <p:pic>
        <p:nvPicPr>
          <p:cNvPr id="561" name="Google Shape;561;p6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62" name="Google Shape;562;p65"/>
          <p:cNvSpPr txBox="1"/>
          <p:nvPr/>
        </p:nvSpPr>
        <p:spPr>
          <a:xfrm>
            <a:off x="421100" y="1063250"/>
            <a:ext cx="11349368" cy="5355282"/>
          </a:xfrm>
          <a:prstGeom prst="rect">
            <a:avLst/>
          </a:prstGeom>
          <a:noFill/>
          <a:ln>
            <a:noFill/>
          </a:ln>
        </p:spPr>
        <p:txBody>
          <a:bodyPr spcFirstLastPara="1" wrap="square" lIns="91425" tIns="91425" rIns="91425" bIns="91425" anchor="t" anchorCtr="0">
            <a:spAutoFit/>
          </a:bodyPr>
          <a:lstStyle/>
          <a:p>
            <a:pPr marL="457200" lvl="0" indent="-381000" algn="just">
              <a:buClr>
                <a:schemeClr val="dk1"/>
              </a:buClr>
              <a:buSzPts val="2400"/>
              <a:buChar char="●"/>
            </a:pPr>
            <a:r>
              <a:rPr lang="en-US" sz="2400" dirty="0">
                <a:solidFill>
                  <a:schemeClr val="dk1"/>
                </a:solidFill>
              </a:rPr>
              <a:t>In machine learning, an end-to-end approach involves feeding input data directly into the algorithm and getting the output as the final result, without any intermediate steps or manual feature engineering. This approach can be beneficial as it allows the algorithm to capture complex statistics present in the data without being limited by human preconceptions. </a:t>
            </a:r>
            <a:endParaRPr lang="en-US" sz="2400" dirty="0" smtClean="0">
              <a:solidFill>
                <a:schemeClr val="dk1"/>
              </a:solidFill>
            </a:endParaRPr>
          </a:p>
          <a:p>
            <a:pPr marL="457200" lvl="0" indent="-381000" algn="just">
              <a:buClr>
                <a:schemeClr val="dk1"/>
              </a:buClr>
              <a:buSzPts val="2400"/>
              <a:buChar char="●"/>
            </a:pPr>
            <a:r>
              <a:rPr lang="en-US" sz="2400" dirty="0" smtClean="0">
                <a:solidFill>
                  <a:schemeClr val="dk1"/>
                </a:solidFill>
              </a:rPr>
              <a:t>However</a:t>
            </a:r>
            <a:r>
              <a:rPr lang="en-US" sz="2400" dirty="0">
                <a:solidFill>
                  <a:schemeClr val="dk1"/>
                </a:solidFill>
              </a:rPr>
              <a:t>, it may require a large amount of data to learn the direct mapping from input to output, and hand-designed components may be useful for learning from less data. Therefore, it is essential to consider the complexity of the problem and the availability of data before deciding whether to use end-to-end deep learning or a combination of machine learning and hand-designed components. </a:t>
            </a:r>
            <a:endParaRPr lang="en-US" sz="2400" dirty="0" smtClean="0">
              <a:solidFill>
                <a:schemeClr val="dk1"/>
              </a:solidFill>
            </a:endParaRPr>
          </a:p>
          <a:p>
            <a:pPr marL="457200" lvl="0" indent="-381000" algn="just">
              <a:buClr>
                <a:schemeClr val="dk1"/>
              </a:buClr>
              <a:buSzPts val="2400"/>
              <a:buChar char="●"/>
            </a:pPr>
            <a:r>
              <a:rPr lang="en-US" sz="2400" dirty="0" smtClean="0">
                <a:solidFill>
                  <a:schemeClr val="dk1"/>
                </a:solidFill>
              </a:rPr>
              <a:t>While </a:t>
            </a:r>
            <a:r>
              <a:rPr lang="en-US" sz="2400" dirty="0">
                <a:solidFill>
                  <a:schemeClr val="dk1"/>
                </a:solidFill>
              </a:rPr>
              <a:t>end-to-end deep learning can work well for certain tasks, it is important to be mindful of where it is applied to create more effective and efficient systems.</a:t>
            </a:r>
            <a:endParaRPr sz="2400" dirty="0">
              <a:solidFill>
                <a:schemeClr val="dk1"/>
              </a:solidFil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573"/>
        <p:cNvGrpSpPr/>
        <p:nvPr/>
      </p:nvGrpSpPr>
      <p:grpSpPr>
        <a:xfrm>
          <a:off x="0" y="0"/>
          <a:ext cx="0" cy="0"/>
          <a:chOff x="0" y="0"/>
          <a:chExt cx="0" cy="0"/>
        </a:xfrm>
      </p:grpSpPr>
      <p:sp>
        <p:nvSpPr>
          <p:cNvPr id="574" name="Google Shape;574;p67"/>
          <p:cNvSpPr txBox="1">
            <a:spLocks noGrp="1"/>
          </p:cNvSpPr>
          <p:nvPr>
            <p:ph type="title"/>
          </p:nvPr>
        </p:nvSpPr>
        <p:spPr>
          <a:xfrm>
            <a:off x="261620" y="139700"/>
            <a:ext cx="108078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Pros and cons of end-to-end deep learning</a:t>
            </a:r>
            <a:endParaRPr sz="4400" dirty="0">
              <a:latin typeface="+mj-lt"/>
              <a:ea typeface="Cambria"/>
              <a:cs typeface="Cambria"/>
              <a:sym typeface="Cambria"/>
            </a:endParaRPr>
          </a:p>
        </p:txBody>
      </p:sp>
      <p:sp>
        <p:nvSpPr>
          <p:cNvPr id="575" name="Google Shape;575;p67"/>
          <p:cNvSpPr txBox="1"/>
          <p:nvPr/>
        </p:nvSpPr>
        <p:spPr>
          <a:xfrm>
            <a:off x="798418" y="1139240"/>
            <a:ext cx="9039300" cy="4652422"/>
          </a:xfrm>
          <a:prstGeom prst="rect">
            <a:avLst/>
          </a:prstGeom>
          <a:noFill/>
          <a:ln>
            <a:noFill/>
          </a:ln>
        </p:spPr>
        <p:txBody>
          <a:bodyPr spcFirstLastPara="1" wrap="square" lIns="0" tIns="109850" rIns="0" bIns="0" anchor="t" anchorCtr="0">
            <a:spAutoFit/>
          </a:bodyPr>
          <a:lstStyle/>
          <a:p>
            <a:pPr marL="65405"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Cambria"/>
                <a:ea typeface="Cambria"/>
                <a:cs typeface="Cambria"/>
                <a:sym typeface="Cambria"/>
              </a:rPr>
              <a:t>Pros</a:t>
            </a:r>
            <a:r>
              <a:rPr lang="en-US" sz="3200" b="0" i="0" u="none" strike="noStrike" cap="none" dirty="0">
                <a:solidFill>
                  <a:srgbClr val="000000"/>
                </a:solidFill>
                <a:latin typeface="Cambria"/>
                <a:ea typeface="Cambria"/>
                <a:cs typeface="Cambria"/>
                <a:sym typeface="Cambria"/>
              </a:rPr>
              <a:t>:</a:t>
            </a:r>
            <a:endParaRPr sz="3200" b="0" i="0" u="none" strike="noStrike" cap="none" dirty="0">
              <a:solidFill>
                <a:srgbClr val="000000"/>
              </a:solidFill>
              <a:latin typeface="Cambria"/>
              <a:ea typeface="Cambria"/>
              <a:cs typeface="Cambria"/>
              <a:sym typeface="Cambria"/>
            </a:endParaRPr>
          </a:p>
          <a:p>
            <a:pPr marL="927100" marR="0" lvl="0" indent="-457833" algn="l" rtl="0">
              <a:lnSpc>
                <a:spcPct val="100000"/>
              </a:lnSpc>
              <a:spcBef>
                <a:spcPts val="765"/>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Let the data speak</a:t>
            </a:r>
            <a:endParaRPr sz="3200" b="0" i="0" u="none" strike="noStrike" cap="none" dirty="0">
              <a:solidFill>
                <a:srgbClr val="000000"/>
              </a:solidFill>
              <a:latin typeface="Cambria"/>
              <a:ea typeface="Cambria"/>
              <a:cs typeface="Cambria"/>
              <a:sym typeface="Cambria"/>
            </a:endParaRPr>
          </a:p>
          <a:p>
            <a:pPr marL="927100" marR="0" lvl="0" indent="-457833" algn="l" rtl="0">
              <a:lnSpc>
                <a:spcPct val="100000"/>
              </a:lnSpc>
              <a:spcBef>
                <a:spcPts val="1515"/>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Less hand-designing of components needed</a:t>
            </a:r>
            <a:endParaRPr sz="3200" b="0" i="0" u="none" strike="noStrike" cap="none" dirty="0">
              <a:solidFill>
                <a:srgbClr val="000000"/>
              </a:solidFill>
              <a:latin typeface="Cambria"/>
              <a:ea typeface="Cambria"/>
              <a:cs typeface="Cambria"/>
              <a:sym typeface="Cambria"/>
            </a:endParaRPr>
          </a:p>
          <a:p>
            <a:pPr marL="0" marR="0" lvl="0" indent="0" algn="l" rtl="0">
              <a:lnSpc>
                <a:spcPct val="100000"/>
              </a:lnSpc>
              <a:spcBef>
                <a:spcPts val="45"/>
              </a:spcBef>
              <a:spcAft>
                <a:spcPts val="0"/>
              </a:spcAft>
              <a:buClr>
                <a:srgbClr val="000000"/>
              </a:buClr>
              <a:buSzPts val="3150"/>
              <a:buFont typeface="Arial"/>
              <a:buNone/>
            </a:pPr>
            <a:endParaRPr sz="3150" b="0" i="0" u="none" strike="noStrike" cap="none" dirty="0">
              <a:solidFill>
                <a:srgbClr val="000000"/>
              </a:solidFill>
              <a:latin typeface="Cambria"/>
              <a:ea typeface="Cambria"/>
              <a:cs typeface="Cambria"/>
              <a:sym typeface="Cambria"/>
            </a:endParaRPr>
          </a:p>
          <a:p>
            <a:pPr marL="1270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Cambria"/>
                <a:ea typeface="Cambria"/>
                <a:cs typeface="Cambria"/>
                <a:sym typeface="Cambria"/>
              </a:rPr>
              <a:t>Cons</a:t>
            </a:r>
            <a:r>
              <a:rPr lang="en-US" sz="3200" b="0" i="0" u="none" strike="noStrike" cap="none" dirty="0">
                <a:solidFill>
                  <a:srgbClr val="000000"/>
                </a:solidFill>
                <a:latin typeface="Cambria"/>
                <a:ea typeface="Cambria"/>
                <a:cs typeface="Cambria"/>
                <a:sym typeface="Cambria"/>
              </a:rPr>
              <a:t>:</a:t>
            </a:r>
            <a:endParaRPr sz="3200" b="0" i="0" u="none" strike="noStrike" cap="none" dirty="0">
              <a:solidFill>
                <a:srgbClr val="000000"/>
              </a:solidFill>
              <a:latin typeface="Cambria"/>
              <a:ea typeface="Cambria"/>
              <a:cs typeface="Cambria"/>
              <a:sym typeface="Cambria"/>
            </a:endParaRPr>
          </a:p>
          <a:p>
            <a:pPr marL="918843" marR="0" lvl="0" indent="-457833" algn="l" rtl="0">
              <a:lnSpc>
                <a:spcPct val="100000"/>
              </a:lnSpc>
              <a:spcBef>
                <a:spcPts val="765"/>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May need large amount of data</a:t>
            </a:r>
            <a:endParaRPr sz="3200" b="0" i="0" u="none" strike="noStrike" cap="none" dirty="0">
              <a:solidFill>
                <a:srgbClr val="000000"/>
              </a:solidFill>
              <a:latin typeface="Cambria"/>
              <a:ea typeface="Cambria"/>
              <a:cs typeface="Cambria"/>
              <a:sym typeface="Cambria"/>
            </a:endParaRPr>
          </a:p>
          <a:p>
            <a:pPr marL="918843" marR="146685" lvl="0" indent="-457200" algn="l" rtl="0">
              <a:lnSpc>
                <a:spcPct val="101600"/>
              </a:lnSpc>
              <a:spcBef>
                <a:spcPts val="1455"/>
              </a:spcBef>
              <a:spcAft>
                <a:spcPts val="0"/>
              </a:spcAft>
              <a:buClr>
                <a:srgbClr val="000000"/>
              </a:buClr>
              <a:buSzPts val="3200"/>
              <a:buFont typeface="Arial"/>
              <a:buChar char="•"/>
            </a:pPr>
            <a:r>
              <a:rPr lang="en-US" sz="3200" b="0" i="0" u="none" strike="noStrike" cap="none" dirty="0">
                <a:solidFill>
                  <a:srgbClr val="000000"/>
                </a:solidFill>
                <a:latin typeface="Cambria"/>
                <a:ea typeface="Cambria"/>
                <a:cs typeface="Cambria"/>
                <a:sym typeface="Cambria"/>
              </a:rPr>
              <a:t>Excludes potentially useful hand-designed components</a:t>
            </a:r>
            <a:endParaRPr sz="3200" b="0" i="0" u="none" strike="noStrike" cap="none" dirty="0">
              <a:solidFill>
                <a:srgbClr val="000000"/>
              </a:solidFill>
              <a:latin typeface="Cambria"/>
              <a:ea typeface="Cambria"/>
              <a:cs typeface="Cambria"/>
              <a:sym typeface="Cambria"/>
            </a:endParaRPr>
          </a:p>
        </p:txBody>
      </p:sp>
      <p:pic>
        <p:nvPicPr>
          <p:cNvPr id="576" name="Google Shape;576;p6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580"/>
        <p:cNvGrpSpPr/>
        <p:nvPr/>
      </p:nvGrpSpPr>
      <p:grpSpPr>
        <a:xfrm>
          <a:off x="0" y="0"/>
          <a:ext cx="0" cy="0"/>
          <a:chOff x="0" y="0"/>
          <a:chExt cx="0" cy="0"/>
        </a:xfrm>
      </p:grpSpPr>
      <p:sp>
        <p:nvSpPr>
          <p:cNvPr id="581" name="Google Shape;581;p68"/>
          <p:cNvSpPr txBox="1"/>
          <p:nvPr/>
        </p:nvSpPr>
        <p:spPr>
          <a:xfrm>
            <a:off x="261620" y="139700"/>
            <a:ext cx="8954770"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Applying end-to-end deep learning</a:t>
            </a:r>
            <a:endParaRPr sz="4400" b="0" i="0" u="none" strike="noStrike" cap="none" dirty="0">
              <a:solidFill>
                <a:srgbClr val="000000"/>
              </a:solidFill>
              <a:latin typeface="+mj-lt"/>
              <a:ea typeface="Cambria"/>
              <a:cs typeface="Cambria"/>
              <a:sym typeface="Cambria"/>
            </a:endParaRPr>
          </a:p>
        </p:txBody>
      </p:sp>
      <p:sp>
        <p:nvSpPr>
          <p:cNvPr id="582" name="Google Shape;582;p68"/>
          <p:cNvSpPr txBox="1"/>
          <p:nvPr/>
        </p:nvSpPr>
        <p:spPr>
          <a:xfrm>
            <a:off x="428016" y="1517440"/>
            <a:ext cx="11245173" cy="757880"/>
          </a:xfrm>
          <a:prstGeom prst="rect">
            <a:avLst/>
          </a:prstGeom>
          <a:noFill/>
          <a:ln>
            <a:noFill/>
          </a:ln>
        </p:spPr>
        <p:txBody>
          <a:bodyPr spcFirstLastPara="1" wrap="square" lIns="0" tIns="4425" rIns="0" bIns="0" anchor="t" anchorCtr="0">
            <a:spAutoFit/>
          </a:bodyPr>
          <a:lstStyle/>
          <a:p>
            <a:pPr marL="12700" marR="5080" lvl="0" indent="0" algn="l" rtl="0">
              <a:lnSpc>
                <a:spcPct val="101600"/>
              </a:lnSpc>
              <a:spcBef>
                <a:spcPts val="0"/>
              </a:spcBef>
              <a:spcAft>
                <a:spcPts val="0"/>
              </a:spcAft>
              <a:buClr>
                <a:srgbClr val="000000"/>
              </a:buClr>
              <a:buSzPts val="3200"/>
              <a:buFont typeface="Arial"/>
              <a:buNone/>
            </a:pPr>
            <a:r>
              <a:rPr lang="en-US" sz="2400" b="0" i="0" u="none" strike="noStrike" cap="none" dirty="0">
                <a:solidFill>
                  <a:srgbClr val="000000"/>
                </a:solidFill>
                <a:latin typeface="+mn-lt"/>
                <a:ea typeface="Cambria"/>
                <a:cs typeface="Cambria"/>
                <a:sym typeface="Cambria"/>
              </a:rPr>
              <a:t>Key question: Do you have sufficient data to learn a function of the complexity needed to map x to y?</a:t>
            </a:r>
            <a:endParaRPr sz="2400" b="0" i="0" u="none" strike="noStrike" cap="none" dirty="0">
              <a:solidFill>
                <a:srgbClr val="000000"/>
              </a:solidFill>
              <a:latin typeface="+mn-lt"/>
              <a:ea typeface="Cambria"/>
              <a:cs typeface="Cambria"/>
              <a:sym typeface="Cambria"/>
            </a:endParaRPr>
          </a:p>
        </p:txBody>
      </p:sp>
      <p:pic>
        <p:nvPicPr>
          <p:cNvPr id="583" name="Google Shape;583;p68"/>
          <p:cNvPicPr preferRelativeResize="0"/>
          <p:nvPr/>
        </p:nvPicPr>
        <p:blipFill rotWithShape="1">
          <a:blip r:embed="rId3">
            <a:alphaModFix/>
          </a:blip>
          <a:srcRect/>
          <a:stretch/>
        </p:blipFill>
        <p:spPr>
          <a:xfrm>
            <a:off x="4946610" y="2470013"/>
            <a:ext cx="927312" cy="1115564"/>
          </a:xfrm>
          <a:prstGeom prst="rect">
            <a:avLst/>
          </a:prstGeom>
          <a:noFill/>
          <a:ln>
            <a:noFill/>
          </a:ln>
        </p:spPr>
      </p:pic>
      <p:grpSp>
        <p:nvGrpSpPr>
          <p:cNvPr id="2" name="Group 1"/>
          <p:cNvGrpSpPr/>
          <p:nvPr/>
        </p:nvGrpSpPr>
        <p:grpSpPr>
          <a:xfrm>
            <a:off x="1106779" y="3879715"/>
            <a:ext cx="8606973" cy="1095221"/>
            <a:chOff x="261620" y="4191000"/>
            <a:chExt cx="8606973" cy="1095221"/>
          </a:xfrm>
        </p:grpSpPr>
        <p:pic>
          <p:nvPicPr>
            <p:cNvPr id="584" name="Google Shape;584;p68"/>
            <p:cNvPicPr preferRelativeResize="0"/>
            <p:nvPr/>
          </p:nvPicPr>
          <p:blipFill rotWithShape="1">
            <a:blip r:embed="rId4">
              <a:alphaModFix/>
            </a:blip>
            <a:srcRect/>
            <a:stretch/>
          </p:blipFill>
          <p:spPr>
            <a:xfrm>
              <a:off x="261620" y="4191000"/>
              <a:ext cx="2011681" cy="533400"/>
            </a:xfrm>
            <a:prstGeom prst="rect">
              <a:avLst/>
            </a:prstGeom>
            <a:noFill/>
            <a:ln>
              <a:noFill/>
            </a:ln>
          </p:spPr>
        </p:pic>
        <p:cxnSp>
          <p:nvCxnSpPr>
            <p:cNvPr id="585" name="Google Shape;585;p68"/>
            <p:cNvCxnSpPr/>
            <p:nvPr/>
          </p:nvCxnSpPr>
          <p:spPr>
            <a:xfrm>
              <a:off x="2514600" y="4457700"/>
              <a:ext cx="1066800" cy="0"/>
            </a:xfrm>
            <a:prstGeom prst="straightConnector1">
              <a:avLst/>
            </a:prstGeom>
            <a:noFill/>
            <a:ln w="9525" cap="flat" cmpd="sng">
              <a:solidFill>
                <a:srgbClr val="4A7DBA"/>
              </a:solidFill>
              <a:prstDash val="solid"/>
              <a:round/>
              <a:headEnd type="none" w="sm" len="sm"/>
              <a:tailEnd type="triangle" w="med" len="med"/>
            </a:ln>
          </p:spPr>
        </p:cxnSp>
        <p:cxnSp>
          <p:nvCxnSpPr>
            <p:cNvPr id="586" name="Google Shape;586;p68"/>
            <p:cNvCxnSpPr/>
            <p:nvPr/>
          </p:nvCxnSpPr>
          <p:spPr>
            <a:xfrm>
              <a:off x="2819400" y="4457700"/>
              <a:ext cx="685800" cy="647700"/>
            </a:xfrm>
            <a:prstGeom prst="bentConnector3">
              <a:avLst>
                <a:gd name="adj1" fmla="val 50000"/>
              </a:avLst>
            </a:prstGeom>
            <a:noFill/>
            <a:ln w="9525" cap="flat" cmpd="sng">
              <a:solidFill>
                <a:srgbClr val="4A7DBA"/>
              </a:solidFill>
              <a:prstDash val="solid"/>
              <a:round/>
              <a:headEnd type="none" w="sm" len="sm"/>
              <a:tailEnd type="triangle" w="med" len="med"/>
            </a:ln>
          </p:spPr>
        </p:cxnSp>
        <p:pic>
          <p:nvPicPr>
            <p:cNvPr id="587" name="Google Shape;587;p68"/>
            <p:cNvPicPr preferRelativeResize="0"/>
            <p:nvPr/>
          </p:nvPicPr>
          <p:blipFill rotWithShape="1">
            <a:blip r:embed="rId5">
              <a:alphaModFix/>
            </a:blip>
            <a:srcRect/>
            <a:stretch/>
          </p:blipFill>
          <p:spPr>
            <a:xfrm>
              <a:off x="3899996" y="4276878"/>
              <a:ext cx="839009" cy="361643"/>
            </a:xfrm>
            <a:prstGeom prst="rect">
              <a:avLst/>
            </a:prstGeom>
            <a:noFill/>
            <a:ln>
              <a:noFill/>
            </a:ln>
          </p:spPr>
        </p:pic>
        <p:cxnSp>
          <p:nvCxnSpPr>
            <p:cNvPr id="588" name="Google Shape;588;p68"/>
            <p:cNvCxnSpPr/>
            <p:nvPr/>
          </p:nvCxnSpPr>
          <p:spPr>
            <a:xfrm>
              <a:off x="4953000" y="4457699"/>
              <a:ext cx="762000" cy="0"/>
            </a:xfrm>
            <a:prstGeom prst="straightConnector1">
              <a:avLst/>
            </a:prstGeom>
            <a:noFill/>
            <a:ln w="9525" cap="flat" cmpd="sng">
              <a:solidFill>
                <a:srgbClr val="4A7DBA"/>
              </a:solidFill>
              <a:prstDash val="solid"/>
              <a:round/>
              <a:headEnd type="none" w="sm" len="sm"/>
              <a:tailEnd type="triangle" w="med" len="med"/>
            </a:ln>
          </p:spPr>
        </p:cxnSp>
        <p:pic>
          <p:nvPicPr>
            <p:cNvPr id="589" name="Google Shape;589;p68"/>
            <p:cNvPicPr preferRelativeResize="0"/>
            <p:nvPr/>
          </p:nvPicPr>
          <p:blipFill rotWithShape="1">
            <a:blip r:embed="rId6">
              <a:alphaModFix/>
            </a:blip>
            <a:srcRect/>
            <a:stretch/>
          </p:blipFill>
          <p:spPr>
            <a:xfrm>
              <a:off x="5943768" y="4191000"/>
              <a:ext cx="885522" cy="365453"/>
            </a:xfrm>
            <a:prstGeom prst="rect">
              <a:avLst/>
            </a:prstGeom>
            <a:noFill/>
            <a:ln>
              <a:noFill/>
            </a:ln>
          </p:spPr>
        </p:pic>
        <p:cxnSp>
          <p:nvCxnSpPr>
            <p:cNvPr id="590" name="Google Shape;590;p68"/>
            <p:cNvCxnSpPr/>
            <p:nvPr/>
          </p:nvCxnSpPr>
          <p:spPr>
            <a:xfrm>
              <a:off x="6919763" y="4456469"/>
              <a:ext cx="762000" cy="0"/>
            </a:xfrm>
            <a:prstGeom prst="straightConnector1">
              <a:avLst/>
            </a:prstGeom>
            <a:noFill/>
            <a:ln w="9525" cap="flat" cmpd="sng">
              <a:solidFill>
                <a:srgbClr val="4A7DBA"/>
              </a:solidFill>
              <a:prstDash val="solid"/>
              <a:round/>
              <a:headEnd type="none" w="sm" len="sm"/>
              <a:tailEnd type="triangle" w="med" len="med"/>
            </a:ln>
          </p:spPr>
        </p:cxnSp>
        <p:pic>
          <p:nvPicPr>
            <p:cNvPr id="591" name="Google Shape;591;p68"/>
            <p:cNvPicPr preferRelativeResize="0"/>
            <p:nvPr/>
          </p:nvPicPr>
          <p:blipFill rotWithShape="1">
            <a:blip r:embed="rId7">
              <a:alphaModFix/>
            </a:blip>
            <a:srcRect/>
            <a:stretch/>
          </p:blipFill>
          <p:spPr>
            <a:xfrm>
              <a:off x="3563359" y="4924578"/>
              <a:ext cx="1409162" cy="361643"/>
            </a:xfrm>
            <a:prstGeom prst="rect">
              <a:avLst/>
            </a:prstGeom>
            <a:noFill/>
            <a:ln>
              <a:noFill/>
            </a:ln>
          </p:spPr>
        </p:pic>
        <p:pic>
          <p:nvPicPr>
            <p:cNvPr id="592" name="Google Shape;592;p68"/>
            <p:cNvPicPr preferRelativeResize="0"/>
            <p:nvPr/>
          </p:nvPicPr>
          <p:blipFill rotWithShape="1">
            <a:blip r:embed="rId8">
              <a:alphaModFix/>
            </a:blip>
            <a:srcRect/>
            <a:stretch/>
          </p:blipFill>
          <p:spPr>
            <a:xfrm>
              <a:off x="7772236" y="4203290"/>
              <a:ext cx="1096357" cy="365453"/>
            </a:xfrm>
            <a:prstGeom prst="rect">
              <a:avLst/>
            </a:prstGeom>
            <a:noFill/>
            <a:ln>
              <a:noFill/>
            </a:ln>
          </p:spPr>
        </p:pic>
        <p:cxnSp>
          <p:nvCxnSpPr>
            <p:cNvPr id="593" name="Google Shape;593;p68"/>
            <p:cNvCxnSpPr/>
            <p:nvPr/>
          </p:nvCxnSpPr>
          <p:spPr>
            <a:xfrm rot="-5400000">
              <a:off x="4989450" y="4684649"/>
              <a:ext cx="536700" cy="304800"/>
            </a:xfrm>
            <a:prstGeom prst="bentConnector3">
              <a:avLst>
                <a:gd name="adj1" fmla="val 50000"/>
              </a:avLst>
            </a:prstGeom>
            <a:noFill/>
            <a:ln w="9525" cap="flat" cmpd="sng">
              <a:solidFill>
                <a:srgbClr val="4A7DBA"/>
              </a:solidFill>
              <a:prstDash val="solid"/>
              <a:round/>
              <a:headEnd type="none" w="sm" len="sm"/>
              <a:tailEnd type="triangle" w="med" len="med"/>
            </a:ln>
          </p:spPr>
        </p:cxnSp>
        <p:pic>
          <p:nvPicPr>
            <p:cNvPr id="594" name="Google Shape;594;p68"/>
            <p:cNvPicPr preferRelativeResize="0"/>
            <p:nvPr/>
          </p:nvPicPr>
          <p:blipFill rotWithShape="1">
            <a:blip r:embed="rId9">
              <a:alphaModFix/>
            </a:blip>
            <a:srcRect/>
            <a:stretch/>
          </p:blipFill>
          <p:spPr>
            <a:xfrm>
              <a:off x="5483131" y="4808286"/>
              <a:ext cx="1676698" cy="361641"/>
            </a:xfrm>
            <a:prstGeom prst="rect">
              <a:avLst/>
            </a:prstGeom>
            <a:noFill/>
            <a:ln>
              <a:noFill/>
            </a:ln>
          </p:spPr>
        </p:pic>
      </p:grpSp>
      <p:pic>
        <p:nvPicPr>
          <p:cNvPr id="595" name="Google Shape;595;p68"/>
          <p:cNvPicPr preferRelativeResize="0"/>
          <p:nvPr/>
        </p:nvPicPr>
        <p:blipFill rotWithShape="1">
          <a:blip r:embed="rId10">
            <a:alphaModFix/>
          </a:blip>
          <a:srcRect/>
          <a:stretch/>
        </p:blipFill>
        <p:spPr>
          <a:xfrm>
            <a:off x="10734473" y="0"/>
            <a:ext cx="1448025" cy="796414"/>
          </a:xfrm>
          <a:prstGeom prst="rect">
            <a:avLst/>
          </a:prstGeom>
          <a:noFill/>
          <a:ln>
            <a:noFill/>
          </a:ln>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cSld>
  <p:clrMapOvr>
    <a:masterClrMapping/>
  </p:clrMapOvr>
  <p:extLst mod="1">
    <p:ext uri="{6950BFC3-D8DA-4A85-94F7-54DA5524770B}">
      <p188:commentRel xmlns="" xmlns:p188="http://schemas.microsoft.com/office/powerpoint/2018/8/main" r:id="rId11"/>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 name="Google Shape;49;g2019cdaf7c5_1_4"/>
          <p:cNvSpPr txBox="1">
            <a:spLocks/>
          </p:cNvSpPr>
          <p:nvPr/>
        </p:nvSpPr>
        <p:spPr>
          <a:xfrm>
            <a:off x="1055570" y="1340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lvl="0" indent="-97155" algn="ctr" defTabSz="914400" rtl="0" eaLnBrk="1" fontAlgn="auto" latinLnBrk="0" hangingPunct="1">
              <a:lnSpc>
                <a:spcPct val="108333"/>
              </a:lnSpc>
              <a:spcBef>
                <a:spcPts val="0"/>
              </a:spcBef>
              <a:spcAft>
                <a:spcPts val="0"/>
              </a:spcAft>
              <a:buClr>
                <a:srgbClr val="000000"/>
              </a:buClr>
              <a:buSzPts val="1400"/>
              <a:buFont typeface="Arial"/>
              <a:buNone/>
              <a:tabLst/>
              <a:defRPr/>
            </a:pPr>
            <a:r>
              <a:rPr kumimoji="0" lang="en-US" sz="4400" b="0" i="0" u="none" strike="noStrike" kern="0" cap="none" spc="0" normalizeH="0" baseline="0" noProof="0" dirty="0" smtClean="0">
                <a:ln>
                  <a:noFill/>
                </a:ln>
                <a:solidFill>
                  <a:srgbClr val="000000"/>
                </a:solidFill>
                <a:effectLst/>
                <a:uLnTx/>
                <a:uFillTx/>
                <a:latin typeface="Arial"/>
                <a:cs typeface="Calibri"/>
                <a:sym typeface="Trebuchet MS"/>
              </a:rPr>
              <a:t>Summarization</a:t>
            </a:r>
            <a:endParaRPr kumimoji="0" lang="en-US" sz="4400" b="0" i="0" u="none" strike="noStrike" kern="0" cap="none" spc="0" normalizeH="0" baseline="0" noProof="0" dirty="0">
              <a:ln>
                <a:noFill/>
              </a:ln>
              <a:solidFill>
                <a:srgbClr val="000000"/>
              </a:solidFill>
              <a:effectLst/>
              <a:uLnTx/>
              <a:uFillTx/>
              <a:latin typeface="Arial"/>
              <a:cs typeface="Calibri"/>
              <a:sym typeface="Calibri"/>
            </a:endParaRPr>
          </a:p>
        </p:txBody>
      </p:sp>
      <p:sp>
        <p:nvSpPr>
          <p:cNvPr id="8" name="Google Shape;316;p36"/>
          <p:cNvSpPr txBox="1"/>
          <p:nvPr/>
        </p:nvSpPr>
        <p:spPr>
          <a:xfrm>
            <a:off x="333068" y="1098305"/>
            <a:ext cx="11614637" cy="5279635"/>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Error analysis identifies patterns, prioritizes improvements, and refines </a:t>
            </a:r>
            <a:r>
              <a:rPr lang="en-US" sz="2400" dirty="0" smtClean="0">
                <a:ea typeface="Century Schoolbook"/>
                <a:cs typeface="Century Schoolbook"/>
                <a:sym typeface="Century Schoolbook"/>
              </a:rPr>
              <a:t>training.</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Correcting </a:t>
            </a:r>
            <a:r>
              <a:rPr lang="en-US" sz="2400" dirty="0">
                <a:ea typeface="Century Schoolbook"/>
                <a:cs typeface="Century Schoolbook"/>
                <a:sym typeface="Century Schoolbook"/>
              </a:rPr>
              <a:t>inaccuracies in labeled data involves careful examination and </a:t>
            </a:r>
            <a:r>
              <a:rPr lang="en-US" sz="2400" dirty="0" smtClean="0">
                <a:ea typeface="Century Schoolbook"/>
                <a:cs typeface="Century Schoolbook"/>
                <a:sym typeface="Century Schoolbook"/>
              </a:rPr>
              <a:t>validation.</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Building </a:t>
            </a:r>
            <a:r>
              <a:rPr lang="en-US" sz="2400" dirty="0">
                <a:ea typeface="Century Schoolbook"/>
                <a:cs typeface="Century Schoolbook"/>
                <a:sym typeface="Century Schoolbook"/>
              </a:rPr>
              <a:t>an initial model quickly establishes a baseline for iterative </a:t>
            </a:r>
            <a:r>
              <a:rPr lang="en-US" sz="2400" dirty="0" smtClean="0">
                <a:ea typeface="Century Schoolbook"/>
                <a:cs typeface="Century Schoolbook"/>
                <a:sym typeface="Century Schoolbook"/>
              </a:rPr>
              <a:t>improvements.</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Consistent </a:t>
            </a:r>
            <a:r>
              <a:rPr lang="en-US" sz="2400" dirty="0">
                <a:ea typeface="Century Schoolbook"/>
                <a:cs typeface="Century Schoolbook"/>
                <a:sym typeface="Century Schoolbook"/>
              </a:rPr>
              <a:t>data distribution between training and testing ensures accurate evaluation.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Mismatched </a:t>
            </a:r>
            <a:r>
              <a:rPr lang="en-US" sz="2400" dirty="0">
                <a:ea typeface="Century Schoolbook"/>
                <a:cs typeface="Century Schoolbook"/>
                <a:sym typeface="Century Schoolbook"/>
              </a:rPr>
              <a:t>data distributions lead to bias and variance issues, addressed through strategies like manual labeling and domain adaptation.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Transfer </a:t>
            </a:r>
            <a:r>
              <a:rPr lang="en-US" sz="2400" dirty="0">
                <a:ea typeface="Century Schoolbook"/>
                <a:cs typeface="Century Schoolbook"/>
                <a:sym typeface="Century Schoolbook"/>
              </a:rPr>
              <a:t>learning uses pre-trained models for related tasks, saving time and resources.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Multi-task </a:t>
            </a:r>
            <a:r>
              <a:rPr lang="en-US" sz="2400" dirty="0">
                <a:ea typeface="Century Schoolbook"/>
                <a:cs typeface="Century Schoolbook"/>
                <a:sym typeface="Century Schoolbook"/>
              </a:rPr>
              <a:t>learning trains on multiple tasks simultaneously to enhance overall performance.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End-to-end </a:t>
            </a:r>
            <a:r>
              <a:rPr lang="en-US" sz="2400" dirty="0">
                <a:ea typeface="Century Schoolbook"/>
                <a:cs typeface="Century Schoolbook"/>
                <a:sym typeface="Century Schoolbook"/>
              </a:rPr>
              <a:t>deep learning automates the entire pipeline, minimizing human involvement. The decision to use end-to-end learning depends on factors like data availability, resources, and task complexity.</a:t>
            </a:r>
            <a:endParaRPr lang="en-US" sz="2000" dirty="0">
              <a:ea typeface="Century Schoolbook"/>
              <a:cs typeface="Century Schoolbook"/>
              <a:sym typeface="Century Schoolboo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extLst>
      <p:ext uri="{BB962C8B-B14F-4D97-AF65-F5344CB8AC3E}">
        <p14:creationId xmlns:p14="http://schemas.microsoft.com/office/powerpoint/2010/main" val="2929285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TotalTime>
  <Words>5083</Words>
  <Application>Microsoft Office PowerPoint</Application>
  <PresentationFormat>Widescreen</PresentationFormat>
  <Paragraphs>421</Paragraphs>
  <Slides>59</Slides>
  <Notes>59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59</vt:i4>
      </vt:variant>
    </vt:vector>
  </HeadingPairs>
  <TitlesOfParts>
    <vt:vector size="70" baseType="lpstr">
      <vt:lpstr>Roboto</vt:lpstr>
      <vt:lpstr>MS Mincho</vt:lpstr>
      <vt:lpstr>Trebuchet MS</vt:lpstr>
      <vt:lpstr>Palatino Linotype</vt:lpstr>
      <vt:lpstr>Times New Roman</vt:lpstr>
      <vt:lpstr>Tahoma</vt:lpstr>
      <vt:lpstr>Calibri</vt:lpstr>
      <vt:lpstr>Century Schoolbook</vt:lpstr>
      <vt:lpstr>Arial</vt:lpstr>
      <vt:lpstr>Cambria</vt:lpstr>
      <vt:lpstr>Office Theme</vt:lpstr>
      <vt:lpstr>Error Analysis</vt:lpstr>
      <vt:lpstr>Error Analysis</vt:lpstr>
      <vt:lpstr>Error Analysis</vt:lpstr>
      <vt:lpstr>Carrying out error analysis</vt:lpstr>
      <vt:lpstr>PowerPoint Presentation</vt:lpstr>
      <vt:lpstr>PowerPoint Presentation</vt:lpstr>
      <vt:lpstr>Look at dev examples to evaluate ideas</vt:lpstr>
      <vt:lpstr>Evaluate multiple ideas in parallel</vt:lpstr>
      <vt:lpstr>Error Analysis</vt:lpstr>
      <vt:lpstr>Cleaning up Incorrectly labeled data</vt:lpstr>
      <vt:lpstr>Cleaning up Incorrectly labeled data</vt:lpstr>
      <vt:lpstr>Cleaning up Incorrectly labeled data</vt:lpstr>
      <vt:lpstr>Incorrectly labeled examples</vt:lpstr>
      <vt:lpstr>Error analysis</vt:lpstr>
      <vt:lpstr>Correcting incorrect dev/test set examples</vt:lpstr>
      <vt:lpstr>Error Analysis</vt:lpstr>
      <vt:lpstr>Build your first system quickly, then iterate </vt:lpstr>
      <vt:lpstr>Build your first system quickly, then iterate</vt:lpstr>
      <vt:lpstr>Build your first system quickly, then iterate</vt:lpstr>
      <vt:lpstr>Speech recognition example</vt:lpstr>
      <vt:lpstr>Mismatched training and dev/test data</vt:lpstr>
      <vt:lpstr>PowerPoint Presentation</vt:lpstr>
      <vt:lpstr>PowerPoint Presentation</vt:lpstr>
      <vt:lpstr>Cat app example Data from webpages</vt:lpstr>
      <vt:lpstr>Cat app example</vt:lpstr>
      <vt:lpstr>Cat app example</vt:lpstr>
      <vt:lpstr>Cat app example</vt:lpstr>
      <vt:lpstr>Speech recognition example</vt:lpstr>
      <vt:lpstr>Speech recognition example</vt:lpstr>
      <vt:lpstr>Training and testing on different  distributions</vt:lpstr>
      <vt:lpstr>PowerPoint Presentation</vt:lpstr>
      <vt:lpstr>PowerPoint Presentation</vt:lpstr>
      <vt:lpstr>Cat classifier example</vt:lpstr>
      <vt:lpstr>Bias/variance on mismatched training and dev/test sets</vt:lpstr>
      <vt:lpstr>PowerPoint Presentation</vt:lpstr>
      <vt:lpstr>Addressing data mismatch</vt:lpstr>
      <vt:lpstr>Artificial data synthesis</vt:lpstr>
      <vt:lpstr>PowerPoint Presentation</vt:lpstr>
      <vt:lpstr>Learning from multiple tasks</vt:lpstr>
      <vt:lpstr>Transfer learning</vt:lpstr>
      <vt:lpstr>Transfer learning</vt:lpstr>
      <vt:lpstr>When transfer learning makes sense</vt:lpstr>
      <vt:lpstr>Transfer learning</vt:lpstr>
      <vt:lpstr>Learning from multiple tasks</vt:lpstr>
      <vt:lpstr>Multi-task learning</vt:lpstr>
      <vt:lpstr>Simplified autonomous driving example</vt:lpstr>
      <vt:lpstr>Neural network architecture</vt:lpstr>
      <vt:lpstr>When multi-task learning makes sense</vt:lpstr>
      <vt:lpstr>Multi-task learning</vt:lpstr>
      <vt:lpstr>End-to-end deep learning</vt:lpstr>
      <vt:lpstr>PowerPoint Presentation</vt:lpstr>
      <vt:lpstr>PowerPoint Presentation</vt:lpstr>
      <vt:lpstr>Face recognition</vt:lpstr>
      <vt:lpstr>More examples</vt:lpstr>
      <vt:lpstr>PowerPoint Presentation</vt:lpstr>
      <vt:lpstr>Whether to use end-to-end learning</vt:lpstr>
      <vt:lpstr>Pros and cons of end-to-end deep learning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Error Analysis</dc:title>
  <dc:creator>user</dc:creator>
  <cp:lastModifiedBy>Phạm Trọng Nghĩa</cp:lastModifiedBy>
  <cp:revision>107</cp:revision>
  <dcterms:modified xsi:type="dcterms:W3CDTF">2023-12-14T10:57:31Z</dcterms:modified>
</cp:coreProperties>
</file>