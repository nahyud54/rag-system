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rels" ContentType="application/vnd.openxmlformats-package.relationships+xml"/>
  <Default Extension="xml" ContentType="application/xml"/>
  <Default Extension="fntdata" ContentType="application/x-fontdata"/>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Override PartName="/ppt/comments/modernComment_126_289EE584.xml" ContentType="application/vnd.ms-powerpoint.comments+xml"/>
  <Override PartName="/ppt/comments/modernComment_118_0.xml" ContentType="application/vnd.ms-powerpoint.comments+xml"/>
  <Override PartName="/ppt/comments/modernComment_137_90799010.xml" ContentType="application/vnd.ms-powerpoint.comments+xml"/>
  <Override PartName="/ppt/comments/modernComment_11E_0.xml" ContentType="application/vnd.ms-powerpoint.comment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4" r:id="rId2"/>
  </p:sldMasterIdLst>
  <p:notesMasterIdLst>
    <p:notesMasterId r:id="rId58"/>
  </p:notesMasterIdLst>
  <p:sldIdLst>
    <p:sldId id="256" r:id="rId3"/>
    <p:sldId id="314" r:id="rId4"/>
    <p:sldId id="257" r:id="rId5"/>
    <p:sldId id="258" r:id="rId6"/>
    <p:sldId id="293" r:id="rId7"/>
    <p:sldId id="259" r:id="rId8"/>
    <p:sldId id="292" r:id="rId9"/>
    <p:sldId id="318" r:id="rId10"/>
    <p:sldId id="317" r:id="rId11"/>
    <p:sldId id="322" r:id="rId12"/>
    <p:sldId id="323" r:id="rId13"/>
    <p:sldId id="261" r:id="rId14"/>
    <p:sldId id="294" r:id="rId15"/>
    <p:sldId id="321" r:id="rId16"/>
    <p:sldId id="320" r:id="rId17"/>
    <p:sldId id="319" r:id="rId18"/>
    <p:sldId id="324" r:id="rId19"/>
    <p:sldId id="266" r:id="rId20"/>
    <p:sldId id="267" r:id="rId21"/>
    <p:sldId id="295" r:id="rId22"/>
    <p:sldId id="296" r:id="rId23"/>
    <p:sldId id="269" r:id="rId24"/>
    <p:sldId id="297" r:id="rId25"/>
    <p:sldId id="270" r:id="rId26"/>
    <p:sldId id="271" r:id="rId27"/>
    <p:sldId id="272" r:id="rId28"/>
    <p:sldId id="298" r:id="rId29"/>
    <p:sldId id="273" r:id="rId30"/>
    <p:sldId id="299" r:id="rId31"/>
    <p:sldId id="275" r:id="rId32"/>
    <p:sldId id="300" r:id="rId33"/>
    <p:sldId id="277" r:id="rId34"/>
    <p:sldId id="301" r:id="rId35"/>
    <p:sldId id="278" r:id="rId36"/>
    <p:sldId id="302" r:id="rId37"/>
    <p:sldId id="280" r:id="rId38"/>
    <p:sldId id="281" r:id="rId39"/>
    <p:sldId id="282" r:id="rId40"/>
    <p:sldId id="311" r:id="rId41"/>
    <p:sldId id="307" r:id="rId42"/>
    <p:sldId id="306" r:id="rId43"/>
    <p:sldId id="305" r:id="rId44"/>
    <p:sldId id="313" r:id="rId45"/>
    <p:sldId id="283" r:id="rId46"/>
    <p:sldId id="325" r:id="rId47"/>
    <p:sldId id="284" r:id="rId48"/>
    <p:sldId id="285" r:id="rId49"/>
    <p:sldId id="286" r:id="rId50"/>
    <p:sldId id="309" r:id="rId51"/>
    <p:sldId id="287" r:id="rId52"/>
    <p:sldId id="288" r:id="rId53"/>
    <p:sldId id="289" r:id="rId54"/>
    <p:sldId id="308" r:id="rId55"/>
    <p:sldId id="290" r:id="rId56"/>
    <p:sldId id="312" r:id="rId57"/>
  </p:sldIdLst>
  <p:sldSz cx="12192000" cy="6858000"/>
  <p:notesSz cx="12192000" cy="6858000"/>
  <p:embeddedFontLst>
    <p:embeddedFont>
      <p:font typeface="Century Schoolbook" panose="02040604050505020304" pitchFamily="18" charset="0"/>
      <p:regular r:id="rId59"/>
      <p:bold r:id="rId60"/>
      <p:italic r:id="rId61"/>
      <p:boldItalic r:id="rId62"/>
    </p:embeddedFont>
    <p:embeddedFont>
      <p:font typeface="Trebuchet MS" panose="020B0603020202020204" pitchFamily="34" charset="0"/>
      <p:regular r:id="rId63"/>
      <p:bold r:id="rId64"/>
      <p:italic r:id="rId65"/>
      <p:boldItalic r:id="rId66"/>
    </p:embeddedFont>
    <p:embeddedFont>
      <p:font typeface="Calibri" panose="020F0502020204030204" pitchFamily="34" charset="0"/>
      <p:regular r:id="rId67"/>
      <p:bold r:id="rId68"/>
      <p:italic r:id="rId69"/>
      <p:boldItalic r:id="rId70"/>
    </p:embeddedFont>
    <p:embeddedFont>
      <p:font typeface="Palatino Linotype" panose="02040502050505030304" pitchFamily="18" charset="0"/>
      <p:regular r:id="rId71"/>
      <p:bold r:id="rId72"/>
      <p:italic r:id="rId73"/>
      <p:boldItalic r:id="rId74"/>
    </p:embeddedFont>
    <p:embeddedFont>
      <p:font typeface="Cambria Math" panose="02040503050406030204" pitchFamily="18" charset="0"/>
      <p:regular r:id="rId7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8" roundtripDataSignature="AMtx7mgocyATdOX1pqQo28K/ZbiVDoE8Dw=="/>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8535274-4E36-3D15-E557-7165117FA293}" name="Tùng Thanh" initials="TT" userId="7cf5fc9c47e13e7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327" autoAdjust="0"/>
  </p:normalViewPr>
  <p:slideViewPr>
    <p:cSldViewPr snapToGrid="0">
      <p:cViewPr varScale="1">
        <p:scale>
          <a:sx n="103" d="100"/>
          <a:sy n="103" d="100"/>
        </p:scale>
        <p:origin x="876" y="108"/>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font" Target="fonts/font5.fntdata"/><Relationship Id="rId68" Type="http://schemas.openxmlformats.org/officeDocument/2006/relationships/font" Target="fonts/font10.fntdata"/><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notesMaster" Target="notesMasters/notesMaster1.xml"/><Relationship Id="rId74" Type="http://schemas.openxmlformats.org/officeDocument/2006/relationships/font" Target="fonts/font16.fntdata"/><Relationship Id="rId79"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font" Target="fonts/font3.fntdata"/><Relationship Id="rId82" Type="http://schemas.openxmlformats.org/officeDocument/2006/relationships/tableStyles" Target="tableStyle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font" Target="fonts/font6.fntdata"/><Relationship Id="rId69" Type="http://schemas.openxmlformats.org/officeDocument/2006/relationships/font" Target="fonts/font11.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font" Target="fonts/font14.fntdata"/><Relationship Id="rId80"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1.fntdata"/><Relationship Id="rId67" Type="http://schemas.openxmlformats.org/officeDocument/2006/relationships/font" Target="fonts/font9.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font" Target="fonts/font4.fntdata"/><Relationship Id="rId70" Type="http://schemas.openxmlformats.org/officeDocument/2006/relationships/font" Target="fonts/font12.fntdata"/><Relationship Id="rId75" Type="http://schemas.openxmlformats.org/officeDocument/2006/relationships/font" Target="fonts/font17.fntdata"/><Relationship Id="rId83"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font" Target="fonts/font2.fntdata"/><Relationship Id="rId65" Type="http://schemas.openxmlformats.org/officeDocument/2006/relationships/font" Target="fonts/font7.fntdata"/><Relationship Id="rId73" Type="http://schemas.openxmlformats.org/officeDocument/2006/relationships/font" Target="fonts/font15.fntdata"/><Relationship Id="rId78" Type="http://customschemas.google.com/relationships/presentationmetadata" Target="metadata"/><Relationship Id="rId8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font" Target="fonts/font13.fntdata"/><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font" Target="fonts/font8.fntdata"/></Relationships>
</file>

<file path=ppt/comments/modernComment_11E_0.xml><?xml version="1.0" encoding="utf-8"?>
<p188:cmLst xmlns:a="http://schemas.openxmlformats.org/drawingml/2006/main" xmlns:r="http://schemas.openxmlformats.org/officeDocument/2006/relationships" xmlns:p188="http://schemas.microsoft.com/office/powerpoint/2018/8/main">
  <p188:cm id="{88648F9B-3703-4C2D-ADB3-263FF62F0B68}" authorId="{A8535274-4E36-3D15-E557-7165117FA293}" created="2023-05-01T02:25:32.113">
    <pc:sldMkLst xmlns:pc="http://schemas.microsoft.com/office/powerpoint/2013/main/command">
      <pc:docMk/>
      <pc:sldMk cId="0" sldId="286"/>
    </pc:sldMkLst>
    <p188:txBody>
      <a:bodyPr/>
      <a:lstStyle/>
      <a:p>
        <a:r>
          <a:rPr lang="en-US"/>
          <a:t>Slide không đúng với video, slide bên dưới được làm theo slide bài giảng</a:t>
        </a:r>
      </a:p>
    </p188:txBody>
  </p188:cm>
</p188:cmLst>
</file>

<file path=ppt/comments/modernComment_118_0.xml><?xml version="1.0" encoding="utf-8"?>
<p188:cmLst xmlns:a="http://schemas.openxmlformats.org/drawingml/2006/main" xmlns:r="http://schemas.openxmlformats.org/officeDocument/2006/relationships" xmlns:p188="http://schemas.microsoft.com/office/powerpoint/2018/8/main">
  <p188:cm id="{C801053C-6DC5-4965-88E3-B328DACC2E47}" authorId="{A8535274-4E36-3D15-E557-7165117FA293}" created="2023-05-01T02:00:51.569">
    <pc:sldMkLst xmlns:pc="http://schemas.microsoft.com/office/powerpoint/2013/main/command">
      <pc:docMk/>
      <pc:sldMk cId="0" sldId="280"/>
    </pc:sldMkLst>
    <p188:txBody>
      <a:bodyPr/>
      <a:lstStyle/>
      <a:p>
        <a:r>
          <a:rPr lang="en-US"/>
          <a:t>Công thức có dấu * là công thức đã được chỉnh sửa theo clip</a:t>
        </a:r>
      </a:p>
    </p188:txBody>
  </p188:cm>
</p188:cmLst>
</file>

<file path=ppt/comments/modernComment_126_289EE584.xml><?xml version="1.0" encoding="utf-8"?>
<p188:cmLst xmlns:a="http://schemas.openxmlformats.org/drawingml/2006/main" xmlns:r="http://schemas.openxmlformats.org/officeDocument/2006/relationships" xmlns:p188="http://schemas.microsoft.com/office/powerpoint/2018/8/main">
  <p188:cm id="{58E3644E-3162-4C4A-BF16-216BF7617CDB}" authorId="{A8535274-4E36-3D15-E557-7165117FA293}" created="2023-05-01T02:40:13.034">
    <pc:sldMkLst xmlns:pc="http://schemas.microsoft.com/office/powerpoint/2013/main/command">
      <pc:docMk/>
      <pc:sldMk cId="681502084" sldId="294"/>
    </pc:sldMkLst>
    <p188:txBody>
      <a:bodyPr/>
      <a:lstStyle/>
      <a:p>
        <a:r>
          <a:rPr lang="en-US"/>
          <a:t>Slide này vừa thể hiện tên các layer vừa có ví dụ về cách tính parameters</a:t>
        </a:r>
      </a:p>
    </p188:txBody>
  </p188:cm>
</p188:cmLst>
</file>

<file path=ppt/comments/modernComment_137_90799010.xml><?xml version="1.0" encoding="utf-8"?>
<p188:cmLst xmlns:a="http://schemas.openxmlformats.org/drawingml/2006/main" xmlns:r="http://schemas.openxmlformats.org/officeDocument/2006/relationships" xmlns:p188="http://schemas.microsoft.com/office/powerpoint/2018/8/main">
  <p188:cm id="{FEFA9023-FB75-4960-8BF1-E8678D33C75E}" authorId="{A8535274-4E36-3D15-E557-7165117FA293}" created="2023-05-01T05:24:39.911">
    <pc:sldMkLst xmlns:pc="http://schemas.microsoft.com/office/powerpoint/2013/main/command">
      <pc:docMk/>
      <pc:sldMk cId="2423885840" sldId="311"/>
    </pc:sldMkLst>
    <p188:txBody>
      <a:bodyPr/>
      <a:lstStyle/>
      <a:p>
        <a:r>
          <a:rPr lang="en-US"/>
          <a:t>Slide đã được đánh máy theo bài giảng </a:t>
        </a:r>
      </a:p>
    </p188:txBody>
  </p188:cm>
</p188:cmLst>
</file>

<file path=ppt/drawings/_rels/vmlDrawing1.v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image" Target="../media/image5.wmf"/><Relationship Id="rId7" Type="http://schemas.openxmlformats.org/officeDocument/2006/relationships/image" Target="../media/image9.wmf"/><Relationship Id="rId12" Type="http://schemas.openxmlformats.org/officeDocument/2006/relationships/image" Target="../media/image14.wmf"/><Relationship Id="rId2" Type="http://schemas.openxmlformats.org/officeDocument/2006/relationships/image" Target="../media/image4.wmf"/><Relationship Id="rId1" Type="http://schemas.openxmlformats.org/officeDocument/2006/relationships/image" Target="../media/image3.wmf"/><Relationship Id="rId6" Type="http://schemas.openxmlformats.org/officeDocument/2006/relationships/image" Target="../media/image8.wmf"/><Relationship Id="rId11" Type="http://schemas.openxmlformats.org/officeDocument/2006/relationships/image" Target="../media/image13.wmf"/><Relationship Id="rId5" Type="http://schemas.openxmlformats.org/officeDocument/2006/relationships/image" Target="../media/image7.wmf"/><Relationship Id="rId10" Type="http://schemas.openxmlformats.org/officeDocument/2006/relationships/image" Target="../media/image12.wmf"/><Relationship Id="rId4" Type="http://schemas.openxmlformats.org/officeDocument/2006/relationships/image" Target="../media/image6.wmf"/><Relationship Id="rId9" Type="http://schemas.openxmlformats.org/officeDocument/2006/relationships/image" Target="../media/image1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g20098e1d08f_0_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 name="Google Shape;42;g20098e1d08f_0_0: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g20098e1d08f_0_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 name="Google Shape;42;g20098e1d08f_0_0: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5861948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2: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0" name="Google Shape;50;p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 name="Google Shape;59;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 name="Google Shape;59;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664854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6" name="Google Shape;66;p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342900" indent="-342900">
              <a:buFont typeface="Arial" panose="020B0604020202020204" pitchFamily="34" charset="0"/>
              <a:buChar char="•"/>
            </a:pPr>
            <a:r>
              <a:rPr lang="en-US" sz="1100" dirty="0" smtClean="0"/>
              <a:t>The key components of a neural network are the input layer, the hidden layer, and the output layer.</a:t>
            </a:r>
          </a:p>
          <a:p>
            <a:pPr marL="342900" indent="-342900">
              <a:buFont typeface="Arial" panose="020B0604020202020204" pitchFamily="34" charset="0"/>
              <a:buChar char="•"/>
            </a:pPr>
            <a:r>
              <a:rPr lang="en-US" sz="1100" dirty="0" smtClean="0"/>
              <a:t>The hidden layer is so-called because its values are not observed in the training set.</a:t>
            </a:r>
          </a:p>
          <a:p>
            <a:pPr marL="342900" indent="-342900">
              <a:buFont typeface="Arial" panose="020B0604020202020204" pitchFamily="34" charset="0"/>
              <a:buChar char="•"/>
            </a:pPr>
            <a:r>
              <a:rPr lang="en-US" sz="1100" dirty="0" smtClean="0"/>
              <a:t>Activations are introduced as the values passed between layers, with a superscript square bracket 0 representing input features, a superscript square bracket 1 representing the hidden layer activations, and a superscript square bracket 2 as the output. </a:t>
            </a:r>
          </a:p>
          <a:p>
            <a:pPr marL="342900" indent="-342900">
              <a:buFont typeface="Arial" panose="020B0604020202020204" pitchFamily="34" charset="0"/>
              <a:buChar char="•"/>
            </a:pPr>
            <a:r>
              <a:rPr lang="en-US" sz="1100" dirty="0" smtClean="0"/>
              <a:t>A two-layer neural network refers to the number of layers excluding the input layer. The parameters associated with each layer (W and b), with their dimensions to be explained further in later slides.</a:t>
            </a:r>
          </a:p>
          <a:p>
            <a:pPr marL="0" lvl="0" indent="0" algn="l" rtl="0">
              <a:lnSpc>
                <a:spcPct val="100000"/>
              </a:lnSpc>
              <a:spcBef>
                <a:spcPts val="0"/>
              </a:spcBef>
              <a:spcAft>
                <a:spcPts val="0"/>
              </a:spcAft>
              <a:buSzPts val="1100"/>
              <a:buNone/>
            </a:pPr>
            <a:endParaRPr dirty="0"/>
          </a:p>
        </p:txBody>
      </p:sp>
      <p:sp>
        <p:nvSpPr>
          <p:cNvPr id="59" name="Google Shape;59;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410732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 name="Google Shape;59;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630503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342900" indent="-342900">
              <a:buFont typeface="Arial" panose="020B0604020202020204" pitchFamily="34" charset="0"/>
              <a:buChar char="•"/>
            </a:pPr>
            <a:r>
              <a:rPr lang="en-US" sz="1100" dirty="0" smtClean="0"/>
              <a:t>The key components of a neural network are the input layer, the hidden layer, and the output layer.</a:t>
            </a:r>
          </a:p>
          <a:p>
            <a:pPr marL="342900" indent="-342900">
              <a:buFont typeface="Arial" panose="020B0604020202020204" pitchFamily="34" charset="0"/>
              <a:buChar char="•"/>
            </a:pPr>
            <a:r>
              <a:rPr lang="en-US" sz="1100" dirty="0" smtClean="0"/>
              <a:t>The hidden layer is so-called because its values are not observed in the training set.</a:t>
            </a:r>
          </a:p>
          <a:p>
            <a:pPr marL="342900" indent="-342900">
              <a:buFont typeface="Arial" panose="020B0604020202020204" pitchFamily="34" charset="0"/>
              <a:buChar char="•"/>
            </a:pPr>
            <a:r>
              <a:rPr lang="en-US" sz="1100" dirty="0" smtClean="0"/>
              <a:t>Activations are introduced as the values passed between layers, with a superscript square bracket 0 representing input features, a superscript square bracket 1 representing the hidden layer activations, and a superscript square bracket 2 as the output. </a:t>
            </a:r>
          </a:p>
          <a:p>
            <a:pPr marL="342900" indent="-342900">
              <a:buFont typeface="Arial" panose="020B0604020202020204" pitchFamily="34" charset="0"/>
              <a:buChar char="•"/>
            </a:pPr>
            <a:r>
              <a:rPr lang="en-US" sz="1100" dirty="0" smtClean="0"/>
              <a:t>A two-layer neural network refers to the number of layers excluding the input layer. The parameters associated with each layer (W and b), with their dimensions to be explained further in later slides.</a:t>
            </a:r>
          </a:p>
          <a:p>
            <a:pPr marL="0" lvl="0" indent="0" algn="l" rtl="0">
              <a:lnSpc>
                <a:spcPct val="100000"/>
              </a:lnSpc>
              <a:spcBef>
                <a:spcPts val="0"/>
              </a:spcBef>
              <a:spcAft>
                <a:spcPts val="0"/>
              </a:spcAft>
              <a:buSzPts val="1100"/>
              <a:buNone/>
            </a:pPr>
            <a:endParaRPr dirty="0"/>
          </a:p>
        </p:txBody>
      </p:sp>
      <p:sp>
        <p:nvSpPr>
          <p:cNvPr id="59" name="Google Shape;59;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773144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342900" indent="-342900">
              <a:buFont typeface="Arial" panose="020B0604020202020204" pitchFamily="34" charset="0"/>
              <a:buChar char="•"/>
            </a:pPr>
            <a:r>
              <a:rPr lang="en-US" sz="1100" dirty="0" smtClean="0"/>
              <a:t>The key components of a neural network are the input layer, the hidden layer, and the output layer.</a:t>
            </a:r>
          </a:p>
          <a:p>
            <a:pPr marL="342900" indent="-342900">
              <a:buFont typeface="Arial" panose="020B0604020202020204" pitchFamily="34" charset="0"/>
              <a:buChar char="•"/>
            </a:pPr>
            <a:r>
              <a:rPr lang="en-US" sz="1100" dirty="0" smtClean="0"/>
              <a:t>The hidden layer is so-called because its values are not observed in the training set.</a:t>
            </a:r>
          </a:p>
          <a:p>
            <a:pPr marL="342900" indent="-342900">
              <a:buFont typeface="Arial" panose="020B0604020202020204" pitchFamily="34" charset="0"/>
              <a:buChar char="•"/>
            </a:pPr>
            <a:r>
              <a:rPr lang="en-US" sz="1100" dirty="0" smtClean="0"/>
              <a:t>Activations are introduced as the values passed between layers, with a superscript square bracket 0 representing input features, a superscript square bracket 1 representing the hidden layer activations, and a superscript square bracket 2 as the output. </a:t>
            </a:r>
          </a:p>
          <a:p>
            <a:pPr marL="342900" indent="-342900">
              <a:buFont typeface="Arial" panose="020B0604020202020204" pitchFamily="34" charset="0"/>
              <a:buChar char="•"/>
            </a:pPr>
            <a:r>
              <a:rPr lang="en-US" sz="1100" dirty="0" smtClean="0"/>
              <a:t>A two-layer neural network refers to the number of layers excluding the input layer. The parameters associated with each layer (W and b), with their dimensions to be explained further in later slides.</a:t>
            </a:r>
          </a:p>
          <a:p>
            <a:pPr marL="0" lvl="0" indent="0" algn="l" rtl="0">
              <a:lnSpc>
                <a:spcPct val="100000"/>
              </a:lnSpc>
              <a:spcBef>
                <a:spcPts val="0"/>
              </a:spcBef>
              <a:spcAft>
                <a:spcPts val="0"/>
              </a:spcAft>
              <a:buSzPts val="1100"/>
              <a:buNone/>
            </a:pPr>
            <a:endParaRPr dirty="0"/>
          </a:p>
        </p:txBody>
      </p:sp>
      <p:sp>
        <p:nvSpPr>
          <p:cNvPr id="59" name="Google Shape;59;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742841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 name="Google Shape;59;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947791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7" name="Google Shape;87;p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 name="Google Shape;59;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245965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 name="Google Shape;59;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092338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 name="Google Shape;59;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908102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 name="Google Shape;59;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162749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 name="Google Shape;59;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717898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11: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4" name="Google Shape;124;p1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12: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3" name="Google Shape;133;p1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 name="Google Shape;59;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892011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 name="Google Shape;59;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937072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7" name="Google Shape;147;p1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 name="Google Shape;59;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225451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5: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6" name="Google Shape;156;p1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4" name="Google Shape;164;p1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7: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1" name="Google Shape;171;p1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 name="Google Shape;59;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451685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0" name="Google Shape;180;p1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 name="Google Shape;59;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995915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20: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4" name="Google Shape;194;p2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 name="Google Shape;59;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163332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22: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0" name="Google Shape;210;p2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 name="Google Shape;59;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663532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2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9" name="Google Shape;219;p2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2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9" name="Google Shape;219;p2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0914651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25: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4" name="Google Shape;234;p2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2" name="Google Shape;242;p2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27: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1" name="Google Shape;251;p2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27: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1" name="Google Shape;251;p2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6044125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2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342900" indent="-342900">
              <a:buFont typeface="Arial" panose="020B0604020202020204" pitchFamily="34" charset="0"/>
              <a:buChar char="•"/>
            </a:pPr>
            <a:r>
              <a:rPr lang="en-US" sz="1100" b="0" i="0" u="none" strike="noStrike" cap="none" dirty="0" smtClean="0">
                <a:solidFill>
                  <a:srgbClr val="000000"/>
                </a:solidFill>
                <a:latin typeface="Arial"/>
                <a:ea typeface="Arial"/>
                <a:cs typeface="Arial"/>
                <a:sym typeface="Arial"/>
              </a:rPr>
              <a:t>Also known as forward pass, </a:t>
            </a:r>
            <a:r>
              <a:rPr lang="en-US" sz="1100" b="1" i="1" u="none" strike="noStrike" cap="none" dirty="0" smtClean="0">
                <a:solidFill>
                  <a:srgbClr val="000000"/>
                </a:solidFill>
                <a:latin typeface="Arial"/>
                <a:ea typeface="Arial"/>
                <a:cs typeface="Arial"/>
                <a:sym typeface="Arial"/>
              </a:rPr>
              <a:t>is the process of transmitting input data through a neural network to generate an output prediction</a:t>
            </a:r>
            <a:r>
              <a:rPr lang="en-US" sz="1100" b="0" i="0" u="none" strike="noStrike" cap="none" dirty="0" smtClean="0">
                <a:solidFill>
                  <a:srgbClr val="000000"/>
                </a:solidFill>
                <a:latin typeface="Arial"/>
                <a:ea typeface="Arial"/>
                <a:cs typeface="Arial"/>
                <a:sym typeface="Arial"/>
              </a:rPr>
              <a:t>. It is the first step in the process of training a neural network.</a:t>
            </a:r>
          </a:p>
          <a:p>
            <a:pPr marL="342900" indent="-342900">
              <a:buFont typeface="Arial" panose="020B0604020202020204" pitchFamily="34" charset="0"/>
              <a:buChar char="•"/>
            </a:pPr>
            <a:r>
              <a:rPr lang="en-US" sz="1100" b="0" i="0" u="none" strike="noStrike" cap="none" dirty="0" smtClean="0">
                <a:solidFill>
                  <a:srgbClr val="000000"/>
                </a:solidFill>
                <a:latin typeface="Arial"/>
                <a:ea typeface="Arial"/>
                <a:cs typeface="Arial"/>
                <a:sym typeface="Arial"/>
              </a:rPr>
              <a:t>During forward propagation, the input data is fed into the neural network and passed through the network's layers of interconnected neurons. Each neuron receives input from the neurons in the previous layer, performs a computation on that input, and then passes the output to the neurons in the next layer.</a:t>
            </a:r>
          </a:p>
          <a:p>
            <a:pPr marL="342900" indent="-342900">
              <a:buFont typeface="Arial" panose="020B0604020202020204" pitchFamily="34" charset="0"/>
              <a:buChar char="•"/>
            </a:pPr>
            <a:r>
              <a:rPr lang="en-US" sz="2400" b="0" i="0" u="none" strike="noStrike" cap="none" dirty="0" smtClean="0">
                <a:solidFill>
                  <a:srgbClr val="000000"/>
                </a:solidFill>
                <a:latin typeface="Arial"/>
                <a:ea typeface="Arial"/>
                <a:cs typeface="Arial"/>
                <a:sym typeface="Arial"/>
              </a:rPr>
              <a:t>The computations performed by the neurons are determined by the weights and biases assigned to them during the training process. These weights and biases are adjusted during training to improve the accuracy of the network's predictions.</a:t>
            </a:r>
          </a:p>
          <a:p>
            <a:pPr marL="342900" indent="-342900">
              <a:buFont typeface="Arial" panose="020B0604020202020204" pitchFamily="34" charset="0"/>
              <a:buChar char="•"/>
            </a:pPr>
            <a:r>
              <a:rPr lang="en-US" sz="2400" b="0" i="0" u="none" strike="noStrike" cap="none" dirty="0" smtClean="0">
                <a:solidFill>
                  <a:srgbClr val="000000"/>
                </a:solidFill>
                <a:latin typeface="Arial"/>
                <a:ea typeface="Arial"/>
                <a:cs typeface="Arial"/>
                <a:sym typeface="Arial"/>
              </a:rPr>
              <a:t>The output of the final layer of neurons is the predicted output of the neural network for the given input data. </a:t>
            </a:r>
          </a:p>
          <a:p>
            <a:pPr lvl="1"/>
            <a:r>
              <a:rPr lang="en-US" sz="2400" b="0" i="0" u="none" strike="noStrike" cap="none" dirty="0" smtClean="0">
                <a:solidFill>
                  <a:srgbClr val="000000"/>
                </a:solidFill>
                <a:latin typeface="Arial"/>
                <a:ea typeface="Arial"/>
                <a:cs typeface="Arial"/>
                <a:sym typeface="Arial"/>
              </a:rPr>
              <a:t>	</a:t>
            </a:r>
            <a:r>
              <a:rPr lang="en-US" sz="2000" b="0" i="0" u="none" strike="noStrike" cap="none" dirty="0" smtClean="0">
                <a:solidFill>
                  <a:srgbClr val="000000"/>
                </a:solidFill>
                <a:latin typeface="Arial"/>
                <a:ea typeface="Arial"/>
                <a:cs typeface="Arial"/>
                <a:sym typeface="Arial"/>
              </a:rPr>
              <a:t>This predicted output is compared to the actual output, and the difference between them is 	used to calculate the error. This error is then used to adjust the weights and biases of the 	neurons during the backward propagation process, which is used to update the neural 	network's parameters and improve its accuracy.</a:t>
            </a:r>
          </a:p>
          <a:p>
            <a:pPr marL="342900" indent="-342900">
              <a:buFont typeface="Arial" panose="020B0604020202020204" pitchFamily="34" charset="0"/>
              <a:buChar char="•"/>
            </a:pPr>
            <a:endParaRPr lang="en-US" sz="1100" b="0" i="0" u="none" strike="noStrike" cap="none" dirty="0" smtClean="0">
              <a:solidFill>
                <a:srgbClr val="000000"/>
              </a:solidFill>
              <a:latin typeface="Arial"/>
              <a:ea typeface="Arial"/>
              <a:cs typeface="Arial"/>
              <a:sym typeface="Arial"/>
            </a:endParaRPr>
          </a:p>
          <a:p>
            <a:pPr marL="0" lvl="0" indent="0" algn="l" rtl="0">
              <a:lnSpc>
                <a:spcPct val="100000"/>
              </a:lnSpc>
              <a:spcBef>
                <a:spcPts val="0"/>
              </a:spcBef>
              <a:spcAft>
                <a:spcPts val="0"/>
              </a:spcAft>
              <a:buSzPts val="1100"/>
              <a:buNone/>
            </a:pPr>
            <a:endParaRPr dirty="0"/>
          </a:p>
        </p:txBody>
      </p:sp>
      <p:sp>
        <p:nvSpPr>
          <p:cNvPr id="259" name="Google Shape;259;p2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7188985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2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9" name="Google Shape;259;p2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6094512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2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9" name="Google Shape;259;p2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441490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2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9" name="Google Shape;259;p2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8040061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2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9" name="Google Shape;259;p2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2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9" name="Google Shape;259;p2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0315866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29: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7" name="Google Shape;267;p2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30: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76" name="Google Shape;276;p3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31: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83" name="Google Shape;283;p3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31: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83" name="Google Shape;283;p3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0612951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32: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1" name="Google Shape;291;p3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3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7" name="Google Shape;297;p3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3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6" name="Google Shape;306;p3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2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9" name="Google Shape;259;p2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615900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35: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3" name="Google Shape;313;p3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4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4" name="Google Shape;444;p4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Neural Networks Overview:</a:t>
            </a:r>
          </a:p>
          <a:p>
            <a:pPr marL="12700" marR="5080" lvl="0">
              <a:lnSpc>
                <a:spcPct val="101800"/>
              </a:lnSpc>
              <a:buSzPts val="2400"/>
            </a:pPr>
            <a:r>
              <a:rPr lang="en-US" sz="1200" dirty="0" smtClean="0">
                <a:ea typeface="Century Schoolbook"/>
                <a:cs typeface="Century Schoolbook"/>
                <a:sym typeface="Century Schoolbook"/>
              </a:rPr>
              <a:t>	- </a:t>
            </a:r>
            <a:r>
              <a:rPr lang="en-US" sz="1100" dirty="0" smtClean="0">
                <a:ea typeface="Century Schoolbook"/>
                <a:cs typeface="Century Schoolbook"/>
                <a:sym typeface="Century Schoolbook"/>
              </a:rPr>
              <a:t>Introduction to neural networks as interconnected layers of neurons that learn from data to 	make predictions.</a:t>
            </a:r>
            <a:endParaRPr lang="en-US" sz="1200" dirty="0" smtClean="0">
              <a:ea typeface="Century Schoolbook"/>
              <a:cs typeface="Century Schoolbook"/>
              <a:sym typeface="Century Schoolbook"/>
            </a:endParaRP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Neural Network Representation:</a:t>
            </a:r>
          </a:p>
          <a:p>
            <a:pPr marL="12700" marR="5080" lvl="0">
              <a:lnSpc>
                <a:spcPct val="101800"/>
              </a:lnSpc>
              <a:buSzPts val="2400"/>
            </a:pPr>
            <a:r>
              <a:rPr lang="en-US" sz="1100" dirty="0" smtClean="0">
                <a:ea typeface="Century Schoolbook"/>
                <a:cs typeface="Century Schoolbook"/>
                <a:sym typeface="Century Schoolbook"/>
              </a:rPr>
              <a:t>	- Explains how neural networks are organized into layers: input, hidden, and output. Each 	neuron computes a weighted sum of inputs and applies an activation function.</a:t>
            </a:r>
            <a:endParaRPr lang="en-US" sz="1200" dirty="0" smtClean="0">
              <a:ea typeface="Century Schoolbook"/>
              <a:cs typeface="Century Schoolbook"/>
              <a:sym typeface="Century Schoolbook"/>
            </a:endParaRP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Computing a Neural Network’s Output:</a:t>
            </a:r>
          </a:p>
          <a:p>
            <a:pPr marL="12700" marR="5080" lvl="0">
              <a:lnSpc>
                <a:spcPct val="101800"/>
              </a:lnSpc>
              <a:buSzPts val="2400"/>
            </a:pPr>
            <a:r>
              <a:rPr lang="en-US" sz="1100" dirty="0" smtClean="0">
                <a:ea typeface="Century Schoolbook"/>
                <a:cs typeface="Century Schoolbook"/>
                <a:sym typeface="Century Schoolbook"/>
              </a:rPr>
              <a:t>	- Describes how to compute the output of a neural network by propagating the input through 	the layers using weights, biases, and activation functions.</a:t>
            </a:r>
            <a:endParaRPr lang="en-US" sz="1200" dirty="0" smtClean="0">
              <a:ea typeface="Century Schoolbook"/>
              <a:cs typeface="Century Schoolbook"/>
              <a:sym typeface="Century Schoolbook"/>
            </a:endParaRPr>
          </a:p>
          <a:p>
            <a:pPr marL="355600" marR="5080" lvl="0" indent="-342900">
              <a:lnSpc>
                <a:spcPct val="101800"/>
              </a:lnSpc>
              <a:buSzPts val="2400"/>
              <a:buFont typeface="Arial" panose="020B0604020202020204" pitchFamily="34" charset="0"/>
              <a:buChar char="•"/>
            </a:pPr>
            <a:r>
              <a:rPr lang="en-US" sz="1200" dirty="0" err="1" smtClean="0">
                <a:ea typeface="Century Schoolbook"/>
                <a:cs typeface="Century Schoolbook"/>
                <a:sym typeface="Century Schoolbook"/>
              </a:rPr>
              <a:t>Vectorizing</a:t>
            </a:r>
            <a:r>
              <a:rPr lang="en-US" sz="1200" dirty="0" smtClean="0">
                <a:ea typeface="Century Schoolbook"/>
                <a:cs typeface="Century Schoolbook"/>
                <a:sym typeface="Century Schoolbook"/>
              </a:rPr>
              <a:t> across Multiple Examples:</a:t>
            </a:r>
          </a:p>
          <a:p>
            <a:pPr marL="12700" marR="5080" lvl="0">
              <a:lnSpc>
                <a:spcPct val="101800"/>
              </a:lnSpc>
              <a:buSzPts val="2400"/>
            </a:pPr>
            <a:r>
              <a:rPr lang="en-US" sz="1100" dirty="0" smtClean="0">
                <a:ea typeface="Century Schoolbook"/>
                <a:cs typeface="Century Schoolbook"/>
                <a:sym typeface="Century Schoolbook"/>
              </a:rPr>
              <a:t>	- Shows how to perform computations for multiple training examples using matrix operations, 	enhancing efficiency.</a:t>
            </a:r>
            <a:endParaRPr lang="en-US" sz="1200" dirty="0" smtClean="0">
              <a:ea typeface="Century Schoolbook"/>
              <a:cs typeface="Century Schoolbook"/>
              <a:sym typeface="Century Schoolbook"/>
            </a:endParaRP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Explanation for </a:t>
            </a:r>
            <a:r>
              <a:rPr lang="en-US" sz="1200" dirty="0" err="1" smtClean="0">
                <a:ea typeface="Century Schoolbook"/>
                <a:cs typeface="Century Schoolbook"/>
                <a:sym typeface="Century Schoolbook"/>
              </a:rPr>
              <a:t>Vectorized</a:t>
            </a:r>
            <a:r>
              <a:rPr lang="en-US" sz="1200" dirty="0" smtClean="0">
                <a:ea typeface="Century Schoolbook"/>
                <a:cs typeface="Century Schoolbook"/>
                <a:sym typeface="Century Schoolbook"/>
              </a:rPr>
              <a:t> Implementation:</a:t>
            </a:r>
          </a:p>
          <a:p>
            <a:pPr marL="12700" marR="5080" lvl="0">
              <a:lnSpc>
                <a:spcPct val="101800"/>
              </a:lnSpc>
              <a:buSzPts val="2400"/>
            </a:pPr>
            <a:r>
              <a:rPr lang="en-US" sz="1100" dirty="0" smtClean="0">
                <a:ea typeface="Century Schoolbook"/>
                <a:cs typeface="Century Schoolbook"/>
                <a:sym typeface="Century Schoolbook"/>
              </a:rPr>
              <a:t>	- Details the benefits of </a:t>
            </a:r>
            <a:r>
              <a:rPr lang="en-US" sz="1100" dirty="0" err="1" smtClean="0">
                <a:ea typeface="Century Schoolbook"/>
                <a:cs typeface="Century Schoolbook"/>
                <a:sym typeface="Century Schoolbook"/>
              </a:rPr>
              <a:t>vectorized</a:t>
            </a:r>
            <a:r>
              <a:rPr lang="en-US" sz="1100" dirty="0" smtClean="0">
                <a:ea typeface="Century Schoolbook"/>
                <a:cs typeface="Century Schoolbook"/>
                <a:sym typeface="Century Schoolbook"/>
              </a:rPr>
              <a:t> computations in speeding up training by processing multiple 	examples simultaneously.</a:t>
            </a: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Activation Functions:</a:t>
            </a:r>
          </a:p>
          <a:p>
            <a:pPr marL="12700" marR="5080" lvl="0">
              <a:lnSpc>
                <a:spcPct val="101800"/>
              </a:lnSpc>
              <a:buSzPts val="2400"/>
            </a:pPr>
            <a:r>
              <a:rPr lang="en-US" sz="1200" dirty="0" smtClean="0">
                <a:ea typeface="Century Schoolbook"/>
                <a:cs typeface="Century Schoolbook"/>
                <a:sym typeface="Century Schoolbook"/>
              </a:rPr>
              <a:t>	- </a:t>
            </a:r>
            <a:r>
              <a:rPr lang="en-US" sz="1100" dirty="0" smtClean="0">
                <a:ea typeface="Century Schoolbook"/>
                <a:cs typeface="Century Schoolbook"/>
                <a:sym typeface="Century Schoolbook"/>
              </a:rPr>
              <a:t>Covers common activation functions like sigmoid, </a:t>
            </a:r>
            <a:r>
              <a:rPr lang="en-US" sz="1100" dirty="0" err="1" smtClean="0">
                <a:ea typeface="Century Schoolbook"/>
                <a:cs typeface="Century Schoolbook"/>
                <a:sym typeface="Century Schoolbook"/>
              </a:rPr>
              <a:t>tanh</a:t>
            </a:r>
            <a:r>
              <a:rPr lang="en-US" sz="1100" dirty="0" smtClean="0">
                <a:ea typeface="Century Schoolbook"/>
                <a:cs typeface="Century Schoolbook"/>
                <a:sym typeface="Century Schoolbook"/>
              </a:rPr>
              <a:t>, and </a:t>
            </a:r>
            <a:r>
              <a:rPr lang="en-US" sz="1100" dirty="0" err="1" smtClean="0">
                <a:ea typeface="Century Schoolbook"/>
                <a:cs typeface="Century Schoolbook"/>
                <a:sym typeface="Century Schoolbook"/>
              </a:rPr>
              <a:t>ReLU</a:t>
            </a:r>
            <a:r>
              <a:rPr lang="en-US" sz="1100" dirty="0" smtClean="0">
                <a:ea typeface="Century Schoolbook"/>
                <a:cs typeface="Century Schoolbook"/>
                <a:sym typeface="Century Schoolbook"/>
              </a:rPr>
              <a:t>, which introduce non-	linearity and enable neural networks to learn complex patterns.</a:t>
            </a: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Why Do You Need Non-linear Activation Functions?</a:t>
            </a:r>
          </a:p>
          <a:p>
            <a:pPr marL="12700" marR="5080" lvl="0">
              <a:lnSpc>
                <a:spcPct val="101800"/>
              </a:lnSpc>
              <a:buSzPts val="2400"/>
            </a:pPr>
            <a:r>
              <a:rPr lang="en-US" sz="1200" dirty="0" smtClean="0">
                <a:ea typeface="Century Schoolbook"/>
                <a:cs typeface="Century Schoolbook"/>
                <a:sym typeface="Century Schoolbook"/>
              </a:rPr>
              <a:t>	- </a:t>
            </a:r>
            <a:r>
              <a:rPr lang="en-US" sz="1100" dirty="0" smtClean="0">
                <a:ea typeface="Century Schoolbook"/>
                <a:cs typeface="Century Schoolbook"/>
                <a:sym typeface="Century Schoolbook"/>
              </a:rPr>
              <a:t>Explains that non-linear activation functions allow neural networks to approximate arbitrary 	functions and capture intricate relationships in data.</a:t>
            </a: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Derivatives of Activation Functions:</a:t>
            </a:r>
          </a:p>
          <a:p>
            <a:pPr marL="12700" marR="5080" lvl="0">
              <a:lnSpc>
                <a:spcPct val="101800"/>
              </a:lnSpc>
              <a:buSzPts val="2400"/>
            </a:pPr>
            <a:r>
              <a:rPr lang="en-US" sz="1200" dirty="0" smtClean="0">
                <a:ea typeface="Century Schoolbook"/>
                <a:cs typeface="Century Schoolbook"/>
                <a:sym typeface="Century Schoolbook"/>
              </a:rPr>
              <a:t>	- </a:t>
            </a:r>
            <a:r>
              <a:rPr lang="en-US" sz="1100" dirty="0" smtClean="0">
                <a:ea typeface="Century Schoolbook"/>
                <a:cs typeface="Century Schoolbook"/>
                <a:sym typeface="Century Schoolbook"/>
              </a:rPr>
              <a:t>Discusses the derivatives of activation functions, which are crucial for gradient calculations 	during backpropagation.</a:t>
            </a: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Gradient Descent for Neural Networks:</a:t>
            </a:r>
          </a:p>
          <a:p>
            <a:pPr marL="12700" marR="5080" lvl="0">
              <a:lnSpc>
                <a:spcPct val="101800"/>
              </a:lnSpc>
              <a:buSzPts val="2400"/>
            </a:pPr>
            <a:r>
              <a:rPr lang="en-US" sz="1200" dirty="0" smtClean="0">
                <a:ea typeface="Century Schoolbook"/>
                <a:cs typeface="Century Schoolbook"/>
                <a:sym typeface="Century Schoolbook"/>
              </a:rPr>
              <a:t>	- </a:t>
            </a:r>
            <a:r>
              <a:rPr lang="en-US" sz="1100" dirty="0" smtClean="0">
                <a:ea typeface="Century Schoolbook"/>
                <a:cs typeface="Century Schoolbook"/>
                <a:sym typeface="Century Schoolbook"/>
              </a:rPr>
              <a:t>Introduces gradient descent as an optimization algorithm to adjust weights and biases based 	on calculated gradients, aiming to minimize the cost function.</a:t>
            </a: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Backpropagation Intuition:</a:t>
            </a:r>
          </a:p>
          <a:p>
            <a:pPr marL="12700" marR="5080" lvl="0">
              <a:lnSpc>
                <a:spcPct val="101800"/>
              </a:lnSpc>
              <a:buSzPts val="2400"/>
            </a:pPr>
            <a:r>
              <a:rPr lang="en-US" sz="1100" dirty="0" smtClean="0">
                <a:ea typeface="Century Schoolbook"/>
                <a:cs typeface="Century Schoolbook"/>
                <a:sym typeface="Century Schoolbook"/>
              </a:rPr>
              <a:t>	- Provides an optional insight into the intuition behind backpropagation, where gradients are 	propagated backward through the network to update parameters.</a:t>
            </a: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Random Initialization:</a:t>
            </a:r>
          </a:p>
          <a:p>
            <a:pPr marL="12700" marR="5080" lvl="0">
              <a:lnSpc>
                <a:spcPct val="101800"/>
              </a:lnSpc>
              <a:buSzPts val="2400"/>
            </a:pPr>
            <a:r>
              <a:rPr lang="en-US" sz="1100" dirty="0" smtClean="0">
                <a:ea typeface="Century Schoolbook"/>
                <a:cs typeface="Century Schoolbook"/>
                <a:sym typeface="Century Schoolbook"/>
              </a:rPr>
              <a:t>	- Highlights the importance of proper weight initialization to prevent symmetry and ensure 	efficient learning.</a:t>
            </a:r>
          </a:p>
          <a:p>
            <a:pPr marL="0" lvl="0" indent="0" algn="l" rtl="0">
              <a:lnSpc>
                <a:spcPct val="100000"/>
              </a:lnSpc>
              <a:spcBef>
                <a:spcPts val="0"/>
              </a:spcBef>
              <a:spcAft>
                <a:spcPts val="0"/>
              </a:spcAft>
              <a:buSzPts val="1400"/>
              <a:buNone/>
            </a:pPr>
            <a:endParaRPr dirty="0"/>
          </a:p>
        </p:txBody>
      </p:sp>
      <p:sp>
        <p:nvSpPr>
          <p:cNvPr id="445" name="Google Shape;445;p43:notes"/>
          <p:cNvSpPr txBox="1">
            <a:spLocks noGrp="1"/>
          </p:cNvSpPr>
          <p:nvPr>
            <p:ph type="sldNum" idx="12"/>
          </p:nvPr>
        </p:nvSpPr>
        <p:spPr>
          <a:xfrm>
            <a:off x="6905625" y="6513513"/>
            <a:ext cx="5283200" cy="3444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55</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443537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
        <p:cNvGrpSpPr/>
        <p:nvPr/>
      </p:nvGrpSpPr>
      <p:grpSpPr>
        <a:xfrm>
          <a:off x="0" y="0"/>
          <a:ext cx="0" cy="0"/>
          <a:chOff x="0" y="0"/>
          <a:chExt cx="0" cy="0"/>
        </a:xfrm>
      </p:grpSpPr>
      <p:sp>
        <p:nvSpPr>
          <p:cNvPr id="12" name="Google Shape;12;p37"/>
          <p:cNvSpPr txBox="1">
            <a:spLocks noGrp="1"/>
          </p:cNvSpPr>
          <p:nvPr>
            <p:ph type="title"/>
          </p:nvPr>
        </p:nvSpPr>
        <p:spPr>
          <a:xfrm>
            <a:off x="1303616" y="1130296"/>
            <a:ext cx="9584766" cy="18542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60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37"/>
          <p:cNvSpPr txBox="1">
            <a:spLocks noGrp="1"/>
          </p:cNvSpPr>
          <p:nvPr>
            <p:ph type="body" idx="1"/>
          </p:nvPr>
        </p:nvSpPr>
        <p:spPr>
          <a:xfrm>
            <a:off x="1303616" y="1130296"/>
            <a:ext cx="9584766" cy="18542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6000" b="0" i="0">
                <a:solidFill>
                  <a:schemeClr val="dk1"/>
                </a:solidFill>
                <a:latin typeface="Calibri"/>
                <a:ea typeface="Calibri"/>
                <a:cs typeface="Calibri"/>
                <a:sym typeface="Calibri"/>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4" name="Google Shape;14;p37"/>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37"/>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37"/>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7"/>
        <p:cNvGrpSpPr/>
        <p:nvPr/>
      </p:nvGrpSpPr>
      <p:grpSpPr>
        <a:xfrm>
          <a:off x="0" y="0"/>
          <a:ext cx="0" cy="0"/>
          <a:chOff x="0" y="0"/>
          <a:chExt cx="0" cy="0"/>
        </a:xfrm>
      </p:grpSpPr>
      <p:sp>
        <p:nvSpPr>
          <p:cNvPr id="18" name="Google Shape;18;p38"/>
          <p:cNvSpPr txBox="1">
            <a:spLocks noGrp="1"/>
          </p:cNvSpPr>
          <p:nvPr>
            <p:ph type="title"/>
          </p:nvPr>
        </p:nvSpPr>
        <p:spPr>
          <a:xfrm>
            <a:off x="1303616" y="1130296"/>
            <a:ext cx="9584766" cy="18542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60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8"/>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8"/>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38"/>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Slide">
  <p:cSld name="Title Slide">
    <p:bg>
      <p:bgPr>
        <a:solidFill>
          <a:schemeClr val="lt1"/>
        </a:solidFill>
        <a:effectLst/>
      </p:bgPr>
    </p:bg>
    <p:spTree>
      <p:nvGrpSpPr>
        <p:cNvPr id="1" name="Shape 22"/>
        <p:cNvGrpSpPr/>
        <p:nvPr/>
      </p:nvGrpSpPr>
      <p:grpSpPr>
        <a:xfrm>
          <a:off x="0" y="0"/>
          <a:ext cx="0" cy="0"/>
          <a:chOff x="0" y="0"/>
          <a:chExt cx="0" cy="0"/>
        </a:xfrm>
      </p:grpSpPr>
      <p:pic>
        <p:nvPicPr>
          <p:cNvPr id="23" name="Google Shape;23;p39"/>
          <p:cNvPicPr preferRelativeResize="0"/>
          <p:nvPr/>
        </p:nvPicPr>
        <p:blipFill rotWithShape="1">
          <a:blip r:embed="rId2">
            <a:alphaModFix/>
          </a:blip>
          <a:srcRect/>
          <a:stretch/>
        </p:blipFill>
        <p:spPr>
          <a:xfrm>
            <a:off x="2641595" y="1515541"/>
            <a:ext cx="3733795" cy="2302929"/>
          </a:xfrm>
          <a:prstGeom prst="rect">
            <a:avLst/>
          </a:prstGeom>
          <a:noFill/>
          <a:ln>
            <a:noFill/>
          </a:ln>
        </p:spPr>
      </p:pic>
      <p:sp>
        <p:nvSpPr>
          <p:cNvPr id="24" name="Google Shape;24;p39"/>
          <p:cNvSpPr txBox="1">
            <a:spLocks noGrp="1"/>
          </p:cNvSpPr>
          <p:nvPr>
            <p:ph type="ctrTitle"/>
          </p:nvPr>
        </p:nvSpPr>
        <p:spPr>
          <a:xfrm>
            <a:off x="487997" y="286245"/>
            <a:ext cx="11216005" cy="117094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b="0" i="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9"/>
          <p:cNvSpPr txBox="1">
            <a:spLocks noGrp="1"/>
          </p:cNvSpPr>
          <p:nvPr>
            <p:ph type="subTitle" idx="1"/>
          </p:nvPr>
        </p:nvSpPr>
        <p:spPr>
          <a:xfrm>
            <a:off x="1828800" y="3840480"/>
            <a:ext cx="8534400" cy="17145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9"/>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39"/>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39"/>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9"/>
        <p:cNvGrpSpPr/>
        <p:nvPr/>
      </p:nvGrpSpPr>
      <p:grpSpPr>
        <a:xfrm>
          <a:off x="0" y="0"/>
          <a:ext cx="0" cy="0"/>
          <a:chOff x="0" y="0"/>
          <a:chExt cx="0" cy="0"/>
        </a:xfrm>
      </p:grpSpPr>
      <p:sp>
        <p:nvSpPr>
          <p:cNvPr id="30" name="Google Shape;30;p40"/>
          <p:cNvSpPr txBox="1">
            <a:spLocks noGrp="1"/>
          </p:cNvSpPr>
          <p:nvPr>
            <p:ph type="title"/>
          </p:nvPr>
        </p:nvSpPr>
        <p:spPr>
          <a:xfrm>
            <a:off x="1303616" y="1130296"/>
            <a:ext cx="9584766" cy="18542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60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0"/>
          <p:cNvSpPr txBox="1">
            <a:spLocks noGrp="1"/>
          </p:cNvSpPr>
          <p:nvPr>
            <p:ph type="body" idx="1"/>
          </p:nvPr>
        </p:nvSpPr>
        <p:spPr>
          <a:xfrm>
            <a:off x="609600" y="1577340"/>
            <a:ext cx="5303520" cy="452628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2" name="Google Shape;32;p40"/>
          <p:cNvSpPr txBox="1">
            <a:spLocks noGrp="1"/>
          </p:cNvSpPr>
          <p:nvPr>
            <p:ph type="body" idx="2"/>
          </p:nvPr>
        </p:nvSpPr>
        <p:spPr>
          <a:xfrm>
            <a:off x="6278880" y="1577340"/>
            <a:ext cx="5303520" cy="452628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3" name="Google Shape;33;p40"/>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40"/>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40"/>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6"/>
        <p:cNvGrpSpPr/>
        <p:nvPr/>
      </p:nvGrpSpPr>
      <p:grpSpPr>
        <a:xfrm>
          <a:off x="0" y="0"/>
          <a:ext cx="0" cy="0"/>
          <a:chOff x="0" y="0"/>
          <a:chExt cx="0" cy="0"/>
        </a:xfrm>
      </p:grpSpPr>
      <p:sp>
        <p:nvSpPr>
          <p:cNvPr id="37" name="Google Shape;37;p41"/>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41"/>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41"/>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458279" y="1121825"/>
            <a:ext cx="11275441" cy="18542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60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body" idx="1"/>
          </p:nvPr>
        </p:nvSpPr>
        <p:spPr>
          <a:xfrm>
            <a:off x="458279" y="1121825"/>
            <a:ext cx="11275441" cy="18542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6000" b="0" i="0">
                <a:solidFill>
                  <a:schemeClr val="dk1"/>
                </a:solidFill>
                <a:latin typeface="Calibri"/>
                <a:ea typeface="Calibri"/>
                <a:cs typeface="Calibri"/>
                <a:sym typeface="Calibri"/>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8" name="Google Shape;18;p2"/>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0" cap="none" spc="0" normalizeH="0" baseline="0" noProof="0">
              <a:ln>
                <a:noFill/>
              </a:ln>
              <a:solidFill>
                <a:srgbClr val="888888"/>
              </a:solidFill>
              <a:effectLst/>
              <a:uLnTx/>
              <a:uFillTx/>
              <a:latin typeface="Calibri"/>
              <a:cs typeface="Calibri"/>
              <a:sym typeface="Calibri"/>
            </a:endParaRPr>
          </a:p>
        </p:txBody>
      </p:sp>
      <p:sp>
        <p:nvSpPr>
          <p:cNvPr id="19" name="Google Shape;19;p2"/>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0" cap="none" spc="0" normalizeH="0" baseline="0" noProof="0">
              <a:ln>
                <a:noFill/>
              </a:ln>
              <a:solidFill>
                <a:srgbClr val="888888"/>
              </a:solidFill>
              <a:effectLst/>
              <a:uLnTx/>
              <a:uFillTx/>
              <a:latin typeface="Calibri"/>
              <a:cs typeface="Calibri"/>
              <a:sym typeface="Calibri"/>
            </a:endParaRPr>
          </a:p>
        </p:txBody>
      </p:sp>
      <p:sp>
        <p:nvSpPr>
          <p:cNvPr id="20" name="Google Shape;20;p2"/>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marR="0" lvl="0" indent="0" algn="r" defTabSz="914400" rtl="0" eaLnBrk="1" fontAlgn="auto" latinLnBrk="0" hangingPunct="1">
              <a:lnSpc>
                <a:spcPct val="100000"/>
              </a:lnSpc>
              <a:spcBef>
                <a:spcPts val="0"/>
              </a:spcBef>
              <a:spcAft>
                <a:spcPts val="0"/>
              </a:spcAft>
              <a:buClr>
                <a:srgbClr val="000000"/>
              </a:buClr>
              <a:buSzPts val="1800"/>
              <a:buFont typeface="Arial"/>
              <a:buNone/>
              <a:tabLst/>
              <a:defRPr/>
            </a:pPr>
            <a:fld id="{00000000-1234-1234-1234-123412341234}" type="slidenum">
              <a:rPr kumimoji="0" lang="en-US" sz="1800" b="0" i="0" u="none" strike="noStrike" kern="0" cap="none" spc="0" normalizeH="0" baseline="0" noProof="0">
                <a:ln>
                  <a:noFill/>
                </a:ln>
                <a:solidFill>
                  <a:srgbClr val="888888"/>
                </a:solidFill>
                <a:effectLst/>
                <a:uLnTx/>
                <a:uFillTx/>
                <a:latin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800"/>
                <a:buFont typeface="Arial"/>
                <a:buNone/>
                <a:tabLst/>
                <a:defRPr/>
              </a:pPr>
              <a:t>‹#›</a:t>
            </a:fld>
            <a:endParaRPr kumimoji="0" sz="18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18658033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1"/>
        <p:cNvGrpSpPr/>
        <p:nvPr/>
      </p:nvGrpSpPr>
      <p:grpSpPr>
        <a:xfrm>
          <a:off x="0" y="0"/>
          <a:ext cx="0" cy="0"/>
          <a:chOff x="0" y="0"/>
          <a:chExt cx="0" cy="0"/>
        </a:xfrm>
      </p:grpSpPr>
      <p:sp>
        <p:nvSpPr>
          <p:cNvPr id="22" name="Google Shape;22;p3"/>
          <p:cNvSpPr txBox="1">
            <a:spLocks noGrp="1"/>
          </p:cNvSpPr>
          <p:nvPr>
            <p:ph type="ctrTitle"/>
          </p:nvPr>
        </p:nvSpPr>
        <p:spPr>
          <a:xfrm>
            <a:off x="261620" y="452963"/>
            <a:ext cx="11668759" cy="69596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b="0" i="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
          <p:cNvSpPr txBox="1">
            <a:spLocks noGrp="1"/>
          </p:cNvSpPr>
          <p:nvPr>
            <p:ph type="subTitle" idx="1"/>
          </p:nvPr>
        </p:nvSpPr>
        <p:spPr>
          <a:xfrm>
            <a:off x="1828800" y="3840480"/>
            <a:ext cx="8534400" cy="17145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0" cap="none" spc="0" normalizeH="0" baseline="0" noProof="0">
              <a:ln>
                <a:noFill/>
              </a:ln>
              <a:solidFill>
                <a:srgbClr val="888888"/>
              </a:solidFill>
              <a:effectLst/>
              <a:uLnTx/>
              <a:uFillTx/>
              <a:latin typeface="Calibri"/>
              <a:cs typeface="Calibri"/>
              <a:sym typeface="Calibri"/>
            </a:endParaRPr>
          </a:p>
        </p:txBody>
      </p:sp>
      <p:sp>
        <p:nvSpPr>
          <p:cNvPr id="25" name="Google Shape;25;p3"/>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0" cap="none" spc="0" normalizeH="0" baseline="0" noProof="0">
              <a:ln>
                <a:noFill/>
              </a:ln>
              <a:solidFill>
                <a:srgbClr val="888888"/>
              </a:solidFill>
              <a:effectLst/>
              <a:uLnTx/>
              <a:uFillTx/>
              <a:latin typeface="Calibri"/>
              <a:cs typeface="Calibri"/>
              <a:sym typeface="Calibri"/>
            </a:endParaRPr>
          </a:p>
        </p:txBody>
      </p:sp>
      <p:sp>
        <p:nvSpPr>
          <p:cNvPr id="26" name="Google Shape;26;p3"/>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marR="0" lvl="0" indent="0" algn="r" defTabSz="914400" rtl="0" eaLnBrk="1" fontAlgn="auto" latinLnBrk="0" hangingPunct="1">
              <a:lnSpc>
                <a:spcPct val="100000"/>
              </a:lnSpc>
              <a:spcBef>
                <a:spcPts val="0"/>
              </a:spcBef>
              <a:spcAft>
                <a:spcPts val="0"/>
              </a:spcAft>
              <a:buClr>
                <a:srgbClr val="000000"/>
              </a:buClr>
              <a:buSzPts val="1800"/>
              <a:buFont typeface="Arial"/>
              <a:buNone/>
              <a:tabLst/>
              <a:defRPr/>
            </a:pPr>
            <a:fld id="{00000000-1234-1234-1234-123412341234}" type="slidenum">
              <a:rPr kumimoji="0" lang="en-US" sz="1800" b="0" i="0" u="none" strike="noStrike" kern="0" cap="none" spc="0" normalizeH="0" baseline="0" noProof="0">
                <a:ln>
                  <a:noFill/>
                </a:ln>
                <a:solidFill>
                  <a:srgbClr val="888888"/>
                </a:solidFill>
                <a:effectLst/>
                <a:uLnTx/>
                <a:uFillTx/>
                <a:latin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800"/>
                <a:buFont typeface="Arial"/>
                <a:buNone/>
                <a:tabLst/>
                <a:defRPr/>
              </a:pPr>
              <a:t>‹#›</a:t>
            </a:fld>
            <a:endParaRPr kumimoji="0" sz="18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26768596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458279" y="1121825"/>
            <a:ext cx="11275441" cy="18542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60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0" cap="none" spc="0" normalizeH="0" baseline="0" noProof="0">
              <a:ln>
                <a:noFill/>
              </a:ln>
              <a:solidFill>
                <a:srgbClr val="888888"/>
              </a:solidFill>
              <a:effectLst/>
              <a:uLnTx/>
              <a:uFillTx/>
              <a:latin typeface="Calibri"/>
              <a:cs typeface="Calibri"/>
              <a:sym typeface="Calibri"/>
            </a:endParaRPr>
          </a:p>
        </p:txBody>
      </p:sp>
      <p:sp>
        <p:nvSpPr>
          <p:cNvPr id="30" name="Google Shape;30;p4"/>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0" cap="none" spc="0" normalizeH="0" baseline="0" noProof="0">
              <a:ln>
                <a:noFill/>
              </a:ln>
              <a:solidFill>
                <a:srgbClr val="888888"/>
              </a:solidFill>
              <a:effectLst/>
              <a:uLnTx/>
              <a:uFillTx/>
              <a:latin typeface="Calibri"/>
              <a:cs typeface="Calibri"/>
              <a:sym typeface="Calibri"/>
            </a:endParaRPr>
          </a:p>
        </p:txBody>
      </p:sp>
      <p:sp>
        <p:nvSpPr>
          <p:cNvPr id="31" name="Google Shape;31;p4"/>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marR="0" lvl="0" indent="0" algn="r" defTabSz="914400" rtl="0" eaLnBrk="1" fontAlgn="auto" latinLnBrk="0" hangingPunct="1">
              <a:lnSpc>
                <a:spcPct val="100000"/>
              </a:lnSpc>
              <a:spcBef>
                <a:spcPts val="0"/>
              </a:spcBef>
              <a:spcAft>
                <a:spcPts val="0"/>
              </a:spcAft>
              <a:buClr>
                <a:srgbClr val="000000"/>
              </a:buClr>
              <a:buSzPts val="1800"/>
              <a:buFont typeface="Arial"/>
              <a:buNone/>
              <a:tabLst/>
              <a:defRPr/>
            </a:pPr>
            <a:fld id="{00000000-1234-1234-1234-123412341234}" type="slidenum">
              <a:rPr kumimoji="0" lang="en-US" sz="1800" b="0" i="0" u="none" strike="noStrike" kern="0" cap="none" spc="0" normalizeH="0" baseline="0" noProof="0">
                <a:ln>
                  <a:noFill/>
                </a:ln>
                <a:solidFill>
                  <a:srgbClr val="888888"/>
                </a:solidFill>
                <a:effectLst/>
                <a:uLnTx/>
                <a:uFillTx/>
                <a:latin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800"/>
                <a:buFont typeface="Arial"/>
                <a:buNone/>
                <a:tabLst/>
                <a:defRPr/>
              </a:pPr>
              <a:t>‹#›</a:t>
            </a:fld>
            <a:endParaRPr kumimoji="0" sz="18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20140313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2"/>
        <p:cNvGrpSpPr/>
        <p:nvPr/>
      </p:nvGrpSpPr>
      <p:grpSpPr>
        <a:xfrm>
          <a:off x="0" y="0"/>
          <a:ext cx="0" cy="0"/>
          <a:chOff x="0" y="0"/>
          <a:chExt cx="0" cy="0"/>
        </a:xfrm>
      </p:grpSpPr>
      <p:sp>
        <p:nvSpPr>
          <p:cNvPr id="33" name="Google Shape;33;p5"/>
          <p:cNvSpPr txBox="1">
            <a:spLocks noGrp="1"/>
          </p:cNvSpPr>
          <p:nvPr>
            <p:ph type="title"/>
          </p:nvPr>
        </p:nvSpPr>
        <p:spPr>
          <a:xfrm>
            <a:off x="458279" y="1121825"/>
            <a:ext cx="11275441" cy="18542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60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5"/>
          <p:cNvSpPr txBox="1">
            <a:spLocks noGrp="1"/>
          </p:cNvSpPr>
          <p:nvPr>
            <p:ph type="body" idx="1"/>
          </p:nvPr>
        </p:nvSpPr>
        <p:spPr>
          <a:xfrm>
            <a:off x="609600" y="1577340"/>
            <a:ext cx="5303520" cy="452628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5" name="Google Shape;35;p5"/>
          <p:cNvSpPr txBox="1">
            <a:spLocks noGrp="1"/>
          </p:cNvSpPr>
          <p:nvPr>
            <p:ph type="body" idx="2"/>
          </p:nvPr>
        </p:nvSpPr>
        <p:spPr>
          <a:xfrm>
            <a:off x="6278880" y="1577340"/>
            <a:ext cx="5303520" cy="452628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0" cap="none" spc="0" normalizeH="0" baseline="0" noProof="0">
              <a:ln>
                <a:noFill/>
              </a:ln>
              <a:solidFill>
                <a:srgbClr val="888888"/>
              </a:solidFill>
              <a:effectLst/>
              <a:uLnTx/>
              <a:uFillTx/>
              <a:latin typeface="Calibri"/>
              <a:cs typeface="Calibri"/>
              <a:sym typeface="Calibri"/>
            </a:endParaRPr>
          </a:p>
        </p:txBody>
      </p:sp>
      <p:sp>
        <p:nvSpPr>
          <p:cNvPr id="37" name="Google Shape;37;p5"/>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0" cap="none" spc="0" normalizeH="0" baseline="0" noProof="0">
              <a:ln>
                <a:noFill/>
              </a:ln>
              <a:solidFill>
                <a:srgbClr val="888888"/>
              </a:solidFill>
              <a:effectLst/>
              <a:uLnTx/>
              <a:uFillTx/>
              <a:latin typeface="Calibri"/>
              <a:cs typeface="Calibri"/>
              <a:sym typeface="Calibri"/>
            </a:endParaRPr>
          </a:p>
        </p:txBody>
      </p:sp>
      <p:sp>
        <p:nvSpPr>
          <p:cNvPr id="38" name="Google Shape;38;p5"/>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marR="0" lvl="0" indent="0" algn="r" defTabSz="914400" rtl="0" eaLnBrk="1" fontAlgn="auto" latinLnBrk="0" hangingPunct="1">
              <a:lnSpc>
                <a:spcPct val="100000"/>
              </a:lnSpc>
              <a:spcBef>
                <a:spcPts val="0"/>
              </a:spcBef>
              <a:spcAft>
                <a:spcPts val="0"/>
              </a:spcAft>
              <a:buClr>
                <a:srgbClr val="000000"/>
              </a:buClr>
              <a:buSzPts val="1800"/>
              <a:buFont typeface="Arial"/>
              <a:buNone/>
              <a:tabLst/>
              <a:defRPr/>
            </a:pPr>
            <a:fld id="{00000000-1234-1234-1234-123412341234}" type="slidenum">
              <a:rPr kumimoji="0" lang="en-US" sz="1800" b="0" i="0" u="none" strike="noStrike" kern="0" cap="none" spc="0" normalizeH="0" baseline="0" noProof="0">
                <a:ln>
                  <a:noFill/>
                </a:ln>
                <a:solidFill>
                  <a:srgbClr val="888888"/>
                </a:solidFill>
                <a:effectLst/>
                <a:uLnTx/>
                <a:uFillTx/>
                <a:latin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800"/>
                <a:buFont typeface="Arial"/>
                <a:buNone/>
                <a:tabLst/>
                <a:defRPr/>
              </a:pPr>
              <a:t>‹#›</a:t>
            </a:fld>
            <a:endParaRPr kumimoji="0" sz="18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2902615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9"/>
        <p:cNvGrpSpPr/>
        <p:nvPr/>
      </p:nvGrpSpPr>
      <p:grpSpPr>
        <a:xfrm>
          <a:off x="0" y="0"/>
          <a:ext cx="0" cy="0"/>
          <a:chOff x="0" y="0"/>
          <a:chExt cx="0" cy="0"/>
        </a:xfrm>
      </p:grpSpPr>
      <p:sp>
        <p:nvSpPr>
          <p:cNvPr id="40" name="Google Shape;40;p6"/>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0" cap="none" spc="0" normalizeH="0" baseline="0" noProof="0">
              <a:ln>
                <a:noFill/>
              </a:ln>
              <a:solidFill>
                <a:srgbClr val="888888"/>
              </a:solidFill>
              <a:effectLst/>
              <a:uLnTx/>
              <a:uFillTx/>
              <a:latin typeface="Calibri"/>
              <a:cs typeface="Calibri"/>
              <a:sym typeface="Calibri"/>
            </a:endParaRPr>
          </a:p>
        </p:txBody>
      </p:sp>
      <p:sp>
        <p:nvSpPr>
          <p:cNvPr id="41" name="Google Shape;41;p6"/>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0" cap="none" spc="0" normalizeH="0" baseline="0" noProof="0">
              <a:ln>
                <a:noFill/>
              </a:ln>
              <a:solidFill>
                <a:srgbClr val="888888"/>
              </a:solidFill>
              <a:effectLst/>
              <a:uLnTx/>
              <a:uFillTx/>
              <a:latin typeface="Calibri"/>
              <a:cs typeface="Calibri"/>
              <a:sym typeface="Calibri"/>
            </a:endParaRPr>
          </a:p>
        </p:txBody>
      </p:sp>
      <p:sp>
        <p:nvSpPr>
          <p:cNvPr id="42" name="Google Shape;42;p6"/>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marR="0" lvl="0" indent="0" algn="r" defTabSz="914400" rtl="0" eaLnBrk="1" fontAlgn="auto" latinLnBrk="0" hangingPunct="1">
              <a:lnSpc>
                <a:spcPct val="100000"/>
              </a:lnSpc>
              <a:spcBef>
                <a:spcPts val="0"/>
              </a:spcBef>
              <a:spcAft>
                <a:spcPts val="0"/>
              </a:spcAft>
              <a:buClr>
                <a:srgbClr val="000000"/>
              </a:buClr>
              <a:buSzPts val="1800"/>
              <a:buFont typeface="Arial"/>
              <a:buNone/>
              <a:tabLst/>
              <a:defRPr/>
            </a:pPr>
            <a:fld id="{00000000-1234-1234-1234-123412341234}" type="slidenum">
              <a:rPr kumimoji="0" lang="en-US" sz="1800" b="0" i="0" u="none" strike="noStrike" kern="0" cap="none" spc="0" normalizeH="0" baseline="0" noProof="0">
                <a:ln>
                  <a:noFill/>
                </a:ln>
                <a:solidFill>
                  <a:srgbClr val="888888"/>
                </a:solidFill>
                <a:effectLst/>
                <a:uLnTx/>
                <a:uFillTx/>
                <a:latin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800"/>
                <a:buFont typeface="Arial"/>
                <a:buNone/>
                <a:tabLst/>
                <a:defRPr/>
              </a:pPr>
              <a:t>‹#›</a:t>
            </a:fld>
            <a:endParaRPr kumimoji="0" sz="18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40629587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2.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36"/>
          <p:cNvSpPr txBox="1">
            <a:spLocks noGrp="1"/>
          </p:cNvSpPr>
          <p:nvPr>
            <p:ph type="title"/>
          </p:nvPr>
        </p:nvSpPr>
        <p:spPr>
          <a:xfrm>
            <a:off x="1303616" y="1130296"/>
            <a:ext cx="9584766" cy="18542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36"/>
          <p:cNvSpPr txBox="1">
            <a:spLocks noGrp="1"/>
          </p:cNvSpPr>
          <p:nvPr>
            <p:ph type="body" idx="1"/>
          </p:nvPr>
        </p:nvSpPr>
        <p:spPr>
          <a:xfrm>
            <a:off x="1303616" y="1130296"/>
            <a:ext cx="9584766" cy="18542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60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8" name="Google Shape;8;p36"/>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36"/>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36"/>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8279" y="1121825"/>
            <a:ext cx="11275441" cy="18542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458279" y="1121825"/>
            <a:ext cx="11275441" cy="18542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60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12" name="Google Shape;12;p1"/>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0" cap="none" spc="0" normalizeH="0" baseline="0" noProof="0">
              <a:ln>
                <a:noFill/>
              </a:ln>
              <a:solidFill>
                <a:srgbClr val="888888"/>
              </a:solidFill>
              <a:effectLst/>
              <a:uLnTx/>
              <a:uFillTx/>
              <a:latin typeface="Calibri"/>
              <a:cs typeface="Calibri"/>
              <a:sym typeface="Calibri"/>
            </a:endParaRPr>
          </a:p>
        </p:txBody>
      </p:sp>
      <p:sp>
        <p:nvSpPr>
          <p:cNvPr id="13" name="Google Shape;13;p1"/>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800" b="0" i="0" u="none" strike="noStrike" kern="0" cap="none" spc="0" normalizeH="0" baseline="0" noProof="0">
              <a:ln>
                <a:noFill/>
              </a:ln>
              <a:solidFill>
                <a:srgbClr val="888888"/>
              </a:solidFill>
              <a:effectLst/>
              <a:uLnTx/>
              <a:uFillTx/>
              <a:latin typeface="Calibri"/>
              <a:cs typeface="Calibri"/>
              <a:sym typeface="Calibri"/>
            </a:endParaRPr>
          </a:p>
        </p:txBody>
      </p:sp>
      <p:sp>
        <p:nvSpPr>
          <p:cNvPr id="14" name="Google Shape;14;p1"/>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marR="0" lvl="0" indent="0" algn="r" defTabSz="914400" rtl="0" eaLnBrk="1" fontAlgn="auto" latinLnBrk="0" hangingPunct="1">
              <a:lnSpc>
                <a:spcPct val="100000"/>
              </a:lnSpc>
              <a:spcBef>
                <a:spcPts val="0"/>
              </a:spcBef>
              <a:spcAft>
                <a:spcPts val="0"/>
              </a:spcAft>
              <a:buClr>
                <a:srgbClr val="000000"/>
              </a:buClr>
              <a:buSzPts val="1800"/>
              <a:buFont typeface="Arial"/>
              <a:buNone/>
              <a:tabLst/>
              <a:defRPr/>
            </a:pPr>
            <a:fld id="{00000000-1234-1234-1234-123412341234}" type="slidenum">
              <a:rPr kumimoji="0" lang="en-US" sz="1800" b="0" i="0" u="none" strike="noStrike" kern="0" cap="none" spc="0" normalizeH="0" baseline="0" noProof="0">
                <a:ln>
                  <a:noFill/>
                </a:ln>
                <a:solidFill>
                  <a:srgbClr val="888888"/>
                </a:solidFill>
                <a:effectLst/>
                <a:uLnTx/>
                <a:uFillTx/>
                <a:latin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800"/>
                <a:buFont typeface="Arial"/>
                <a:buNone/>
                <a:tabLst/>
                <a:defRPr/>
              </a:pPr>
              <a:t>‹#›</a:t>
            </a:fld>
            <a:endParaRPr kumimoji="0" sz="18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2945302360"/>
      </p:ext>
    </p:extLst>
  </p:cSld>
  <p:clrMap bg1="lt1" tx1="dk1" bg2="dk2" tx2="lt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3" Type="http://schemas.openxmlformats.org/officeDocument/2006/relationships/oleObject" Target="../embeddings/oleObject3.bin"/><Relationship Id="rId18" Type="http://schemas.openxmlformats.org/officeDocument/2006/relationships/image" Target="../media/image6.wmf"/><Relationship Id="rId26" Type="http://schemas.openxmlformats.org/officeDocument/2006/relationships/image" Target="../media/image8.wmf"/><Relationship Id="rId39" Type="http://schemas.openxmlformats.org/officeDocument/2006/relationships/oleObject" Target="../embeddings/oleObject9.bin"/><Relationship Id="rId21" Type="http://schemas.openxmlformats.org/officeDocument/2006/relationships/oleObject" Target="../embeddings/oleObject5.bin"/><Relationship Id="rId34" Type="http://schemas.openxmlformats.org/officeDocument/2006/relationships/image" Target="../media/image10.wmf"/><Relationship Id="rId42" Type="http://schemas.openxmlformats.org/officeDocument/2006/relationships/image" Target="../media/image12.wmf"/><Relationship Id="rId47" Type="http://schemas.openxmlformats.org/officeDocument/2006/relationships/oleObject" Target="../embeddings/oleObject11.bin"/><Relationship Id="rId50" Type="http://schemas.openxmlformats.org/officeDocument/2006/relationships/image" Target="../media/image14.wmf"/><Relationship Id="rId7" Type="http://schemas.openxmlformats.org/officeDocument/2006/relationships/oleObject" Target="../embeddings/oleObject1.bin"/><Relationship Id="rId2" Type="http://schemas.openxmlformats.org/officeDocument/2006/relationships/slideLayout" Target="../slideLayouts/slideLayout1.xml"/><Relationship Id="rId16" Type="http://schemas.openxmlformats.org/officeDocument/2006/relationships/image" Target="../media/image5.wmf"/><Relationship Id="rId29" Type="http://schemas.openxmlformats.org/officeDocument/2006/relationships/oleObject" Target="../embeddings/oleObject7.bin"/><Relationship Id="rId11" Type="http://schemas.openxmlformats.org/officeDocument/2006/relationships/oleObject" Target="../embeddings/oleObject2.bin"/><Relationship Id="rId24" Type="http://schemas.openxmlformats.org/officeDocument/2006/relationships/image" Target="../media/image7.wmf"/><Relationship Id="rId32" Type="http://schemas.openxmlformats.org/officeDocument/2006/relationships/image" Target="../media/image9.wmf"/><Relationship Id="rId37" Type="http://schemas.openxmlformats.org/officeDocument/2006/relationships/oleObject" Target="../embeddings/oleObject9.bin"/><Relationship Id="rId40" Type="http://schemas.openxmlformats.org/officeDocument/2006/relationships/image" Target="../media/image11.wmf"/><Relationship Id="rId45" Type="http://schemas.openxmlformats.org/officeDocument/2006/relationships/oleObject" Target="../embeddings/oleObject11.bin"/><Relationship Id="rId53" Type="http://schemas.openxmlformats.org/officeDocument/2006/relationships/image" Target="../media/image15.png"/><Relationship Id="rId5" Type="http://schemas.openxmlformats.org/officeDocument/2006/relationships/oleObject" Target="../embeddings/oleObject1.bin"/><Relationship Id="rId10" Type="http://schemas.openxmlformats.org/officeDocument/2006/relationships/image" Target="../media/image4.wmf"/><Relationship Id="rId19" Type="http://schemas.openxmlformats.org/officeDocument/2006/relationships/oleObject" Target="../embeddings/oleObject4.bin"/><Relationship Id="rId31" Type="http://schemas.openxmlformats.org/officeDocument/2006/relationships/oleObject" Target="../embeddings/oleObject7.bin"/><Relationship Id="rId44" Type="http://schemas.openxmlformats.org/officeDocument/2006/relationships/image" Target="../media/image12.wmf"/><Relationship Id="rId52" Type="http://schemas.openxmlformats.org/officeDocument/2006/relationships/image" Target="../media/image14.wmf"/><Relationship Id="rId4" Type="http://schemas.openxmlformats.org/officeDocument/2006/relationships/image" Target="../media/image2.png"/><Relationship Id="rId9" Type="http://schemas.openxmlformats.org/officeDocument/2006/relationships/oleObject" Target="../embeddings/oleObject2.bin"/><Relationship Id="rId14" Type="http://schemas.openxmlformats.org/officeDocument/2006/relationships/image" Target="../media/image5.wmf"/><Relationship Id="rId22" Type="http://schemas.openxmlformats.org/officeDocument/2006/relationships/image" Target="../media/image7.wmf"/><Relationship Id="rId27" Type="http://schemas.openxmlformats.org/officeDocument/2006/relationships/oleObject" Target="../embeddings/oleObject6.bin"/><Relationship Id="rId30" Type="http://schemas.openxmlformats.org/officeDocument/2006/relationships/image" Target="../media/image9.wmf"/><Relationship Id="rId35" Type="http://schemas.openxmlformats.org/officeDocument/2006/relationships/oleObject" Target="../embeddings/oleObject8.bin"/><Relationship Id="rId43" Type="http://schemas.openxmlformats.org/officeDocument/2006/relationships/oleObject" Target="../embeddings/oleObject10.bin"/><Relationship Id="rId48" Type="http://schemas.openxmlformats.org/officeDocument/2006/relationships/image" Target="../media/image13.wmf"/><Relationship Id="rId8" Type="http://schemas.openxmlformats.org/officeDocument/2006/relationships/image" Target="../media/image3.wmf"/><Relationship Id="rId51" Type="http://schemas.openxmlformats.org/officeDocument/2006/relationships/oleObject" Target="../embeddings/oleObject12.bin"/><Relationship Id="rId3" Type="http://schemas.openxmlformats.org/officeDocument/2006/relationships/notesSlide" Target="../notesSlides/notesSlide5.xml"/><Relationship Id="rId12" Type="http://schemas.openxmlformats.org/officeDocument/2006/relationships/image" Target="../media/image4.wmf"/><Relationship Id="rId17" Type="http://schemas.openxmlformats.org/officeDocument/2006/relationships/oleObject" Target="../embeddings/oleObject4.bin"/><Relationship Id="rId25" Type="http://schemas.openxmlformats.org/officeDocument/2006/relationships/oleObject" Target="../embeddings/oleObject6.bin"/><Relationship Id="rId33" Type="http://schemas.openxmlformats.org/officeDocument/2006/relationships/oleObject" Target="../embeddings/oleObject8.bin"/><Relationship Id="rId38" Type="http://schemas.openxmlformats.org/officeDocument/2006/relationships/image" Target="../media/image11.wmf"/><Relationship Id="rId46" Type="http://schemas.openxmlformats.org/officeDocument/2006/relationships/image" Target="../media/image13.wmf"/><Relationship Id="rId20" Type="http://schemas.openxmlformats.org/officeDocument/2006/relationships/image" Target="../media/image6.wmf"/><Relationship Id="rId41" Type="http://schemas.openxmlformats.org/officeDocument/2006/relationships/oleObject" Target="../embeddings/oleObject10.bin"/><Relationship Id="rId54" Type="http://schemas.openxmlformats.org/officeDocument/2006/relationships/image" Target="../media/image16.png"/><Relationship Id="rId1" Type="http://schemas.openxmlformats.org/officeDocument/2006/relationships/vmlDrawing" Target="../drawings/vmlDrawing1.vml"/><Relationship Id="rId6" Type="http://schemas.openxmlformats.org/officeDocument/2006/relationships/image" Target="../media/image3.wmf"/><Relationship Id="rId15" Type="http://schemas.openxmlformats.org/officeDocument/2006/relationships/oleObject" Target="../embeddings/oleObject3.bin"/><Relationship Id="rId23" Type="http://schemas.openxmlformats.org/officeDocument/2006/relationships/oleObject" Target="../embeddings/oleObject5.bin"/><Relationship Id="rId28" Type="http://schemas.openxmlformats.org/officeDocument/2006/relationships/image" Target="../media/image8.wmf"/><Relationship Id="rId36" Type="http://schemas.openxmlformats.org/officeDocument/2006/relationships/image" Target="../media/image10.wmf"/><Relationship Id="rId49" Type="http://schemas.openxmlformats.org/officeDocument/2006/relationships/oleObject" Target="../embeddings/oleObject12.bin"/></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2.png"/><Relationship Id="rId7"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0.png"/><Relationship Id="rId11" Type="http://schemas.microsoft.com/office/2018/10/relationships/comments" Target="../comments/modernComment_126_289EE584.xml"/><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2.png"/><Relationship Id="rId11" Type="http://schemas.microsoft.com/office/2018/10/relationships/comments" Target="../comments/modernComment_126_289EE584.xml"/><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5.png"/><Relationship Id="rId11" Type="http://schemas.microsoft.com/office/2018/10/relationships/comments" Target="../comments/modernComment_126_289EE584.xml"/><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11" Type="http://schemas.microsoft.com/office/2018/10/relationships/comments" Target="../comments/modernComment_126_289EE584.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8.png"/><Relationship Id="rId11" Type="http://schemas.microsoft.com/office/2018/10/relationships/comments" Target="../comments/modernComment_126_289EE584.xml"/><Relationship Id="rId5" Type="http://schemas.openxmlformats.org/officeDocument/2006/relationships/image" Target="../media/image24.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0.png"/><Relationship Id="rId11" Type="http://schemas.microsoft.com/office/2018/10/relationships/comments" Target="../comments/modernComment_126_289EE584.xml"/><Relationship Id="rId5" Type="http://schemas.openxmlformats.org/officeDocument/2006/relationships/image" Target="../media/image24.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11" Type="http://schemas.microsoft.com/office/2018/10/relationships/comments" Target="../comments/modernComment_126_289EE584.xml"/><Relationship Id="rId5" Type="http://schemas.openxmlformats.org/officeDocument/2006/relationships/image" Target="../media/image30.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36.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39.png"/><Relationship Id="rId4" Type="http://schemas.openxmlformats.org/officeDocument/2006/relationships/image" Target="../media/image38.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41.png"/><Relationship Id="rId4" Type="http://schemas.openxmlformats.org/officeDocument/2006/relationships/image" Target="../media/image40.png"/></Relationships>
</file>

<file path=ppt/slides/_rels/slide36.xml.rels><?xml version="1.0" encoding="UTF-8" standalone="yes"?>
<Relationships xmlns="http://schemas.openxmlformats.org/package/2006/relationships"><Relationship Id="rId3" Type="http://schemas.openxmlformats.org/officeDocument/2006/relationships/image" Target="../media/image42.png"/><Relationship Id="rId7" Type="http://schemas.microsoft.com/office/2018/10/relationships/comments" Target="../comments/modernComment_118_0.xml"/><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microsoft.com/office/2018/10/relationships/comments" Target="../comments/modernComment_137_90799010.xml"/><Relationship Id="rId4" Type="http://schemas.openxmlformats.org/officeDocument/2006/relationships/image" Target="../media/image46.emf"/></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8.xml"/><Relationship Id="rId1" Type="http://schemas.openxmlformats.org/officeDocument/2006/relationships/slideLayout" Target="../slideLayouts/slideLayout1.xml"/><Relationship Id="rId5" Type="http://schemas.microsoft.com/office/2018/10/relationships/comments" Target="../comments/modernComment_11E_0.xml"/><Relationship Id="rId4" Type="http://schemas.openxmlformats.org/officeDocument/2006/relationships/image" Target="../media/image2.png"/></Relationships>
</file>

<file path=ppt/slides/_rels/slide49.xml.rels><?xml version="1.0" encoding="UTF-8" standalone="yes"?>
<Relationships xmlns="http://schemas.openxmlformats.org/package/2006/relationships"><Relationship Id="rId8" Type="http://schemas.openxmlformats.org/officeDocument/2006/relationships/image" Target="../media/image530.png"/><Relationship Id="rId3" Type="http://schemas.openxmlformats.org/officeDocument/2006/relationships/image" Target="../media/image2.png"/><Relationship Id="rId7" Type="http://schemas.openxmlformats.org/officeDocument/2006/relationships/image" Target="../media/image520.png"/><Relationship Id="rId2" Type="http://schemas.openxmlformats.org/officeDocument/2006/relationships/notesSlide" Target="../notesSlides/notesSlide49.xml"/><Relationship Id="rId1"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image" Target="../media/image53.png"/><Relationship Id="rId10" Type="http://schemas.openxmlformats.org/officeDocument/2006/relationships/image" Target="../media/image55.png"/><Relationship Id="rId4" Type="http://schemas.openxmlformats.org/officeDocument/2006/relationships/image" Target="../media/image52.png"/><Relationship Id="rId9" Type="http://schemas.openxmlformats.org/officeDocument/2006/relationships/image" Target="../media/image540.png"/></Relationships>
</file>

<file path=ppt/slides/_rels/slide5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5" name="Google Shape;45;g20098e1d08f_0_0"/>
          <p:cNvSpPr txBox="1">
            <a:spLocks noGrp="1"/>
          </p:cNvSpPr>
          <p:nvPr>
            <p:ph type="body" idx="1"/>
          </p:nvPr>
        </p:nvSpPr>
        <p:spPr>
          <a:xfrm>
            <a:off x="1138041" y="481746"/>
            <a:ext cx="9584700" cy="923400"/>
          </a:xfrm>
          <a:prstGeom prst="rect">
            <a:avLst/>
          </a:prstGeom>
          <a:noFill/>
          <a:ln>
            <a:noFill/>
          </a:ln>
        </p:spPr>
        <p:txBody>
          <a:bodyPr spcFirstLastPara="1" wrap="square" lIns="0" tIns="0" rIns="0" bIns="0" anchor="t" anchorCtr="0">
            <a:spAutoFit/>
          </a:bodyPr>
          <a:lstStyle/>
          <a:p>
            <a:pPr marL="0" lvl="0" indent="0" algn="ctr" rtl="0">
              <a:lnSpc>
                <a:spcPct val="100000"/>
              </a:lnSpc>
              <a:spcBef>
                <a:spcPts val="0"/>
              </a:spcBef>
              <a:spcAft>
                <a:spcPts val="0"/>
              </a:spcAft>
              <a:buSzPts val="1400"/>
              <a:buNone/>
            </a:pPr>
            <a:r>
              <a:rPr lang="en-US" dirty="0">
                <a:latin typeface="+mj-lt"/>
              </a:rPr>
              <a:t>Shallow Neural Networks</a:t>
            </a:r>
            <a:endParaRPr dirty="0">
              <a:latin typeface="+mj-lt"/>
            </a:endParaRPr>
          </a:p>
        </p:txBody>
      </p:sp>
      <p:pic>
        <p:nvPicPr>
          <p:cNvPr id="46" name="Google Shape;46;g20098e1d08f_0_0"/>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47" name="Google Shape;47;g20098e1d08f_0_0"/>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1</a:t>
            </a:fld>
            <a:endParaRPr>
              <a:latin typeface="+mj-lt"/>
            </a:endParaRPr>
          </a:p>
        </p:txBody>
      </p:sp>
      <p:sp>
        <p:nvSpPr>
          <p:cNvPr id="2" name="TextBox 1"/>
          <p:cNvSpPr txBox="1"/>
          <p:nvPr/>
        </p:nvSpPr>
        <p:spPr>
          <a:xfrm>
            <a:off x="4786604" y="1903445"/>
            <a:ext cx="7259216" cy="3046988"/>
          </a:xfrm>
          <a:prstGeom prst="rect">
            <a:avLst/>
          </a:prstGeom>
          <a:noFill/>
        </p:spPr>
        <p:txBody>
          <a:bodyPr wrap="square" rtlCol="0">
            <a:spAutoFit/>
          </a:bodyPr>
          <a:lstStyle/>
          <a:p>
            <a:r>
              <a:rPr lang="en-US" sz="2400" b="1" dirty="0"/>
              <a:t>Learning </a:t>
            </a:r>
            <a:r>
              <a:rPr lang="en-US" sz="2400" b="1" dirty="0" smtClean="0"/>
              <a:t>Objectives:</a:t>
            </a:r>
            <a:endParaRPr lang="en-US" sz="2400" dirty="0"/>
          </a:p>
          <a:p>
            <a:pPr marL="342900" indent="-342900">
              <a:buFont typeface="Arial" panose="020B0604020202020204" pitchFamily="34" charset="0"/>
              <a:buChar char="•"/>
            </a:pPr>
            <a:r>
              <a:rPr lang="en-US" sz="2400" dirty="0" smtClean="0"/>
              <a:t>Describe </a:t>
            </a:r>
            <a:r>
              <a:rPr lang="en-US" sz="2400" dirty="0"/>
              <a:t>hidden units and hidden </a:t>
            </a:r>
            <a:r>
              <a:rPr lang="en-US" sz="2400" dirty="0" smtClean="0"/>
              <a:t>layers</a:t>
            </a:r>
          </a:p>
          <a:p>
            <a:pPr marL="342900" indent="-342900">
              <a:buFont typeface="Arial" panose="020B0604020202020204" pitchFamily="34" charset="0"/>
              <a:buChar char="•"/>
            </a:pPr>
            <a:r>
              <a:rPr lang="en-US" sz="2400" dirty="0" smtClean="0"/>
              <a:t>Use </a:t>
            </a:r>
            <a:r>
              <a:rPr lang="en-US" sz="2400" dirty="0"/>
              <a:t>units with a non-linear activation </a:t>
            </a:r>
            <a:r>
              <a:rPr lang="en-US" sz="2400" dirty="0" smtClean="0"/>
              <a:t>function</a:t>
            </a:r>
          </a:p>
          <a:p>
            <a:pPr marL="342900" indent="-342900">
              <a:buFont typeface="Arial" panose="020B0604020202020204" pitchFamily="34" charset="0"/>
              <a:buChar char="•"/>
            </a:pPr>
            <a:r>
              <a:rPr lang="en-US" sz="2400" dirty="0" smtClean="0"/>
              <a:t>Implement </a:t>
            </a:r>
            <a:r>
              <a:rPr lang="en-US" sz="2400" dirty="0"/>
              <a:t>forward and backward </a:t>
            </a:r>
            <a:r>
              <a:rPr lang="en-US" sz="2400" dirty="0" smtClean="0"/>
              <a:t>propagation</a:t>
            </a:r>
          </a:p>
          <a:p>
            <a:pPr marL="342900" indent="-342900">
              <a:buFont typeface="Arial" panose="020B0604020202020204" pitchFamily="34" charset="0"/>
              <a:buChar char="•"/>
            </a:pPr>
            <a:r>
              <a:rPr lang="en-US" sz="2400" dirty="0" smtClean="0"/>
              <a:t>Apply </a:t>
            </a:r>
            <a:r>
              <a:rPr lang="en-US" sz="2400" dirty="0"/>
              <a:t>random initialization to your neural </a:t>
            </a:r>
            <a:r>
              <a:rPr lang="en-US" sz="2400" dirty="0" smtClean="0"/>
              <a:t>network</a:t>
            </a:r>
          </a:p>
          <a:p>
            <a:pPr marL="342900" indent="-342900">
              <a:buFont typeface="Arial" panose="020B0604020202020204" pitchFamily="34" charset="0"/>
              <a:buChar char="•"/>
            </a:pPr>
            <a:r>
              <a:rPr lang="en-US" sz="2400" dirty="0" smtClean="0"/>
              <a:t>Increase </a:t>
            </a:r>
            <a:r>
              <a:rPr lang="en-US" sz="2400" dirty="0"/>
              <a:t>fluency in Deep Learning </a:t>
            </a:r>
            <a:r>
              <a:rPr lang="en-US" sz="2400"/>
              <a:t>notations </a:t>
            </a:r>
            <a:r>
              <a:rPr lang="en-US" sz="2400" smtClean="0"/>
              <a:t>and Neural </a:t>
            </a:r>
            <a:r>
              <a:rPr lang="en-US" sz="2400" dirty="0"/>
              <a:t>Network </a:t>
            </a:r>
            <a:r>
              <a:rPr lang="en-US" sz="2400" dirty="0" smtClean="0"/>
              <a:t>Representations</a:t>
            </a:r>
          </a:p>
          <a:p>
            <a:pPr marL="342900" indent="-342900">
              <a:buFont typeface="Arial" panose="020B0604020202020204" pitchFamily="34" charset="0"/>
              <a:buChar char="•"/>
            </a:pPr>
            <a:r>
              <a:rPr lang="en-US" sz="2400" dirty="0" smtClean="0"/>
              <a:t>Compute </a:t>
            </a:r>
            <a:r>
              <a:rPr lang="en-US" sz="2400" dirty="0"/>
              <a:t>the cross entropy loss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g20098e1d08f_0_0"/>
          <p:cNvSpPr txBox="1">
            <a:spLocks noGrp="1"/>
          </p:cNvSpPr>
          <p:nvPr>
            <p:ph type="title"/>
          </p:nvPr>
        </p:nvSpPr>
        <p:spPr>
          <a:xfrm>
            <a:off x="4573950" y="1916850"/>
            <a:ext cx="7295700" cy="41799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sz="2400" dirty="0">
                <a:latin typeface="+mj-lt"/>
              </a:rPr>
              <a:t>1 Neural Networks Overview</a:t>
            </a:r>
            <a:endParaRPr sz="2400" dirty="0">
              <a:latin typeface="+mj-lt"/>
            </a:endParaRPr>
          </a:p>
          <a:p>
            <a:pPr marL="0" lvl="0" indent="0" algn="l" rtl="0">
              <a:lnSpc>
                <a:spcPct val="100000"/>
              </a:lnSpc>
              <a:spcBef>
                <a:spcPts val="0"/>
              </a:spcBef>
              <a:spcAft>
                <a:spcPts val="0"/>
              </a:spcAft>
              <a:buSzPts val="1400"/>
              <a:buNone/>
            </a:pPr>
            <a:r>
              <a:rPr lang="en-US" sz="2400" dirty="0">
                <a:latin typeface="+mj-lt"/>
              </a:rPr>
              <a:t>2 Neural Network Representation</a:t>
            </a:r>
            <a:endParaRPr sz="2400" dirty="0">
              <a:latin typeface="+mj-lt"/>
            </a:endParaRPr>
          </a:p>
          <a:p>
            <a:pPr marL="0" lvl="0" indent="0" algn="l" rtl="0">
              <a:lnSpc>
                <a:spcPct val="100000"/>
              </a:lnSpc>
              <a:spcBef>
                <a:spcPts val="0"/>
              </a:spcBef>
              <a:spcAft>
                <a:spcPts val="0"/>
              </a:spcAft>
              <a:buSzPts val="1400"/>
              <a:buNone/>
            </a:pPr>
            <a:r>
              <a:rPr lang="en-US" sz="2400" dirty="0">
                <a:latin typeface="+mj-lt"/>
              </a:rPr>
              <a:t>3 Computing a Neural Network’s Output</a:t>
            </a:r>
            <a:endParaRPr sz="2400" dirty="0">
              <a:latin typeface="+mj-lt"/>
            </a:endParaRPr>
          </a:p>
          <a:p>
            <a:pPr marL="0" lvl="0" indent="0" algn="l" rtl="0">
              <a:lnSpc>
                <a:spcPct val="100000"/>
              </a:lnSpc>
              <a:spcBef>
                <a:spcPts val="0"/>
              </a:spcBef>
              <a:spcAft>
                <a:spcPts val="0"/>
              </a:spcAft>
              <a:buSzPts val="1400"/>
              <a:buNone/>
            </a:pPr>
            <a:r>
              <a:rPr lang="en-US" sz="2400" dirty="0">
                <a:latin typeface="+mj-lt"/>
              </a:rPr>
              <a:t>4 </a:t>
            </a:r>
            <a:r>
              <a:rPr lang="en-US" sz="2400" dirty="0" err="1">
                <a:latin typeface="+mj-lt"/>
              </a:rPr>
              <a:t>Vectorizing</a:t>
            </a:r>
            <a:r>
              <a:rPr lang="en-US" sz="2400" dirty="0">
                <a:latin typeface="+mj-lt"/>
              </a:rPr>
              <a:t> across multiple examples</a:t>
            </a:r>
            <a:endParaRPr sz="2400" dirty="0">
              <a:latin typeface="+mj-lt"/>
            </a:endParaRPr>
          </a:p>
          <a:p>
            <a:pPr marL="0" lvl="0" indent="0" algn="l" rtl="0">
              <a:lnSpc>
                <a:spcPct val="100000"/>
              </a:lnSpc>
              <a:spcBef>
                <a:spcPts val="0"/>
              </a:spcBef>
              <a:spcAft>
                <a:spcPts val="0"/>
              </a:spcAft>
              <a:buSzPts val="1400"/>
              <a:buNone/>
            </a:pPr>
            <a:r>
              <a:rPr lang="en-US" sz="2400" dirty="0">
                <a:latin typeface="+mj-lt"/>
              </a:rPr>
              <a:t>5 Explanation for vectorized implementation</a:t>
            </a:r>
            <a:endParaRPr sz="2400" dirty="0">
              <a:latin typeface="+mj-lt"/>
            </a:endParaRPr>
          </a:p>
          <a:p>
            <a:pPr marL="0" lvl="0" indent="0" algn="l" rtl="0">
              <a:lnSpc>
                <a:spcPct val="115740"/>
              </a:lnSpc>
              <a:spcBef>
                <a:spcPts val="0"/>
              </a:spcBef>
              <a:spcAft>
                <a:spcPts val="0"/>
              </a:spcAft>
              <a:buSzPts val="1400"/>
              <a:buNone/>
            </a:pPr>
            <a:r>
              <a:rPr lang="en-US" sz="2400" dirty="0">
                <a:latin typeface="+mj-lt"/>
              </a:rPr>
              <a:t>6 Activation functions</a:t>
            </a:r>
            <a:endParaRPr sz="2400" dirty="0">
              <a:latin typeface="+mj-lt"/>
            </a:endParaRPr>
          </a:p>
          <a:p>
            <a:pPr marL="0" lvl="0" indent="0" algn="l" rtl="0">
              <a:lnSpc>
                <a:spcPct val="115740"/>
              </a:lnSpc>
              <a:spcBef>
                <a:spcPts val="0"/>
              </a:spcBef>
              <a:spcAft>
                <a:spcPts val="0"/>
              </a:spcAft>
              <a:buSzPts val="1400"/>
              <a:buNone/>
            </a:pPr>
            <a:r>
              <a:rPr lang="en-US" sz="2400" dirty="0">
                <a:latin typeface="+mj-lt"/>
              </a:rPr>
              <a:t>7 Why do you need non-linear activation functions?</a:t>
            </a:r>
            <a:endParaRPr sz="2400" dirty="0">
              <a:latin typeface="+mj-lt"/>
            </a:endParaRPr>
          </a:p>
          <a:p>
            <a:pPr marL="0" lvl="0" indent="0" algn="l" rtl="0">
              <a:lnSpc>
                <a:spcPct val="100000"/>
              </a:lnSpc>
              <a:spcBef>
                <a:spcPts val="0"/>
              </a:spcBef>
              <a:spcAft>
                <a:spcPts val="0"/>
              </a:spcAft>
              <a:buSzPts val="1400"/>
              <a:buNone/>
            </a:pPr>
            <a:r>
              <a:rPr lang="en-US" sz="2400" dirty="0">
                <a:latin typeface="+mj-lt"/>
              </a:rPr>
              <a:t>8 Derivatives of activation functions</a:t>
            </a:r>
            <a:endParaRPr sz="2400" dirty="0">
              <a:latin typeface="+mj-lt"/>
            </a:endParaRPr>
          </a:p>
          <a:p>
            <a:pPr marL="0" lvl="0" indent="0" algn="l" rtl="0">
              <a:lnSpc>
                <a:spcPct val="100000"/>
              </a:lnSpc>
              <a:spcBef>
                <a:spcPts val="0"/>
              </a:spcBef>
              <a:spcAft>
                <a:spcPts val="0"/>
              </a:spcAft>
              <a:buSzPts val="1400"/>
              <a:buNone/>
            </a:pPr>
            <a:r>
              <a:rPr lang="en-US" sz="2400" dirty="0">
                <a:latin typeface="+mj-lt"/>
              </a:rPr>
              <a:t>9 Gradient descent for neural networks</a:t>
            </a:r>
            <a:endParaRPr sz="2400" dirty="0">
              <a:latin typeface="+mj-lt"/>
            </a:endParaRPr>
          </a:p>
          <a:p>
            <a:pPr marL="0" lvl="0" indent="0" algn="l" rtl="0">
              <a:lnSpc>
                <a:spcPct val="100000"/>
              </a:lnSpc>
              <a:spcBef>
                <a:spcPts val="0"/>
              </a:spcBef>
              <a:spcAft>
                <a:spcPts val="0"/>
              </a:spcAft>
              <a:buSzPts val="1400"/>
              <a:buNone/>
            </a:pPr>
            <a:r>
              <a:rPr lang="en-US" sz="2400" dirty="0">
                <a:latin typeface="+mj-lt"/>
              </a:rPr>
              <a:t>10 Backpropagation intuition (Optional)</a:t>
            </a:r>
            <a:endParaRPr sz="2400" dirty="0">
              <a:latin typeface="+mj-lt"/>
            </a:endParaRPr>
          </a:p>
          <a:p>
            <a:pPr marL="0" lvl="0" indent="0" algn="l" rtl="0">
              <a:lnSpc>
                <a:spcPct val="100000"/>
              </a:lnSpc>
              <a:spcBef>
                <a:spcPts val="0"/>
              </a:spcBef>
              <a:spcAft>
                <a:spcPts val="0"/>
              </a:spcAft>
              <a:buClr>
                <a:schemeClr val="dk1"/>
              </a:buClr>
              <a:buSzPts val="1400"/>
              <a:buFont typeface="Arial"/>
              <a:buNone/>
            </a:pPr>
            <a:r>
              <a:rPr lang="en-US" sz="2400" dirty="0">
                <a:latin typeface="+mj-lt"/>
              </a:rPr>
              <a:t>11 Random Initialization </a:t>
            </a:r>
            <a:endParaRPr sz="2400" dirty="0">
              <a:latin typeface="+mj-lt"/>
            </a:endParaRPr>
          </a:p>
        </p:txBody>
      </p:sp>
      <p:sp>
        <p:nvSpPr>
          <p:cNvPr id="45" name="Google Shape;45;g20098e1d08f_0_0"/>
          <p:cNvSpPr txBox="1">
            <a:spLocks noGrp="1"/>
          </p:cNvSpPr>
          <p:nvPr>
            <p:ph type="body" idx="1"/>
          </p:nvPr>
        </p:nvSpPr>
        <p:spPr>
          <a:xfrm>
            <a:off x="1138041" y="481746"/>
            <a:ext cx="9584700" cy="9234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dirty="0">
                <a:latin typeface="+mj-lt"/>
              </a:rPr>
              <a:t>Shallow Neural Networks</a:t>
            </a:r>
            <a:endParaRPr dirty="0">
              <a:latin typeface="+mj-lt"/>
            </a:endParaRPr>
          </a:p>
        </p:txBody>
      </p:sp>
      <p:pic>
        <p:nvPicPr>
          <p:cNvPr id="46" name="Google Shape;46;g20098e1d08f_0_0"/>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47" name="Google Shape;47;g20098e1d08f_0_0"/>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2</a:t>
            </a:fld>
            <a:endParaRPr>
              <a:latin typeface="+mj-lt"/>
            </a:endParaRPr>
          </a:p>
        </p:txBody>
      </p:sp>
    </p:spTree>
    <p:extLst>
      <p:ext uri="{BB962C8B-B14F-4D97-AF65-F5344CB8AC3E}">
        <p14:creationId xmlns:p14="http://schemas.microsoft.com/office/powerpoint/2010/main" val="1855159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51"/>
        <p:cNvGrpSpPr/>
        <p:nvPr/>
      </p:nvGrpSpPr>
      <p:grpSpPr>
        <a:xfrm>
          <a:off x="0" y="0"/>
          <a:ext cx="0" cy="0"/>
          <a:chOff x="0" y="0"/>
          <a:chExt cx="0" cy="0"/>
        </a:xfrm>
      </p:grpSpPr>
      <p:sp>
        <p:nvSpPr>
          <p:cNvPr id="52" name="Google Shape;52;p2"/>
          <p:cNvSpPr/>
          <p:nvPr/>
        </p:nvSpPr>
        <p:spPr>
          <a:xfrm>
            <a:off x="4544009" y="3459886"/>
            <a:ext cx="7442200" cy="0"/>
          </a:xfrm>
          <a:custGeom>
            <a:avLst/>
            <a:gdLst/>
            <a:ahLst/>
            <a:cxnLst/>
            <a:rect l="l" t="t" r="r" b="b"/>
            <a:pathLst>
              <a:path w="7442200" h="120000" extrusionOk="0">
                <a:moveTo>
                  <a:pt x="0" y="0"/>
                </a:moveTo>
                <a:lnTo>
                  <a:pt x="7442044" y="0"/>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j-lt"/>
              <a:ea typeface="Calibri"/>
              <a:cs typeface="Calibri"/>
              <a:sym typeface="Calibri"/>
            </a:endParaRPr>
          </a:p>
        </p:txBody>
      </p:sp>
      <p:sp>
        <p:nvSpPr>
          <p:cNvPr id="53" name="Google Shape;53;p2"/>
          <p:cNvSpPr txBox="1">
            <a:spLocks noGrp="1"/>
          </p:cNvSpPr>
          <p:nvPr>
            <p:ph type="body" idx="1"/>
          </p:nvPr>
        </p:nvSpPr>
        <p:spPr>
          <a:xfrm>
            <a:off x="1303625" y="1130300"/>
            <a:ext cx="10471050" cy="1859483"/>
          </a:xfrm>
          <a:prstGeom prst="rect">
            <a:avLst/>
          </a:prstGeom>
          <a:noFill/>
          <a:ln>
            <a:noFill/>
          </a:ln>
        </p:spPr>
        <p:txBody>
          <a:bodyPr spcFirstLastPara="1" wrap="square" lIns="0" tIns="12700" rIns="0" bIns="0" anchor="t" anchorCtr="0">
            <a:spAutoFit/>
          </a:bodyPr>
          <a:lstStyle/>
          <a:p>
            <a:pPr marL="4547870" marR="5080" lvl="0" indent="-193040" algn="l" rtl="0">
              <a:lnSpc>
                <a:spcPct val="100000"/>
              </a:lnSpc>
              <a:spcBef>
                <a:spcPts val="0"/>
              </a:spcBef>
              <a:spcAft>
                <a:spcPts val="0"/>
              </a:spcAft>
              <a:buSzPts val="1400"/>
              <a:buNone/>
            </a:pPr>
            <a:r>
              <a:rPr lang="en-US" dirty="0">
                <a:latin typeface="+mj-lt"/>
              </a:rPr>
              <a:t>One hidden layer  Neural Network</a:t>
            </a:r>
            <a:endParaRPr dirty="0">
              <a:latin typeface="+mj-lt"/>
            </a:endParaRPr>
          </a:p>
        </p:txBody>
      </p:sp>
      <p:sp>
        <p:nvSpPr>
          <p:cNvPr id="54" name="Google Shape;54;p2"/>
          <p:cNvSpPr txBox="1"/>
          <p:nvPr/>
        </p:nvSpPr>
        <p:spPr>
          <a:xfrm>
            <a:off x="5882513" y="3840311"/>
            <a:ext cx="5791454" cy="1674817"/>
          </a:xfrm>
          <a:prstGeom prst="rect">
            <a:avLst/>
          </a:prstGeom>
          <a:noFill/>
          <a:ln>
            <a:noFill/>
          </a:ln>
        </p:spPr>
        <p:txBody>
          <a:bodyPr spcFirstLastPara="1" wrap="square" lIns="0" tIns="12700" rIns="0" bIns="0" anchor="t" anchorCtr="0">
            <a:spAutoFit/>
          </a:bodyPr>
          <a:lstStyle/>
          <a:p>
            <a:pPr marL="1145540" marR="5080" lvl="0" indent="-1133475" algn="l" rtl="0">
              <a:lnSpc>
                <a:spcPct val="100000"/>
              </a:lnSpc>
              <a:spcBef>
                <a:spcPts val="0"/>
              </a:spcBef>
              <a:spcAft>
                <a:spcPts val="0"/>
              </a:spcAft>
              <a:buClr>
                <a:srgbClr val="000000"/>
              </a:buClr>
              <a:buSzPts val="6000"/>
              <a:buFont typeface="Arial"/>
              <a:buNone/>
            </a:pPr>
            <a:r>
              <a:rPr lang="en-US" sz="5400" b="0" i="0" u="none" strike="noStrike" cap="none" dirty="0">
                <a:solidFill>
                  <a:schemeClr val="dk1"/>
                </a:solidFill>
                <a:latin typeface="+mj-lt"/>
                <a:ea typeface="Calibri"/>
                <a:cs typeface="Calibri"/>
                <a:sym typeface="Calibri"/>
              </a:rPr>
              <a:t>Neural Networks  Overview</a:t>
            </a:r>
            <a:endParaRPr sz="5400" b="0" i="0" u="none" strike="noStrike" cap="none" dirty="0">
              <a:solidFill>
                <a:schemeClr val="dk1"/>
              </a:solidFill>
              <a:latin typeface="+mj-lt"/>
              <a:ea typeface="Calibri"/>
              <a:cs typeface="Calibri"/>
              <a:sym typeface="Calibri"/>
            </a:endParaRPr>
          </a:p>
        </p:txBody>
      </p:sp>
      <p:pic>
        <p:nvPicPr>
          <p:cNvPr id="55" name="Google Shape;55;p2"/>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56" name="Google Shape;56;p2"/>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3</a:t>
            </a:fld>
            <a:endParaRPr>
              <a:latin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60"/>
        <p:cNvGrpSpPr/>
        <p:nvPr/>
      </p:nvGrpSpPr>
      <p:grpSpPr>
        <a:xfrm>
          <a:off x="0" y="0"/>
          <a:ext cx="0" cy="0"/>
          <a:chOff x="0" y="0"/>
          <a:chExt cx="0" cy="0"/>
        </a:xfrm>
      </p:grpSpPr>
      <p:pic>
        <p:nvPicPr>
          <p:cNvPr id="62" name="Google Shape;62;p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63" name="Google Shape;63;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4</a:t>
            </a:fld>
            <a:endParaRPr>
              <a:latin typeface="+mj-lt"/>
            </a:endParaRPr>
          </a:p>
        </p:txBody>
      </p:sp>
      <p:sp>
        <p:nvSpPr>
          <p:cNvPr id="6" name="Google Shape;45;g20098e1d08f_0_0"/>
          <p:cNvSpPr txBox="1">
            <a:spLocks noGrp="1"/>
          </p:cNvSpPr>
          <p:nvPr>
            <p:ph type="body" idx="1"/>
          </p:nvPr>
        </p:nvSpPr>
        <p:spPr>
          <a:xfrm>
            <a:off x="213920" y="149202"/>
            <a:ext cx="9584700" cy="677108"/>
          </a:xfrm>
          <a:prstGeom prst="rect">
            <a:avLst/>
          </a:prstGeom>
          <a:noFill/>
          <a:ln>
            <a:noFill/>
          </a:ln>
        </p:spPr>
        <p:txBody>
          <a:bodyPr spcFirstLastPara="1" wrap="square" lIns="0" tIns="0" rIns="0" bIns="0" anchor="t" anchorCtr="0">
            <a:spAutoFit/>
          </a:bodyPr>
          <a:lstStyle/>
          <a:p>
            <a:pPr marL="0" lvl="0" indent="0" rtl="0">
              <a:lnSpc>
                <a:spcPct val="100000"/>
              </a:lnSpc>
              <a:spcBef>
                <a:spcPts val="0"/>
              </a:spcBef>
              <a:spcAft>
                <a:spcPts val="0"/>
              </a:spcAft>
              <a:buSzPts val="1400"/>
              <a:buNone/>
            </a:pPr>
            <a:r>
              <a:rPr lang="en-US" sz="4400" dirty="0">
                <a:latin typeface="+mj-lt"/>
              </a:rPr>
              <a:t>What is a Neural Networks</a:t>
            </a:r>
            <a:endParaRPr sz="4400" dirty="0">
              <a:latin typeface="+mj-lt"/>
            </a:endParaRPr>
          </a:p>
        </p:txBody>
      </p:sp>
      <p:sp>
        <p:nvSpPr>
          <p:cNvPr id="4" name="TextBox 3"/>
          <p:cNvSpPr txBox="1"/>
          <p:nvPr/>
        </p:nvSpPr>
        <p:spPr>
          <a:xfrm>
            <a:off x="492369" y="1169377"/>
            <a:ext cx="11245362" cy="2677656"/>
          </a:xfrm>
          <a:prstGeom prst="rect">
            <a:avLst/>
          </a:prstGeom>
          <a:noFill/>
        </p:spPr>
        <p:txBody>
          <a:bodyPr wrap="square" rtlCol="0">
            <a:spAutoFit/>
          </a:bodyPr>
          <a:lstStyle/>
          <a:p>
            <a:pPr marL="342900" indent="-342900">
              <a:buFont typeface="Arial" panose="020B0604020202020204" pitchFamily="34" charset="0"/>
              <a:buChar char="•"/>
            </a:pPr>
            <a:r>
              <a:rPr lang="en-US" sz="2400" dirty="0"/>
              <a:t>A neural network, often referred to as an artificial neural network (ANN), is a computational model inspired by the way biological neural networks, like those found in the human brain, process information. </a:t>
            </a:r>
            <a:endParaRPr lang="en-US" sz="2400" dirty="0" smtClean="0"/>
          </a:p>
          <a:p>
            <a:pPr marL="342900" indent="-342900">
              <a:buFont typeface="Arial" panose="020B0604020202020204" pitchFamily="34" charset="0"/>
              <a:buChar char="•"/>
            </a:pPr>
            <a:r>
              <a:rPr lang="en-US" sz="2400" dirty="0" smtClean="0"/>
              <a:t>It </a:t>
            </a:r>
            <a:r>
              <a:rPr lang="en-US" sz="2400" dirty="0"/>
              <a:t>is a powerful machine learning technique capable of learning complex patterns and making predictions or decisions based on input </a:t>
            </a:r>
            <a:r>
              <a:rPr lang="en-US" sz="2400" dirty="0" smtClean="0"/>
              <a:t>data.</a:t>
            </a:r>
          </a:p>
          <a:p>
            <a:pPr marL="342900" indent="-342900">
              <a:buFont typeface="Arial" panose="020B0604020202020204" pitchFamily="34" charset="0"/>
              <a:buChar char="•"/>
            </a:pPr>
            <a:r>
              <a:rPr lang="en-US" sz="2400" dirty="0" smtClean="0"/>
              <a:t>A </a:t>
            </a:r>
            <a:r>
              <a:rPr lang="en-US" sz="2400" dirty="0"/>
              <a:t>neural network is formed by stacking together multiple logistic regression-like computations (sigmoid units).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pic>
        <p:nvPicPr>
          <p:cNvPr id="62" name="Google Shape;62;p3"/>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63" name="Google Shape;63;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5</a:t>
            </a:fld>
            <a:endParaRPr>
              <a:latin typeface="+mj-lt"/>
            </a:endParaRPr>
          </a:p>
        </p:txBody>
      </p:sp>
      <p:sp>
        <p:nvSpPr>
          <p:cNvPr id="6" name="Google Shape;45;g20098e1d08f_0_0"/>
          <p:cNvSpPr txBox="1">
            <a:spLocks noGrp="1"/>
          </p:cNvSpPr>
          <p:nvPr>
            <p:ph type="body" idx="1"/>
          </p:nvPr>
        </p:nvSpPr>
        <p:spPr>
          <a:xfrm>
            <a:off x="85904" y="140058"/>
            <a:ext cx="9584700" cy="677108"/>
          </a:xfrm>
          <a:prstGeom prst="rect">
            <a:avLst/>
          </a:prstGeom>
          <a:noFill/>
          <a:ln>
            <a:noFill/>
          </a:ln>
        </p:spPr>
        <p:txBody>
          <a:bodyPr spcFirstLastPara="1" wrap="square" lIns="0" tIns="0" rIns="0" bIns="0" anchor="t" anchorCtr="0">
            <a:spAutoFit/>
          </a:bodyPr>
          <a:lstStyle/>
          <a:p>
            <a:pPr marL="0" lvl="0" indent="0" rtl="0">
              <a:lnSpc>
                <a:spcPct val="100000"/>
              </a:lnSpc>
              <a:spcBef>
                <a:spcPts val="0"/>
              </a:spcBef>
              <a:spcAft>
                <a:spcPts val="0"/>
              </a:spcAft>
              <a:buSzPts val="1400"/>
              <a:buNone/>
            </a:pPr>
            <a:r>
              <a:rPr lang="en-US" sz="4400" dirty="0">
                <a:latin typeface="+mj-lt"/>
              </a:rPr>
              <a:t>What is a Neural Networks</a:t>
            </a:r>
            <a:endParaRPr sz="4400" dirty="0">
              <a:latin typeface="+mj-lt"/>
            </a:endParaRPr>
          </a:p>
        </p:txBody>
      </p:sp>
      <p:grpSp>
        <p:nvGrpSpPr>
          <p:cNvPr id="3" name="Group 2"/>
          <p:cNvGrpSpPr/>
          <p:nvPr/>
        </p:nvGrpSpPr>
        <p:grpSpPr>
          <a:xfrm>
            <a:off x="1150208" y="1081454"/>
            <a:ext cx="10567130" cy="5636415"/>
            <a:chOff x="276673" y="1846385"/>
            <a:chExt cx="10567130" cy="5636415"/>
          </a:xfrm>
        </p:grpSpPr>
        <mc:AlternateContent xmlns:mc="http://schemas.openxmlformats.org/markup-compatibility/2006" xmlns:a14="http://schemas.microsoft.com/office/drawing/2010/main">
          <mc:Choice Requires="a14">
            <p:graphicFrame>
              <p:nvGraphicFramePr>
                <p:cNvPr id="9" name="Object 12"/>
                <p:cNvGraphicFramePr>
                  <a:graphicFrameLocks noChangeAspect="1"/>
                </p:cNvGraphicFramePr>
                <p:nvPr>
                  <p:extLst>
                    <p:ext uri="{D42A27DB-BD31-4B8C-83A1-F6EECF244321}">
                      <p14:modId xmlns:p14="http://schemas.microsoft.com/office/powerpoint/2010/main" val="4007775556"/>
                    </p:ext>
                  </p:extLst>
                </p:nvPr>
              </p:nvGraphicFramePr>
              <p:xfrm>
                <a:off x="5519328" y="3154119"/>
                <a:ext cx="5324475" cy="596900"/>
              </p:xfrm>
              <a:graphic>
                <a:graphicData uri="http://schemas.openxmlformats.org/presentationml/2006/ole">
                  <mc:AlternateContent>
                    <mc:Choice xmlns:v="urn:schemas-microsoft-com:vml" Requires="v">
                      <p:oleObj spid="_x0000_s1626" name="方程式" r:id="rId5" imgW="1917360" imgH="215640" progId="Equation.3">
                        <p:embed/>
                      </p:oleObj>
                    </mc:Choice>
                    <mc:Fallback>
                      <p:oleObj name="方程式" r:id="rId5" imgW="1917360" imgH="215640" progId="Equation.3">
                        <p:embed/>
                        <p:pic>
                          <p:nvPicPr>
                            <p:cNvPr id="64" name="Object 12"/>
                            <p:cNvPicPr>
                              <a:picLocks noChangeAspect="1" noChangeArrowheads="1"/>
                            </p:cNvPicPr>
                            <p:nvPr/>
                          </p:nvPicPr>
                          <p:blipFill>
                            <a:blip r:embed="rId6"/>
                            <a:srcRect/>
                            <a:stretch>
                              <a:fillRect/>
                            </a:stretch>
                          </p:blipFill>
                          <p:spPr bwMode="auto">
                            <a:xfrm>
                              <a:off x="5519328" y="3154119"/>
                              <a:ext cx="5324475" cy="596900"/>
                            </a:xfrm>
                            <a:prstGeom prst="rect">
                              <a:avLst/>
                            </a:prstGeom>
                            <a:noFill/>
                          </p:spPr>
                        </p:pic>
                      </p:oleObj>
                    </mc:Fallback>
                  </mc:AlternateContent>
                </a:graphicData>
              </a:graphic>
            </p:graphicFrame>
          </mc:Choice>
          <mc:Fallback xmlns="">
            <p:graphicFrame>
              <p:nvGraphicFramePr>
                <p:cNvPr id="9" name="Object 12"/>
                <p:cNvGraphicFramePr>
                  <a:graphicFrameLocks noChangeAspect="1"/>
                </p:cNvGraphicFramePr>
                <p:nvPr>
                  <p:extLst>
                    <p:ext uri="{D42A27DB-BD31-4B8C-83A1-F6EECF244321}">
                      <p14:modId xmlns:p14="http://schemas.microsoft.com/office/powerpoint/2010/main" val="4007775556"/>
                    </p:ext>
                  </p:extLst>
                </p:nvPr>
              </p:nvGraphicFramePr>
              <p:xfrm>
                <a:off x="5519328" y="3154119"/>
                <a:ext cx="5324475" cy="596900"/>
              </p:xfrm>
              <a:graphic>
                <a:graphicData uri="http://schemas.openxmlformats.org/presentationml/2006/ole">
                  <mc:AlternateContent>
                    <mc:Choice xmlns:v="urn:schemas-microsoft-com:vml" Requires="v">
                      <p:oleObj name="方程式" r:id="rId7" imgW="1917360" imgH="215640" progId="Equation.3">
                        <p:embed/>
                      </p:oleObj>
                    </mc:Choice>
                    <mc:Fallback>
                      <p:oleObj name="方程式" r:id="rId7" imgW="1917360" imgH="215640" progId="Equation.3">
                        <p:embed/>
                        <p:pic>
                          <p:nvPicPr>
                            <p:cNvPr id="64" name="Object 12"/>
                            <p:cNvPicPr>
                              <a:picLocks noChangeAspect="1" noChangeArrowheads="1"/>
                            </p:cNvPicPr>
                            <p:nvPr/>
                          </p:nvPicPr>
                          <p:blipFill>
                            <a:blip r:embed="rId8"/>
                            <a:srcRect/>
                            <a:stretch>
                              <a:fillRect/>
                            </a:stretch>
                          </p:blipFill>
                          <p:spPr bwMode="auto">
                            <a:xfrm>
                              <a:off x="5519328" y="3154119"/>
                              <a:ext cx="5324475" cy="596900"/>
                            </a:xfrm>
                            <a:prstGeom prst="rect">
                              <a:avLst/>
                            </a:prstGeom>
                            <a:noFill/>
                          </p:spPr>
                        </p:pic>
                      </p:oleObj>
                    </mc:Fallback>
                  </mc:AlternateContent>
                </a:graphicData>
              </a:graphic>
            </p:graphicFrame>
          </mc:Fallback>
        </mc:AlternateContent>
        <p:sp>
          <p:nvSpPr>
            <p:cNvPr id="10" name="矩形 25"/>
            <p:cNvSpPr/>
            <p:nvPr/>
          </p:nvSpPr>
          <p:spPr>
            <a:xfrm>
              <a:off x="2076764" y="3546671"/>
              <a:ext cx="622890" cy="2219353"/>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latin typeface="+mj-lt"/>
              </a:endParaRPr>
            </a:p>
          </p:txBody>
        </p:sp>
        <p:cxnSp>
          <p:nvCxnSpPr>
            <p:cNvPr id="11" name="直線單箭頭接點 35"/>
            <p:cNvCxnSpPr/>
            <p:nvPr/>
          </p:nvCxnSpPr>
          <p:spPr>
            <a:xfrm flipV="1">
              <a:off x="5691719" y="5049657"/>
              <a:ext cx="804687" cy="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矩形 3"/>
            <p:cNvSpPr/>
            <p:nvPr/>
          </p:nvSpPr>
          <p:spPr>
            <a:xfrm>
              <a:off x="3766373" y="6071275"/>
              <a:ext cx="596697" cy="584276"/>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latin typeface="+mj-lt"/>
              </a:endParaRPr>
            </a:p>
          </p:txBody>
        </p:sp>
        <p:sp>
          <p:nvSpPr>
            <p:cNvPr id="13" name="矩形 4"/>
            <p:cNvSpPr/>
            <p:nvPr/>
          </p:nvSpPr>
          <p:spPr>
            <a:xfrm>
              <a:off x="1092079" y="3458803"/>
              <a:ext cx="596697" cy="2807025"/>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latin typeface="+mj-lt"/>
              </a:endParaRPr>
            </a:p>
          </p:txBody>
        </p:sp>
        <p:cxnSp>
          <p:nvCxnSpPr>
            <p:cNvPr id="14" name="直線單箭頭接點 5"/>
            <p:cNvCxnSpPr>
              <a:stCxn id="26" idx="3"/>
              <a:endCxn id="28" idx="1"/>
            </p:cNvCxnSpPr>
            <p:nvPr/>
          </p:nvCxnSpPr>
          <p:spPr>
            <a:xfrm flipV="1">
              <a:off x="1681156" y="5060102"/>
              <a:ext cx="2145559" cy="78886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橢圓 6"/>
            <p:cNvSpPr/>
            <p:nvPr/>
          </p:nvSpPr>
          <p:spPr>
            <a:xfrm>
              <a:off x="4981287" y="4551196"/>
              <a:ext cx="941612" cy="941612"/>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2400" dirty="0">
                <a:latin typeface="+mj-lt"/>
              </a:endParaRPr>
            </a:p>
          </p:txBody>
        </p:sp>
        <mc:AlternateContent xmlns:mc="http://schemas.openxmlformats.org/markup-compatibility/2006" xmlns:a14="http://schemas.microsoft.com/office/drawing/2010/main">
          <mc:Choice Requires="a14">
            <p:graphicFrame>
              <p:nvGraphicFramePr>
                <p:cNvPr id="16" name="Object 12"/>
                <p:cNvGraphicFramePr>
                  <a:graphicFrameLocks noChangeAspect="1"/>
                </p:cNvGraphicFramePr>
                <p:nvPr>
                  <p:extLst>
                    <p:ext uri="{D42A27DB-BD31-4B8C-83A1-F6EECF244321}">
                      <p14:modId xmlns:p14="http://schemas.microsoft.com/office/powerpoint/2010/main" val="4159969462"/>
                    </p:ext>
                  </p:extLst>
                </p:nvPr>
              </p:nvGraphicFramePr>
              <p:xfrm>
                <a:off x="4510353" y="4662623"/>
                <a:ext cx="352425" cy="350837"/>
              </p:xfrm>
              <a:graphic>
                <a:graphicData uri="http://schemas.openxmlformats.org/presentationml/2006/ole">
                  <mc:AlternateContent>
                    <mc:Choice xmlns:v="urn:schemas-microsoft-com:vml" Requires="v">
                      <p:oleObj spid="_x0000_s1627" name="方程式" r:id="rId9" imgW="126720" imgH="126720" progId="Equation.3">
                        <p:embed/>
                      </p:oleObj>
                    </mc:Choice>
                    <mc:Fallback>
                      <p:oleObj name="方程式" r:id="rId9" imgW="126720" imgH="126720" progId="Equation.3">
                        <p:embed/>
                        <p:pic>
                          <p:nvPicPr>
                            <p:cNvPr id="72" name="Object 12"/>
                            <p:cNvPicPr>
                              <a:picLocks noChangeAspect="1" noChangeArrowheads="1"/>
                            </p:cNvPicPr>
                            <p:nvPr/>
                          </p:nvPicPr>
                          <p:blipFill>
                            <a:blip r:embed="rId10"/>
                            <a:srcRect/>
                            <a:stretch>
                              <a:fillRect/>
                            </a:stretch>
                          </p:blipFill>
                          <p:spPr bwMode="auto">
                            <a:xfrm>
                              <a:off x="4510353" y="4662623"/>
                              <a:ext cx="352425" cy="350837"/>
                            </a:xfrm>
                            <a:prstGeom prst="rect">
                              <a:avLst/>
                            </a:prstGeom>
                            <a:noFill/>
                          </p:spPr>
                        </p:pic>
                      </p:oleObj>
                    </mc:Fallback>
                  </mc:AlternateContent>
                </a:graphicData>
              </a:graphic>
            </p:graphicFrame>
          </mc:Choice>
          <mc:Fallback xmlns="">
            <p:graphicFrame>
              <p:nvGraphicFramePr>
                <p:cNvPr id="16" name="Object 12"/>
                <p:cNvGraphicFramePr>
                  <a:graphicFrameLocks noChangeAspect="1"/>
                </p:cNvGraphicFramePr>
                <p:nvPr>
                  <p:extLst>
                    <p:ext uri="{D42A27DB-BD31-4B8C-83A1-F6EECF244321}">
                      <p14:modId xmlns:p14="http://schemas.microsoft.com/office/powerpoint/2010/main" val="4159969462"/>
                    </p:ext>
                  </p:extLst>
                </p:nvPr>
              </p:nvGraphicFramePr>
              <p:xfrm>
                <a:off x="4510353" y="4662623"/>
                <a:ext cx="352425" cy="350837"/>
              </p:xfrm>
              <a:graphic>
                <a:graphicData uri="http://schemas.openxmlformats.org/presentationml/2006/ole">
                  <mc:AlternateContent>
                    <mc:Choice xmlns:v="urn:schemas-microsoft-com:vml" Requires="v">
                      <p:oleObj spid="_x0000_s1075" name="方程式" r:id="rId11" imgW="126720" imgH="126720" progId="Equation.3">
                        <p:embed/>
                      </p:oleObj>
                    </mc:Choice>
                    <mc:Fallback>
                      <p:oleObj name="方程式" r:id="rId11" imgW="126720" imgH="126720" progId="Equation.3">
                        <p:embed/>
                        <p:pic>
                          <p:nvPicPr>
                            <p:cNvPr id="72" name="Object 12"/>
                            <p:cNvPicPr>
                              <a:picLocks noChangeAspect="1" noChangeArrowheads="1"/>
                            </p:cNvPicPr>
                            <p:nvPr/>
                          </p:nvPicPr>
                          <p:blipFill>
                            <a:blip r:embed="rId12"/>
                            <a:srcRect/>
                            <a:stretch>
                              <a:fillRect/>
                            </a:stretch>
                          </p:blipFill>
                          <p:spPr bwMode="auto">
                            <a:xfrm>
                              <a:off x="4510353" y="4662623"/>
                              <a:ext cx="352425" cy="350837"/>
                            </a:xfrm>
                            <a:prstGeom prst="rect">
                              <a:avLst/>
                            </a:prstGeom>
                            <a:noFill/>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17" name="Object 12"/>
                <p:cNvGraphicFramePr>
                  <a:graphicFrameLocks noChangeAspect="1"/>
                </p:cNvGraphicFramePr>
                <p:nvPr>
                  <p:extLst>
                    <p:ext uri="{D42A27DB-BD31-4B8C-83A1-F6EECF244321}">
                      <p14:modId xmlns:p14="http://schemas.microsoft.com/office/powerpoint/2010/main" val="3090697940"/>
                    </p:ext>
                  </p:extLst>
                </p:nvPr>
              </p:nvGraphicFramePr>
              <p:xfrm>
                <a:off x="2134855" y="3567400"/>
                <a:ext cx="493713" cy="595313"/>
              </p:xfrm>
              <a:graphic>
                <a:graphicData uri="http://schemas.openxmlformats.org/presentationml/2006/ole">
                  <mc:AlternateContent>
                    <mc:Choice xmlns:v="urn:schemas-microsoft-com:vml" Requires="v">
                      <p:oleObj spid="_x0000_s1628" name="方程式" r:id="rId13" imgW="177480" imgH="215640" progId="Equation.3">
                        <p:embed/>
                      </p:oleObj>
                    </mc:Choice>
                    <mc:Fallback>
                      <p:oleObj name="方程式" r:id="rId13" imgW="177480" imgH="215640" progId="Equation.3">
                        <p:embed/>
                        <p:pic>
                          <p:nvPicPr>
                            <p:cNvPr id="73" name="Object 12"/>
                            <p:cNvPicPr>
                              <a:picLocks noChangeAspect="1" noChangeArrowheads="1"/>
                            </p:cNvPicPr>
                            <p:nvPr/>
                          </p:nvPicPr>
                          <p:blipFill>
                            <a:blip r:embed="rId14"/>
                            <a:srcRect/>
                            <a:stretch>
                              <a:fillRect/>
                            </a:stretch>
                          </p:blipFill>
                          <p:spPr bwMode="auto">
                            <a:xfrm>
                              <a:off x="2134855" y="3567400"/>
                              <a:ext cx="493713" cy="595313"/>
                            </a:xfrm>
                            <a:prstGeom prst="rect">
                              <a:avLst/>
                            </a:prstGeom>
                            <a:noFill/>
                          </p:spPr>
                        </p:pic>
                      </p:oleObj>
                    </mc:Fallback>
                  </mc:AlternateContent>
                </a:graphicData>
              </a:graphic>
            </p:graphicFrame>
          </mc:Choice>
          <mc:Fallback xmlns="">
            <p:graphicFrame>
              <p:nvGraphicFramePr>
                <p:cNvPr id="17" name="Object 12"/>
                <p:cNvGraphicFramePr>
                  <a:graphicFrameLocks noChangeAspect="1"/>
                </p:cNvGraphicFramePr>
                <p:nvPr>
                  <p:extLst>
                    <p:ext uri="{D42A27DB-BD31-4B8C-83A1-F6EECF244321}">
                      <p14:modId xmlns:p14="http://schemas.microsoft.com/office/powerpoint/2010/main" val="3090697940"/>
                    </p:ext>
                  </p:extLst>
                </p:nvPr>
              </p:nvGraphicFramePr>
              <p:xfrm>
                <a:off x="2134855" y="3567400"/>
                <a:ext cx="493713" cy="595313"/>
              </p:xfrm>
              <a:graphic>
                <a:graphicData uri="http://schemas.openxmlformats.org/presentationml/2006/ole">
                  <mc:AlternateContent>
                    <mc:Choice xmlns:v="urn:schemas-microsoft-com:vml" Requires="v">
                      <p:oleObj spid="_x0000_s1076" name="方程式" r:id="rId15" imgW="177480" imgH="215640" progId="Equation.3">
                        <p:embed/>
                      </p:oleObj>
                    </mc:Choice>
                    <mc:Fallback>
                      <p:oleObj name="方程式" r:id="rId15" imgW="177480" imgH="215640" progId="Equation.3">
                        <p:embed/>
                        <p:pic>
                          <p:nvPicPr>
                            <p:cNvPr id="73" name="Object 12"/>
                            <p:cNvPicPr>
                              <a:picLocks noChangeAspect="1" noChangeArrowheads="1"/>
                            </p:cNvPicPr>
                            <p:nvPr/>
                          </p:nvPicPr>
                          <p:blipFill>
                            <a:blip r:embed="rId16"/>
                            <a:srcRect/>
                            <a:stretch>
                              <a:fillRect/>
                            </a:stretch>
                          </p:blipFill>
                          <p:spPr bwMode="auto">
                            <a:xfrm>
                              <a:off x="2134855" y="3567400"/>
                              <a:ext cx="493713" cy="595313"/>
                            </a:xfrm>
                            <a:prstGeom prst="rect">
                              <a:avLst/>
                            </a:prstGeom>
                            <a:noFill/>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18" name="Object 12"/>
                <p:cNvGraphicFramePr>
                  <a:graphicFrameLocks noChangeAspect="1"/>
                </p:cNvGraphicFramePr>
                <p:nvPr>
                  <p:extLst>
                    <p:ext uri="{D42A27DB-BD31-4B8C-83A1-F6EECF244321}">
                      <p14:modId xmlns:p14="http://schemas.microsoft.com/office/powerpoint/2010/main" val="3045175489"/>
                    </p:ext>
                  </p:extLst>
                </p:nvPr>
              </p:nvGraphicFramePr>
              <p:xfrm>
                <a:off x="2138705" y="4203654"/>
                <a:ext cx="528638" cy="595313"/>
              </p:xfrm>
              <a:graphic>
                <a:graphicData uri="http://schemas.openxmlformats.org/presentationml/2006/ole">
                  <mc:AlternateContent>
                    <mc:Choice xmlns:v="urn:schemas-microsoft-com:vml" Requires="v">
                      <p:oleObj spid="_x0000_s1629" name="方程式" r:id="rId17" imgW="190440" imgH="215640" progId="Equation.3">
                        <p:embed/>
                      </p:oleObj>
                    </mc:Choice>
                    <mc:Fallback>
                      <p:oleObj name="方程式" r:id="rId17" imgW="190440" imgH="215640" progId="Equation.3">
                        <p:embed/>
                        <p:pic>
                          <p:nvPicPr>
                            <p:cNvPr id="74" name="Object 12"/>
                            <p:cNvPicPr>
                              <a:picLocks noChangeAspect="1" noChangeArrowheads="1"/>
                            </p:cNvPicPr>
                            <p:nvPr/>
                          </p:nvPicPr>
                          <p:blipFill>
                            <a:blip r:embed="rId18"/>
                            <a:srcRect/>
                            <a:stretch>
                              <a:fillRect/>
                            </a:stretch>
                          </p:blipFill>
                          <p:spPr bwMode="auto">
                            <a:xfrm>
                              <a:off x="2138705" y="4203654"/>
                              <a:ext cx="528638" cy="595313"/>
                            </a:xfrm>
                            <a:prstGeom prst="rect">
                              <a:avLst/>
                            </a:prstGeom>
                            <a:noFill/>
                          </p:spPr>
                        </p:pic>
                      </p:oleObj>
                    </mc:Fallback>
                  </mc:AlternateContent>
                </a:graphicData>
              </a:graphic>
            </p:graphicFrame>
          </mc:Choice>
          <mc:Fallback xmlns="">
            <p:graphicFrame>
              <p:nvGraphicFramePr>
                <p:cNvPr id="18" name="Object 12"/>
                <p:cNvGraphicFramePr>
                  <a:graphicFrameLocks noChangeAspect="1"/>
                </p:cNvGraphicFramePr>
                <p:nvPr>
                  <p:extLst>
                    <p:ext uri="{D42A27DB-BD31-4B8C-83A1-F6EECF244321}">
                      <p14:modId xmlns:p14="http://schemas.microsoft.com/office/powerpoint/2010/main" val="3045175489"/>
                    </p:ext>
                  </p:extLst>
                </p:nvPr>
              </p:nvGraphicFramePr>
              <p:xfrm>
                <a:off x="2138705" y="4203654"/>
                <a:ext cx="528638" cy="595313"/>
              </p:xfrm>
              <a:graphic>
                <a:graphicData uri="http://schemas.openxmlformats.org/presentationml/2006/ole">
                  <mc:AlternateContent>
                    <mc:Choice xmlns:v="urn:schemas-microsoft-com:vml" Requires="v">
                      <p:oleObj spid="_x0000_s1077" name="方程式" r:id="rId19" imgW="190440" imgH="215640" progId="Equation.3">
                        <p:embed/>
                      </p:oleObj>
                    </mc:Choice>
                    <mc:Fallback>
                      <p:oleObj name="方程式" r:id="rId19" imgW="190440" imgH="215640" progId="Equation.3">
                        <p:embed/>
                        <p:pic>
                          <p:nvPicPr>
                            <p:cNvPr id="74" name="Object 12"/>
                            <p:cNvPicPr>
                              <a:picLocks noChangeAspect="1" noChangeArrowheads="1"/>
                            </p:cNvPicPr>
                            <p:nvPr/>
                          </p:nvPicPr>
                          <p:blipFill>
                            <a:blip r:embed="rId20"/>
                            <a:srcRect/>
                            <a:stretch>
                              <a:fillRect/>
                            </a:stretch>
                          </p:blipFill>
                          <p:spPr bwMode="auto">
                            <a:xfrm>
                              <a:off x="2138705" y="4203654"/>
                              <a:ext cx="528638" cy="595313"/>
                            </a:xfrm>
                            <a:prstGeom prst="rect">
                              <a:avLst/>
                            </a:prstGeom>
                            <a:noFill/>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19" name="Object 12"/>
                <p:cNvGraphicFramePr>
                  <a:graphicFrameLocks noChangeAspect="1"/>
                </p:cNvGraphicFramePr>
                <p:nvPr>
                  <p:extLst>
                    <p:ext uri="{D42A27DB-BD31-4B8C-83A1-F6EECF244321}">
                      <p14:modId xmlns:p14="http://schemas.microsoft.com/office/powerpoint/2010/main" val="3571407023"/>
                    </p:ext>
                  </p:extLst>
                </p:nvPr>
              </p:nvGraphicFramePr>
              <p:xfrm>
                <a:off x="2134855" y="4982504"/>
                <a:ext cx="598487" cy="595312"/>
              </p:xfrm>
              <a:graphic>
                <a:graphicData uri="http://schemas.openxmlformats.org/presentationml/2006/ole">
                  <mc:AlternateContent>
                    <mc:Choice xmlns:v="urn:schemas-microsoft-com:vml" Requires="v">
                      <p:oleObj spid="_x0000_s1630" name="方程式" r:id="rId21" imgW="215640" imgH="215640" progId="Equation.3">
                        <p:embed/>
                      </p:oleObj>
                    </mc:Choice>
                    <mc:Fallback>
                      <p:oleObj name="方程式" r:id="rId21" imgW="215640" imgH="215640" progId="Equation.3">
                        <p:embed/>
                        <p:pic>
                          <p:nvPicPr>
                            <p:cNvPr id="75" name="Object 12"/>
                            <p:cNvPicPr>
                              <a:picLocks noChangeAspect="1" noChangeArrowheads="1"/>
                            </p:cNvPicPr>
                            <p:nvPr/>
                          </p:nvPicPr>
                          <p:blipFill>
                            <a:blip r:embed="rId22"/>
                            <a:srcRect/>
                            <a:stretch>
                              <a:fillRect/>
                            </a:stretch>
                          </p:blipFill>
                          <p:spPr bwMode="auto">
                            <a:xfrm>
                              <a:off x="2134855" y="4982504"/>
                              <a:ext cx="598487" cy="595312"/>
                            </a:xfrm>
                            <a:prstGeom prst="rect">
                              <a:avLst/>
                            </a:prstGeom>
                            <a:noFill/>
                          </p:spPr>
                        </p:pic>
                      </p:oleObj>
                    </mc:Fallback>
                  </mc:AlternateContent>
                </a:graphicData>
              </a:graphic>
            </p:graphicFrame>
          </mc:Choice>
          <mc:Fallback xmlns="">
            <p:graphicFrame>
              <p:nvGraphicFramePr>
                <p:cNvPr id="19" name="Object 12"/>
                <p:cNvGraphicFramePr>
                  <a:graphicFrameLocks noChangeAspect="1"/>
                </p:cNvGraphicFramePr>
                <p:nvPr>
                  <p:extLst>
                    <p:ext uri="{D42A27DB-BD31-4B8C-83A1-F6EECF244321}">
                      <p14:modId xmlns:p14="http://schemas.microsoft.com/office/powerpoint/2010/main" val="3571407023"/>
                    </p:ext>
                  </p:extLst>
                </p:nvPr>
              </p:nvGraphicFramePr>
              <p:xfrm>
                <a:off x="2134855" y="4982504"/>
                <a:ext cx="598487" cy="595312"/>
              </p:xfrm>
              <a:graphic>
                <a:graphicData uri="http://schemas.openxmlformats.org/presentationml/2006/ole">
                  <mc:AlternateContent>
                    <mc:Choice xmlns:v="urn:schemas-microsoft-com:vml" Requires="v">
                      <p:oleObj spid="_x0000_s1078" name="方程式" r:id="rId23" imgW="215640" imgH="215640" progId="Equation.3">
                        <p:embed/>
                      </p:oleObj>
                    </mc:Choice>
                    <mc:Fallback>
                      <p:oleObj name="方程式" r:id="rId23" imgW="215640" imgH="215640" progId="Equation.3">
                        <p:embed/>
                        <p:pic>
                          <p:nvPicPr>
                            <p:cNvPr id="75" name="Object 12"/>
                            <p:cNvPicPr>
                              <a:picLocks noChangeAspect="1" noChangeArrowheads="1"/>
                            </p:cNvPicPr>
                            <p:nvPr/>
                          </p:nvPicPr>
                          <p:blipFill>
                            <a:blip r:embed="rId24"/>
                            <a:srcRect/>
                            <a:stretch>
                              <a:fillRect/>
                            </a:stretch>
                          </p:blipFill>
                          <p:spPr bwMode="auto">
                            <a:xfrm>
                              <a:off x="2134855" y="4982504"/>
                              <a:ext cx="598487" cy="595312"/>
                            </a:xfrm>
                            <a:prstGeom prst="rect">
                              <a:avLst/>
                            </a:prstGeom>
                            <a:noFill/>
                          </p:spPr>
                        </p:pic>
                      </p:oleObj>
                    </mc:Fallback>
                  </mc:AlternateContent>
                </a:graphicData>
              </a:graphic>
            </p:graphicFrame>
          </mc:Fallback>
        </mc:AlternateContent>
        <p:cxnSp>
          <p:nvCxnSpPr>
            <p:cNvPr id="20" name="直線單箭頭接點 11"/>
            <p:cNvCxnSpPr/>
            <p:nvPr/>
          </p:nvCxnSpPr>
          <p:spPr>
            <a:xfrm flipV="1">
              <a:off x="4168229" y="5029500"/>
              <a:ext cx="804687" cy="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12"/>
            <p:cNvCxnSpPr>
              <a:stCxn id="25" idx="3"/>
              <a:endCxn id="28" idx="1"/>
            </p:cNvCxnSpPr>
            <p:nvPr/>
          </p:nvCxnSpPr>
          <p:spPr>
            <a:xfrm>
              <a:off x="1669125" y="4632846"/>
              <a:ext cx="2157590" cy="42725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13"/>
            <p:cNvCxnSpPr>
              <a:endCxn id="28" idx="1"/>
            </p:cNvCxnSpPr>
            <p:nvPr/>
          </p:nvCxnSpPr>
          <p:spPr>
            <a:xfrm>
              <a:off x="1688776" y="3774570"/>
              <a:ext cx="2137939" cy="128553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文字方塊 14"/>
            <p:cNvSpPr txBox="1"/>
            <p:nvPr/>
          </p:nvSpPr>
          <p:spPr>
            <a:xfrm rot="5400000">
              <a:off x="1098929" y="5119785"/>
              <a:ext cx="769257" cy="523220"/>
            </a:xfrm>
            <a:prstGeom prst="rect">
              <a:avLst/>
            </a:prstGeom>
            <a:noFill/>
          </p:spPr>
          <p:txBody>
            <a:bodyPr wrap="square" rtlCol="0">
              <a:spAutoFit/>
            </a:bodyPr>
            <a:lstStyle/>
            <a:p>
              <a:pPr algn="ctr"/>
              <a:r>
                <a:rPr lang="en-US" altLang="zh-TW" sz="2800" dirty="0">
                  <a:latin typeface="+mj-lt"/>
                </a:rPr>
                <a:t>…</a:t>
              </a:r>
              <a:endParaRPr lang="zh-TW" altLang="en-US" sz="2800" dirty="0">
                <a:latin typeface="+mj-lt"/>
              </a:endParaRPr>
            </a:p>
          </p:txBody>
        </p:sp>
        <mc:AlternateContent xmlns:mc="http://schemas.openxmlformats.org/markup-compatibility/2006" xmlns:a14="http://schemas.microsoft.com/office/drawing/2010/main">
          <mc:Choice Requires="a14">
            <p:graphicFrame>
              <p:nvGraphicFramePr>
                <p:cNvPr id="24" name="Object 12"/>
                <p:cNvGraphicFramePr>
                  <a:graphicFrameLocks noChangeAspect="1"/>
                </p:cNvGraphicFramePr>
                <p:nvPr>
                  <p:extLst>
                    <p:ext uri="{D42A27DB-BD31-4B8C-83A1-F6EECF244321}">
                      <p14:modId xmlns:p14="http://schemas.microsoft.com/office/powerpoint/2010/main" val="765540359"/>
                    </p:ext>
                  </p:extLst>
                </p:nvPr>
              </p:nvGraphicFramePr>
              <p:xfrm>
                <a:off x="1173825" y="3416027"/>
                <a:ext cx="495300" cy="630238"/>
              </p:xfrm>
              <a:graphic>
                <a:graphicData uri="http://schemas.openxmlformats.org/presentationml/2006/ole">
                  <mc:AlternateContent>
                    <mc:Choice xmlns:v="urn:schemas-microsoft-com:vml" Requires="v">
                      <p:oleObj spid="_x0000_s1631" name="方程式" r:id="rId25" imgW="177480" imgH="228600" progId="Equation.3">
                        <p:embed/>
                      </p:oleObj>
                    </mc:Choice>
                    <mc:Fallback>
                      <p:oleObj name="方程式" r:id="rId25" imgW="177480" imgH="228600" progId="Equation.3">
                        <p:embed/>
                        <p:pic>
                          <p:nvPicPr>
                            <p:cNvPr id="80" name="Object 12"/>
                            <p:cNvPicPr>
                              <a:picLocks noChangeAspect="1" noChangeArrowheads="1"/>
                            </p:cNvPicPr>
                            <p:nvPr/>
                          </p:nvPicPr>
                          <p:blipFill>
                            <a:blip r:embed="rId26"/>
                            <a:srcRect/>
                            <a:stretch>
                              <a:fillRect/>
                            </a:stretch>
                          </p:blipFill>
                          <p:spPr bwMode="auto">
                            <a:xfrm>
                              <a:off x="1173825" y="3416027"/>
                              <a:ext cx="495300" cy="630238"/>
                            </a:xfrm>
                            <a:prstGeom prst="rect">
                              <a:avLst/>
                            </a:prstGeom>
                            <a:noFill/>
                          </p:spPr>
                        </p:pic>
                      </p:oleObj>
                    </mc:Fallback>
                  </mc:AlternateContent>
                </a:graphicData>
              </a:graphic>
            </p:graphicFrame>
          </mc:Choice>
          <mc:Fallback xmlns="">
            <p:graphicFrame>
              <p:nvGraphicFramePr>
                <p:cNvPr id="24" name="Object 12"/>
                <p:cNvGraphicFramePr>
                  <a:graphicFrameLocks noChangeAspect="1"/>
                </p:cNvGraphicFramePr>
                <p:nvPr>
                  <p:extLst>
                    <p:ext uri="{D42A27DB-BD31-4B8C-83A1-F6EECF244321}">
                      <p14:modId xmlns:p14="http://schemas.microsoft.com/office/powerpoint/2010/main" val="765540359"/>
                    </p:ext>
                  </p:extLst>
                </p:nvPr>
              </p:nvGraphicFramePr>
              <p:xfrm>
                <a:off x="1173825" y="3416027"/>
                <a:ext cx="495300" cy="630238"/>
              </p:xfrm>
              <a:graphic>
                <a:graphicData uri="http://schemas.openxmlformats.org/presentationml/2006/ole">
                  <mc:AlternateContent>
                    <mc:Choice xmlns:v="urn:schemas-microsoft-com:vml" Requires="v">
                      <p:oleObj spid="_x0000_s1079" name="方程式" r:id="rId27" imgW="177480" imgH="228600" progId="Equation.3">
                        <p:embed/>
                      </p:oleObj>
                    </mc:Choice>
                    <mc:Fallback>
                      <p:oleObj name="方程式" r:id="rId27" imgW="177480" imgH="228600" progId="Equation.3">
                        <p:embed/>
                        <p:pic>
                          <p:nvPicPr>
                            <p:cNvPr id="80" name="Object 12"/>
                            <p:cNvPicPr>
                              <a:picLocks noChangeAspect="1" noChangeArrowheads="1"/>
                            </p:cNvPicPr>
                            <p:nvPr/>
                          </p:nvPicPr>
                          <p:blipFill>
                            <a:blip r:embed="rId28"/>
                            <a:srcRect/>
                            <a:stretch>
                              <a:fillRect/>
                            </a:stretch>
                          </p:blipFill>
                          <p:spPr bwMode="auto">
                            <a:xfrm>
                              <a:off x="1173825" y="3416027"/>
                              <a:ext cx="495300" cy="630238"/>
                            </a:xfrm>
                            <a:prstGeom prst="rect">
                              <a:avLst/>
                            </a:prstGeom>
                            <a:noFill/>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25" name="Object 12"/>
                <p:cNvGraphicFramePr>
                  <a:graphicFrameLocks noChangeAspect="1"/>
                </p:cNvGraphicFramePr>
                <p:nvPr>
                  <p:extLst>
                    <p:ext uri="{D42A27DB-BD31-4B8C-83A1-F6EECF244321}">
                      <p14:modId xmlns:p14="http://schemas.microsoft.com/office/powerpoint/2010/main" val="1056193701"/>
                    </p:ext>
                  </p:extLst>
                </p:nvPr>
              </p:nvGraphicFramePr>
              <p:xfrm>
                <a:off x="1173825" y="4317727"/>
                <a:ext cx="495300" cy="630238"/>
              </p:xfrm>
              <a:graphic>
                <a:graphicData uri="http://schemas.openxmlformats.org/presentationml/2006/ole">
                  <mc:AlternateContent>
                    <mc:Choice xmlns:v="urn:schemas-microsoft-com:vml" Requires="v">
                      <p:oleObj spid="_x0000_s1632" name="方程式" r:id="rId29" imgW="177480" imgH="228600" progId="Equation.3">
                        <p:embed/>
                      </p:oleObj>
                    </mc:Choice>
                    <mc:Fallback>
                      <p:oleObj name="方程式" r:id="rId29" imgW="177480" imgH="228600" progId="Equation.3">
                        <p:embed/>
                        <p:pic>
                          <p:nvPicPr>
                            <p:cNvPr id="81" name="Object 12"/>
                            <p:cNvPicPr>
                              <a:picLocks noChangeAspect="1" noChangeArrowheads="1"/>
                            </p:cNvPicPr>
                            <p:nvPr/>
                          </p:nvPicPr>
                          <p:blipFill>
                            <a:blip r:embed="rId30"/>
                            <a:srcRect/>
                            <a:stretch>
                              <a:fillRect/>
                            </a:stretch>
                          </p:blipFill>
                          <p:spPr bwMode="auto">
                            <a:xfrm>
                              <a:off x="1173825" y="4317727"/>
                              <a:ext cx="495300" cy="630238"/>
                            </a:xfrm>
                            <a:prstGeom prst="rect">
                              <a:avLst/>
                            </a:prstGeom>
                            <a:noFill/>
                          </p:spPr>
                        </p:pic>
                      </p:oleObj>
                    </mc:Fallback>
                  </mc:AlternateContent>
                </a:graphicData>
              </a:graphic>
            </p:graphicFrame>
          </mc:Choice>
          <mc:Fallback xmlns="">
            <p:graphicFrame>
              <p:nvGraphicFramePr>
                <p:cNvPr id="25" name="Object 12"/>
                <p:cNvGraphicFramePr>
                  <a:graphicFrameLocks noChangeAspect="1"/>
                </p:cNvGraphicFramePr>
                <p:nvPr>
                  <p:extLst>
                    <p:ext uri="{D42A27DB-BD31-4B8C-83A1-F6EECF244321}">
                      <p14:modId xmlns:p14="http://schemas.microsoft.com/office/powerpoint/2010/main" val="1056193701"/>
                    </p:ext>
                  </p:extLst>
                </p:nvPr>
              </p:nvGraphicFramePr>
              <p:xfrm>
                <a:off x="1173825" y="4317727"/>
                <a:ext cx="495300" cy="630238"/>
              </p:xfrm>
              <a:graphic>
                <a:graphicData uri="http://schemas.openxmlformats.org/presentationml/2006/ole">
                  <mc:AlternateContent>
                    <mc:Choice xmlns:v="urn:schemas-microsoft-com:vml" Requires="v">
                      <p:oleObj spid="_x0000_s1080" name="方程式" r:id="rId31" imgW="177480" imgH="228600" progId="Equation.3">
                        <p:embed/>
                      </p:oleObj>
                    </mc:Choice>
                    <mc:Fallback>
                      <p:oleObj name="方程式" r:id="rId31" imgW="177480" imgH="228600" progId="Equation.3">
                        <p:embed/>
                        <p:pic>
                          <p:nvPicPr>
                            <p:cNvPr id="81" name="Object 12"/>
                            <p:cNvPicPr>
                              <a:picLocks noChangeAspect="1" noChangeArrowheads="1"/>
                            </p:cNvPicPr>
                            <p:nvPr/>
                          </p:nvPicPr>
                          <p:blipFill>
                            <a:blip r:embed="rId32"/>
                            <a:srcRect/>
                            <a:stretch>
                              <a:fillRect/>
                            </a:stretch>
                          </p:blipFill>
                          <p:spPr bwMode="auto">
                            <a:xfrm>
                              <a:off x="1173825" y="4317727"/>
                              <a:ext cx="495300" cy="630238"/>
                            </a:xfrm>
                            <a:prstGeom prst="rect">
                              <a:avLst/>
                            </a:prstGeom>
                            <a:noFill/>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26" name="Object 12"/>
                <p:cNvGraphicFramePr>
                  <a:graphicFrameLocks noChangeAspect="1"/>
                </p:cNvGraphicFramePr>
                <p:nvPr>
                  <p:extLst>
                    <p:ext uri="{D42A27DB-BD31-4B8C-83A1-F6EECF244321}">
                      <p14:modId xmlns:p14="http://schemas.microsoft.com/office/powerpoint/2010/main" val="32214836"/>
                    </p:ext>
                  </p:extLst>
                </p:nvPr>
              </p:nvGraphicFramePr>
              <p:xfrm>
                <a:off x="1147756" y="5533845"/>
                <a:ext cx="533400" cy="630238"/>
              </p:xfrm>
              <a:graphic>
                <a:graphicData uri="http://schemas.openxmlformats.org/presentationml/2006/ole">
                  <mc:AlternateContent>
                    <mc:Choice xmlns:v="urn:schemas-microsoft-com:vml" Requires="v">
                      <p:oleObj spid="_x0000_s1633" name="方程式" r:id="rId33" imgW="190440" imgH="228600" progId="Equation.3">
                        <p:embed/>
                      </p:oleObj>
                    </mc:Choice>
                    <mc:Fallback>
                      <p:oleObj name="方程式" r:id="rId33" imgW="190440" imgH="228600" progId="Equation.3">
                        <p:embed/>
                        <p:pic>
                          <p:nvPicPr>
                            <p:cNvPr id="82" name="Object 12"/>
                            <p:cNvPicPr>
                              <a:picLocks noChangeAspect="1" noChangeArrowheads="1"/>
                            </p:cNvPicPr>
                            <p:nvPr/>
                          </p:nvPicPr>
                          <p:blipFill>
                            <a:blip r:embed="rId34"/>
                            <a:srcRect/>
                            <a:stretch>
                              <a:fillRect/>
                            </a:stretch>
                          </p:blipFill>
                          <p:spPr bwMode="auto">
                            <a:xfrm>
                              <a:off x="1147756" y="5533845"/>
                              <a:ext cx="533400" cy="630238"/>
                            </a:xfrm>
                            <a:prstGeom prst="rect">
                              <a:avLst/>
                            </a:prstGeom>
                            <a:noFill/>
                          </p:spPr>
                        </p:pic>
                      </p:oleObj>
                    </mc:Fallback>
                  </mc:AlternateContent>
                </a:graphicData>
              </a:graphic>
            </p:graphicFrame>
          </mc:Choice>
          <mc:Fallback xmlns="">
            <p:graphicFrame>
              <p:nvGraphicFramePr>
                <p:cNvPr id="26" name="Object 12"/>
                <p:cNvGraphicFramePr>
                  <a:graphicFrameLocks noChangeAspect="1"/>
                </p:cNvGraphicFramePr>
                <p:nvPr>
                  <p:extLst>
                    <p:ext uri="{D42A27DB-BD31-4B8C-83A1-F6EECF244321}">
                      <p14:modId xmlns:p14="http://schemas.microsoft.com/office/powerpoint/2010/main" val="32214836"/>
                    </p:ext>
                  </p:extLst>
                </p:nvPr>
              </p:nvGraphicFramePr>
              <p:xfrm>
                <a:off x="1147756" y="5533845"/>
                <a:ext cx="533400" cy="630238"/>
              </p:xfrm>
              <a:graphic>
                <a:graphicData uri="http://schemas.openxmlformats.org/presentationml/2006/ole">
                  <mc:AlternateContent>
                    <mc:Choice xmlns:v="urn:schemas-microsoft-com:vml" Requires="v">
                      <p:oleObj spid="_x0000_s1081" name="方程式" r:id="rId35" imgW="190440" imgH="228600" progId="Equation.3">
                        <p:embed/>
                      </p:oleObj>
                    </mc:Choice>
                    <mc:Fallback>
                      <p:oleObj name="方程式" r:id="rId35" imgW="190440" imgH="228600" progId="Equation.3">
                        <p:embed/>
                        <p:pic>
                          <p:nvPicPr>
                            <p:cNvPr id="82" name="Object 12"/>
                            <p:cNvPicPr>
                              <a:picLocks noChangeAspect="1" noChangeArrowheads="1"/>
                            </p:cNvPicPr>
                            <p:nvPr/>
                          </p:nvPicPr>
                          <p:blipFill>
                            <a:blip r:embed="rId36"/>
                            <a:srcRect/>
                            <a:stretch>
                              <a:fillRect/>
                            </a:stretch>
                          </p:blipFill>
                          <p:spPr bwMode="auto">
                            <a:xfrm>
                              <a:off x="1147756" y="5533845"/>
                              <a:ext cx="533400" cy="630238"/>
                            </a:xfrm>
                            <a:prstGeom prst="rect">
                              <a:avLst/>
                            </a:prstGeom>
                            <a:noFill/>
                          </p:spPr>
                        </p:pic>
                      </p:oleObj>
                    </mc:Fallback>
                  </mc:AlternateContent>
                </a:graphicData>
              </a:graphic>
            </p:graphicFrame>
          </mc:Fallback>
        </mc:AlternateContent>
        <p:grpSp>
          <p:nvGrpSpPr>
            <p:cNvPr id="27" name="群組 20"/>
            <p:cNvGrpSpPr/>
            <p:nvPr/>
          </p:nvGrpSpPr>
          <p:grpSpPr>
            <a:xfrm>
              <a:off x="3826715" y="4799942"/>
              <a:ext cx="520319" cy="520319"/>
              <a:chOff x="3342651" y="3507082"/>
              <a:chExt cx="520319" cy="520319"/>
            </a:xfrm>
          </p:grpSpPr>
          <p:sp>
            <p:nvSpPr>
              <p:cNvPr id="28" name="矩形 21"/>
              <p:cNvSpPr/>
              <p:nvPr/>
            </p:nvSpPr>
            <p:spPr>
              <a:xfrm>
                <a:off x="3342651" y="3507082"/>
                <a:ext cx="520319" cy="520319"/>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latin typeface="+mj-lt"/>
                </a:endParaRPr>
              </a:p>
            </p:txBody>
          </p:sp>
          <mc:AlternateContent xmlns:mc="http://schemas.openxmlformats.org/markup-compatibility/2006" xmlns:a14="http://schemas.microsoft.com/office/drawing/2010/main">
            <mc:Choice Requires="a14">
              <p:graphicFrame>
                <p:nvGraphicFramePr>
                  <p:cNvPr id="29" name="Object 12"/>
                  <p:cNvGraphicFramePr>
                    <a:graphicFrameLocks noChangeAspect="1"/>
                  </p:cNvGraphicFramePr>
                  <p:nvPr/>
                </p:nvGraphicFramePr>
                <p:xfrm>
                  <a:off x="3435128" y="3545009"/>
                  <a:ext cx="385763" cy="387350"/>
                </p:xfrm>
                <a:graphic>
                  <a:graphicData uri="http://schemas.openxmlformats.org/presentationml/2006/ole">
                    <mc:AlternateContent>
                      <mc:Choice xmlns:v="urn:schemas-microsoft-com:vml" Requires="v">
                        <p:oleObj spid="_x0000_s1634" name="方程式" r:id="rId37" imgW="139680" imgH="139680" progId="Equation.3">
                          <p:embed/>
                        </p:oleObj>
                      </mc:Choice>
                      <mc:Fallback>
                        <p:oleObj name="方程式" r:id="rId37" imgW="139680" imgH="139680" progId="Equation.3">
                          <p:embed/>
                          <p:pic>
                            <p:nvPicPr>
                              <p:cNvPr id="85" name="Object 12"/>
                              <p:cNvPicPr>
                                <a:picLocks noChangeAspect="1" noChangeArrowheads="1"/>
                              </p:cNvPicPr>
                              <p:nvPr/>
                            </p:nvPicPr>
                            <p:blipFill>
                              <a:blip r:embed="rId38"/>
                              <a:srcRect/>
                              <a:stretch>
                                <a:fillRect/>
                              </a:stretch>
                            </p:blipFill>
                            <p:spPr bwMode="auto">
                              <a:xfrm>
                                <a:off x="3435128" y="3545009"/>
                                <a:ext cx="385763" cy="387350"/>
                              </a:xfrm>
                              <a:prstGeom prst="rect">
                                <a:avLst/>
                              </a:prstGeom>
                              <a:noFill/>
                            </p:spPr>
                          </p:pic>
                        </p:oleObj>
                      </mc:Fallback>
                    </mc:AlternateContent>
                  </a:graphicData>
                </a:graphic>
              </p:graphicFrame>
            </mc:Choice>
            <mc:Fallback xmlns="">
              <p:graphicFrame>
                <p:nvGraphicFramePr>
                  <p:cNvPr id="29" name="Object 12"/>
                  <p:cNvGraphicFramePr>
                    <a:graphicFrameLocks noChangeAspect="1"/>
                  </p:cNvGraphicFramePr>
                  <p:nvPr/>
                </p:nvGraphicFramePr>
                <p:xfrm>
                  <a:off x="3435128" y="3545009"/>
                  <a:ext cx="385763" cy="387350"/>
                </p:xfrm>
                <a:graphic>
                  <a:graphicData uri="http://schemas.openxmlformats.org/presentationml/2006/ole">
                    <mc:AlternateContent>
                      <mc:Choice xmlns:v="urn:schemas-microsoft-com:vml" Requires="v">
                        <p:oleObj spid="_x0000_s1082" name="方程式" r:id="rId39" imgW="139680" imgH="139680" progId="Equation.3">
                          <p:embed/>
                        </p:oleObj>
                      </mc:Choice>
                      <mc:Fallback>
                        <p:oleObj name="方程式" r:id="rId39" imgW="139680" imgH="139680" progId="Equation.3">
                          <p:embed/>
                          <p:pic>
                            <p:nvPicPr>
                              <p:cNvPr id="85" name="Object 12"/>
                              <p:cNvPicPr>
                                <a:picLocks noChangeAspect="1" noChangeArrowheads="1"/>
                              </p:cNvPicPr>
                              <p:nvPr/>
                            </p:nvPicPr>
                            <p:blipFill>
                              <a:blip r:embed="rId40"/>
                              <a:srcRect/>
                              <a:stretch>
                                <a:fillRect/>
                              </a:stretch>
                            </p:blipFill>
                            <p:spPr bwMode="auto">
                              <a:xfrm>
                                <a:off x="3435128" y="3545009"/>
                                <a:ext cx="385763" cy="387350"/>
                              </a:xfrm>
                              <a:prstGeom prst="rect">
                                <a:avLst/>
                              </a:prstGeom>
                              <a:noFill/>
                            </p:spPr>
                          </p:pic>
                        </p:oleObj>
                      </mc:Fallback>
                    </mc:AlternateContent>
                  </a:graphicData>
                </a:graphic>
              </p:graphicFrame>
            </mc:Fallback>
          </mc:AlternateContent>
        </p:grpSp>
        <mc:AlternateContent xmlns:mc="http://schemas.openxmlformats.org/markup-compatibility/2006" xmlns:a14="http://schemas.microsoft.com/office/drawing/2010/main">
          <mc:Choice Requires="a14">
            <p:graphicFrame>
              <p:nvGraphicFramePr>
                <p:cNvPr id="30" name="Object 12"/>
                <p:cNvGraphicFramePr>
                  <a:graphicFrameLocks noChangeAspect="1"/>
                </p:cNvGraphicFramePr>
                <p:nvPr>
                  <p:extLst>
                    <p:ext uri="{D42A27DB-BD31-4B8C-83A1-F6EECF244321}">
                      <p14:modId xmlns:p14="http://schemas.microsoft.com/office/powerpoint/2010/main" val="2491728063"/>
                    </p:ext>
                  </p:extLst>
                </p:nvPr>
              </p:nvGraphicFramePr>
              <p:xfrm>
                <a:off x="3884411" y="6153793"/>
                <a:ext cx="354012" cy="488950"/>
              </p:xfrm>
              <a:graphic>
                <a:graphicData uri="http://schemas.openxmlformats.org/presentationml/2006/ole">
                  <mc:AlternateContent>
                    <mc:Choice xmlns:v="urn:schemas-microsoft-com:vml" Requires="v">
                      <p:oleObj spid="_x0000_s1635" name="方程式" r:id="rId41" imgW="126720" imgH="177480" progId="Equation.3">
                        <p:embed/>
                      </p:oleObj>
                    </mc:Choice>
                    <mc:Fallback>
                      <p:oleObj name="方程式" r:id="rId41" imgW="126720" imgH="177480" progId="Equation.3">
                        <p:embed/>
                        <p:pic>
                          <p:nvPicPr>
                            <p:cNvPr id="86" name="Object 12"/>
                            <p:cNvPicPr>
                              <a:picLocks noChangeAspect="1" noChangeArrowheads="1"/>
                            </p:cNvPicPr>
                            <p:nvPr/>
                          </p:nvPicPr>
                          <p:blipFill>
                            <a:blip r:embed="rId42"/>
                            <a:srcRect/>
                            <a:stretch>
                              <a:fillRect/>
                            </a:stretch>
                          </p:blipFill>
                          <p:spPr bwMode="auto">
                            <a:xfrm>
                              <a:off x="3884411" y="6153793"/>
                              <a:ext cx="354012" cy="488950"/>
                            </a:xfrm>
                            <a:prstGeom prst="rect">
                              <a:avLst/>
                            </a:prstGeom>
                            <a:noFill/>
                          </p:spPr>
                        </p:pic>
                      </p:oleObj>
                    </mc:Fallback>
                  </mc:AlternateContent>
                </a:graphicData>
              </a:graphic>
            </p:graphicFrame>
          </mc:Choice>
          <mc:Fallback xmlns="">
            <p:graphicFrame>
              <p:nvGraphicFramePr>
                <p:cNvPr id="30" name="Object 12"/>
                <p:cNvGraphicFramePr>
                  <a:graphicFrameLocks noChangeAspect="1"/>
                </p:cNvGraphicFramePr>
                <p:nvPr>
                  <p:extLst>
                    <p:ext uri="{D42A27DB-BD31-4B8C-83A1-F6EECF244321}">
                      <p14:modId xmlns:p14="http://schemas.microsoft.com/office/powerpoint/2010/main" val="2491728063"/>
                    </p:ext>
                  </p:extLst>
                </p:nvPr>
              </p:nvGraphicFramePr>
              <p:xfrm>
                <a:off x="3884411" y="6153793"/>
                <a:ext cx="354012" cy="488950"/>
              </p:xfrm>
              <a:graphic>
                <a:graphicData uri="http://schemas.openxmlformats.org/presentationml/2006/ole">
                  <mc:AlternateContent>
                    <mc:Choice xmlns:v="urn:schemas-microsoft-com:vml" Requires="v">
                      <p:oleObj spid="_x0000_s1083" name="方程式" r:id="rId43" imgW="126720" imgH="177480" progId="Equation.3">
                        <p:embed/>
                      </p:oleObj>
                    </mc:Choice>
                    <mc:Fallback>
                      <p:oleObj name="方程式" r:id="rId43" imgW="126720" imgH="177480" progId="Equation.3">
                        <p:embed/>
                        <p:pic>
                          <p:nvPicPr>
                            <p:cNvPr id="86" name="Object 12"/>
                            <p:cNvPicPr>
                              <a:picLocks noChangeAspect="1" noChangeArrowheads="1"/>
                            </p:cNvPicPr>
                            <p:nvPr/>
                          </p:nvPicPr>
                          <p:blipFill>
                            <a:blip r:embed="rId44"/>
                            <a:srcRect/>
                            <a:stretch>
                              <a:fillRect/>
                            </a:stretch>
                          </p:blipFill>
                          <p:spPr bwMode="auto">
                            <a:xfrm>
                              <a:off x="3884411" y="6153793"/>
                              <a:ext cx="354012" cy="488950"/>
                            </a:xfrm>
                            <a:prstGeom prst="rect">
                              <a:avLst/>
                            </a:prstGeom>
                            <a:noFill/>
                          </p:spPr>
                        </p:pic>
                      </p:oleObj>
                    </mc:Fallback>
                  </mc:AlternateContent>
                </a:graphicData>
              </a:graphic>
            </p:graphicFrame>
          </mc:Fallback>
        </mc:AlternateContent>
        <p:cxnSp>
          <p:nvCxnSpPr>
            <p:cNvPr id="31" name="直線單箭頭接點 24"/>
            <p:cNvCxnSpPr/>
            <p:nvPr/>
          </p:nvCxnSpPr>
          <p:spPr>
            <a:xfrm flipV="1">
              <a:off x="4077922" y="5330705"/>
              <a:ext cx="0" cy="7547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32" name="Object 12"/>
                <p:cNvGraphicFramePr>
                  <a:graphicFrameLocks noChangeAspect="1"/>
                </p:cNvGraphicFramePr>
                <p:nvPr>
                  <p:extLst>
                    <p:ext uri="{D42A27DB-BD31-4B8C-83A1-F6EECF244321}">
                      <p14:modId xmlns:p14="http://schemas.microsoft.com/office/powerpoint/2010/main" val="25869153"/>
                    </p:ext>
                  </p:extLst>
                </p:nvPr>
              </p:nvGraphicFramePr>
              <p:xfrm>
                <a:off x="5048678" y="4746760"/>
                <a:ext cx="787400" cy="533400"/>
              </p:xfrm>
              <a:graphic>
                <a:graphicData uri="http://schemas.openxmlformats.org/presentationml/2006/ole">
                  <mc:AlternateContent>
                    <mc:Choice xmlns:v="urn:schemas-microsoft-com:vml" Requires="v">
                      <p:oleObj spid="_x0000_s1636" name="方程式" r:id="rId45" imgW="317160" imgH="215640" progId="Equation.3">
                        <p:embed/>
                      </p:oleObj>
                    </mc:Choice>
                    <mc:Fallback>
                      <p:oleObj name="方程式" r:id="rId45" imgW="317160" imgH="215640" progId="Equation.3">
                        <p:embed/>
                        <p:pic>
                          <p:nvPicPr>
                            <p:cNvPr id="88" name="Object 12"/>
                            <p:cNvPicPr>
                              <a:picLocks noChangeAspect="1" noChangeArrowheads="1"/>
                            </p:cNvPicPr>
                            <p:nvPr/>
                          </p:nvPicPr>
                          <p:blipFill>
                            <a:blip r:embed="rId46"/>
                            <a:srcRect/>
                            <a:stretch>
                              <a:fillRect/>
                            </a:stretch>
                          </p:blipFill>
                          <p:spPr bwMode="auto">
                            <a:xfrm>
                              <a:off x="5048678" y="4746760"/>
                              <a:ext cx="787400" cy="533400"/>
                            </a:xfrm>
                            <a:prstGeom prst="rect">
                              <a:avLst/>
                            </a:prstGeom>
                            <a:noFill/>
                          </p:spPr>
                        </p:pic>
                      </p:oleObj>
                    </mc:Fallback>
                  </mc:AlternateContent>
                </a:graphicData>
              </a:graphic>
            </p:graphicFrame>
          </mc:Choice>
          <mc:Fallback xmlns="">
            <p:graphicFrame>
              <p:nvGraphicFramePr>
                <p:cNvPr id="32" name="Object 12"/>
                <p:cNvGraphicFramePr>
                  <a:graphicFrameLocks noChangeAspect="1"/>
                </p:cNvGraphicFramePr>
                <p:nvPr>
                  <p:extLst>
                    <p:ext uri="{D42A27DB-BD31-4B8C-83A1-F6EECF244321}">
                      <p14:modId xmlns:p14="http://schemas.microsoft.com/office/powerpoint/2010/main" val="25869153"/>
                    </p:ext>
                  </p:extLst>
                </p:nvPr>
              </p:nvGraphicFramePr>
              <p:xfrm>
                <a:off x="5048678" y="4746760"/>
                <a:ext cx="787400" cy="533400"/>
              </p:xfrm>
              <a:graphic>
                <a:graphicData uri="http://schemas.openxmlformats.org/presentationml/2006/ole">
                  <mc:AlternateContent>
                    <mc:Choice xmlns:v="urn:schemas-microsoft-com:vml" Requires="v">
                      <p:oleObj spid="_x0000_s1084" name="方程式" r:id="rId47" imgW="317160" imgH="215640" progId="Equation.3">
                        <p:embed/>
                      </p:oleObj>
                    </mc:Choice>
                    <mc:Fallback>
                      <p:oleObj name="方程式" r:id="rId47" imgW="317160" imgH="215640" progId="Equation.3">
                        <p:embed/>
                        <p:pic>
                          <p:nvPicPr>
                            <p:cNvPr id="88" name="Object 12"/>
                            <p:cNvPicPr>
                              <a:picLocks noChangeAspect="1" noChangeArrowheads="1"/>
                            </p:cNvPicPr>
                            <p:nvPr/>
                          </p:nvPicPr>
                          <p:blipFill>
                            <a:blip r:embed="rId48"/>
                            <a:srcRect/>
                            <a:stretch>
                              <a:fillRect/>
                            </a:stretch>
                          </p:blipFill>
                          <p:spPr bwMode="auto">
                            <a:xfrm>
                              <a:off x="5048678" y="4746760"/>
                              <a:ext cx="787400" cy="533400"/>
                            </a:xfrm>
                            <a:prstGeom prst="rect">
                              <a:avLst/>
                            </a:prstGeom>
                            <a:noFill/>
                          </p:spPr>
                        </p:pic>
                      </p:oleObj>
                    </mc:Fallback>
                  </mc:AlternateContent>
                </a:graphicData>
              </a:graphic>
            </p:graphicFrame>
          </mc:Fallback>
        </mc:AlternateContent>
        <p:sp>
          <p:nvSpPr>
            <p:cNvPr id="33" name="文字方塊 33"/>
            <p:cNvSpPr txBox="1"/>
            <p:nvPr/>
          </p:nvSpPr>
          <p:spPr>
            <a:xfrm>
              <a:off x="3662406" y="6664895"/>
              <a:ext cx="798022" cy="461665"/>
            </a:xfrm>
            <a:prstGeom prst="rect">
              <a:avLst/>
            </a:prstGeom>
            <a:noFill/>
          </p:spPr>
          <p:txBody>
            <a:bodyPr wrap="square" rtlCol="0">
              <a:spAutoFit/>
            </a:bodyPr>
            <a:lstStyle/>
            <a:p>
              <a:pPr algn="ctr"/>
              <a:r>
                <a:rPr lang="en-US" altLang="zh-TW" sz="2400" dirty="0">
                  <a:solidFill>
                    <a:srgbClr val="0000FF"/>
                  </a:solidFill>
                  <a:latin typeface="+mj-lt"/>
                </a:rPr>
                <a:t>bias</a:t>
              </a:r>
              <a:endParaRPr lang="zh-TW" altLang="en-US" sz="2400" dirty="0">
                <a:solidFill>
                  <a:srgbClr val="0000FF"/>
                </a:solidFill>
                <a:latin typeface="+mj-lt"/>
              </a:endParaRPr>
            </a:p>
          </p:txBody>
        </p:sp>
        <mc:AlternateContent xmlns:mc="http://schemas.openxmlformats.org/markup-compatibility/2006" xmlns:a14="http://schemas.microsoft.com/office/drawing/2010/main">
          <mc:Choice Requires="a14">
            <p:graphicFrame>
              <p:nvGraphicFramePr>
                <p:cNvPr id="34" name="Object 12"/>
                <p:cNvGraphicFramePr>
                  <a:graphicFrameLocks noChangeAspect="1"/>
                </p:cNvGraphicFramePr>
                <p:nvPr>
                  <p:extLst>
                    <p:ext uri="{D42A27DB-BD31-4B8C-83A1-F6EECF244321}">
                      <p14:modId xmlns:p14="http://schemas.microsoft.com/office/powerpoint/2010/main" val="1120172641"/>
                    </p:ext>
                  </p:extLst>
                </p:nvPr>
              </p:nvGraphicFramePr>
              <p:xfrm>
                <a:off x="6558236" y="4840374"/>
                <a:ext cx="352425" cy="385763"/>
              </p:xfrm>
              <a:graphic>
                <a:graphicData uri="http://schemas.openxmlformats.org/presentationml/2006/ole">
                  <mc:AlternateContent>
                    <mc:Choice xmlns:v="urn:schemas-microsoft-com:vml" Requires="v">
                      <p:oleObj spid="_x0000_s1637" name="方程式" r:id="rId49" imgW="126720" imgH="139680" progId="Equation.3">
                        <p:embed/>
                      </p:oleObj>
                    </mc:Choice>
                    <mc:Fallback>
                      <p:oleObj name="方程式" r:id="rId49" imgW="126720" imgH="139680" progId="Equation.3">
                        <p:embed/>
                        <p:pic>
                          <p:nvPicPr>
                            <p:cNvPr id="90" name="Object 12"/>
                            <p:cNvPicPr>
                              <a:picLocks noChangeAspect="1" noChangeArrowheads="1"/>
                            </p:cNvPicPr>
                            <p:nvPr/>
                          </p:nvPicPr>
                          <p:blipFill>
                            <a:blip r:embed="rId50"/>
                            <a:srcRect/>
                            <a:stretch>
                              <a:fillRect/>
                            </a:stretch>
                          </p:blipFill>
                          <p:spPr bwMode="auto">
                            <a:xfrm>
                              <a:off x="6558236" y="4840374"/>
                              <a:ext cx="352425" cy="385763"/>
                            </a:xfrm>
                            <a:prstGeom prst="rect">
                              <a:avLst/>
                            </a:prstGeom>
                            <a:noFill/>
                          </p:spPr>
                        </p:pic>
                      </p:oleObj>
                    </mc:Fallback>
                  </mc:AlternateContent>
                </a:graphicData>
              </a:graphic>
            </p:graphicFrame>
          </mc:Choice>
          <mc:Fallback xmlns="">
            <p:graphicFrame>
              <p:nvGraphicFramePr>
                <p:cNvPr id="34" name="Object 12"/>
                <p:cNvGraphicFramePr>
                  <a:graphicFrameLocks noChangeAspect="1"/>
                </p:cNvGraphicFramePr>
                <p:nvPr>
                  <p:extLst>
                    <p:ext uri="{D42A27DB-BD31-4B8C-83A1-F6EECF244321}">
                      <p14:modId xmlns:p14="http://schemas.microsoft.com/office/powerpoint/2010/main" val="1120172641"/>
                    </p:ext>
                  </p:extLst>
                </p:nvPr>
              </p:nvGraphicFramePr>
              <p:xfrm>
                <a:off x="6558236" y="4840374"/>
                <a:ext cx="352425" cy="385763"/>
              </p:xfrm>
              <a:graphic>
                <a:graphicData uri="http://schemas.openxmlformats.org/presentationml/2006/ole">
                  <mc:AlternateContent>
                    <mc:Choice xmlns:v="urn:schemas-microsoft-com:vml" Requires="v">
                      <p:oleObj spid="_x0000_s1085" name="方程式" r:id="rId51" imgW="126720" imgH="139680" progId="Equation.3">
                        <p:embed/>
                      </p:oleObj>
                    </mc:Choice>
                    <mc:Fallback>
                      <p:oleObj name="方程式" r:id="rId51" imgW="126720" imgH="139680" progId="Equation.3">
                        <p:embed/>
                        <p:pic>
                          <p:nvPicPr>
                            <p:cNvPr id="90" name="Object 12"/>
                            <p:cNvPicPr>
                              <a:picLocks noChangeAspect="1" noChangeArrowheads="1"/>
                            </p:cNvPicPr>
                            <p:nvPr/>
                          </p:nvPicPr>
                          <p:blipFill>
                            <a:blip r:embed="rId52"/>
                            <a:srcRect/>
                            <a:stretch>
                              <a:fillRect/>
                            </a:stretch>
                          </p:blipFill>
                          <p:spPr bwMode="auto">
                            <a:xfrm>
                              <a:off x="6558236" y="4840374"/>
                              <a:ext cx="352425" cy="385763"/>
                            </a:xfrm>
                            <a:prstGeom prst="rect">
                              <a:avLst/>
                            </a:prstGeom>
                            <a:noFill/>
                          </p:spPr>
                        </p:pic>
                      </p:oleObj>
                    </mc:Fallback>
                  </mc:AlternateContent>
                </a:graphicData>
              </a:graphic>
            </p:graphicFrame>
          </mc:Fallback>
        </mc:AlternateContent>
        <p:sp>
          <p:nvSpPr>
            <p:cNvPr id="35" name="文字方塊 39"/>
            <p:cNvSpPr txBox="1"/>
            <p:nvPr/>
          </p:nvSpPr>
          <p:spPr>
            <a:xfrm>
              <a:off x="4570572" y="5553446"/>
              <a:ext cx="1894780" cy="830997"/>
            </a:xfrm>
            <a:prstGeom prst="rect">
              <a:avLst/>
            </a:prstGeom>
            <a:noFill/>
          </p:spPr>
          <p:txBody>
            <a:bodyPr wrap="square" rtlCol="0">
              <a:spAutoFit/>
            </a:bodyPr>
            <a:lstStyle/>
            <a:p>
              <a:pPr algn="ctr"/>
              <a:r>
                <a:rPr lang="en-US" altLang="zh-TW" sz="2400" dirty="0">
                  <a:solidFill>
                    <a:srgbClr val="0000FF"/>
                  </a:solidFill>
                  <a:latin typeface="+mj-lt"/>
                </a:rPr>
                <a:t>Activation function</a:t>
              </a:r>
              <a:endParaRPr lang="zh-TW" altLang="en-US" sz="2400" dirty="0">
                <a:solidFill>
                  <a:srgbClr val="0000FF"/>
                </a:solidFill>
                <a:latin typeface="+mj-lt"/>
              </a:endParaRPr>
            </a:p>
          </p:txBody>
        </p:sp>
        <p:sp>
          <p:nvSpPr>
            <p:cNvPr id="36" name="文字方塊 38"/>
            <p:cNvSpPr txBox="1"/>
            <p:nvPr/>
          </p:nvSpPr>
          <p:spPr>
            <a:xfrm>
              <a:off x="1828135" y="5848964"/>
              <a:ext cx="1313952" cy="461665"/>
            </a:xfrm>
            <a:prstGeom prst="rect">
              <a:avLst/>
            </a:prstGeom>
            <a:noFill/>
          </p:spPr>
          <p:txBody>
            <a:bodyPr wrap="square" rtlCol="0">
              <a:spAutoFit/>
            </a:bodyPr>
            <a:lstStyle/>
            <a:p>
              <a:pPr algn="ctr"/>
              <a:r>
                <a:rPr lang="en-US" altLang="zh-TW" sz="2400" dirty="0">
                  <a:solidFill>
                    <a:srgbClr val="0000FF"/>
                  </a:solidFill>
                  <a:latin typeface="+mj-lt"/>
                </a:rPr>
                <a:t>weights</a:t>
              </a:r>
              <a:endParaRPr lang="zh-TW" altLang="en-US" sz="2400" dirty="0">
                <a:solidFill>
                  <a:srgbClr val="0000FF"/>
                </a:solidFill>
                <a:latin typeface="+mj-lt"/>
              </a:endParaRPr>
            </a:p>
          </p:txBody>
        </p:sp>
        <mc:AlternateContent xmlns:mc="http://schemas.openxmlformats.org/markup-compatibility/2006" xmlns:a14="http://schemas.microsoft.com/office/drawing/2010/main">
          <mc:Choice Requires="a14">
            <p:sp>
              <p:nvSpPr>
                <p:cNvPr id="37" name="文字方塊 34"/>
                <p:cNvSpPr txBox="1"/>
                <p:nvPr/>
              </p:nvSpPr>
              <p:spPr>
                <a:xfrm>
                  <a:off x="6432828" y="3774570"/>
                  <a:ext cx="1471877"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𝑎</m:t>
                        </m:r>
                        <m:r>
                          <a:rPr lang="en-US" altLang="zh-TW" sz="2800" b="0" i="1" smtClean="0">
                            <a:latin typeface="Cambria Math" panose="02040503050406030204" pitchFamily="18" charset="0"/>
                          </a:rPr>
                          <m:t>=</m:t>
                        </m:r>
                        <m:r>
                          <a:rPr lang="zh-TW" altLang="en-US" sz="2800" b="0" i="1" smtClean="0">
                            <a:latin typeface="Cambria Math" panose="02040503050406030204" pitchFamily="18" charset="0"/>
                          </a:rPr>
                          <m:t>𝜎</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𝑧</m:t>
                            </m:r>
                          </m:e>
                        </m:d>
                      </m:oMath>
                    </m:oMathPara>
                  </a14:m>
                  <a:endParaRPr lang="zh-TW" altLang="en-US" sz="2800" dirty="0">
                    <a:latin typeface="+mj-lt"/>
                  </a:endParaRPr>
                </a:p>
              </p:txBody>
            </p:sp>
          </mc:Choice>
          <mc:Fallback xmlns="">
            <p:sp>
              <p:nvSpPr>
                <p:cNvPr id="37" name="文字方塊 34"/>
                <p:cNvSpPr txBox="1">
                  <a:spLocks noRot="1" noChangeAspect="1" noMove="1" noResize="1" noEditPoints="1" noAdjustHandles="1" noChangeArrowheads="1" noChangeShapeType="1" noTextEdit="1"/>
                </p:cNvSpPr>
                <p:nvPr/>
              </p:nvSpPr>
              <p:spPr>
                <a:xfrm>
                  <a:off x="6432828" y="3774570"/>
                  <a:ext cx="1471877" cy="430887"/>
                </a:xfrm>
                <a:prstGeom prst="rect">
                  <a:avLst/>
                </a:prstGeom>
                <a:blipFill>
                  <a:blip r:embed="rId53"/>
                  <a:stretch>
                    <a:fillRect/>
                  </a:stretch>
                </a:blipFill>
              </p:spPr>
              <p:txBody>
                <a:bodyPr/>
                <a:lstStyle/>
                <a:p>
                  <a:r>
                    <a:rPr lang="en-US">
                      <a:noFill/>
                    </a:rPr>
                    <a:t> </a:t>
                  </a:r>
                </a:p>
              </p:txBody>
            </p:sp>
          </mc:Fallback>
        </mc:AlternateContent>
        <p:sp>
          <p:nvSpPr>
            <p:cNvPr id="38" name="文字方塊 38"/>
            <p:cNvSpPr txBox="1"/>
            <p:nvPr/>
          </p:nvSpPr>
          <p:spPr>
            <a:xfrm>
              <a:off x="797141" y="6406993"/>
              <a:ext cx="1186572" cy="461665"/>
            </a:xfrm>
            <a:prstGeom prst="rect">
              <a:avLst/>
            </a:prstGeom>
            <a:noFill/>
          </p:spPr>
          <p:txBody>
            <a:bodyPr wrap="square" rtlCol="0">
              <a:spAutoFit/>
            </a:bodyPr>
            <a:lstStyle/>
            <a:p>
              <a:pPr algn="ctr"/>
              <a:r>
                <a:rPr lang="en-US" altLang="zh-TW" sz="2400" dirty="0">
                  <a:solidFill>
                    <a:srgbClr val="00B050"/>
                  </a:solidFill>
                  <a:latin typeface="+mj-lt"/>
                </a:rPr>
                <a:t>input</a:t>
              </a:r>
              <a:endParaRPr lang="zh-TW" altLang="en-US" sz="2400" dirty="0">
                <a:solidFill>
                  <a:srgbClr val="00B050"/>
                </a:solidFill>
                <a:latin typeface="+mj-lt"/>
              </a:endParaRPr>
            </a:p>
          </p:txBody>
        </p:sp>
        <p:sp>
          <p:nvSpPr>
            <p:cNvPr id="39" name="文字方塊 38"/>
            <p:cNvSpPr txBox="1"/>
            <p:nvPr/>
          </p:nvSpPr>
          <p:spPr>
            <a:xfrm>
              <a:off x="6232977" y="5150562"/>
              <a:ext cx="1186572" cy="461665"/>
            </a:xfrm>
            <a:prstGeom prst="rect">
              <a:avLst/>
            </a:prstGeom>
            <a:noFill/>
          </p:spPr>
          <p:txBody>
            <a:bodyPr wrap="square" rtlCol="0">
              <a:spAutoFit/>
            </a:bodyPr>
            <a:lstStyle/>
            <a:p>
              <a:pPr algn="ctr"/>
              <a:r>
                <a:rPr lang="en-US" altLang="zh-TW" sz="2400" dirty="0">
                  <a:solidFill>
                    <a:srgbClr val="00B050"/>
                  </a:solidFill>
                  <a:latin typeface="+mj-lt"/>
                </a:rPr>
                <a:t>output</a:t>
              </a:r>
              <a:endParaRPr lang="zh-TW" altLang="en-US" sz="2400" dirty="0">
                <a:solidFill>
                  <a:srgbClr val="00B050"/>
                </a:solidFill>
                <a:latin typeface="+mj-lt"/>
              </a:endParaRPr>
            </a:p>
          </p:txBody>
        </p:sp>
        <p:sp>
          <p:nvSpPr>
            <p:cNvPr id="40" name="文字方塊 14"/>
            <p:cNvSpPr txBox="1"/>
            <p:nvPr/>
          </p:nvSpPr>
          <p:spPr>
            <a:xfrm rot="5400000">
              <a:off x="2074455" y="4712314"/>
              <a:ext cx="769257" cy="523220"/>
            </a:xfrm>
            <a:prstGeom prst="rect">
              <a:avLst/>
            </a:prstGeom>
            <a:noFill/>
          </p:spPr>
          <p:txBody>
            <a:bodyPr wrap="square" rtlCol="0">
              <a:spAutoFit/>
            </a:bodyPr>
            <a:lstStyle/>
            <a:p>
              <a:pPr algn="ctr"/>
              <a:r>
                <a:rPr lang="en-US" altLang="zh-TW" sz="2800" dirty="0">
                  <a:latin typeface="+mj-lt"/>
                </a:rPr>
                <a:t>…</a:t>
              </a:r>
              <a:endParaRPr lang="zh-TW" altLang="en-US" sz="2800" dirty="0">
                <a:latin typeface="+mj-lt"/>
              </a:endParaRPr>
            </a:p>
          </p:txBody>
        </p:sp>
        <mc:AlternateContent xmlns:mc="http://schemas.openxmlformats.org/markup-compatibility/2006" xmlns:a14="http://schemas.microsoft.com/office/drawing/2010/main">
          <mc:Choice Requires="a14">
            <p:sp>
              <p:nvSpPr>
                <p:cNvPr id="41" name="Content Placeholder 2"/>
                <p:cNvSpPr txBox="1">
                  <a:spLocks/>
                </p:cNvSpPr>
                <p:nvPr/>
              </p:nvSpPr>
              <p:spPr>
                <a:xfrm>
                  <a:off x="276673" y="1846385"/>
                  <a:ext cx="9584265" cy="5636415"/>
                </a:xfrm>
                <a:prstGeom prst="rect">
                  <a:avLst/>
                </a:prstGeom>
              </p:spPr>
              <p:txBody>
                <a:bodyPr vert="horz" lIns="91440" tIns="45720" rIns="91440" bIns="45720" rtlCol="0">
                  <a:normAutofit/>
                </a:bodyPr>
                <a:lstStyle>
                  <a:lvl1pPr marL="288925" indent="-288925" algn="l" defTabSz="914323" rtl="0" eaLnBrk="1" latinLnBrk="0" hangingPunct="1">
                    <a:spcBef>
                      <a:spcPct val="20000"/>
                    </a:spcBef>
                    <a:buClr>
                      <a:schemeClr val="tx2"/>
                    </a:buClr>
                    <a:buSzPct val="90000"/>
                    <a:buFont typeface="Palatino Linotype" panose="02040502050505030304" pitchFamily="18" charset="0"/>
                    <a:buChar char="•"/>
                    <a:defRPr sz="2000" kern="1200">
                      <a:solidFill>
                        <a:schemeClr val="tx1"/>
                      </a:solidFill>
                      <a:latin typeface="Palatino Linotype" panose="02040502050505030304" pitchFamily="18" charset="0"/>
                      <a:ea typeface="+mn-ea"/>
                      <a:cs typeface="+mn-cs"/>
                    </a:defRPr>
                  </a:lvl1pPr>
                  <a:lvl2pPr marL="631825" indent="-227013" algn="l" defTabSz="914323" rtl="0" eaLnBrk="1" latinLnBrk="0" hangingPunct="1">
                    <a:spcBef>
                      <a:spcPct val="20000"/>
                    </a:spcBef>
                    <a:buClr>
                      <a:schemeClr val="tx2"/>
                    </a:buClr>
                    <a:buSzPct val="90000"/>
                    <a:buFont typeface="Wingdings" panose="05000000000000000000" pitchFamily="2" charset="2"/>
                    <a:buChar char="§"/>
                    <a:defRPr sz="1800" kern="1200">
                      <a:solidFill>
                        <a:schemeClr val="tx1"/>
                      </a:solidFill>
                      <a:latin typeface="Palatino Linotype" panose="02040502050505030304" pitchFamily="18" charset="0"/>
                      <a:ea typeface="+mn-ea"/>
                      <a:cs typeface="+mn-cs"/>
                    </a:defRPr>
                  </a:lvl2pPr>
                  <a:lvl3pPr marL="973138" indent="-231775" algn="l" defTabSz="914323" rtl="0" eaLnBrk="1" latinLnBrk="0" hangingPunct="1">
                    <a:spcBef>
                      <a:spcPct val="20000"/>
                    </a:spcBef>
                    <a:buClr>
                      <a:schemeClr val="tx2"/>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3pPr>
                  <a:lvl4pPr marL="1254125" indent="-222250" algn="l" defTabSz="914323" rtl="0" eaLnBrk="1" latinLnBrk="0" hangingPunct="1">
                    <a:spcBef>
                      <a:spcPct val="20000"/>
                    </a:spcBef>
                    <a:buClr>
                      <a:schemeClr val="tx2"/>
                    </a:buClr>
                    <a:buFont typeface="Arial" panose="020B0604020202020204" pitchFamily="34" charset="0"/>
                    <a:buChar char="–"/>
                    <a:defRPr sz="1400" kern="1200">
                      <a:solidFill>
                        <a:schemeClr val="tx1"/>
                      </a:solidFill>
                      <a:latin typeface="Palatino Linotype" panose="02040502050505030304" pitchFamily="18" charset="0"/>
                      <a:ea typeface="+mn-ea"/>
                      <a:cs typeface="+mn-cs"/>
                    </a:defRPr>
                  </a:lvl4pPr>
                  <a:lvl5pPr marL="1430338" indent="-176213" algn="l" defTabSz="914323" rtl="0" eaLnBrk="1" latinLnBrk="0" hangingPunct="1">
                    <a:spcBef>
                      <a:spcPct val="20000"/>
                    </a:spcBef>
                    <a:buClr>
                      <a:schemeClr val="tx2"/>
                    </a:buClr>
                    <a:buFont typeface="Arial" panose="020B0604020202020204" pitchFamily="34" charset="0"/>
                    <a:buChar char="»"/>
                    <a:defRPr sz="1200" kern="1200">
                      <a:solidFill>
                        <a:schemeClr val="tx1"/>
                      </a:solidFill>
                      <a:latin typeface="Palatino Linotype" panose="02040502050505030304" pitchFamily="18" charset="0"/>
                      <a:ea typeface="+mn-ea"/>
                      <a:cs typeface="+mn-cs"/>
                    </a:defRPr>
                  </a:lvl5pPr>
                  <a:lvl6pPr marL="2514389" indent="-228581" algn="l" defTabSz="914323"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551" indent="-228581" algn="l" defTabSz="914323"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713" indent="-228581" algn="l" defTabSz="914323"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874" indent="-228581" algn="l" defTabSz="914323"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b="1" dirty="0">
                      <a:latin typeface="+mj-lt"/>
                    </a:rPr>
                    <a:t>Elements of Neural Networks:</a:t>
                  </a:r>
                  <a:endParaRPr lang="en-US" b="1" dirty="0">
                    <a:latin typeface="+mj-lt"/>
                    <a:cs typeface="Calibri" panose="020F0502020204030204" pitchFamily="34" charset="0"/>
                  </a:endParaRPr>
                </a:p>
                <a:p>
                  <a:r>
                    <a:rPr lang="en-US" dirty="0" smtClean="0">
                      <a:latin typeface="+mj-lt"/>
                      <a:cs typeface="Calibri" panose="020F0502020204030204" pitchFamily="34" charset="0"/>
                    </a:rPr>
                    <a:t>Neural networks </a:t>
                  </a:r>
                  <a:r>
                    <a:rPr lang="en-US" dirty="0">
                      <a:latin typeface="+mj-lt"/>
                      <a:cs typeface="Calibri" panose="020F0502020204030204" pitchFamily="34" charset="0"/>
                    </a:rPr>
                    <a:t>consist of hidden layers with neurons (i.e., computational units)</a:t>
                  </a:r>
                </a:p>
                <a:p>
                  <a:r>
                    <a:rPr lang="en-US" dirty="0">
                      <a:latin typeface="+mj-lt"/>
                      <a:cs typeface="Calibri" panose="020F0502020204030204" pitchFamily="34" charset="0"/>
                    </a:rPr>
                    <a:t>A single </a:t>
                  </a:r>
                  <a:r>
                    <a:rPr lang="en-US" dirty="0">
                      <a:solidFill>
                        <a:srgbClr val="FF0000"/>
                      </a:solidFill>
                      <a:latin typeface="+mj-lt"/>
                      <a:cs typeface="Calibri" panose="020F0502020204030204" pitchFamily="34" charset="0"/>
                    </a:rPr>
                    <a:t>neuron </a:t>
                  </a:r>
                  <a:r>
                    <a:rPr lang="en-US" dirty="0">
                      <a:latin typeface="+mj-lt"/>
                      <a:cs typeface="Calibri" panose="020F0502020204030204" pitchFamily="34" charset="0"/>
                    </a:rPr>
                    <a:t>maps a set of inputs into an output number, or </a:t>
                  </a:r>
                  <a14:m>
                    <m:oMath xmlns:m="http://schemas.openxmlformats.org/officeDocument/2006/math">
                      <m:r>
                        <a:rPr lang="en-US" altLang="zh-TW" i="1">
                          <a:latin typeface="Cambria Math" panose="02040503050406030204" pitchFamily="18" charset="0"/>
                        </a:rPr>
                        <m:t>𝑓</m:t>
                      </m:r>
                      <m:r>
                        <a:rPr lang="en-US" altLang="zh-TW" i="1">
                          <a:latin typeface="Cambria Math" panose="02040503050406030204" pitchFamily="18" charset="0"/>
                        </a:rPr>
                        <m:t>:</m:t>
                      </m:r>
                      <m:sSup>
                        <m:sSupPr>
                          <m:ctrlPr>
                            <a:rPr lang="en-US" altLang="zh-TW" i="1">
                              <a:latin typeface="Cambria Math" panose="02040503050406030204" pitchFamily="18" charset="0"/>
                            </a:rPr>
                          </m:ctrlPr>
                        </m:sSupPr>
                        <m:e>
                          <m:r>
                            <a:rPr lang="en-US" altLang="zh-TW" i="1">
                              <a:latin typeface="Cambria Math" panose="02040503050406030204" pitchFamily="18" charset="0"/>
                            </a:rPr>
                            <m:t>𝑅</m:t>
                          </m:r>
                        </m:e>
                        <m:sup>
                          <m:r>
                            <a:rPr lang="en-US" altLang="zh-TW" i="1">
                              <a:latin typeface="Cambria Math" panose="02040503050406030204" pitchFamily="18" charset="0"/>
                            </a:rPr>
                            <m:t>𝐾</m:t>
                          </m:r>
                        </m:sup>
                      </m:sSup>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𝑅</m:t>
                      </m:r>
                    </m:oMath>
                  </a14:m>
                  <a:endParaRPr lang="zh-TW" altLang="en-US" dirty="0">
                    <a:latin typeface="+mj-lt"/>
                    <a:cs typeface="Calibri" panose="020F0502020204030204" pitchFamily="34" charset="0"/>
                  </a:endParaRPr>
                </a:p>
                <a:p>
                  <a:endParaRPr lang="en-US" dirty="0">
                    <a:latin typeface="+mj-lt"/>
                  </a:endParaRPr>
                </a:p>
              </p:txBody>
            </p:sp>
          </mc:Choice>
          <mc:Fallback xmlns="">
            <p:sp>
              <p:nvSpPr>
                <p:cNvPr id="41" name="Content Placeholder 2"/>
                <p:cNvSpPr txBox="1">
                  <a:spLocks noRot="1" noChangeAspect="1" noMove="1" noResize="1" noEditPoints="1" noAdjustHandles="1" noChangeArrowheads="1" noChangeShapeType="1" noTextEdit="1"/>
                </p:cNvSpPr>
                <p:nvPr/>
              </p:nvSpPr>
              <p:spPr>
                <a:xfrm>
                  <a:off x="276673" y="1846385"/>
                  <a:ext cx="9584265" cy="5636415"/>
                </a:xfrm>
                <a:prstGeom prst="rect">
                  <a:avLst/>
                </a:prstGeom>
                <a:blipFill>
                  <a:blip r:embed="rId54"/>
                  <a:stretch>
                    <a:fillRect l="-700" t="-432"/>
                  </a:stretch>
                </a:blipFill>
              </p:spPr>
              <p:txBody>
                <a:bodyPr/>
                <a:lstStyle/>
                <a:p>
                  <a:r>
                    <a:rPr lang="en-US">
                      <a:noFill/>
                    </a:rPr>
                    <a:t> </a:t>
                  </a:r>
                </a:p>
              </p:txBody>
            </p:sp>
          </mc:Fallback>
        </mc:AlternateContent>
      </p:grpSp>
      <p:sp>
        <p:nvSpPr>
          <p:cNvPr id="2" name="TextBox 1">
            <a:extLst>
              <a:ext uri="{FF2B5EF4-FFF2-40B4-BE49-F238E27FC236}">
                <a16:creationId xmlns:a16="http://schemas.microsoft.com/office/drawing/2014/main" id="{A2091DF0-E296-7CF8-1A77-2E84FEB10C07}"/>
              </a:ext>
            </a:extLst>
          </p:cNvPr>
          <p:cNvSpPr txBox="1"/>
          <p:nvPr/>
        </p:nvSpPr>
        <p:spPr>
          <a:xfrm>
            <a:off x="8042301" y="3474769"/>
            <a:ext cx="1230010" cy="523220"/>
          </a:xfrm>
          <a:prstGeom prst="rect">
            <a:avLst/>
          </a:prstGeom>
          <a:noFill/>
        </p:spPr>
        <p:txBody>
          <a:bodyPr wrap="square" rtlCol="0">
            <a:spAutoFit/>
          </a:bodyPr>
          <a:lstStyle/>
          <a:p>
            <a:r>
              <a:rPr lang="en-US" sz="2800" dirty="0"/>
              <a:t>ℒ(a, y)</a:t>
            </a:r>
          </a:p>
        </p:txBody>
      </p:sp>
    </p:spTree>
    <p:extLst>
      <p:ext uri="{BB962C8B-B14F-4D97-AF65-F5344CB8AC3E}">
        <p14:creationId xmlns:p14="http://schemas.microsoft.com/office/powerpoint/2010/main" val="3357340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67"/>
        <p:cNvGrpSpPr/>
        <p:nvPr/>
      </p:nvGrpSpPr>
      <p:grpSpPr>
        <a:xfrm>
          <a:off x="0" y="0"/>
          <a:ext cx="0" cy="0"/>
          <a:chOff x="0" y="0"/>
          <a:chExt cx="0" cy="0"/>
        </a:xfrm>
      </p:grpSpPr>
      <p:sp>
        <p:nvSpPr>
          <p:cNvPr id="68" name="Google Shape;68;p4"/>
          <p:cNvSpPr/>
          <p:nvPr/>
        </p:nvSpPr>
        <p:spPr>
          <a:xfrm>
            <a:off x="4544009" y="3459886"/>
            <a:ext cx="7442200" cy="0"/>
          </a:xfrm>
          <a:custGeom>
            <a:avLst/>
            <a:gdLst/>
            <a:ahLst/>
            <a:cxnLst/>
            <a:rect l="l" t="t" r="r" b="b"/>
            <a:pathLst>
              <a:path w="7442200" h="120000" extrusionOk="0">
                <a:moveTo>
                  <a:pt x="0" y="0"/>
                </a:moveTo>
                <a:lnTo>
                  <a:pt x="7442044" y="0"/>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j-lt"/>
              <a:ea typeface="Calibri"/>
              <a:cs typeface="Calibri"/>
              <a:sym typeface="Calibri"/>
            </a:endParaRPr>
          </a:p>
        </p:txBody>
      </p:sp>
      <p:sp>
        <p:nvSpPr>
          <p:cNvPr id="69" name="Google Shape;69;p4"/>
          <p:cNvSpPr txBox="1">
            <a:spLocks noGrp="1"/>
          </p:cNvSpPr>
          <p:nvPr>
            <p:ph type="body" idx="1"/>
          </p:nvPr>
        </p:nvSpPr>
        <p:spPr>
          <a:xfrm>
            <a:off x="1303624" y="1130300"/>
            <a:ext cx="10400695" cy="1859483"/>
          </a:xfrm>
          <a:prstGeom prst="rect">
            <a:avLst/>
          </a:prstGeom>
          <a:noFill/>
          <a:ln>
            <a:noFill/>
          </a:ln>
        </p:spPr>
        <p:txBody>
          <a:bodyPr spcFirstLastPara="1" wrap="square" lIns="0" tIns="12700" rIns="0" bIns="0" anchor="t" anchorCtr="0">
            <a:spAutoFit/>
          </a:bodyPr>
          <a:lstStyle/>
          <a:p>
            <a:pPr marL="4547870" marR="5080" lvl="0" indent="-193040" algn="l" rtl="0">
              <a:lnSpc>
                <a:spcPct val="100000"/>
              </a:lnSpc>
              <a:spcBef>
                <a:spcPts val="0"/>
              </a:spcBef>
              <a:spcAft>
                <a:spcPts val="0"/>
              </a:spcAft>
              <a:buSzPts val="1400"/>
              <a:buNone/>
            </a:pPr>
            <a:r>
              <a:rPr lang="en-US" dirty="0">
                <a:latin typeface="+mj-lt"/>
              </a:rPr>
              <a:t>One hidden layer  Neural Network</a:t>
            </a:r>
            <a:endParaRPr dirty="0">
              <a:latin typeface="+mj-lt"/>
            </a:endParaRPr>
          </a:p>
        </p:txBody>
      </p:sp>
      <p:sp>
        <p:nvSpPr>
          <p:cNvPr id="70" name="Google Shape;70;p4"/>
          <p:cNvSpPr txBox="1"/>
          <p:nvPr/>
        </p:nvSpPr>
        <p:spPr>
          <a:xfrm>
            <a:off x="5802541" y="3699287"/>
            <a:ext cx="4932680" cy="1674817"/>
          </a:xfrm>
          <a:prstGeom prst="rect">
            <a:avLst/>
          </a:prstGeom>
          <a:noFill/>
          <a:ln>
            <a:noFill/>
          </a:ln>
        </p:spPr>
        <p:txBody>
          <a:bodyPr spcFirstLastPara="1" wrap="square" lIns="0" tIns="12700" rIns="0" bIns="0" anchor="t" anchorCtr="0">
            <a:spAutoFit/>
          </a:bodyPr>
          <a:lstStyle/>
          <a:p>
            <a:pPr marL="104775" marR="5080" lvl="0" indent="-92710" algn="l" rtl="0">
              <a:lnSpc>
                <a:spcPct val="100000"/>
              </a:lnSpc>
              <a:spcBef>
                <a:spcPts val="0"/>
              </a:spcBef>
              <a:spcAft>
                <a:spcPts val="0"/>
              </a:spcAft>
              <a:buClr>
                <a:srgbClr val="000000"/>
              </a:buClr>
              <a:buSzPts val="6000"/>
              <a:buFont typeface="Arial"/>
              <a:buNone/>
            </a:pPr>
            <a:r>
              <a:rPr lang="en-US" sz="5400" b="0" i="0" u="none" strike="noStrike" cap="none" dirty="0">
                <a:solidFill>
                  <a:schemeClr val="dk1"/>
                </a:solidFill>
                <a:latin typeface="+mj-lt"/>
                <a:ea typeface="Calibri"/>
                <a:cs typeface="Calibri"/>
                <a:sym typeface="Calibri"/>
              </a:rPr>
              <a:t>Neural Network  Representation</a:t>
            </a:r>
            <a:endParaRPr sz="5400" b="0" i="0" u="none" strike="noStrike" cap="none" dirty="0">
              <a:solidFill>
                <a:schemeClr val="dk1"/>
              </a:solidFill>
              <a:latin typeface="+mj-lt"/>
              <a:ea typeface="Calibri"/>
              <a:cs typeface="Calibri"/>
              <a:sym typeface="Calibri"/>
            </a:endParaRPr>
          </a:p>
        </p:txBody>
      </p:sp>
      <p:pic>
        <p:nvPicPr>
          <p:cNvPr id="71" name="Google Shape;71;p4"/>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72" name="Google Shape;72;p4"/>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6</a:t>
            </a:fld>
            <a:endParaRPr>
              <a:latin typeface="+mj-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pic>
        <p:nvPicPr>
          <p:cNvPr id="62" name="Google Shape;62;p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63" name="Google Shape;63;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7</a:t>
            </a:fld>
            <a:endParaRPr>
              <a:latin typeface="+mj-lt"/>
            </a:endParaRPr>
          </a:p>
        </p:txBody>
      </p:sp>
      <p:sp>
        <p:nvSpPr>
          <p:cNvPr id="6" name="Google Shape;45;g20098e1d08f_0_0"/>
          <p:cNvSpPr txBox="1">
            <a:spLocks noGrp="1"/>
          </p:cNvSpPr>
          <p:nvPr>
            <p:ph type="body" idx="1"/>
          </p:nvPr>
        </p:nvSpPr>
        <p:spPr>
          <a:xfrm>
            <a:off x="85904" y="57762"/>
            <a:ext cx="9584700" cy="677108"/>
          </a:xfrm>
          <a:prstGeom prst="rect">
            <a:avLst/>
          </a:prstGeom>
          <a:noFill/>
          <a:ln>
            <a:noFill/>
          </a:ln>
        </p:spPr>
        <p:txBody>
          <a:bodyPr spcFirstLastPara="1" wrap="square" lIns="0" tIns="0" rIns="0" bIns="0" anchor="t" anchorCtr="0">
            <a:spAutoFit/>
          </a:bodyPr>
          <a:lstStyle/>
          <a:p>
            <a:pPr marL="0" lvl="0" indent="0" rtl="0">
              <a:lnSpc>
                <a:spcPct val="100000"/>
              </a:lnSpc>
              <a:spcBef>
                <a:spcPts val="0"/>
              </a:spcBef>
              <a:spcAft>
                <a:spcPts val="0"/>
              </a:spcAft>
              <a:buSzPts val="1400"/>
              <a:buNone/>
            </a:pPr>
            <a:r>
              <a:rPr lang="en-US" sz="4400" dirty="0">
                <a:latin typeface="+mj-lt"/>
              </a:rPr>
              <a:t>Neural Networks Representation</a:t>
            </a:r>
            <a:endParaRPr sz="4400" dirty="0">
              <a:latin typeface="+mj-lt"/>
            </a:endParaRPr>
          </a:p>
        </p:txBody>
      </p:sp>
      <p:sp>
        <p:nvSpPr>
          <p:cNvPr id="4" name="TextBox 3"/>
          <p:cNvSpPr txBox="1"/>
          <p:nvPr/>
        </p:nvSpPr>
        <p:spPr>
          <a:xfrm>
            <a:off x="5829480" y="2049707"/>
            <a:ext cx="6268736" cy="3046988"/>
          </a:xfrm>
          <a:prstGeom prst="rect">
            <a:avLst/>
          </a:prstGeom>
          <a:noFill/>
        </p:spPr>
        <p:txBody>
          <a:bodyPr wrap="square" rtlCol="0">
            <a:spAutoFit/>
          </a:bodyPr>
          <a:lstStyle/>
          <a:p>
            <a:pPr marL="342900" indent="-342900">
              <a:buFont typeface="Arial" panose="020B0604020202020204" pitchFamily="34" charset="0"/>
              <a:buChar char="•"/>
            </a:pPr>
            <a:r>
              <a:rPr lang="en-US" sz="2400" dirty="0" smtClean="0"/>
              <a:t>Consider a neural </a:t>
            </a:r>
            <a:r>
              <a:rPr lang="en-US" sz="2400" dirty="0"/>
              <a:t>n</a:t>
            </a:r>
            <a:r>
              <a:rPr lang="en-US" sz="2400" dirty="0" smtClean="0"/>
              <a:t>etwork </a:t>
            </a:r>
            <a:r>
              <a:rPr lang="en-US" sz="2400" dirty="0"/>
              <a:t>with one hidden layer and one output </a:t>
            </a:r>
            <a:r>
              <a:rPr lang="en-US" sz="2400" dirty="0" smtClean="0"/>
              <a:t>layer</a:t>
            </a:r>
          </a:p>
          <a:p>
            <a:pPr marL="342900" indent="-342900">
              <a:buFont typeface="Arial" panose="020B0604020202020204" pitchFamily="34" charset="0"/>
              <a:buChar char="•"/>
            </a:pPr>
            <a:r>
              <a:rPr lang="en-US" sz="2400" dirty="0" smtClean="0"/>
              <a:t>The </a:t>
            </a:r>
            <a:r>
              <a:rPr lang="en-US" sz="2400" dirty="0"/>
              <a:t>key components of a neural network are the input layer, the hidden layer, and the output </a:t>
            </a:r>
            <a:r>
              <a:rPr lang="en-US" sz="2400" dirty="0" smtClean="0"/>
              <a:t>layer.</a:t>
            </a:r>
          </a:p>
          <a:p>
            <a:pPr marL="342900" indent="-342900">
              <a:buFont typeface="Arial" panose="020B0604020202020204" pitchFamily="34" charset="0"/>
              <a:buChar char="•"/>
            </a:pPr>
            <a:r>
              <a:rPr lang="en-US" sz="2400" dirty="0" smtClean="0"/>
              <a:t>The </a:t>
            </a:r>
            <a:r>
              <a:rPr lang="en-US" sz="2400" dirty="0"/>
              <a:t>hidden layer is so-called because its values are not observed in the training </a:t>
            </a:r>
            <a:r>
              <a:rPr lang="en-US" sz="2400" dirty="0" smtClean="0"/>
              <a:t>set.</a:t>
            </a:r>
          </a:p>
        </p:txBody>
      </p:sp>
      <p:pic>
        <p:nvPicPr>
          <p:cNvPr id="2" name="Picture 1"/>
          <p:cNvPicPr>
            <a:picLocks noChangeAspect="1"/>
          </p:cNvPicPr>
          <p:nvPr/>
        </p:nvPicPr>
        <p:blipFill>
          <a:blip r:embed="rId4"/>
          <a:stretch>
            <a:fillRect/>
          </a:stretch>
        </p:blipFill>
        <p:spPr>
          <a:xfrm>
            <a:off x="85904" y="1490662"/>
            <a:ext cx="5743575" cy="4333875"/>
          </a:xfrm>
          <a:prstGeom prst="rect">
            <a:avLst/>
          </a:prstGeom>
        </p:spPr>
      </p:pic>
    </p:spTree>
    <p:extLst>
      <p:ext uri="{BB962C8B-B14F-4D97-AF65-F5344CB8AC3E}">
        <p14:creationId xmlns:p14="http://schemas.microsoft.com/office/powerpoint/2010/main" val="27056858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pic>
        <p:nvPicPr>
          <p:cNvPr id="62" name="Google Shape;62;p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63" name="Google Shape;63;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8</a:t>
            </a:fld>
            <a:endParaRPr>
              <a:latin typeface="+mj-lt"/>
            </a:endParaRPr>
          </a:p>
        </p:txBody>
      </p:sp>
      <p:sp>
        <p:nvSpPr>
          <p:cNvPr id="6" name="Google Shape;45;g20098e1d08f_0_0"/>
          <p:cNvSpPr txBox="1">
            <a:spLocks noGrp="1"/>
          </p:cNvSpPr>
          <p:nvPr>
            <p:ph type="body" idx="1"/>
          </p:nvPr>
        </p:nvSpPr>
        <p:spPr>
          <a:xfrm>
            <a:off x="85904" y="57762"/>
            <a:ext cx="9584700" cy="677108"/>
          </a:xfrm>
          <a:prstGeom prst="rect">
            <a:avLst/>
          </a:prstGeom>
          <a:noFill/>
          <a:ln>
            <a:noFill/>
          </a:ln>
        </p:spPr>
        <p:txBody>
          <a:bodyPr spcFirstLastPara="1" wrap="square" lIns="0" tIns="0" rIns="0" bIns="0" anchor="t" anchorCtr="0">
            <a:spAutoFit/>
          </a:bodyPr>
          <a:lstStyle/>
          <a:p>
            <a:pPr marL="0" lvl="0" indent="0"/>
            <a:r>
              <a:rPr lang="en-US" sz="4400" dirty="0">
                <a:latin typeface="+mj-lt"/>
              </a:rPr>
              <a:t>Neural Network  Representation</a:t>
            </a:r>
          </a:p>
        </p:txBody>
      </p:sp>
      <p:sp>
        <p:nvSpPr>
          <p:cNvPr id="42" name="Content Placeholder 2"/>
          <p:cNvSpPr txBox="1">
            <a:spLocks/>
          </p:cNvSpPr>
          <p:nvPr/>
        </p:nvSpPr>
        <p:spPr>
          <a:xfrm>
            <a:off x="936096" y="1018145"/>
            <a:ext cx="9584265" cy="307777"/>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60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r>
              <a:rPr lang="en-US" sz="2000" b="1" dirty="0">
                <a:latin typeface="+mj-lt"/>
              </a:rPr>
              <a:t>Elements of Neural Networks</a:t>
            </a:r>
            <a:r>
              <a:rPr lang="en-US" sz="2000" b="1" dirty="0" smtClean="0">
                <a:latin typeface="+mj-lt"/>
              </a:rPr>
              <a:t>:</a:t>
            </a:r>
          </a:p>
        </p:txBody>
      </p:sp>
      <mc:AlternateContent xmlns:mc="http://schemas.openxmlformats.org/markup-compatibility/2006" xmlns:a14="http://schemas.microsoft.com/office/drawing/2010/main">
        <mc:Choice Requires="a14">
          <p:sp>
            <p:nvSpPr>
              <p:cNvPr id="50" name="TextBox 49"/>
              <p:cNvSpPr txBox="1"/>
              <p:nvPr/>
            </p:nvSpPr>
            <p:spPr>
              <a:xfrm>
                <a:off x="5465039" y="2571415"/>
                <a:ext cx="5099729"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𝒉𝒊𝒅𝒅𝒆𝒏</m:t>
                      </m:r>
                      <m:r>
                        <a:rPr lang="en-US" sz="2000" b="1" i="1" smtClean="0">
                          <a:solidFill>
                            <a:schemeClr val="tx1"/>
                          </a:solidFill>
                          <a:latin typeface="Cambria Math" panose="02040503050406030204" pitchFamily="18" charset="0"/>
                        </a:rPr>
                        <m:t> </m:t>
                      </m:r>
                      <m:r>
                        <a:rPr lang="en-US" sz="2000" b="1" i="1" smtClean="0">
                          <a:solidFill>
                            <a:schemeClr val="tx1"/>
                          </a:solidFill>
                          <a:latin typeface="Cambria Math" panose="02040503050406030204" pitchFamily="18" charset="0"/>
                        </a:rPr>
                        <m:t>𝒍𝒂𝒚𝒆𝒓</m:t>
                      </m:r>
                      <m:r>
                        <a:rPr lang="en-US" sz="2000" b="1" i="1" smtClean="0">
                          <a:solidFill>
                            <a:schemeClr val="tx1"/>
                          </a:solidFill>
                          <a:latin typeface="Cambria Math" panose="02040503050406030204" pitchFamily="18" charset="0"/>
                        </a:rPr>
                        <m:t> </m:t>
                      </m:r>
                      <m:r>
                        <a:rPr lang="en-US" sz="2000" b="1" i="1">
                          <a:solidFill>
                            <a:schemeClr val="tx1"/>
                          </a:solidFill>
                          <a:latin typeface="Cambria Math" panose="02040503050406030204" pitchFamily="18" charset="0"/>
                        </a:rPr>
                        <m:t>𝒉</m:t>
                      </m:r>
                      <m:r>
                        <a:rPr lang="en-US" sz="2000" b="1" i="1">
                          <a:solidFill>
                            <a:schemeClr val="tx1"/>
                          </a:solidFill>
                          <a:latin typeface="Cambria Math" panose="02040503050406030204" pitchFamily="18" charset="0"/>
                        </a:rPr>
                        <m:t>=</m:t>
                      </m:r>
                      <m:r>
                        <a:rPr lang="el-GR" sz="2000" b="1" i="1">
                          <a:solidFill>
                            <a:schemeClr val="tx1"/>
                          </a:solidFill>
                          <a:latin typeface="Cambria Math" panose="02040503050406030204" pitchFamily="18" charset="0"/>
                        </a:rPr>
                        <m:t>𝝈</m:t>
                      </m:r>
                      <m:r>
                        <a:rPr lang="el-GR" sz="2000" b="1" i="1">
                          <a:solidFill>
                            <a:schemeClr val="tx1"/>
                          </a:solidFill>
                          <a:latin typeface="Cambria Math" panose="02040503050406030204" pitchFamily="18" charset="0"/>
                        </a:rPr>
                        <m:t>(</m:t>
                      </m:r>
                      <m:r>
                        <a:rPr lang="en-US" sz="2000" b="1" i="1" smtClean="0">
                          <a:solidFill>
                            <a:schemeClr val="tx1"/>
                          </a:solidFill>
                          <a:latin typeface="Cambria Math" panose="02040503050406030204" pitchFamily="18" charset="0"/>
                        </a:rPr>
                        <m:t>𝑾𝒙</m:t>
                      </m:r>
                      <m:r>
                        <a:rPr lang="en-US" sz="2000" b="1" i="1">
                          <a:solidFill>
                            <a:schemeClr val="tx1"/>
                          </a:solidFill>
                          <a:latin typeface="Cambria Math" panose="02040503050406030204" pitchFamily="18" charset="0"/>
                        </a:rPr>
                        <m:t>+</m:t>
                      </m:r>
                      <m:r>
                        <a:rPr lang="en-US" sz="2000" b="1" i="1" smtClean="0">
                          <a:solidFill>
                            <a:schemeClr val="tx1"/>
                          </a:solidFill>
                          <a:latin typeface="Cambria Math" panose="02040503050406030204" pitchFamily="18" charset="0"/>
                        </a:rPr>
                        <m:t>𝒃</m:t>
                      </m:r>
                      <m:r>
                        <a:rPr lang="en-US" sz="2000" b="1" i="1">
                          <a:solidFill>
                            <a:schemeClr val="tx1"/>
                          </a:solidFill>
                          <a:latin typeface="Cambria Math" panose="02040503050406030204" pitchFamily="18" charset="0"/>
                        </a:rPr>
                        <m:t>)</m:t>
                      </m:r>
                    </m:oMath>
                  </m:oMathPara>
                </a14:m>
                <a:endParaRPr lang="el-GR" sz="2000" b="1" dirty="0">
                  <a:solidFill>
                    <a:schemeClr val="tx1"/>
                  </a:solidFill>
                  <a:latin typeface="+mj-lt"/>
                </a:endParaRPr>
              </a:p>
            </p:txBody>
          </p:sp>
        </mc:Choice>
        <mc:Fallback xmlns="">
          <p:sp>
            <p:nvSpPr>
              <p:cNvPr id="50" name="TextBox 49"/>
              <p:cNvSpPr txBox="1">
                <a:spLocks noRot="1" noChangeAspect="1" noMove="1" noResize="1" noEditPoints="1" noAdjustHandles="1" noChangeArrowheads="1" noChangeShapeType="1" noTextEdit="1"/>
              </p:cNvSpPr>
              <p:nvPr/>
            </p:nvSpPr>
            <p:spPr>
              <a:xfrm>
                <a:off x="5465039" y="2571415"/>
                <a:ext cx="5099729" cy="307777"/>
              </a:xfrm>
              <a:prstGeom prst="rect">
                <a:avLst/>
              </a:prstGeom>
              <a:blipFill>
                <a:blip r:embed="rId4"/>
                <a:stretch>
                  <a:fillRect b="-4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p:cNvSpPr txBox="1"/>
              <p:nvPr/>
            </p:nvSpPr>
            <p:spPr>
              <a:xfrm>
                <a:off x="6133697" y="3240944"/>
                <a:ext cx="3457678"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𝒐𝒖𝒕𝒑𝒖𝒕</m:t>
                      </m:r>
                      <m:r>
                        <a:rPr lang="en-US" sz="2000" b="1" i="1" smtClean="0">
                          <a:solidFill>
                            <a:schemeClr val="tx1"/>
                          </a:solidFill>
                          <a:latin typeface="Cambria Math" panose="02040503050406030204" pitchFamily="18" charset="0"/>
                        </a:rPr>
                        <m:t> </m:t>
                      </m:r>
                      <m:r>
                        <a:rPr lang="en-US" sz="2000" b="1" i="1" smtClean="0">
                          <a:solidFill>
                            <a:schemeClr val="tx1"/>
                          </a:solidFill>
                          <a:latin typeface="Cambria Math" panose="02040503050406030204" pitchFamily="18" charset="0"/>
                        </a:rPr>
                        <m:t>𝒍𝒂𝒚𝒆𝒓</m:t>
                      </m:r>
                      <m:r>
                        <a:rPr lang="en-US" sz="2000" b="1" i="1" smtClean="0">
                          <a:solidFill>
                            <a:schemeClr val="tx1"/>
                          </a:solidFill>
                          <a:latin typeface="Cambria Math" panose="02040503050406030204" pitchFamily="18" charset="0"/>
                        </a:rPr>
                        <m:t> </m:t>
                      </m:r>
                      <m:r>
                        <a:rPr lang="en-US" sz="2000" b="1" i="1">
                          <a:solidFill>
                            <a:schemeClr val="tx1"/>
                          </a:solidFill>
                          <a:latin typeface="Cambria Math" panose="02040503050406030204" pitchFamily="18" charset="0"/>
                        </a:rPr>
                        <m:t>𝒚</m:t>
                      </m:r>
                      <m:r>
                        <a:rPr lang="en-US" sz="2000" b="1" i="1">
                          <a:solidFill>
                            <a:schemeClr val="tx1"/>
                          </a:solidFill>
                          <a:latin typeface="Cambria Math" panose="02040503050406030204" pitchFamily="18" charset="0"/>
                        </a:rPr>
                        <m:t>=</m:t>
                      </m:r>
                      <m:r>
                        <a:rPr lang="el-GR" sz="2000" b="1" i="1">
                          <a:solidFill>
                            <a:schemeClr val="tx1"/>
                          </a:solidFill>
                          <a:latin typeface="Cambria Math" panose="02040503050406030204" pitchFamily="18" charset="0"/>
                        </a:rPr>
                        <m:t>𝝈</m:t>
                      </m:r>
                      <m:r>
                        <a:rPr lang="el-GR" sz="2000" b="1" i="1">
                          <a:solidFill>
                            <a:schemeClr val="tx1"/>
                          </a:solidFill>
                          <a:latin typeface="Cambria Math" panose="02040503050406030204" pitchFamily="18" charset="0"/>
                        </a:rPr>
                        <m:t>(</m:t>
                      </m:r>
                      <m:r>
                        <a:rPr lang="en-US" sz="2000" b="1" i="1" smtClean="0">
                          <a:solidFill>
                            <a:schemeClr val="tx1"/>
                          </a:solidFill>
                          <a:latin typeface="Cambria Math" panose="02040503050406030204" pitchFamily="18" charset="0"/>
                        </a:rPr>
                        <m:t>𝑾</m:t>
                      </m:r>
                      <m:r>
                        <a:rPr lang="en-US" sz="2000" b="1" i="1">
                          <a:solidFill>
                            <a:schemeClr val="tx1"/>
                          </a:solidFill>
                          <a:latin typeface="Cambria Math" panose="02040503050406030204" pitchFamily="18" charset="0"/>
                        </a:rPr>
                        <m:t>𝒉</m:t>
                      </m:r>
                      <m:r>
                        <a:rPr lang="en-US" sz="2000" b="1" i="1">
                          <a:solidFill>
                            <a:schemeClr val="tx1"/>
                          </a:solidFill>
                          <a:latin typeface="Cambria Math" panose="02040503050406030204" pitchFamily="18" charset="0"/>
                        </a:rPr>
                        <m:t>+</m:t>
                      </m:r>
                      <m:r>
                        <a:rPr lang="en-US" sz="2000" b="1" i="1" smtClean="0">
                          <a:solidFill>
                            <a:schemeClr val="tx1"/>
                          </a:solidFill>
                          <a:latin typeface="Cambria Math" panose="02040503050406030204" pitchFamily="18" charset="0"/>
                        </a:rPr>
                        <m:t>𝒃</m:t>
                      </m:r>
                      <m:r>
                        <a:rPr lang="en-US" sz="2000" b="1" i="1">
                          <a:solidFill>
                            <a:schemeClr val="tx1"/>
                          </a:solidFill>
                          <a:latin typeface="Cambria Math" panose="02040503050406030204" pitchFamily="18" charset="0"/>
                        </a:rPr>
                        <m:t>)</m:t>
                      </m:r>
                    </m:oMath>
                  </m:oMathPara>
                </a14:m>
                <a:endParaRPr lang="el-GR" sz="2000" b="1" dirty="0">
                  <a:solidFill>
                    <a:schemeClr val="tx1"/>
                  </a:solidFill>
                  <a:latin typeface="+mj-lt"/>
                </a:endParaRPr>
              </a:p>
            </p:txBody>
          </p:sp>
        </mc:Choice>
        <mc:Fallback xmlns="">
          <p:sp>
            <p:nvSpPr>
              <p:cNvPr id="51" name="TextBox 50"/>
              <p:cNvSpPr txBox="1">
                <a:spLocks noRot="1" noChangeAspect="1" noMove="1" noResize="1" noEditPoints="1" noAdjustHandles="1" noChangeArrowheads="1" noChangeShapeType="1" noTextEdit="1"/>
              </p:cNvSpPr>
              <p:nvPr/>
            </p:nvSpPr>
            <p:spPr>
              <a:xfrm>
                <a:off x="6133697" y="3240944"/>
                <a:ext cx="3457678" cy="307777"/>
              </a:xfrm>
              <a:prstGeom prst="rect">
                <a:avLst/>
              </a:prstGeom>
              <a:blipFill>
                <a:blip r:embed="rId5"/>
                <a:stretch>
                  <a:fillRect l="-1764" r="-2116" b="-40000"/>
                </a:stretch>
              </a:blipFill>
            </p:spPr>
            <p:txBody>
              <a:bodyPr/>
              <a:lstStyle/>
              <a:p>
                <a:r>
                  <a:rPr lang="en-US">
                    <a:noFill/>
                  </a:rPr>
                  <a:t> </a:t>
                </a:r>
              </a:p>
            </p:txBody>
          </p:sp>
        </mc:Fallback>
      </mc:AlternateContent>
      <p:grpSp>
        <p:nvGrpSpPr>
          <p:cNvPr id="52" name="Group 51"/>
          <p:cNvGrpSpPr/>
          <p:nvPr/>
        </p:nvGrpSpPr>
        <p:grpSpPr>
          <a:xfrm>
            <a:off x="7218387" y="1675456"/>
            <a:ext cx="2727406" cy="1540306"/>
            <a:chOff x="5726611" y="2799072"/>
            <a:chExt cx="2732725" cy="1540306"/>
          </a:xfrm>
        </p:grpSpPr>
        <p:sp>
          <p:nvSpPr>
            <p:cNvPr id="53" name="Ορθογώνιο 17"/>
            <p:cNvSpPr/>
            <p:nvPr/>
          </p:nvSpPr>
          <p:spPr>
            <a:xfrm>
              <a:off x="5726611" y="2824561"/>
              <a:ext cx="1208131" cy="431978"/>
            </a:xfrm>
            <a:prstGeom prst="rect">
              <a:avLst/>
            </a:prstGeom>
          </p:spPr>
          <p:txBody>
            <a:bodyPr wrap="none">
              <a:spAutoFit/>
            </a:bodyPr>
            <a:lstStyle/>
            <a:p>
              <a:r>
                <a:rPr lang="en-US" sz="2207" dirty="0">
                  <a:latin typeface="+mj-lt"/>
                </a:rPr>
                <a:t>Weights</a:t>
              </a:r>
            </a:p>
          </p:txBody>
        </p:sp>
        <p:cxnSp>
          <p:nvCxnSpPr>
            <p:cNvPr id="54" name="Ευθύγραμμο βέλος σύνδεσης 20"/>
            <p:cNvCxnSpPr>
              <a:stCxn id="53" idx="2"/>
            </p:cNvCxnSpPr>
            <p:nvPr/>
          </p:nvCxnSpPr>
          <p:spPr>
            <a:xfrm>
              <a:off x="6330677" y="3256539"/>
              <a:ext cx="838861" cy="43850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5" name="Ευθύγραμμο βέλος σύνδεσης 22"/>
            <p:cNvCxnSpPr>
              <a:stCxn id="53" idx="2"/>
            </p:cNvCxnSpPr>
            <p:nvPr/>
          </p:nvCxnSpPr>
          <p:spPr>
            <a:xfrm>
              <a:off x="6330677" y="3256539"/>
              <a:ext cx="838861" cy="10828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6" name="Ορθογώνιο 17"/>
            <p:cNvSpPr/>
            <p:nvPr/>
          </p:nvSpPr>
          <p:spPr>
            <a:xfrm>
              <a:off x="7424667" y="2799072"/>
              <a:ext cx="1034669" cy="431978"/>
            </a:xfrm>
            <a:prstGeom prst="rect">
              <a:avLst/>
            </a:prstGeom>
          </p:spPr>
          <p:txBody>
            <a:bodyPr wrap="none">
              <a:spAutoFit/>
            </a:bodyPr>
            <a:lstStyle/>
            <a:p>
              <a:r>
                <a:rPr lang="en-US" sz="2207" dirty="0">
                  <a:latin typeface="+mj-lt"/>
                </a:rPr>
                <a:t>Biases</a:t>
              </a:r>
            </a:p>
          </p:txBody>
        </p:sp>
        <p:cxnSp>
          <p:nvCxnSpPr>
            <p:cNvPr id="57" name="Ευθύγραμμο βέλος σύνδεσης 20"/>
            <p:cNvCxnSpPr>
              <a:stCxn id="56" idx="2"/>
            </p:cNvCxnSpPr>
            <p:nvPr/>
          </p:nvCxnSpPr>
          <p:spPr>
            <a:xfrm>
              <a:off x="7942002" y="3231050"/>
              <a:ext cx="147878" cy="4446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8" name="Ευθύγραμμο βέλος σύνδεσης 20"/>
            <p:cNvCxnSpPr>
              <a:stCxn id="56" idx="2"/>
            </p:cNvCxnSpPr>
            <p:nvPr/>
          </p:nvCxnSpPr>
          <p:spPr>
            <a:xfrm flipH="1">
              <a:off x="7920118" y="3231050"/>
              <a:ext cx="21884" cy="9434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59" name="Group 58"/>
          <p:cNvGrpSpPr/>
          <p:nvPr/>
        </p:nvGrpSpPr>
        <p:grpSpPr>
          <a:xfrm>
            <a:off x="6878618" y="3039226"/>
            <a:ext cx="2618024" cy="1143191"/>
            <a:chOff x="5637119" y="3866249"/>
            <a:chExt cx="2618024" cy="1143191"/>
          </a:xfrm>
        </p:grpSpPr>
        <p:sp>
          <p:nvSpPr>
            <p:cNvPr id="60" name="Ορθογώνιο 18"/>
            <p:cNvSpPr/>
            <p:nvPr/>
          </p:nvSpPr>
          <p:spPr>
            <a:xfrm>
              <a:off x="5637119" y="4577462"/>
              <a:ext cx="2618024" cy="431978"/>
            </a:xfrm>
            <a:prstGeom prst="rect">
              <a:avLst/>
            </a:prstGeom>
          </p:spPr>
          <p:txBody>
            <a:bodyPr wrap="none">
              <a:spAutoFit/>
            </a:bodyPr>
            <a:lstStyle/>
            <a:p>
              <a:r>
                <a:rPr lang="en-US" sz="2207" dirty="0">
                  <a:latin typeface="+mj-lt"/>
                </a:rPr>
                <a:t>Activation functions</a:t>
              </a:r>
            </a:p>
          </p:txBody>
        </p:sp>
        <p:cxnSp>
          <p:nvCxnSpPr>
            <p:cNvPr id="61" name="Ευθύγραμμο βέλος σύνδεσης 24"/>
            <p:cNvCxnSpPr/>
            <p:nvPr/>
          </p:nvCxnSpPr>
          <p:spPr>
            <a:xfrm flipV="1">
              <a:off x="6857276" y="4375163"/>
              <a:ext cx="234863" cy="3092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4" name="Ευθύγραμμο βέλος σύνδεσης 26"/>
            <p:cNvCxnSpPr/>
            <p:nvPr/>
          </p:nvCxnSpPr>
          <p:spPr>
            <a:xfrm flipV="1">
              <a:off x="6857276" y="3866249"/>
              <a:ext cx="302368" cy="8268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3" name="Group 2"/>
          <p:cNvGrpSpPr/>
          <p:nvPr/>
        </p:nvGrpSpPr>
        <p:grpSpPr>
          <a:xfrm>
            <a:off x="85904" y="1490662"/>
            <a:ext cx="5743575" cy="4764368"/>
            <a:chOff x="85904" y="1490662"/>
            <a:chExt cx="5743575" cy="4764368"/>
          </a:xfrm>
        </p:grpSpPr>
        <p:grpSp>
          <p:nvGrpSpPr>
            <p:cNvPr id="2" name="Group 1"/>
            <p:cNvGrpSpPr/>
            <p:nvPr/>
          </p:nvGrpSpPr>
          <p:grpSpPr>
            <a:xfrm>
              <a:off x="325549" y="5824537"/>
              <a:ext cx="4081402" cy="430493"/>
              <a:chOff x="325549" y="5824537"/>
              <a:chExt cx="4081402" cy="430493"/>
            </a:xfrm>
          </p:grpSpPr>
          <mc:AlternateContent xmlns:mc="http://schemas.openxmlformats.org/markup-compatibility/2006" xmlns:a14="http://schemas.microsoft.com/office/drawing/2010/main">
            <mc:Choice Requires="a14">
              <p:sp>
                <p:nvSpPr>
                  <p:cNvPr id="49" name="Ορθογώνιο 15"/>
                  <p:cNvSpPr/>
                  <p:nvPr/>
                </p:nvSpPr>
                <p:spPr>
                  <a:xfrm>
                    <a:off x="325549" y="5854920"/>
                    <a:ext cx="948401" cy="400110"/>
                  </a:xfrm>
                  <a:prstGeom prst="rect">
                    <a:avLst/>
                  </a:prstGeom>
                </p:spPr>
                <p:txBody>
                  <a:bodyPr wrap="none">
                    <a:spAutoFit/>
                  </a:bodyPr>
                  <a:lstStyle/>
                  <a:p>
                    <a:r>
                      <a:rPr lang="en-US" sz="2000" b="1" dirty="0" smtClean="0">
                        <a:solidFill>
                          <a:schemeClr val="tx1"/>
                        </a:solidFill>
                      </a:rPr>
                      <a:t>a</a:t>
                    </a:r>
                    <a:r>
                      <a:rPr lang="en-US" sz="2000" b="1" baseline="30000" dirty="0" smtClean="0">
                        <a:solidFill>
                          <a:schemeClr val="tx1"/>
                        </a:solidFill>
                      </a:rPr>
                      <a:t>[0]</a:t>
                    </a:r>
                    <a14:m>
                      <m:oMath xmlns:m="http://schemas.openxmlformats.org/officeDocument/2006/math">
                        <m:r>
                          <a:rPr lang="en-US" sz="2000" b="1" i="0" smtClean="0">
                            <a:solidFill>
                              <a:schemeClr val="tx1"/>
                            </a:solidFill>
                            <a:latin typeface="Cambria Math" panose="02040503050406030204" pitchFamily="18" charset="0"/>
                          </a:rPr>
                          <m:t>=</m:t>
                        </m:r>
                        <m:r>
                          <a:rPr lang="en-US" sz="2000" b="1" i="1" smtClean="0">
                            <a:solidFill>
                              <a:schemeClr val="tx1"/>
                            </a:solidFill>
                            <a:latin typeface="Cambria Math" panose="02040503050406030204" pitchFamily="18" charset="0"/>
                          </a:rPr>
                          <m:t>𝒙</m:t>
                        </m:r>
                      </m:oMath>
                    </a14:m>
                    <a:endParaRPr lang="el-GR" b="1" dirty="0">
                      <a:solidFill>
                        <a:schemeClr val="tx1"/>
                      </a:solidFill>
                      <a:latin typeface="+mj-lt"/>
                    </a:endParaRPr>
                  </a:p>
                </p:txBody>
              </p:sp>
            </mc:Choice>
            <mc:Fallback xmlns="">
              <p:sp>
                <p:nvSpPr>
                  <p:cNvPr id="49" name="Ορθογώνιο 15"/>
                  <p:cNvSpPr>
                    <a:spLocks noRot="1" noChangeAspect="1" noMove="1" noResize="1" noEditPoints="1" noAdjustHandles="1" noChangeArrowheads="1" noChangeShapeType="1" noTextEdit="1"/>
                  </p:cNvSpPr>
                  <p:nvPr/>
                </p:nvSpPr>
                <p:spPr>
                  <a:xfrm>
                    <a:off x="325549" y="5854920"/>
                    <a:ext cx="948401" cy="400110"/>
                  </a:xfrm>
                  <a:prstGeom prst="rect">
                    <a:avLst/>
                  </a:prstGeom>
                  <a:blipFill>
                    <a:blip r:embed="rId6"/>
                    <a:stretch>
                      <a:fillRect l="-6410" t="-6061" b="-2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Ορθογώνιο 14"/>
                  <p:cNvSpPr/>
                  <p:nvPr/>
                </p:nvSpPr>
                <p:spPr>
                  <a:xfrm>
                    <a:off x="3476183" y="5824537"/>
                    <a:ext cx="930768" cy="400110"/>
                  </a:xfrm>
                  <a:prstGeom prst="rect">
                    <a:avLst/>
                  </a:prstGeom>
                </p:spPr>
                <p:txBody>
                  <a:bodyPr wrap="none">
                    <a:spAutoFit/>
                  </a:bodyPr>
                  <a:lstStyle/>
                  <a:p>
                    <a:r>
                      <a:rPr lang="en-US" sz="2000" b="1" dirty="0" smtClean="0">
                        <a:solidFill>
                          <a:schemeClr val="tx1"/>
                        </a:solidFill>
                      </a:rPr>
                      <a:t>a</a:t>
                    </a:r>
                    <a:r>
                      <a:rPr lang="en-US" sz="2000" b="1" baseline="30000" dirty="0" smtClean="0">
                        <a:solidFill>
                          <a:schemeClr val="tx1"/>
                        </a:solidFill>
                      </a:rPr>
                      <a:t>[2]</a:t>
                    </a:r>
                    <a14:m>
                      <m:oMath xmlns:m="http://schemas.openxmlformats.org/officeDocument/2006/math">
                        <m:r>
                          <a:rPr lang="en-US" sz="2000" b="1" i="0" smtClean="0">
                            <a:solidFill>
                              <a:schemeClr val="tx1"/>
                            </a:solidFill>
                            <a:latin typeface="Cambria Math" panose="02040503050406030204" pitchFamily="18" charset="0"/>
                          </a:rPr>
                          <m:t>=</m:t>
                        </m:r>
                        <m:r>
                          <a:rPr lang="cy-GB" sz="2000" b="1" i="1">
                            <a:solidFill>
                              <a:schemeClr val="tx1"/>
                            </a:solidFill>
                            <a:latin typeface="Cambria Math" panose="02040503050406030204" pitchFamily="18" charset="0"/>
                          </a:rPr>
                          <m:t>ŷ</m:t>
                        </m:r>
                      </m:oMath>
                    </a14:m>
                    <a:endParaRPr lang="el-GR" sz="2000" b="1" dirty="0">
                      <a:solidFill>
                        <a:schemeClr val="tx1"/>
                      </a:solidFill>
                    </a:endParaRPr>
                  </a:p>
                </p:txBody>
              </p:sp>
            </mc:Choice>
            <mc:Fallback xmlns="">
              <p:sp>
                <p:nvSpPr>
                  <p:cNvPr id="48" name="Ορθογώνιο 14"/>
                  <p:cNvSpPr>
                    <a:spLocks noRot="1" noChangeAspect="1" noMove="1" noResize="1" noEditPoints="1" noAdjustHandles="1" noChangeArrowheads="1" noChangeShapeType="1" noTextEdit="1"/>
                  </p:cNvSpPr>
                  <p:nvPr/>
                </p:nvSpPr>
                <p:spPr>
                  <a:xfrm>
                    <a:off x="3476183" y="5824537"/>
                    <a:ext cx="930768" cy="400110"/>
                  </a:xfrm>
                  <a:prstGeom prst="rect">
                    <a:avLst/>
                  </a:prstGeom>
                  <a:blipFill>
                    <a:blip r:embed="rId7"/>
                    <a:stretch>
                      <a:fillRect l="-6536" t="-6061" r="-1961" b="-2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p:cNvSpPr txBox="1"/>
                  <p:nvPr/>
                </p:nvSpPr>
                <p:spPr>
                  <a:xfrm>
                    <a:off x="1994863" y="5854920"/>
                    <a:ext cx="962828" cy="400110"/>
                  </a:xfrm>
                  <a:prstGeom prst="rect">
                    <a:avLst/>
                  </a:prstGeom>
                  <a:noFill/>
                </p:spPr>
                <p:txBody>
                  <a:bodyPr wrap="none" rtlCol="0">
                    <a:spAutoFit/>
                  </a:bodyPr>
                  <a:lstStyle/>
                  <a:p>
                    <a:r>
                      <a:rPr lang="en-US" sz="2000" b="1" dirty="0" smtClean="0">
                        <a:solidFill>
                          <a:schemeClr val="tx1"/>
                        </a:solidFill>
                      </a:rPr>
                      <a:t>a</a:t>
                    </a:r>
                    <a:r>
                      <a:rPr lang="en-US" sz="2000" b="1" baseline="30000" dirty="0" smtClean="0">
                        <a:solidFill>
                          <a:schemeClr val="tx1"/>
                        </a:solidFill>
                      </a:rPr>
                      <a:t>[1]</a:t>
                    </a:r>
                    <a14:m>
                      <m:oMath xmlns:m="http://schemas.openxmlformats.org/officeDocument/2006/math">
                        <m:r>
                          <a:rPr lang="en-US" sz="2000" b="1" i="0" smtClean="0">
                            <a:solidFill>
                              <a:schemeClr val="tx1"/>
                            </a:solidFill>
                            <a:latin typeface="Cambria Math" panose="02040503050406030204" pitchFamily="18" charset="0"/>
                          </a:rPr>
                          <m:t>=</m:t>
                        </m:r>
                        <m:r>
                          <a:rPr lang="en-US" sz="2000" b="1" i="1" smtClean="0">
                            <a:solidFill>
                              <a:schemeClr val="tx1"/>
                            </a:solidFill>
                            <a:latin typeface="Cambria Math" panose="02040503050406030204" pitchFamily="18" charset="0"/>
                          </a:rPr>
                          <m:t>𝒉</m:t>
                        </m:r>
                      </m:oMath>
                    </a14:m>
                    <a:endParaRPr lang="el-GR" sz="2000" b="1" dirty="0">
                      <a:solidFill>
                        <a:schemeClr val="tx1"/>
                      </a:solidFill>
                      <a:latin typeface="+mj-lt"/>
                    </a:endParaRPr>
                  </a:p>
                </p:txBody>
              </p:sp>
            </mc:Choice>
            <mc:Fallback xmlns="">
              <p:sp>
                <p:nvSpPr>
                  <p:cNvPr id="47" name="TextBox 46"/>
                  <p:cNvSpPr txBox="1">
                    <a:spLocks noRot="1" noChangeAspect="1" noMove="1" noResize="1" noEditPoints="1" noAdjustHandles="1" noChangeArrowheads="1" noChangeShapeType="1" noTextEdit="1"/>
                  </p:cNvSpPr>
                  <p:nvPr/>
                </p:nvSpPr>
                <p:spPr>
                  <a:xfrm>
                    <a:off x="1994863" y="5854920"/>
                    <a:ext cx="962828" cy="400110"/>
                  </a:xfrm>
                  <a:prstGeom prst="rect">
                    <a:avLst/>
                  </a:prstGeom>
                  <a:blipFill>
                    <a:blip r:embed="rId8"/>
                    <a:stretch>
                      <a:fillRect l="-6329" t="-6061" b="-27273"/>
                    </a:stretch>
                  </a:blipFill>
                </p:spPr>
                <p:txBody>
                  <a:bodyPr/>
                  <a:lstStyle/>
                  <a:p>
                    <a:r>
                      <a:rPr lang="en-US">
                        <a:noFill/>
                      </a:rPr>
                      <a:t> </a:t>
                    </a:r>
                  </a:p>
                </p:txBody>
              </p:sp>
            </mc:Fallback>
          </mc:AlternateContent>
        </p:grpSp>
        <p:pic>
          <p:nvPicPr>
            <p:cNvPr id="30" name="Picture 29"/>
            <p:cNvPicPr>
              <a:picLocks noChangeAspect="1"/>
            </p:cNvPicPr>
            <p:nvPr/>
          </p:nvPicPr>
          <p:blipFill>
            <a:blip r:embed="rId9"/>
            <a:stretch>
              <a:fillRect/>
            </a:stretch>
          </p:blipFill>
          <p:spPr>
            <a:xfrm>
              <a:off x="85904" y="1490662"/>
              <a:ext cx="5743575" cy="4333875"/>
            </a:xfrm>
            <a:prstGeom prst="rect">
              <a:avLst/>
            </a:prstGeom>
          </p:spPr>
        </p:pic>
      </p:grpSp>
    </p:spTree>
    <p:extLst>
      <p:ext uri="{BB962C8B-B14F-4D97-AF65-F5344CB8AC3E}">
        <p14:creationId xmlns:p14="http://schemas.microsoft.com/office/powerpoint/2010/main" val="1428214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mod="1">
    <p:ext uri="{6950BFC3-D8DA-4A85-94F7-54DA5524770B}">
      <p188:commentRel xmlns:p188="http://schemas.microsoft.com/office/powerpoint/2018/8/main" xmlns="" r:id="rId11"/>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pic>
        <p:nvPicPr>
          <p:cNvPr id="62" name="Google Shape;62;p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63" name="Google Shape;63;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9</a:t>
            </a:fld>
            <a:endParaRPr>
              <a:latin typeface="+mj-lt"/>
            </a:endParaRPr>
          </a:p>
        </p:txBody>
      </p:sp>
      <p:sp>
        <p:nvSpPr>
          <p:cNvPr id="6" name="Google Shape;45;g20098e1d08f_0_0"/>
          <p:cNvSpPr txBox="1">
            <a:spLocks noGrp="1"/>
          </p:cNvSpPr>
          <p:nvPr>
            <p:ph type="body" idx="1"/>
          </p:nvPr>
        </p:nvSpPr>
        <p:spPr>
          <a:xfrm>
            <a:off x="85904" y="57762"/>
            <a:ext cx="9584700" cy="677108"/>
          </a:xfrm>
          <a:prstGeom prst="rect">
            <a:avLst/>
          </a:prstGeom>
          <a:noFill/>
          <a:ln>
            <a:noFill/>
          </a:ln>
        </p:spPr>
        <p:txBody>
          <a:bodyPr spcFirstLastPara="1" wrap="square" lIns="0" tIns="0" rIns="0" bIns="0" anchor="t" anchorCtr="0">
            <a:spAutoFit/>
          </a:bodyPr>
          <a:lstStyle/>
          <a:p>
            <a:pPr marL="0" lvl="0" indent="0" rtl="0">
              <a:lnSpc>
                <a:spcPct val="100000"/>
              </a:lnSpc>
              <a:spcBef>
                <a:spcPts val="0"/>
              </a:spcBef>
              <a:spcAft>
                <a:spcPts val="0"/>
              </a:spcAft>
              <a:buSzPts val="1400"/>
              <a:buNone/>
            </a:pPr>
            <a:r>
              <a:rPr lang="en-US" sz="4400" dirty="0">
                <a:latin typeface="+mj-lt"/>
              </a:rPr>
              <a:t>Neural Networks Representation</a:t>
            </a:r>
            <a:endParaRPr sz="4400" dirty="0">
              <a:latin typeface="+mj-lt"/>
            </a:endParaRPr>
          </a:p>
        </p:txBody>
      </p:sp>
      <p:sp>
        <p:nvSpPr>
          <p:cNvPr id="4" name="TextBox 3"/>
          <p:cNvSpPr txBox="1"/>
          <p:nvPr/>
        </p:nvSpPr>
        <p:spPr>
          <a:xfrm>
            <a:off x="5829480" y="1786684"/>
            <a:ext cx="6259944" cy="3908762"/>
          </a:xfrm>
          <a:prstGeom prst="rect">
            <a:avLst/>
          </a:prstGeom>
          <a:noFill/>
        </p:spPr>
        <p:txBody>
          <a:bodyPr wrap="square" rtlCol="0">
            <a:spAutoFit/>
          </a:bodyPr>
          <a:lstStyle/>
          <a:p>
            <a:pPr marL="342900" indent="-342900">
              <a:buFont typeface="Arial" panose="020B0604020202020204" pitchFamily="34" charset="0"/>
              <a:buChar char="•"/>
            </a:pPr>
            <a:r>
              <a:rPr lang="en-US" sz="2400" dirty="0" smtClean="0"/>
              <a:t>Activations </a:t>
            </a:r>
            <a:r>
              <a:rPr lang="en-US" sz="2400" dirty="0"/>
              <a:t>are introduced as the values passed between </a:t>
            </a:r>
            <a:r>
              <a:rPr lang="en-US" sz="2400" dirty="0" smtClean="0"/>
              <a:t>layers:</a:t>
            </a:r>
          </a:p>
          <a:p>
            <a:pPr lvl="1"/>
            <a:r>
              <a:rPr lang="en-US" sz="2000" dirty="0"/>
              <a:t>	</a:t>
            </a:r>
            <a:r>
              <a:rPr lang="en-US" sz="2000" dirty="0" smtClean="0"/>
              <a:t>- </a:t>
            </a:r>
            <a:r>
              <a:rPr lang="en-US" sz="2000" dirty="0" smtClean="0">
                <a:solidFill>
                  <a:schemeClr val="tx1"/>
                </a:solidFill>
              </a:rPr>
              <a:t>a</a:t>
            </a:r>
            <a:r>
              <a:rPr lang="en-US" sz="2000" baseline="30000" dirty="0" smtClean="0">
                <a:solidFill>
                  <a:schemeClr val="tx1"/>
                </a:solidFill>
              </a:rPr>
              <a:t>[0]</a:t>
            </a:r>
            <a:r>
              <a:rPr lang="en-US" sz="2000" dirty="0">
                <a:solidFill>
                  <a:schemeClr val="tx1"/>
                </a:solidFill>
              </a:rPr>
              <a:t> </a:t>
            </a:r>
            <a:r>
              <a:rPr lang="en-US" sz="2000" dirty="0" smtClean="0">
                <a:solidFill>
                  <a:schemeClr val="tx1"/>
                </a:solidFill>
              </a:rPr>
              <a:t>represents </a:t>
            </a:r>
            <a:r>
              <a:rPr lang="en-US" sz="2000" dirty="0">
                <a:solidFill>
                  <a:schemeClr val="tx1"/>
                </a:solidFill>
              </a:rPr>
              <a:t>input </a:t>
            </a:r>
            <a:r>
              <a:rPr lang="en-US" sz="2000" dirty="0" smtClean="0">
                <a:solidFill>
                  <a:schemeClr val="tx1"/>
                </a:solidFill>
              </a:rPr>
              <a:t>features or layer 0</a:t>
            </a:r>
          </a:p>
          <a:p>
            <a:pPr lvl="1"/>
            <a:r>
              <a:rPr lang="en-US" sz="2000" dirty="0" smtClean="0">
                <a:solidFill>
                  <a:schemeClr val="tx1"/>
                </a:solidFill>
              </a:rPr>
              <a:t>	- a</a:t>
            </a:r>
            <a:r>
              <a:rPr lang="en-US" sz="2000" baseline="30000" dirty="0" smtClean="0">
                <a:solidFill>
                  <a:schemeClr val="tx1"/>
                </a:solidFill>
              </a:rPr>
              <a:t>[1]</a:t>
            </a:r>
            <a:r>
              <a:rPr lang="en-US" sz="2000" dirty="0" smtClean="0">
                <a:solidFill>
                  <a:schemeClr val="tx1"/>
                </a:solidFill>
              </a:rPr>
              <a:t> represents </a:t>
            </a:r>
            <a:r>
              <a:rPr lang="en-US" sz="2000" dirty="0">
                <a:solidFill>
                  <a:schemeClr val="tx1"/>
                </a:solidFill>
              </a:rPr>
              <a:t>the hidden layer </a:t>
            </a:r>
            <a:r>
              <a:rPr lang="en-US" sz="2000" dirty="0" smtClean="0">
                <a:solidFill>
                  <a:schemeClr val="tx1"/>
                </a:solidFill>
              </a:rPr>
              <a:t>activations 	or layer 1</a:t>
            </a:r>
          </a:p>
          <a:p>
            <a:pPr lvl="1"/>
            <a:r>
              <a:rPr lang="en-US" sz="2000" dirty="0" smtClean="0">
                <a:solidFill>
                  <a:schemeClr val="tx1"/>
                </a:solidFill>
              </a:rPr>
              <a:t>	- a</a:t>
            </a:r>
            <a:r>
              <a:rPr lang="en-US" sz="2000" baseline="30000" dirty="0" smtClean="0">
                <a:solidFill>
                  <a:schemeClr val="tx1"/>
                </a:solidFill>
              </a:rPr>
              <a:t>[2]</a:t>
            </a:r>
            <a:r>
              <a:rPr lang="en-US" sz="2000" dirty="0">
                <a:solidFill>
                  <a:schemeClr val="tx1"/>
                </a:solidFill>
              </a:rPr>
              <a:t> </a:t>
            </a:r>
            <a:r>
              <a:rPr lang="en-US" sz="2000" dirty="0" smtClean="0"/>
              <a:t>represents the output or layer 2. </a:t>
            </a:r>
          </a:p>
          <a:p>
            <a:pPr marL="342900" indent="-342900">
              <a:buFont typeface="Arial" panose="020B0604020202020204" pitchFamily="34" charset="0"/>
              <a:buChar char="•"/>
            </a:pPr>
            <a:r>
              <a:rPr lang="en-US" sz="2400" dirty="0" smtClean="0"/>
              <a:t>A </a:t>
            </a:r>
            <a:r>
              <a:rPr lang="en-US" sz="2400" dirty="0"/>
              <a:t>two-layer neural network refers to the number of layers excluding the input layer. The parameters associated with each layer (W and b), with their dimensions to be explained further in </a:t>
            </a:r>
            <a:r>
              <a:rPr lang="en-US" sz="2400" dirty="0" smtClean="0"/>
              <a:t>later </a:t>
            </a:r>
            <a:r>
              <a:rPr lang="en-US" sz="2400" dirty="0"/>
              <a:t>slides.</a:t>
            </a:r>
          </a:p>
        </p:txBody>
      </p:sp>
      <p:grpSp>
        <p:nvGrpSpPr>
          <p:cNvPr id="15" name="Group 14"/>
          <p:cNvGrpSpPr/>
          <p:nvPr/>
        </p:nvGrpSpPr>
        <p:grpSpPr>
          <a:xfrm>
            <a:off x="85904" y="1490662"/>
            <a:ext cx="5743575" cy="4764368"/>
            <a:chOff x="85904" y="1490662"/>
            <a:chExt cx="5743575" cy="4764368"/>
          </a:xfrm>
        </p:grpSpPr>
        <p:grpSp>
          <p:nvGrpSpPr>
            <p:cNvPr id="16" name="Group 15"/>
            <p:cNvGrpSpPr/>
            <p:nvPr/>
          </p:nvGrpSpPr>
          <p:grpSpPr>
            <a:xfrm>
              <a:off x="325549" y="5824537"/>
              <a:ext cx="4081402" cy="430493"/>
              <a:chOff x="325549" y="5824537"/>
              <a:chExt cx="4081402" cy="430493"/>
            </a:xfrm>
          </p:grpSpPr>
          <mc:AlternateContent xmlns:mc="http://schemas.openxmlformats.org/markup-compatibility/2006" xmlns:a14="http://schemas.microsoft.com/office/drawing/2010/main">
            <mc:Choice Requires="a14">
              <p:sp>
                <p:nvSpPr>
                  <p:cNvPr id="18" name="Ορθογώνιο 15"/>
                  <p:cNvSpPr/>
                  <p:nvPr/>
                </p:nvSpPr>
                <p:spPr>
                  <a:xfrm>
                    <a:off x="325549" y="5854920"/>
                    <a:ext cx="948401" cy="400110"/>
                  </a:xfrm>
                  <a:prstGeom prst="rect">
                    <a:avLst/>
                  </a:prstGeom>
                </p:spPr>
                <p:txBody>
                  <a:bodyPr wrap="none">
                    <a:spAutoFit/>
                  </a:bodyPr>
                  <a:lstStyle/>
                  <a:p>
                    <a:r>
                      <a:rPr lang="en-US" sz="2000" b="1" dirty="0" smtClean="0">
                        <a:solidFill>
                          <a:schemeClr val="tx1"/>
                        </a:solidFill>
                      </a:rPr>
                      <a:t>a</a:t>
                    </a:r>
                    <a:r>
                      <a:rPr lang="en-US" sz="2000" b="1" baseline="30000" dirty="0" smtClean="0">
                        <a:solidFill>
                          <a:schemeClr val="tx1"/>
                        </a:solidFill>
                      </a:rPr>
                      <a:t>[0]</a:t>
                    </a:r>
                    <a14:m>
                      <m:oMath xmlns:m="http://schemas.openxmlformats.org/officeDocument/2006/math">
                        <m:r>
                          <a:rPr lang="en-US" sz="2000" b="1" i="0" smtClean="0">
                            <a:solidFill>
                              <a:schemeClr val="tx1"/>
                            </a:solidFill>
                            <a:latin typeface="Cambria Math" panose="02040503050406030204" pitchFamily="18" charset="0"/>
                          </a:rPr>
                          <m:t>=</m:t>
                        </m:r>
                        <m:r>
                          <a:rPr lang="en-US" sz="2000" b="1" i="1" smtClean="0">
                            <a:solidFill>
                              <a:schemeClr val="tx1"/>
                            </a:solidFill>
                            <a:latin typeface="Cambria Math" panose="02040503050406030204" pitchFamily="18" charset="0"/>
                          </a:rPr>
                          <m:t>𝒙</m:t>
                        </m:r>
                      </m:oMath>
                    </a14:m>
                    <a:endParaRPr lang="el-GR" b="1" dirty="0">
                      <a:solidFill>
                        <a:schemeClr val="tx1"/>
                      </a:solidFill>
                      <a:latin typeface="+mj-lt"/>
                    </a:endParaRPr>
                  </a:p>
                </p:txBody>
              </p:sp>
            </mc:Choice>
            <mc:Fallback xmlns="">
              <p:sp>
                <p:nvSpPr>
                  <p:cNvPr id="18" name="Ορθογώνιο 15"/>
                  <p:cNvSpPr>
                    <a:spLocks noRot="1" noChangeAspect="1" noMove="1" noResize="1" noEditPoints="1" noAdjustHandles="1" noChangeArrowheads="1" noChangeShapeType="1" noTextEdit="1"/>
                  </p:cNvSpPr>
                  <p:nvPr/>
                </p:nvSpPr>
                <p:spPr>
                  <a:xfrm>
                    <a:off x="325549" y="5854920"/>
                    <a:ext cx="948401" cy="400110"/>
                  </a:xfrm>
                  <a:prstGeom prst="rect">
                    <a:avLst/>
                  </a:prstGeom>
                  <a:blipFill>
                    <a:blip r:embed="rId4"/>
                    <a:stretch>
                      <a:fillRect l="-6410" t="-6061" b="-2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Ορθογώνιο 14"/>
                  <p:cNvSpPr/>
                  <p:nvPr/>
                </p:nvSpPr>
                <p:spPr>
                  <a:xfrm>
                    <a:off x="3476183" y="5824537"/>
                    <a:ext cx="930768" cy="400110"/>
                  </a:xfrm>
                  <a:prstGeom prst="rect">
                    <a:avLst/>
                  </a:prstGeom>
                </p:spPr>
                <p:txBody>
                  <a:bodyPr wrap="none">
                    <a:spAutoFit/>
                  </a:bodyPr>
                  <a:lstStyle/>
                  <a:p>
                    <a:r>
                      <a:rPr lang="en-US" sz="2000" b="1" dirty="0" smtClean="0">
                        <a:solidFill>
                          <a:schemeClr val="tx1"/>
                        </a:solidFill>
                      </a:rPr>
                      <a:t>a</a:t>
                    </a:r>
                    <a:r>
                      <a:rPr lang="en-US" sz="2000" b="1" baseline="30000" dirty="0" smtClean="0">
                        <a:solidFill>
                          <a:schemeClr val="tx1"/>
                        </a:solidFill>
                      </a:rPr>
                      <a:t>[2]</a:t>
                    </a:r>
                    <a14:m>
                      <m:oMath xmlns:m="http://schemas.openxmlformats.org/officeDocument/2006/math">
                        <m:r>
                          <a:rPr lang="en-US" sz="2000" b="1" i="0" smtClean="0">
                            <a:solidFill>
                              <a:schemeClr val="tx1"/>
                            </a:solidFill>
                            <a:latin typeface="Cambria Math" panose="02040503050406030204" pitchFamily="18" charset="0"/>
                          </a:rPr>
                          <m:t>=</m:t>
                        </m:r>
                        <m:r>
                          <a:rPr lang="cy-GB" sz="2000" b="1" i="1">
                            <a:solidFill>
                              <a:schemeClr val="tx1"/>
                            </a:solidFill>
                            <a:latin typeface="Cambria Math" panose="02040503050406030204" pitchFamily="18" charset="0"/>
                          </a:rPr>
                          <m:t>ŷ</m:t>
                        </m:r>
                      </m:oMath>
                    </a14:m>
                    <a:endParaRPr lang="el-GR" sz="2000" b="1" dirty="0">
                      <a:solidFill>
                        <a:schemeClr val="tx1"/>
                      </a:solidFill>
                    </a:endParaRPr>
                  </a:p>
                </p:txBody>
              </p:sp>
            </mc:Choice>
            <mc:Fallback xmlns="">
              <p:sp>
                <p:nvSpPr>
                  <p:cNvPr id="19" name="Ορθογώνιο 14"/>
                  <p:cNvSpPr>
                    <a:spLocks noRot="1" noChangeAspect="1" noMove="1" noResize="1" noEditPoints="1" noAdjustHandles="1" noChangeArrowheads="1" noChangeShapeType="1" noTextEdit="1"/>
                  </p:cNvSpPr>
                  <p:nvPr/>
                </p:nvSpPr>
                <p:spPr>
                  <a:xfrm>
                    <a:off x="3476183" y="5824537"/>
                    <a:ext cx="930768" cy="400110"/>
                  </a:xfrm>
                  <a:prstGeom prst="rect">
                    <a:avLst/>
                  </a:prstGeom>
                  <a:blipFill>
                    <a:blip r:embed="rId5"/>
                    <a:stretch>
                      <a:fillRect l="-6536" t="-6061" r="-1961" b="-2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1994863" y="5854920"/>
                    <a:ext cx="962828" cy="400110"/>
                  </a:xfrm>
                  <a:prstGeom prst="rect">
                    <a:avLst/>
                  </a:prstGeom>
                  <a:noFill/>
                </p:spPr>
                <p:txBody>
                  <a:bodyPr wrap="none" rtlCol="0">
                    <a:spAutoFit/>
                  </a:bodyPr>
                  <a:lstStyle/>
                  <a:p>
                    <a:r>
                      <a:rPr lang="en-US" sz="2000" b="1" dirty="0" smtClean="0">
                        <a:solidFill>
                          <a:schemeClr val="tx1"/>
                        </a:solidFill>
                      </a:rPr>
                      <a:t>a</a:t>
                    </a:r>
                    <a:r>
                      <a:rPr lang="en-US" sz="2000" b="1" baseline="30000" dirty="0" smtClean="0">
                        <a:solidFill>
                          <a:schemeClr val="tx1"/>
                        </a:solidFill>
                      </a:rPr>
                      <a:t>[1]</a:t>
                    </a:r>
                    <a14:m>
                      <m:oMath xmlns:m="http://schemas.openxmlformats.org/officeDocument/2006/math">
                        <m:r>
                          <a:rPr lang="en-US" sz="2000" b="1" i="0" smtClean="0">
                            <a:solidFill>
                              <a:schemeClr val="tx1"/>
                            </a:solidFill>
                            <a:latin typeface="Cambria Math" panose="02040503050406030204" pitchFamily="18" charset="0"/>
                          </a:rPr>
                          <m:t>=</m:t>
                        </m:r>
                        <m:r>
                          <a:rPr lang="en-US" sz="2000" b="1" i="1" smtClean="0">
                            <a:solidFill>
                              <a:schemeClr val="tx1"/>
                            </a:solidFill>
                            <a:latin typeface="Cambria Math" panose="02040503050406030204" pitchFamily="18" charset="0"/>
                          </a:rPr>
                          <m:t>𝒉</m:t>
                        </m:r>
                      </m:oMath>
                    </a14:m>
                    <a:endParaRPr lang="el-GR" sz="2000" b="1" dirty="0">
                      <a:solidFill>
                        <a:schemeClr val="tx1"/>
                      </a:solidFill>
                      <a:latin typeface="+mj-lt"/>
                    </a:endParaRPr>
                  </a:p>
                </p:txBody>
              </p:sp>
            </mc:Choice>
            <mc:Fallback xmlns="">
              <p:sp>
                <p:nvSpPr>
                  <p:cNvPr id="20" name="TextBox 19"/>
                  <p:cNvSpPr txBox="1">
                    <a:spLocks noRot="1" noChangeAspect="1" noMove="1" noResize="1" noEditPoints="1" noAdjustHandles="1" noChangeArrowheads="1" noChangeShapeType="1" noTextEdit="1"/>
                  </p:cNvSpPr>
                  <p:nvPr/>
                </p:nvSpPr>
                <p:spPr>
                  <a:xfrm>
                    <a:off x="1994863" y="5854920"/>
                    <a:ext cx="962828" cy="400110"/>
                  </a:xfrm>
                  <a:prstGeom prst="rect">
                    <a:avLst/>
                  </a:prstGeom>
                  <a:blipFill>
                    <a:blip r:embed="rId6"/>
                    <a:stretch>
                      <a:fillRect l="-6329" t="-6061" b="-27273"/>
                    </a:stretch>
                  </a:blipFill>
                </p:spPr>
                <p:txBody>
                  <a:bodyPr/>
                  <a:lstStyle/>
                  <a:p>
                    <a:r>
                      <a:rPr lang="en-US">
                        <a:noFill/>
                      </a:rPr>
                      <a:t> </a:t>
                    </a:r>
                  </a:p>
                </p:txBody>
              </p:sp>
            </mc:Fallback>
          </mc:AlternateContent>
        </p:grpSp>
        <p:pic>
          <p:nvPicPr>
            <p:cNvPr id="17" name="Picture 16"/>
            <p:cNvPicPr>
              <a:picLocks noChangeAspect="1"/>
            </p:cNvPicPr>
            <p:nvPr/>
          </p:nvPicPr>
          <p:blipFill>
            <a:blip r:embed="rId7"/>
            <a:stretch>
              <a:fillRect/>
            </a:stretch>
          </p:blipFill>
          <p:spPr>
            <a:xfrm>
              <a:off x="85904" y="1490662"/>
              <a:ext cx="5743575" cy="4333875"/>
            </a:xfrm>
            <a:prstGeom prst="rect">
              <a:avLst/>
            </a:prstGeom>
          </p:spPr>
        </p:pic>
      </p:grpSp>
    </p:spTree>
    <p:extLst>
      <p:ext uri="{BB962C8B-B14F-4D97-AF65-F5344CB8AC3E}">
        <p14:creationId xmlns:p14="http://schemas.microsoft.com/office/powerpoint/2010/main" val="10131036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pic>
        <p:nvPicPr>
          <p:cNvPr id="62" name="Google Shape;62;p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63" name="Google Shape;63;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10</a:t>
            </a:fld>
            <a:endParaRPr>
              <a:latin typeface="+mj-lt"/>
            </a:endParaRPr>
          </a:p>
        </p:txBody>
      </p:sp>
      <p:sp>
        <p:nvSpPr>
          <p:cNvPr id="6" name="Google Shape;45;g20098e1d08f_0_0"/>
          <p:cNvSpPr txBox="1">
            <a:spLocks noGrp="1"/>
          </p:cNvSpPr>
          <p:nvPr>
            <p:ph type="body" idx="1"/>
          </p:nvPr>
        </p:nvSpPr>
        <p:spPr>
          <a:xfrm>
            <a:off x="85904" y="57762"/>
            <a:ext cx="9584700" cy="677108"/>
          </a:xfrm>
          <a:prstGeom prst="rect">
            <a:avLst/>
          </a:prstGeom>
          <a:noFill/>
          <a:ln>
            <a:noFill/>
          </a:ln>
        </p:spPr>
        <p:txBody>
          <a:bodyPr spcFirstLastPara="1" wrap="square" lIns="0" tIns="0" rIns="0" bIns="0" anchor="t" anchorCtr="0">
            <a:spAutoFit/>
          </a:bodyPr>
          <a:lstStyle/>
          <a:p>
            <a:pPr marL="0" lvl="0" indent="0" rtl="0">
              <a:lnSpc>
                <a:spcPct val="100000"/>
              </a:lnSpc>
              <a:spcBef>
                <a:spcPts val="0"/>
              </a:spcBef>
              <a:spcAft>
                <a:spcPts val="0"/>
              </a:spcAft>
              <a:buSzPts val="1400"/>
              <a:buNone/>
            </a:pPr>
            <a:r>
              <a:rPr lang="en-US" sz="4400" dirty="0">
                <a:latin typeface="+mj-lt"/>
              </a:rPr>
              <a:t>Neural Networks Representation</a:t>
            </a:r>
            <a:endParaRPr sz="4400" dirty="0">
              <a:latin typeface="+mj-lt"/>
            </a:endParaRPr>
          </a:p>
        </p:txBody>
      </p:sp>
      <p:sp>
        <p:nvSpPr>
          <p:cNvPr id="4" name="TextBox 3"/>
          <p:cNvSpPr txBox="1"/>
          <p:nvPr/>
        </p:nvSpPr>
        <p:spPr>
          <a:xfrm>
            <a:off x="5824205" y="1792664"/>
            <a:ext cx="6291596" cy="4031873"/>
          </a:xfrm>
          <a:prstGeom prst="rect">
            <a:avLst/>
          </a:prstGeom>
          <a:noFill/>
        </p:spPr>
        <p:txBody>
          <a:bodyPr wrap="square" rtlCol="0">
            <a:spAutoFit/>
          </a:bodyPr>
          <a:lstStyle/>
          <a:p>
            <a:pPr marL="342900" indent="-342900">
              <a:buFont typeface="Arial" panose="020B0604020202020204" pitchFamily="34" charset="0"/>
              <a:buChar char="•"/>
            </a:pPr>
            <a:r>
              <a:rPr lang="en-US" sz="2400" dirty="0"/>
              <a:t>The first hidden layer is associated with parameters </a:t>
            </a:r>
            <a:r>
              <a:rPr lang="en-US" sz="2400" dirty="0" smtClean="0"/>
              <a:t>w</a:t>
            </a:r>
            <a:r>
              <a:rPr lang="en-US" sz="2400" baseline="30000" dirty="0" smtClean="0"/>
              <a:t>[1]</a:t>
            </a:r>
            <a:r>
              <a:rPr lang="en-US" sz="2400" dirty="0" smtClean="0"/>
              <a:t> </a:t>
            </a:r>
            <a:r>
              <a:rPr lang="en-US" sz="2400" dirty="0"/>
              <a:t>and </a:t>
            </a:r>
            <a:r>
              <a:rPr lang="en-US" sz="2400" dirty="0" smtClean="0"/>
              <a:t>b</a:t>
            </a:r>
            <a:r>
              <a:rPr lang="en-US" sz="2400" baseline="30000" dirty="0" smtClean="0"/>
              <a:t>[1]</a:t>
            </a:r>
            <a:r>
              <a:rPr lang="en-US" sz="2400" dirty="0" smtClean="0"/>
              <a:t>. </a:t>
            </a:r>
            <a:r>
              <a:rPr lang="en-US" sz="2400" dirty="0"/>
              <a:t>The dimensions of these matrices are</a:t>
            </a:r>
            <a:r>
              <a:rPr lang="en-US" sz="2400" dirty="0" smtClean="0"/>
              <a:t>:</a:t>
            </a:r>
            <a:endParaRPr lang="en-US" sz="2400" dirty="0"/>
          </a:p>
          <a:p>
            <a:r>
              <a:rPr lang="en-US" sz="2000" dirty="0" smtClean="0"/>
              <a:t>	- w</a:t>
            </a:r>
            <a:r>
              <a:rPr lang="en-US" sz="2000" baseline="30000" dirty="0" smtClean="0"/>
              <a:t>[1</a:t>
            </a:r>
            <a:r>
              <a:rPr lang="en-US" sz="2000" baseline="30000" dirty="0"/>
              <a:t>]</a:t>
            </a:r>
            <a:r>
              <a:rPr lang="en-US" sz="2000" dirty="0" smtClean="0"/>
              <a:t> </a:t>
            </a:r>
            <a:r>
              <a:rPr lang="en-US" sz="2000" dirty="0"/>
              <a:t>is </a:t>
            </a:r>
            <a:r>
              <a:rPr lang="en-US" sz="2000" dirty="0" smtClean="0"/>
              <a:t>(</a:t>
            </a:r>
            <a:r>
              <a:rPr lang="en-US" sz="2000" dirty="0"/>
              <a:t>4,3</a:t>
            </a:r>
            <a:r>
              <a:rPr lang="en-US" sz="2000" dirty="0" smtClean="0"/>
              <a:t>) </a:t>
            </a:r>
            <a:r>
              <a:rPr lang="en-US" sz="2000" dirty="0"/>
              <a:t>matrix</a:t>
            </a:r>
          </a:p>
          <a:p>
            <a:r>
              <a:rPr lang="en-US" sz="2000" dirty="0" smtClean="0"/>
              <a:t>	- b</a:t>
            </a:r>
            <a:r>
              <a:rPr lang="en-US" sz="2000" baseline="30000" dirty="0" smtClean="0"/>
              <a:t>[1</a:t>
            </a:r>
            <a:r>
              <a:rPr lang="en-US" sz="2000" baseline="30000" dirty="0"/>
              <a:t>]</a:t>
            </a:r>
            <a:r>
              <a:rPr lang="en-US" sz="2000" dirty="0" smtClean="0"/>
              <a:t> </a:t>
            </a:r>
            <a:r>
              <a:rPr lang="en-US" sz="2000" dirty="0"/>
              <a:t>is </a:t>
            </a:r>
            <a:r>
              <a:rPr lang="en-US" sz="2000" dirty="0" smtClean="0"/>
              <a:t>(</a:t>
            </a:r>
            <a:r>
              <a:rPr lang="en-US" sz="2000" dirty="0"/>
              <a:t>4,1</a:t>
            </a:r>
            <a:r>
              <a:rPr lang="en-US" sz="2000" dirty="0" smtClean="0"/>
              <a:t>) </a:t>
            </a:r>
            <a:r>
              <a:rPr lang="en-US" sz="2000" dirty="0"/>
              <a:t>matrix</a:t>
            </a:r>
          </a:p>
          <a:p>
            <a:pPr marL="342900" indent="-342900">
              <a:buFont typeface="Arial" panose="020B0604020202020204" pitchFamily="34" charset="0"/>
              <a:buChar char="•"/>
            </a:pPr>
            <a:r>
              <a:rPr lang="en-US" sz="2400" dirty="0"/>
              <a:t>Parameters </a:t>
            </a:r>
            <a:r>
              <a:rPr lang="en-US" sz="2400" dirty="0" smtClean="0"/>
              <a:t>w</a:t>
            </a:r>
            <a:r>
              <a:rPr lang="en-US" sz="2400" baseline="30000" dirty="0" smtClean="0"/>
              <a:t>[2]</a:t>
            </a:r>
            <a:r>
              <a:rPr lang="en-US" sz="2400" dirty="0" smtClean="0"/>
              <a:t> </a:t>
            </a:r>
            <a:r>
              <a:rPr lang="en-US" sz="2400" dirty="0"/>
              <a:t>and </a:t>
            </a:r>
            <a:r>
              <a:rPr lang="en-US" sz="2400" dirty="0" smtClean="0"/>
              <a:t>b</a:t>
            </a:r>
            <a:r>
              <a:rPr lang="en-US" sz="2400" baseline="30000" dirty="0" smtClean="0"/>
              <a:t>[2]</a:t>
            </a:r>
            <a:r>
              <a:rPr lang="en-US" sz="2400" dirty="0" smtClean="0"/>
              <a:t> </a:t>
            </a:r>
            <a:r>
              <a:rPr lang="en-US" sz="2400" dirty="0"/>
              <a:t>are </a:t>
            </a:r>
            <a:r>
              <a:rPr lang="en-US" sz="2400" dirty="0" smtClean="0"/>
              <a:t>associated </a:t>
            </a:r>
            <a:r>
              <a:rPr lang="en-US" sz="2400" dirty="0"/>
              <a:t>with the second layer or actually with the output layer. The dimensions of parameters in the output layer are</a:t>
            </a:r>
            <a:r>
              <a:rPr lang="en-US" sz="2400" dirty="0" smtClean="0"/>
              <a:t>:</a:t>
            </a:r>
          </a:p>
          <a:p>
            <a:r>
              <a:rPr lang="en-US" sz="2400" dirty="0"/>
              <a:t>	</a:t>
            </a:r>
            <a:r>
              <a:rPr lang="en-US" sz="2000" dirty="0"/>
              <a:t>- </a:t>
            </a:r>
            <a:r>
              <a:rPr lang="en-US" sz="2000" dirty="0" smtClean="0"/>
              <a:t>w</a:t>
            </a:r>
            <a:r>
              <a:rPr lang="en-US" sz="2000" baseline="30000" dirty="0" smtClean="0"/>
              <a:t>[2]</a:t>
            </a:r>
            <a:r>
              <a:rPr lang="en-US" sz="2000" dirty="0" smtClean="0"/>
              <a:t> </a:t>
            </a:r>
            <a:r>
              <a:rPr lang="en-US" sz="2000" dirty="0"/>
              <a:t>is </a:t>
            </a:r>
            <a:r>
              <a:rPr lang="en-US" sz="2000" dirty="0" smtClean="0"/>
              <a:t>(1,4) </a:t>
            </a:r>
            <a:r>
              <a:rPr lang="en-US" sz="2000" dirty="0"/>
              <a:t>matrix</a:t>
            </a:r>
          </a:p>
          <a:p>
            <a:r>
              <a:rPr lang="en-US" sz="2000" dirty="0"/>
              <a:t>	- </a:t>
            </a:r>
            <a:r>
              <a:rPr lang="en-US" sz="2000" dirty="0" smtClean="0"/>
              <a:t>b</a:t>
            </a:r>
            <a:r>
              <a:rPr lang="en-US" sz="2000" baseline="30000" dirty="0" smtClean="0"/>
              <a:t>[2]</a:t>
            </a:r>
            <a:r>
              <a:rPr lang="en-US" sz="2000" dirty="0" smtClean="0"/>
              <a:t> </a:t>
            </a:r>
            <a:r>
              <a:rPr lang="en-US" sz="2000" dirty="0"/>
              <a:t>is </a:t>
            </a:r>
            <a:r>
              <a:rPr lang="en-US" sz="2000" dirty="0" smtClean="0"/>
              <a:t>a real number</a:t>
            </a:r>
            <a:endParaRPr lang="en-US" sz="2000" dirty="0"/>
          </a:p>
        </p:txBody>
      </p:sp>
      <p:grpSp>
        <p:nvGrpSpPr>
          <p:cNvPr id="2" name="Group 1"/>
          <p:cNvGrpSpPr/>
          <p:nvPr/>
        </p:nvGrpSpPr>
        <p:grpSpPr>
          <a:xfrm>
            <a:off x="85904" y="1490662"/>
            <a:ext cx="5743575" cy="4764368"/>
            <a:chOff x="85904" y="1490662"/>
            <a:chExt cx="5743575" cy="4764368"/>
          </a:xfrm>
        </p:grpSpPr>
        <mc:AlternateContent xmlns:mc="http://schemas.openxmlformats.org/markup-compatibility/2006" xmlns:a14="http://schemas.microsoft.com/office/drawing/2010/main">
          <mc:Choice Requires="a14">
            <p:sp>
              <p:nvSpPr>
                <p:cNvPr id="18" name="Ορθογώνιο 15"/>
                <p:cNvSpPr/>
                <p:nvPr/>
              </p:nvSpPr>
              <p:spPr>
                <a:xfrm>
                  <a:off x="325549" y="5854920"/>
                  <a:ext cx="948401" cy="400110"/>
                </a:xfrm>
                <a:prstGeom prst="rect">
                  <a:avLst/>
                </a:prstGeom>
              </p:spPr>
              <p:txBody>
                <a:bodyPr wrap="none">
                  <a:spAutoFit/>
                </a:bodyPr>
                <a:lstStyle/>
                <a:p>
                  <a:r>
                    <a:rPr lang="en-US" sz="2000" b="1" dirty="0" smtClean="0">
                      <a:solidFill>
                        <a:schemeClr val="tx1"/>
                      </a:solidFill>
                    </a:rPr>
                    <a:t>a</a:t>
                  </a:r>
                  <a:r>
                    <a:rPr lang="en-US" sz="2000" b="1" baseline="30000" dirty="0" smtClean="0">
                      <a:solidFill>
                        <a:schemeClr val="tx1"/>
                      </a:solidFill>
                    </a:rPr>
                    <a:t>[0]</a:t>
                  </a:r>
                  <a14:m>
                    <m:oMath xmlns:m="http://schemas.openxmlformats.org/officeDocument/2006/math">
                      <m:r>
                        <a:rPr lang="en-US" sz="2000" b="1" i="0" smtClean="0">
                          <a:solidFill>
                            <a:schemeClr val="tx1"/>
                          </a:solidFill>
                          <a:latin typeface="Cambria Math" panose="02040503050406030204" pitchFamily="18" charset="0"/>
                        </a:rPr>
                        <m:t>=</m:t>
                      </m:r>
                      <m:r>
                        <a:rPr lang="en-US" sz="2000" b="1" i="1" smtClean="0">
                          <a:solidFill>
                            <a:schemeClr val="tx1"/>
                          </a:solidFill>
                          <a:latin typeface="Cambria Math" panose="02040503050406030204" pitchFamily="18" charset="0"/>
                        </a:rPr>
                        <m:t>𝒙</m:t>
                      </m:r>
                    </m:oMath>
                  </a14:m>
                  <a:endParaRPr lang="el-GR" b="1" dirty="0">
                    <a:solidFill>
                      <a:schemeClr val="tx1"/>
                    </a:solidFill>
                    <a:latin typeface="+mj-lt"/>
                  </a:endParaRPr>
                </a:p>
              </p:txBody>
            </p:sp>
          </mc:Choice>
          <mc:Fallback xmlns="">
            <p:sp>
              <p:nvSpPr>
                <p:cNvPr id="18" name="Ορθογώνιο 15"/>
                <p:cNvSpPr>
                  <a:spLocks noRot="1" noChangeAspect="1" noMove="1" noResize="1" noEditPoints="1" noAdjustHandles="1" noChangeArrowheads="1" noChangeShapeType="1" noTextEdit="1"/>
                </p:cNvSpPr>
                <p:nvPr/>
              </p:nvSpPr>
              <p:spPr>
                <a:xfrm>
                  <a:off x="325549" y="5854920"/>
                  <a:ext cx="948401" cy="400110"/>
                </a:xfrm>
                <a:prstGeom prst="rect">
                  <a:avLst/>
                </a:prstGeom>
                <a:blipFill>
                  <a:blip r:embed="rId4"/>
                  <a:stretch>
                    <a:fillRect l="-6410" t="-6061" b="-2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Ορθογώνιο 14"/>
                <p:cNvSpPr/>
                <p:nvPr/>
              </p:nvSpPr>
              <p:spPr>
                <a:xfrm>
                  <a:off x="3476183" y="5824537"/>
                  <a:ext cx="930768" cy="400110"/>
                </a:xfrm>
                <a:prstGeom prst="rect">
                  <a:avLst/>
                </a:prstGeom>
              </p:spPr>
              <p:txBody>
                <a:bodyPr wrap="none">
                  <a:spAutoFit/>
                </a:bodyPr>
                <a:lstStyle/>
                <a:p>
                  <a:r>
                    <a:rPr lang="en-US" sz="2000" b="1" dirty="0" smtClean="0">
                      <a:solidFill>
                        <a:schemeClr val="tx1"/>
                      </a:solidFill>
                    </a:rPr>
                    <a:t>a</a:t>
                  </a:r>
                  <a:r>
                    <a:rPr lang="en-US" sz="2000" b="1" baseline="30000" dirty="0" smtClean="0">
                      <a:solidFill>
                        <a:schemeClr val="tx1"/>
                      </a:solidFill>
                    </a:rPr>
                    <a:t>[2]</a:t>
                  </a:r>
                  <a14:m>
                    <m:oMath xmlns:m="http://schemas.openxmlformats.org/officeDocument/2006/math">
                      <m:r>
                        <a:rPr lang="en-US" sz="2000" b="1" i="0" smtClean="0">
                          <a:solidFill>
                            <a:schemeClr val="tx1"/>
                          </a:solidFill>
                          <a:latin typeface="Cambria Math" panose="02040503050406030204" pitchFamily="18" charset="0"/>
                        </a:rPr>
                        <m:t>=</m:t>
                      </m:r>
                      <m:r>
                        <a:rPr lang="cy-GB" sz="2000" b="1" i="0">
                          <a:solidFill>
                            <a:schemeClr val="tx1"/>
                          </a:solidFill>
                          <a:latin typeface="Cambria Math" panose="02040503050406030204" pitchFamily="18" charset="0"/>
                        </a:rPr>
                        <m:t>ŷ</m:t>
                      </m:r>
                    </m:oMath>
                  </a14:m>
                  <a:endParaRPr lang="el-GR" sz="2000" b="1" dirty="0">
                    <a:solidFill>
                      <a:schemeClr val="tx1"/>
                    </a:solidFill>
                  </a:endParaRPr>
                </a:p>
              </p:txBody>
            </p:sp>
          </mc:Choice>
          <mc:Fallback xmlns="">
            <p:sp>
              <p:nvSpPr>
                <p:cNvPr id="19" name="Ορθογώνιο 14"/>
                <p:cNvSpPr>
                  <a:spLocks noRot="1" noChangeAspect="1" noMove="1" noResize="1" noEditPoints="1" noAdjustHandles="1" noChangeArrowheads="1" noChangeShapeType="1" noTextEdit="1"/>
                </p:cNvSpPr>
                <p:nvPr/>
              </p:nvSpPr>
              <p:spPr>
                <a:xfrm>
                  <a:off x="3476183" y="5824537"/>
                  <a:ext cx="930768" cy="400110"/>
                </a:xfrm>
                <a:prstGeom prst="rect">
                  <a:avLst/>
                </a:prstGeom>
                <a:blipFill>
                  <a:blip r:embed="rId5"/>
                  <a:stretch>
                    <a:fillRect l="-6536" t="-6061" r="-1961" b="-2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1994863" y="5854920"/>
                  <a:ext cx="962828" cy="400110"/>
                </a:xfrm>
                <a:prstGeom prst="rect">
                  <a:avLst/>
                </a:prstGeom>
                <a:noFill/>
              </p:spPr>
              <p:txBody>
                <a:bodyPr wrap="none" rtlCol="0">
                  <a:spAutoFit/>
                </a:bodyPr>
                <a:lstStyle/>
                <a:p>
                  <a:r>
                    <a:rPr lang="en-US" sz="2000" b="1" dirty="0" smtClean="0">
                      <a:solidFill>
                        <a:schemeClr val="tx1"/>
                      </a:solidFill>
                    </a:rPr>
                    <a:t>a</a:t>
                  </a:r>
                  <a:r>
                    <a:rPr lang="en-US" sz="2000" b="1" baseline="30000" dirty="0" smtClean="0">
                      <a:solidFill>
                        <a:schemeClr val="tx1"/>
                      </a:solidFill>
                    </a:rPr>
                    <a:t>[1]</a:t>
                  </a:r>
                  <a14:m>
                    <m:oMath xmlns:m="http://schemas.openxmlformats.org/officeDocument/2006/math">
                      <m:r>
                        <a:rPr lang="en-US" sz="2000" b="1" i="0" smtClean="0">
                          <a:solidFill>
                            <a:schemeClr val="tx1"/>
                          </a:solidFill>
                          <a:latin typeface="Cambria Math" panose="02040503050406030204" pitchFamily="18" charset="0"/>
                        </a:rPr>
                        <m:t>=</m:t>
                      </m:r>
                      <m:r>
                        <a:rPr lang="en-US" sz="2000" b="1" i="1" smtClean="0">
                          <a:solidFill>
                            <a:schemeClr val="tx1"/>
                          </a:solidFill>
                          <a:latin typeface="Cambria Math" panose="02040503050406030204" pitchFamily="18" charset="0"/>
                        </a:rPr>
                        <m:t>𝒉</m:t>
                      </m:r>
                    </m:oMath>
                  </a14:m>
                  <a:endParaRPr lang="el-GR" sz="2000" b="1" dirty="0">
                    <a:solidFill>
                      <a:schemeClr val="tx1"/>
                    </a:solidFill>
                    <a:latin typeface="+mj-lt"/>
                  </a:endParaRPr>
                </a:p>
              </p:txBody>
            </p:sp>
          </mc:Choice>
          <mc:Fallback xmlns="">
            <p:sp>
              <p:nvSpPr>
                <p:cNvPr id="20" name="TextBox 19"/>
                <p:cNvSpPr txBox="1">
                  <a:spLocks noRot="1" noChangeAspect="1" noMove="1" noResize="1" noEditPoints="1" noAdjustHandles="1" noChangeArrowheads="1" noChangeShapeType="1" noTextEdit="1"/>
                </p:cNvSpPr>
                <p:nvPr/>
              </p:nvSpPr>
              <p:spPr>
                <a:xfrm>
                  <a:off x="1994863" y="5854920"/>
                  <a:ext cx="962828" cy="400110"/>
                </a:xfrm>
                <a:prstGeom prst="rect">
                  <a:avLst/>
                </a:prstGeom>
                <a:blipFill>
                  <a:blip r:embed="rId6"/>
                  <a:stretch>
                    <a:fillRect l="-6329" t="-6061" b="-27273"/>
                  </a:stretch>
                </a:blipFill>
              </p:spPr>
              <p:txBody>
                <a:bodyPr/>
                <a:lstStyle/>
                <a:p>
                  <a:r>
                    <a:rPr lang="en-US">
                      <a:noFill/>
                    </a:rPr>
                    <a:t> </a:t>
                  </a:r>
                </a:p>
              </p:txBody>
            </p:sp>
          </mc:Fallback>
        </mc:AlternateContent>
        <p:pic>
          <p:nvPicPr>
            <p:cNvPr id="17" name="Picture 16"/>
            <p:cNvPicPr>
              <a:picLocks noChangeAspect="1"/>
            </p:cNvPicPr>
            <p:nvPr/>
          </p:nvPicPr>
          <p:blipFill>
            <a:blip r:embed="rId7"/>
            <a:stretch>
              <a:fillRect/>
            </a:stretch>
          </p:blipFill>
          <p:spPr>
            <a:xfrm>
              <a:off x="85904" y="1490662"/>
              <a:ext cx="5743575" cy="4333875"/>
            </a:xfrm>
            <a:prstGeom prst="rect">
              <a:avLst/>
            </a:prstGeom>
          </p:spPr>
        </p:pic>
      </p:grpSp>
    </p:spTree>
    <p:extLst>
      <p:ext uri="{BB962C8B-B14F-4D97-AF65-F5344CB8AC3E}">
        <p14:creationId xmlns:p14="http://schemas.microsoft.com/office/powerpoint/2010/main" val="19958464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pic>
        <p:nvPicPr>
          <p:cNvPr id="62" name="Google Shape;62;p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63" name="Google Shape;63;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11</a:t>
            </a:fld>
            <a:endParaRPr>
              <a:latin typeface="+mj-lt"/>
            </a:endParaRPr>
          </a:p>
        </p:txBody>
      </p:sp>
      <p:sp>
        <p:nvSpPr>
          <p:cNvPr id="6" name="Google Shape;45;g20098e1d08f_0_0"/>
          <p:cNvSpPr txBox="1">
            <a:spLocks noGrp="1"/>
          </p:cNvSpPr>
          <p:nvPr>
            <p:ph type="body" idx="1"/>
          </p:nvPr>
        </p:nvSpPr>
        <p:spPr>
          <a:xfrm>
            <a:off x="85904" y="57762"/>
            <a:ext cx="9584700" cy="677108"/>
          </a:xfrm>
          <a:prstGeom prst="rect">
            <a:avLst/>
          </a:prstGeom>
          <a:noFill/>
          <a:ln>
            <a:noFill/>
          </a:ln>
        </p:spPr>
        <p:txBody>
          <a:bodyPr spcFirstLastPara="1" wrap="square" lIns="0" tIns="0" rIns="0" bIns="0" anchor="t" anchorCtr="0">
            <a:spAutoFit/>
          </a:bodyPr>
          <a:lstStyle/>
          <a:p>
            <a:pPr marL="0" lvl="0" indent="0"/>
            <a:r>
              <a:rPr lang="en-US" sz="4400" dirty="0">
                <a:latin typeface="+mj-lt"/>
              </a:rPr>
              <a:t>Neural Network  Representation</a:t>
            </a:r>
          </a:p>
        </p:txBody>
      </p:sp>
      <p:sp>
        <p:nvSpPr>
          <p:cNvPr id="42" name="Content Placeholder 2"/>
          <p:cNvSpPr txBox="1">
            <a:spLocks/>
          </p:cNvSpPr>
          <p:nvPr/>
        </p:nvSpPr>
        <p:spPr>
          <a:xfrm>
            <a:off x="936096" y="1018145"/>
            <a:ext cx="9584265" cy="307777"/>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60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r>
              <a:rPr lang="en-US" sz="2000" b="1" dirty="0">
                <a:latin typeface="+mj-lt"/>
              </a:rPr>
              <a:t>Elements of Neural Networks</a:t>
            </a:r>
            <a:r>
              <a:rPr lang="en-US" sz="2000" b="1" dirty="0" smtClean="0">
                <a:latin typeface="+mj-lt"/>
              </a:rPr>
              <a:t>:</a:t>
            </a:r>
          </a:p>
        </p:txBody>
      </p:sp>
      <p:sp>
        <p:nvSpPr>
          <p:cNvPr id="66" name="Rectangle 65"/>
          <p:cNvSpPr/>
          <p:nvPr/>
        </p:nvSpPr>
        <p:spPr>
          <a:xfrm>
            <a:off x="6088713" y="2502753"/>
            <a:ext cx="5769439" cy="1569660"/>
          </a:xfrm>
          <a:prstGeom prst="rect">
            <a:avLst/>
          </a:prstGeom>
        </p:spPr>
        <p:txBody>
          <a:bodyPr>
            <a:spAutoFit/>
          </a:bodyPr>
          <a:lstStyle/>
          <a:p>
            <a:pPr algn="ctr"/>
            <a:r>
              <a:rPr lang="en-US" sz="2400" dirty="0">
                <a:latin typeface="+mj-lt"/>
              </a:rPr>
              <a:t>4 + </a:t>
            </a:r>
            <a:r>
              <a:rPr lang="en-US" sz="2400" dirty="0" smtClean="0">
                <a:latin typeface="+mj-lt"/>
              </a:rPr>
              <a:t>1 </a:t>
            </a:r>
            <a:r>
              <a:rPr lang="en-US" sz="2400" dirty="0">
                <a:latin typeface="+mj-lt"/>
              </a:rPr>
              <a:t>= 6 neurons (not counting inputs)</a:t>
            </a:r>
          </a:p>
          <a:p>
            <a:pPr algn="ctr"/>
            <a:r>
              <a:rPr lang="en-US" sz="2400" dirty="0">
                <a:latin typeface="+mj-lt"/>
              </a:rPr>
              <a:t>[3 × 4] + [4 × </a:t>
            </a:r>
            <a:r>
              <a:rPr lang="en-US" sz="2400" dirty="0" smtClean="0">
                <a:latin typeface="+mj-lt"/>
              </a:rPr>
              <a:t>1] </a:t>
            </a:r>
            <a:r>
              <a:rPr lang="en-US" sz="2400" dirty="0">
                <a:latin typeface="+mj-lt"/>
              </a:rPr>
              <a:t>= </a:t>
            </a:r>
            <a:r>
              <a:rPr lang="en-US" sz="2400" dirty="0" smtClean="0">
                <a:latin typeface="+mj-lt"/>
              </a:rPr>
              <a:t>16 </a:t>
            </a:r>
            <a:r>
              <a:rPr lang="en-US" sz="2400" dirty="0">
                <a:latin typeface="+mj-lt"/>
              </a:rPr>
              <a:t>weights </a:t>
            </a:r>
          </a:p>
          <a:p>
            <a:pPr algn="ctr"/>
            <a:r>
              <a:rPr lang="en-US" sz="2400" dirty="0">
                <a:latin typeface="+mj-lt"/>
              </a:rPr>
              <a:t>4 + </a:t>
            </a:r>
            <a:r>
              <a:rPr lang="en-US" sz="2400" dirty="0" smtClean="0">
                <a:latin typeface="+mj-lt"/>
              </a:rPr>
              <a:t>1 </a:t>
            </a:r>
            <a:r>
              <a:rPr lang="en-US" sz="2400" dirty="0">
                <a:latin typeface="+mj-lt"/>
              </a:rPr>
              <a:t>= </a:t>
            </a:r>
            <a:r>
              <a:rPr lang="en-US" sz="2400" dirty="0" smtClean="0">
                <a:latin typeface="+mj-lt"/>
              </a:rPr>
              <a:t>5 </a:t>
            </a:r>
            <a:r>
              <a:rPr lang="en-US" sz="2400" dirty="0">
                <a:latin typeface="+mj-lt"/>
              </a:rPr>
              <a:t>biases</a:t>
            </a:r>
          </a:p>
          <a:p>
            <a:pPr algn="ctr"/>
            <a:r>
              <a:rPr lang="en-US" sz="2400" dirty="0" smtClean="0">
                <a:solidFill>
                  <a:schemeClr val="accent2"/>
                </a:solidFill>
                <a:latin typeface="+mj-lt"/>
              </a:rPr>
              <a:t>21</a:t>
            </a:r>
            <a:r>
              <a:rPr lang="en-US" sz="2400" dirty="0" smtClean="0">
                <a:latin typeface="+mj-lt"/>
              </a:rPr>
              <a:t> </a:t>
            </a:r>
            <a:r>
              <a:rPr lang="en-US" sz="2400" dirty="0">
                <a:solidFill>
                  <a:schemeClr val="accent2"/>
                </a:solidFill>
                <a:latin typeface="+mj-lt"/>
              </a:rPr>
              <a:t>learnable parameters</a:t>
            </a:r>
          </a:p>
        </p:txBody>
      </p:sp>
      <p:grpSp>
        <p:nvGrpSpPr>
          <p:cNvPr id="30" name="Group 29"/>
          <p:cNvGrpSpPr/>
          <p:nvPr/>
        </p:nvGrpSpPr>
        <p:grpSpPr>
          <a:xfrm>
            <a:off x="85904" y="1490662"/>
            <a:ext cx="5743575" cy="4764368"/>
            <a:chOff x="85904" y="1490662"/>
            <a:chExt cx="5743575" cy="4764368"/>
          </a:xfrm>
        </p:grpSpPr>
        <p:grpSp>
          <p:nvGrpSpPr>
            <p:cNvPr id="31" name="Group 30"/>
            <p:cNvGrpSpPr/>
            <p:nvPr/>
          </p:nvGrpSpPr>
          <p:grpSpPr>
            <a:xfrm>
              <a:off x="325549" y="5824537"/>
              <a:ext cx="4081402" cy="430493"/>
              <a:chOff x="325549" y="5824537"/>
              <a:chExt cx="4081402" cy="430493"/>
            </a:xfrm>
          </p:grpSpPr>
          <mc:AlternateContent xmlns:mc="http://schemas.openxmlformats.org/markup-compatibility/2006" xmlns:a14="http://schemas.microsoft.com/office/drawing/2010/main">
            <mc:Choice Requires="a14">
              <p:sp>
                <p:nvSpPr>
                  <p:cNvPr id="33" name="Ορθογώνιο 15"/>
                  <p:cNvSpPr/>
                  <p:nvPr/>
                </p:nvSpPr>
                <p:spPr>
                  <a:xfrm>
                    <a:off x="325549" y="5854920"/>
                    <a:ext cx="948401" cy="400110"/>
                  </a:xfrm>
                  <a:prstGeom prst="rect">
                    <a:avLst/>
                  </a:prstGeom>
                </p:spPr>
                <p:txBody>
                  <a:bodyPr wrap="none">
                    <a:spAutoFit/>
                  </a:bodyPr>
                  <a:lstStyle/>
                  <a:p>
                    <a:r>
                      <a:rPr lang="en-US" sz="2000" b="1" dirty="0" smtClean="0">
                        <a:solidFill>
                          <a:schemeClr val="tx1"/>
                        </a:solidFill>
                      </a:rPr>
                      <a:t>a</a:t>
                    </a:r>
                    <a:r>
                      <a:rPr lang="en-US" sz="2000" b="1" baseline="30000" dirty="0" smtClean="0">
                        <a:solidFill>
                          <a:schemeClr val="tx1"/>
                        </a:solidFill>
                      </a:rPr>
                      <a:t>[0]</a:t>
                    </a:r>
                    <a14:m>
                      <m:oMath xmlns:m="http://schemas.openxmlformats.org/officeDocument/2006/math">
                        <m:r>
                          <a:rPr lang="en-US" sz="2000" b="1" i="0" smtClean="0">
                            <a:solidFill>
                              <a:schemeClr val="tx1"/>
                            </a:solidFill>
                            <a:latin typeface="Cambria Math" panose="02040503050406030204" pitchFamily="18" charset="0"/>
                          </a:rPr>
                          <m:t>=</m:t>
                        </m:r>
                        <m:r>
                          <a:rPr lang="en-US" sz="2000" b="1" i="1" smtClean="0">
                            <a:solidFill>
                              <a:schemeClr val="tx1"/>
                            </a:solidFill>
                            <a:latin typeface="Cambria Math" panose="02040503050406030204" pitchFamily="18" charset="0"/>
                          </a:rPr>
                          <m:t>𝒙</m:t>
                        </m:r>
                      </m:oMath>
                    </a14:m>
                    <a:endParaRPr lang="el-GR" b="1" dirty="0">
                      <a:solidFill>
                        <a:schemeClr val="tx1"/>
                      </a:solidFill>
                      <a:latin typeface="+mj-lt"/>
                    </a:endParaRPr>
                  </a:p>
                </p:txBody>
              </p:sp>
            </mc:Choice>
            <mc:Fallback xmlns="">
              <p:sp>
                <p:nvSpPr>
                  <p:cNvPr id="33" name="Ορθογώνιο 15"/>
                  <p:cNvSpPr>
                    <a:spLocks noRot="1" noChangeAspect="1" noMove="1" noResize="1" noEditPoints="1" noAdjustHandles="1" noChangeArrowheads="1" noChangeShapeType="1" noTextEdit="1"/>
                  </p:cNvSpPr>
                  <p:nvPr/>
                </p:nvSpPr>
                <p:spPr>
                  <a:xfrm>
                    <a:off x="325549" y="5854920"/>
                    <a:ext cx="948401" cy="400110"/>
                  </a:xfrm>
                  <a:prstGeom prst="rect">
                    <a:avLst/>
                  </a:prstGeom>
                  <a:blipFill>
                    <a:blip r:embed="rId4"/>
                    <a:stretch>
                      <a:fillRect l="-6410" t="-6061" b="-2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Ορθογώνιο 14"/>
                  <p:cNvSpPr/>
                  <p:nvPr/>
                </p:nvSpPr>
                <p:spPr>
                  <a:xfrm>
                    <a:off x="3476183" y="5824537"/>
                    <a:ext cx="930768" cy="400110"/>
                  </a:xfrm>
                  <a:prstGeom prst="rect">
                    <a:avLst/>
                  </a:prstGeom>
                </p:spPr>
                <p:txBody>
                  <a:bodyPr wrap="none">
                    <a:spAutoFit/>
                  </a:bodyPr>
                  <a:lstStyle/>
                  <a:p>
                    <a:r>
                      <a:rPr lang="en-US" sz="2000" b="1" dirty="0" smtClean="0">
                        <a:solidFill>
                          <a:schemeClr val="tx1"/>
                        </a:solidFill>
                      </a:rPr>
                      <a:t>a</a:t>
                    </a:r>
                    <a:r>
                      <a:rPr lang="en-US" sz="2000" b="1" baseline="30000" dirty="0" smtClean="0">
                        <a:solidFill>
                          <a:schemeClr val="tx1"/>
                        </a:solidFill>
                      </a:rPr>
                      <a:t>[2]</a:t>
                    </a:r>
                    <a14:m>
                      <m:oMath xmlns:m="http://schemas.openxmlformats.org/officeDocument/2006/math">
                        <m:r>
                          <a:rPr lang="en-US" sz="2000" b="1" i="0" smtClean="0">
                            <a:solidFill>
                              <a:schemeClr val="tx1"/>
                            </a:solidFill>
                            <a:latin typeface="Cambria Math" panose="02040503050406030204" pitchFamily="18" charset="0"/>
                          </a:rPr>
                          <m:t>=</m:t>
                        </m:r>
                        <m:r>
                          <a:rPr lang="cy-GB" sz="2000" b="1" i="1" smtClean="0">
                            <a:solidFill>
                              <a:schemeClr val="tx1"/>
                            </a:solidFill>
                            <a:latin typeface="Cambria Math" panose="02040503050406030204" pitchFamily="18" charset="0"/>
                          </a:rPr>
                          <m:t>ŷ</m:t>
                        </m:r>
                      </m:oMath>
                    </a14:m>
                    <a:endParaRPr lang="el-GR" sz="2000" b="1" dirty="0">
                      <a:solidFill>
                        <a:schemeClr val="tx1"/>
                      </a:solidFill>
                      <a:latin typeface="+mj-lt"/>
                    </a:endParaRPr>
                  </a:p>
                </p:txBody>
              </p:sp>
            </mc:Choice>
            <mc:Fallback xmlns="">
              <p:sp>
                <p:nvSpPr>
                  <p:cNvPr id="34" name="Ορθογώνιο 14"/>
                  <p:cNvSpPr>
                    <a:spLocks noRot="1" noChangeAspect="1" noMove="1" noResize="1" noEditPoints="1" noAdjustHandles="1" noChangeArrowheads="1" noChangeShapeType="1" noTextEdit="1"/>
                  </p:cNvSpPr>
                  <p:nvPr/>
                </p:nvSpPr>
                <p:spPr>
                  <a:xfrm>
                    <a:off x="3476183" y="5824537"/>
                    <a:ext cx="930768" cy="400110"/>
                  </a:xfrm>
                  <a:prstGeom prst="rect">
                    <a:avLst/>
                  </a:prstGeom>
                  <a:blipFill>
                    <a:blip r:embed="rId5"/>
                    <a:stretch>
                      <a:fillRect l="-6536" t="-6061" r="-1961" b="-2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p:cNvSpPr txBox="1"/>
                  <p:nvPr/>
                </p:nvSpPr>
                <p:spPr>
                  <a:xfrm>
                    <a:off x="1994863" y="5854920"/>
                    <a:ext cx="962828" cy="400110"/>
                  </a:xfrm>
                  <a:prstGeom prst="rect">
                    <a:avLst/>
                  </a:prstGeom>
                  <a:noFill/>
                </p:spPr>
                <p:txBody>
                  <a:bodyPr wrap="none" rtlCol="0">
                    <a:spAutoFit/>
                  </a:bodyPr>
                  <a:lstStyle/>
                  <a:p>
                    <a:r>
                      <a:rPr lang="en-US" sz="2000" b="1" dirty="0" smtClean="0">
                        <a:solidFill>
                          <a:schemeClr val="tx1"/>
                        </a:solidFill>
                      </a:rPr>
                      <a:t>a</a:t>
                    </a:r>
                    <a:r>
                      <a:rPr lang="en-US" sz="2000" b="1" baseline="30000" dirty="0" smtClean="0">
                        <a:solidFill>
                          <a:schemeClr val="tx1"/>
                        </a:solidFill>
                      </a:rPr>
                      <a:t>[1]</a:t>
                    </a:r>
                    <a14:m>
                      <m:oMath xmlns:m="http://schemas.openxmlformats.org/officeDocument/2006/math">
                        <m:r>
                          <a:rPr lang="en-US" sz="2000" b="1" i="0" smtClean="0">
                            <a:solidFill>
                              <a:schemeClr val="tx1"/>
                            </a:solidFill>
                            <a:latin typeface="Cambria Math" panose="02040503050406030204" pitchFamily="18" charset="0"/>
                          </a:rPr>
                          <m:t>=</m:t>
                        </m:r>
                        <m:r>
                          <a:rPr lang="en-US" sz="2000" b="1" i="1" smtClean="0">
                            <a:solidFill>
                              <a:schemeClr val="tx1"/>
                            </a:solidFill>
                            <a:latin typeface="Cambria Math" panose="02040503050406030204" pitchFamily="18" charset="0"/>
                          </a:rPr>
                          <m:t>𝒉</m:t>
                        </m:r>
                      </m:oMath>
                    </a14:m>
                    <a:endParaRPr lang="el-GR" sz="2000" b="1" dirty="0">
                      <a:solidFill>
                        <a:schemeClr val="tx1"/>
                      </a:solidFill>
                      <a:latin typeface="+mj-lt"/>
                    </a:endParaRPr>
                  </a:p>
                </p:txBody>
              </p:sp>
            </mc:Choice>
            <mc:Fallback xmlns="">
              <p:sp>
                <p:nvSpPr>
                  <p:cNvPr id="35" name="TextBox 34"/>
                  <p:cNvSpPr txBox="1">
                    <a:spLocks noRot="1" noChangeAspect="1" noMove="1" noResize="1" noEditPoints="1" noAdjustHandles="1" noChangeArrowheads="1" noChangeShapeType="1" noTextEdit="1"/>
                  </p:cNvSpPr>
                  <p:nvPr/>
                </p:nvSpPr>
                <p:spPr>
                  <a:xfrm>
                    <a:off x="1994863" y="5854920"/>
                    <a:ext cx="962828" cy="400110"/>
                  </a:xfrm>
                  <a:prstGeom prst="rect">
                    <a:avLst/>
                  </a:prstGeom>
                  <a:blipFill>
                    <a:blip r:embed="rId6"/>
                    <a:stretch>
                      <a:fillRect l="-6329" t="-6061" b="-27273"/>
                    </a:stretch>
                  </a:blipFill>
                </p:spPr>
                <p:txBody>
                  <a:bodyPr/>
                  <a:lstStyle/>
                  <a:p>
                    <a:r>
                      <a:rPr lang="en-US">
                        <a:noFill/>
                      </a:rPr>
                      <a:t> </a:t>
                    </a:r>
                  </a:p>
                </p:txBody>
              </p:sp>
            </mc:Fallback>
          </mc:AlternateContent>
        </p:grpSp>
        <p:pic>
          <p:nvPicPr>
            <p:cNvPr id="32" name="Picture 31"/>
            <p:cNvPicPr>
              <a:picLocks noChangeAspect="1"/>
            </p:cNvPicPr>
            <p:nvPr/>
          </p:nvPicPr>
          <p:blipFill>
            <a:blip r:embed="rId7"/>
            <a:stretch>
              <a:fillRect/>
            </a:stretch>
          </p:blipFill>
          <p:spPr>
            <a:xfrm>
              <a:off x="85904" y="1490662"/>
              <a:ext cx="5743575" cy="4333875"/>
            </a:xfrm>
            <a:prstGeom prst="rect">
              <a:avLst/>
            </a:prstGeom>
          </p:spPr>
        </p:pic>
      </p:grpSp>
    </p:spTree>
    <p:extLst>
      <p:ext uri="{BB962C8B-B14F-4D97-AF65-F5344CB8AC3E}">
        <p14:creationId xmlns:p14="http://schemas.microsoft.com/office/powerpoint/2010/main" val="2376991072"/>
      </p:ext>
    </p:extLst>
  </p:cSld>
  <p:clrMapOvr>
    <a:masterClrMapping/>
  </p:clrMapOvr>
  <p:timing>
    <p:tnLst>
      <p:par>
        <p:cTn id="1" dur="indefinite" restart="never" nodeType="tmRoot"/>
      </p:par>
    </p:tnLst>
  </p:timing>
  <p:extLst mod="1">
    <p:ext uri="{6950BFC3-D8DA-4A85-94F7-54DA5524770B}">
      <p188:commentRel xmlns:p188="http://schemas.microsoft.com/office/powerpoint/2018/8/main" xmlns="" r:id="rId11"/>
    </p:ext>
  </p:extLst>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88"/>
        <p:cNvGrpSpPr/>
        <p:nvPr/>
      </p:nvGrpSpPr>
      <p:grpSpPr>
        <a:xfrm>
          <a:off x="0" y="0"/>
          <a:ext cx="0" cy="0"/>
          <a:chOff x="0" y="0"/>
          <a:chExt cx="0" cy="0"/>
        </a:xfrm>
      </p:grpSpPr>
      <p:sp>
        <p:nvSpPr>
          <p:cNvPr id="89" name="Google Shape;89;p6"/>
          <p:cNvSpPr/>
          <p:nvPr/>
        </p:nvSpPr>
        <p:spPr>
          <a:xfrm>
            <a:off x="4544009" y="3459886"/>
            <a:ext cx="7442200" cy="0"/>
          </a:xfrm>
          <a:custGeom>
            <a:avLst/>
            <a:gdLst/>
            <a:ahLst/>
            <a:cxnLst/>
            <a:rect l="l" t="t" r="r" b="b"/>
            <a:pathLst>
              <a:path w="7442200" h="120000" extrusionOk="0">
                <a:moveTo>
                  <a:pt x="0" y="0"/>
                </a:moveTo>
                <a:lnTo>
                  <a:pt x="7442044" y="0"/>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j-lt"/>
              <a:ea typeface="Calibri"/>
              <a:cs typeface="Calibri"/>
              <a:sym typeface="Calibri"/>
            </a:endParaRPr>
          </a:p>
        </p:txBody>
      </p:sp>
      <p:sp>
        <p:nvSpPr>
          <p:cNvPr id="90" name="Google Shape;90;p6"/>
          <p:cNvSpPr txBox="1">
            <a:spLocks noGrp="1"/>
          </p:cNvSpPr>
          <p:nvPr>
            <p:ph type="body" idx="1"/>
          </p:nvPr>
        </p:nvSpPr>
        <p:spPr>
          <a:xfrm>
            <a:off x="1105926" y="912599"/>
            <a:ext cx="10218000" cy="1860000"/>
          </a:xfrm>
          <a:prstGeom prst="rect">
            <a:avLst/>
          </a:prstGeom>
          <a:noFill/>
          <a:ln>
            <a:noFill/>
          </a:ln>
        </p:spPr>
        <p:txBody>
          <a:bodyPr spcFirstLastPara="1" wrap="square" lIns="0" tIns="12700" rIns="0" bIns="0" anchor="t" anchorCtr="0">
            <a:spAutoFit/>
          </a:bodyPr>
          <a:lstStyle/>
          <a:p>
            <a:pPr marL="4547870" marR="5080" lvl="0" indent="-193040" algn="l" rtl="0">
              <a:lnSpc>
                <a:spcPct val="100000"/>
              </a:lnSpc>
              <a:spcBef>
                <a:spcPts val="0"/>
              </a:spcBef>
              <a:spcAft>
                <a:spcPts val="0"/>
              </a:spcAft>
              <a:buSzPts val="1400"/>
              <a:buNone/>
            </a:pPr>
            <a:r>
              <a:rPr lang="en-US" dirty="0">
                <a:latin typeface="+mj-lt"/>
              </a:rPr>
              <a:t>One hidden layer  Neural Network</a:t>
            </a:r>
            <a:endParaRPr dirty="0">
              <a:latin typeface="+mj-lt"/>
            </a:endParaRPr>
          </a:p>
        </p:txBody>
      </p:sp>
      <p:sp>
        <p:nvSpPr>
          <p:cNvPr id="91" name="Google Shape;91;p6"/>
          <p:cNvSpPr txBox="1"/>
          <p:nvPr/>
        </p:nvSpPr>
        <p:spPr>
          <a:xfrm>
            <a:off x="4544010" y="3608097"/>
            <a:ext cx="7360776" cy="2020040"/>
          </a:xfrm>
          <a:prstGeom prst="rect">
            <a:avLst/>
          </a:prstGeom>
          <a:noFill/>
          <a:ln>
            <a:noFill/>
          </a:ln>
        </p:spPr>
        <p:txBody>
          <a:bodyPr spcFirstLastPara="1" wrap="square" lIns="0" tIns="25400" rIns="0" bIns="0" anchor="t" anchorCtr="0">
            <a:spAutoFit/>
          </a:bodyPr>
          <a:lstStyle/>
          <a:p>
            <a:pPr marL="12700" marR="5080" lvl="0" indent="-635" algn="ctr" rtl="0">
              <a:lnSpc>
                <a:spcPct val="119814"/>
              </a:lnSpc>
              <a:spcBef>
                <a:spcPts val="0"/>
              </a:spcBef>
              <a:spcAft>
                <a:spcPts val="0"/>
              </a:spcAft>
              <a:buClr>
                <a:srgbClr val="000000"/>
              </a:buClr>
              <a:buSzPts val="5400"/>
              <a:buFont typeface="Arial"/>
              <a:buNone/>
            </a:pPr>
            <a:r>
              <a:rPr lang="en-US" sz="5400" b="0" i="0" u="none" strike="noStrike" cap="none" dirty="0">
                <a:solidFill>
                  <a:schemeClr val="dk1"/>
                </a:solidFill>
                <a:latin typeface="+mj-lt"/>
                <a:ea typeface="Calibri"/>
                <a:cs typeface="Calibri"/>
                <a:sym typeface="Calibri"/>
              </a:rPr>
              <a:t>Computing a Neural Network’s Output</a:t>
            </a:r>
            <a:endParaRPr sz="5400" b="0" i="0" u="none" strike="noStrike" cap="none" dirty="0">
              <a:solidFill>
                <a:schemeClr val="dk1"/>
              </a:solidFill>
              <a:latin typeface="+mj-lt"/>
              <a:ea typeface="Calibri"/>
              <a:cs typeface="Calibri"/>
              <a:sym typeface="Calibri"/>
            </a:endParaRPr>
          </a:p>
        </p:txBody>
      </p:sp>
      <p:pic>
        <p:nvPicPr>
          <p:cNvPr id="92" name="Google Shape;92;p6"/>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93" name="Google Shape;93;p6"/>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12</a:t>
            </a:fld>
            <a:endParaRPr>
              <a:latin typeface="+mj-l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pic>
        <p:nvPicPr>
          <p:cNvPr id="62" name="Google Shape;62;p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63" name="Google Shape;63;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13</a:t>
            </a:fld>
            <a:endParaRPr>
              <a:latin typeface="+mj-lt"/>
            </a:endParaRPr>
          </a:p>
        </p:txBody>
      </p:sp>
      <p:sp>
        <p:nvSpPr>
          <p:cNvPr id="6" name="Google Shape;45;g20098e1d08f_0_0"/>
          <p:cNvSpPr txBox="1">
            <a:spLocks noGrp="1"/>
          </p:cNvSpPr>
          <p:nvPr>
            <p:ph type="body" idx="1"/>
          </p:nvPr>
        </p:nvSpPr>
        <p:spPr>
          <a:xfrm>
            <a:off x="85904" y="57762"/>
            <a:ext cx="9584700" cy="677108"/>
          </a:xfrm>
          <a:prstGeom prst="rect">
            <a:avLst/>
          </a:prstGeom>
          <a:noFill/>
          <a:ln>
            <a:noFill/>
          </a:ln>
        </p:spPr>
        <p:txBody>
          <a:bodyPr spcFirstLastPara="1" wrap="square" lIns="0" tIns="0" rIns="0" bIns="0" anchor="t" anchorCtr="0">
            <a:spAutoFit/>
          </a:bodyPr>
          <a:lstStyle/>
          <a:p>
            <a:pPr marL="0" lvl="0" indent="0"/>
            <a:r>
              <a:rPr lang="en-US" sz="4400" dirty="0">
                <a:latin typeface="+mj-lt"/>
              </a:rPr>
              <a:t>Computing a Neural Network’s Output</a:t>
            </a:r>
          </a:p>
        </p:txBody>
      </p:sp>
      <p:sp>
        <p:nvSpPr>
          <p:cNvPr id="42" name="Content Placeholder 2"/>
          <p:cNvSpPr txBox="1">
            <a:spLocks/>
          </p:cNvSpPr>
          <p:nvPr/>
        </p:nvSpPr>
        <p:spPr>
          <a:xfrm>
            <a:off x="936096" y="1018145"/>
            <a:ext cx="9584265" cy="344709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60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r>
              <a:rPr lang="en-US" sz="2400" b="1" dirty="0">
                <a:latin typeface="+mj-lt"/>
              </a:rPr>
              <a:t>Equations of Hidden </a:t>
            </a:r>
            <a:r>
              <a:rPr lang="en-US" sz="2400" b="1" dirty="0" smtClean="0">
                <a:latin typeface="+mj-lt"/>
              </a:rPr>
              <a:t>layers:</a:t>
            </a:r>
          </a:p>
          <a:p>
            <a:r>
              <a:rPr lang="en-US" sz="2000" dirty="0" smtClean="0">
                <a:latin typeface="+mj-lt"/>
              </a:rPr>
              <a:t>Each </a:t>
            </a:r>
            <a:r>
              <a:rPr lang="en-US" sz="2000" dirty="0">
                <a:latin typeface="+mj-lt"/>
              </a:rPr>
              <a:t>neuron will receive an input, perform some transformations on them (</a:t>
            </a:r>
            <a:r>
              <a:rPr lang="en-US" sz="2000" dirty="0" smtClean="0">
                <a:latin typeface="+mj-lt"/>
              </a:rPr>
              <a:t>here,  </a:t>
            </a:r>
            <a:r>
              <a:rPr lang="en-US" sz="2000" dirty="0">
                <a:latin typeface="+mj-lt"/>
              </a:rPr>
              <a:t>calculation </a:t>
            </a:r>
            <a:r>
              <a:rPr lang="en-US" sz="2000" dirty="0" smtClean="0">
                <a:latin typeface="+mj-lt"/>
              </a:rPr>
              <a:t>Z = W</a:t>
            </a:r>
            <a:r>
              <a:rPr lang="en-US" sz="2000" baseline="30000" dirty="0" smtClean="0">
                <a:latin typeface="+mj-lt"/>
              </a:rPr>
              <a:t>[T]</a:t>
            </a:r>
            <a:r>
              <a:rPr lang="en-US" sz="2000" dirty="0">
                <a:latin typeface="+mj-lt"/>
              </a:rPr>
              <a:t>x + b) then apply the sigmoid </a:t>
            </a:r>
            <a:r>
              <a:rPr lang="en-US" sz="2000" dirty="0" smtClean="0">
                <a:latin typeface="+mj-lt"/>
              </a:rPr>
              <a:t>function (</a:t>
            </a:r>
            <a:r>
              <a:rPr lang="el-GR" sz="2000" dirty="0" smtClean="0">
                <a:latin typeface="+mj-lt"/>
              </a:rPr>
              <a:t>σ</a:t>
            </a:r>
            <a:r>
              <a:rPr lang="en-US" sz="2000" dirty="0" smtClean="0">
                <a:latin typeface="+mj-lt"/>
              </a:rPr>
              <a:t>):</a:t>
            </a:r>
            <a:endParaRPr lang="en-US" sz="2000" dirty="0">
              <a:latin typeface="+mj-lt"/>
            </a:endParaRPr>
          </a:p>
          <a:p>
            <a:endParaRPr lang="en-US" sz="2000" b="1" dirty="0" smtClean="0">
              <a:latin typeface="+mj-lt"/>
            </a:endParaRPr>
          </a:p>
          <a:p>
            <a:endParaRPr lang="en-US" sz="2000" b="1" dirty="0">
              <a:latin typeface="+mj-lt"/>
            </a:endParaRPr>
          </a:p>
          <a:p>
            <a:endParaRPr lang="en-US" sz="2000" b="1" dirty="0" smtClean="0">
              <a:latin typeface="+mj-lt"/>
            </a:endParaRPr>
          </a:p>
          <a:p>
            <a:endParaRPr lang="en-US" sz="2000" b="1" dirty="0">
              <a:latin typeface="+mj-lt"/>
            </a:endParaRPr>
          </a:p>
          <a:p>
            <a:endParaRPr lang="en-US" sz="2000" b="1" dirty="0" smtClean="0">
              <a:latin typeface="+mj-lt"/>
            </a:endParaRPr>
          </a:p>
          <a:p>
            <a:endParaRPr lang="en-US" sz="2000" b="1" dirty="0">
              <a:latin typeface="+mj-lt"/>
            </a:endParaRPr>
          </a:p>
          <a:p>
            <a:endParaRPr lang="en-US" sz="2000" b="1" dirty="0">
              <a:latin typeface="+mj-lt"/>
            </a:endParaRPr>
          </a:p>
          <a:p>
            <a:endParaRPr lang="en-US" sz="2000" b="1" dirty="0" smtClean="0">
              <a:latin typeface="+mj-lt"/>
            </a:endParaRPr>
          </a:p>
        </p:txBody>
      </p:sp>
      <p:sp>
        <p:nvSpPr>
          <p:cNvPr id="3" name="AutoShape 2" descr="https://images.viblo.asia/baa46a6f-1096-4754-a226-6c1fc19edc68.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p:cNvPicPr>
            <a:picLocks noChangeAspect="1"/>
          </p:cNvPicPr>
          <p:nvPr/>
        </p:nvPicPr>
        <p:blipFill>
          <a:blip r:embed="rId4"/>
          <a:stretch>
            <a:fillRect/>
          </a:stretch>
        </p:blipFill>
        <p:spPr>
          <a:xfrm>
            <a:off x="6624636" y="2715640"/>
            <a:ext cx="3895725" cy="1743075"/>
          </a:xfrm>
          <a:prstGeom prst="rect">
            <a:avLst/>
          </a:prstGeom>
        </p:spPr>
      </p:pic>
      <p:grpSp>
        <p:nvGrpSpPr>
          <p:cNvPr id="70" name="Group 69"/>
          <p:cNvGrpSpPr/>
          <p:nvPr/>
        </p:nvGrpSpPr>
        <p:grpSpPr>
          <a:xfrm>
            <a:off x="1077424" y="2206052"/>
            <a:ext cx="4867275" cy="2762250"/>
            <a:chOff x="391624" y="2039083"/>
            <a:chExt cx="4867275" cy="2762250"/>
          </a:xfrm>
        </p:grpSpPr>
        <p:pic>
          <p:nvPicPr>
            <p:cNvPr id="71" name="Picture 70"/>
            <p:cNvPicPr>
              <a:picLocks noChangeAspect="1"/>
            </p:cNvPicPr>
            <p:nvPr/>
          </p:nvPicPr>
          <p:blipFill>
            <a:blip r:embed="rId5"/>
            <a:stretch>
              <a:fillRect/>
            </a:stretch>
          </p:blipFill>
          <p:spPr>
            <a:xfrm>
              <a:off x="391624" y="2039083"/>
              <a:ext cx="4867275" cy="2762250"/>
            </a:xfrm>
            <a:prstGeom prst="rect">
              <a:avLst/>
            </a:prstGeom>
          </p:spPr>
        </p:pic>
        <mc:AlternateContent xmlns:mc="http://schemas.openxmlformats.org/markup-compatibility/2006" xmlns:a14="http://schemas.microsoft.com/office/drawing/2010/main">
          <mc:Choice Requires="a14">
            <p:sp>
              <p:nvSpPr>
                <p:cNvPr id="72" name="TextBox 71"/>
                <p:cNvSpPr txBox="1"/>
                <p:nvPr/>
              </p:nvSpPr>
              <p:spPr>
                <a:xfrm>
                  <a:off x="3508131" y="3297116"/>
                  <a:ext cx="791308" cy="3811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1800" b="1" i="1" smtClean="0">
                                <a:latin typeface="Cambria Math" panose="02040503050406030204" pitchFamily="18" charset="0"/>
                              </a:rPr>
                            </m:ctrlPr>
                          </m:sSupPr>
                          <m:e>
                            <m:r>
                              <a:rPr lang="en-US" sz="1800" b="1" i="1" smtClean="0">
                                <a:latin typeface="Cambria Math" panose="02040503050406030204" pitchFamily="18" charset="0"/>
                              </a:rPr>
                              <m:t>𝒂</m:t>
                            </m:r>
                          </m:e>
                          <m:sup>
                            <m:r>
                              <a:rPr lang="en-US" sz="1800" b="1" i="1" smtClean="0">
                                <a:latin typeface="Cambria Math" panose="02040503050406030204" pitchFamily="18" charset="0"/>
                              </a:rPr>
                              <m:t>[</m:t>
                            </m:r>
                            <m:r>
                              <a:rPr lang="en-US" sz="1800" b="1" i="1" smtClean="0">
                                <a:latin typeface="Cambria Math" panose="02040503050406030204" pitchFamily="18" charset="0"/>
                              </a:rPr>
                              <m:t>𝟐</m:t>
                            </m:r>
                            <m:r>
                              <a:rPr lang="en-US" sz="1800" b="1" i="1" smtClean="0">
                                <a:latin typeface="Cambria Math" panose="02040503050406030204" pitchFamily="18" charset="0"/>
                              </a:rPr>
                              <m:t>]</m:t>
                            </m:r>
                          </m:sup>
                        </m:sSup>
                      </m:oMath>
                    </m:oMathPara>
                  </a14:m>
                  <a:endParaRPr lang="en-US" sz="1800" b="1" dirty="0"/>
                </a:p>
              </p:txBody>
            </p:sp>
          </mc:Choice>
          <mc:Fallback xmlns="">
            <p:sp>
              <p:nvSpPr>
                <p:cNvPr id="72" name="TextBox 71"/>
                <p:cNvSpPr txBox="1">
                  <a:spLocks noRot="1" noChangeAspect="1" noMove="1" noResize="1" noEditPoints="1" noAdjustHandles="1" noChangeArrowheads="1" noChangeShapeType="1" noTextEdit="1"/>
                </p:cNvSpPr>
                <p:nvPr/>
              </p:nvSpPr>
              <p:spPr>
                <a:xfrm>
                  <a:off x="3508131" y="3297116"/>
                  <a:ext cx="791308" cy="381130"/>
                </a:xfrm>
                <a:prstGeom prst="rect">
                  <a:avLst/>
                </a:prstGeom>
                <a:blipFill>
                  <a:blip r:embed="rId6"/>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681502084"/>
      </p:ext>
    </p:extLst>
  </p:cSld>
  <p:clrMapOvr>
    <a:masterClrMapping/>
  </p:clrMapOvr>
  <p:timing>
    <p:tnLst>
      <p:par>
        <p:cTn id="1" dur="indefinite" restart="never" nodeType="tmRoot"/>
      </p:par>
    </p:tnLst>
  </p:timing>
  <p:extLst mod="1">
    <p:ext uri="{6950BFC3-D8DA-4A85-94F7-54DA5524770B}">
      <p188:commentRel xmlns:p188="http://schemas.microsoft.com/office/powerpoint/2018/8/main" xmlns="" r:id="rId11"/>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pic>
        <p:nvPicPr>
          <p:cNvPr id="62" name="Google Shape;62;p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63" name="Google Shape;63;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14</a:t>
            </a:fld>
            <a:endParaRPr>
              <a:latin typeface="+mj-lt"/>
            </a:endParaRPr>
          </a:p>
        </p:txBody>
      </p:sp>
      <p:sp>
        <p:nvSpPr>
          <p:cNvPr id="6" name="Google Shape;45;g20098e1d08f_0_0"/>
          <p:cNvSpPr txBox="1">
            <a:spLocks noGrp="1"/>
          </p:cNvSpPr>
          <p:nvPr>
            <p:ph type="body" idx="1"/>
          </p:nvPr>
        </p:nvSpPr>
        <p:spPr>
          <a:xfrm>
            <a:off x="85904" y="57762"/>
            <a:ext cx="9584700" cy="677108"/>
          </a:xfrm>
          <a:prstGeom prst="rect">
            <a:avLst/>
          </a:prstGeom>
          <a:noFill/>
          <a:ln>
            <a:noFill/>
          </a:ln>
        </p:spPr>
        <p:txBody>
          <a:bodyPr spcFirstLastPara="1" wrap="square" lIns="0" tIns="0" rIns="0" bIns="0" anchor="t" anchorCtr="0">
            <a:spAutoFit/>
          </a:bodyPr>
          <a:lstStyle/>
          <a:p>
            <a:pPr marL="0" lvl="0" indent="0"/>
            <a:r>
              <a:rPr lang="en-US" sz="4400" dirty="0">
                <a:latin typeface="+mj-lt"/>
              </a:rPr>
              <a:t>Computing a Neural Network’s Output</a:t>
            </a:r>
          </a:p>
        </p:txBody>
      </p:sp>
      <p:sp>
        <p:nvSpPr>
          <p:cNvPr id="42" name="Content Placeholder 2"/>
          <p:cNvSpPr txBox="1">
            <a:spLocks/>
          </p:cNvSpPr>
          <p:nvPr/>
        </p:nvSpPr>
        <p:spPr>
          <a:xfrm>
            <a:off x="936096" y="1018145"/>
            <a:ext cx="9584265" cy="252376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60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r>
              <a:rPr lang="en-US" sz="2400" b="1" dirty="0">
                <a:latin typeface="+mj-lt"/>
              </a:rPr>
              <a:t>Equations of Hidden </a:t>
            </a:r>
            <a:r>
              <a:rPr lang="en-US" sz="2400" b="1" dirty="0" smtClean="0">
                <a:latin typeface="+mj-lt"/>
              </a:rPr>
              <a:t>layers:</a:t>
            </a:r>
            <a:endParaRPr lang="en-US" sz="2000" b="1" dirty="0" smtClean="0">
              <a:latin typeface="+mj-lt"/>
            </a:endParaRPr>
          </a:p>
          <a:p>
            <a:endParaRPr lang="en-US" sz="2000" b="1" dirty="0">
              <a:latin typeface="+mj-lt"/>
            </a:endParaRPr>
          </a:p>
          <a:p>
            <a:endParaRPr lang="en-US" sz="2000" b="1" dirty="0" smtClean="0">
              <a:latin typeface="+mj-lt"/>
            </a:endParaRPr>
          </a:p>
          <a:p>
            <a:endParaRPr lang="en-US" sz="2000" b="1" dirty="0">
              <a:latin typeface="+mj-lt"/>
            </a:endParaRPr>
          </a:p>
          <a:p>
            <a:endParaRPr lang="en-US" sz="2000" b="1" dirty="0" smtClean="0">
              <a:latin typeface="+mj-lt"/>
            </a:endParaRPr>
          </a:p>
          <a:p>
            <a:endParaRPr lang="en-US" sz="2000" b="1" dirty="0">
              <a:latin typeface="+mj-lt"/>
            </a:endParaRPr>
          </a:p>
          <a:p>
            <a:endParaRPr lang="en-US" sz="2000" b="1" dirty="0">
              <a:latin typeface="+mj-lt"/>
            </a:endParaRPr>
          </a:p>
          <a:p>
            <a:endParaRPr lang="en-US" sz="2000" b="1" dirty="0" smtClean="0">
              <a:latin typeface="+mj-lt"/>
            </a:endParaRPr>
          </a:p>
        </p:txBody>
      </p:sp>
      <p:sp>
        <p:nvSpPr>
          <p:cNvPr id="3" name="AutoShape 2" descr="https://images.viblo.asia/baa46a6f-1096-4754-a226-6c1fc19edc68.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p:cNvPicPr>
            <a:picLocks noChangeAspect="1"/>
          </p:cNvPicPr>
          <p:nvPr/>
        </p:nvPicPr>
        <p:blipFill>
          <a:blip r:embed="rId4"/>
          <a:stretch>
            <a:fillRect/>
          </a:stretch>
        </p:blipFill>
        <p:spPr>
          <a:xfrm>
            <a:off x="990021" y="1416809"/>
            <a:ext cx="10468464" cy="5238331"/>
          </a:xfrm>
          <a:prstGeom prst="rect">
            <a:avLst/>
          </a:prstGeom>
        </p:spPr>
      </p:pic>
    </p:spTree>
    <p:extLst>
      <p:ext uri="{BB962C8B-B14F-4D97-AF65-F5344CB8AC3E}">
        <p14:creationId xmlns:p14="http://schemas.microsoft.com/office/powerpoint/2010/main" val="402366202"/>
      </p:ext>
    </p:extLst>
  </p:cSld>
  <p:clrMapOvr>
    <a:masterClrMapping/>
  </p:clrMapOvr>
  <p:timing>
    <p:tnLst>
      <p:par>
        <p:cTn id="1" dur="indefinite" restart="never" nodeType="tmRoot"/>
      </p:par>
    </p:tnLst>
  </p:timing>
  <p:extLst mod="1">
    <p:ext uri="{6950BFC3-D8DA-4A85-94F7-54DA5524770B}">
      <p188:commentRel xmlns:p188="http://schemas.microsoft.com/office/powerpoint/2018/8/main" xmlns="" r:id="rId11"/>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pic>
        <p:nvPicPr>
          <p:cNvPr id="62" name="Google Shape;62;p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63" name="Google Shape;63;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15</a:t>
            </a:fld>
            <a:endParaRPr>
              <a:latin typeface="+mj-lt"/>
            </a:endParaRPr>
          </a:p>
        </p:txBody>
      </p:sp>
      <p:sp>
        <p:nvSpPr>
          <p:cNvPr id="6" name="Google Shape;45;g20098e1d08f_0_0"/>
          <p:cNvSpPr txBox="1">
            <a:spLocks noGrp="1"/>
          </p:cNvSpPr>
          <p:nvPr>
            <p:ph type="body" idx="1"/>
          </p:nvPr>
        </p:nvSpPr>
        <p:spPr>
          <a:xfrm>
            <a:off x="85904" y="57762"/>
            <a:ext cx="9584700" cy="677108"/>
          </a:xfrm>
          <a:prstGeom prst="rect">
            <a:avLst/>
          </a:prstGeom>
          <a:noFill/>
          <a:ln>
            <a:noFill/>
          </a:ln>
        </p:spPr>
        <p:txBody>
          <a:bodyPr spcFirstLastPara="1" wrap="square" lIns="0" tIns="0" rIns="0" bIns="0" anchor="t" anchorCtr="0">
            <a:spAutoFit/>
          </a:bodyPr>
          <a:lstStyle/>
          <a:p>
            <a:pPr marL="0" lvl="0" indent="0"/>
            <a:r>
              <a:rPr lang="en-US" sz="4400" dirty="0">
                <a:latin typeface="+mj-lt"/>
              </a:rPr>
              <a:t>Computing a Neural Network’s Output</a:t>
            </a:r>
          </a:p>
        </p:txBody>
      </p:sp>
      <p:sp>
        <p:nvSpPr>
          <p:cNvPr id="42" name="Content Placeholder 2"/>
          <p:cNvSpPr txBox="1">
            <a:spLocks/>
          </p:cNvSpPr>
          <p:nvPr/>
        </p:nvSpPr>
        <p:spPr>
          <a:xfrm>
            <a:off x="936096" y="1018145"/>
            <a:ext cx="9584265" cy="344709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60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r>
              <a:rPr lang="en-US" sz="2400" b="1" dirty="0">
                <a:latin typeface="+mj-lt"/>
              </a:rPr>
              <a:t>Equations of Hidden layers</a:t>
            </a:r>
            <a:r>
              <a:rPr lang="en-US" sz="2400" b="1" dirty="0" smtClean="0">
                <a:latin typeface="+mj-lt"/>
              </a:rPr>
              <a:t>:</a:t>
            </a:r>
            <a:endParaRPr lang="en-US" sz="2400" b="1" dirty="0">
              <a:latin typeface="+mj-lt"/>
            </a:endParaRPr>
          </a:p>
          <a:p>
            <a:r>
              <a:rPr lang="en-US" sz="2000" dirty="0" smtClean="0">
                <a:latin typeface="+mj-lt"/>
              </a:rPr>
              <a:t>These </a:t>
            </a:r>
            <a:r>
              <a:rPr lang="en-US" sz="2000" dirty="0">
                <a:latin typeface="+mj-lt"/>
              </a:rPr>
              <a:t>steps will be performed on each nerve cell. The equations for the first hidden layer with 4 neurons will be:</a:t>
            </a:r>
            <a:endParaRPr lang="en-US" sz="2000" dirty="0" smtClean="0">
              <a:latin typeface="+mj-lt"/>
            </a:endParaRPr>
          </a:p>
          <a:p>
            <a:endParaRPr lang="en-US" sz="2000" b="1" dirty="0">
              <a:latin typeface="+mj-lt"/>
            </a:endParaRPr>
          </a:p>
          <a:p>
            <a:endParaRPr lang="en-US" sz="2000" b="1" dirty="0" smtClean="0">
              <a:latin typeface="+mj-lt"/>
            </a:endParaRPr>
          </a:p>
          <a:p>
            <a:endParaRPr lang="en-US" sz="2000" b="1" dirty="0">
              <a:latin typeface="+mj-lt"/>
            </a:endParaRPr>
          </a:p>
          <a:p>
            <a:endParaRPr lang="en-US" sz="2000" b="1" dirty="0" smtClean="0">
              <a:latin typeface="+mj-lt"/>
            </a:endParaRPr>
          </a:p>
          <a:p>
            <a:endParaRPr lang="en-US" sz="2000" b="1" dirty="0">
              <a:latin typeface="+mj-lt"/>
            </a:endParaRPr>
          </a:p>
          <a:p>
            <a:endParaRPr lang="en-US" sz="2000" b="1" dirty="0" smtClean="0">
              <a:latin typeface="+mj-lt"/>
            </a:endParaRPr>
          </a:p>
          <a:p>
            <a:endParaRPr lang="en-US" sz="2000" b="1" dirty="0">
              <a:latin typeface="+mj-lt"/>
            </a:endParaRPr>
          </a:p>
          <a:p>
            <a:endParaRPr lang="en-US" sz="2000" b="1" dirty="0" smtClean="0">
              <a:latin typeface="+mj-lt"/>
            </a:endParaRPr>
          </a:p>
        </p:txBody>
      </p:sp>
      <p:sp>
        <p:nvSpPr>
          <p:cNvPr id="3" name="AutoShape 2" descr="https://images.viblo.asia/baa46a6f-1096-4754-a226-6c1fc19edc68.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p:cNvPicPr>
            <a:picLocks noChangeAspect="1"/>
          </p:cNvPicPr>
          <p:nvPr/>
        </p:nvPicPr>
        <p:blipFill>
          <a:blip r:embed="rId4"/>
          <a:stretch>
            <a:fillRect/>
          </a:stretch>
        </p:blipFill>
        <p:spPr>
          <a:xfrm>
            <a:off x="5700162" y="2482277"/>
            <a:ext cx="4181475" cy="2209800"/>
          </a:xfrm>
          <a:prstGeom prst="rect">
            <a:avLst/>
          </a:prstGeom>
        </p:spPr>
      </p:pic>
      <p:grpSp>
        <p:nvGrpSpPr>
          <p:cNvPr id="16" name="Group 15"/>
          <p:cNvGrpSpPr/>
          <p:nvPr/>
        </p:nvGrpSpPr>
        <p:grpSpPr>
          <a:xfrm>
            <a:off x="593847" y="2135798"/>
            <a:ext cx="4867275" cy="2762250"/>
            <a:chOff x="391624" y="2039083"/>
            <a:chExt cx="4867275" cy="2762250"/>
          </a:xfrm>
        </p:grpSpPr>
        <p:pic>
          <p:nvPicPr>
            <p:cNvPr id="17" name="Picture 16"/>
            <p:cNvPicPr>
              <a:picLocks noChangeAspect="1"/>
            </p:cNvPicPr>
            <p:nvPr/>
          </p:nvPicPr>
          <p:blipFill>
            <a:blip r:embed="rId5"/>
            <a:stretch>
              <a:fillRect/>
            </a:stretch>
          </p:blipFill>
          <p:spPr>
            <a:xfrm>
              <a:off x="391624" y="2039083"/>
              <a:ext cx="4867275" cy="2762250"/>
            </a:xfrm>
            <a:prstGeom prst="rect">
              <a:avLst/>
            </a:prstGeom>
          </p:spPr>
        </p:pic>
        <mc:AlternateContent xmlns:mc="http://schemas.openxmlformats.org/markup-compatibility/2006" xmlns:a14="http://schemas.microsoft.com/office/drawing/2010/main">
          <mc:Choice Requires="a14">
            <p:sp>
              <p:nvSpPr>
                <p:cNvPr id="18" name="TextBox 17"/>
                <p:cNvSpPr txBox="1"/>
                <p:nvPr/>
              </p:nvSpPr>
              <p:spPr>
                <a:xfrm>
                  <a:off x="3508131" y="3297116"/>
                  <a:ext cx="791308" cy="3811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1800" b="1" i="1" smtClean="0">
                                <a:latin typeface="Cambria Math" panose="02040503050406030204" pitchFamily="18" charset="0"/>
                              </a:rPr>
                            </m:ctrlPr>
                          </m:sSupPr>
                          <m:e>
                            <m:r>
                              <a:rPr lang="en-US" sz="1800" b="1" i="1" smtClean="0">
                                <a:latin typeface="Cambria Math" panose="02040503050406030204" pitchFamily="18" charset="0"/>
                              </a:rPr>
                              <m:t>𝒂</m:t>
                            </m:r>
                          </m:e>
                          <m:sup>
                            <m:r>
                              <a:rPr lang="en-US" sz="1800" b="1" i="1" smtClean="0">
                                <a:latin typeface="Cambria Math" panose="02040503050406030204" pitchFamily="18" charset="0"/>
                              </a:rPr>
                              <m:t>[</m:t>
                            </m:r>
                            <m:r>
                              <a:rPr lang="en-US" sz="1800" b="1" i="1" smtClean="0">
                                <a:latin typeface="Cambria Math" panose="02040503050406030204" pitchFamily="18" charset="0"/>
                              </a:rPr>
                              <m:t>𝟐</m:t>
                            </m:r>
                            <m:r>
                              <a:rPr lang="en-US" sz="1800" b="1" i="1" smtClean="0">
                                <a:latin typeface="Cambria Math" panose="02040503050406030204" pitchFamily="18" charset="0"/>
                              </a:rPr>
                              <m:t>]</m:t>
                            </m:r>
                          </m:sup>
                        </m:sSup>
                      </m:oMath>
                    </m:oMathPara>
                  </a14:m>
                  <a:endParaRPr lang="en-US" sz="1800" b="1" dirty="0"/>
                </a:p>
              </p:txBody>
            </p:sp>
          </mc:Choice>
          <mc:Fallback xmlns="">
            <p:sp>
              <p:nvSpPr>
                <p:cNvPr id="18" name="TextBox 17"/>
                <p:cNvSpPr txBox="1">
                  <a:spLocks noRot="1" noChangeAspect="1" noMove="1" noResize="1" noEditPoints="1" noAdjustHandles="1" noChangeArrowheads="1" noChangeShapeType="1" noTextEdit="1"/>
                </p:cNvSpPr>
                <p:nvPr/>
              </p:nvSpPr>
              <p:spPr>
                <a:xfrm>
                  <a:off x="3508131" y="3297116"/>
                  <a:ext cx="791308" cy="381130"/>
                </a:xfrm>
                <a:prstGeom prst="rect">
                  <a:avLst/>
                </a:prstGeom>
                <a:blipFill>
                  <a:blip r:embed="rId6"/>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3906910888"/>
      </p:ext>
    </p:extLst>
  </p:cSld>
  <p:clrMapOvr>
    <a:masterClrMapping/>
  </p:clrMapOvr>
  <p:timing>
    <p:tnLst>
      <p:par>
        <p:cTn id="1" dur="indefinite" restart="never" nodeType="tmRoot"/>
      </p:par>
    </p:tnLst>
  </p:timing>
  <p:extLst mod="1">
    <p:ext uri="{6950BFC3-D8DA-4A85-94F7-54DA5524770B}">
      <p188:commentRel xmlns:p188="http://schemas.microsoft.com/office/powerpoint/2018/8/main" xmlns="" r:id="rId11"/>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pic>
        <p:nvPicPr>
          <p:cNvPr id="62" name="Google Shape;62;p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63" name="Google Shape;63;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16</a:t>
            </a:fld>
            <a:endParaRPr>
              <a:latin typeface="+mj-lt"/>
            </a:endParaRPr>
          </a:p>
        </p:txBody>
      </p:sp>
      <p:sp>
        <p:nvSpPr>
          <p:cNvPr id="6" name="Google Shape;45;g20098e1d08f_0_0"/>
          <p:cNvSpPr txBox="1">
            <a:spLocks noGrp="1"/>
          </p:cNvSpPr>
          <p:nvPr>
            <p:ph type="body" idx="1"/>
          </p:nvPr>
        </p:nvSpPr>
        <p:spPr>
          <a:xfrm>
            <a:off x="85904" y="57762"/>
            <a:ext cx="9584700" cy="677108"/>
          </a:xfrm>
          <a:prstGeom prst="rect">
            <a:avLst/>
          </a:prstGeom>
          <a:noFill/>
          <a:ln>
            <a:noFill/>
          </a:ln>
        </p:spPr>
        <p:txBody>
          <a:bodyPr spcFirstLastPara="1" wrap="square" lIns="0" tIns="0" rIns="0" bIns="0" anchor="t" anchorCtr="0">
            <a:spAutoFit/>
          </a:bodyPr>
          <a:lstStyle/>
          <a:p>
            <a:pPr marL="0" lvl="0" indent="0"/>
            <a:r>
              <a:rPr lang="en-US" sz="4400" dirty="0" smtClean="0">
                <a:latin typeface="+mj-lt"/>
              </a:rPr>
              <a:t>Computing a Neural Network’s Output</a:t>
            </a:r>
            <a:endParaRPr lang="en-US" sz="4400" dirty="0">
              <a:latin typeface="+mj-lt"/>
            </a:endParaRPr>
          </a:p>
        </p:txBody>
      </p:sp>
      <p:sp>
        <p:nvSpPr>
          <p:cNvPr id="42" name="Content Placeholder 2"/>
          <p:cNvSpPr txBox="1">
            <a:spLocks/>
          </p:cNvSpPr>
          <p:nvPr/>
        </p:nvSpPr>
        <p:spPr>
          <a:xfrm>
            <a:off x="936096" y="1018145"/>
            <a:ext cx="9584265" cy="560153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60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r>
              <a:rPr lang="en-US" sz="2400" b="1" dirty="0">
                <a:latin typeface="+mj-lt"/>
              </a:rPr>
              <a:t>Equations of Hidden </a:t>
            </a:r>
            <a:r>
              <a:rPr lang="en-US" sz="2400" b="1" dirty="0" smtClean="0">
                <a:latin typeface="+mj-lt"/>
              </a:rPr>
              <a:t>layers:</a:t>
            </a:r>
          </a:p>
          <a:p>
            <a:r>
              <a:rPr lang="en-US" sz="2000" dirty="0">
                <a:latin typeface="+mj-lt"/>
              </a:rPr>
              <a:t>So, for given input X, the outputs of layer 1 and 2 will be:</a:t>
            </a:r>
            <a:endParaRPr lang="en-US" sz="2000" b="1" dirty="0" smtClean="0">
              <a:latin typeface="+mj-lt"/>
            </a:endParaRPr>
          </a:p>
          <a:p>
            <a:endParaRPr lang="en-US" sz="2000" b="1" dirty="0">
              <a:latin typeface="+mj-lt"/>
            </a:endParaRPr>
          </a:p>
          <a:p>
            <a:endParaRPr lang="en-US" sz="2000" b="1" dirty="0" smtClean="0">
              <a:latin typeface="+mj-lt"/>
            </a:endParaRPr>
          </a:p>
          <a:p>
            <a:endParaRPr lang="en-US" sz="2000" b="1" dirty="0">
              <a:latin typeface="+mj-lt"/>
            </a:endParaRPr>
          </a:p>
          <a:p>
            <a:endParaRPr lang="en-US" sz="2000" b="1" dirty="0" smtClean="0">
              <a:latin typeface="+mj-lt"/>
            </a:endParaRPr>
          </a:p>
          <a:p>
            <a:endParaRPr lang="en-US" sz="2000" b="1" dirty="0" smtClean="0">
              <a:latin typeface="+mj-lt"/>
            </a:endParaRPr>
          </a:p>
          <a:p>
            <a:endParaRPr lang="en-US" sz="2000" b="1" dirty="0">
              <a:latin typeface="+mj-lt"/>
            </a:endParaRPr>
          </a:p>
          <a:p>
            <a:endParaRPr lang="en-US" sz="2000" b="1" dirty="0" smtClean="0">
              <a:latin typeface="+mj-lt"/>
            </a:endParaRPr>
          </a:p>
          <a:p>
            <a:endParaRPr lang="en-US" sz="2000" b="1" dirty="0">
              <a:latin typeface="+mj-lt"/>
            </a:endParaRPr>
          </a:p>
          <a:p>
            <a:endParaRPr lang="en-US" sz="2000" b="1" dirty="0">
              <a:latin typeface="+mj-lt"/>
            </a:endParaRPr>
          </a:p>
          <a:p>
            <a:endParaRPr lang="en-US" sz="2000" b="1" dirty="0" smtClean="0">
              <a:latin typeface="+mj-lt"/>
            </a:endParaRPr>
          </a:p>
          <a:p>
            <a:endParaRPr lang="en-US" sz="2000" b="1" dirty="0">
              <a:latin typeface="+mj-lt"/>
            </a:endParaRPr>
          </a:p>
          <a:p>
            <a:endParaRPr lang="en-US" sz="2000" b="1" dirty="0" smtClean="0">
              <a:latin typeface="+mj-lt"/>
            </a:endParaRPr>
          </a:p>
          <a:p>
            <a:endParaRPr lang="en-US" sz="2000" b="1" dirty="0">
              <a:latin typeface="+mj-lt"/>
            </a:endParaRPr>
          </a:p>
          <a:p>
            <a:endParaRPr lang="en-US" sz="2000" b="1" dirty="0" smtClean="0">
              <a:latin typeface="+mj-lt"/>
            </a:endParaRPr>
          </a:p>
          <a:p>
            <a:endParaRPr lang="en-US" sz="2000" b="1" dirty="0">
              <a:latin typeface="+mj-lt"/>
            </a:endParaRPr>
          </a:p>
          <a:p>
            <a:endParaRPr lang="en-US" sz="2000" b="1" dirty="0" smtClean="0">
              <a:latin typeface="+mj-lt"/>
            </a:endParaRPr>
          </a:p>
        </p:txBody>
      </p:sp>
      <p:sp>
        <p:nvSpPr>
          <p:cNvPr id="3" name="AutoShape 2" descr="https://images.viblo.asia/baa46a6f-1096-4754-a226-6c1fc19edc68.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p:cNvPicPr>
            <a:picLocks noChangeAspect="1"/>
          </p:cNvPicPr>
          <p:nvPr/>
        </p:nvPicPr>
        <p:blipFill>
          <a:blip r:embed="rId4"/>
          <a:stretch>
            <a:fillRect/>
          </a:stretch>
        </p:blipFill>
        <p:spPr>
          <a:xfrm>
            <a:off x="5572493" y="2310911"/>
            <a:ext cx="3035177" cy="2166923"/>
          </a:xfrm>
          <a:prstGeom prst="rect">
            <a:avLst/>
          </a:prstGeom>
        </p:spPr>
      </p:pic>
      <p:grpSp>
        <p:nvGrpSpPr>
          <p:cNvPr id="22" name="Group 21"/>
          <p:cNvGrpSpPr/>
          <p:nvPr/>
        </p:nvGrpSpPr>
        <p:grpSpPr>
          <a:xfrm>
            <a:off x="391624" y="2039083"/>
            <a:ext cx="4867275" cy="2762250"/>
            <a:chOff x="391624" y="2039083"/>
            <a:chExt cx="4867275" cy="2762250"/>
          </a:xfrm>
        </p:grpSpPr>
        <p:pic>
          <p:nvPicPr>
            <p:cNvPr id="23" name="Picture 22"/>
            <p:cNvPicPr>
              <a:picLocks noChangeAspect="1"/>
            </p:cNvPicPr>
            <p:nvPr/>
          </p:nvPicPr>
          <p:blipFill>
            <a:blip r:embed="rId5"/>
            <a:stretch>
              <a:fillRect/>
            </a:stretch>
          </p:blipFill>
          <p:spPr>
            <a:xfrm>
              <a:off x="391624" y="2039083"/>
              <a:ext cx="4867275" cy="2762250"/>
            </a:xfrm>
            <a:prstGeom prst="rect">
              <a:avLst/>
            </a:prstGeom>
          </p:spPr>
        </p:pic>
        <mc:AlternateContent xmlns:mc="http://schemas.openxmlformats.org/markup-compatibility/2006" xmlns:a14="http://schemas.microsoft.com/office/drawing/2010/main">
          <mc:Choice Requires="a14">
            <p:sp>
              <p:nvSpPr>
                <p:cNvPr id="24" name="TextBox 23"/>
                <p:cNvSpPr txBox="1"/>
                <p:nvPr/>
              </p:nvSpPr>
              <p:spPr>
                <a:xfrm>
                  <a:off x="3508131" y="3297116"/>
                  <a:ext cx="791308" cy="3811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1800" b="1" i="1" smtClean="0">
                                <a:latin typeface="Cambria Math" panose="02040503050406030204" pitchFamily="18" charset="0"/>
                              </a:rPr>
                            </m:ctrlPr>
                          </m:sSupPr>
                          <m:e>
                            <m:r>
                              <a:rPr lang="en-US" sz="1800" b="1" i="1" smtClean="0">
                                <a:latin typeface="Cambria Math" panose="02040503050406030204" pitchFamily="18" charset="0"/>
                              </a:rPr>
                              <m:t>𝒂</m:t>
                            </m:r>
                          </m:e>
                          <m:sup>
                            <m:r>
                              <a:rPr lang="en-US" sz="1800" b="1" i="1" smtClean="0">
                                <a:latin typeface="Cambria Math" panose="02040503050406030204" pitchFamily="18" charset="0"/>
                              </a:rPr>
                              <m:t>[</m:t>
                            </m:r>
                            <m:r>
                              <a:rPr lang="en-US" sz="1800" b="1" i="1" smtClean="0">
                                <a:latin typeface="Cambria Math" panose="02040503050406030204" pitchFamily="18" charset="0"/>
                              </a:rPr>
                              <m:t>𝟐</m:t>
                            </m:r>
                            <m:r>
                              <a:rPr lang="en-US" sz="1800" b="1" i="1" smtClean="0">
                                <a:latin typeface="Cambria Math" panose="02040503050406030204" pitchFamily="18" charset="0"/>
                              </a:rPr>
                              <m:t>]</m:t>
                            </m:r>
                          </m:sup>
                        </m:sSup>
                      </m:oMath>
                    </m:oMathPara>
                  </a14:m>
                  <a:endParaRPr lang="en-US" sz="1800" b="1" dirty="0"/>
                </a:p>
              </p:txBody>
            </p:sp>
          </mc:Choice>
          <mc:Fallback xmlns="">
            <p:sp>
              <p:nvSpPr>
                <p:cNvPr id="24" name="TextBox 23"/>
                <p:cNvSpPr txBox="1">
                  <a:spLocks noRot="1" noChangeAspect="1" noMove="1" noResize="1" noEditPoints="1" noAdjustHandles="1" noChangeArrowheads="1" noChangeShapeType="1" noTextEdit="1"/>
                </p:cNvSpPr>
                <p:nvPr/>
              </p:nvSpPr>
              <p:spPr>
                <a:xfrm>
                  <a:off x="3508131" y="3297116"/>
                  <a:ext cx="791308" cy="381130"/>
                </a:xfrm>
                <a:prstGeom prst="rect">
                  <a:avLst/>
                </a:prstGeom>
                <a:blipFill>
                  <a:blip r:embed="rId6"/>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1193484560"/>
      </p:ext>
    </p:extLst>
  </p:cSld>
  <p:clrMapOvr>
    <a:masterClrMapping/>
  </p:clrMapOvr>
  <p:timing>
    <p:tnLst>
      <p:par>
        <p:cTn id="1" dur="indefinite" restart="never" nodeType="tmRoot"/>
      </p:par>
    </p:tnLst>
  </p:timing>
  <p:extLst mod="1">
    <p:ext uri="{6950BFC3-D8DA-4A85-94F7-54DA5524770B}">
      <p188:commentRel xmlns:p188="http://schemas.microsoft.com/office/powerpoint/2018/8/main" xmlns="" r:id="rId11"/>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pic>
        <p:nvPicPr>
          <p:cNvPr id="62" name="Google Shape;62;p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63" name="Google Shape;63;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17</a:t>
            </a:fld>
            <a:endParaRPr>
              <a:latin typeface="+mj-lt"/>
            </a:endParaRPr>
          </a:p>
        </p:txBody>
      </p:sp>
      <p:sp>
        <p:nvSpPr>
          <p:cNvPr id="6" name="Google Shape;45;g20098e1d08f_0_0"/>
          <p:cNvSpPr txBox="1">
            <a:spLocks noGrp="1"/>
          </p:cNvSpPr>
          <p:nvPr>
            <p:ph type="body" idx="1"/>
          </p:nvPr>
        </p:nvSpPr>
        <p:spPr>
          <a:xfrm>
            <a:off x="85904" y="57762"/>
            <a:ext cx="9584700" cy="677108"/>
          </a:xfrm>
          <a:prstGeom prst="rect">
            <a:avLst/>
          </a:prstGeom>
          <a:noFill/>
          <a:ln>
            <a:noFill/>
          </a:ln>
        </p:spPr>
        <p:txBody>
          <a:bodyPr spcFirstLastPara="1" wrap="square" lIns="0" tIns="0" rIns="0" bIns="0" anchor="t" anchorCtr="0">
            <a:spAutoFit/>
          </a:bodyPr>
          <a:lstStyle/>
          <a:p>
            <a:pPr marL="0" lvl="0" indent="0"/>
            <a:r>
              <a:rPr lang="en-US" sz="4400" dirty="0">
                <a:latin typeface="+mj-lt"/>
              </a:rPr>
              <a:t>Computing a Neural Network’s Output</a:t>
            </a:r>
          </a:p>
        </p:txBody>
      </p:sp>
      <p:sp>
        <p:nvSpPr>
          <p:cNvPr id="42" name="Content Placeholder 2"/>
          <p:cNvSpPr txBox="1">
            <a:spLocks/>
          </p:cNvSpPr>
          <p:nvPr/>
        </p:nvSpPr>
        <p:spPr>
          <a:xfrm>
            <a:off x="5372100" y="804789"/>
            <a:ext cx="6523893" cy="590931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60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r>
              <a:rPr lang="en-US" sz="2400" b="1" dirty="0">
                <a:latin typeface="+mj-lt"/>
              </a:rPr>
              <a:t>Equations of Hidden </a:t>
            </a:r>
            <a:r>
              <a:rPr lang="en-US" sz="2400" b="1" dirty="0" smtClean="0">
                <a:latin typeface="+mj-lt"/>
              </a:rPr>
              <a:t>layers:</a:t>
            </a:r>
          </a:p>
          <a:p>
            <a:pPr marL="571500" indent="-342900">
              <a:buFont typeface="Arial" panose="020B0604020202020204" pitchFamily="34" charset="0"/>
              <a:buChar char="•"/>
            </a:pPr>
            <a:r>
              <a:rPr lang="en-US" sz="2000" dirty="0" err="1" smtClean="0">
                <a:latin typeface="+mj-lt"/>
              </a:rPr>
              <a:t>noOfHiddenNeurons</a:t>
            </a:r>
            <a:r>
              <a:rPr lang="en-US" sz="2000" dirty="0" smtClean="0">
                <a:latin typeface="+mj-lt"/>
              </a:rPr>
              <a:t> = 4  </a:t>
            </a:r>
          </a:p>
          <a:p>
            <a:pPr marL="571500" indent="-342900">
              <a:buFont typeface="Arial" panose="020B0604020202020204" pitchFamily="34" charset="0"/>
              <a:buChar char="•"/>
            </a:pPr>
            <a:r>
              <a:rPr lang="en-US" sz="2000" dirty="0" err="1" smtClean="0">
                <a:latin typeface="+mj-lt"/>
              </a:rPr>
              <a:t>Nx</a:t>
            </a:r>
            <a:r>
              <a:rPr lang="en-US" sz="2000" dirty="0" smtClean="0">
                <a:latin typeface="+mj-lt"/>
              </a:rPr>
              <a:t> = 3</a:t>
            </a:r>
          </a:p>
          <a:p>
            <a:pPr marL="571500" indent="-342900">
              <a:buFont typeface="Arial" panose="020B0604020202020204" pitchFamily="34" charset="0"/>
              <a:buChar char="•"/>
            </a:pPr>
            <a:r>
              <a:rPr lang="en-US" sz="2000" dirty="0" smtClean="0">
                <a:latin typeface="+mj-lt"/>
              </a:rPr>
              <a:t>Shapes of the variables:    </a:t>
            </a:r>
          </a:p>
          <a:p>
            <a:pPr marL="228600" indent="0"/>
            <a:r>
              <a:rPr lang="en-US" sz="1800" dirty="0">
                <a:latin typeface="+mj-lt"/>
              </a:rPr>
              <a:t>	</a:t>
            </a:r>
            <a:r>
              <a:rPr lang="en-US" sz="1800" dirty="0" smtClean="0">
                <a:latin typeface="+mj-lt"/>
              </a:rPr>
              <a:t>- W</a:t>
            </a:r>
            <a:r>
              <a:rPr lang="en-US" sz="1800" baseline="30000" dirty="0" smtClean="0">
                <a:latin typeface="+mj-lt"/>
              </a:rPr>
              <a:t>[1]</a:t>
            </a:r>
            <a:r>
              <a:rPr lang="en-US" sz="1800" dirty="0" smtClean="0">
                <a:latin typeface="+mj-lt"/>
              </a:rPr>
              <a:t> is the matrix of the first hidden layer, it has a shape of  (</a:t>
            </a:r>
            <a:r>
              <a:rPr lang="en-US" sz="1800" dirty="0" err="1" smtClean="0">
                <a:latin typeface="+mj-lt"/>
              </a:rPr>
              <a:t>noOfHiddenNeurons</a:t>
            </a:r>
            <a:r>
              <a:rPr lang="en-US" sz="1800" dirty="0" smtClean="0">
                <a:latin typeface="+mj-lt"/>
              </a:rPr>
              <a:t>, </a:t>
            </a:r>
            <a:r>
              <a:rPr lang="en-US" sz="1800" dirty="0" err="1">
                <a:latin typeface="+mj-lt"/>
              </a:rPr>
              <a:t>N</a:t>
            </a:r>
            <a:r>
              <a:rPr lang="en-US" sz="1800" dirty="0" err="1" smtClean="0">
                <a:latin typeface="+mj-lt"/>
              </a:rPr>
              <a:t>x</a:t>
            </a:r>
            <a:r>
              <a:rPr lang="en-US" sz="1800" dirty="0" smtClean="0">
                <a:latin typeface="+mj-lt"/>
              </a:rPr>
              <a:t>)    </a:t>
            </a:r>
          </a:p>
          <a:p>
            <a:pPr marL="228600" indent="0"/>
            <a:r>
              <a:rPr lang="en-US" sz="1800" dirty="0">
                <a:latin typeface="+mj-lt"/>
              </a:rPr>
              <a:t>	</a:t>
            </a:r>
            <a:r>
              <a:rPr lang="en-US" sz="1800" dirty="0" smtClean="0">
                <a:latin typeface="+mj-lt"/>
              </a:rPr>
              <a:t>- b</a:t>
            </a:r>
            <a:r>
              <a:rPr lang="en-US" sz="1800" baseline="30000" dirty="0" smtClean="0">
                <a:latin typeface="+mj-lt"/>
              </a:rPr>
              <a:t>[1]</a:t>
            </a:r>
            <a:r>
              <a:rPr lang="en-US" sz="1800" dirty="0" smtClean="0">
                <a:latin typeface="+mj-lt"/>
              </a:rPr>
              <a:t> is the matrix of the first hidden layer, it has a shape of  (noOfHiddenNeurons,1)   </a:t>
            </a:r>
          </a:p>
          <a:p>
            <a:pPr marL="228600" indent="0"/>
            <a:r>
              <a:rPr lang="en-US" sz="1800" dirty="0">
                <a:latin typeface="+mj-lt"/>
              </a:rPr>
              <a:t>	</a:t>
            </a:r>
            <a:r>
              <a:rPr lang="en-US" sz="1800" dirty="0" smtClean="0">
                <a:latin typeface="+mj-lt"/>
              </a:rPr>
              <a:t>- z</a:t>
            </a:r>
            <a:r>
              <a:rPr lang="en-US" sz="1800" baseline="30000" dirty="0" smtClean="0">
                <a:latin typeface="+mj-lt"/>
              </a:rPr>
              <a:t>[1]</a:t>
            </a:r>
            <a:r>
              <a:rPr lang="en-US" sz="1800" dirty="0" smtClean="0">
                <a:latin typeface="+mj-lt"/>
              </a:rPr>
              <a:t> is the result of the equation </a:t>
            </a:r>
            <a:r>
              <a:rPr lang="en-US" sz="1800" dirty="0"/>
              <a:t>z</a:t>
            </a:r>
            <a:r>
              <a:rPr lang="en-US" sz="1800" baseline="30000" dirty="0"/>
              <a:t>[1]</a:t>
            </a:r>
            <a:r>
              <a:rPr lang="en-US" sz="1800" dirty="0" smtClean="0">
                <a:latin typeface="+mj-lt"/>
              </a:rPr>
              <a:t> = </a:t>
            </a:r>
            <a:r>
              <a:rPr lang="en-US" sz="1800" dirty="0"/>
              <a:t>W</a:t>
            </a:r>
            <a:r>
              <a:rPr lang="en-US" sz="1800" baseline="30000" dirty="0"/>
              <a:t>[1] </a:t>
            </a:r>
            <a:r>
              <a:rPr lang="en-US" sz="1800" dirty="0" smtClean="0">
                <a:latin typeface="+mj-lt"/>
              </a:rPr>
              <a:t>*X + b, it has a shape of (noOfHiddenNeurons,1)    </a:t>
            </a:r>
          </a:p>
          <a:p>
            <a:pPr marL="228600" indent="0"/>
            <a:r>
              <a:rPr lang="en-US" sz="1800" dirty="0">
                <a:latin typeface="+mj-lt"/>
              </a:rPr>
              <a:t>	</a:t>
            </a:r>
            <a:r>
              <a:rPr lang="en-US" sz="1800" dirty="0" smtClean="0">
                <a:latin typeface="+mj-lt"/>
              </a:rPr>
              <a:t>- a</a:t>
            </a:r>
            <a:r>
              <a:rPr lang="en-US" sz="1800" baseline="30000" dirty="0" smtClean="0">
                <a:latin typeface="+mj-lt"/>
              </a:rPr>
              <a:t>[1]</a:t>
            </a:r>
            <a:r>
              <a:rPr lang="en-US" sz="1800" dirty="0" smtClean="0">
                <a:latin typeface="+mj-lt"/>
              </a:rPr>
              <a:t> is the result of the equation </a:t>
            </a:r>
            <a:r>
              <a:rPr lang="en-US" sz="1800" dirty="0"/>
              <a:t>a</a:t>
            </a:r>
            <a:r>
              <a:rPr lang="en-US" sz="1800" baseline="30000" dirty="0"/>
              <a:t>[1]</a:t>
            </a:r>
            <a:r>
              <a:rPr lang="en-US" sz="1800" dirty="0" smtClean="0">
                <a:latin typeface="+mj-lt"/>
              </a:rPr>
              <a:t> = </a:t>
            </a:r>
            <a:r>
              <a:rPr lang="el-GR" sz="1800" dirty="0"/>
              <a:t>σ</a:t>
            </a:r>
            <a:r>
              <a:rPr lang="en-US" sz="1800" dirty="0" smtClean="0">
                <a:latin typeface="+mj-lt"/>
              </a:rPr>
              <a:t>(</a:t>
            </a:r>
            <a:r>
              <a:rPr lang="en-US" sz="1800" dirty="0" smtClean="0"/>
              <a:t>z</a:t>
            </a:r>
            <a:r>
              <a:rPr lang="en-US" sz="1800" baseline="30000" dirty="0" smtClean="0"/>
              <a:t>[1</a:t>
            </a:r>
            <a:r>
              <a:rPr lang="en-US" sz="1800" baseline="30000" dirty="0"/>
              <a:t>]</a:t>
            </a:r>
            <a:r>
              <a:rPr lang="en-US" sz="1800" dirty="0" smtClean="0">
                <a:latin typeface="+mj-lt"/>
              </a:rPr>
              <a:t>), it has a shape of (noOfHiddenNeurons,1)    </a:t>
            </a:r>
          </a:p>
          <a:p>
            <a:pPr marL="228600" indent="0"/>
            <a:r>
              <a:rPr lang="en-US" sz="1800" dirty="0">
                <a:latin typeface="+mj-lt"/>
              </a:rPr>
              <a:t>	</a:t>
            </a:r>
            <a:r>
              <a:rPr lang="en-US" sz="1800" dirty="0" smtClean="0">
                <a:latin typeface="+mj-lt"/>
              </a:rPr>
              <a:t>- </a:t>
            </a:r>
            <a:r>
              <a:rPr lang="en-US" sz="1800" dirty="0" smtClean="0"/>
              <a:t>W</a:t>
            </a:r>
            <a:r>
              <a:rPr lang="en-US" sz="1800" baseline="30000" dirty="0" smtClean="0"/>
              <a:t>[2]</a:t>
            </a:r>
            <a:r>
              <a:rPr lang="en-US" sz="1800" dirty="0" smtClean="0">
                <a:latin typeface="+mj-lt"/>
              </a:rPr>
              <a:t> is the matrix of the second hidden layer, it has a shape of (1,noOfHiddenNeurons) </a:t>
            </a:r>
          </a:p>
          <a:p>
            <a:pPr marL="228600" indent="0"/>
            <a:r>
              <a:rPr lang="en-US" sz="1800" dirty="0">
                <a:latin typeface="+mj-lt"/>
              </a:rPr>
              <a:t>	</a:t>
            </a:r>
            <a:r>
              <a:rPr lang="en-US" sz="1800" dirty="0" smtClean="0">
                <a:latin typeface="+mj-lt"/>
              </a:rPr>
              <a:t>- </a:t>
            </a:r>
            <a:r>
              <a:rPr lang="en-US" sz="1800" dirty="0" smtClean="0"/>
              <a:t>b</a:t>
            </a:r>
            <a:r>
              <a:rPr lang="en-US" sz="1800" baseline="30000" dirty="0" smtClean="0"/>
              <a:t>[2]</a:t>
            </a:r>
            <a:r>
              <a:rPr lang="en-US" sz="1800" dirty="0" smtClean="0">
                <a:latin typeface="+mj-lt"/>
              </a:rPr>
              <a:t> is the matrix of the second hidden layer, it has a shape of (1,1)  </a:t>
            </a:r>
          </a:p>
          <a:p>
            <a:pPr marL="228600" indent="0"/>
            <a:r>
              <a:rPr lang="en-US" sz="1800" dirty="0">
                <a:latin typeface="+mj-lt"/>
              </a:rPr>
              <a:t>	</a:t>
            </a:r>
            <a:r>
              <a:rPr lang="en-US" sz="1800" dirty="0" smtClean="0">
                <a:latin typeface="+mj-lt"/>
              </a:rPr>
              <a:t>- </a:t>
            </a:r>
            <a:r>
              <a:rPr lang="en-US" sz="1800" dirty="0" smtClean="0"/>
              <a:t>z</a:t>
            </a:r>
            <a:r>
              <a:rPr lang="en-US" sz="1800" baseline="30000" dirty="0" smtClean="0"/>
              <a:t>[2]</a:t>
            </a:r>
            <a:r>
              <a:rPr lang="en-US" sz="1800" dirty="0" smtClean="0">
                <a:latin typeface="+mj-lt"/>
              </a:rPr>
              <a:t> is the result of the equation </a:t>
            </a:r>
            <a:r>
              <a:rPr lang="en-US" sz="1800" dirty="0"/>
              <a:t>z</a:t>
            </a:r>
            <a:r>
              <a:rPr lang="en-US" sz="1800" baseline="30000" dirty="0"/>
              <a:t>[2]</a:t>
            </a:r>
            <a:r>
              <a:rPr lang="en-US" sz="1800" dirty="0" smtClean="0">
                <a:latin typeface="+mj-lt"/>
              </a:rPr>
              <a:t> = </a:t>
            </a:r>
            <a:r>
              <a:rPr lang="en-US" sz="1800" dirty="0"/>
              <a:t>W</a:t>
            </a:r>
            <a:r>
              <a:rPr lang="en-US" sz="1800" baseline="30000" dirty="0"/>
              <a:t>[2] </a:t>
            </a:r>
            <a:r>
              <a:rPr lang="en-US" sz="1800" dirty="0" smtClean="0">
                <a:latin typeface="+mj-lt"/>
              </a:rPr>
              <a:t>*</a:t>
            </a:r>
            <a:r>
              <a:rPr lang="en-US" sz="1800" dirty="0" smtClean="0"/>
              <a:t> </a:t>
            </a:r>
            <a:r>
              <a:rPr lang="en-US" sz="1800" dirty="0"/>
              <a:t>a</a:t>
            </a:r>
            <a:r>
              <a:rPr lang="en-US" sz="1800" baseline="30000" dirty="0"/>
              <a:t>[1]</a:t>
            </a:r>
            <a:r>
              <a:rPr lang="en-US" sz="1800" dirty="0" smtClean="0">
                <a:latin typeface="+mj-lt"/>
              </a:rPr>
              <a:t> + b, it has a shape of (1,1)</a:t>
            </a:r>
          </a:p>
          <a:p>
            <a:pPr marL="228600" indent="0"/>
            <a:r>
              <a:rPr lang="en-US" sz="1800" dirty="0">
                <a:latin typeface="+mj-lt"/>
              </a:rPr>
              <a:t>	</a:t>
            </a:r>
            <a:r>
              <a:rPr lang="en-US" sz="1800" dirty="0" smtClean="0">
                <a:latin typeface="+mj-lt"/>
              </a:rPr>
              <a:t>- a</a:t>
            </a:r>
            <a:r>
              <a:rPr lang="en-US" sz="1800" baseline="30000" dirty="0" smtClean="0">
                <a:latin typeface="+mj-lt"/>
              </a:rPr>
              <a:t>[2]</a:t>
            </a:r>
            <a:r>
              <a:rPr lang="en-US" sz="1800" dirty="0" smtClean="0">
                <a:latin typeface="+mj-lt"/>
              </a:rPr>
              <a:t> is the result of the equation </a:t>
            </a:r>
            <a:r>
              <a:rPr lang="en-US" sz="1800" dirty="0"/>
              <a:t>a</a:t>
            </a:r>
            <a:r>
              <a:rPr lang="en-US" sz="1800" baseline="30000" dirty="0"/>
              <a:t>[2]</a:t>
            </a:r>
            <a:r>
              <a:rPr lang="en-US" sz="1800" dirty="0" smtClean="0">
                <a:latin typeface="+mj-lt"/>
              </a:rPr>
              <a:t> = </a:t>
            </a:r>
            <a:r>
              <a:rPr lang="el-GR" sz="1800" dirty="0" smtClean="0">
                <a:latin typeface="+mj-lt"/>
              </a:rPr>
              <a:t>σ</a:t>
            </a:r>
            <a:r>
              <a:rPr lang="en-US" sz="1800" dirty="0" smtClean="0">
                <a:latin typeface="+mj-lt"/>
              </a:rPr>
              <a:t>(</a:t>
            </a:r>
            <a:r>
              <a:rPr lang="en-US" sz="1800" dirty="0" smtClean="0"/>
              <a:t>z</a:t>
            </a:r>
            <a:r>
              <a:rPr lang="en-US" sz="1800" baseline="30000" dirty="0" smtClean="0"/>
              <a:t>[2</a:t>
            </a:r>
            <a:r>
              <a:rPr lang="en-US" sz="1800" baseline="30000" dirty="0"/>
              <a:t>]</a:t>
            </a:r>
            <a:r>
              <a:rPr lang="en-US" sz="1800" dirty="0" smtClean="0">
                <a:latin typeface="+mj-lt"/>
              </a:rPr>
              <a:t>), it has a shape of (1,1)</a:t>
            </a:r>
            <a:endParaRPr lang="en-US" sz="1800" b="1" dirty="0" smtClean="0">
              <a:latin typeface="+mj-lt"/>
            </a:endParaRPr>
          </a:p>
        </p:txBody>
      </p:sp>
      <p:sp>
        <p:nvSpPr>
          <p:cNvPr id="3" name="AutoShape 2" descr="https://images.viblo.asia/baa46a6f-1096-4754-a226-6c1fc19edc68.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nvGrpSpPr>
          <p:cNvPr id="7" name="Group 6"/>
          <p:cNvGrpSpPr/>
          <p:nvPr/>
        </p:nvGrpSpPr>
        <p:grpSpPr>
          <a:xfrm>
            <a:off x="391624" y="2039083"/>
            <a:ext cx="4867275" cy="2762250"/>
            <a:chOff x="391624" y="2039083"/>
            <a:chExt cx="4867275" cy="2762250"/>
          </a:xfrm>
        </p:grpSpPr>
        <p:pic>
          <p:nvPicPr>
            <p:cNvPr id="2" name="Picture 1"/>
            <p:cNvPicPr>
              <a:picLocks noChangeAspect="1"/>
            </p:cNvPicPr>
            <p:nvPr/>
          </p:nvPicPr>
          <p:blipFill>
            <a:blip r:embed="rId4"/>
            <a:stretch>
              <a:fillRect/>
            </a:stretch>
          </p:blipFill>
          <p:spPr>
            <a:xfrm>
              <a:off x="391624" y="2039083"/>
              <a:ext cx="4867275" cy="2762250"/>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3508131" y="3297116"/>
                  <a:ext cx="791308" cy="3811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1800" b="1" i="1" smtClean="0">
                                <a:latin typeface="Cambria Math" panose="02040503050406030204" pitchFamily="18" charset="0"/>
                              </a:rPr>
                            </m:ctrlPr>
                          </m:sSupPr>
                          <m:e>
                            <m:r>
                              <a:rPr lang="en-US" sz="1800" b="1" i="1" smtClean="0">
                                <a:latin typeface="Cambria Math" panose="02040503050406030204" pitchFamily="18" charset="0"/>
                              </a:rPr>
                              <m:t>𝒂</m:t>
                            </m:r>
                          </m:e>
                          <m:sup>
                            <m:r>
                              <a:rPr lang="en-US" sz="1800" b="1" i="1" smtClean="0">
                                <a:latin typeface="Cambria Math" panose="02040503050406030204" pitchFamily="18" charset="0"/>
                              </a:rPr>
                              <m:t>[</m:t>
                            </m:r>
                            <m:r>
                              <a:rPr lang="en-US" sz="1800" b="1" i="1" smtClean="0">
                                <a:latin typeface="Cambria Math" panose="02040503050406030204" pitchFamily="18" charset="0"/>
                              </a:rPr>
                              <m:t>𝟐</m:t>
                            </m:r>
                            <m:r>
                              <a:rPr lang="en-US" sz="1800" b="1" i="1" smtClean="0">
                                <a:latin typeface="Cambria Math" panose="02040503050406030204" pitchFamily="18" charset="0"/>
                              </a:rPr>
                              <m:t>]</m:t>
                            </m:r>
                          </m:sup>
                        </m:sSup>
                      </m:oMath>
                    </m:oMathPara>
                  </a14:m>
                  <a:endParaRPr lang="en-US" sz="1800" b="1" dirty="0"/>
                </a:p>
              </p:txBody>
            </p:sp>
          </mc:Choice>
          <mc:Fallback xmlns="">
            <p:sp>
              <p:nvSpPr>
                <p:cNvPr id="5" name="TextBox 4"/>
                <p:cNvSpPr txBox="1">
                  <a:spLocks noRot="1" noChangeAspect="1" noMove="1" noResize="1" noEditPoints="1" noAdjustHandles="1" noChangeArrowheads="1" noChangeShapeType="1" noTextEdit="1"/>
                </p:cNvSpPr>
                <p:nvPr/>
              </p:nvSpPr>
              <p:spPr>
                <a:xfrm>
                  <a:off x="3508131" y="3297116"/>
                  <a:ext cx="791308" cy="381130"/>
                </a:xfrm>
                <a:prstGeom prst="rect">
                  <a:avLst/>
                </a:prstGeom>
                <a:blipFill>
                  <a:blip r:embed="rId5"/>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1849744676"/>
      </p:ext>
    </p:extLst>
  </p:cSld>
  <p:clrMapOvr>
    <a:masterClrMapping/>
  </p:clrMapOvr>
  <p:timing>
    <p:tnLst>
      <p:par>
        <p:cTn id="1" dur="indefinite" restart="never" nodeType="tmRoot"/>
      </p:par>
    </p:tnLst>
  </p:timing>
  <p:extLst mod="1">
    <p:ext uri="{6950BFC3-D8DA-4A85-94F7-54DA5524770B}">
      <p188:commentRel xmlns:p188="http://schemas.microsoft.com/office/powerpoint/2018/8/main" xmlns="" r:id="rId11"/>
    </p:ext>
  </p:extLst>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125"/>
        <p:cNvGrpSpPr/>
        <p:nvPr/>
      </p:nvGrpSpPr>
      <p:grpSpPr>
        <a:xfrm>
          <a:off x="0" y="0"/>
          <a:ext cx="0" cy="0"/>
          <a:chOff x="0" y="0"/>
          <a:chExt cx="0" cy="0"/>
        </a:xfrm>
      </p:grpSpPr>
      <p:sp>
        <p:nvSpPr>
          <p:cNvPr id="126" name="Google Shape;126;p11"/>
          <p:cNvSpPr/>
          <p:nvPr/>
        </p:nvSpPr>
        <p:spPr>
          <a:xfrm>
            <a:off x="4544009" y="3459886"/>
            <a:ext cx="7442200" cy="0"/>
          </a:xfrm>
          <a:custGeom>
            <a:avLst/>
            <a:gdLst/>
            <a:ahLst/>
            <a:cxnLst/>
            <a:rect l="l" t="t" r="r" b="b"/>
            <a:pathLst>
              <a:path w="7442200" h="120000" extrusionOk="0">
                <a:moveTo>
                  <a:pt x="0" y="0"/>
                </a:moveTo>
                <a:lnTo>
                  <a:pt x="7442044" y="0"/>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j-lt"/>
              <a:ea typeface="Calibri"/>
              <a:cs typeface="Calibri"/>
              <a:sym typeface="Calibri"/>
            </a:endParaRPr>
          </a:p>
        </p:txBody>
      </p:sp>
      <p:sp>
        <p:nvSpPr>
          <p:cNvPr id="127" name="Google Shape;127;p11"/>
          <p:cNvSpPr txBox="1">
            <a:spLocks noGrp="1"/>
          </p:cNvSpPr>
          <p:nvPr>
            <p:ph type="body" idx="1"/>
          </p:nvPr>
        </p:nvSpPr>
        <p:spPr>
          <a:xfrm>
            <a:off x="1303626" y="1130300"/>
            <a:ext cx="10278600" cy="1860000"/>
          </a:xfrm>
          <a:prstGeom prst="rect">
            <a:avLst/>
          </a:prstGeom>
          <a:noFill/>
          <a:ln>
            <a:noFill/>
          </a:ln>
        </p:spPr>
        <p:txBody>
          <a:bodyPr spcFirstLastPara="1" wrap="square" lIns="0" tIns="12700" rIns="0" bIns="0" anchor="t" anchorCtr="0">
            <a:spAutoFit/>
          </a:bodyPr>
          <a:lstStyle/>
          <a:p>
            <a:pPr marL="4547870" marR="5080" lvl="0" indent="-193040" algn="l" rtl="0">
              <a:lnSpc>
                <a:spcPct val="100000"/>
              </a:lnSpc>
              <a:spcBef>
                <a:spcPts val="0"/>
              </a:spcBef>
              <a:spcAft>
                <a:spcPts val="0"/>
              </a:spcAft>
              <a:buSzPts val="1400"/>
              <a:buNone/>
            </a:pPr>
            <a:r>
              <a:rPr lang="en-US" dirty="0">
                <a:latin typeface="+mj-lt"/>
              </a:rPr>
              <a:t>One hidden layer  Neural Network</a:t>
            </a:r>
            <a:endParaRPr dirty="0">
              <a:latin typeface="+mj-lt"/>
            </a:endParaRPr>
          </a:p>
        </p:txBody>
      </p:sp>
      <p:sp>
        <p:nvSpPr>
          <p:cNvPr id="128" name="Google Shape;128;p11"/>
          <p:cNvSpPr txBox="1"/>
          <p:nvPr/>
        </p:nvSpPr>
        <p:spPr>
          <a:xfrm>
            <a:off x="5403672" y="3831167"/>
            <a:ext cx="5702935" cy="1674817"/>
          </a:xfrm>
          <a:prstGeom prst="rect">
            <a:avLst/>
          </a:prstGeom>
          <a:noFill/>
          <a:ln>
            <a:noFill/>
          </a:ln>
        </p:spPr>
        <p:txBody>
          <a:bodyPr spcFirstLastPara="1" wrap="square" lIns="0" tIns="12700" rIns="0" bIns="0" anchor="t" anchorCtr="0">
            <a:spAutoFit/>
          </a:bodyPr>
          <a:lstStyle/>
          <a:p>
            <a:pPr marL="40005" marR="5080" lvl="0" indent="-27940" algn="l" rtl="0">
              <a:lnSpc>
                <a:spcPct val="100000"/>
              </a:lnSpc>
              <a:spcBef>
                <a:spcPts val="0"/>
              </a:spcBef>
              <a:spcAft>
                <a:spcPts val="0"/>
              </a:spcAft>
              <a:buClr>
                <a:srgbClr val="000000"/>
              </a:buClr>
              <a:buSzPts val="6000"/>
              <a:buFont typeface="Arial"/>
              <a:buNone/>
            </a:pPr>
            <a:r>
              <a:rPr lang="en-US" sz="5400" b="0" i="0" u="none" strike="noStrike" cap="none" dirty="0" err="1">
                <a:solidFill>
                  <a:schemeClr val="dk1"/>
                </a:solidFill>
                <a:latin typeface="+mj-lt"/>
                <a:ea typeface="Calibri"/>
                <a:cs typeface="Calibri"/>
                <a:sym typeface="Calibri"/>
              </a:rPr>
              <a:t>Vectorizing</a:t>
            </a:r>
            <a:r>
              <a:rPr lang="en-US" sz="5400" b="0" i="0" u="none" strike="noStrike" cap="none" dirty="0">
                <a:solidFill>
                  <a:schemeClr val="dk1"/>
                </a:solidFill>
                <a:latin typeface="+mj-lt"/>
                <a:ea typeface="Calibri"/>
                <a:cs typeface="Calibri"/>
                <a:sym typeface="Calibri"/>
              </a:rPr>
              <a:t> across  multiple examples</a:t>
            </a:r>
            <a:endParaRPr sz="5400" b="0" i="0" u="none" strike="noStrike" cap="none" dirty="0">
              <a:solidFill>
                <a:schemeClr val="dk1"/>
              </a:solidFill>
              <a:latin typeface="+mj-lt"/>
              <a:ea typeface="Calibri"/>
              <a:cs typeface="Calibri"/>
              <a:sym typeface="Calibri"/>
            </a:endParaRPr>
          </a:p>
        </p:txBody>
      </p:sp>
      <p:pic>
        <p:nvPicPr>
          <p:cNvPr id="129" name="Google Shape;129;p11"/>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130" name="Google Shape;130;p11"/>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18</a:t>
            </a:fld>
            <a:endParaRPr>
              <a:latin typeface="+mj-l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134"/>
        <p:cNvGrpSpPr/>
        <p:nvPr/>
      </p:nvGrpSpPr>
      <p:grpSpPr>
        <a:xfrm>
          <a:off x="0" y="0"/>
          <a:ext cx="0" cy="0"/>
          <a:chOff x="0" y="0"/>
          <a:chExt cx="0" cy="0"/>
        </a:xfrm>
      </p:grpSpPr>
      <p:pic>
        <p:nvPicPr>
          <p:cNvPr id="135" name="Google Shape;135;p12"/>
          <p:cNvPicPr preferRelativeResize="0"/>
          <p:nvPr/>
        </p:nvPicPr>
        <p:blipFill rotWithShape="1">
          <a:blip r:embed="rId3">
            <a:alphaModFix/>
          </a:blip>
          <a:srcRect/>
          <a:stretch/>
        </p:blipFill>
        <p:spPr>
          <a:xfrm>
            <a:off x="-29590" y="0"/>
            <a:ext cx="12251182" cy="6857999"/>
          </a:xfrm>
          <a:prstGeom prst="rect">
            <a:avLst/>
          </a:prstGeom>
          <a:noFill/>
          <a:ln>
            <a:noFill/>
          </a:ln>
        </p:spPr>
      </p:pic>
      <p:pic>
        <p:nvPicPr>
          <p:cNvPr id="136" name="Google Shape;136;p12"/>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137" name="Google Shape;137;p12"/>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pic>
        <p:nvPicPr>
          <p:cNvPr id="62" name="Google Shape;62;p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63" name="Google Shape;63;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20</a:t>
            </a:fld>
            <a:endParaRPr>
              <a:latin typeface="+mj-lt"/>
            </a:endParaRPr>
          </a:p>
        </p:txBody>
      </p:sp>
      <p:sp>
        <p:nvSpPr>
          <p:cNvPr id="5" name="Google Shape;44;g20098e1d08f_0_0"/>
          <p:cNvSpPr txBox="1">
            <a:spLocks noGrp="1"/>
          </p:cNvSpPr>
          <p:nvPr>
            <p:ph type="title"/>
          </p:nvPr>
        </p:nvSpPr>
        <p:spPr>
          <a:xfrm>
            <a:off x="562708" y="1916850"/>
            <a:ext cx="11019632" cy="1477328"/>
          </a:xfrm>
          <a:prstGeom prst="rect">
            <a:avLst/>
          </a:prstGeom>
          <a:noFill/>
          <a:ln>
            <a:noFill/>
          </a:ln>
        </p:spPr>
        <p:txBody>
          <a:bodyPr spcFirstLastPara="1" wrap="square" lIns="0" tIns="0" rIns="0" bIns="0" anchor="t" anchorCtr="0">
            <a:spAutoFit/>
          </a:bodyPr>
          <a:lstStyle/>
          <a:p>
            <a:pPr marL="342900" lvl="0" indent="-342900">
              <a:buFont typeface="Arial" panose="020B0604020202020204" pitchFamily="34" charset="0"/>
              <a:buChar char="•"/>
            </a:pPr>
            <a:r>
              <a:rPr lang="en-US" sz="2400" dirty="0">
                <a:latin typeface="+mj-lt"/>
              </a:rPr>
              <a:t>Four equations from the previous slide are used to compute </a:t>
            </a:r>
            <a:r>
              <a:rPr lang="en-US" sz="2400" dirty="0" smtClean="0">
                <a:latin typeface="+mj-lt"/>
              </a:rPr>
              <a:t>z</a:t>
            </a:r>
            <a:r>
              <a:rPr lang="en-US" sz="2400" baseline="30000" dirty="0" smtClean="0">
                <a:latin typeface="+mj-lt"/>
              </a:rPr>
              <a:t>[1]</a:t>
            </a:r>
            <a:r>
              <a:rPr lang="en-US" sz="2400" dirty="0" smtClean="0">
                <a:latin typeface="+mj-lt"/>
              </a:rPr>
              <a:t> , a</a:t>
            </a:r>
            <a:r>
              <a:rPr lang="en-US" sz="2400" baseline="30000" dirty="0" smtClean="0">
                <a:latin typeface="+mj-lt"/>
              </a:rPr>
              <a:t>[1]</a:t>
            </a:r>
            <a:r>
              <a:rPr lang="en-US" sz="2400" dirty="0" smtClean="0">
                <a:latin typeface="+mj-lt"/>
              </a:rPr>
              <a:t> , z</a:t>
            </a:r>
            <a:r>
              <a:rPr lang="en-US" sz="2400" baseline="30000" dirty="0" smtClean="0">
                <a:latin typeface="+mj-lt"/>
              </a:rPr>
              <a:t>[2]</a:t>
            </a:r>
            <a:r>
              <a:rPr lang="en-US" sz="2400" dirty="0" smtClean="0">
                <a:latin typeface="+mj-lt"/>
              </a:rPr>
              <a:t> , </a:t>
            </a:r>
            <a:r>
              <a:rPr lang="en-US" sz="2400" dirty="0">
                <a:latin typeface="+mj-lt"/>
              </a:rPr>
              <a:t>and </a:t>
            </a:r>
            <a:r>
              <a:rPr lang="en-US" sz="2400" dirty="0" smtClean="0">
                <a:latin typeface="+mj-lt"/>
              </a:rPr>
              <a:t>a</a:t>
            </a:r>
            <a:r>
              <a:rPr lang="en-US" sz="2400" baseline="30000" dirty="0" smtClean="0">
                <a:latin typeface="+mj-lt"/>
              </a:rPr>
              <a:t>[2]</a:t>
            </a:r>
            <a:r>
              <a:rPr lang="en-US" sz="2400" dirty="0" smtClean="0">
                <a:latin typeface="+mj-lt"/>
              </a:rPr>
              <a:t> . </a:t>
            </a:r>
            <a:r>
              <a:rPr lang="en-US" sz="2400" dirty="0">
                <a:latin typeface="+mj-lt"/>
              </a:rPr>
              <a:t>By adding </a:t>
            </a:r>
            <a:r>
              <a:rPr lang="en-US" sz="2400" dirty="0" smtClean="0">
                <a:latin typeface="+mj-lt"/>
              </a:rPr>
              <a:t>a superscript round bracket </a:t>
            </a:r>
            <a:r>
              <a:rPr lang="en-US" sz="2400" dirty="0" err="1" smtClean="0">
                <a:latin typeface="+mj-lt"/>
              </a:rPr>
              <a:t>i</a:t>
            </a:r>
            <a:r>
              <a:rPr lang="en-US" sz="2400" dirty="0" smtClean="0">
                <a:latin typeface="+mj-lt"/>
              </a:rPr>
              <a:t>, </a:t>
            </a:r>
            <a:r>
              <a:rPr lang="en-US" sz="2400" dirty="0" err="1" smtClean="0">
                <a:latin typeface="+mj-lt"/>
              </a:rPr>
              <a:t>ie</a:t>
            </a:r>
            <a:r>
              <a:rPr lang="en-US" sz="2400" dirty="0" smtClean="0">
                <a:latin typeface="+mj-lt"/>
              </a:rPr>
              <a:t> </a:t>
            </a:r>
            <a:r>
              <a:rPr lang="en-US" sz="2400" b="1" dirty="0" smtClean="0">
                <a:latin typeface="+mj-lt"/>
              </a:rPr>
              <a:t>(</a:t>
            </a:r>
            <a:r>
              <a:rPr lang="en-US" sz="2400" b="1" dirty="0" err="1" smtClean="0">
                <a:latin typeface="+mj-lt"/>
              </a:rPr>
              <a:t>i</a:t>
            </a:r>
            <a:r>
              <a:rPr lang="en-US" sz="2400" b="1" dirty="0" smtClean="0">
                <a:latin typeface="+mj-lt"/>
              </a:rPr>
              <a:t>),</a:t>
            </a:r>
            <a:r>
              <a:rPr lang="en-US" sz="2400" dirty="0" smtClean="0">
                <a:latin typeface="+mj-lt"/>
              </a:rPr>
              <a:t> to </a:t>
            </a:r>
            <a:r>
              <a:rPr lang="en-US" sz="2400" dirty="0">
                <a:latin typeface="+mj-lt"/>
              </a:rPr>
              <a:t>all the variables that depend on the training example, outputs can be computed for all m training examples:</a:t>
            </a:r>
            <a:endParaRPr sz="2400" dirty="0">
              <a:latin typeface="+mj-lt"/>
            </a:endParaRPr>
          </a:p>
        </p:txBody>
      </p:sp>
      <p:sp>
        <p:nvSpPr>
          <p:cNvPr id="6" name="Google Shape;45;g20098e1d08f_0_0"/>
          <p:cNvSpPr txBox="1">
            <a:spLocks noGrp="1"/>
          </p:cNvSpPr>
          <p:nvPr>
            <p:ph type="body" idx="1"/>
          </p:nvPr>
        </p:nvSpPr>
        <p:spPr>
          <a:xfrm>
            <a:off x="85904" y="57762"/>
            <a:ext cx="9866988" cy="677108"/>
          </a:xfrm>
          <a:prstGeom prst="rect">
            <a:avLst/>
          </a:prstGeom>
          <a:noFill/>
          <a:ln>
            <a:noFill/>
          </a:ln>
        </p:spPr>
        <p:txBody>
          <a:bodyPr spcFirstLastPara="1" wrap="square" lIns="0" tIns="0" rIns="0" bIns="0" anchor="t" anchorCtr="0">
            <a:spAutoFit/>
          </a:bodyPr>
          <a:lstStyle/>
          <a:p>
            <a:pPr marL="0" lvl="0" indent="0"/>
            <a:r>
              <a:rPr lang="en-US" sz="4400" dirty="0">
                <a:latin typeface="+mj-lt"/>
              </a:rPr>
              <a:t>Vectorizing across multiple examples</a:t>
            </a:r>
          </a:p>
        </p:txBody>
      </p:sp>
      <p:pic>
        <p:nvPicPr>
          <p:cNvPr id="2" name="Picture 1"/>
          <p:cNvPicPr>
            <a:picLocks noChangeAspect="1"/>
          </p:cNvPicPr>
          <p:nvPr/>
        </p:nvPicPr>
        <p:blipFill>
          <a:blip r:embed="rId4"/>
          <a:stretch>
            <a:fillRect/>
          </a:stretch>
        </p:blipFill>
        <p:spPr>
          <a:xfrm>
            <a:off x="3413247" y="3186845"/>
            <a:ext cx="3953745" cy="2308348"/>
          </a:xfrm>
          <a:prstGeom prst="rect">
            <a:avLst/>
          </a:prstGeom>
        </p:spPr>
      </p:pic>
    </p:spTree>
    <p:extLst>
      <p:ext uri="{BB962C8B-B14F-4D97-AF65-F5344CB8AC3E}">
        <p14:creationId xmlns:p14="http://schemas.microsoft.com/office/powerpoint/2010/main" val="28206721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pic>
        <p:nvPicPr>
          <p:cNvPr id="62" name="Google Shape;62;p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63" name="Google Shape;63;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21</a:t>
            </a:fld>
            <a:endParaRPr>
              <a:latin typeface="+mj-lt"/>
            </a:endParaRPr>
          </a:p>
        </p:txBody>
      </p:sp>
      <p:sp>
        <p:nvSpPr>
          <p:cNvPr id="6" name="Google Shape;45;g20098e1d08f_0_0"/>
          <p:cNvSpPr txBox="1">
            <a:spLocks noGrp="1"/>
          </p:cNvSpPr>
          <p:nvPr>
            <p:ph type="body" idx="1"/>
          </p:nvPr>
        </p:nvSpPr>
        <p:spPr>
          <a:xfrm>
            <a:off x="85904" y="57762"/>
            <a:ext cx="9866988" cy="677108"/>
          </a:xfrm>
          <a:prstGeom prst="rect">
            <a:avLst/>
          </a:prstGeom>
          <a:noFill/>
          <a:ln>
            <a:noFill/>
          </a:ln>
        </p:spPr>
        <p:txBody>
          <a:bodyPr spcFirstLastPara="1" wrap="square" lIns="0" tIns="0" rIns="0" bIns="0" anchor="t" anchorCtr="0">
            <a:spAutoFit/>
          </a:bodyPr>
          <a:lstStyle/>
          <a:p>
            <a:pPr marL="0" lvl="0" indent="0"/>
            <a:r>
              <a:rPr lang="en-US" sz="4400" dirty="0">
                <a:latin typeface="+mj-lt"/>
              </a:rPr>
              <a:t>Vectorizing across multiple examples</a:t>
            </a:r>
          </a:p>
        </p:txBody>
      </p:sp>
      <p:sp>
        <p:nvSpPr>
          <p:cNvPr id="3" name="TextBox 2"/>
          <p:cNvSpPr txBox="1"/>
          <p:nvPr/>
        </p:nvSpPr>
        <p:spPr>
          <a:xfrm>
            <a:off x="492369" y="1151792"/>
            <a:ext cx="11306908" cy="3600986"/>
          </a:xfrm>
          <a:prstGeom prst="rect">
            <a:avLst/>
          </a:prstGeom>
          <a:noFill/>
        </p:spPr>
        <p:txBody>
          <a:bodyPr wrap="square" rtlCol="0">
            <a:spAutoFit/>
          </a:bodyPr>
          <a:lstStyle/>
          <a:p>
            <a:pPr marL="342900" indent="-342900">
              <a:buFont typeface="Arial" panose="020B0604020202020204" pitchFamily="34" charset="0"/>
              <a:buChar char="•"/>
            </a:pPr>
            <a:r>
              <a:rPr lang="en-US" sz="2400" dirty="0"/>
              <a:t>The goal is to </a:t>
            </a:r>
            <a:r>
              <a:rPr lang="en-US" sz="2400" dirty="0" err="1"/>
              <a:t>vectorize</a:t>
            </a:r>
            <a:r>
              <a:rPr lang="en-US" sz="2400" dirty="0"/>
              <a:t> the computation and get rid of the for loop. To achieve this, Z</a:t>
            </a:r>
            <a:r>
              <a:rPr lang="en-US" sz="2400" baseline="30000" dirty="0" smtClean="0"/>
              <a:t>[1</a:t>
            </a:r>
            <a:r>
              <a:rPr lang="en-US" sz="2400" baseline="30000" dirty="0"/>
              <a:t>]</a:t>
            </a:r>
            <a:r>
              <a:rPr lang="en-US" sz="2400" dirty="0"/>
              <a:t> , </a:t>
            </a:r>
            <a:r>
              <a:rPr lang="en-US" sz="2400" dirty="0" smtClean="0"/>
              <a:t>A</a:t>
            </a:r>
            <a:r>
              <a:rPr lang="en-US" sz="2400" baseline="30000" dirty="0" smtClean="0"/>
              <a:t>[1</a:t>
            </a:r>
            <a:r>
              <a:rPr lang="en-US" sz="2400" baseline="30000" dirty="0"/>
              <a:t>]</a:t>
            </a:r>
            <a:r>
              <a:rPr lang="en-US" sz="2400" dirty="0"/>
              <a:t> , </a:t>
            </a:r>
            <a:r>
              <a:rPr lang="en-US" sz="2400" dirty="0" smtClean="0"/>
              <a:t>Z</a:t>
            </a:r>
            <a:r>
              <a:rPr lang="en-US" sz="2400" baseline="30000" dirty="0" smtClean="0"/>
              <a:t>[2</a:t>
            </a:r>
            <a:r>
              <a:rPr lang="en-US" sz="2400" baseline="30000" dirty="0"/>
              <a:t>]</a:t>
            </a:r>
            <a:r>
              <a:rPr lang="en-US" sz="2400" dirty="0"/>
              <a:t> , and </a:t>
            </a:r>
            <a:r>
              <a:rPr lang="en-US" sz="2400" dirty="0" smtClean="0"/>
              <a:t>A</a:t>
            </a:r>
            <a:r>
              <a:rPr lang="en-US" sz="2400" baseline="30000" dirty="0" smtClean="0"/>
              <a:t>[2</a:t>
            </a:r>
            <a:r>
              <a:rPr lang="en-US" sz="2400" baseline="30000" dirty="0"/>
              <a:t>]</a:t>
            </a:r>
            <a:r>
              <a:rPr lang="en-US" sz="2400" dirty="0" smtClean="0"/>
              <a:t> </a:t>
            </a:r>
            <a:r>
              <a:rPr lang="en-US" sz="2400" dirty="0"/>
              <a:t>can be computed using </a:t>
            </a:r>
            <a:r>
              <a:rPr lang="en-US" sz="2400" dirty="0" smtClean="0"/>
              <a:t>matrixes:</a:t>
            </a:r>
          </a:p>
          <a:p>
            <a:r>
              <a:rPr lang="en-US" sz="2400" dirty="0"/>
              <a:t>	</a:t>
            </a:r>
            <a:r>
              <a:rPr lang="en-US" sz="2400" dirty="0" smtClean="0"/>
              <a:t>- </a:t>
            </a:r>
            <a:r>
              <a:rPr lang="en-US" sz="2000" dirty="0" smtClean="0"/>
              <a:t>M</a:t>
            </a:r>
            <a:r>
              <a:rPr lang="en-US" sz="2000" dirty="0" smtClean="0"/>
              <a:t>atrix </a:t>
            </a:r>
            <a:r>
              <a:rPr lang="en-US" sz="2000" dirty="0"/>
              <a:t>Z</a:t>
            </a:r>
            <a:r>
              <a:rPr lang="en-US" sz="2000" baseline="30000" dirty="0"/>
              <a:t>[1]</a:t>
            </a:r>
            <a:r>
              <a:rPr lang="en-US" sz="2000" dirty="0" smtClean="0"/>
              <a:t> </a:t>
            </a:r>
            <a:r>
              <a:rPr lang="en-US" sz="2000" dirty="0"/>
              <a:t>represents the output of the first layer for all </a:t>
            </a:r>
            <a:r>
              <a:rPr lang="en-US" sz="2000" dirty="0" smtClean="0"/>
              <a:t>examples</a:t>
            </a:r>
          </a:p>
          <a:p>
            <a:r>
              <a:rPr lang="en-US" sz="2000" dirty="0"/>
              <a:t>	</a:t>
            </a:r>
            <a:r>
              <a:rPr lang="en-US" sz="2000" dirty="0" smtClean="0"/>
              <a:t>- M</a:t>
            </a:r>
            <a:r>
              <a:rPr lang="en-US" sz="2000" dirty="0" smtClean="0"/>
              <a:t>atrix </a:t>
            </a:r>
            <a:r>
              <a:rPr lang="en-US" sz="2000" dirty="0"/>
              <a:t>A</a:t>
            </a:r>
            <a:r>
              <a:rPr lang="en-US" sz="2000" baseline="30000" dirty="0"/>
              <a:t>[1]</a:t>
            </a:r>
            <a:r>
              <a:rPr lang="en-US" sz="2000" dirty="0" smtClean="0"/>
              <a:t> </a:t>
            </a:r>
            <a:r>
              <a:rPr lang="en-US" sz="2000" dirty="0"/>
              <a:t>represents the activations of the first layer for all </a:t>
            </a:r>
            <a:r>
              <a:rPr lang="en-US" sz="2000" dirty="0" smtClean="0"/>
              <a:t>examples.</a:t>
            </a:r>
          </a:p>
          <a:p>
            <a:r>
              <a:rPr lang="en-US" sz="2000" dirty="0"/>
              <a:t>	</a:t>
            </a:r>
            <a:r>
              <a:rPr lang="en-US" sz="2000" dirty="0" smtClean="0"/>
              <a:t>- M</a:t>
            </a:r>
            <a:r>
              <a:rPr lang="en-US" sz="2000" dirty="0" smtClean="0"/>
              <a:t>atrix </a:t>
            </a:r>
            <a:r>
              <a:rPr lang="en-US" sz="2000" dirty="0"/>
              <a:t>Z</a:t>
            </a:r>
            <a:r>
              <a:rPr lang="en-US" sz="2000" baseline="30000" dirty="0"/>
              <a:t>[2]</a:t>
            </a:r>
            <a:r>
              <a:rPr lang="en-US" sz="2000" dirty="0" smtClean="0"/>
              <a:t> </a:t>
            </a:r>
            <a:r>
              <a:rPr lang="en-US" sz="2000" dirty="0"/>
              <a:t>represents the output of the second layer for all </a:t>
            </a:r>
            <a:r>
              <a:rPr lang="en-US" sz="2000" dirty="0" smtClean="0"/>
              <a:t>examples</a:t>
            </a:r>
          </a:p>
          <a:p>
            <a:r>
              <a:rPr lang="en-US" sz="2000" dirty="0"/>
              <a:t>	</a:t>
            </a:r>
            <a:r>
              <a:rPr lang="en-US" sz="2000" dirty="0" smtClean="0"/>
              <a:t>- M</a:t>
            </a:r>
            <a:r>
              <a:rPr lang="en-US" sz="2000" dirty="0" smtClean="0"/>
              <a:t>atrix </a:t>
            </a:r>
            <a:r>
              <a:rPr lang="en-US" sz="2000" dirty="0"/>
              <a:t>A</a:t>
            </a:r>
            <a:r>
              <a:rPr lang="en-US" sz="2000" baseline="30000" dirty="0"/>
              <a:t>[2]</a:t>
            </a:r>
            <a:r>
              <a:rPr lang="en-US" sz="2000" dirty="0" smtClean="0"/>
              <a:t> </a:t>
            </a:r>
            <a:r>
              <a:rPr lang="en-US" sz="2000" dirty="0"/>
              <a:t>represents the activations of the second layer for all examples</a:t>
            </a:r>
            <a:r>
              <a:rPr lang="en-US" sz="2000" dirty="0" smtClean="0"/>
              <a:t>.</a:t>
            </a:r>
            <a:endParaRPr lang="en-US" sz="2400" dirty="0"/>
          </a:p>
          <a:p>
            <a:pPr marL="342900" indent="-342900">
              <a:buFont typeface="Arial" panose="020B0604020202020204" pitchFamily="34" charset="0"/>
              <a:buChar char="•"/>
            </a:pPr>
            <a:r>
              <a:rPr lang="en-US" sz="2400" dirty="0" smtClean="0"/>
              <a:t>By </a:t>
            </a:r>
            <a:r>
              <a:rPr lang="en-US" sz="2400" dirty="0"/>
              <a:t>stacking up the lowercase vectors in different columns, you can obtain the matrices Z and A. The horizontal index in these matrices corresponds to different training examples, while the vertical index corresponds to different nodes in the neural network</a:t>
            </a:r>
            <a:r>
              <a:rPr lang="en-US" sz="2400" dirty="0" smtClean="0"/>
              <a:t>.</a:t>
            </a:r>
          </a:p>
        </p:txBody>
      </p:sp>
    </p:spTree>
    <p:extLst>
      <p:ext uri="{BB962C8B-B14F-4D97-AF65-F5344CB8AC3E}">
        <p14:creationId xmlns:p14="http://schemas.microsoft.com/office/powerpoint/2010/main" val="30073488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Shape 148"/>
        <p:cNvGrpSpPr/>
        <p:nvPr/>
      </p:nvGrpSpPr>
      <p:grpSpPr>
        <a:xfrm>
          <a:off x="0" y="0"/>
          <a:ext cx="0" cy="0"/>
          <a:chOff x="0" y="0"/>
          <a:chExt cx="0" cy="0"/>
        </a:xfrm>
      </p:grpSpPr>
      <p:sp>
        <p:nvSpPr>
          <p:cNvPr id="149" name="Google Shape;149;p14"/>
          <p:cNvSpPr/>
          <p:nvPr/>
        </p:nvSpPr>
        <p:spPr>
          <a:xfrm>
            <a:off x="4544009" y="3459886"/>
            <a:ext cx="7442200" cy="0"/>
          </a:xfrm>
          <a:custGeom>
            <a:avLst/>
            <a:gdLst/>
            <a:ahLst/>
            <a:cxnLst/>
            <a:rect l="l" t="t" r="r" b="b"/>
            <a:pathLst>
              <a:path w="7442200" h="120000" extrusionOk="0">
                <a:moveTo>
                  <a:pt x="0" y="0"/>
                </a:moveTo>
                <a:lnTo>
                  <a:pt x="7442044" y="0"/>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j-lt"/>
              <a:ea typeface="Calibri"/>
              <a:cs typeface="Calibri"/>
              <a:sym typeface="Calibri"/>
            </a:endParaRPr>
          </a:p>
        </p:txBody>
      </p:sp>
      <p:sp>
        <p:nvSpPr>
          <p:cNvPr id="150" name="Google Shape;150;p14"/>
          <p:cNvSpPr txBox="1">
            <a:spLocks noGrp="1"/>
          </p:cNvSpPr>
          <p:nvPr>
            <p:ph type="body" idx="1"/>
          </p:nvPr>
        </p:nvSpPr>
        <p:spPr>
          <a:xfrm>
            <a:off x="1303626" y="1130300"/>
            <a:ext cx="10414200" cy="1860000"/>
          </a:xfrm>
          <a:prstGeom prst="rect">
            <a:avLst/>
          </a:prstGeom>
          <a:noFill/>
          <a:ln>
            <a:noFill/>
          </a:ln>
        </p:spPr>
        <p:txBody>
          <a:bodyPr spcFirstLastPara="1" wrap="square" lIns="0" tIns="12700" rIns="0" bIns="0" anchor="t" anchorCtr="0">
            <a:spAutoFit/>
          </a:bodyPr>
          <a:lstStyle/>
          <a:p>
            <a:pPr marL="4547870" marR="5080" lvl="0" indent="-193040" algn="l" rtl="0">
              <a:lnSpc>
                <a:spcPct val="100000"/>
              </a:lnSpc>
              <a:spcBef>
                <a:spcPts val="0"/>
              </a:spcBef>
              <a:spcAft>
                <a:spcPts val="0"/>
              </a:spcAft>
              <a:buSzPts val="1400"/>
              <a:buNone/>
            </a:pPr>
            <a:r>
              <a:rPr lang="en-US" dirty="0">
                <a:latin typeface="+mj-lt"/>
              </a:rPr>
              <a:t>One hidden layer  Neural Network</a:t>
            </a:r>
            <a:endParaRPr dirty="0">
              <a:latin typeface="+mj-lt"/>
            </a:endParaRPr>
          </a:p>
        </p:txBody>
      </p:sp>
      <p:sp>
        <p:nvSpPr>
          <p:cNvPr id="151" name="Google Shape;151;p14"/>
          <p:cNvSpPr txBox="1"/>
          <p:nvPr/>
        </p:nvSpPr>
        <p:spPr>
          <a:xfrm>
            <a:off x="4633547" y="3670296"/>
            <a:ext cx="7352662" cy="3000052"/>
          </a:xfrm>
          <a:prstGeom prst="rect">
            <a:avLst/>
          </a:prstGeom>
          <a:noFill/>
          <a:ln>
            <a:noFill/>
          </a:ln>
        </p:spPr>
        <p:txBody>
          <a:bodyPr spcFirstLastPara="1" wrap="square" lIns="0" tIns="41275" rIns="0" bIns="0" anchor="t" anchorCtr="0">
            <a:spAutoFit/>
          </a:bodyPr>
          <a:lstStyle/>
          <a:p>
            <a:pPr marL="251459" marR="398780" lvl="0" indent="635" algn="ctr" rtl="0">
              <a:lnSpc>
                <a:spcPct val="119814"/>
              </a:lnSpc>
              <a:spcBef>
                <a:spcPts val="0"/>
              </a:spcBef>
              <a:spcAft>
                <a:spcPts val="0"/>
              </a:spcAft>
              <a:buClr>
                <a:srgbClr val="000000"/>
              </a:buClr>
              <a:buSzPts val="5400"/>
              <a:buFont typeface="Arial"/>
              <a:buNone/>
            </a:pPr>
            <a:r>
              <a:rPr lang="en-US" sz="5400" b="0" i="0" u="none" strike="noStrike" cap="none" dirty="0">
                <a:solidFill>
                  <a:schemeClr val="dk1"/>
                </a:solidFill>
                <a:latin typeface="+mj-lt"/>
                <a:ea typeface="Calibri"/>
                <a:cs typeface="Calibri"/>
                <a:sym typeface="Calibri"/>
              </a:rPr>
              <a:t>Explanation for vectorized</a:t>
            </a:r>
            <a:endParaRPr sz="5400" b="0" i="0" u="none" strike="noStrike" cap="none" dirty="0">
              <a:solidFill>
                <a:schemeClr val="dk1"/>
              </a:solidFill>
              <a:latin typeface="+mj-lt"/>
              <a:ea typeface="Calibri"/>
              <a:cs typeface="Calibri"/>
              <a:sym typeface="Calibri"/>
            </a:endParaRPr>
          </a:p>
          <a:p>
            <a:pPr marL="0" marR="0" lvl="0" indent="0" algn="ctr" rtl="0">
              <a:lnSpc>
                <a:spcPct val="115740"/>
              </a:lnSpc>
              <a:spcBef>
                <a:spcPts val="0"/>
              </a:spcBef>
              <a:spcAft>
                <a:spcPts val="0"/>
              </a:spcAft>
              <a:buClr>
                <a:srgbClr val="000000"/>
              </a:buClr>
              <a:buSzPts val="5400"/>
              <a:buFont typeface="Arial"/>
              <a:buNone/>
            </a:pPr>
            <a:r>
              <a:rPr lang="en-US" sz="5400" b="0" i="0" u="none" strike="noStrike" cap="none" dirty="0">
                <a:solidFill>
                  <a:schemeClr val="dk1"/>
                </a:solidFill>
                <a:latin typeface="+mj-lt"/>
                <a:ea typeface="Calibri"/>
                <a:cs typeface="Calibri"/>
                <a:sym typeface="Calibri"/>
              </a:rPr>
              <a:t>implementation</a:t>
            </a:r>
            <a:endParaRPr sz="5400" b="0" i="0" u="none" strike="noStrike" cap="none" dirty="0">
              <a:solidFill>
                <a:schemeClr val="dk1"/>
              </a:solidFill>
              <a:latin typeface="+mj-lt"/>
              <a:ea typeface="Calibri"/>
              <a:cs typeface="Calibri"/>
              <a:sym typeface="Calibri"/>
            </a:endParaRPr>
          </a:p>
        </p:txBody>
      </p:sp>
      <p:pic>
        <p:nvPicPr>
          <p:cNvPr id="152" name="Google Shape;152;p14"/>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153" name="Google Shape;153;p14"/>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22</a:t>
            </a:fld>
            <a:endParaRPr>
              <a:latin typeface="+mj-l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2" name="Rectangle 1"/>
          <p:cNvSpPr/>
          <p:nvPr/>
        </p:nvSpPr>
        <p:spPr>
          <a:xfrm>
            <a:off x="644709" y="1591408"/>
            <a:ext cx="10937631" cy="41007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Font typeface="+mj-lt"/>
              <a:buAutoNum type="arabicPeriod"/>
            </a:pPr>
            <a:r>
              <a:rPr lang="en-US" sz="2400" dirty="0">
                <a:solidFill>
                  <a:schemeClr val="tx1"/>
                </a:solidFill>
                <a:latin typeface="+mj-lt"/>
              </a:rPr>
              <a:t>Stacking training examples horizontally in the matrix X.</a:t>
            </a:r>
          </a:p>
          <a:p>
            <a:pPr marL="457200" indent="-457200">
              <a:buFont typeface="+mj-lt"/>
              <a:buAutoNum type="arabicPeriod"/>
            </a:pPr>
            <a:r>
              <a:rPr lang="en-US" sz="2400" dirty="0">
                <a:solidFill>
                  <a:schemeClr val="tx1"/>
                </a:solidFill>
                <a:latin typeface="+mj-lt"/>
              </a:rPr>
              <a:t>The matrix capital </a:t>
            </a:r>
            <a:r>
              <a:rPr lang="en-US" sz="2400" dirty="0" smtClean="0">
                <a:solidFill>
                  <a:schemeClr val="tx1"/>
                </a:solidFill>
                <a:latin typeface="+mj-lt"/>
              </a:rPr>
              <a:t>Z</a:t>
            </a:r>
            <a:r>
              <a:rPr lang="en-US" sz="2400" baseline="30000" dirty="0" smtClean="0">
                <a:solidFill>
                  <a:schemeClr val="tx1"/>
                </a:solidFill>
                <a:latin typeface="+mj-lt"/>
              </a:rPr>
              <a:t>[1]</a:t>
            </a:r>
            <a:r>
              <a:rPr lang="en-US" sz="2400" dirty="0" smtClean="0">
                <a:solidFill>
                  <a:schemeClr val="tx1"/>
                </a:solidFill>
                <a:latin typeface="+mj-lt"/>
              </a:rPr>
              <a:t> </a:t>
            </a:r>
            <a:r>
              <a:rPr lang="en-US" sz="2400" dirty="0">
                <a:solidFill>
                  <a:schemeClr val="tx1"/>
                </a:solidFill>
                <a:latin typeface="+mj-lt"/>
              </a:rPr>
              <a:t>is formed by taking the vector </a:t>
            </a:r>
            <a:r>
              <a:rPr lang="en-US" sz="2400" dirty="0" smtClean="0">
                <a:solidFill>
                  <a:schemeClr val="tx1"/>
                </a:solidFill>
                <a:latin typeface="+mj-lt"/>
              </a:rPr>
              <a:t>x</a:t>
            </a:r>
            <a:r>
              <a:rPr lang="en-US" sz="2400" baseline="30000" dirty="0" smtClean="0">
                <a:solidFill>
                  <a:schemeClr val="tx1"/>
                </a:solidFill>
                <a:latin typeface="+mj-lt"/>
              </a:rPr>
              <a:t>(1)</a:t>
            </a:r>
            <a:r>
              <a:rPr lang="en-US" sz="2400" dirty="0" smtClean="0">
                <a:solidFill>
                  <a:schemeClr val="tx1"/>
                </a:solidFill>
                <a:latin typeface="+mj-lt"/>
              </a:rPr>
              <a:t>, x</a:t>
            </a:r>
            <a:r>
              <a:rPr lang="en-US" sz="2400" baseline="30000" dirty="0" smtClean="0">
                <a:solidFill>
                  <a:schemeClr val="tx1"/>
                </a:solidFill>
                <a:latin typeface="+mj-lt"/>
              </a:rPr>
              <a:t>(2)</a:t>
            </a:r>
            <a:r>
              <a:rPr lang="en-US" sz="2400" dirty="0" smtClean="0">
                <a:solidFill>
                  <a:schemeClr val="tx1"/>
                </a:solidFill>
                <a:latin typeface="+mj-lt"/>
              </a:rPr>
              <a:t> , </a:t>
            </a:r>
            <a:r>
              <a:rPr lang="en-US" sz="2400" dirty="0">
                <a:solidFill>
                  <a:schemeClr val="tx1"/>
                </a:solidFill>
                <a:latin typeface="+mj-lt"/>
              </a:rPr>
              <a:t>and </a:t>
            </a:r>
            <a:r>
              <a:rPr lang="en-US" sz="2400" dirty="0" smtClean="0">
                <a:solidFill>
                  <a:schemeClr val="tx1"/>
                </a:solidFill>
                <a:latin typeface="+mj-lt"/>
              </a:rPr>
              <a:t>x</a:t>
            </a:r>
            <a:r>
              <a:rPr lang="en-US" sz="2400" baseline="30000" dirty="0" smtClean="0">
                <a:solidFill>
                  <a:schemeClr val="tx1"/>
                </a:solidFill>
                <a:latin typeface="+mj-lt"/>
              </a:rPr>
              <a:t>(3)</a:t>
            </a:r>
            <a:r>
              <a:rPr lang="en-US" sz="2400" dirty="0" smtClean="0">
                <a:solidFill>
                  <a:schemeClr val="tx1"/>
                </a:solidFill>
                <a:latin typeface="+mj-lt"/>
              </a:rPr>
              <a:t> </a:t>
            </a:r>
            <a:r>
              <a:rPr lang="en-US" sz="2400" dirty="0">
                <a:solidFill>
                  <a:schemeClr val="tx1"/>
                </a:solidFill>
                <a:latin typeface="+mj-lt"/>
              </a:rPr>
              <a:t>(or more examples) and stacking them vertically.</a:t>
            </a:r>
          </a:p>
          <a:p>
            <a:pPr marL="457200" indent="-457200">
              <a:buFont typeface="+mj-lt"/>
              <a:buAutoNum type="arabicPeriod"/>
            </a:pPr>
            <a:r>
              <a:rPr lang="en-US" sz="2400" dirty="0">
                <a:solidFill>
                  <a:schemeClr val="tx1"/>
                </a:solidFill>
                <a:latin typeface="+mj-lt"/>
              </a:rPr>
              <a:t>The line </a:t>
            </a:r>
            <a:r>
              <a:rPr lang="en-US" sz="2400" dirty="0" smtClean="0">
                <a:solidFill>
                  <a:schemeClr val="tx1"/>
                </a:solidFill>
                <a:latin typeface="+mj-lt"/>
              </a:rPr>
              <a:t>z</a:t>
            </a:r>
            <a:r>
              <a:rPr lang="en-US" sz="2400" baseline="30000" dirty="0" smtClean="0">
                <a:solidFill>
                  <a:schemeClr val="tx1"/>
                </a:solidFill>
                <a:latin typeface="+mj-lt"/>
              </a:rPr>
              <a:t>[1]</a:t>
            </a:r>
            <a:r>
              <a:rPr lang="en-US" sz="2400" dirty="0" smtClean="0">
                <a:solidFill>
                  <a:schemeClr val="tx1"/>
                </a:solidFill>
                <a:latin typeface="+mj-lt"/>
              </a:rPr>
              <a:t> </a:t>
            </a:r>
            <a:r>
              <a:rPr lang="en-US" sz="2400" dirty="0">
                <a:solidFill>
                  <a:schemeClr val="tx1"/>
                </a:solidFill>
                <a:latin typeface="+mj-lt"/>
              </a:rPr>
              <a:t>= </a:t>
            </a:r>
            <a:r>
              <a:rPr lang="en-US" sz="2400" dirty="0" smtClean="0">
                <a:solidFill>
                  <a:schemeClr val="tx1"/>
                </a:solidFill>
                <a:latin typeface="+mj-lt"/>
              </a:rPr>
              <a:t>w</a:t>
            </a:r>
            <a:r>
              <a:rPr lang="en-US" sz="2400" baseline="30000" dirty="0" smtClean="0">
                <a:solidFill>
                  <a:schemeClr val="tx1"/>
                </a:solidFill>
                <a:latin typeface="+mj-lt"/>
              </a:rPr>
              <a:t>[1]</a:t>
            </a:r>
            <a:r>
              <a:rPr lang="en-US" sz="2400" dirty="0" smtClean="0">
                <a:solidFill>
                  <a:schemeClr val="tx1"/>
                </a:solidFill>
                <a:latin typeface="+mj-lt"/>
              </a:rPr>
              <a:t> x </a:t>
            </a:r>
            <a:r>
              <a:rPr lang="en-US" sz="2400" dirty="0">
                <a:solidFill>
                  <a:schemeClr val="tx1"/>
                </a:solidFill>
                <a:latin typeface="+mj-lt"/>
              </a:rPr>
              <a:t>+ </a:t>
            </a:r>
            <a:r>
              <a:rPr lang="en-US" sz="2400" dirty="0" smtClean="0">
                <a:solidFill>
                  <a:schemeClr val="tx1"/>
                </a:solidFill>
                <a:latin typeface="+mj-lt"/>
              </a:rPr>
              <a:t>b</a:t>
            </a:r>
            <a:r>
              <a:rPr lang="en-US" sz="2400" baseline="30000" dirty="0" smtClean="0">
                <a:solidFill>
                  <a:schemeClr val="tx1"/>
                </a:solidFill>
                <a:latin typeface="+mj-lt"/>
              </a:rPr>
              <a:t>[1]</a:t>
            </a:r>
            <a:r>
              <a:rPr lang="en-US" sz="2400" dirty="0" smtClean="0">
                <a:solidFill>
                  <a:schemeClr val="tx1"/>
                </a:solidFill>
                <a:latin typeface="+mj-lt"/>
              </a:rPr>
              <a:t> </a:t>
            </a:r>
            <a:r>
              <a:rPr lang="en-US" sz="2400" dirty="0">
                <a:solidFill>
                  <a:schemeClr val="tx1"/>
                </a:solidFill>
                <a:latin typeface="+mj-lt"/>
              </a:rPr>
              <a:t>is a correct vectorization of the first step of forward propagation.</a:t>
            </a:r>
          </a:p>
          <a:p>
            <a:pPr marL="457200" indent="-457200">
              <a:buFont typeface="+mj-lt"/>
              <a:buAutoNum type="arabicPeriod"/>
            </a:pPr>
            <a:r>
              <a:rPr lang="en-US" sz="2400" dirty="0">
                <a:solidFill>
                  <a:schemeClr val="tx1"/>
                </a:solidFill>
                <a:latin typeface="+mj-lt"/>
              </a:rPr>
              <a:t>Similar reasoning can be applied to the other lines of code, showing that they are also correct vectorizations.</a:t>
            </a:r>
          </a:p>
          <a:p>
            <a:pPr marL="457200" indent="-457200">
              <a:buFont typeface="+mj-lt"/>
              <a:buAutoNum type="arabicPeriod"/>
            </a:pPr>
            <a:r>
              <a:rPr lang="en-US" sz="2400" dirty="0">
                <a:solidFill>
                  <a:schemeClr val="tx1"/>
                </a:solidFill>
                <a:latin typeface="+mj-lt"/>
              </a:rPr>
              <a:t>There's a certain symmetry in the equations, which demonstrates that the different layers of a neural network are performing the same computation repeatedly.</a:t>
            </a:r>
          </a:p>
        </p:txBody>
      </p:sp>
      <p:pic>
        <p:nvPicPr>
          <p:cNvPr id="62" name="Google Shape;62;p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63" name="Google Shape;63;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23</a:t>
            </a:fld>
            <a:endParaRPr>
              <a:latin typeface="+mj-lt"/>
            </a:endParaRPr>
          </a:p>
        </p:txBody>
      </p:sp>
      <p:sp>
        <p:nvSpPr>
          <p:cNvPr id="6" name="Google Shape;45;g20098e1d08f_0_0"/>
          <p:cNvSpPr txBox="1">
            <a:spLocks noGrp="1"/>
          </p:cNvSpPr>
          <p:nvPr>
            <p:ph type="body" idx="1"/>
          </p:nvPr>
        </p:nvSpPr>
        <p:spPr>
          <a:xfrm>
            <a:off x="174088" y="57762"/>
            <a:ext cx="12673232" cy="677108"/>
          </a:xfrm>
          <a:prstGeom prst="rect">
            <a:avLst/>
          </a:prstGeom>
          <a:noFill/>
          <a:ln>
            <a:noFill/>
          </a:ln>
        </p:spPr>
        <p:txBody>
          <a:bodyPr spcFirstLastPara="1" wrap="square" lIns="0" tIns="0" rIns="0" bIns="0" anchor="t" anchorCtr="0">
            <a:spAutoFit/>
          </a:bodyPr>
          <a:lstStyle/>
          <a:p>
            <a:pPr marL="0" lvl="0" indent="0"/>
            <a:r>
              <a:rPr lang="en-US" sz="4400" dirty="0">
                <a:latin typeface="+mj-lt"/>
              </a:rPr>
              <a:t>Explanation for vectorized implementation</a:t>
            </a:r>
          </a:p>
        </p:txBody>
      </p:sp>
    </p:spTree>
    <p:extLst>
      <p:ext uri="{BB962C8B-B14F-4D97-AF65-F5344CB8AC3E}">
        <p14:creationId xmlns:p14="http://schemas.microsoft.com/office/powerpoint/2010/main" val="8517271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Shape 157"/>
        <p:cNvGrpSpPr/>
        <p:nvPr/>
      </p:nvGrpSpPr>
      <p:grpSpPr>
        <a:xfrm>
          <a:off x="0" y="0"/>
          <a:ext cx="0" cy="0"/>
          <a:chOff x="0" y="0"/>
          <a:chExt cx="0" cy="0"/>
        </a:xfrm>
      </p:grpSpPr>
      <p:sp>
        <p:nvSpPr>
          <p:cNvPr id="158" name="Google Shape;158;p15"/>
          <p:cNvSpPr txBox="1">
            <a:spLocks noGrp="1"/>
          </p:cNvSpPr>
          <p:nvPr>
            <p:ph type="title"/>
          </p:nvPr>
        </p:nvSpPr>
        <p:spPr>
          <a:xfrm>
            <a:off x="177724" y="126028"/>
            <a:ext cx="12962204" cy="689932"/>
          </a:xfrm>
          <a:prstGeom prst="rect">
            <a:avLst/>
          </a:prstGeom>
          <a:noFill/>
          <a:ln>
            <a:noFill/>
          </a:ln>
        </p:spPr>
        <p:txBody>
          <a:bodyPr spcFirstLastPara="1" wrap="square" lIns="0" tIns="12700" rIns="0" bIns="0" anchor="t" anchorCtr="0">
            <a:spAutoFit/>
          </a:bodyPr>
          <a:lstStyle/>
          <a:p>
            <a:pPr marL="0" lvl="0" indent="0"/>
            <a:r>
              <a:rPr lang="en-US" sz="4400" dirty="0">
                <a:latin typeface="+mj-lt"/>
              </a:rPr>
              <a:t>Explanation for vectorized implementation</a:t>
            </a:r>
          </a:p>
        </p:txBody>
      </p:sp>
      <p:pic>
        <p:nvPicPr>
          <p:cNvPr id="159" name="Google Shape;159;p15"/>
          <p:cNvPicPr preferRelativeResize="0"/>
          <p:nvPr/>
        </p:nvPicPr>
        <p:blipFill rotWithShape="1">
          <a:blip r:embed="rId3">
            <a:alphaModFix/>
          </a:blip>
          <a:srcRect/>
          <a:stretch/>
        </p:blipFill>
        <p:spPr>
          <a:xfrm>
            <a:off x="1537827" y="2208729"/>
            <a:ext cx="9196650" cy="3201655"/>
          </a:xfrm>
          <a:prstGeom prst="rect">
            <a:avLst/>
          </a:prstGeom>
          <a:noFill/>
          <a:ln>
            <a:noFill/>
          </a:ln>
        </p:spPr>
      </p:pic>
      <p:pic>
        <p:nvPicPr>
          <p:cNvPr id="160" name="Google Shape;160;p15"/>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161" name="Google Shape;161;p15"/>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24</a:t>
            </a:fld>
            <a:endParaRPr>
              <a:latin typeface="+mj-l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Shape 165"/>
        <p:cNvGrpSpPr/>
        <p:nvPr/>
      </p:nvGrpSpPr>
      <p:grpSpPr>
        <a:xfrm>
          <a:off x="0" y="0"/>
          <a:ext cx="0" cy="0"/>
          <a:chOff x="0" y="0"/>
          <a:chExt cx="0" cy="0"/>
        </a:xfrm>
      </p:grpSpPr>
      <p:pic>
        <p:nvPicPr>
          <p:cNvPr id="166" name="Google Shape;166;p16"/>
          <p:cNvPicPr preferRelativeResize="0"/>
          <p:nvPr/>
        </p:nvPicPr>
        <p:blipFill rotWithShape="1">
          <a:blip r:embed="rId3">
            <a:alphaModFix/>
          </a:blip>
          <a:srcRect/>
          <a:stretch/>
        </p:blipFill>
        <p:spPr>
          <a:xfrm>
            <a:off x="0" y="-29694"/>
            <a:ext cx="12253013" cy="6917384"/>
          </a:xfrm>
          <a:prstGeom prst="rect">
            <a:avLst/>
          </a:prstGeom>
          <a:noFill/>
          <a:ln>
            <a:noFill/>
          </a:ln>
        </p:spPr>
      </p:pic>
      <p:pic>
        <p:nvPicPr>
          <p:cNvPr id="167" name="Google Shape;167;p16"/>
          <p:cNvPicPr preferRelativeResize="0"/>
          <p:nvPr/>
        </p:nvPicPr>
        <p:blipFill rotWithShape="1">
          <a:blip r:embed="rId4">
            <a:alphaModFix/>
          </a:blip>
          <a:srcRect/>
          <a:stretch/>
        </p:blipFill>
        <p:spPr>
          <a:xfrm>
            <a:off x="11444900" y="0"/>
            <a:ext cx="737601" cy="405676"/>
          </a:xfrm>
          <a:prstGeom prst="rect">
            <a:avLst/>
          </a:prstGeom>
          <a:noFill/>
          <a:ln>
            <a:noFill/>
          </a:ln>
        </p:spPr>
      </p:pic>
      <p:sp>
        <p:nvSpPr>
          <p:cNvPr id="168" name="Google Shape;168;p16"/>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Shape 172"/>
        <p:cNvGrpSpPr/>
        <p:nvPr/>
      </p:nvGrpSpPr>
      <p:grpSpPr>
        <a:xfrm>
          <a:off x="0" y="0"/>
          <a:ext cx="0" cy="0"/>
          <a:chOff x="0" y="0"/>
          <a:chExt cx="0" cy="0"/>
        </a:xfrm>
      </p:grpSpPr>
      <p:sp>
        <p:nvSpPr>
          <p:cNvPr id="173" name="Google Shape;173;p17"/>
          <p:cNvSpPr/>
          <p:nvPr/>
        </p:nvSpPr>
        <p:spPr>
          <a:xfrm>
            <a:off x="4544009" y="3459886"/>
            <a:ext cx="7442200" cy="0"/>
          </a:xfrm>
          <a:custGeom>
            <a:avLst/>
            <a:gdLst/>
            <a:ahLst/>
            <a:cxnLst/>
            <a:rect l="l" t="t" r="r" b="b"/>
            <a:pathLst>
              <a:path w="7442200" h="120000" extrusionOk="0">
                <a:moveTo>
                  <a:pt x="0" y="0"/>
                </a:moveTo>
                <a:lnTo>
                  <a:pt x="7442044" y="0"/>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j-lt"/>
              <a:ea typeface="Calibri"/>
              <a:cs typeface="Calibri"/>
              <a:sym typeface="Calibri"/>
            </a:endParaRPr>
          </a:p>
        </p:txBody>
      </p:sp>
      <p:sp>
        <p:nvSpPr>
          <p:cNvPr id="174" name="Google Shape;174;p17"/>
          <p:cNvSpPr txBox="1">
            <a:spLocks noGrp="1"/>
          </p:cNvSpPr>
          <p:nvPr>
            <p:ph type="body" idx="1"/>
          </p:nvPr>
        </p:nvSpPr>
        <p:spPr>
          <a:xfrm>
            <a:off x="1303626" y="1130300"/>
            <a:ext cx="10546998" cy="1859483"/>
          </a:xfrm>
          <a:prstGeom prst="rect">
            <a:avLst/>
          </a:prstGeom>
          <a:noFill/>
          <a:ln>
            <a:noFill/>
          </a:ln>
        </p:spPr>
        <p:txBody>
          <a:bodyPr spcFirstLastPara="1" wrap="square" lIns="0" tIns="12700" rIns="0" bIns="0" anchor="t" anchorCtr="0">
            <a:spAutoFit/>
          </a:bodyPr>
          <a:lstStyle/>
          <a:p>
            <a:pPr marL="4547870" marR="5080" lvl="0" indent="-193040" algn="l" rtl="0">
              <a:lnSpc>
                <a:spcPct val="100000"/>
              </a:lnSpc>
              <a:spcBef>
                <a:spcPts val="0"/>
              </a:spcBef>
              <a:spcAft>
                <a:spcPts val="0"/>
              </a:spcAft>
              <a:buSzPts val="1400"/>
              <a:buNone/>
            </a:pPr>
            <a:r>
              <a:rPr lang="en-US" dirty="0">
                <a:latin typeface="+mj-lt"/>
              </a:rPr>
              <a:t>One hidden layer  Neural Network</a:t>
            </a:r>
            <a:endParaRPr dirty="0">
              <a:latin typeface="+mj-lt"/>
            </a:endParaRPr>
          </a:p>
        </p:txBody>
      </p:sp>
      <p:sp>
        <p:nvSpPr>
          <p:cNvPr id="175" name="Google Shape;175;p17"/>
          <p:cNvSpPr txBox="1"/>
          <p:nvPr/>
        </p:nvSpPr>
        <p:spPr>
          <a:xfrm>
            <a:off x="5168848" y="3831167"/>
            <a:ext cx="6560089" cy="843821"/>
          </a:xfrm>
          <a:prstGeom prst="rect">
            <a:avLst/>
          </a:prstGeom>
          <a:noFill/>
          <a:ln>
            <a:noFill/>
          </a:ln>
        </p:spPr>
        <p:txBody>
          <a:bodyPr spcFirstLastPara="1" wrap="square" lIns="0" tIns="12700" rIns="0" bIns="0" anchor="t" anchorCtr="0">
            <a:spAutoFit/>
          </a:bodyPr>
          <a:lstStyle/>
          <a:p>
            <a:pPr marL="12700" marR="0" lvl="0" indent="0" algn="ctr" rtl="0">
              <a:lnSpc>
                <a:spcPct val="100000"/>
              </a:lnSpc>
              <a:spcBef>
                <a:spcPts val="0"/>
              </a:spcBef>
              <a:spcAft>
                <a:spcPts val="0"/>
              </a:spcAft>
              <a:buClr>
                <a:srgbClr val="000000"/>
              </a:buClr>
              <a:buSzPts val="6000"/>
              <a:buFont typeface="Arial"/>
              <a:buNone/>
            </a:pPr>
            <a:r>
              <a:rPr lang="en-US" sz="5400" b="0" i="0" u="none" strike="noStrike" cap="none" dirty="0">
                <a:solidFill>
                  <a:schemeClr val="dk1"/>
                </a:solidFill>
                <a:latin typeface="+mj-lt"/>
                <a:ea typeface="Calibri"/>
                <a:cs typeface="Calibri"/>
                <a:sym typeface="Calibri"/>
              </a:rPr>
              <a:t>Activation functions</a:t>
            </a:r>
            <a:endParaRPr sz="5400" b="0" i="0" u="none" strike="noStrike" cap="none" dirty="0">
              <a:solidFill>
                <a:schemeClr val="dk1"/>
              </a:solidFill>
              <a:latin typeface="+mj-lt"/>
              <a:ea typeface="Calibri"/>
              <a:cs typeface="Calibri"/>
              <a:sym typeface="Calibri"/>
            </a:endParaRPr>
          </a:p>
        </p:txBody>
      </p:sp>
      <p:pic>
        <p:nvPicPr>
          <p:cNvPr id="176" name="Google Shape;176;p17"/>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177" name="Google Shape;177;p17"/>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26</a:t>
            </a:fld>
            <a:endParaRPr>
              <a:latin typeface="+mj-l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pic>
        <p:nvPicPr>
          <p:cNvPr id="62" name="Google Shape;62;p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63" name="Google Shape;63;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27</a:t>
            </a:fld>
            <a:endParaRPr>
              <a:latin typeface="+mj-lt"/>
            </a:endParaRPr>
          </a:p>
        </p:txBody>
      </p:sp>
      <p:sp>
        <p:nvSpPr>
          <p:cNvPr id="6" name="Google Shape;45;g20098e1d08f_0_0"/>
          <p:cNvSpPr txBox="1">
            <a:spLocks noGrp="1"/>
          </p:cNvSpPr>
          <p:nvPr>
            <p:ph type="body" idx="1"/>
          </p:nvPr>
        </p:nvSpPr>
        <p:spPr>
          <a:xfrm>
            <a:off x="448408" y="57762"/>
            <a:ext cx="10286064" cy="677108"/>
          </a:xfrm>
          <a:prstGeom prst="rect">
            <a:avLst/>
          </a:prstGeom>
          <a:noFill/>
          <a:ln>
            <a:noFill/>
          </a:ln>
        </p:spPr>
        <p:txBody>
          <a:bodyPr spcFirstLastPara="1" wrap="square" lIns="0" tIns="0" rIns="0" bIns="0" anchor="t" anchorCtr="0">
            <a:spAutoFit/>
          </a:bodyPr>
          <a:lstStyle/>
          <a:p>
            <a:pPr marL="0" lvl="0" indent="0"/>
            <a:r>
              <a:rPr lang="en-US" sz="4400" dirty="0">
                <a:latin typeface="+mj-lt"/>
              </a:rPr>
              <a:t>Activation functions</a:t>
            </a:r>
          </a:p>
        </p:txBody>
      </p:sp>
      <p:sp>
        <p:nvSpPr>
          <p:cNvPr id="2" name="Rectangle 1"/>
          <p:cNvSpPr/>
          <p:nvPr/>
        </p:nvSpPr>
        <p:spPr>
          <a:xfrm>
            <a:off x="644709" y="1567583"/>
            <a:ext cx="10937631" cy="41007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342900" indent="-342900">
              <a:buFont typeface="Arial" panose="020B0604020202020204" pitchFamily="34" charset="0"/>
              <a:buChar char="•"/>
            </a:pPr>
            <a:r>
              <a:rPr lang="en-US" sz="2400" dirty="0">
                <a:solidFill>
                  <a:schemeClr val="tx1"/>
                </a:solidFill>
                <a:latin typeface="+mj-lt"/>
              </a:rPr>
              <a:t>The </a:t>
            </a:r>
            <a:r>
              <a:rPr lang="en-US" sz="2400" b="1" dirty="0">
                <a:solidFill>
                  <a:schemeClr val="tx1"/>
                </a:solidFill>
                <a:latin typeface="+mj-lt"/>
              </a:rPr>
              <a:t>sigmoid</a:t>
            </a:r>
            <a:r>
              <a:rPr lang="en-US" sz="2400" dirty="0">
                <a:solidFill>
                  <a:schemeClr val="tx1"/>
                </a:solidFill>
                <a:latin typeface="+mj-lt"/>
              </a:rPr>
              <a:t> function was popular in the past, but it has been mostly replaced by other activation functions. The </a:t>
            </a:r>
            <a:r>
              <a:rPr lang="en-US" sz="2400" b="1" dirty="0" err="1">
                <a:solidFill>
                  <a:schemeClr val="tx1"/>
                </a:solidFill>
                <a:latin typeface="+mj-lt"/>
              </a:rPr>
              <a:t>tanh</a:t>
            </a:r>
            <a:r>
              <a:rPr lang="en-US" sz="2400" dirty="0">
                <a:solidFill>
                  <a:schemeClr val="tx1"/>
                </a:solidFill>
                <a:latin typeface="+mj-lt"/>
              </a:rPr>
              <a:t> function, which is a shifted version of the </a:t>
            </a:r>
            <a:r>
              <a:rPr lang="en-US" sz="2400" b="1" dirty="0">
                <a:solidFill>
                  <a:schemeClr val="tx1"/>
                </a:solidFill>
                <a:latin typeface="+mj-lt"/>
              </a:rPr>
              <a:t>sigmoid</a:t>
            </a:r>
            <a:r>
              <a:rPr lang="en-US" sz="2400" dirty="0">
                <a:solidFill>
                  <a:schemeClr val="tx1"/>
                </a:solidFill>
                <a:latin typeface="+mj-lt"/>
              </a:rPr>
              <a:t>, works better than the </a:t>
            </a:r>
            <a:r>
              <a:rPr lang="en-US" sz="2400" b="1" dirty="0">
                <a:solidFill>
                  <a:schemeClr val="tx1"/>
                </a:solidFill>
                <a:latin typeface="+mj-lt"/>
              </a:rPr>
              <a:t>sigmoid</a:t>
            </a:r>
            <a:r>
              <a:rPr lang="en-US" sz="2400" dirty="0">
                <a:solidFill>
                  <a:schemeClr val="tx1"/>
                </a:solidFill>
                <a:latin typeface="+mj-lt"/>
              </a:rPr>
              <a:t> for hidden layers as it centers the data with a mean close to zero. However, for the output layer in binary classification, the </a:t>
            </a:r>
            <a:r>
              <a:rPr lang="en-US" sz="2400" b="1" dirty="0">
                <a:solidFill>
                  <a:schemeClr val="tx1"/>
                </a:solidFill>
                <a:latin typeface="+mj-lt"/>
              </a:rPr>
              <a:t>sigmoid</a:t>
            </a:r>
            <a:r>
              <a:rPr lang="en-US" sz="2400" dirty="0">
                <a:solidFill>
                  <a:schemeClr val="tx1"/>
                </a:solidFill>
                <a:latin typeface="+mj-lt"/>
              </a:rPr>
              <a:t> function is still preferred.</a:t>
            </a:r>
          </a:p>
          <a:p>
            <a:pPr marL="342900" indent="-342900">
              <a:buFont typeface="Arial" panose="020B0604020202020204" pitchFamily="34" charset="0"/>
              <a:buChar char="•"/>
            </a:pPr>
            <a:r>
              <a:rPr lang="en-US" sz="2400" dirty="0">
                <a:solidFill>
                  <a:schemeClr val="tx1"/>
                </a:solidFill>
                <a:latin typeface="+mj-lt"/>
              </a:rPr>
              <a:t>The </a:t>
            </a:r>
            <a:r>
              <a:rPr lang="en-US" sz="2400" b="1" dirty="0">
                <a:solidFill>
                  <a:schemeClr val="tx1"/>
                </a:solidFill>
                <a:latin typeface="+mj-lt"/>
              </a:rPr>
              <a:t>rectified linear unit (</a:t>
            </a:r>
            <a:r>
              <a:rPr lang="en-US" sz="2400" b="1" dirty="0" err="1">
                <a:solidFill>
                  <a:schemeClr val="tx1"/>
                </a:solidFill>
                <a:latin typeface="+mj-lt"/>
              </a:rPr>
              <a:t>ReLU</a:t>
            </a:r>
            <a:r>
              <a:rPr lang="en-US" sz="2400" b="1" dirty="0">
                <a:solidFill>
                  <a:schemeClr val="tx1"/>
                </a:solidFill>
                <a:latin typeface="+mj-lt"/>
              </a:rPr>
              <a:t>)</a:t>
            </a:r>
            <a:r>
              <a:rPr lang="en-US" sz="2400" dirty="0">
                <a:solidFill>
                  <a:schemeClr val="tx1"/>
                </a:solidFill>
                <a:latin typeface="+mj-lt"/>
              </a:rPr>
              <a:t> is currently the most popular activation function for hidden layers due to its simplicity and ability to reduce the vanishing gradient problem. It is defined as a=max(0,z). The </a:t>
            </a:r>
            <a:r>
              <a:rPr lang="en-US" sz="2400" b="1" dirty="0">
                <a:solidFill>
                  <a:schemeClr val="tx1"/>
                </a:solidFill>
                <a:latin typeface="+mj-lt"/>
              </a:rPr>
              <a:t>Leaky </a:t>
            </a:r>
            <a:r>
              <a:rPr lang="en-US" sz="2400" b="1" dirty="0" err="1">
                <a:solidFill>
                  <a:schemeClr val="tx1"/>
                </a:solidFill>
                <a:latin typeface="+mj-lt"/>
              </a:rPr>
              <a:t>ReLU</a:t>
            </a:r>
            <a:r>
              <a:rPr lang="en-US" sz="2400" dirty="0">
                <a:solidFill>
                  <a:schemeClr val="tx1"/>
                </a:solidFill>
                <a:latin typeface="+mj-lt"/>
              </a:rPr>
              <a:t>, a variant of </a:t>
            </a:r>
            <a:r>
              <a:rPr lang="en-US" sz="2400" b="1" dirty="0" err="1">
                <a:solidFill>
                  <a:schemeClr val="tx1"/>
                </a:solidFill>
                <a:latin typeface="+mj-lt"/>
              </a:rPr>
              <a:t>ReLU</a:t>
            </a:r>
            <a:r>
              <a:rPr lang="en-US" sz="2400" dirty="0">
                <a:solidFill>
                  <a:schemeClr val="tx1"/>
                </a:solidFill>
                <a:latin typeface="+mj-lt"/>
              </a:rPr>
              <a:t>, is also used in some cases, with a=max(0.01*</a:t>
            </a:r>
            <a:r>
              <a:rPr lang="en-US" sz="2400" dirty="0" err="1">
                <a:solidFill>
                  <a:schemeClr val="tx1"/>
                </a:solidFill>
                <a:latin typeface="+mj-lt"/>
              </a:rPr>
              <a:t>z,z</a:t>
            </a:r>
            <a:r>
              <a:rPr lang="en-US" sz="2400" dirty="0">
                <a:solidFill>
                  <a:schemeClr val="tx1"/>
                </a:solidFill>
                <a:latin typeface="+mj-lt"/>
              </a:rPr>
              <a:t>) instead. It offers a small slope for negative z values, which can help avoid dead neurons.</a:t>
            </a:r>
          </a:p>
        </p:txBody>
      </p:sp>
    </p:spTree>
    <p:extLst>
      <p:ext uri="{BB962C8B-B14F-4D97-AF65-F5344CB8AC3E}">
        <p14:creationId xmlns:p14="http://schemas.microsoft.com/office/powerpoint/2010/main" val="21178775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Shape 181"/>
        <p:cNvGrpSpPr/>
        <p:nvPr/>
      </p:nvGrpSpPr>
      <p:grpSpPr>
        <a:xfrm>
          <a:off x="0" y="0"/>
          <a:ext cx="0" cy="0"/>
          <a:chOff x="0" y="0"/>
          <a:chExt cx="0" cy="0"/>
        </a:xfrm>
      </p:grpSpPr>
      <p:pic>
        <p:nvPicPr>
          <p:cNvPr id="182" name="Google Shape;182;p18"/>
          <p:cNvPicPr preferRelativeResize="0"/>
          <p:nvPr/>
        </p:nvPicPr>
        <p:blipFill rotWithShape="1">
          <a:blip r:embed="rId3">
            <a:alphaModFix/>
          </a:blip>
          <a:srcRect/>
          <a:stretch/>
        </p:blipFill>
        <p:spPr>
          <a:xfrm>
            <a:off x="-34031" y="0"/>
            <a:ext cx="12192000" cy="6737209"/>
          </a:xfrm>
          <a:prstGeom prst="rect">
            <a:avLst/>
          </a:prstGeom>
          <a:noFill/>
          <a:ln>
            <a:noFill/>
          </a:ln>
        </p:spPr>
      </p:pic>
      <p:pic>
        <p:nvPicPr>
          <p:cNvPr id="183" name="Google Shape;183;p18"/>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184" name="Google Shape;184;p18"/>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pic>
        <p:nvPicPr>
          <p:cNvPr id="62" name="Google Shape;62;p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63" name="Google Shape;63;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29</a:t>
            </a:fld>
            <a:endParaRPr>
              <a:latin typeface="+mj-lt"/>
            </a:endParaRPr>
          </a:p>
        </p:txBody>
      </p:sp>
      <p:sp>
        <p:nvSpPr>
          <p:cNvPr id="6" name="Google Shape;45;g20098e1d08f_0_0"/>
          <p:cNvSpPr txBox="1">
            <a:spLocks noGrp="1"/>
          </p:cNvSpPr>
          <p:nvPr>
            <p:ph type="body" idx="1"/>
          </p:nvPr>
        </p:nvSpPr>
        <p:spPr>
          <a:xfrm>
            <a:off x="448408" y="57762"/>
            <a:ext cx="10286064" cy="677108"/>
          </a:xfrm>
          <a:prstGeom prst="rect">
            <a:avLst/>
          </a:prstGeom>
          <a:noFill/>
          <a:ln>
            <a:noFill/>
          </a:ln>
        </p:spPr>
        <p:txBody>
          <a:bodyPr spcFirstLastPara="1" wrap="square" lIns="0" tIns="0" rIns="0" bIns="0" anchor="t" anchorCtr="0">
            <a:spAutoFit/>
          </a:bodyPr>
          <a:lstStyle/>
          <a:p>
            <a:pPr marL="0" lvl="0" indent="0"/>
            <a:r>
              <a:rPr lang="en-US" sz="4400" dirty="0">
                <a:latin typeface="+mj-lt"/>
              </a:rPr>
              <a:t>Activation functions</a:t>
            </a:r>
          </a:p>
        </p:txBody>
      </p:sp>
      <p:sp>
        <p:nvSpPr>
          <p:cNvPr id="2" name="Rectangle 1"/>
          <p:cNvSpPr/>
          <p:nvPr/>
        </p:nvSpPr>
        <p:spPr>
          <a:xfrm>
            <a:off x="644709" y="1567583"/>
            <a:ext cx="10937631" cy="41007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342900" indent="-342900">
              <a:buFont typeface="Arial" panose="020B0604020202020204" pitchFamily="34" charset="0"/>
              <a:buChar char="•"/>
            </a:pPr>
            <a:r>
              <a:rPr lang="en-US" sz="2400" dirty="0">
                <a:solidFill>
                  <a:schemeClr val="tx1"/>
                </a:solidFill>
                <a:latin typeface="+mj-lt"/>
              </a:rPr>
              <a:t>Some rules of thumb for choosing activation functions are:</a:t>
            </a:r>
          </a:p>
          <a:p>
            <a:pPr lvl="8"/>
            <a:r>
              <a:rPr lang="en-US" sz="2400" dirty="0">
                <a:solidFill>
                  <a:schemeClr val="tx1"/>
                </a:solidFill>
                <a:latin typeface="+mj-lt"/>
              </a:rPr>
              <a:t>	- For binary classification output layers, use the </a:t>
            </a:r>
            <a:r>
              <a:rPr lang="en-US" sz="2400" b="1" dirty="0">
                <a:solidFill>
                  <a:schemeClr val="tx1"/>
                </a:solidFill>
                <a:latin typeface="+mj-lt"/>
              </a:rPr>
              <a:t>sigmoid</a:t>
            </a:r>
            <a:r>
              <a:rPr lang="en-US" sz="2400" dirty="0">
                <a:solidFill>
                  <a:schemeClr val="tx1"/>
                </a:solidFill>
                <a:latin typeface="+mj-lt"/>
              </a:rPr>
              <a:t> function.</a:t>
            </a:r>
          </a:p>
          <a:p>
            <a:pPr lvl="6"/>
            <a:r>
              <a:rPr lang="en-US" sz="2400" dirty="0">
                <a:solidFill>
                  <a:schemeClr val="tx1"/>
                </a:solidFill>
                <a:latin typeface="+mj-lt"/>
              </a:rPr>
              <a:t>	- For hidden layers, the default choice is the </a:t>
            </a:r>
            <a:r>
              <a:rPr lang="en-US" sz="2400" b="1" dirty="0" err="1">
                <a:solidFill>
                  <a:schemeClr val="tx1"/>
                </a:solidFill>
                <a:latin typeface="+mj-lt"/>
              </a:rPr>
              <a:t>ReLU</a:t>
            </a:r>
            <a:r>
              <a:rPr lang="en-US" sz="2400" dirty="0">
                <a:solidFill>
                  <a:schemeClr val="tx1"/>
                </a:solidFill>
                <a:latin typeface="+mj-lt"/>
              </a:rPr>
              <a:t> function. The </a:t>
            </a:r>
            <a:r>
              <a:rPr lang="en-US" sz="2400" b="1" dirty="0" err="1">
                <a:solidFill>
                  <a:schemeClr val="tx1"/>
                </a:solidFill>
                <a:latin typeface="+mj-lt"/>
              </a:rPr>
              <a:t>tanh</a:t>
            </a:r>
            <a:r>
              <a:rPr lang="en-US" sz="2400" dirty="0">
                <a:solidFill>
                  <a:schemeClr val="tx1"/>
                </a:solidFill>
                <a:latin typeface="+mj-lt"/>
              </a:rPr>
              <a:t> function can also be used.</a:t>
            </a:r>
          </a:p>
          <a:p>
            <a:pPr marL="342900" indent="-342900">
              <a:buFont typeface="Arial" panose="020B0604020202020204" pitchFamily="34" charset="0"/>
              <a:buChar char="•"/>
            </a:pPr>
            <a:r>
              <a:rPr lang="en-US" sz="2400" dirty="0">
                <a:solidFill>
                  <a:schemeClr val="tx1"/>
                </a:solidFill>
                <a:latin typeface="+mj-lt"/>
              </a:rPr>
              <a:t>It is essential to experiment with different activation functions in your specific application to determine the best choice. This helps future-proof your neural network architecture against the idiosyncrasies of different problems and the evolution of algorithms.</a:t>
            </a:r>
          </a:p>
        </p:txBody>
      </p:sp>
    </p:spTree>
    <p:extLst>
      <p:ext uri="{BB962C8B-B14F-4D97-AF65-F5344CB8AC3E}">
        <p14:creationId xmlns:p14="http://schemas.microsoft.com/office/powerpoint/2010/main" val="10454310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Shape 195"/>
        <p:cNvGrpSpPr/>
        <p:nvPr/>
      </p:nvGrpSpPr>
      <p:grpSpPr>
        <a:xfrm>
          <a:off x="0" y="0"/>
          <a:ext cx="0" cy="0"/>
          <a:chOff x="0" y="0"/>
          <a:chExt cx="0" cy="0"/>
        </a:xfrm>
      </p:grpSpPr>
      <p:sp>
        <p:nvSpPr>
          <p:cNvPr id="196" name="Google Shape;196;p20"/>
          <p:cNvSpPr/>
          <p:nvPr/>
        </p:nvSpPr>
        <p:spPr>
          <a:xfrm>
            <a:off x="4544009" y="3459886"/>
            <a:ext cx="7442200" cy="0"/>
          </a:xfrm>
          <a:custGeom>
            <a:avLst/>
            <a:gdLst/>
            <a:ahLst/>
            <a:cxnLst/>
            <a:rect l="l" t="t" r="r" b="b"/>
            <a:pathLst>
              <a:path w="7442200" h="120000" extrusionOk="0">
                <a:moveTo>
                  <a:pt x="0" y="0"/>
                </a:moveTo>
                <a:lnTo>
                  <a:pt x="7442044" y="0"/>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j-lt"/>
              <a:ea typeface="Calibri"/>
              <a:cs typeface="Calibri"/>
              <a:sym typeface="Calibri"/>
            </a:endParaRPr>
          </a:p>
        </p:txBody>
      </p:sp>
      <p:sp>
        <p:nvSpPr>
          <p:cNvPr id="197" name="Google Shape;197;p20"/>
          <p:cNvSpPr txBox="1">
            <a:spLocks noGrp="1"/>
          </p:cNvSpPr>
          <p:nvPr>
            <p:ph type="body" idx="1"/>
          </p:nvPr>
        </p:nvSpPr>
        <p:spPr>
          <a:xfrm>
            <a:off x="1303626" y="1130300"/>
            <a:ext cx="10203600" cy="1860000"/>
          </a:xfrm>
          <a:prstGeom prst="rect">
            <a:avLst/>
          </a:prstGeom>
          <a:noFill/>
          <a:ln>
            <a:noFill/>
          </a:ln>
        </p:spPr>
        <p:txBody>
          <a:bodyPr spcFirstLastPara="1" wrap="square" lIns="0" tIns="12700" rIns="0" bIns="0" anchor="t" anchorCtr="0">
            <a:spAutoFit/>
          </a:bodyPr>
          <a:lstStyle/>
          <a:p>
            <a:pPr marL="4547870" marR="5080" lvl="0" indent="-193040" algn="l" rtl="0">
              <a:lnSpc>
                <a:spcPct val="100000"/>
              </a:lnSpc>
              <a:spcBef>
                <a:spcPts val="0"/>
              </a:spcBef>
              <a:spcAft>
                <a:spcPts val="0"/>
              </a:spcAft>
              <a:buSzPts val="1400"/>
              <a:buNone/>
            </a:pPr>
            <a:r>
              <a:rPr lang="en-US" dirty="0">
                <a:latin typeface="+mj-lt"/>
              </a:rPr>
              <a:t>One hidden layer  Neural Network</a:t>
            </a:r>
            <a:endParaRPr dirty="0">
              <a:latin typeface="+mj-lt"/>
            </a:endParaRPr>
          </a:p>
        </p:txBody>
      </p:sp>
      <p:sp>
        <p:nvSpPr>
          <p:cNvPr id="198" name="Google Shape;198;p20"/>
          <p:cNvSpPr txBox="1"/>
          <p:nvPr/>
        </p:nvSpPr>
        <p:spPr>
          <a:xfrm>
            <a:off x="5030723" y="3678767"/>
            <a:ext cx="6476400" cy="2506500"/>
          </a:xfrm>
          <a:prstGeom prst="rect">
            <a:avLst/>
          </a:prstGeom>
          <a:noFill/>
          <a:ln>
            <a:noFill/>
          </a:ln>
        </p:spPr>
        <p:txBody>
          <a:bodyPr spcFirstLastPara="1" wrap="square" lIns="0" tIns="12700" rIns="0" bIns="0" anchor="t" anchorCtr="0">
            <a:spAutoFit/>
          </a:bodyPr>
          <a:lstStyle/>
          <a:p>
            <a:pPr marL="774700" marR="767080" lvl="0" indent="-172719" algn="ctr" rtl="0">
              <a:lnSpc>
                <a:spcPct val="100000"/>
              </a:lnSpc>
              <a:spcBef>
                <a:spcPts val="0"/>
              </a:spcBef>
              <a:spcAft>
                <a:spcPts val="0"/>
              </a:spcAft>
              <a:buClr>
                <a:srgbClr val="000000"/>
              </a:buClr>
              <a:buSzPts val="6000"/>
              <a:buFont typeface="Arial"/>
              <a:buNone/>
            </a:pPr>
            <a:r>
              <a:rPr lang="en-US" sz="5400" b="0" i="0" u="none" strike="noStrike" cap="none" dirty="0">
                <a:solidFill>
                  <a:schemeClr val="dk1"/>
                </a:solidFill>
                <a:latin typeface="+mj-lt"/>
                <a:ea typeface="Calibri"/>
                <a:cs typeface="Calibri"/>
                <a:sym typeface="Calibri"/>
              </a:rPr>
              <a:t>Why do you  need non-linear</a:t>
            </a:r>
            <a:endParaRPr sz="5400" b="0" i="0" u="none" strike="noStrike" cap="none" dirty="0">
              <a:solidFill>
                <a:schemeClr val="dk1"/>
              </a:solidFill>
              <a:latin typeface="+mj-lt"/>
              <a:ea typeface="Calibri"/>
              <a:cs typeface="Calibri"/>
              <a:sym typeface="Calibri"/>
            </a:endParaRPr>
          </a:p>
          <a:p>
            <a:pPr marL="0" marR="0" lvl="0" indent="0" algn="ctr" rtl="0">
              <a:lnSpc>
                <a:spcPct val="100000"/>
              </a:lnSpc>
              <a:spcBef>
                <a:spcPts val="0"/>
              </a:spcBef>
              <a:spcAft>
                <a:spcPts val="0"/>
              </a:spcAft>
              <a:buClr>
                <a:srgbClr val="000000"/>
              </a:buClr>
              <a:buSzPts val="6000"/>
              <a:buFont typeface="Arial"/>
              <a:buNone/>
            </a:pPr>
            <a:r>
              <a:rPr lang="en-US" sz="5400" b="0" i="0" u="none" strike="noStrike" cap="none" dirty="0">
                <a:solidFill>
                  <a:schemeClr val="dk1"/>
                </a:solidFill>
                <a:latin typeface="+mj-lt"/>
                <a:ea typeface="Calibri"/>
                <a:cs typeface="Calibri"/>
                <a:sym typeface="Calibri"/>
              </a:rPr>
              <a:t>activation functions?</a:t>
            </a:r>
            <a:endParaRPr sz="5400" b="0" i="0" u="none" strike="noStrike" cap="none" dirty="0">
              <a:solidFill>
                <a:schemeClr val="dk1"/>
              </a:solidFill>
              <a:latin typeface="+mj-lt"/>
              <a:ea typeface="Calibri"/>
              <a:cs typeface="Calibri"/>
              <a:sym typeface="Calibri"/>
            </a:endParaRPr>
          </a:p>
        </p:txBody>
      </p:sp>
      <p:pic>
        <p:nvPicPr>
          <p:cNvPr id="199" name="Google Shape;199;p20"/>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00" name="Google Shape;200;p20"/>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30</a:t>
            </a:fld>
            <a:endParaRPr>
              <a:latin typeface="+mj-l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pic>
        <p:nvPicPr>
          <p:cNvPr id="62" name="Google Shape;62;p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63" name="Google Shape;63;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31</a:t>
            </a:fld>
            <a:endParaRPr>
              <a:latin typeface="+mj-lt"/>
            </a:endParaRPr>
          </a:p>
        </p:txBody>
      </p:sp>
      <p:sp>
        <p:nvSpPr>
          <p:cNvPr id="6" name="Google Shape;45;g20098e1d08f_0_0"/>
          <p:cNvSpPr txBox="1">
            <a:spLocks noGrp="1"/>
          </p:cNvSpPr>
          <p:nvPr>
            <p:ph type="body" idx="1"/>
          </p:nvPr>
        </p:nvSpPr>
        <p:spPr>
          <a:xfrm>
            <a:off x="448408" y="57762"/>
            <a:ext cx="8832752" cy="1354217"/>
          </a:xfrm>
          <a:prstGeom prst="rect">
            <a:avLst/>
          </a:prstGeom>
          <a:noFill/>
          <a:ln>
            <a:noFill/>
          </a:ln>
        </p:spPr>
        <p:txBody>
          <a:bodyPr spcFirstLastPara="1" wrap="square" lIns="0" tIns="0" rIns="0" bIns="0" anchor="t" anchorCtr="0">
            <a:spAutoFit/>
          </a:bodyPr>
          <a:lstStyle/>
          <a:p>
            <a:pPr marL="0" lvl="0" indent="0"/>
            <a:r>
              <a:rPr lang="en-US" sz="4400" dirty="0">
                <a:latin typeface="+mj-lt"/>
              </a:rPr>
              <a:t>Why do you need non-linear </a:t>
            </a:r>
          </a:p>
          <a:p>
            <a:pPr marL="0" lvl="0" indent="0"/>
            <a:r>
              <a:rPr lang="en-US" sz="4400" dirty="0">
                <a:latin typeface="+mj-lt"/>
              </a:rPr>
              <a:t>activation functions?</a:t>
            </a:r>
          </a:p>
        </p:txBody>
      </p:sp>
      <p:sp>
        <p:nvSpPr>
          <p:cNvPr id="2" name="Rectangle 1"/>
          <p:cNvSpPr/>
          <p:nvPr/>
        </p:nvSpPr>
        <p:spPr>
          <a:xfrm>
            <a:off x="644709" y="1761014"/>
            <a:ext cx="10937631" cy="41007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342900" indent="-342900">
              <a:buFont typeface="Arial" panose="020B0604020202020204" pitchFamily="34" charset="0"/>
              <a:buChar char="•"/>
            </a:pPr>
            <a:r>
              <a:rPr lang="en-US" sz="2400" dirty="0">
                <a:solidFill>
                  <a:schemeClr val="tx1"/>
                </a:solidFill>
                <a:latin typeface="+mj-lt"/>
              </a:rPr>
              <a:t>If a linear or identity activation function is used, the neural network would only compute a linear function of the input, making hidden layers more or less useless. The composition of two linear functions is itself a linear function, so without a non-linear activation function, the network won't compute more interesting functions even with more layers.</a:t>
            </a:r>
          </a:p>
          <a:p>
            <a:pPr marL="342900" indent="-342900">
              <a:buFont typeface="Arial" panose="020B0604020202020204" pitchFamily="34" charset="0"/>
              <a:buChar char="•"/>
            </a:pPr>
            <a:r>
              <a:rPr lang="en-US" sz="2400" dirty="0">
                <a:solidFill>
                  <a:schemeClr val="tx1"/>
                </a:solidFill>
                <a:latin typeface="+mj-lt"/>
              </a:rPr>
              <a:t>A linear activation function might be used in the output layer if the problem is a regression problem where y is a real number, but hidden layers should still use non-linear activation functions such as </a:t>
            </a:r>
            <a:r>
              <a:rPr lang="en-US" sz="2400" b="1" dirty="0" err="1">
                <a:solidFill>
                  <a:schemeClr val="tx1"/>
                </a:solidFill>
                <a:latin typeface="+mj-lt"/>
              </a:rPr>
              <a:t>ReLU</a:t>
            </a:r>
            <a:r>
              <a:rPr lang="en-US" sz="2400" dirty="0">
                <a:solidFill>
                  <a:schemeClr val="tx1"/>
                </a:solidFill>
                <a:latin typeface="+mj-lt"/>
              </a:rPr>
              <a:t>,</a:t>
            </a:r>
            <a:r>
              <a:rPr lang="en-US" sz="2400" b="1" dirty="0">
                <a:solidFill>
                  <a:schemeClr val="tx1"/>
                </a:solidFill>
                <a:latin typeface="+mj-lt"/>
              </a:rPr>
              <a:t> </a:t>
            </a:r>
            <a:r>
              <a:rPr lang="en-US" sz="2400" b="1" dirty="0" err="1">
                <a:solidFill>
                  <a:schemeClr val="tx1"/>
                </a:solidFill>
                <a:latin typeface="+mj-lt"/>
              </a:rPr>
              <a:t>tanh</a:t>
            </a:r>
            <a:r>
              <a:rPr lang="en-US" sz="2400" dirty="0">
                <a:solidFill>
                  <a:schemeClr val="tx1"/>
                </a:solidFill>
                <a:latin typeface="+mj-lt"/>
              </a:rPr>
              <a:t>, or </a:t>
            </a:r>
            <a:r>
              <a:rPr lang="en-US" sz="2400" b="1" dirty="0">
                <a:solidFill>
                  <a:schemeClr val="tx1"/>
                </a:solidFill>
                <a:latin typeface="+mj-lt"/>
              </a:rPr>
              <a:t>Leaky </a:t>
            </a:r>
            <a:r>
              <a:rPr lang="en-US" sz="2400" b="1" dirty="0" err="1">
                <a:solidFill>
                  <a:schemeClr val="tx1"/>
                </a:solidFill>
                <a:latin typeface="+mj-lt"/>
              </a:rPr>
              <a:t>ReLU</a:t>
            </a:r>
            <a:r>
              <a:rPr lang="en-US" sz="2400" dirty="0">
                <a:solidFill>
                  <a:schemeClr val="tx1"/>
                </a:solidFill>
                <a:latin typeface="+mj-lt"/>
              </a:rPr>
              <a:t>.</a:t>
            </a:r>
          </a:p>
        </p:txBody>
      </p:sp>
    </p:spTree>
    <p:extLst>
      <p:ext uri="{BB962C8B-B14F-4D97-AF65-F5344CB8AC3E}">
        <p14:creationId xmlns:p14="http://schemas.microsoft.com/office/powerpoint/2010/main" val="26593216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Shape 211"/>
        <p:cNvGrpSpPr/>
        <p:nvPr/>
      </p:nvGrpSpPr>
      <p:grpSpPr>
        <a:xfrm>
          <a:off x="0" y="0"/>
          <a:ext cx="0" cy="0"/>
          <a:chOff x="0" y="0"/>
          <a:chExt cx="0" cy="0"/>
        </a:xfrm>
      </p:grpSpPr>
      <p:sp>
        <p:nvSpPr>
          <p:cNvPr id="212" name="Google Shape;212;p22"/>
          <p:cNvSpPr/>
          <p:nvPr/>
        </p:nvSpPr>
        <p:spPr>
          <a:xfrm>
            <a:off x="4544009" y="3459886"/>
            <a:ext cx="7438390" cy="0"/>
          </a:xfrm>
          <a:custGeom>
            <a:avLst/>
            <a:gdLst/>
            <a:ahLst/>
            <a:cxnLst/>
            <a:rect l="l" t="t" r="r" b="b"/>
            <a:pathLst>
              <a:path w="7438390" h="120000" extrusionOk="0">
                <a:moveTo>
                  <a:pt x="0" y="0"/>
                </a:moveTo>
                <a:lnTo>
                  <a:pt x="7438244" y="0"/>
                </a:lnTo>
              </a:path>
            </a:pathLst>
          </a:custGeom>
          <a:noFill/>
          <a:ln w="19025"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j-lt"/>
              <a:ea typeface="Calibri"/>
              <a:cs typeface="Calibri"/>
              <a:sym typeface="Calibri"/>
            </a:endParaRPr>
          </a:p>
        </p:txBody>
      </p:sp>
      <p:sp>
        <p:nvSpPr>
          <p:cNvPr id="213" name="Google Shape;213;p22"/>
          <p:cNvSpPr txBox="1">
            <a:spLocks noGrp="1"/>
          </p:cNvSpPr>
          <p:nvPr>
            <p:ph type="body" idx="1"/>
          </p:nvPr>
        </p:nvSpPr>
        <p:spPr>
          <a:xfrm>
            <a:off x="1303625" y="1130300"/>
            <a:ext cx="10471049" cy="1859483"/>
          </a:xfrm>
          <a:prstGeom prst="rect">
            <a:avLst/>
          </a:prstGeom>
          <a:noFill/>
          <a:ln>
            <a:noFill/>
          </a:ln>
        </p:spPr>
        <p:txBody>
          <a:bodyPr spcFirstLastPara="1" wrap="square" lIns="0" tIns="12700" rIns="0" bIns="0" anchor="t" anchorCtr="0">
            <a:spAutoFit/>
          </a:bodyPr>
          <a:lstStyle/>
          <a:p>
            <a:pPr marL="4547870" marR="5080" lvl="0" indent="-193040" algn="l" rtl="0">
              <a:lnSpc>
                <a:spcPct val="100000"/>
              </a:lnSpc>
              <a:spcBef>
                <a:spcPts val="0"/>
              </a:spcBef>
              <a:spcAft>
                <a:spcPts val="0"/>
              </a:spcAft>
              <a:buSzPts val="1400"/>
              <a:buNone/>
            </a:pPr>
            <a:r>
              <a:rPr lang="en-US" dirty="0">
                <a:latin typeface="+mj-lt"/>
              </a:rPr>
              <a:t>One hidden layer  Neural Network</a:t>
            </a:r>
            <a:endParaRPr dirty="0">
              <a:latin typeface="+mj-lt"/>
            </a:endParaRPr>
          </a:p>
        </p:txBody>
      </p:sp>
      <p:sp>
        <p:nvSpPr>
          <p:cNvPr id="214" name="Google Shape;214;p22"/>
          <p:cNvSpPr txBox="1"/>
          <p:nvPr/>
        </p:nvSpPr>
        <p:spPr>
          <a:xfrm>
            <a:off x="4544009" y="3678424"/>
            <a:ext cx="7544359" cy="1674817"/>
          </a:xfrm>
          <a:prstGeom prst="rect">
            <a:avLst/>
          </a:prstGeom>
          <a:noFill/>
          <a:ln>
            <a:noFill/>
          </a:ln>
        </p:spPr>
        <p:txBody>
          <a:bodyPr spcFirstLastPara="1" wrap="square" lIns="0" tIns="12700" rIns="0" bIns="0" anchor="t" anchorCtr="0">
            <a:spAutoFit/>
          </a:bodyPr>
          <a:lstStyle/>
          <a:p>
            <a:pPr marL="12700" marR="5080" lvl="0" indent="934085" algn="ctr" rtl="0">
              <a:lnSpc>
                <a:spcPct val="100000"/>
              </a:lnSpc>
              <a:spcBef>
                <a:spcPts val="0"/>
              </a:spcBef>
              <a:spcAft>
                <a:spcPts val="0"/>
              </a:spcAft>
              <a:buClr>
                <a:srgbClr val="000000"/>
              </a:buClr>
              <a:buSzPts val="6000"/>
              <a:buFont typeface="Arial"/>
              <a:buNone/>
            </a:pPr>
            <a:r>
              <a:rPr lang="en-US" sz="5400" b="0" i="0" u="none" strike="noStrike" cap="none" dirty="0">
                <a:solidFill>
                  <a:schemeClr val="dk1"/>
                </a:solidFill>
                <a:latin typeface="+mj-lt"/>
                <a:ea typeface="Calibri"/>
                <a:cs typeface="Calibri"/>
                <a:sym typeface="Calibri"/>
              </a:rPr>
              <a:t>Derivatives of  activation functions</a:t>
            </a:r>
            <a:endParaRPr sz="5400" b="0" i="0" u="none" strike="noStrike" cap="none" dirty="0">
              <a:solidFill>
                <a:schemeClr val="dk1"/>
              </a:solidFill>
              <a:latin typeface="+mj-lt"/>
              <a:ea typeface="Calibri"/>
              <a:cs typeface="Calibri"/>
              <a:sym typeface="Calibri"/>
            </a:endParaRPr>
          </a:p>
        </p:txBody>
      </p:sp>
      <p:pic>
        <p:nvPicPr>
          <p:cNvPr id="215" name="Google Shape;215;p22"/>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16" name="Google Shape;216;p22"/>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32</a:t>
            </a:fld>
            <a:endParaRPr>
              <a:latin typeface="+mj-l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pic>
        <p:nvPicPr>
          <p:cNvPr id="62" name="Google Shape;62;p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63" name="Google Shape;63;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33</a:t>
            </a:fld>
            <a:endParaRPr>
              <a:latin typeface="+mj-lt"/>
            </a:endParaRPr>
          </a:p>
        </p:txBody>
      </p:sp>
      <p:sp>
        <p:nvSpPr>
          <p:cNvPr id="6" name="Google Shape;45;g20098e1d08f_0_0"/>
          <p:cNvSpPr txBox="1">
            <a:spLocks noGrp="1"/>
          </p:cNvSpPr>
          <p:nvPr>
            <p:ph type="body" idx="1"/>
          </p:nvPr>
        </p:nvSpPr>
        <p:spPr>
          <a:xfrm>
            <a:off x="448408" y="57762"/>
            <a:ext cx="10286064" cy="677108"/>
          </a:xfrm>
          <a:prstGeom prst="rect">
            <a:avLst/>
          </a:prstGeom>
          <a:noFill/>
          <a:ln>
            <a:noFill/>
          </a:ln>
        </p:spPr>
        <p:txBody>
          <a:bodyPr spcFirstLastPara="1" wrap="square" lIns="0" tIns="0" rIns="0" bIns="0" anchor="t" anchorCtr="0">
            <a:spAutoFit/>
          </a:bodyPr>
          <a:lstStyle/>
          <a:p>
            <a:pPr marL="0" lvl="0" indent="0"/>
            <a:r>
              <a:rPr lang="en-US" sz="4400" dirty="0">
                <a:latin typeface="+mj-lt"/>
              </a:rPr>
              <a:t>Derivatives of activation functions</a:t>
            </a:r>
          </a:p>
        </p:txBody>
      </p:sp>
      <p:sp>
        <p:nvSpPr>
          <p:cNvPr id="2" name="Rectangle 1"/>
          <p:cNvSpPr/>
          <p:nvPr/>
        </p:nvSpPr>
        <p:spPr>
          <a:xfrm>
            <a:off x="644709" y="1545358"/>
            <a:ext cx="10937631" cy="48941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342900" indent="-342900">
              <a:buFont typeface="Arial" panose="020B0604020202020204" pitchFamily="34" charset="0"/>
              <a:buChar char="•"/>
            </a:pPr>
            <a:r>
              <a:rPr lang="en-US" sz="2400" dirty="0">
                <a:solidFill>
                  <a:schemeClr val="tx1"/>
                </a:solidFill>
                <a:latin typeface="+mj-lt"/>
              </a:rPr>
              <a:t>The computation of slopes or derivatives of activation functions used in backpropagation for neural networks.</a:t>
            </a:r>
          </a:p>
          <a:p>
            <a:pPr marL="342900" indent="-342900">
              <a:buFont typeface="Arial" panose="020B0604020202020204" pitchFamily="34" charset="0"/>
              <a:buChar char="•"/>
            </a:pPr>
            <a:r>
              <a:rPr lang="en-US" sz="2400" dirty="0">
                <a:solidFill>
                  <a:schemeClr val="tx1"/>
                </a:solidFill>
                <a:latin typeface="+mj-lt"/>
              </a:rPr>
              <a:t>The </a:t>
            </a:r>
            <a:r>
              <a:rPr lang="en-US" sz="2400" b="1" dirty="0">
                <a:solidFill>
                  <a:schemeClr val="tx1"/>
                </a:solidFill>
                <a:latin typeface="+mj-lt"/>
              </a:rPr>
              <a:t>Sigmoid</a:t>
            </a:r>
            <a:r>
              <a:rPr lang="en-US" sz="2400" dirty="0">
                <a:solidFill>
                  <a:schemeClr val="tx1"/>
                </a:solidFill>
                <a:latin typeface="+mj-lt"/>
              </a:rPr>
              <a:t> activation function's slope is shown to be equal to </a:t>
            </a:r>
          </a:p>
          <a:p>
            <a:pPr marL="342900" indent="-342900">
              <a:buFont typeface="Arial" panose="020B0604020202020204" pitchFamily="34" charset="0"/>
              <a:buChar char="•"/>
            </a:pPr>
            <a:r>
              <a:rPr lang="en-US" sz="2400" dirty="0">
                <a:solidFill>
                  <a:schemeClr val="tx1"/>
                </a:solidFill>
                <a:latin typeface="+mj-lt"/>
              </a:rPr>
              <a:t>The </a:t>
            </a:r>
            <a:r>
              <a:rPr lang="en-US" sz="2400" b="1" dirty="0" err="1">
                <a:solidFill>
                  <a:schemeClr val="tx1"/>
                </a:solidFill>
                <a:latin typeface="+mj-lt"/>
              </a:rPr>
              <a:t>Tanh</a:t>
            </a:r>
            <a:r>
              <a:rPr lang="en-US" sz="2400" dirty="0">
                <a:solidFill>
                  <a:schemeClr val="tx1"/>
                </a:solidFill>
                <a:latin typeface="+mj-lt"/>
              </a:rPr>
              <a:t> activation function's slope is equal to</a:t>
            </a:r>
          </a:p>
          <a:p>
            <a:pPr marL="342900" indent="-342900">
              <a:buFont typeface="Arial" panose="020B0604020202020204" pitchFamily="34" charset="0"/>
              <a:buChar char="•"/>
            </a:pPr>
            <a:r>
              <a:rPr lang="en-US" sz="2400" dirty="0">
                <a:solidFill>
                  <a:schemeClr val="tx1"/>
                </a:solidFill>
                <a:latin typeface="+mj-lt"/>
              </a:rPr>
              <a:t>The </a:t>
            </a:r>
            <a:r>
              <a:rPr lang="en-US" sz="2400" b="1" dirty="0" err="1">
                <a:solidFill>
                  <a:schemeClr val="tx1"/>
                </a:solidFill>
                <a:latin typeface="+mj-lt"/>
              </a:rPr>
              <a:t>ReLU</a:t>
            </a:r>
            <a:r>
              <a:rPr lang="en-US" sz="2400" dirty="0">
                <a:solidFill>
                  <a:schemeClr val="tx1"/>
                </a:solidFill>
                <a:latin typeface="+mj-lt"/>
              </a:rPr>
              <a:t> activation function's derivative is 0 if x is less than 0 and 1 if x is greater than 0, and the </a:t>
            </a:r>
            <a:r>
              <a:rPr lang="en-US" sz="2400" b="1" dirty="0">
                <a:solidFill>
                  <a:schemeClr val="tx1"/>
                </a:solidFill>
                <a:latin typeface="+mj-lt"/>
              </a:rPr>
              <a:t>Leaky </a:t>
            </a:r>
            <a:r>
              <a:rPr lang="en-US" sz="2400" b="1" dirty="0" err="1">
                <a:solidFill>
                  <a:schemeClr val="tx1"/>
                </a:solidFill>
                <a:latin typeface="+mj-lt"/>
              </a:rPr>
              <a:t>ReLU</a:t>
            </a:r>
            <a:r>
              <a:rPr lang="en-US" sz="2400" dirty="0">
                <a:solidFill>
                  <a:schemeClr val="tx1"/>
                </a:solidFill>
                <a:latin typeface="+mj-lt"/>
              </a:rPr>
              <a:t> activation function's derivative is 0.01 if x is less than 0 and 1 if x is greater than 0. It is noted that the derivative is technically undefined when x is exactly equal to 0, but in practice, it does not matter where the derivative is set. </a:t>
            </a:r>
          </a:p>
          <a:p>
            <a:pPr marL="342900" indent="-342900">
              <a:buFont typeface="Arial" panose="020B0604020202020204" pitchFamily="34" charset="0"/>
              <a:buChar char="•"/>
            </a:pPr>
            <a:r>
              <a:rPr lang="en-US" sz="2000" b="1" dirty="0">
                <a:solidFill>
                  <a:schemeClr val="tx1"/>
                </a:solidFill>
                <a:latin typeface="+mj-lt"/>
              </a:rPr>
              <a:t>Note</a:t>
            </a:r>
            <a:r>
              <a:rPr lang="en-US" sz="2000" dirty="0">
                <a:solidFill>
                  <a:schemeClr val="tx1"/>
                </a:solidFill>
                <a:latin typeface="+mj-lt"/>
              </a:rPr>
              <a:t>: The shorthand notation f'(x) for the derivative of the function f(x) with respect to the input variable x.</a:t>
            </a:r>
          </a:p>
        </p:txBody>
      </p:sp>
      <p:pic>
        <p:nvPicPr>
          <p:cNvPr id="3" name="Picture 2"/>
          <p:cNvPicPr>
            <a:picLocks noChangeAspect="1"/>
          </p:cNvPicPr>
          <p:nvPr/>
        </p:nvPicPr>
        <p:blipFill>
          <a:blip r:embed="rId4"/>
          <a:stretch>
            <a:fillRect/>
          </a:stretch>
        </p:blipFill>
        <p:spPr>
          <a:xfrm>
            <a:off x="9718796" y="2326299"/>
            <a:ext cx="1620005" cy="355356"/>
          </a:xfrm>
          <a:prstGeom prst="rect">
            <a:avLst/>
          </a:prstGeom>
        </p:spPr>
      </p:pic>
      <p:pic>
        <p:nvPicPr>
          <p:cNvPr id="4" name="Picture 3"/>
          <p:cNvPicPr>
            <a:picLocks noChangeAspect="1"/>
          </p:cNvPicPr>
          <p:nvPr/>
        </p:nvPicPr>
        <p:blipFill>
          <a:blip r:embed="rId5"/>
          <a:stretch>
            <a:fillRect/>
          </a:stretch>
        </p:blipFill>
        <p:spPr>
          <a:xfrm>
            <a:off x="7459027" y="2753823"/>
            <a:ext cx="2638425" cy="295275"/>
          </a:xfrm>
          <a:prstGeom prst="rect">
            <a:avLst/>
          </a:prstGeom>
        </p:spPr>
      </p:pic>
    </p:spTree>
    <p:extLst>
      <p:ext uri="{BB962C8B-B14F-4D97-AF65-F5344CB8AC3E}">
        <p14:creationId xmlns:p14="http://schemas.microsoft.com/office/powerpoint/2010/main" val="32081230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Shape 220"/>
        <p:cNvGrpSpPr/>
        <p:nvPr/>
      </p:nvGrpSpPr>
      <p:grpSpPr>
        <a:xfrm>
          <a:off x="0" y="0"/>
          <a:ext cx="0" cy="0"/>
          <a:chOff x="0" y="0"/>
          <a:chExt cx="0" cy="0"/>
        </a:xfrm>
      </p:grpSpPr>
      <p:sp>
        <p:nvSpPr>
          <p:cNvPr id="221" name="Google Shape;221;p23"/>
          <p:cNvSpPr txBox="1">
            <a:spLocks noGrp="1"/>
          </p:cNvSpPr>
          <p:nvPr>
            <p:ph type="title"/>
          </p:nvPr>
        </p:nvSpPr>
        <p:spPr>
          <a:xfrm>
            <a:off x="499085" y="275163"/>
            <a:ext cx="714502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entury Schoolbook"/>
                <a:cs typeface="Century Schoolbook"/>
                <a:sym typeface="Century Schoolbook"/>
              </a:rPr>
              <a:t>Sigmoid function</a:t>
            </a:r>
            <a:endParaRPr sz="4400" dirty="0">
              <a:latin typeface="+mj-lt"/>
              <a:ea typeface="Century Schoolbook"/>
              <a:cs typeface="Century Schoolbook"/>
              <a:sym typeface="Century Schoolbook"/>
            </a:endParaRPr>
          </a:p>
        </p:txBody>
      </p:sp>
      <p:pic>
        <p:nvPicPr>
          <p:cNvPr id="223" name="Google Shape;223;p2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24" name="Google Shape;224;p2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34</a:t>
            </a:fld>
            <a:endParaRPr>
              <a:latin typeface="+mj-lt"/>
            </a:endParaRPr>
          </a:p>
        </p:txBody>
      </p:sp>
      <p:sp>
        <p:nvSpPr>
          <p:cNvPr id="4" name="AutoShape 4" descr="Data science: Neural networks: Deriving the sigmoid derivative via chain  and quotient rul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mj-lt"/>
            </a:endParaRPr>
          </a:p>
        </p:txBody>
      </p:sp>
      <p:pic>
        <p:nvPicPr>
          <p:cNvPr id="6" name="Picture 5"/>
          <p:cNvPicPr>
            <a:picLocks noChangeAspect="1"/>
          </p:cNvPicPr>
          <p:nvPr/>
        </p:nvPicPr>
        <p:blipFill>
          <a:blip r:embed="rId4"/>
          <a:stretch>
            <a:fillRect/>
          </a:stretch>
        </p:blipFill>
        <p:spPr>
          <a:xfrm>
            <a:off x="2975094" y="2887173"/>
            <a:ext cx="6276975" cy="2085975"/>
          </a:xfrm>
          <a:prstGeom prst="rect">
            <a:avLst/>
          </a:prstGeom>
        </p:spPr>
      </p:pic>
      <p:pic>
        <p:nvPicPr>
          <p:cNvPr id="7" name="Picture 6"/>
          <p:cNvPicPr>
            <a:picLocks noChangeAspect="1"/>
          </p:cNvPicPr>
          <p:nvPr/>
        </p:nvPicPr>
        <p:blipFill>
          <a:blip r:embed="rId5"/>
          <a:stretch>
            <a:fillRect/>
          </a:stretch>
        </p:blipFill>
        <p:spPr>
          <a:xfrm>
            <a:off x="5289670" y="1933544"/>
            <a:ext cx="1647825" cy="6858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Shape 220"/>
        <p:cNvGrpSpPr/>
        <p:nvPr/>
      </p:nvGrpSpPr>
      <p:grpSpPr>
        <a:xfrm>
          <a:off x="0" y="0"/>
          <a:ext cx="0" cy="0"/>
          <a:chOff x="0" y="0"/>
          <a:chExt cx="0" cy="0"/>
        </a:xfrm>
      </p:grpSpPr>
      <p:sp>
        <p:nvSpPr>
          <p:cNvPr id="221" name="Google Shape;221;p23"/>
          <p:cNvSpPr txBox="1">
            <a:spLocks noGrp="1"/>
          </p:cNvSpPr>
          <p:nvPr>
            <p:ph type="title"/>
          </p:nvPr>
        </p:nvSpPr>
        <p:spPr>
          <a:xfrm>
            <a:off x="499085" y="275163"/>
            <a:ext cx="714502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err="1">
                <a:latin typeface="+mj-lt"/>
                <a:ea typeface="Century Schoolbook"/>
                <a:cs typeface="Century Schoolbook"/>
                <a:sym typeface="Century Schoolbook"/>
              </a:rPr>
              <a:t>Tanh</a:t>
            </a:r>
            <a:r>
              <a:rPr lang="en-US" sz="4400" b="0" dirty="0">
                <a:latin typeface="+mj-lt"/>
                <a:ea typeface="Century Schoolbook"/>
                <a:cs typeface="Century Schoolbook"/>
                <a:sym typeface="Century Schoolbook"/>
              </a:rPr>
              <a:t> function</a:t>
            </a:r>
            <a:endParaRPr sz="4400" dirty="0">
              <a:latin typeface="+mj-lt"/>
              <a:ea typeface="Century Schoolbook"/>
              <a:cs typeface="Century Schoolbook"/>
              <a:sym typeface="Century Schoolbook"/>
            </a:endParaRPr>
          </a:p>
        </p:txBody>
      </p:sp>
      <p:pic>
        <p:nvPicPr>
          <p:cNvPr id="223" name="Google Shape;223;p2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24" name="Google Shape;224;p2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35</a:t>
            </a:fld>
            <a:endParaRPr>
              <a:latin typeface="+mj-lt"/>
            </a:endParaRPr>
          </a:p>
        </p:txBody>
      </p:sp>
      <p:sp>
        <p:nvSpPr>
          <p:cNvPr id="4" name="AutoShape 4" descr="Data science: Neural networks: Deriving the sigmoid derivative via chain  and quotient rul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mj-lt"/>
            </a:endParaRPr>
          </a:p>
        </p:txBody>
      </p:sp>
      <p:pic>
        <p:nvPicPr>
          <p:cNvPr id="3" name="Picture 2"/>
          <p:cNvPicPr>
            <a:picLocks noChangeAspect="1"/>
          </p:cNvPicPr>
          <p:nvPr/>
        </p:nvPicPr>
        <p:blipFill>
          <a:blip r:embed="rId4"/>
          <a:stretch>
            <a:fillRect/>
          </a:stretch>
        </p:blipFill>
        <p:spPr>
          <a:xfrm>
            <a:off x="4386996" y="1500187"/>
            <a:ext cx="2943225" cy="885825"/>
          </a:xfrm>
          <a:prstGeom prst="rect">
            <a:avLst/>
          </a:prstGeom>
        </p:spPr>
      </p:pic>
      <p:pic>
        <p:nvPicPr>
          <p:cNvPr id="6" name="Picture 5"/>
          <p:cNvPicPr>
            <a:picLocks noChangeAspect="1"/>
          </p:cNvPicPr>
          <p:nvPr/>
        </p:nvPicPr>
        <p:blipFill>
          <a:blip r:embed="rId5"/>
          <a:stretch>
            <a:fillRect/>
          </a:stretch>
        </p:blipFill>
        <p:spPr>
          <a:xfrm>
            <a:off x="2939194" y="2507640"/>
            <a:ext cx="6981825" cy="3724275"/>
          </a:xfrm>
          <a:prstGeom prst="rect">
            <a:avLst/>
          </a:prstGeom>
        </p:spPr>
      </p:pic>
    </p:spTree>
    <p:extLst>
      <p:ext uri="{BB962C8B-B14F-4D97-AF65-F5344CB8AC3E}">
        <p14:creationId xmlns:p14="http://schemas.microsoft.com/office/powerpoint/2010/main" val="37552122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Shape 235"/>
        <p:cNvGrpSpPr/>
        <p:nvPr/>
      </p:nvGrpSpPr>
      <p:grpSpPr>
        <a:xfrm>
          <a:off x="0" y="0"/>
          <a:ext cx="0" cy="0"/>
          <a:chOff x="0" y="0"/>
          <a:chExt cx="0" cy="0"/>
        </a:xfrm>
      </p:grpSpPr>
      <p:pic>
        <p:nvPicPr>
          <p:cNvPr id="11" name="Picture 10">
            <a:extLst>
              <a:ext uri="{FF2B5EF4-FFF2-40B4-BE49-F238E27FC236}">
                <a16:creationId xmlns:a16="http://schemas.microsoft.com/office/drawing/2014/main" id="{9CA3CD0B-5F73-A1AF-F24E-AD9D7B272C86}"/>
              </a:ext>
            </a:extLst>
          </p:cNvPr>
          <p:cNvPicPr>
            <a:picLocks noChangeAspect="1"/>
          </p:cNvPicPr>
          <p:nvPr/>
        </p:nvPicPr>
        <p:blipFill>
          <a:blip r:embed="rId3"/>
          <a:stretch>
            <a:fillRect/>
          </a:stretch>
        </p:blipFill>
        <p:spPr>
          <a:xfrm>
            <a:off x="2122082" y="2962613"/>
            <a:ext cx="6429375" cy="838200"/>
          </a:xfrm>
          <a:prstGeom prst="rect">
            <a:avLst/>
          </a:prstGeom>
        </p:spPr>
      </p:pic>
      <p:sp>
        <p:nvSpPr>
          <p:cNvPr id="12" name="Google Shape;236;p25">
            <a:extLst>
              <a:ext uri="{FF2B5EF4-FFF2-40B4-BE49-F238E27FC236}">
                <a16:creationId xmlns:a16="http://schemas.microsoft.com/office/drawing/2014/main" id="{140A5E18-DE64-3000-0DFA-8CF567CAA64A}"/>
              </a:ext>
            </a:extLst>
          </p:cNvPr>
          <p:cNvSpPr txBox="1">
            <a:spLocks/>
          </p:cNvSpPr>
          <p:nvPr/>
        </p:nvSpPr>
        <p:spPr>
          <a:xfrm>
            <a:off x="756891" y="3125055"/>
            <a:ext cx="931131"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a:latin typeface="+mj-lt"/>
                <a:ea typeface="Century Schoolbook"/>
                <a:cs typeface="Century Schoolbook"/>
                <a:sym typeface="Century Schoolbook"/>
              </a:rPr>
              <a:t>ReLU</a:t>
            </a:r>
            <a:endParaRPr lang="en-US" sz="2400" dirty="0">
              <a:latin typeface="+mj-lt"/>
              <a:ea typeface="Century Schoolbook"/>
              <a:cs typeface="Century Schoolbook"/>
              <a:sym typeface="Century Schoolbook"/>
            </a:endParaRPr>
          </a:p>
        </p:txBody>
      </p:sp>
      <p:sp>
        <p:nvSpPr>
          <p:cNvPr id="236" name="Google Shape;236;p25"/>
          <p:cNvSpPr txBox="1">
            <a:spLocks noGrp="1"/>
          </p:cNvSpPr>
          <p:nvPr>
            <p:ph type="title"/>
          </p:nvPr>
        </p:nvSpPr>
        <p:spPr>
          <a:xfrm>
            <a:off x="499085" y="275163"/>
            <a:ext cx="8548200" cy="68993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err="1">
                <a:latin typeface="+mj-lt"/>
                <a:ea typeface="Century Schoolbook"/>
                <a:cs typeface="Century Schoolbook"/>
                <a:sym typeface="Century Schoolbook"/>
              </a:rPr>
              <a:t>ReLU</a:t>
            </a:r>
            <a:r>
              <a:rPr lang="en-US" sz="4400" b="0" dirty="0">
                <a:latin typeface="+mj-lt"/>
                <a:ea typeface="Century Schoolbook"/>
                <a:cs typeface="Century Schoolbook"/>
                <a:sym typeface="Century Schoolbook"/>
              </a:rPr>
              <a:t> and Leaky </a:t>
            </a:r>
            <a:r>
              <a:rPr lang="en-US" sz="4400" b="0" dirty="0" err="1">
                <a:latin typeface="+mj-lt"/>
                <a:ea typeface="Century Schoolbook"/>
                <a:cs typeface="Century Schoolbook"/>
                <a:sym typeface="Century Schoolbook"/>
              </a:rPr>
              <a:t>ReLU</a:t>
            </a:r>
            <a:r>
              <a:rPr lang="en-US" sz="4400" b="0" dirty="0">
                <a:latin typeface="+mj-lt"/>
                <a:ea typeface="Century Schoolbook"/>
                <a:cs typeface="Century Schoolbook"/>
                <a:sym typeface="Century Schoolbook"/>
              </a:rPr>
              <a:t> function</a:t>
            </a:r>
            <a:endParaRPr sz="4400" dirty="0">
              <a:latin typeface="+mj-lt"/>
              <a:ea typeface="Century Schoolbook"/>
              <a:cs typeface="Century Schoolbook"/>
              <a:sym typeface="Century Schoolbook"/>
            </a:endParaRPr>
          </a:p>
        </p:txBody>
      </p:sp>
      <p:pic>
        <p:nvPicPr>
          <p:cNvPr id="238" name="Google Shape;238;p25"/>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39" name="Google Shape;239;p25"/>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36</a:t>
            </a:fld>
            <a:endParaRPr>
              <a:latin typeface="+mj-lt"/>
            </a:endParaRPr>
          </a:p>
        </p:txBody>
      </p:sp>
      <p:pic>
        <p:nvPicPr>
          <p:cNvPr id="2" name="Picture 1"/>
          <p:cNvPicPr>
            <a:picLocks noChangeAspect="1"/>
          </p:cNvPicPr>
          <p:nvPr/>
        </p:nvPicPr>
        <p:blipFill>
          <a:blip r:embed="rId3"/>
          <a:stretch>
            <a:fillRect/>
          </a:stretch>
        </p:blipFill>
        <p:spPr>
          <a:xfrm>
            <a:off x="2122082" y="1494921"/>
            <a:ext cx="6429375" cy="838200"/>
          </a:xfrm>
          <a:prstGeom prst="rect">
            <a:avLst/>
          </a:prstGeom>
        </p:spPr>
      </p:pic>
      <p:pic>
        <p:nvPicPr>
          <p:cNvPr id="3" name="Picture 2"/>
          <p:cNvPicPr>
            <a:picLocks noChangeAspect="1"/>
          </p:cNvPicPr>
          <p:nvPr/>
        </p:nvPicPr>
        <p:blipFill>
          <a:blip r:embed="rId5"/>
          <a:stretch>
            <a:fillRect/>
          </a:stretch>
        </p:blipFill>
        <p:spPr>
          <a:xfrm>
            <a:off x="2425944" y="4430305"/>
            <a:ext cx="7395064" cy="813240"/>
          </a:xfrm>
          <a:prstGeom prst="rect">
            <a:avLst/>
          </a:prstGeom>
        </p:spPr>
      </p:pic>
      <p:sp>
        <p:nvSpPr>
          <p:cNvPr id="8" name="Google Shape;236;p25"/>
          <p:cNvSpPr txBox="1">
            <a:spLocks/>
          </p:cNvSpPr>
          <p:nvPr/>
        </p:nvSpPr>
        <p:spPr>
          <a:xfrm>
            <a:off x="756891" y="1657363"/>
            <a:ext cx="931131"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a:latin typeface="+mj-lt"/>
                <a:ea typeface="Century Schoolbook"/>
                <a:cs typeface="Century Schoolbook"/>
                <a:sym typeface="Century Schoolbook"/>
              </a:rPr>
              <a:t>ReLU</a:t>
            </a:r>
            <a:endParaRPr lang="en-US" sz="2400" dirty="0">
              <a:latin typeface="+mj-lt"/>
              <a:ea typeface="Century Schoolbook"/>
              <a:cs typeface="Century Schoolbook"/>
              <a:sym typeface="Century Schoolbook"/>
            </a:endParaRPr>
          </a:p>
        </p:txBody>
      </p:sp>
      <p:sp>
        <p:nvSpPr>
          <p:cNvPr id="9" name="Google Shape;236;p25"/>
          <p:cNvSpPr txBox="1">
            <a:spLocks/>
          </p:cNvSpPr>
          <p:nvPr/>
        </p:nvSpPr>
        <p:spPr>
          <a:xfrm>
            <a:off x="291000" y="4539347"/>
            <a:ext cx="1907077"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a:latin typeface="+mj-lt"/>
                <a:ea typeface="Century Schoolbook"/>
                <a:cs typeface="Century Schoolbook"/>
                <a:sym typeface="Century Schoolbook"/>
              </a:rPr>
              <a:t>Leaky </a:t>
            </a:r>
            <a:r>
              <a:rPr lang="en-US" sz="2400" dirty="0" err="1">
                <a:latin typeface="+mj-lt"/>
                <a:ea typeface="Century Schoolbook"/>
                <a:cs typeface="Century Schoolbook"/>
                <a:sym typeface="Century Schoolbook"/>
              </a:rPr>
              <a:t>ReLU</a:t>
            </a:r>
            <a:endParaRPr lang="en-US" sz="2400" dirty="0">
              <a:latin typeface="+mj-lt"/>
              <a:ea typeface="Century Schoolbook"/>
              <a:cs typeface="Century Schoolbook"/>
              <a:sym typeface="Century Schoolbook"/>
            </a:endParaRPr>
          </a:p>
        </p:txBody>
      </p:sp>
      <p:pic>
        <p:nvPicPr>
          <p:cNvPr id="7" name="Picture 6">
            <a:extLst>
              <a:ext uri="{FF2B5EF4-FFF2-40B4-BE49-F238E27FC236}">
                <a16:creationId xmlns:a16="http://schemas.microsoft.com/office/drawing/2014/main" id="{ABBC2F8F-9D41-0F44-D5E3-772145C429E1}"/>
              </a:ext>
            </a:extLst>
          </p:cNvPr>
          <p:cNvPicPr>
            <a:picLocks noChangeAspect="1"/>
          </p:cNvPicPr>
          <p:nvPr/>
        </p:nvPicPr>
        <p:blipFill>
          <a:blip r:embed="rId6"/>
          <a:stretch>
            <a:fillRect/>
          </a:stretch>
        </p:blipFill>
        <p:spPr>
          <a:xfrm>
            <a:off x="3828237" y="2962613"/>
            <a:ext cx="1429564" cy="916387"/>
          </a:xfrm>
          <a:prstGeom prst="rect">
            <a:avLst/>
          </a:prstGeom>
        </p:spPr>
      </p:pic>
      <p:pic>
        <p:nvPicPr>
          <p:cNvPr id="10" name="Picture 9">
            <a:extLst>
              <a:ext uri="{FF2B5EF4-FFF2-40B4-BE49-F238E27FC236}">
                <a16:creationId xmlns:a16="http://schemas.microsoft.com/office/drawing/2014/main" id="{528A514B-F55F-10CA-F32D-DCCDFC428ADB}"/>
              </a:ext>
            </a:extLst>
          </p:cNvPr>
          <p:cNvPicPr>
            <a:picLocks noChangeAspect="1"/>
          </p:cNvPicPr>
          <p:nvPr/>
        </p:nvPicPr>
        <p:blipFill>
          <a:blip r:embed="rId6"/>
          <a:stretch>
            <a:fillRect/>
          </a:stretch>
        </p:blipFill>
        <p:spPr>
          <a:xfrm>
            <a:off x="7218147" y="2988029"/>
            <a:ext cx="1333310" cy="854686"/>
          </a:xfrm>
          <a:prstGeom prst="rect">
            <a:avLst/>
          </a:prstGeom>
        </p:spPr>
      </p:pic>
      <p:sp>
        <p:nvSpPr>
          <p:cNvPr id="13" name="TextBox 12">
            <a:extLst>
              <a:ext uri="{FF2B5EF4-FFF2-40B4-BE49-F238E27FC236}">
                <a16:creationId xmlns:a16="http://schemas.microsoft.com/office/drawing/2014/main" id="{3853DFF6-5ED6-473E-2103-65E5E1CE7D2C}"/>
              </a:ext>
            </a:extLst>
          </p:cNvPr>
          <p:cNvSpPr txBox="1"/>
          <p:nvPr/>
        </p:nvSpPr>
        <p:spPr>
          <a:xfrm>
            <a:off x="287328" y="3017477"/>
            <a:ext cx="423514" cy="830997"/>
          </a:xfrm>
          <a:prstGeom prst="rect">
            <a:avLst/>
          </a:prstGeom>
          <a:noFill/>
        </p:spPr>
        <p:txBody>
          <a:bodyPr wrap="none" rtlCol="0">
            <a:spAutoFit/>
          </a:bodyPr>
          <a:lstStyle/>
          <a:p>
            <a:r>
              <a:rPr lang="en-US" sz="4800" dirty="0"/>
              <a:t>*</a:t>
            </a:r>
          </a:p>
        </p:txBody>
      </p:sp>
    </p:spTree>
  </p:cSld>
  <p:clrMapOvr>
    <a:masterClrMapping/>
  </p:clrMapOvr>
  <p:extLst>
    <p:ext uri="{6950BFC3-D8DA-4A85-94F7-54DA5524770B}">
      <p188:commentRel xmlns:p188="http://schemas.microsoft.com/office/powerpoint/2018/8/main" xmlns="" r:id="rId7"/>
    </p:ext>
  </p:extLst>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Shape 243"/>
        <p:cNvGrpSpPr/>
        <p:nvPr/>
      </p:nvGrpSpPr>
      <p:grpSpPr>
        <a:xfrm>
          <a:off x="0" y="0"/>
          <a:ext cx="0" cy="0"/>
          <a:chOff x="0" y="0"/>
          <a:chExt cx="0" cy="0"/>
        </a:xfrm>
      </p:grpSpPr>
      <p:sp>
        <p:nvSpPr>
          <p:cNvPr id="244" name="Google Shape;244;p26"/>
          <p:cNvSpPr/>
          <p:nvPr/>
        </p:nvSpPr>
        <p:spPr>
          <a:xfrm>
            <a:off x="4544009" y="3459886"/>
            <a:ext cx="7442200" cy="0"/>
          </a:xfrm>
          <a:custGeom>
            <a:avLst/>
            <a:gdLst/>
            <a:ahLst/>
            <a:cxnLst/>
            <a:rect l="l" t="t" r="r" b="b"/>
            <a:pathLst>
              <a:path w="7442200" h="120000" extrusionOk="0">
                <a:moveTo>
                  <a:pt x="0" y="0"/>
                </a:moveTo>
                <a:lnTo>
                  <a:pt x="7442044" y="0"/>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j-lt"/>
              <a:ea typeface="Calibri"/>
              <a:cs typeface="Calibri"/>
              <a:sym typeface="Calibri"/>
            </a:endParaRPr>
          </a:p>
        </p:txBody>
      </p:sp>
      <p:sp>
        <p:nvSpPr>
          <p:cNvPr id="245" name="Google Shape;245;p26"/>
          <p:cNvSpPr txBox="1">
            <a:spLocks noGrp="1"/>
          </p:cNvSpPr>
          <p:nvPr>
            <p:ph type="body" idx="1"/>
          </p:nvPr>
        </p:nvSpPr>
        <p:spPr>
          <a:xfrm>
            <a:off x="1303625" y="1130300"/>
            <a:ext cx="10471050" cy="1859483"/>
          </a:xfrm>
          <a:prstGeom prst="rect">
            <a:avLst/>
          </a:prstGeom>
          <a:noFill/>
          <a:ln>
            <a:noFill/>
          </a:ln>
        </p:spPr>
        <p:txBody>
          <a:bodyPr spcFirstLastPara="1" wrap="square" lIns="0" tIns="12700" rIns="0" bIns="0" anchor="t" anchorCtr="0">
            <a:spAutoFit/>
          </a:bodyPr>
          <a:lstStyle/>
          <a:p>
            <a:pPr marL="4547870" marR="5080" lvl="0" indent="-193040" algn="l" rtl="0">
              <a:lnSpc>
                <a:spcPct val="100000"/>
              </a:lnSpc>
              <a:spcBef>
                <a:spcPts val="0"/>
              </a:spcBef>
              <a:spcAft>
                <a:spcPts val="0"/>
              </a:spcAft>
              <a:buSzPts val="1400"/>
              <a:buNone/>
            </a:pPr>
            <a:r>
              <a:rPr lang="en-US" dirty="0">
                <a:latin typeface="+mj-lt"/>
              </a:rPr>
              <a:t>One hidden layer Neural Network</a:t>
            </a:r>
            <a:endParaRPr dirty="0">
              <a:latin typeface="+mj-lt"/>
            </a:endParaRPr>
          </a:p>
        </p:txBody>
      </p:sp>
      <p:sp>
        <p:nvSpPr>
          <p:cNvPr id="246" name="Google Shape;246;p26"/>
          <p:cNvSpPr txBox="1"/>
          <p:nvPr/>
        </p:nvSpPr>
        <p:spPr>
          <a:xfrm>
            <a:off x="5078615" y="3678767"/>
            <a:ext cx="6907594" cy="1674817"/>
          </a:xfrm>
          <a:prstGeom prst="rect">
            <a:avLst/>
          </a:prstGeom>
          <a:noFill/>
          <a:ln>
            <a:noFill/>
          </a:ln>
        </p:spPr>
        <p:txBody>
          <a:bodyPr spcFirstLastPara="1" wrap="square" lIns="0" tIns="12700" rIns="0" bIns="0" anchor="t" anchorCtr="0">
            <a:spAutoFit/>
          </a:bodyPr>
          <a:lstStyle/>
          <a:p>
            <a:pPr marL="682625" marR="5080" lvl="0" indent="-670560" algn="l" rtl="0">
              <a:lnSpc>
                <a:spcPct val="100000"/>
              </a:lnSpc>
              <a:spcBef>
                <a:spcPts val="0"/>
              </a:spcBef>
              <a:spcAft>
                <a:spcPts val="0"/>
              </a:spcAft>
              <a:buClr>
                <a:srgbClr val="000000"/>
              </a:buClr>
              <a:buSzPts val="6000"/>
              <a:buFont typeface="Arial"/>
              <a:buNone/>
            </a:pPr>
            <a:r>
              <a:rPr lang="en-US" sz="5400" b="0" i="0" u="none" strike="noStrike" cap="none" dirty="0">
                <a:solidFill>
                  <a:schemeClr val="dk1"/>
                </a:solidFill>
                <a:latin typeface="+mj-lt"/>
                <a:ea typeface="Calibri"/>
                <a:cs typeface="Calibri"/>
                <a:sym typeface="Calibri"/>
              </a:rPr>
              <a:t>Gradient descent for neural networks</a:t>
            </a:r>
            <a:endParaRPr sz="5400" b="0" i="0" u="none" strike="noStrike" cap="none" dirty="0">
              <a:solidFill>
                <a:schemeClr val="dk1"/>
              </a:solidFill>
              <a:latin typeface="+mj-lt"/>
              <a:ea typeface="Calibri"/>
              <a:cs typeface="Calibri"/>
              <a:sym typeface="Calibri"/>
            </a:endParaRPr>
          </a:p>
        </p:txBody>
      </p:sp>
      <p:pic>
        <p:nvPicPr>
          <p:cNvPr id="247" name="Google Shape;247;p26"/>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48" name="Google Shape;248;p26"/>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37</a:t>
            </a:fld>
            <a:endParaRPr>
              <a:latin typeface="+mj-lt"/>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Shape 252"/>
        <p:cNvGrpSpPr/>
        <p:nvPr/>
      </p:nvGrpSpPr>
      <p:grpSpPr>
        <a:xfrm>
          <a:off x="0" y="0"/>
          <a:ext cx="0" cy="0"/>
          <a:chOff x="0" y="0"/>
          <a:chExt cx="0" cy="0"/>
        </a:xfrm>
      </p:grpSpPr>
      <p:sp>
        <p:nvSpPr>
          <p:cNvPr id="253" name="Google Shape;253;p27"/>
          <p:cNvSpPr txBox="1">
            <a:spLocks noGrp="1"/>
          </p:cNvSpPr>
          <p:nvPr>
            <p:ph type="title"/>
          </p:nvPr>
        </p:nvSpPr>
        <p:spPr>
          <a:xfrm>
            <a:off x="195045" y="402163"/>
            <a:ext cx="971931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entury Schoolbook"/>
                <a:cs typeface="Century Schoolbook"/>
                <a:sym typeface="Century Schoolbook"/>
              </a:rPr>
              <a:t>Gradient descent for neural networks</a:t>
            </a:r>
            <a:endParaRPr sz="4400" dirty="0">
              <a:latin typeface="+mj-lt"/>
              <a:ea typeface="Century Schoolbook"/>
              <a:cs typeface="Century Schoolbook"/>
              <a:sym typeface="Century Schoolbook"/>
            </a:endParaRPr>
          </a:p>
        </p:txBody>
      </p:sp>
      <p:pic>
        <p:nvPicPr>
          <p:cNvPr id="254" name="Google Shape;254;p27"/>
          <p:cNvPicPr preferRelativeResize="0"/>
          <p:nvPr/>
        </p:nvPicPr>
        <p:blipFill rotWithShape="1">
          <a:blip r:embed="rId3">
            <a:alphaModFix/>
          </a:blip>
          <a:srcRect/>
          <a:stretch/>
        </p:blipFill>
        <p:spPr>
          <a:xfrm>
            <a:off x="1816075" y="1524000"/>
            <a:ext cx="7686885" cy="4771175"/>
          </a:xfrm>
          <a:prstGeom prst="rect">
            <a:avLst/>
          </a:prstGeom>
          <a:noFill/>
          <a:ln>
            <a:noFill/>
          </a:ln>
        </p:spPr>
      </p:pic>
      <p:pic>
        <p:nvPicPr>
          <p:cNvPr id="255" name="Google Shape;255;p27"/>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56" name="Google Shape;256;p27"/>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38</a:t>
            </a:fld>
            <a:endParaRPr>
              <a:latin typeface="+mj-lt"/>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Shape 252"/>
        <p:cNvGrpSpPr/>
        <p:nvPr/>
      </p:nvGrpSpPr>
      <p:grpSpPr>
        <a:xfrm>
          <a:off x="0" y="0"/>
          <a:ext cx="0" cy="0"/>
          <a:chOff x="0" y="0"/>
          <a:chExt cx="0" cy="0"/>
        </a:xfrm>
      </p:grpSpPr>
      <p:sp>
        <p:nvSpPr>
          <p:cNvPr id="253" name="Google Shape;253;p27"/>
          <p:cNvSpPr txBox="1">
            <a:spLocks noGrp="1"/>
          </p:cNvSpPr>
          <p:nvPr>
            <p:ph type="title"/>
          </p:nvPr>
        </p:nvSpPr>
        <p:spPr>
          <a:xfrm>
            <a:off x="195045" y="402163"/>
            <a:ext cx="971931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entury Schoolbook"/>
                <a:cs typeface="Century Schoolbook"/>
                <a:sym typeface="Century Schoolbook"/>
              </a:rPr>
              <a:t>Gradient descent for neural networks</a:t>
            </a:r>
            <a:endParaRPr sz="4400" dirty="0">
              <a:latin typeface="+mj-lt"/>
              <a:ea typeface="Century Schoolbook"/>
              <a:cs typeface="Century Schoolbook"/>
              <a:sym typeface="Century Schoolbook"/>
            </a:endParaRPr>
          </a:p>
        </p:txBody>
      </p:sp>
      <p:pic>
        <p:nvPicPr>
          <p:cNvPr id="255" name="Google Shape;255;p27"/>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56" name="Google Shape;256;p27"/>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39</a:t>
            </a:fld>
            <a:endParaRPr>
              <a:latin typeface="+mj-lt"/>
            </a:endParaRPr>
          </a:p>
        </p:txBody>
      </p:sp>
      <p:pic>
        <p:nvPicPr>
          <p:cNvPr id="5" name="Picture 4">
            <a:extLst>
              <a:ext uri="{FF2B5EF4-FFF2-40B4-BE49-F238E27FC236}">
                <a16:creationId xmlns:a16="http://schemas.microsoft.com/office/drawing/2014/main" id="{C5DD4EB8-B801-FA2A-E13D-A92A5323BB13}"/>
              </a:ext>
            </a:extLst>
          </p:cNvPr>
          <p:cNvPicPr>
            <a:picLocks noChangeAspect="1"/>
          </p:cNvPicPr>
          <p:nvPr/>
        </p:nvPicPr>
        <p:blipFill>
          <a:blip r:embed="rId4"/>
          <a:stretch>
            <a:fillRect/>
          </a:stretch>
        </p:blipFill>
        <p:spPr>
          <a:xfrm>
            <a:off x="330212" y="1237648"/>
            <a:ext cx="11271273" cy="5417492"/>
          </a:xfrm>
          <a:prstGeom prst="rect">
            <a:avLst/>
          </a:prstGeom>
        </p:spPr>
      </p:pic>
    </p:spTree>
    <p:extLst>
      <p:ext uri="{BB962C8B-B14F-4D97-AF65-F5344CB8AC3E}">
        <p14:creationId xmlns:p14="http://schemas.microsoft.com/office/powerpoint/2010/main" val="2423885840"/>
      </p:ext>
    </p:extLst>
  </p:cSld>
  <p:clrMapOvr>
    <a:masterClrMapping/>
  </p:clrMapOvr>
  <p:extLst>
    <p:ext uri="{6950BFC3-D8DA-4A85-94F7-54DA5524770B}">
      <p188:commentRel xmlns:p188="http://schemas.microsoft.com/office/powerpoint/2018/8/main" xmlns="" r:id="rId5"/>
    </p:ext>
  </p:extLst>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Shape 260"/>
        <p:cNvGrpSpPr/>
        <p:nvPr/>
      </p:nvGrpSpPr>
      <p:grpSpPr>
        <a:xfrm>
          <a:off x="0" y="0"/>
          <a:ext cx="0" cy="0"/>
          <a:chOff x="0" y="0"/>
          <a:chExt cx="0" cy="0"/>
        </a:xfrm>
      </p:grpSpPr>
      <p:sp>
        <p:nvSpPr>
          <p:cNvPr id="261" name="Google Shape;261;p28"/>
          <p:cNvSpPr txBox="1">
            <a:spLocks noGrp="1"/>
          </p:cNvSpPr>
          <p:nvPr>
            <p:ph type="title"/>
          </p:nvPr>
        </p:nvSpPr>
        <p:spPr>
          <a:xfrm>
            <a:off x="195045" y="402163"/>
            <a:ext cx="927544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a:latin typeface="+mj-lt"/>
                <a:ea typeface="Century Schoolbook"/>
                <a:cs typeface="Century Schoolbook"/>
                <a:sym typeface="Century Schoolbook"/>
              </a:rPr>
              <a:t>Formulas for computing derivatives</a:t>
            </a:r>
            <a:endParaRPr sz="4400">
              <a:latin typeface="+mj-lt"/>
              <a:ea typeface="Century Schoolbook"/>
              <a:cs typeface="Century Schoolbook"/>
              <a:sym typeface="Century Schoolbook"/>
            </a:endParaRPr>
          </a:p>
        </p:txBody>
      </p:sp>
      <p:pic>
        <p:nvPicPr>
          <p:cNvPr id="263" name="Google Shape;263;p28"/>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64" name="Google Shape;264;p28"/>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40</a:t>
            </a:fld>
            <a:endParaRPr>
              <a:latin typeface="+mj-lt"/>
            </a:endParaRPr>
          </a:p>
        </p:txBody>
      </p:sp>
      <p:sp>
        <p:nvSpPr>
          <p:cNvPr id="5" name="TextBox 4"/>
          <p:cNvSpPr txBox="1"/>
          <p:nvPr/>
        </p:nvSpPr>
        <p:spPr>
          <a:xfrm>
            <a:off x="378069" y="1732085"/>
            <a:ext cx="11386039" cy="2616101"/>
          </a:xfrm>
          <a:prstGeom prst="rect">
            <a:avLst/>
          </a:prstGeom>
          <a:noFill/>
        </p:spPr>
        <p:txBody>
          <a:bodyPr wrap="square" rtlCol="0">
            <a:spAutoFit/>
          </a:bodyPr>
          <a:lstStyle/>
          <a:p>
            <a:r>
              <a:rPr lang="en-US" sz="2400" dirty="0">
                <a:latin typeface="+mj-lt"/>
              </a:rPr>
              <a:t>T</a:t>
            </a:r>
            <a:r>
              <a:rPr lang="en-US" sz="2400" dirty="0" smtClean="0">
                <a:latin typeface="+mj-lt"/>
              </a:rPr>
              <a:t>he </a:t>
            </a:r>
            <a:r>
              <a:rPr lang="en-US" sz="2400" dirty="0">
                <a:latin typeface="+mj-lt"/>
              </a:rPr>
              <a:t>forward and backpropagation of a 2-layer neural </a:t>
            </a:r>
            <a:r>
              <a:rPr lang="en-US" sz="2400" dirty="0" smtClean="0">
                <a:latin typeface="+mj-lt"/>
              </a:rPr>
              <a:t>network:</a:t>
            </a:r>
            <a:endParaRPr lang="en-US" sz="2400" dirty="0">
              <a:latin typeface="+mj-lt"/>
            </a:endParaRPr>
          </a:p>
          <a:p>
            <a:r>
              <a:rPr lang="en-US" sz="2400" b="1" dirty="0" smtClean="0">
                <a:latin typeface="+mj-lt"/>
              </a:rPr>
              <a:t>Forward propagation</a:t>
            </a:r>
            <a:r>
              <a:rPr lang="en-US" sz="2400" dirty="0" smtClean="0">
                <a:latin typeface="+mj-lt"/>
              </a:rPr>
              <a:t>: </a:t>
            </a:r>
          </a:p>
          <a:p>
            <a:endParaRPr lang="en-US" sz="2400" dirty="0">
              <a:latin typeface="+mj-lt"/>
            </a:endParaRPr>
          </a:p>
          <a:p>
            <a:endParaRPr lang="en-US" sz="2400" dirty="0" smtClean="0">
              <a:latin typeface="+mj-lt"/>
            </a:endParaRPr>
          </a:p>
          <a:p>
            <a:endParaRPr lang="en-US" sz="2400" dirty="0">
              <a:latin typeface="+mj-lt"/>
            </a:endParaRPr>
          </a:p>
          <a:p>
            <a:endParaRPr lang="en-US" sz="2400" dirty="0">
              <a:latin typeface="+mj-lt"/>
            </a:endParaRPr>
          </a:p>
          <a:p>
            <a:endParaRPr lang="en-US" sz="2000" dirty="0">
              <a:latin typeface="+mj-lt"/>
            </a:endParaRPr>
          </a:p>
        </p:txBody>
      </p:sp>
      <p:sp>
        <p:nvSpPr>
          <p:cNvPr id="3" name="TextBox 2"/>
          <p:cNvSpPr txBox="1"/>
          <p:nvPr/>
        </p:nvSpPr>
        <p:spPr>
          <a:xfrm>
            <a:off x="3732245" y="2659224"/>
            <a:ext cx="3405673" cy="1569660"/>
          </a:xfrm>
          <a:prstGeom prst="rect">
            <a:avLst/>
          </a:prstGeom>
          <a:noFill/>
        </p:spPr>
        <p:txBody>
          <a:bodyPr wrap="square" rtlCol="0">
            <a:spAutoFit/>
          </a:bodyPr>
          <a:lstStyle/>
          <a:p>
            <a:r>
              <a:rPr lang="en-US" sz="2400" i="1" dirty="0"/>
              <a:t>Z</a:t>
            </a:r>
            <a:r>
              <a:rPr lang="en-US" sz="2400" i="1" baseline="30000" dirty="0"/>
              <a:t>[1]</a:t>
            </a:r>
            <a:r>
              <a:rPr lang="en-US" sz="2400" i="1" dirty="0"/>
              <a:t> = W</a:t>
            </a:r>
            <a:r>
              <a:rPr lang="en-US" sz="2400" i="1" baseline="30000" dirty="0"/>
              <a:t>[1]</a:t>
            </a:r>
            <a:r>
              <a:rPr lang="en-US" sz="2400" i="1" dirty="0"/>
              <a:t>X + b</a:t>
            </a:r>
            <a:r>
              <a:rPr lang="en-US" sz="2400" i="1" baseline="30000" dirty="0"/>
              <a:t>[1]</a:t>
            </a:r>
          </a:p>
          <a:p>
            <a:r>
              <a:rPr lang="en-US" sz="2400" i="1" dirty="0"/>
              <a:t>A</a:t>
            </a:r>
            <a:r>
              <a:rPr lang="en-US" sz="2400" i="1" baseline="30000" dirty="0"/>
              <a:t>[1]</a:t>
            </a:r>
            <a:r>
              <a:rPr lang="en-US" sz="2400" i="1" dirty="0"/>
              <a:t> = g</a:t>
            </a:r>
            <a:r>
              <a:rPr lang="en-US" sz="2400" i="1" baseline="30000" dirty="0"/>
              <a:t>[1]</a:t>
            </a:r>
            <a:r>
              <a:rPr lang="en-US" sz="2400" i="1" dirty="0"/>
              <a:t>(Z</a:t>
            </a:r>
            <a:r>
              <a:rPr lang="en-US" sz="2400" i="1" baseline="30000" dirty="0"/>
              <a:t>[1</a:t>
            </a:r>
            <a:r>
              <a:rPr lang="en-US" sz="2400" i="1" baseline="30000" dirty="0" smtClean="0"/>
              <a:t>]</a:t>
            </a:r>
            <a:r>
              <a:rPr lang="en-US" sz="2400" i="1" dirty="0" smtClean="0"/>
              <a:t>) = </a:t>
            </a:r>
            <a:r>
              <a:rPr lang="el-GR" sz="2400" i="1" dirty="0"/>
              <a:t>σ</a:t>
            </a:r>
            <a:r>
              <a:rPr lang="en-US" sz="2400" i="1" dirty="0" smtClean="0"/>
              <a:t>(Z</a:t>
            </a:r>
            <a:r>
              <a:rPr lang="en-US" sz="2400" i="1" baseline="30000" dirty="0" smtClean="0"/>
              <a:t>[1]</a:t>
            </a:r>
            <a:r>
              <a:rPr lang="en-US" sz="2400" i="1" dirty="0" smtClean="0"/>
              <a:t>)</a:t>
            </a:r>
            <a:endParaRPr lang="en-US" sz="2400" i="1" dirty="0"/>
          </a:p>
          <a:p>
            <a:r>
              <a:rPr lang="en-US" sz="2400" i="1" dirty="0"/>
              <a:t>Z</a:t>
            </a:r>
            <a:r>
              <a:rPr lang="en-US" sz="2400" i="1" baseline="30000" dirty="0"/>
              <a:t>[2]</a:t>
            </a:r>
            <a:r>
              <a:rPr lang="en-US" sz="2400" i="1" dirty="0"/>
              <a:t> = W</a:t>
            </a:r>
            <a:r>
              <a:rPr lang="en-US" sz="2400" i="1" baseline="30000" dirty="0"/>
              <a:t>[2]</a:t>
            </a:r>
            <a:r>
              <a:rPr lang="en-US" sz="2400" i="1" dirty="0"/>
              <a:t>A</a:t>
            </a:r>
            <a:r>
              <a:rPr lang="en-US" sz="2400" i="1" baseline="30000" dirty="0"/>
              <a:t>[1[</a:t>
            </a:r>
            <a:r>
              <a:rPr lang="en-US" sz="2400" i="1" dirty="0"/>
              <a:t> + b</a:t>
            </a:r>
            <a:r>
              <a:rPr lang="en-US" sz="2400" i="1" baseline="30000" dirty="0"/>
              <a:t>[2]</a:t>
            </a:r>
          </a:p>
          <a:p>
            <a:r>
              <a:rPr lang="en-US" sz="2400" i="1" dirty="0"/>
              <a:t>A</a:t>
            </a:r>
            <a:r>
              <a:rPr lang="en-US" sz="2400" i="1" baseline="30000" dirty="0"/>
              <a:t>[2]</a:t>
            </a:r>
            <a:r>
              <a:rPr lang="en-US" sz="2400" i="1" dirty="0"/>
              <a:t> = g</a:t>
            </a:r>
            <a:r>
              <a:rPr lang="en-US" sz="2400" i="1" baseline="30000" dirty="0"/>
              <a:t>[2]</a:t>
            </a:r>
            <a:r>
              <a:rPr lang="en-US" sz="2400" i="1" dirty="0"/>
              <a:t>(Z</a:t>
            </a:r>
            <a:r>
              <a:rPr lang="en-US" sz="2400" i="1" baseline="30000" dirty="0"/>
              <a:t>[2]</a:t>
            </a:r>
            <a:r>
              <a:rPr lang="en-US" sz="2400" i="1" dirty="0"/>
              <a:t>) = </a:t>
            </a:r>
            <a:r>
              <a:rPr lang="el-GR" sz="2400" i="1" dirty="0"/>
              <a:t>σ</a:t>
            </a:r>
            <a:r>
              <a:rPr lang="en-US" sz="2400" i="1" dirty="0"/>
              <a:t>(Z</a:t>
            </a:r>
            <a:r>
              <a:rPr lang="en-US" sz="2400" i="1" baseline="30000" dirty="0"/>
              <a:t>[2</a:t>
            </a:r>
            <a:r>
              <a:rPr lang="en-US" sz="2400" i="1" baseline="30000" dirty="0" smtClean="0"/>
              <a:t>]</a:t>
            </a:r>
            <a:r>
              <a:rPr lang="en-US" sz="2400" i="1" dirty="0" smtClean="0"/>
              <a:t>)</a:t>
            </a:r>
            <a:endParaRPr lang="en-US" sz="2400" i="1" dirty="0"/>
          </a:p>
        </p:txBody>
      </p:sp>
      <p:pic>
        <p:nvPicPr>
          <p:cNvPr id="4" name="Picture 3"/>
          <p:cNvPicPr>
            <a:picLocks noChangeAspect="1"/>
          </p:cNvPicPr>
          <p:nvPr/>
        </p:nvPicPr>
        <p:blipFill>
          <a:blip r:embed="rId4"/>
          <a:stretch>
            <a:fillRect/>
          </a:stretch>
        </p:blipFill>
        <p:spPr>
          <a:xfrm>
            <a:off x="2101933" y="4718599"/>
            <a:ext cx="7751194" cy="1797941"/>
          </a:xfrm>
          <a:prstGeom prst="rect">
            <a:avLst/>
          </a:prstGeom>
        </p:spPr>
      </p:pic>
    </p:spTree>
    <p:extLst>
      <p:ext uri="{BB962C8B-B14F-4D97-AF65-F5344CB8AC3E}">
        <p14:creationId xmlns:p14="http://schemas.microsoft.com/office/powerpoint/2010/main" val="37371585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Shape 260"/>
        <p:cNvGrpSpPr/>
        <p:nvPr/>
      </p:nvGrpSpPr>
      <p:grpSpPr>
        <a:xfrm>
          <a:off x="0" y="0"/>
          <a:ext cx="0" cy="0"/>
          <a:chOff x="0" y="0"/>
          <a:chExt cx="0" cy="0"/>
        </a:xfrm>
      </p:grpSpPr>
      <p:sp>
        <p:nvSpPr>
          <p:cNvPr id="261" name="Google Shape;261;p28"/>
          <p:cNvSpPr txBox="1">
            <a:spLocks noGrp="1"/>
          </p:cNvSpPr>
          <p:nvPr>
            <p:ph type="title"/>
          </p:nvPr>
        </p:nvSpPr>
        <p:spPr>
          <a:xfrm>
            <a:off x="195045" y="402163"/>
            <a:ext cx="927544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a:latin typeface="+mj-lt"/>
                <a:ea typeface="Century Schoolbook"/>
                <a:cs typeface="Century Schoolbook"/>
                <a:sym typeface="Century Schoolbook"/>
              </a:rPr>
              <a:t>Formulas for computing derivatives</a:t>
            </a:r>
            <a:endParaRPr sz="4400">
              <a:latin typeface="+mj-lt"/>
              <a:ea typeface="Century Schoolbook"/>
              <a:cs typeface="Century Schoolbook"/>
              <a:sym typeface="Century Schoolbook"/>
            </a:endParaRPr>
          </a:p>
        </p:txBody>
      </p:sp>
      <p:pic>
        <p:nvPicPr>
          <p:cNvPr id="263" name="Google Shape;263;p28"/>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64" name="Google Shape;264;p28"/>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41</a:t>
            </a:fld>
            <a:endParaRPr>
              <a:latin typeface="+mj-lt"/>
            </a:endParaRPr>
          </a:p>
        </p:txBody>
      </p:sp>
      <p:sp>
        <p:nvSpPr>
          <p:cNvPr id="5" name="TextBox 4"/>
          <p:cNvSpPr txBox="1"/>
          <p:nvPr/>
        </p:nvSpPr>
        <p:spPr>
          <a:xfrm>
            <a:off x="378069" y="1732085"/>
            <a:ext cx="11386039" cy="4154984"/>
          </a:xfrm>
          <a:prstGeom prst="rect">
            <a:avLst/>
          </a:prstGeom>
          <a:noFill/>
        </p:spPr>
        <p:txBody>
          <a:bodyPr wrap="square" rtlCol="0">
            <a:spAutoFit/>
          </a:bodyPr>
          <a:lstStyle/>
          <a:p>
            <a:r>
              <a:rPr lang="en-US" sz="2400" b="1" dirty="0">
                <a:latin typeface="+mj-lt"/>
              </a:rPr>
              <a:t>Backward propagation</a:t>
            </a:r>
            <a:r>
              <a:rPr lang="en-US" sz="2400" dirty="0">
                <a:latin typeface="+mj-lt"/>
              </a:rPr>
              <a:t>:</a:t>
            </a:r>
          </a:p>
          <a:p>
            <a:pPr marL="342900" indent="-342900">
              <a:buFont typeface="Arial" panose="020B0604020202020204" pitchFamily="34" charset="0"/>
              <a:buChar char="•"/>
            </a:pPr>
            <a:r>
              <a:rPr lang="en-US" sz="2400" dirty="0">
                <a:latin typeface="+mj-lt"/>
              </a:rPr>
              <a:t>Also known as backpropagation or </a:t>
            </a:r>
            <a:r>
              <a:rPr lang="en-US" sz="2400" dirty="0" err="1">
                <a:latin typeface="+mj-lt"/>
              </a:rPr>
              <a:t>backprop</a:t>
            </a:r>
            <a:r>
              <a:rPr lang="en-US" sz="2400" dirty="0">
                <a:latin typeface="+mj-lt"/>
              </a:rPr>
              <a:t>, </a:t>
            </a:r>
            <a:r>
              <a:rPr lang="en-US" sz="2400" b="1" dirty="0">
                <a:latin typeface="+mj-lt"/>
              </a:rPr>
              <a:t>is the process of computing the gradient of the loss function with respect to the weights and biases of a neural network</a:t>
            </a:r>
            <a:r>
              <a:rPr lang="en-US" sz="2400" dirty="0">
                <a:latin typeface="+mj-lt"/>
              </a:rPr>
              <a:t>, so that the weights and biases can be updated during the training process.</a:t>
            </a:r>
          </a:p>
          <a:p>
            <a:pPr marL="342900" indent="-342900">
              <a:buFont typeface="Arial" panose="020B0604020202020204" pitchFamily="34" charset="0"/>
              <a:buChar char="•"/>
            </a:pPr>
            <a:r>
              <a:rPr lang="en-US" sz="2400" dirty="0">
                <a:latin typeface="+mj-lt"/>
              </a:rPr>
              <a:t>During forward propagation, the input data is passed through the neural network, layer by layer, to produce an output. The output is compared to the expected output, and the difference between them is used to compute the loss function</a:t>
            </a:r>
            <a:r>
              <a:rPr lang="en-US" sz="2400">
                <a:latin typeface="+mj-lt"/>
              </a:rPr>
              <a:t>. </a:t>
            </a:r>
            <a:endParaRPr lang="en-US" sz="2400" smtClean="0">
              <a:latin typeface="+mj-lt"/>
            </a:endParaRPr>
          </a:p>
          <a:p>
            <a:pPr marL="342900" indent="-342900">
              <a:buFont typeface="Arial" panose="020B0604020202020204" pitchFamily="34" charset="0"/>
              <a:buChar char="•"/>
            </a:pPr>
            <a:r>
              <a:rPr lang="en-US" sz="2400" smtClean="0">
                <a:latin typeface="+mj-lt"/>
              </a:rPr>
              <a:t>The </a:t>
            </a:r>
            <a:r>
              <a:rPr lang="en-US" sz="2400" dirty="0">
                <a:latin typeface="+mj-lt"/>
              </a:rPr>
              <a:t>goal of backpropagation is to compute the gradient of the loss function with respect to each weight and bias in the network.</a:t>
            </a:r>
          </a:p>
        </p:txBody>
      </p:sp>
    </p:spTree>
    <p:extLst>
      <p:ext uri="{BB962C8B-B14F-4D97-AF65-F5344CB8AC3E}">
        <p14:creationId xmlns:p14="http://schemas.microsoft.com/office/powerpoint/2010/main" val="27430783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Shape 260"/>
        <p:cNvGrpSpPr/>
        <p:nvPr/>
      </p:nvGrpSpPr>
      <p:grpSpPr>
        <a:xfrm>
          <a:off x="0" y="0"/>
          <a:ext cx="0" cy="0"/>
          <a:chOff x="0" y="0"/>
          <a:chExt cx="0" cy="0"/>
        </a:xfrm>
      </p:grpSpPr>
      <p:sp>
        <p:nvSpPr>
          <p:cNvPr id="261" name="Google Shape;261;p28"/>
          <p:cNvSpPr txBox="1">
            <a:spLocks noGrp="1"/>
          </p:cNvSpPr>
          <p:nvPr>
            <p:ph type="title"/>
          </p:nvPr>
        </p:nvSpPr>
        <p:spPr>
          <a:xfrm>
            <a:off x="195045" y="402163"/>
            <a:ext cx="927544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a:latin typeface="+mj-lt"/>
                <a:ea typeface="Century Schoolbook"/>
                <a:cs typeface="Century Schoolbook"/>
                <a:sym typeface="Century Schoolbook"/>
              </a:rPr>
              <a:t>Formulas for computing derivatives</a:t>
            </a:r>
            <a:endParaRPr sz="4400">
              <a:latin typeface="+mj-lt"/>
              <a:ea typeface="Century Schoolbook"/>
              <a:cs typeface="Century Schoolbook"/>
              <a:sym typeface="Century Schoolbook"/>
            </a:endParaRPr>
          </a:p>
        </p:txBody>
      </p:sp>
      <p:pic>
        <p:nvPicPr>
          <p:cNvPr id="263" name="Google Shape;263;p28"/>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64" name="Google Shape;264;p28"/>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42</a:t>
            </a:fld>
            <a:endParaRPr>
              <a:latin typeface="+mj-lt"/>
            </a:endParaRPr>
          </a:p>
        </p:txBody>
      </p:sp>
      <p:sp>
        <p:nvSpPr>
          <p:cNvPr id="5" name="TextBox 4"/>
          <p:cNvSpPr txBox="1"/>
          <p:nvPr/>
        </p:nvSpPr>
        <p:spPr>
          <a:xfrm>
            <a:off x="334108" y="1459524"/>
            <a:ext cx="11386039" cy="3108543"/>
          </a:xfrm>
          <a:prstGeom prst="rect">
            <a:avLst/>
          </a:prstGeom>
          <a:noFill/>
        </p:spPr>
        <p:txBody>
          <a:bodyPr wrap="square" rtlCol="0">
            <a:spAutoFit/>
          </a:bodyPr>
          <a:lstStyle/>
          <a:p>
            <a:r>
              <a:rPr lang="en-US" sz="2400" b="1" dirty="0">
                <a:latin typeface="+mj-lt"/>
              </a:rPr>
              <a:t>Backward propagation</a:t>
            </a:r>
            <a:r>
              <a:rPr lang="en-US" sz="2400" dirty="0">
                <a:latin typeface="+mj-lt"/>
              </a:rPr>
              <a:t>:</a:t>
            </a:r>
            <a:endParaRPr lang="en-US" sz="2000" dirty="0">
              <a:latin typeface="+mj-lt"/>
            </a:endParaRPr>
          </a:p>
          <a:p>
            <a:pPr marL="342900" indent="-342900">
              <a:buFont typeface="Arial" panose="020B0604020202020204" pitchFamily="34" charset="0"/>
              <a:buChar char="•"/>
            </a:pPr>
            <a:r>
              <a:rPr lang="en-US" sz="2400" dirty="0">
                <a:latin typeface="+mj-lt"/>
              </a:rPr>
              <a:t>To compute the gradients, backpropagation uses the chain rule of calculus to propagate the error back through the layers of the neural network. </a:t>
            </a:r>
            <a:endParaRPr lang="en-US" sz="2400" dirty="0" smtClean="0">
              <a:latin typeface="+mj-lt"/>
            </a:endParaRPr>
          </a:p>
          <a:p>
            <a:r>
              <a:rPr lang="en-US" sz="2400" dirty="0">
                <a:latin typeface="+mj-lt"/>
              </a:rPr>
              <a:t>	</a:t>
            </a:r>
            <a:r>
              <a:rPr lang="en-US" sz="2400" dirty="0" smtClean="0">
                <a:latin typeface="+mj-lt"/>
              </a:rPr>
              <a:t>- </a:t>
            </a:r>
            <a:r>
              <a:rPr lang="en-US" sz="2000" dirty="0" smtClean="0">
                <a:latin typeface="+mj-lt"/>
              </a:rPr>
              <a:t>Starting </a:t>
            </a:r>
            <a:r>
              <a:rPr lang="en-US" sz="2000" dirty="0">
                <a:latin typeface="+mj-lt"/>
              </a:rPr>
              <a:t>at the output layer, the gradient of the loss function with respect to the output of </a:t>
            </a:r>
            <a:r>
              <a:rPr lang="en-US" sz="2000" dirty="0" smtClean="0">
                <a:latin typeface="+mj-lt"/>
              </a:rPr>
              <a:t>	each </a:t>
            </a:r>
            <a:r>
              <a:rPr lang="en-US" sz="2000" dirty="0">
                <a:latin typeface="+mj-lt"/>
              </a:rPr>
              <a:t>neuron is computed. </a:t>
            </a:r>
            <a:endParaRPr lang="en-US" sz="2000" dirty="0" smtClean="0">
              <a:latin typeface="+mj-lt"/>
            </a:endParaRPr>
          </a:p>
          <a:p>
            <a:r>
              <a:rPr lang="en-US" sz="2000" dirty="0">
                <a:latin typeface="+mj-lt"/>
              </a:rPr>
              <a:t>	</a:t>
            </a:r>
            <a:r>
              <a:rPr lang="en-US" sz="2000" dirty="0" smtClean="0">
                <a:latin typeface="+mj-lt"/>
              </a:rPr>
              <a:t>- These </a:t>
            </a:r>
            <a:r>
              <a:rPr lang="en-US" sz="2000" dirty="0">
                <a:latin typeface="+mj-lt"/>
              </a:rPr>
              <a:t>gradients are then used to compute the gradients with respect to the input to each </a:t>
            </a:r>
            <a:r>
              <a:rPr lang="en-US" sz="2000" dirty="0" smtClean="0">
                <a:latin typeface="+mj-lt"/>
              </a:rPr>
              <a:t>	neuron </a:t>
            </a:r>
            <a:r>
              <a:rPr lang="en-US" sz="2000" dirty="0">
                <a:latin typeface="+mj-lt"/>
              </a:rPr>
              <a:t>in the previous layer. </a:t>
            </a:r>
            <a:endParaRPr lang="en-US" sz="2000" dirty="0" smtClean="0">
              <a:latin typeface="+mj-lt"/>
            </a:endParaRPr>
          </a:p>
          <a:p>
            <a:r>
              <a:rPr lang="en-US" sz="2000" dirty="0">
                <a:latin typeface="+mj-lt"/>
              </a:rPr>
              <a:t>	</a:t>
            </a:r>
            <a:r>
              <a:rPr lang="en-US" sz="2000" dirty="0" smtClean="0">
                <a:latin typeface="+mj-lt"/>
              </a:rPr>
              <a:t>- This </a:t>
            </a:r>
            <a:r>
              <a:rPr lang="en-US" sz="2000" dirty="0">
                <a:latin typeface="+mj-lt"/>
              </a:rPr>
              <a:t>process is repeated until the gradient with respect to each weight and bias in the </a:t>
            </a:r>
            <a:r>
              <a:rPr lang="en-US" sz="2000" dirty="0" smtClean="0">
                <a:latin typeface="+mj-lt"/>
              </a:rPr>
              <a:t>	network </a:t>
            </a:r>
            <a:r>
              <a:rPr lang="en-US" sz="2000" dirty="0">
                <a:latin typeface="+mj-lt"/>
              </a:rPr>
              <a:t>is computed</a:t>
            </a:r>
            <a:r>
              <a:rPr lang="en-US" sz="2000" dirty="0" smtClean="0">
                <a:latin typeface="+mj-lt"/>
              </a:rPr>
              <a:t>.</a:t>
            </a:r>
            <a:endParaRPr lang="en-US" sz="2000" dirty="0">
              <a:latin typeface="+mj-lt"/>
            </a:endParaRPr>
          </a:p>
        </p:txBody>
      </p:sp>
    </p:spTree>
    <p:extLst>
      <p:ext uri="{BB962C8B-B14F-4D97-AF65-F5344CB8AC3E}">
        <p14:creationId xmlns:p14="http://schemas.microsoft.com/office/powerpoint/2010/main" val="17126523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Shape 260"/>
        <p:cNvGrpSpPr/>
        <p:nvPr/>
      </p:nvGrpSpPr>
      <p:grpSpPr>
        <a:xfrm>
          <a:off x="0" y="0"/>
          <a:ext cx="0" cy="0"/>
          <a:chOff x="0" y="0"/>
          <a:chExt cx="0" cy="0"/>
        </a:xfrm>
      </p:grpSpPr>
      <p:sp>
        <p:nvSpPr>
          <p:cNvPr id="261" name="Google Shape;261;p28"/>
          <p:cNvSpPr txBox="1">
            <a:spLocks noGrp="1"/>
          </p:cNvSpPr>
          <p:nvPr>
            <p:ph type="title"/>
          </p:nvPr>
        </p:nvSpPr>
        <p:spPr>
          <a:xfrm>
            <a:off x="195045" y="402163"/>
            <a:ext cx="927544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a:latin typeface="+mj-lt"/>
                <a:ea typeface="Century Schoolbook"/>
                <a:cs typeface="Century Schoolbook"/>
                <a:sym typeface="Century Schoolbook"/>
              </a:rPr>
              <a:t>Formulas for computing derivatives</a:t>
            </a:r>
            <a:endParaRPr sz="4400">
              <a:latin typeface="+mj-lt"/>
              <a:ea typeface="Century Schoolbook"/>
              <a:cs typeface="Century Schoolbook"/>
              <a:sym typeface="Century Schoolbook"/>
            </a:endParaRPr>
          </a:p>
        </p:txBody>
      </p:sp>
      <p:pic>
        <p:nvPicPr>
          <p:cNvPr id="263" name="Google Shape;263;p28"/>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64" name="Google Shape;264;p28"/>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43</a:t>
            </a:fld>
            <a:endParaRPr>
              <a:latin typeface="+mj-lt"/>
            </a:endParaRPr>
          </a:p>
        </p:txBody>
      </p:sp>
      <p:sp>
        <p:nvSpPr>
          <p:cNvPr id="5" name="TextBox 4"/>
          <p:cNvSpPr txBox="1"/>
          <p:nvPr/>
        </p:nvSpPr>
        <p:spPr>
          <a:xfrm>
            <a:off x="334108" y="1459524"/>
            <a:ext cx="11386039" cy="2677656"/>
          </a:xfrm>
          <a:prstGeom prst="rect">
            <a:avLst/>
          </a:prstGeom>
          <a:noFill/>
        </p:spPr>
        <p:txBody>
          <a:bodyPr wrap="square" rtlCol="0">
            <a:spAutoFit/>
          </a:bodyPr>
          <a:lstStyle/>
          <a:p>
            <a:r>
              <a:rPr lang="en-US" sz="2400" b="1" dirty="0">
                <a:latin typeface="+mj-lt"/>
              </a:rPr>
              <a:t>Backward propagation</a:t>
            </a:r>
            <a:r>
              <a:rPr lang="en-US" sz="2400" dirty="0">
                <a:latin typeface="+mj-lt"/>
              </a:rPr>
              <a:t>:</a:t>
            </a:r>
            <a:endParaRPr lang="en-US" sz="2000" dirty="0">
              <a:latin typeface="+mj-lt"/>
            </a:endParaRPr>
          </a:p>
          <a:p>
            <a:pPr marL="342900" indent="-342900">
              <a:buFont typeface="Arial" panose="020B0604020202020204" pitchFamily="34" charset="0"/>
              <a:buChar char="•"/>
            </a:pPr>
            <a:r>
              <a:rPr lang="en-US" sz="2400" dirty="0" smtClean="0">
                <a:latin typeface="+mj-lt"/>
              </a:rPr>
              <a:t>Once </a:t>
            </a:r>
            <a:r>
              <a:rPr lang="en-US" sz="2400" dirty="0">
                <a:latin typeface="+mj-lt"/>
              </a:rPr>
              <a:t>the gradients have been computed, they can be used to update the weights and biases of the network using an optimization algorithm, such as stochastic gradient descent, to minimize the loss function. </a:t>
            </a:r>
            <a:endParaRPr lang="en-US" sz="2400" dirty="0" smtClean="0">
              <a:latin typeface="+mj-lt"/>
            </a:endParaRPr>
          </a:p>
          <a:p>
            <a:pPr marL="342900" indent="-342900">
              <a:buFont typeface="Arial" panose="020B0604020202020204" pitchFamily="34" charset="0"/>
              <a:buChar char="•"/>
            </a:pPr>
            <a:r>
              <a:rPr lang="en-US" sz="2400" dirty="0" smtClean="0">
                <a:latin typeface="+mj-lt"/>
              </a:rPr>
              <a:t>This </a:t>
            </a:r>
            <a:r>
              <a:rPr lang="en-US" sz="2400" dirty="0">
                <a:latin typeface="+mj-lt"/>
              </a:rPr>
              <a:t>process of forward propagation followed by backpropagation and weight updates is repeated many times during training until the network is able to make accurate predictions on new data.</a:t>
            </a:r>
          </a:p>
        </p:txBody>
      </p:sp>
    </p:spTree>
    <p:extLst>
      <p:ext uri="{BB962C8B-B14F-4D97-AF65-F5344CB8AC3E}">
        <p14:creationId xmlns:p14="http://schemas.microsoft.com/office/powerpoint/2010/main" val="15038904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Shape 260"/>
        <p:cNvGrpSpPr/>
        <p:nvPr/>
      </p:nvGrpSpPr>
      <p:grpSpPr>
        <a:xfrm>
          <a:off x="0" y="0"/>
          <a:ext cx="0" cy="0"/>
          <a:chOff x="0" y="0"/>
          <a:chExt cx="0" cy="0"/>
        </a:xfrm>
      </p:grpSpPr>
      <p:sp>
        <p:nvSpPr>
          <p:cNvPr id="3" name="TextBox 2"/>
          <p:cNvSpPr txBox="1"/>
          <p:nvPr/>
        </p:nvSpPr>
        <p:spPr>
          <a:xfrm>
            <a:off x="334108" y="2376246"/>
            <a:ext cx="3701561" cy="1569660"/>
          </a:xfrm>
          <a:prstGeom prst="rect">
            <a:avLst/>
          </a:prstGeom>
          <a:noFill/>
        </p:spPr>
        <p:txBody>
          <a:bodyPr wrap="square" rtlCol="0">
            <a:spAutoFit/>
          </a:bodyPr>
          <a:lstStyle/>
          <a:p>
            <a:r>
              <a:rPr lang="en-US" sz="2400" i="1" dirty="0">
                <a:latin typeface="+mj-lt"/>
              </a:rPr>
              <a:t>Z</a:t>
            </a:r>
            <a:r>
              <a:rPr lang="en-US" sz="2400" i="1" baseline="30000" dirty="0">
                <a:latin typeface="+mj-lt"/>
              </a:rPr>
              <a:t>[1]</a:t>
            </a:r>
            <a:r>
              <a:rPr lang="en-US" sz="2400" i="1" dirty="0">
                <a:latin typeface="+mj-lt"/>
              </a:rPr>
              <a:t> = W</a:t>
            </a:r>
            <a:r>
              <a:rPr lang="en-US" sz="2400" i="1" baseline="30000" dirty="0">
                <a:latin typeface="+mj-lt"/>
              </a:rPr>
              <a:t>[1]</a:t>
            </a:r>
            <a:r>
              <a:rPr lang="en-US" sz="2400" i="1" dirty="0">
                <a:latin typeface="+mj-lt"/>
              </a:rPr>
              <a:t>X + b</a:t>
            </a:r>
            <a:r>
              <a:rPr lang="en-US" sz="2400" i="1" baseline="30000" dirty="0">
                <a:latin typeface="+mj-lt"/>
              </a:rPr>
              <a:t>[1]</a:t>
            </a:r>
          </a:p>
          <a:p>
            <a:r>
              <a:rPr lang="en-US" sz="2400" i="1" dirty="0">
                <a:latin typeface="+mj-lt"/>
              </a:rPr>
              <a:t>A</a:t>
            </a:r>
            <a:r>
              <a:rPr lang="en-US" sz="2400" i="1" baseline="30000" dirty="0">
                <a:latin typeface="+mj-lt"/>
              </a:rPr>
              <a:t>[1]</a:t>
            </a:r>
            <a:r>
              <a:rPr lang="en-US" sz="2400" i="1" dirty="0">
                <a:latin typeface="+mj-lt"/>
              </a:rPr>
              <a:t> = g</a:t>
            </a:r>
            <a:r>
              <a:rPr lang="en-US" sz="2400" i="1" baseline="30000" dirty="0">
                <a:latin typeface="+mj-lt"/>
              </a:rPr>
              <a:t>[1]</a:t>
            </a:r>
            <a:r>
              <a:rPr lang="en-US" sz="2400" i="1" dirty="0">
                <a:latin typeface="+mj-lt"/>
              </a:rPr>
              <a:t>(Z</a:t>
            </a:r>
            <a:r>
              <a:rPr lang="en-US" sz="2400" i="1" baseline="30000" dirty="0">
                <a:latin typeface="+mj-lt"/>
              </a:rPr>
              <a:t>[1]</a:t>
            </a:r>
            <a:r>
              <a:rPr lang="en-US" sz="2400" i="1" dirty="0">
                <a:latin typeface="+mj-lt"/>
              </a:rPr>
              <a:t>)</a:t>
            </a:r>
          </a:p>
          <a:p>
            <a:r>
              <a:rPr lang="en-US" sz="2400" i="1" dirty="0">
                <a:latin typeface="+mj-lt"/>
              </a:rPr>
              <a:t>Z</a:t>
            </a:r>
            <a:r>
              <a:rPr lang="en-US" sz="2400" i="1" baseline="30000" dirty="0">
                <a:latin typeface="+mj-lt"/>
              </a:rPr>
              <a:t>[2]</a:t>
            </a:r>
            <a:r>
              <a:rPr lang="en-US" sz="2400" i="1" dirty="0">
                <a:latin typeface="+mj-lt"/>
              </a:rPr>
              <a:t> = W</a:t>
            </a:r>
            <a:r>
              <a:rPr lang="en-US" sz="2400" i="1" baseline="30000" dirty="0">
                <a:latin typeface="+mj-lt"/>
              </a:rPr>
              <a:t>[2]</a:t>
            </a:r>
            <a:r>
              <a:rPr lang="en-US" sz="2400" i="1" dirty="0">
                <a:latin typeface="+mj-lt"/>
              </a:rPr>
              <a:t>A</a:t>
            </a:r>
            <a:r>
              <a:rPr lang="en-US" sz="2400" i="1" baseline="30000" dirty="0">
                <a:latin typeface="+mj-lt"/>
              </a:rPr>
              <a:t>[1[</a:t>
            </a:r>
            <a:r>
              <a:rPr lang="en-US" sz="2400" i="1" dirty="0">
                <a:latin typeface="+mj-lt"/>
              </a:rPr>
              <a:t> + b</a:t>
            </a:r>
            <a:r>
              <a:rPr lang="en-US" sz="2400" i="1" baseline="30000" dirty="0">
                <a:latin typeface="+mj-lt"/>
              </a:rPr>
              <a:t>[2]</a:t>
            </a:r>
          </a:p>
          <a:p>
            <a:r>
              <a:rPr lang="en-US" sz="2400" i="1" dirty="0">
                <a:latin typeface="+mj-lt"/>
              </a:rPr>
              <a:t>A</a:t>
            </a:r>
            <a:r>
              <a:rPr lang="en-US" sz="2400" i="1" baseline="30000" dirty="0">
                <a:latin typeface="+mj-lt"/>
              </a:rPr>
              <a:t>[2]</a:t>
            </a:r>
            <a:r>
              <a:rPr lang="en-US" sz="2400" i="1" dirty="0">
                <a:latin typeface="+mj-lt"/>
              </a:rPr>
              <a:t> = g</a:t>
            </a:r>
            <a:r>
              <a:rPr lang="en-US" sz="2400" i="1" baseline="30000" dirty="0">
                <a:latin typeface="+mj-lt"/>
              </a:rPr>
              <a:t>[2]</a:t>
            </a:r>
            <a:r>
              <a:rPr lang="en-US" sz="2400" i="1" dirty="0">
                <a:latin typeface="+mj-lt"/>
              </a:rPr>
              <a:t>(Z</a:t>
            </a:r>
            <a:r>
              <a:rPr lang="en-US" sz="2400" i="1" baseline="30000" dirty="0">
                <a:latin typeface="+mj-lt"/>
              </a:rPr>
              <a:t>[2]</a:t>
            </a:r>
            <a:r>
              <a:rPr lang="en-US" sz="2400" i="1" dirty="0">
                <a:latin typeface="+mj-lt"/>
              </a:rPr>
              <a:t>) = </a:t>
            </a:r>
            <a:r>
              <a:rPr lang="el-GR" sz="2400" i="1" dirty="0">
                <a:latin typeface="+mj-lt"/>
              </a:rPr>
              <a:t>σ</a:t>
            </a:r>
            <a:r>
              <a:rPr lang="en-US" sz="2400" i="1" dirty="0">
                <a:latin typeface="+mj-lt"/>
              </a:rPr>
              <a:t>(Z</a:t>
            </a:r>
            <a:r>
              <a:rPr lang="en-US" sz="2400" i="1" baseline="30000" dirty="0">
                <a:latin typeface="+mj-lt"/>
              </a:rPr>
              <a:t>[2]</a:t>
            </a:r>
            <a:r>
              <a:rPr lang="en-US" sz="2400" i="1" dirty="0">
                <a:latin typeface="+mj-lt"/>
              </a:rPr>
              <a:t>)</a:t>
            </a:r>
          </a:p>
        </p:txBody>
      </p:sp>
      <p:sp>
        <p:nvSpPr>
          <p:cNvPr id="261" name="Google Shape;261;p28"/>
          <p:cNvSpPr txBox="1">
            <a:spLocks noGrp="1"/>
          </p:cNvSpPr>
          <p:nvPr>
            <p:ph type="title"/>
          </p:nvPr>
        </p:nvSpPr>
        <p:spPr>
          <a:xfrm>
            <a:off x="195045" y="402163"/>
            <a:ext cx="927544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entury Schoolbook"/>
                <a:cs typeface="Century Schoolbook"/>
                <a:sym typeface="Century Schoolbook"/>
              </a:rPr>
              <a:t>Formulas for computing derivatives</a:t>
            </a:r>
            <a:endParaRPr sz="4400" dirty="0">
              <a:latin typeface="+mj-lt"/>
              <a:ea typeface="Century Schoolbook"/>
              <a:cs typeface="Century Schoolbook"/>
              <a:sym typeface="Century Schoolbook"/>
            </a:endParaRPr>
          </a:p>
        </p:txBody>
      </p:sp>
      <p:pic>
        <p:nvPicPr>
          <p:cNvPr id="263" name="Google Shape;263;p28"/>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64" name="Google Shape;264;p28"/>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44</a:t>
            </a:fld>
            <a:endParaRPr>
              <a:latin typeface="+mj-lt"/>
            </a:endParaRPr>
          </a:p>
        </p:txBody>
      </p:sp>
      <p:pic>
        <p:nvPicPr>
          <p:cNvPr id="2" name="Picture 1"/>
          <p:cNvPicPr>
            <a:picLocks noChangeAspect="1"/>
          </p:cNvPicPr>
          <p:nvPr/>
        </p:nvPicPr>
        <p:blipFill>
          <a:blip r:embed="rId4"/>
          <a:stretch>
            <a:fillRect/>
          </a:stretch>
        </p:blipFill>
        <p:spPr>
          <a:xfrm>
            <a:off x="4630545" y="2218583"/>
            <a:ext cx="6605540" cy="4533910"/>
          </a:xfrm>
          <a:prstGeom prst="rect">
            <a:avLst/>
          </a:prstGeom>
        </p:spPr>
      </p:pic>
      <p:sp>
        <p:nvSpPr>
          <p:cNvPr id="4" name="TextBox 3"/>
          <p:cNvSpPr txBox="1"/>
          <p:nvPr/>
        </p:nvSpPr>
        <p:spPr>
          <a:xfrm>
            <a:off x="334108" y="1485900"/>
            <a:ext cx="2760784" cy="400110"/>
          </a:xfrm>
          <a:prstGeom prst="rect">
            <a:avLst/>
          </a:prstGeom>
          <a:noFill/>
        </p:spPr>
        <p:txBody>
          <a:bodyPr wrap="square" rtlCol="0">
            <a:spAutoFit/>
          </a:bodyPr>
          <a:lstStyle/>
          <a:p>
            <a:r>
              <a:rPr lang="en-US" sz="2000" b="1" dirty="0">
                <a:latin typeface="+mj-lt"/>
              </a:rPr>
              <a:t>Forward propagation</a:t>
            </a:r>
          </a:p>
        </p:txBody>
      </p:sp>
      <p:sp>
        <p:nvSpPr>
          <p:cNvPr id="9" name="TextBox 8"/>
          <p:cNvSpPr txBox="1"/>
          <p:nvPr/>
        </p:nvSpPr>
        <p:spPr>
          <a:xfrm>
            <a:off x="4630545" y="1485900"/>
            <a:ext cx="3009970" cy="400110"/>
          </a:xfrm>
          <a:prstGeom prst="rect">
            <a:avLst/>
          </a:prstGeom>
          <a:noFill/>
        </p:spPr>
        <p:txBody>
          <a:bodyPr wrap="square" rtlCol="0">
            <a:spAutoFit/>
          </a:bodyPr>
          <a:lstStyle/>
          <a:p>
            <a:r>
              <a:rPr lang="en-US" sz="2000" b="1" dirty="0">
                <a:latin typeface="+mj-lt"/>
              </a:rPr>
              <a:t>Backward propagation</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Shape 260"/>
        <p:cNvGrpSpPr/>
        <p:nvPr/>
      </p:nvGrpSpPr>
      <p:grpSpPr>
        <a:xfrm>
          <a:off x="0" y="0"/>
          <a:ext cx="0" cy="0"/>
          <a:chOff x="0" y="0"/>
          <a:chExt cx="0" cy="0"/>
        </a:xfrm>
      </p:grpSpPr>
      <p:sp>
        <p:nvSpPr>
          <p:cNvPr id="261" name="Google Shape;261;p28"/>
          <p:cNvSpPr txBox="1">
            <a:spLocks noGrp="1"/>
          </p:cNvSpPr>
          <p:nvPr>
            <p:ph type="title"/>
          </p:nvPr>
        </p:nvSpPr>
        <p:spPr>
          <a:xfrm>
            <a:off x="195045" y="402163"/>
            <a:ext cx="927544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entury Schoolbook"/>
                <a:cs typeface="Century Schoolbook"/>
                <a:sym typeface="Century Schoolbook"/>
              </a:rPr>
              <a:t>Formulas for computing derivatives</a:t>
            </a:r>
            <a:endParaRPr sz="4400" dirty="0">
              <a:latin typeface="+mj-lt"/>
              <a:ea typeface="Century Schoolbook"/>
              <a:cs typeface="Century Schoolbook"/>
              <a:sym typeface="Century Schoolbook"/>
            </a:endParaRPr>
          </a:p>
        </p:txBody>
      </p:sp>
      <p:pic>
        <p:nvPicPr>
          <p:cNvPr id="263" name="Google Shape;263;p28"/>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64" name="Google Shape;264;p28"/>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45</a:t>
            </a:fld>
            <a:endParaRPr>
              <a:latin typeface="+mj-lt"/>
            </a:endParaRPr>
          </a:p>
        </p:txBody>
      </p:sp>
      <p:pic>
        <p:nvPicPr>
          <p:cNvPr id="5" name="Picture 4"/>
          <p:cNvPicPr>
            <a:picLocks noChangeAspect="1"/>
          </p:cNvPicPr>
          <p:nvPr/>
        </p:nvPicPr>
        <p:blipFill>
          <a:blip r:embed="rId4"/>
          <a:stretch>
            <a:fillRect/>
          </a:stretch>
        </p:blipFill>
        <p:spPr>
          <a:xfrm>
            <a:off x="2523736" y="1810527"/>
            <a:ext cx="7181850" cy="2247900"/>
          </a:xfrm>
          <a:prstGeom prst="rect">
            <a:avLst/>
          </a:prstGeom>
        </p:spPr>
      </p:pic>
    </p:spTree>
    <p:extLst>
      <p:ext uri="{BB962C8B-B14F-4D97-AF65-F5344CB8AC3E}">
        <p14:creationId xmlns:p14="http://schemas.microsoft.com/office/powerpoint/2010/main" val="4135011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Shape 268"/>
        <p:cNvGrpSpPr/>
        <p:nvPr/>
      </p:nvGrpSpPr>
      <p:grpSpPr>
        <a:xfrm>
          <a:off x="0" y="0"/>
          <a:ext cx="0" cy="0"/>
          <a:chOff x="0" y="0"/>
          <a:chExt cx="0" cy="0"/>
        </a:xfrm>
      </p:grpSpPr>
      <p:sp>
        <p:nvSpPr>
          <p:cNvPr id="269" name="Google Shape;269;p29"/>
          <p:cNvSpPr/>
          <p:nvPr/>
        </p:nvSpPr>
        <p:spPr>
          <a:xfrm>
            <a:off x="4544009" y="3459886"/>
            <a:ext cx="7442200" cy="0"/>
          </a:xfrm>
          <a:custGeom>
            <a:avLst/>
            <a:gdLst/>
            <a:ahLst/>
            <a:cxnLst/>
            <a:rect l="l" t="t" r="r" b="b"/>
            <a:pathLst>
              <a:path w="7442200" h="120000" extrusionOk="0">
                <a:moveTo>
                  <a:pt x="0" y="0"/>
                </a:moveTo>
                <a:lnTo>
                  <a:pt x="7442044" y="0"/>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j-lt"/>
              <a:ea typeface="Calibri"/>
              <a:cs typeface="Calibri"/>
              <a:sym typeface="Calibri"/>
            </a:endParaRPr>
          </a:p>
        </p:txBody>
      </p:sp>
      <p:sp>
        <p:nvSpPr>
          <p:cNvPr id="270" name="Google Shape;270;p29"/>
          <p:cNvSpPr txBox="1">
            <a:spLocks noGrp="1"/>
          </p:cNvSpPr>
          <p:nvPr>
            <p:ph type="body" idx="1"/>
          </p:nvPr>
        </p:nvSpPr>
        <p:spPr>
          <a:xfrm>
            <a:off x="1303625" y="1130300"/>
            <a:ext cx="10682584" cy="1859483"/>
          </a:xfrm>
          <a:prstGeom prst="rect">
            <a:avLst/>
          </a:prstGeom>
          <a:noFill/>
          <a:ln>
            <a:noFill/>
          </a:ln>
        </p:spPr>
        <p:txBody>
          <a:bodyPr spcFirstLastPara="1" wrap="square" lIns="0" tIns="12700" rIns="0" bIns="0" anchor="t" anchorCtr="0">
            <a:spAutoFit/>
          </a:bodyPr>
          <a:lstStyle/>
          <a:p>
            <a:pPr marL="4547870" marR="5080" lvl="0" indent="-193040" algn="l" rtl="0">
              <a:lnSpc>
                <a:spcPct val="100000"/>
              </a:lnSpc>
              <a:spcBef>
                <a:spcPts val="0"/>
              </a:spcBef>
              <a:spcAft>
                <a:spcPts val="0"/>
              </a:spcAft>
              <a:buSzPts val="1400"/>
              <a:buNone/>
            </a:pPr>
            <a:r>
              <a:rPr lang="en-US" dirty="0">
                <a:latin typeface="+mj-lt"/>
              </a:rPr>
              <a:t>One hidden layer  Neural Network</a:t>
            </a:r>
            <a:endParaRPr dirty="0">
              <a:latin typeface="+mj-lt"/>
            </a:endParaRPr>
          </a:p>
        </p:txBody>
      </p:sp>
      <p:sp>
        <p:nvSpPr>
          <p:cNvPr id="271" name="Google Shape;271;p29"/>
          <p:cNvSpPr txBox="1"/>
          <p:nvPr/>
        </p:nvSpPr>
        <p:spPr>
          <a:xfrm>
            <a:off x="5286387" y="3678767"/>
            <a:ext cx="6488288" cy="1674817"/>
          </a:xfrm>
          <a:prstGeom prst="rect">
            <a:avLst/>
          </a:prstGeom>
          <a:noFill/>
          <a:ln>
            <a:noFill/>
          </a:ln>
        </p:spPr>
        <p:txBody>
          <a:bodyPr spcFirstLastPara="1" wrap="square" lIns="0" tIns="12700" rIns="0" bIns="0" anchor="t" anchorCtr="0">
            <a:spAutoFit/>
          </a:bodyPr>
          <a:lstStyle/>
          <a:p>
            <a:pPr marL="12700" marR="5080" lvl="0" indent="368300" algn="l" rtl="0">
              <a:lnSpc>
                <a:spcPct val="100000"/>
              </a:lnSpc>
              <a:spcBef>
                <a:spcPts val="0"/>
              </a:spcBef>
              <a:spcAft>
                <a:spcPts val="0"/>
              </a:spcAft>
              <a:buClr>
                <a:srgbClr val="000000"/>
              </a:buClr>
              <a:buSzPts val="6000"/>
              <a:buFont typeface="Arial"/>
              <a:buNone/>
            </a:pPr>
            <a:r>
              <a:rPr lang="en-US" sz="5400" b="0" i="0" u="none" strike="noStrike" cap="none" dirty="0">
                <a:solidFill>
                  <a:schemeClr val="dk1"/>
                </a:solidFill>
                <a:latin typeface="+mj-lt"/>
                <a:ea typeface="Calibri"/>
                <a:cs typeface="Calibri"/>
                <a:sym typeface="Calibri"/>
              </a:rPr>
              <a:t>Backpropagation  intuition (Optional)</a:t>
            </a:r>
            <a:endParaRPr sz="5400" b="0" i="0" u="none" strike="noStrike" cap="none" dirty="0">
              <a:solidFill>
                <a:schemeClr val="dk1"/>
              </a:solidFill>
              <a:latin typeface="+mj-lt"/>
              <a:ea typeface="Calibri"/>
              <a:cs typeface="Calibri"/>
              <a:sym typeface="Calibri"/>
            </a:endParaRPr>
          </a:p>
        </p:txBody>
      </p:sp>
      <p:pic>
        <p:nvPicPr>
          <p:cNvPr id="272" name="Google Shape;272;p29"/>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73" name="Google Shape;273;p29"/>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46</a:t>
            </a:fld>
            <a:endParaRPr>
              <a:latin typeface="+mj-lt"/>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Shape 277"/>
        <p:cNvGrpSpPr/>
        <p:nvPr/>
      </p:nvGrpSpPr>
      <p:grpSpPr>
        <a:xfrm>
          <a:off x="0" y="0"/>
          <a:ext cx="0" cy="0"/>
          <a:chOff x="0" y="0"/>
          <a:chExt cx="0" cy="0"/>
        </a:xfrm>
      </p:grpSpPr>
      <p:pic>
        <p:nvPicPr>
          <p:cNvPr id="278" name="Google Shape;278;p30"/>
          <p:cNvPicPr preferRelativeResize="0"/>
          <p:nvPr/>
        </p:nvPicPr>
        <p:blipFill rotWithShape="1">
          <a:blip r:embed="rId3">
            <a:alphaModFix/>
          </a:blip>
          <a:srcRect/>
          <a:stretch/>
        </p:blipFill>
        <p:spPr>
          <a:xfrm>
            <a:off x="0" y="0"/>
            <a:ext cx="11553825" cy="6276975"/>
          </a:xfrm>
          <a:prstGeom prst="rect">
            <a:avLst/>
          </a:prstGeom>
          <a:noFill/>
          <a:ln>
            <a:noFill/>
          </a:ln>
        </p:spPr>
      </p:pic>
      <p:pic>
        <p:nvPicPr>
          <p:cNvPr id="279" name="Google Shape;279;p30"/>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80" name="Google Shape;280;p30"/>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47</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Shape 284"/>
        <p:cNvGrpSpPr/>
        <p:nvPr/>
      </p:nvGrpSpPr>
      <p:grpSpPr>
        <a:xfrm>
          <a:off x="0" y="0"/>
          <a:ext cx="0" cy="0"/>
          <a:chOff x="0" y="0"/>
          <a:chExt cx="0" cy="0"/>
        </a:xfrm>
      </p:grpSpPr>
      <p:sp>
        <p:nvSpPr>
          <p:cNvPr id="285" name="Google Shape;285;p31"/>
          <p:cNvSpPr txBox="1">
            <a:spLocks noGrp="1"/>
          </p:cNvSpPr>
          <p:nvPr>
            <p:ph type="title"/>
          </p:nvPr>
        </p:nvSpPr>
        <p:spPr>
          <a:xfrm>
            <a:off x="407702" y="23338"/>
            <a:ext cx="6731634"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entury Schoolbook"/>
                <a:cs typeface="Century Schoolbook"/>
                <a:sym typeface="Century Schoolbook"/>
              </a:rPr>
              <a:t>Neural network gradients</a:t>
            </a:r>
            <a:endParaRPr sz="4400" dirty="0">
              <a:latin typeface="+mj-lt"/>
              <a:ea typeface="Century Schoolbook"/>
              <a:cs typeface="Century Schoolbook"/>
              <a:sym typeface="Century Schoolbook"/>
            </a:endParaRPr>
          </a:p>
        </p:txBody>
      </p:sp>
      <p:pic>
        <p:nvPicPr>
          <p:cNvPr id="286" name="Google Shape;286;p31"/>
          <p:cNvPicPr preferRelativeResize="0"/>
          <p:nvPr/>
        </p:nvPicPr>
        <p:blipFill rotWithShape="1">
          <a:blip r:embed="rId3">
            <a:alphaModFix/>
          </a:blip>
          <a:srcRect/>
          <a:stretch/>
        </p:blipFill>
        <p:spPr>
          <a:xfrm>
            <a:off x="855900" y="1383350"/>
            <a:ext cx="9371774" cy="4760450"/>
          </a:xfrm>
          <a:prstGeom prst="rect">
            <a:avLst/>
          </a:prstGeom>
          <a:noFill/>
          <a:ln>
            <a:noFill/>
          </a:ln>
        </p:spPr>
      </p:pic>
      <p:pic>
        <p:nvPicPr>
          <p:cNvPr id="287" name="Google Shape;287;p31"/>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88" name="Google Shape;288;p31"/>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48</a:t>
            </a:fld>
            <a:endParaRPr>
              <a:latin typeface="+mj-lt"/>
            </a:endParaRPr>
          </a:p>
        </p:txBody>
      </p:sp>
    </p:spTree>
  </p:cSld>
  <p:clrMapOvr>
    <a:masterClrMapping/>
  </p:clrMapOvr>
  <p:extLst>
    <p:ext uri="{6950BFC3-D8DA-4A85-94F7-54DA5524770B}">
      <p188:commentRel xmlns:p188="http://schemas.microsoft.com/office/powerpoint/2018/8/main" xmlns="" r:id="rId5"/>
    </p:ext>
  </p:extLst>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Shape 284"/>
        <p:cNvGrpSpPr/>
        <p:nvPr/>
      </p:nvGrpSpPr>
      <p:grpSpPr>
        <a:xfrm>
          <a:off x="0" y="0"/>
          <a:ext cx="0" cy="0"/>
          <a:chOff x="0" y="0"/>
          <a:chExt cx="0" cy="0"/>
        </a:xfrm>
      </p:grpSpPr>
      <p:sp>
        <p:nvSpPr>
          <p:cNvPr id="285" name="Google Shape;285;p31"/>
          <p:cNvSpPr txBox="1">
            <a:spLocks noGrp="1"/>
          </p:cNvSpPr>
          <p:nvPr>
            <p:ph type="title"/>
          </p:nvPr>
        </p:nvSpPr>
        <p:spPr>
          <a:xfrm>
            <a:off x="407702" y="23338"/>
            <a:ext cx="6731634"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entury Schoolbook"/>
                <a:cs typeface="Century Schoolbook"/>
                <a:sym typeface="Century Schoolbook"/>
              </a:rPr>
              <a:t>Neural network gradients</a:t>
            </a:r>
            <a:endParaRPr sz="4400" dirty="0">
              <a:latin typeface="+mj-lt"/>
              <a:ea typeface="Century Schoolbook"/>
              <a:cs typeface="Century Schoolbook"/>
              <a:sym typeface="Century Schoolbook"/>
            </a:endParaRPr>
          </a:p>
        </p:txBody>
      </p:sp>
      <p:pic>
        <p:nvPicPr>
          <p:cNvPr id="287" name="Google Shape;287;p31"/>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88" name="Google Shape;288;p31"/>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49</a:t>
            </a:fld>
            <a:endParaRPr>
              <a:latin typeface="+mj-lt"/>
            </a:endParaRPr>
          </a:p>
        </p:txBody>
      </p:sp>
      <p:grpSp>
        <p:nvGrpSpPr>
          <p:cNvPr id="5" name="Group 4">
            <a:extLst>
              <a:ext uri="{FF2B5EF4-FFF2-40B4-BE49-F238E27FC236}">
                <a16:creationId xmlns:a16="http://schemas.microsoft.com/office/drawing/2014/main" id="{E1875ED7-3EAD-18BF-2C0D-DECEC3FEDA38}"/>
              </a:ext>
            </a:extLst>
          </p:cNvPr>
          <p:cNvGrpSpPr/>
          <p:nvPr/>
        </p:nvGrpSpPr>
        <p:grpSpPr>
          <a:xfrm>
            <a:off x="9502" y="865602"/>
            <a:ext cx="12192000" cy="2250389"/>
            <a:chOff x="9502" y="719298"/>
            <a:chExt cx="12192000" cy="2250389"/>
          </a:xfrm>
        </p:grpSpPr>
        <p:pic>
          <p:nvPicPr>
            <p:cNvPr id="3" name="Picture 2">
              <a:extLst>
                <a:ext uri="{FF2B5EF4-FFF2-40B4-BE49-F238E27FC236}">
                  <a16:creationId xmlns:a16="http://schemas.microsoft.com/office/drawing/2014/main" id="{11823D68-7BB7-D7E6-B772-8556F85F3F57}"/>
                </a:ext>
              </a:extLst>
            </p:cNvPr>
            <p:cNvPicPr>
              <a:picLocks noChangeAspect="1"/>
            </p:cNvPicPr>
            <p:nvPr/>
          </p:nvPicPr>
          <p:blipFill>
            <a:blip r:embed="rId4"/>
            <a:stretch>
              <a:fillRect/>
            </a:stretch>
          </p:blipFill>
          <p:spPr>
            <a:xfrm>
              <a:off x="9502" y="796414"/>
              <a:ext cx="12192000" cy="2173273"/>
            </a:xfrm>
            <a:prstGeom prst="rect">
              <a:avLst/>
            </a:prstGeom>
          </p:spPr>
        </p:pic>
        <p:sp>
          <p:nvSpPr>
            <p:cNvPr id="4" name="Rectangle 3">
              <a:extLst>
                <a:ext uri="{FF2B5EF4-FFF2-40B4-BE49-F238E27FC236}">
                  <a16:creationId xmlns:a16="http://schemas.microsoft.com/office/drawing/2014/main" id="{2BB366C8-9355-0E26-A70B-2F244206955F}"/>
                </a:ext>
              </a:extLst>
            </p:cNvPr>
            <p:cNvSpPr/>
            <p:nvPr/>
          </p:nvSpPr>
          <p:spPr>
            <a:xfrm>
              <a:off x="4315968" y="719298"/>
              <a:ext cx="557784" cy="2499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7" name="Straight Arrow Connector 6">
            <a:extLst>
              <a:ext uri="{FF2B5EF4-FFF2-40B4-BE49-F238E27FC236}">
                <a16:creationId xmlns:a16="http://schemas.microsoft.com/office/drawing/2014/main" id="{9645597E-8073-6AB4-6706-FD16DB99651F}"/>
              </a:ext>
            </a:extLst>
          </p:cNvPr>
          <p:cNvCxnSpPr>
            <a:cxnSpLocks/>
          </p:cNvCxnSpPr>
          <p:nvPr/>
        </p:nvCxnSpPr>
        <p:spPr>
          <a:xfrm flipH="1">
            <a:off x="10761143" y="2315891"/>
            <a:ext cx="20403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11" name="Picture 10">
            <a:extLst>
              <a:ext uri="{FF2B5EF4-FFF2-40B4-BE49-F238E27FC236}">
                <a16:creationId xmlns:a16="http://schemas.microsoft.com/office/drawing/2014/main" id="{11D2F96F-80AF-A149-831F-33FF0940792C}"/>
              </a:ext>
            </a:extLst>
          </p:cNvPr>
          <p:cNvPicPr>
            <a:picLocks noChangeAspect="1"/>
          </p:cNvPicPr>
          <p:nvPr/>
        </p:nvPicPr>
        <p:blipFill>
          <a:blip r:embed="rId5"/>
          <a:stretch>
            <a:fillRect/>
          </a:stretch>
        </p:blipFill>
        <p:spPr>
          <a:xfrm>
            <a:off x="8430750" y="2187862"/>
            <a:ext cx="402371" cy="304826"/>
          </a:xfrm>
          <a:prstGeom prst="rect">
            <a:avLst/>
          </a:prstGeom>
        </p:spPr>
      </p:pic>
      <p:cxnSp>
        <p:nvCxnSpPr>
          <p:cNvPr id="12" name="Straight Arrow Connector 11">
            <a:extLst>
              <a:ext uri="{FF2B5EF4-FFF2-40B4-BE49-F238E27FC236}">
                <a16:creationId xmlns:a16="http://schemas.microsoft.com/office/drawing/2014/main" id="{3AA5E675-5F9A-EA32-3225-E55EFAB990CF}"/>
              </a:ext>
            </a:extLst>
          </p:cNvPr>
          <p:cNvCxnSpPr>
            <a:cxnSpLocks/>
          </p:cNvCxnSpPr>
          <p:nvPr/>
        </p:nvCxnSpPr>
        <p:spPr>
          <a:xfrm flipH="1">
            <a:off x="5756327" y="2327494"/>
            <a:ext cx="20403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3" name="Straight Arrow Connector 12">
            <a:extLst>
              <a:ext uri="{FF2B5EF4-FFF2-40B4-BE49-F238E27FC236}">
                <a16:creationId xmlns:a16="http://schemas.microsoft.com/office/drawing/2014/main" id="{D6E87714-D4D6-F0BB-F4C4-48CED7D44A72}"/>
              </a:ext>
            </a:extLst>
          </p:cNvPr>
          <p:cNvCxnSpPr>
            <a:cxnSpLocks/>
          </p:cNvCxnSpPr>
          <p:nvPr/>
        </p:nvCxnSpPr>
        <p:spPr>
          <a:xfrm flipH="1">
            <a:off x="3569482" y="2340275"/>
            <a:ext cx="20403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21" name="Picture 20">
            <a:extLst>
              <a:ext uri="{FF2B5EF4-FFF2-40B4-BE49-F238E27FC236}">
                <a16:creationId xmlns:a16="http://schemas.microsoft.com/office/drawing/2014/main" id="{4D918ED8-FC5C-029A-BB71-4537F51944F7}"/>
              </a:ext>
            </a:extLst>
          </p:cNvPr>
          <p:cNvPicPr>
            <a:picLocks noChangeAspect="1"/>
          </p:cNvPicPr>
          <p:nvPr/>
        </p:nvPicPr>
        <p:blipFill>
          <a:blip r:embed="rId6"/>
          <a:stretch>
            <a:fillRect/>
          </a:stretch>
        </p:blipFill>
        <p:spPr>
          <a:xfrm rot="19872189">
            <a:off x="6196993" y="955086"/>
            <a:ext cx="125340" cy="796806"/>
          </a:xfrm>
          <a:prstGeom prst="rect">
            <a:avLst/>
          </a:prstGeom>
        </p:spPr>
      </p:pic>
      <p:pic>
        <p:nvPicPr>
          <p:cNvPr id="23" name="Picture 22">
            <a:extLst>
              <a:ext uri="{FF2B5EF4-FFF2-40B4-BE49-F238E27FC236}">
                <a16:creationId xmlns:a16="http://schemas.microsoft.com/office/drawing/2014/main" id="{A04A7F6B-10E6-9BF8-1D75-CC5844A339AA}"/>
              </a:ext>
            </a:extLst>
          </p:cNvPr>
          <p:cNvPicPr>
            <a:picLocks noChangeAspect="1"/>
          </p:cNvPicPr>
          <p:nvPr/>
        </p:nvPicPr>
        <p:blipFill>
          <a:blip r:embed="rId6"/>
          <a:stretch>
            <a:fillRect/>
          </a:stretch>
        </p:blipFill>
        <p:spPr>
          <a:xfrm rot="19584653">
            <a:off x="6015506" y="1482718"/>
            <a:ext cx="100637" cy="303140"/>
          </a:xfrm>
          <a:prstGeom prst="rect">
            <a:avLst/>
          </a:prstGeom>
        </p:spPr>
      </p:pic>
      <p:pic>
        <p:nvPicPr>
          <p:cNvPr id="29" name="Picture 28">
            <a:extLst>
              <a:ext uri="{FF2B5EF4-FFF2-40B4-BE49-F238E27FC236}">
                <a16:creationId xmlns:a16="http://schemas.microsoft.com/office/drawing/2014/main" id="{299CBAD6-8A92-8D21-BD2B-BF6B0CDD2620}"/>
              </a:ext>
            </a:extLst>
          </p:cNvPr>
          <p:cNvPicPr>
            <a:picLocks noChangeAspect="1"/>
          </p:cNvPicPr>
          <p:nvPr/>
        </p:nvPicPr>
        <p:blipFill>
          <a:blip r:embed="rId6"/>
          <a:stretch>
            <a:fillRect/>
          </a:stretch>
        </p:blipFill>
        <p:spPr>
          <a:xfrm rot="11983314">
            <a:off x="841608" y="2397786"/>
            <a:ext cx="111710" cy="675453"/>
          </a:xfrm>
          <a:prstGeom prst="rect">
            <a:avLst/>
          </a:prstGeom>
        </p:spPr>
      </p:pic>
      <p:cxnSp>
        <p:nvCxnSpPr>
          <p:cNvPr id="30" name="Straight Arrow Connector 29">
            <a:extLst>
              <a:ext uri="{FF2B5EF4-FFF2-40B4-BE49-F238E27FC236}">
                <a16:creationId xmlns:a16="http://schemas.microsoft.com/office/drawing/2014/main" id="{DD4A82ED-2DB3-0386-A1C0-161F37706F1F}"/>
              </a:ext>
            </a:extLst>
          </p:cNvPr>
          <p:cNvCxnSpPr>
            <a:cxnSpLocks/>
          </p:cNvCxnSpPr>
          <p:nvPr/>
        </p:nvCxnSpPr>
        <p:spPr>
          <a:xfrm flipH="1">
            <a:off x="730916" y="2252443"/>
            <a:ext cx="20403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45E86B3A-1E44-8B8D-317A-45682C1E0A8A}"/>
                  </a:ext>
                </a:extLst>
              </p:cNvPr>
              <p:cNvSpPr txBox="1"/>
              <p:nvPr/>
            </p:nvSpPr>
            <p:spPr>
              <a:xfrm>
                <a:off x="-6783" y="2201321"/>
                <a:ext cx="839717" cy="39485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smtClean="0">
                          <a:solidFill>
                            <a:srgbClr val="FF0000"/>
                          </a:solidFill>
                          <a:latin typeface="Cambria Math" panose="02040503050406030204" pitchFamily="18" charset="0"/>
                        </a:rPr>
                        <m:t>ⅆ</m:t>
                      </m:r>
                      <m:sSup>
                        <m:sSupPr>
                          <m:ctrlPr>
                            <a:rPr lang="en-US" sz="2400" i="1">
                              <a:solidFill>
                                <a:srgbClr val="FF0000"/>
                              </a:solidFill>
                              <a:latin typeface="Cambria Math" panose="02040503050406030204" pitchFamily="18" charset="0"/>
                            </a:rPr>
                          </m:ctrlPr>
                        </m:sSupPr>
                        <m:e>
                          <m:r>
                            <a:rPr lang="en-US" sz="2400" i="1">
                              <a:solidFill>
                                <a:srgbClr val="FF0000"/>
                              </a:solidFill>
                              <a:latin typeface="Cambria Math" panose="02040503050406030204" pitchFamily="18" charset="0"/>
                            </a:rPr>
                            <m:t>𝑤</m:t>
                          </m:r>
                        </m:e>
                        <m:sup>
                          <m:d>
                            <m:dPr>
                              <m:begChr m:val="["/>
                              <m:endChr m:val="]"/>
                              <m:ctrlPr>
                                <a:rPr lang="en-US" sz="2400" i="1">
                                  <a:solidFill>
                                    <a:srgbClr val="FF0000"/>
                                  </a:solidFill>
                                  <a:latin typeface="Cambria Math" panose="02040503050406030204" pitchFamily="18" charset="0"/>
                                </a:rPr>
                              </m:ctrlPr>
                            </m:dPr>
                            <m:e>
                              <m:r>
                                <a:rPr lang="en-US" sz="2400" i="0">
                                  <a:solidFill>
                                    <a:srgbClr val="FF0000"/>
                                  </a:solidFill>
                                  <a:latin typeface="Cambria Math" panose="02040503050406030204" pitchFamily="18" charset="0"/>
                                </a:rPr>
                                <m:t>1</m:t>
                              </m:r>
                            </m:e>
                          </m:d>
                        </m:sup>
                      </m:sSup>
                    </m:oMath>
                  </m:oMathPara>
                </a14:m>
                <a:endParaRPr lang="en-US" sz="2400" dirty="0">
                  <a:solidFill>
                    <a:srgbClr val="FF0000"/>
                  </a:solidFill>
                  <a:latin typeface="+mj-lt"/>
                </a:endParaRPr>
              </a:p>
            </p:txBody>
          </p:sp>
        </mc:Choice>
        <mc:Fallback xmlns="">
          <p:sp>
            <p:nvSpPr>
              <p:cNvPr id="32" name="TextBox 31">
                <a:extLst>
                  <a:ext uri="{FF2B5EF4-FFF2-40B4-BE49-F238E27FC236}">
                    <a16:creationId xmlns:a16="http://schemas.microsoft.com/office/drawing/2014/main" id="{45E86B3A-1E44-8B8D-317A-45682C1E0A8A}"/>
                  </a:ext>
                </a:extLst>
              </p:cNvPr>
              <p:cNvSpPr txBox="1">
                <a:spLocks noRot="1" noChangeAspect="1" noMove="1" noResize="1" noEditPoints="1" noAdjustHandles="1" noChangeArrowheads="1" noChangeShapeType="1" noTextEdit="1"/>
              </p:cNvSpPr>
              <p:nvPr/>
            </p:nvSpPr>
            <p:spPr>
              <a:xfrm>
                <a:off x="-6783" y="2201321"/>
                <a:ext cx="839717" cy="39485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CD25BA5F-C404-914A-6B66-28CD8B077E09}"/>
                  </a:ext>
                </a:extLst>
              </p:cNvPr>
              <p:cNvSpPr txBox="1"/>
              <p:nvPr/>
            </p:nvSpPr>
            <p:spPr>
              <a:xfrm>
                <a:off x="95236" y="3021155"/>
                <a:ext cx="769762" cy="39485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smtClean="0">
                          <a:solidFill>
                            <a:srgbClr val="FF0000"/>
                          </a:solidFill>
                          <a:latin typeface="Cambria Math" panose="02040503050406030204" pitchFamily="18" charset="0"/>
                        </a:rPr>
                        <m:t>ⅆ</m:t>
                      </m:r>
                      <m:sSup>
                        <m:sSupPr>
                          <m:ctrlPr>
                            <a:rPr lang="en-US" sz="2400" i="1">
                              <a:solidFill>
                                <a:srgbClr val="FF0000"/>
                              </a:solidFill>
                              <a:latin typeface="Cambria Math" panose="02040503050406030204" pitchFamily="18" charset="0"/>
                            </a:rPr>
                          </m:ctrlPr>
                        </m:sSupPr>
                        <m:e>
                          <m:r>
                            <a:rPr lang="en-US" sz="2400" b="0" i="1" smtClean="0">
                              <a:solidFill>
                                <a:srgbClr val="FF0000"/>
                              </a:solidFill>
                              <a:latin typeface="Cambria Math" panose="02040503050406030204" pitchFamily="18" charset="0"/>
                            </a:rPr>
                            <m:t>𝑏</m:t>
                          </m:r>
                        </m:e>
                        <m:sup>
                          <m:d>
                            <m:dPr>
                              <m:begChr m:val="["/>
                              <m:endChr m:val="]"/>
                              <m:ctrlPr>
                                <a:rPr lang="en-US" sz="2400" i="1">
                                  <a:solidFill>
                                    <a:srgbClr val="FF0000"/>
                                  </a:solidFill>
                                  <a:latin typeface="Cambria Math" panose="02040503050406030204" pitchFamily="18" charset="0"/>
                                </a:rPr>
                              </m:ctrlPr>
                            </m:dPr>
                            <m:e>
                              <m:r>
                                <a:rPr lang="en-US" sz="2400" i="0">
                                  <a:solidFill>
                                    <a:srgbClr val="FF0000"/>
                                  </a:solidFill>
                                  <a:latin typeface="Cambria Math" panose="02040503050406030204" pitchFamily="18" charset="0"/>
                                </a:rPr>
                                <m:t>1</m:t>
                              </m:r>
                            </m:e>
                          </m:d>
                        </m:sup>
                      </m:sSup>
                    </m:oMath>
                  </m:oMathPara>
                </a14:m>
                <a:endParaRPr lang="en-US" sz="2400" dirty="0">
                  <a:solidFill>
                    <a:srgbClr val="FF0000"/>
                  </a:solidFill>
                  <a:latin typeface="+mj-lt"/>
                </a:endParaRPr>
              </a:p>
            </p:txBody>
          </p:sp>
        </mc:Choice>
        <mc:Fallback xmlns="">
          <p:sp>
            <p:nvSpPr>
              <p:cNvPr id="34" name="TextBox 33">
                <a:extLst>
                  <a:ext uri="{FF2B5EF4-FFF2-40B4-BE49-F238E27FC236}">
                    <a16:creationId xmlns:a16="http://schemas.microsoft.com/office/drawing/2014/main" id="{CD25BA5F-C404-914A-6B66-28CD8B077E09}"/>
                  </a:ext>
                </a:extLst>
              </p:cNvPr>
              <p:cNvSpPr txBox="1">
                <a:spLocks noRot="1" noChangeAspect="1" noMove="1" noResize="1" noEditPoints="1" noAdjustHandles="1" noChangeArrowheads="1" noChangeShapeType="1" noTextEdit="1"/>
              </p:cNvSpPr>
              <p:nvPr/>
            </p:nvSpPr>
            <p:spPr>
              <a:xfrm>
                <a:off x="95236" y="3021155"/>
                <a:ext cx="769762" cy="39485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356935D2-458E-00F1-B3CA-CBD5C6EB12F3}"/>
                  </a:ext>
                </a:extLst>
              </p:cNvPr>
              <p:cNvSpPr txBox="1"/>
              <p:nvPr/>
            </p:nvSpPr>
            <p:spPr>
              <a:xfrm>
                <a:off x="6249915" y="854691"/>
                <a:ext cx="844526" cy="39485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smtClean="0">
                          <a:solidFill>
                            <a:srgbClr val="FF0000"/>
                          </a:solidFill>
                          <a:latin typeface="Cambria Math" panose="02040503050406030204" pitchFamily="18" charset="0"/>
                        </a:rPr>
                        <m:t>ⅆ</m:t>
                      </m:r>
                      <m:sSup>
                        <m:sSupPr>
                          <m:ctrlPr>
                            <a:rPr lang="en-US" sz="2400" i="1">
                              <a:solidFill>
                                <a:srgbClr val="FF0000"/>
                              </a:solidFill>
                              <a:latin typeface="Cambria Math" panose="02040503050406030204" pitchFamily="18" charset="0"/>
                            </a:rPr>
                          </m:ctrlPr>
                        </m:sSupPr>
                        <m:e>
                          <m:r>
                            <a:rPr lang="en-US" sz="2400" i="1">
                              <a:solidFill>
                                <a:srgbClr val="FF0000"/>
                              </a:solidFill>
                              <a:latin typeface="Cambria Math" panose="02040503050406030204" pitchFamily="18" charset="0"/>
                            </a:rPr>
                            <m:t>𝑤</m:t>
                          </m:r>
                        </m:e>
                        <m:sup>
                          <m:d>
                            <m:dPr>
                              <m:begChr m:val="["/>
                              <m:endChr m:val="]"/>
                              <m:ctrlPr>
                                <a:rPr lang="en-US" sz="2400" i="1">
                                  <a:solidFill>
                                    <a:srgbClr val="FF0000"/>
                                  </a:solidFill>
                                  <a:latin typeface="Cambria Math" panose="02040503050406030204" pitchFamily="18" charset="0"/>
                                </a:rPr>
                              </m:ctrlPr>
                            </m:dPr>
                            <m:e>
                              <m:r>
                                <a:rPr lang="en-US" sz="2400" b="0" i="0" smtClean="0">
                                  <a:solidFill>
                                    <a:srgbClr val="FF0000"/>
                                  </a:solidFill>
                                  <a:latin typeface="Cambria Math" panose="02040503050406030204" pitchFamily="18" charset="0"/>
                                </a:rPr>
                                <m:t>2</m:t>
                              </m:r>
                            </m:e>
                          </m:d>
                        </m:sup>
                      </m:sSup>
                    </m:oMath>
                  </m:oMathPara>
                </a14:m>
                <a:endParaRPr lang="en-US" sz="2400" dirty="0">
                  <a:solidFill>
                    <a:srgbClr val="FF0000"/>
                  </a:solidFill>
                  <a:latin typeface="+mj-lt"/>
                </a:endParaRPr>
              </a:p>
            </p:txBody>
          </p:sp>
        </mc:Choice>
        <mc:Fallback xmlns="">
          <p:sp>
            <p:nvSpPr>
              <p:cNvPr id="35" name="TextBox 34">
                <a:extLst>
                  <a:ext uri="{FF2B5EF4-FFF2-40B4-BE49-F238E27FC236}">
                    <a16:creationId xmlns:a16="http://schemas.microsoft.com/office/drawing/2014/main" id="{356935D2-458E-00F1-B3CA-CBD5C6EB12F3}"/>
                  </a:ext>
                </a:extLst>
              </p:cNvPr>
              <p:cNvSpPr txBox="1">
                <a:spLocks noRot="1" noChangeAspect="1" noMove="1" noResize="1" noEditPoints="1" noAdjustHandles="1" noChangeArrowheads="1" noChangeShapeType="1" noTextEdit="1"/>
              </p:cNvSpPr>
              <p:nvPr/>
            </p:nvSpPr>
            <p:spPr>
              <a:xfrm>
                <a:off x="6249915" y="854691"/>
                <a:ext cx="844526" cy="39485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598196C3-2922-5ECA-4BD4-E35C59E56683}"/>
                  </a:ext>
                </a:extLst>
              </p:cNvPr>
              <p:cNvSpPr txBox="1"/>
              <p:nvPr/>
            </p:nvSpPr>
            <p:spPr>
              <a:xfrm>
                <a:off x="6522781" y="1436862"/>
                <a:ext cx="774571" cy="39485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smtClean="0">
                          <a:solidFill>
                            <a:srgbClr val="FF0000"/>
                          </a:solidFill>
                          <a:latin typeface="Cambria Math" panose="02040503050406030204" pitchFamily="18" charset="0"/>
                        </a:rPr>
                        <m:t>ⅆ</m:t>
                      </m:r>
                      <m:sSup>
                        <m:sSupPr>
                          <m:ctrlPr>
                            <a:rPr lang="en-US" sz="2400" i="1">
                              <a:solidFill>
                                <a:srgbClr val="FF0000"/>
                              </a:solidFill>
                              <a:latin typeface="Cambria Math" panose="02040503050406030204" pitchFamily="18" charset="0"/>
                            </a:rPr>
                          </m:ctrlPr>
                        </m:sSupPr>
                        <m:e>
                          <m:r>
                            <a:rPr lang="en-US" sz="2400" b="0" i="1" smtClean="0">
                              <a:solidFill>
                                <a:srgbClr val="FF0000"/>
                              </a:solidFill>
                              <a:latin typeface="Cambria Math" panose="02040503050406030204" pitchFamily="18" charset="0"/>
                            </a:rPr>
                            <m:t>𝑏</m:t>
                          </m:r>
                        </m:e>
                        <m:sup>
                          <m:d>
                            <m:dPr>
                              <m:begChr m:val="["/>
                              <m:endChr m:val="]"/>
                              <m:ctrlPr>
                                <a:rPr lang="en-US" sz="2400" i="1">
                                  <a:solidFill>
                                    <a:srgbClr val="FF0000"/>
                                  </a:solidFill>
                                  <a:latin typeface="Cambria Math" panose="02040503050406030204" pitchFamily="18" charset="0"/>
                                </a:rPr>
                              </m:ctrlPr>
                            </m:dPr>
                            <m:e>
                              <m:r>
                                <a:rPr lang="en-US" sz="2400" b="0" i="0" smtClean="0">
                                  <a:solidFill>
                                    <a:srgbClr val="FF0000"/>
                                  </a:solidFill>
                                  <a:latin typeface="Cambria Math" panose="02040503050406030204" pitchFamily="18" charset="0"/>
                                </a:rPr>
                                <m:t>2</m:t>
                              </m:r>
                            </m:e>
                          </m:d>
                        </m:sup>
                      </m:sSup>
                    </m:oMath>
                  </m:oMathPara>
                </a14:m>
                <a:endParaRPr lang="en-US" sz="2400" dirty="0">
                  <a:solidFill>
                    <a:srgbClr val="FF0000"/>
                  </a:solidFill>
                  <a:latin typeface="+mj-lt"/>
                </a:endParaRPr>
              </a:p>
            </p:txBody>
          </p:sp>
        </mc:Choice>
        <mc:Fallback xmlns="">
          <p:sp>
            <p:nvSpPr>
              <p:cNvPr id="36" name="TextBox 35">
                <a:extLst>
                  <a:ext uri="{FF2B5EF4-FFF2-40B4-BE49-F238E27FC236}">
                    <a16:creationId xmlns:a16="http://schemas.microsoft.com/office/drawing/2014/main" id="{598196C3-2922-5ECA-4BD4-E35C59E56683}"/>
                  </a:ext>
                </a:extLst>
              </p:cNvPr>
              <p:cNvSpPr txBox="1">
                <a:spLocks noRot="1" noChangeAspect="1" noMove="1" noResize="1" noEditPoints="1" noAdjustHandles="1" noChangeArrowheads="1" noChangeShapeType="1" noTextEdit="1"/>
              </p:cNvSpPr>
              <p:nvPr/>
            </p:nvSpPr>
            <p:spPr>
              <a:xfrm>
                <a:off x="6522781" y="1436862"/>
                <a:ext cx="774571" cy="394852"/>
              </a:xfrm>
              <a:prstGeom prst="rect">
                <a:avLst/>
              </a:prstGeom>
              <a:blipFill>
                <a:blip r:embed="rId1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04326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Shape 292"/>
        <p:cNvGrpSpPr/>
        <p:nvPr/>
      </p:nvGrpSpPr>
      <p:grpSpPr>
        <a:xfrm>
          <a:off x="0" y="0"/>
          <a:ext cx="0" cy="0"/>
          <a:chOff x="0" y="0"/>
          <a:chExt cx="0" cy="0"/>
        </a:xfrm>
      </p:grpSpPr>
      <p:pic>
        <p:nvPicPr>
          <p:cNvPr id="293" name="Google Shape;293;p32"/>
          <p:cNvPicPr preferRelativeResize="0"/>
          <p:nvPr/>
        </p:nvPicPr>
        <p:blipFill rotWithShape="1">
          <a:blip r:embed="rId3">
            <a:alphaModFix/>
          </a:blip>
          <a:srcRect/>
          <a:stretch/>
        </p:blipFill>
        <p:spPr>
          <a:xfrm>
            <a:off x="-5918" y="18495"/>
            <a:ext cx="12192000" cy="6494977"/>
          </a:xfrm>
          <a:prstGeom prst="rect">
            <a:avLst/>
          </a:prstGeom>
          <a:noFill/>
          <a:ln>
            <a:noFill/>
          </a:ln>
        </p:spPr>
      </p:pic>
      <p:sp>
        <p:nvSpPr>
          <p:cNvPr id="294" name="Google Shape;294;p32"/>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50</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Shape 298"/>
        <p:cNvGrpSpPr/>
        <p:nvPr/>
      </p:nvGrpSpPr>
      <p:grpSpPr>
        <a:xfrm>
          <a:off x="0" y="0"/>
          <a:ext cx="0" cy="0"/>
          <a:chOff x="0" y="0"/>
          <a:chExt cx="0" cy="0"/>
        </a:xfrm>
      </p:grpSpPr>
      <p:sp>
        <p:nvSpPr>
          <p:cNvPr id="299" name="Google Shape;299;p33"/>
          <p:cNvSpPr/>
          <p:nvPr/>
        </p:nvSpPr>
        <p:spPr>
          <a:xfrm>
            <a:off x="4544009" y="3459886"/>
            <a:ext cx="7442200" cy="0"/>
          </a:xfrm>
          <a:custGeom>
            <a:avLst/>
            <a:gdLst/>
            <a:ahLst/>
            <a:cxnLst/>
            <a:rect l="l" t="t" r="r" b="b"/>
            <a:pathLst>
              <a:path w="7442200" h="120000" extrusionOk="0">
                <a:moveTo>
                  <a:pt x="0" y="0"/>
                </a:moveTo>
                <a:lnTo>
                  <a:pt x="7442044" y="0"/>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j-lt"/>
              <a:ea typeface="Calibri"/>
              <a:cs typeface="Calibri"/>
              <a:sym typeface="Calibri"/>
            </a:endParaRPr>
          </a:p>
        </p:txBody>
      </p:sp>
      <p:sp>
        <p:nvSpPr>
          <p:cNvPr id="300" name="Google Shape;300;p33"/>
          <p:cNvSpPr txBox="1">
            <a:spLocks noGrp="1"/>
          </p:cNvSpPr>
          <p:nvPr>
            <p:ph type="body" idx="1"/>
          </p:nvPr>
        </p:nvSpPr>
        <p:spPr>
          <a:xfrm>
            <a:off x="1303626" y="1130300"/>
            <a:ext cx="10165800" cy="1860000"/>
          </a:xfrm>
          <a:prstGeom prst="rect">
            <a:avLst/>
          </a:prstGeom>
          <a:noFill/>
          <a:ln>
            <a:noFill/>
          </a:ln>
        </p:spPr>
        <p:txBody>
          <a:bodyPr spcFirstLastPara="1" wrap="square" lIns="0" tIns="12700" rIns="0" bIns="0" anchor="t" anchorCtr="0">
            <a:spAutoFit/>
          </a:bodyPr>
          <a:lstStyle/>
          <a:p>
            <a:pPr marL="4547870" marR="5080" lvl="0" indent="-193040" algn="l" rtl="0">
              <a:lnSpc>
                <a:spcPct val="100000"/>
              </a:lnSpc>
              <a:spcBef>
                <a:spcPts val="0"/>
              </a:spcBef>
              <a:spcAft>
                <a:spcPts val="0"/>
              </a:spcAft>
              <a:buSzPts val="1400"/>
              <a:buNone/>
            </a:pPr>
            <a:r>
              <a:rPr lang="en-US" dirty="0">
                <a:latin typeface="+mj-lt"/>
              </a:rPr>
              <a:t>One hidden layer  Neural Network</a:t>
            </a:r>
            <a:endParaRPr dirty="0">
              <a:latin typeface="+mj-lt"/>
            </a:endParaRPr>
          </a:p>
        </p:txBody>
      </p:sp>
      <p:sp>
        <p:nvSpPr>
          <p:cNvPr id="301" name="Google Shape;301;p33"/>
          <p:cNvSpPr txBox="1"/>
          <p:nvPr/>
        </p:nvSpPr>
        <p:spPr>
          <a:xfrm>
            <a:off x="4979873" y="3678767"/>
            <a:ext cx="6578600" cy="843821"/>
          </a:xfrm>
          <a:prstGeom prst="rect">
            <a:avLst/>
          </a:prstGeom>
          <a:noFill/>
          <a:ln>
            <a:noFill/>
          </a:ln>
        </p:spPr>
        <p:txBody>
          <a:bodyPr spcFirstLastPara="1" wrap="square" lIns="0" tIns="12700" rIns="0" bIns="0" anchor="t" anchorCtr="0">
            <a:spAutoFit/>
          </a:bodyPr>
          <a:lstStyle/>
          <a:p>
            <a:pPr marL="12700" marR="0" lvl="0" indent="0" algn="ctr" rtl="0">
              <a:lnSpc>
                <a:spcPct val="100000"/>
              </a:lnSpc>
              <a:spcBef>
                <a:spcPts val="0"/>
              </a:spcBef>
              <a:spcAft>
                <a:spcPts val="0"/>
              </a:spcAft>
              <a:buClr>
                <a:srgbClr val="000000"/>
              </a:buClr>
              <a:buSzPts val="6000"/>
              <a:buFont typeface="Arial"/>
              <a:buNone/>
            </a:pPr>
            <a:r>
              <a:rPr lang="en-US" sz="5400" b="0" i="0" u="none" strike="noStrike" cap="none" dirty="0">
                <a:solidFill>
                  <a:schemeClr val="dk1"/>
                </a:solidFill>
                <a:latin typeface="+mj-lt"/>
                <a:ea typeface="Calibri"/>
                <a:cs typeface="Calibri"/>
                <a:sym typeface="Calibri"/>
              </a:rPr>
              <a:t>Random Initialization</a:t>
            </a:r>
            <a:endParaRPr sz="5400" b="0" i="0" u="none" strike="noStrike" cap="none" dirty="0">
              <a:solidFill>
                <a:schemeClr val="dk1"/>
              </a:solidFill>
              <a:latin typeface="+mj-lt"/>
              <a:ea typeface="Calibri"/>
              <a:cs typeface="Calibri"/>
              <a:sym typeface="Calibri"/>
            </a:endParaRPr>
          </a:p>
        </p:txBody>
      </p:sp>
      <p:pic>
        <p:nvPicPr>
          <p:cNvPr id="302" name="Google Shape;302;p33"/>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303" name="Google Shape;303;p3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51</a:t>
            </a:fld>
            <a:endParaRPr>
              <a:latin typeface="+mj-lt"/>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Shape 307"/>
        <p:cNvGrpSpPr/>
        <p:nvPr/>
      </p:nvGrpSpPr>
      <p:grpSpPr>
        <a:xfrm>
          <a:off x="0" y="0"/>
          <a:ext cx="0" cy="0"/>
          <a:chOff x="0" y="0"/>
          <a:chExt cx="0" cy="0"/>
        </a:xfrm>
      </p:grpSpPr>
      <p:pic>
        <p:nvPicPr>
          <p:cNvPr id="308" name="Google Shape;308;p34"/>
          <p:cNvPicPr preferRelativeResize="0"/>
          <p:nvPr/>
        </p:nvPicPr>
        <p:blipFill rotWithShape="1">
          <a:blip r:embed="rId3">
            <a:alphaModFix/>
          </a:blip>
          <a:srcRect/>
          <a:stretch/>
        </p:blipFill>
        <p:spPr>
          <a:xfrm>
            <a:off x="0" y="-5"/>
            <a:ext cx="10734475" cy="5743879"/>
          </a:xfrm>
          <a:prstGeom prst="rect">
            <a:avLst/>
          </a:prstGeom>
          <a:noFill/>
          <a:ln>
            <a:noFill/>
          </a:ln>
        </p:spPr>
      </p:pic>
      <p:pic>
        <p:nvPicPr>
          <p:cNvPr id="309" name="Google Shape;309;p34"/>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310" name="Google Shape;310;p34"/>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52</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Shape 260"/>
        <p:cNvGrpSpPr/>
        <p:nvPr/>
      </p:nvGrpSpPr>
      <p:grpSpPr>
        <a:xfrm>
          <a:off x="0" y="0"/>
          <a:ext cx="0" cy="0"/>
          <a:chOff x="0" y="0"/>
          <a:chExt cx="0" cy="0"/>
        </a:xfrm>
      </p:grpSpPr>
      <p:sp>
        <p:nvSpPr>
          <p:cNvPr id="261" name="Google Shape;261;p28"/>
          <p:cNvSpPr txBox="1">
            <a:spLocks noGrp="1"/>
          </p:cNvSpPr>
          <p:nvPr>
            <p:ph type="title"/>
          </p:nvPr>
        </p:nvSpPr>
        <p:spPr>
          <a:xfrm>
            <a:off x="195045" y="270282"/>
            <a:ext cx="927544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entury Schoolbook"/>
                <a:cs typeface="Century Schoolbook"/>
                <a:sym typeface="Century Schoolbook"/>
              </a:rPr>
              <a:t>Random Initialization</a:t>
            </a:r>
            <a:endParaRPr sz="4400" dirty="0">
              <a:latin typeface="+mj-lt"/>
              <a:ea typeface="Century Schoolbook"/>
              <a:cs typeface="Century Schoolbook"/>
              <a:sym typeface="Century Schoolbook"/>
            </a:endParaRPr>
          </a:p>
        </p:txBody>
      </p:sp>
      <p:pic>
        <p:nvPicPr>
          <p:cNvPr id="263" name="Google Shape;263;p28"/>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64" name="Google Shape;264;p28"/>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53</a:t>
            </a:fld>
            <a:endParaRPr>
              <a:latin typeface="+mj-lt"/>
            </a:endParaRPr>
          </a:p>
        </p:txBody>
      </p:sp>
      <p:sp>
        <p:nvSpPr>
          <p:cNvPr id="5" name="TextBox 4"/>
          <p:cNvSpPr txBox="1"/>
          <p:nvPr/>
        </p:nvSpPr>
        <p:spPr>
          <a:xfrm>
            <a:off x="378069" y="1732085"/>
            <a:ext cx="11386039" cy="2677656"/>
          </a:xfrm>
          <a:prstGeom prst="rect">
            <a:avLst/>
          </a:prstGeom>
          <a:noFill/>
        </p:spPr>
        <p:txBody>
          <a:bodyPr wrap="square" rtlCol="0">
            <a:spAutoFit/>
          </a:bodyPr>
          <a:lstStyle/>
          <a:p>
            <a:pPr marL="342900" indent="-342900">
              <a:buFont typeface="Arial" panose="020B0604020202020204" pitchFamily="34" charset="0"/>
              <a:buChar char="•"/>
            </a:pPr>
            <a:r>
              <a:rPr lang="en-US" sz="2800" dirty="0">
                <a:latin typeface="+mj-lt"/>
              </a:rPr>
              <a:t>Initializing neural network weights to all zeros results in symmetry and the hidden units computing the same function, leading to slow learning. </a:t>
            </a:r>
          </a:p>
          <a:p>
            <a:pPr marL="342900" indent="-342900">
              <a:buFont typeface="Arial" panose="020B0604020202020204" pitchFamily="34" charset="0"/>
              <a:buChar char="•"/>
            </a:pPr>
            <a:r>
              <a:rPr lang="en-US" sz="2800" dirty="0">
                <a:latin typeface="+mj-lt"/>
              </a:rPr>
              <a:t>To solve this, the weights are initialized randomly with small values, such as 0.01, while biases can be initialized to zeros. Larger constants than 0.01 may be used for very deep neural networks. </a:t>
            </a:r>
          </a:p>
        </p:txBody>
      </p:sp>
    </p:spTree>
    <p:extLst>
      <p:ext uri="{BB962C8B-B14F-4D97-AF65-F5344CB8AC3E}">
        <p14:creationId xmlns:p14="http://schemas.microsoft.com/office/powerpoint/2010/main" val="1401410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Shape 314"/>
        <p:cNvGrpSpPr/>
        <p:nvPr/>
      </p:nvGrpSpPr>
      <p:grpSpPr>
        <a:xfrm>
          <a:off x="0" y="0"/>
          <a:ext cx="0" cy="0"/>
          <a:chOff x="0" y="0"/>
          <a:chExt cx="0" cy="0"/>
        </a:xfrm>
      </p:grpSpPr>
      <p:pic>
        <p:nvPicPr>
          <p:cNvPr id="315" name="Google Shape;315;p35"/>
          <p:cNvPicPr preferRelativeResize="0"/>
          <p:nvPr/>
        </p:nvPicPr>
        <p:blipFill rotWithShape="1">
          <a:blip r:embed="rId3">
            <a:alphaModFix/>
          </a:blip>
          <a:srcRect/>
          <a:stretch/>
        </p:blipFill>
        <p:spPr>
          <a:xfrm>
            <a:off x="0" y="0"/>
            <a:ext cx="10725150" cy="6229350"/>
          </a:xfrm>
          <a:prstGeom prst="rect">
            <a:avLst/>
          </a:prstGeom>
          <a:noFill/>
          <a:ln>
            <a:noFill/>
          </a:ln>
        </p:spPr>
      </p:pic>
      <p:pic>
        <p:nvPicPr>
          <p:cNvPr id="316" name="Google Shape;316;p35"/>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317" name="Google Shape;317;p35"/>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54</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Shape 446"/>
        <p:cNvGrpSpPr/>
        <p:nvPr/>
      </p:nvGrpSpPr>
      <p:grpSpPr>
        <a:xfrm>
          <a:off x="0" y="0"/>
          <a:ext cx="0" cy="0"/>
          <a:chOff x="0" y="0"/>
          <a:chExt cx="0" cy="0"/>
        </a:xfrm>
      </p:grpSpPr>
      <p:pic>
        <p:nvPicPr>
          <p:cNvPr id="449" name="Google Shape;449;p49"/>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5" name="Google Shape;49;g2019cdaf7c5_1_4"/>
          <p:cNvSpPr txBox="1">
            <a:spLocks/>
          </p:cNvSpPr>
          <p:nvPr/>
        </p:nvSpPr>
        <p:spPr>
          <a:xfrm>
            <a:off x="1055570" y="134008"/>
            <a:ext cx="10627200" cy="73129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09220" marR="27940" lvl="0" indent="-97155" algn="ctr" defTabSz="914400" rtl="0" eaLnBrk="1" fontAlgn="auto" latinLnBrk="0" hangingPunct="1">
              <a:lnSpc>
                <a:spcPct val="108333"/>
              </a:lnSpc>
              <a:spcBef>
                <a:spcPts val="0"/>
              </a:spcBef>
              <a:spcAft>
                <a:spcPts val="0"/>
              </a:spcAft>
              <a:buClr>
                <a:srgbClr val="000000"/>
              </a:buClr>
              <a:buSzPts val="1400"/>
              <a:buFont typeface="Arial"/>
              <a:buNone/>
              <a:tabLst/>
              <a:defRPr/>
            </a:pPr>
            <a:r>
              <a:rPr kumimoji="0" lang="en-US" sz="4400" b="0" i="0" u="none" strike="noStrike" kern="0" cap="none" spc="0" normalizeH="0" baseline="0" noProof="0" dirty="0" smtClean="0">
                <a:ln>
                  <a:noFill/>
                </a:ln>
                <a:solidFill>
                  <a:srgbClr val="000000"/>
                </a:solidFill>
                <a:effectLst/>
                <a:uLnTx/>
                <a:uFillTx/>
                <a:latin typeface="Arial"/>
                <a:cs typeface="Calibri"/>
                <a:sym typeface="Trebuchet MS"/>
              </a:rPr>
              <a:t>Summarization</a:t>
            </a:r>
            <a:endParaRPr kumimoji="0" lang="en-US" sz="4400" b="0" i="0" u="none" strike="noStrike" kern="0" cap="none" spc="0" normalizeH="0" baseline="0" noProof="0" dirty="0">
              <a:ln>
                <a:noFill/>
              </a:ln>
              <a:solidFill>
                <a:srgbClr val="000000"/>
              </a:solidFill>
              <a:effectLst/>
              <a:uLnTx/>
              <a:uFillTx/>
              <a:latin typeface="Arial"/>
              <a:cs typeface="Calibri"/>
              <a:sym typeface="Calibri"/>
            </a:endParaRPr>
          </a:p>
        </p:txBody>
      </p:sp>
      <p:sp>
        <p:nvSpPr>
          <p:cNvPr id="8" name="Google Shape;316;p36"/>
          <p:cNvSpPr txBox="1"/>
          <p:nvPr/>
        </p:nvSpPr>
        <p:spPr>
          <a:xfrm>
            <a:off x="342900" y="1245233"/>
            <a:ext cx="11614637" cy="4400805"/>
          </a:xfrm>
          <a:prstGeom prst="rect">
            <a:avLst/>
          </a:prstGeom>
          <a:noFill/>
          <a:ln>
            <a:noFill/>
          </a:ln>
        </p:spPr>
        <p:txBody>
          <a:bodyPr spcFirstLastPara="1" wrap="square" lIns="0" tIns="5700" rIns="0" bIns="0" anchor="t" anchorCtr="0">
            <a:spAutoFit/>
          </a:bodyPr>
          <a:lstStyle/>
          <a:p>
            <a:pPr marL="355600" marR="5080" lvl="0" indent="-342900">
              <a:lnSpc>
                <a:spcPct val="101800"/>
              </a:lnSpc>
              <a:buSzPts val="2400"/>
              <a:buFont typeface="Arial" panose="020B0604020202020204" pitchFamily="34" charset="0"/>
              <a:buChar char="•"/>
            </a:pPr>
            <a:r>
              <a:rPr lang="en-US" sz="2000" dirty="0">
                <a:ea typeface="Century Schoolbook"/>
                <a:cs typeface="Century Schoolbook"/>
                <a:sym typeface="Century Schoolbook"/>
              </a:rPr>
              <a:t>Neural Networks are interconnected layers of neurons learning from data for predictions. They organize into input, hidden, and output layers, with neurons computing weighted sums and applying activation functions. </a:t>
            </a:r>
            <a:endParaRPr lang="en-US" sz="2000" dirty="0" smtClean="0">
              <a:ea typeface="Century Schoolbook"/>
              <a:cs typeface="Century Schoolbook"/>
              <a:sym typeface="Century Schoolbook"/>
            </a:endParaRPr>
          </a:p>
          <a:p>
            <a:pPr marL="355600" marR="5080" lvl="0" indent="-342900">
              <a:lnSpc>
                <a:spcPct val="101800"/>
              </a:lnSpc>
              <a:buSzPts val="2400"/>
              <a:buFont typeface="Arial" panose="020B0604020202020204" pitchFamily="34" charset="0"/>
              <a:buChar char="•"/>
            </a:pPr>
            <a:r>
              <a:rPr lang="en-US" sz="2000" dirty="0" smtClean="0">
                <a:ea typeface="Century Schoolbook"/>
                <a:cs typeface="Century Schoolbook"/>
                <a:sym typeface="Century Schoolbook"/>
              </a:rPr>
              <a:t>Computing </a:t>
            </a:r>
            <a:r>
              <a:rPr lang="en-US" sz="2000" dirty="0">
                <a:ea typeface="Century Schoolbook"/>
                <a:cs typeface="Century Schoolbook"/>
                <a:sym typeface="Century Schoolbook"/>
              </a:rPr>
              <a:t>the network's output involves propagating input through layers using weights, biases, and activations. </a:t>
            </a:r>
            <a:endParaRPr lang="en-US" sz="2000" dirty="0" smtClean="0">
              <a:ea typeface="Century Schoolbook"/>
              <a:cs typeface="Century Schoolbook"/>
              <a:sym typeface="Century Schoolbook"/>
            </a:endParaRPr>
          </a:p>
          <a:p>
            <a:pPr marL="355600" marR="5080" lvl="0" indent="-342900">
              <a:lnSpc>
                <a:spcPct val="101800"/>
              </a:lnSpc>
              <a:buSzPts val="2400"/>
              <a:buFont typeface="Arial" panose="020B0604020202020204" pitchFamily="34" charset="0"/>
              <a:buChar char="•"/>
            </a:pPr>
            <a:r>
              <a:rPr lang="en-US" sz="2000" dirty="0" err="1" smtClean="0">
                <a:ea typeface="Century Schoolbook"/>
                <a:cs typeface="Century Schoolbook"/>
                <a:sym typeface="Century Schoolbook"/>
              </a:rPr>
              <a:t>Vectorizing</a:t>
            </a:r>
            <a:r>
              <a:rPr lang="en-US" sz="2000" dirty="0" smtClean="0">
                <a:ea typeface="Century Schoolbook"/>
                <a:cs typeface="Century Schoolbook"/>
                <a:sym typeface="Century Schoolbook"/>
              </a:rPr>
              <a:t> </a:t>
            </a:r>
            <a:r>
              <a:rPr lang="en-US" sz="2000" dirty="0">
                <a:ea typeface="Century Schoolbook"/>
                <a:cs typeface="Century Schoolbook"/>
                <a:sym typeface="Century Schoolbook"/>
              </a:rPr>
              <a:t>across examples enhances efficiency. </a:t>
            </a:r>
            <a:r>
              <a:rPr lang="en-US" sz="2000" dirty="0" err="1">
                <a:ea typeface="Century Schoolbook"/>
                <a:cs typeface="Century Schoolbook"/>
                <a:sym typeface="Century Schoolbook"/>
              </a:rPr>
              <a:t>Vectorized</a:t>
            </a:r>
            <a:r>
              <a:rPr lang="en-US" sz="2000" dirty="0">
                <a:ea typeface="Century Schoolbook"/>
                <a:cs typeface="Century Schoolbook"/>
                <a:sym typeface="Century Schoolbook"/>
              </a:rPr>
              <a:t> implementation speeds up training by processing multiple examples simultaneously. </a:t>
            </a:r>
            <a:endParaRPr lang="en-US" sz="2000" dirty="0" smtClean="0">
              <a:ea typeface="Century Schoolbook"/>
              <a:cs typeface="Century Schoolbook"/>
              <a:sym typeface="Century Schoolbook"/>
            </a:endParaRPr>
          </a:p>
          <a:p>
            <a:pPr marL="355600" marR="5080" lvl="0" indent="-342900">
              <a:lnSpc>
                <a:spcPct val="101800"/>
              </a:lnSpc>
              <a:buSzPts val="2400"/>
              <a:buFont typeface="Arial" panose="020B0604020202020204" pitchFamily="34" charset="0"/>
              <a:buChar char="•"/>
            </a:pPr>
            <a:r>
              <a:rPr lang="en-US" sz="2000" dirty="0" smtClean="0">
                <a:ea typeface="Century Schoolbook"/>
                <a:cs typeface="Century Schoolbook"/>
                <a:sym typeface="Century Schoolbook"/>
              </a:rPr>
              <a:t>Activation </a:t>
            </a:r>
            <a:r>
              <a:rPr lang="en-US" sz="2000" dirty="0">
                <a:ea typeface="Century Schoolbook"/>
                <a:cs typeface="Century Schoolbook"/>
                <a:sym typeface="Century Schoolbook"/>
              </a:rPr>
              <a:t>functions like sigmoid, </a:t>
            </a:r>
            <a:r>
              <a:rPr lang="en-US" sz="2000" dirty="0" err="1">
                <a:ea typeface="Century Schoolbook"/>
                <a:cs typeface="Century Schoolbook"/>
                <a:sym typeface="Century Schoolbook"/>
              </a:rPr>
              <a:t>tanh</a:t>
            </a:r>
            <a:r>
              <a:rPr lang="en-US" sz="2000" dirty="0">
                <a:ea typeface="Century Schoolbook"/>
                <a:cs typeface="Century Schoolbook"/>
                <a:sym typeface="Century Schoolbook"/>
              </a:rPr>
              <a:t>, and </a:t>
            </a:r>
            <a:r>
              <a:rPr lang="en-US" sz="2000" dirty="0" err="1">
                <a:ea typeface="Century Schoolbook"/>
                <a:cs typeface="Century Schoolbook"/>
                <a:sym typeface="Century Schoolbook"/>
              </a:rPr>
              <a:t>ReLU</a:t>
            </a:r>
            <a:r>
              <a:rPr lang="en-US" sz="2000" dirty="0">
                <a:ea typeface="Century Schoolbook"/>
                <a:cs typeface="Century Schoolbook"/>
                <a:sym typeface="Century Schoolbook"/>
              </a:rPr>
              <a:t> introduce non-linearity for learning complex patterns. Non-linear activation allows networks to approximate arbitrary functions. </a:t>
            </a:r>
            <a:endParaRPr lang="en-US" sz="2000" dirty="0" smtClean="0">
              <a:ea typeface="Century Schoolbook"/>
              <a:cs typeface="Century Schoolbook"/>
              <a:sym typeface="Century Schoolbook"/>
            </a:endParaRPr>
          </a:p>
          <a:p>
            <a:pPr marL="355600" marR="5080" lvl="0" indent="-342900">
              <a:lnSpc>
                <a:spcPct val="101800"/>
              </a:lnSpc>
              <a:buSzPts val="2400"/>
              <a:buFont typeface="Arial" panose="020B0604020202020204" pitchFamily="34" charset="0"/>
              <a:buChar char="•"/>
            </a:pPr>
            <a:r>
              <a:rPr lang="en-US" sz="2000" dirty="0" smtClean="0">
                <a:ea typeface="Century Schoolbook"/>
                <a:cs typeface="Century Schoolbook"/>
                <a:sym typeface="Century Schoolbook"/>
              </a:rPr>
              <a:t>Derivatives </a:t>
            </a:r>
            <a:r>
              <a:rPr lang="en-US" sz="2000" dirty="0">
                <a:ea typeface="Century Schoolbook"/>
                <a:cs typeface="Century Schoolbook"/>
                <a:sym typeface="Century Schoolbook"/>
              </a:rPr>
              <a:t>of activation functions are crucial for gradient calculations in backpropagation. </a:t>
            </a:r>
            <a:endParaRPr lang="en-US" sz="2000" dirty="0" smtClean="0">
              <a:ea typeface="Century Schoolbook"/>
              <a:cs typeface="Century Schoolbook"/>
              <a:sym typeface="Century Schoolbook"/>
            </a:endParaRPr>
          </a:p>
          <a:p>
            <a:pPr marL="355600" marR="5080" lvl="0" indent="-342900">
              <a:lnSpc>
                <a:spcPct val="101800"/>
              </a:lnSpc>
              <a:buSzPts val="2400"/>
              <a:buFont typeface="Arial" panose="020B0604020202020204" pitchFamily="34" charset="0"/>
              <a:buChar char="•"/>
            </a:pPr>
            <a:r>
              <a:rPr lang="en-US" sz="2000" dirty="0" smtClean="0">
                <a:ea typeface="Century Schoolbook"/>
                <a:cs typeface="Century Schoolbook"/>
                <a:sym typeface="Century Schoolbook"/>
              </a:rPr>
              <a:t>Gradient </a:t>
            </a:r>
            <a:r>
              <a:rPr lang="en-US" sz="2000" dirty="0">
                <a:ea typeface="Century Schoolbook"/>
                <a:cs typeface="Century Schoolbook"/>
                <a:sym typeface="Century Schoolbook"/>
              </a:rPr>
              <a:t>descent optimizes by adjusting weights and biases based on gradients to minimize the cost function. </a:t>
            </a:r>
            <a:endParaRPr lang="en-US" sz="2000" dirty="0" smtClean="0">
              <a:ea typeface="Century Schoolbook"/>
              <a:cs typeface="Century Schoolbook"/>
              <a:sym typeface="Century Schoolbook"/>
            </a:endParaRPr>
          </a:p>
          <a:p>
            <a:pPr marL="355600" marR="5080" lvl="0" indent="-342900">
              <a:lnSpc>
                <a:spcPct val="101800"/>
              </a:lnSpc>
              <a:buSzPts val="2400"/>
              <a:buFont typeface="Arial" panose="020B0604020202020204" pitchFamily="34" charset="0"/>
              <a:buChar char="•"/>
            </a:pPr>
            <a:r>
              <a:rPr lang="en-US" sz="2000" dirty="0" smtClean="0">
                <a:ea typeface="Century Schoolbook"/>
                <a:cs typeface="Century Schoolbook"/>
                <a:sym typeface="Century Schoolbook"/>
              </a:rPr>
              <a:t>Backpropagation </a:t>
            </a:r>
            <a:r>
              <a:rPr lang="en-US" sz="2000" dirty="0">
                <a:ea typeface="Century Schoolbook"/>
                <a:cs typeface="Century Schoolbook"/>
                <a:sym typeface="Century Schoolbook"/>
              </a:rPr>
              <a:t>propagates gradients backward through the network for parameter </a:t>
            </a:r>
            <a:r>
              <a:rPr lang="en-US" sz="2000" dirty="0" smtClean="0">
                <a:ea typeface="Century Schoolbook"/>
                <a:cs typeface="Century Schoolbook"/>
                <a:sym typeface="Century Schoolbook"/>
              </a:rPr>
              <a:t>updates.</a:t>
            </a:r>
          </a:p>
          <a:p>
            <a:pPr marL="355600" marR="5080" lvl="0" indent="-342900">
              <a:lnSpc>
                <a:spcPct val="101800"/>
              </a:lnSpc>
              <a:buSzPts val="2400"/>
              <a:buFont typeface="Arial" panose="020B0604020202020204" pitchFamily="34" charset="0"/>
              <a:buChar char="•"/>
            </a:pPr>
            <a:r>
              <a:rPr lang="en-US" sz="2000" dirty="0" smtClean="0">
                <a:ea typeface="Century Schoolbook"/>
                <a:cs typeface="Century Schoolbook"/>
                <a:sym typeface="Century Schoolbook"/>
              </a:rPr>
              <a:t>Proper </a:t>
            </a:r>
            <a:r>
              <a:rPr lang="en-US" sz="2000" dirty="0">
                <a:ea typeface="Century Schoolbook"/>
                <a:cs typeface="Century Schoolbook"/>
                <a:sym typeface="Century Schoolbook"/>
              </a:rPr>
              <a:t>weight initialization is vital for preventing symmetry and ensuring efficient learning</a:t>
            </a:r>
            <a:r>
              <a:rPr lang="en-US" sz="2000" dirty="0" smtClean="0">
                <a:ea typeface="Century Schoolbook"/>
                <a:cs typeface="Century Schoolbook"/>
                <a:sym typeface="Century Schoolbook"/>
              </a:rPr>
              <a:t>.</a:t>
            </a:r>
            <a:endParaRPr lang="en-US" sz="2000" dirty="0">
              <a:ea typeface="Century Schoolbook"/>
              <a:cs typeface="Century Schoolbook"/>
              <a:sym typeface="Century Schoolbook"/>
            </a:endParaRPr>
          </a:p>
        </p:txBody>
      </p:sp>
    </p:spTree>
    <p:extLst>
      <p:ext uri="{BB962C8B-B14F-4D97-AF65-F5344CB8AC3E}">
        <p14:creationId xmlns:p14="http://schemas.microsoft.com/office/powerpoint/2010/main" val="249049380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1920</TotalTime>
  <Words>2426</Words>
  <Application>Microsoft Office PowerPoint</Application>
  <PresentationFormat>Widescreen</PresentationFormat>
  <Paragraphs>350</Paragraphs>
  <Slides>55</Slides>
  <Notes>55</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55</vt:i4>
      </vt:variant>
    </vt:vector>
  </HeadingPairs>
  <TitlesOfParts>
    <vt:vector size="65" baseType="lpstr">
      <vt:lpstr>Century Schoolbook</vt:lpstr>
      <vt:lpstr>Trebuchet MS</vt:lpstr>
      <vt:lpstr>Calibri</vt:lpstr>
      <vt:lpstr>Palatino Linotype</vt:lpstr>
      <vt:lpstr>新細明體</vt:lpstr>
      <vt:lpstr>Cambria Math</vt:lpstr>
      <vt:lpstr>Arial</vt:lpstr>
      <vt:lpstr>Office Theme</vt:lpstr>
      <vt:lpstr>1_Office Theme</vt:lpstr>
      <vt:lpstr>方程式</vt:lpstr>
      <vt:lpstr>PowerPoint Presentation</vt:lpstr>
      <vt:lpstr>1 Neural Networks Overview 2 Neural Network Representation 3 Computing a Neural Network’s Output 4 Vectorizing across multiple examples 5 Explanation for vectorized implementation 6 Activation functions 7 Why do you need non-linear activation functions? 8 Derivatives of activation functions 9 Gradient descent for neural networks 10 Backpropagation intuition (Optional) 11 Random Initialization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Four equations from the previous slide are used to compute z[1] , a[1] , z[2] , and a[2] . By adding a superscript round bracket i, ie (i), to all the variables that depend on the training example, outputs can be computed for all m training examples:</vt:lpstr>
      <vt:lpstr>PowerPoint Presentation</vt:lpstr>
      <vt:lpstr>PowerPoint Presentation</vt:lpstr>
      <vt:lpstr>PowerPoint Presentation</vt:lpstr>
      <vt:lpstr>Explanation for vectorized implementation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Sigmoid function</vt:lpstr>
      <vt:lpstr>Tanh function</vt:lpstr>
      <vt:lpstr>ReLU and Leaky ReLU function</vt:lpstr>
      <vt:lpstr>PowerPoint Presentation</vt:lpstr>
      <vt:lpstr>Gradient descent for neural networks</vt:lpstr>
      <vt:lpstr>Gradient descent for neural networks</vt:lpstr>
      <vt:lpstr>Formulas for computing derivatives</vt:lpstr>
      <vt:lpstr>Formulas for computing derivatives</vt:lpstr>
      <vt:lpstr>Formulas for computing derivatives</vt:lpstr>
      <vt:lpstr>Formulas for computing derivatives</vt:lpstr>
      <vt:lpstr>Formulas for computing derivatives</vt:lpstr>
      <vt:lpstr>Formulas for computing derivatives</vt:lpstr>
      <vt:lpstr>PowerPoint Presentation</vt:lpstr>
      <vt:lpstr>PowerPoint Presentation</vt:lpstr>
      <vt:lpstr>Neural network gradients</vt:lpstr>
      <vt:lpstr>Neural network gradients</vt:lpstr>
      <vt:lpstr>PowerPoint Presentation</vt:lpstr>
      <vt:lpstr>PowerPoint Presentation</vt:lpstr>
      <vt:lpstr>PowerPoint Presentation</vt:lpstr>
      <vt:lpstr>Random Initialization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 Neural Networks Overview 2 Neural Network Representation 3 Computing a Neural Network’s Output 4 Vectorizing across multiple examples 5 Explanation  for vectorized implementation 6 Activation functions 7 Why do you need non-linear activation functions? 8 Derivatives of activation functions 9 Gradient descent for neural networks 10 Backpropagation intuition (Optional) 11 Random Initialization </dc:title>
  <dc:creator>0984729212</dc:creator>
  <cp:lastModifiedBy>Phạm Trọng Nghĩa</cp:lastModifiedBy>
  <cp:revision>105</cp:revision>
  <dcterms:created xsi:type="dcterms:W3CDTF">2023-01-31T05:46:24Z</dcterms:created>
  <dcterms:modified xsi:type="dcterms:W3CDTF">2023-12-14T08:14:27Z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2023-01-31T00:00:00Z</vt:filetime>
  </property>
  <property fmtid="{D5CDD505-2E9C-101B-9397-08002B2CF9AE}" pid="3" name="LastSaved">
    <vt:filetime>2023-01-31T00:00:00Z</vt:filetime>
  </property>
</Properties>
</file>